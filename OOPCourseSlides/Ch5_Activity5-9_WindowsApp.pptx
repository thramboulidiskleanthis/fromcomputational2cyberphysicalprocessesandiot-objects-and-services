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16"/>
  </p:notesMasterIdLst>
  <p:sldIdLst>
    <p:sldId id="262" r:id="rId3"/>
    <p:sldId id="854" r:id="rId4"/>
    <p:sldId id="855" r:id="rId5"/>
    <p:sldId id="856" r:id="rId6"/>
    <p:sldId id="857" r:id="rId7"/>
    <p:sldId id="858" r:id="rId8"/>
    <p:sldId id="859" r:id="rId9"/>
    <p:sldId id="860" r:id="rId10"/>
    <p:sldId id="861" r:id="rId11"/>
    <p:sldId id="862" r:id="rId12"/>
    <p:sldId id="864" r:id="rId13"/>
    <p:sldId id="865" r:id="rId14"/>
    <p:sldId id="866" r:id="rId15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53" autoAdjust="0"/>
    <p:restoredTop sz="77956" autoAdjust="0"/>
  </p:normalViewPr>
  <p:slideViewPr>
    <p:cSldViewPr snapToGrid="0">
      <p:cViewPr varScale="1">
        <p:scale>
          <a:sx n="53" d="100"/>
          <a:sy n="53" d="100"/>
        </p:scale>
        <p:origin x="1074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5900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126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942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7770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347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999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1618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827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635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345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2338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4919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Java as an OOP Language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Activity 5.9 </a:t>
            </a:r>
            <a:r>
              <a:rPr lang="en-US" sz="4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WindowsApp</a:t>
            </a:r>
            <a:endParaRPr lang="en-US" sz="4000" b="1" dirty="0">
              <a:solidFill>
                <a:schemeClr val="accent1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GB" sz="1600" dirty="0"/>
              <a:t>5</a:t>
            </a:r>
            <a:endParaRPr lang="el-GR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5.14</a:t>
            </a:r>
            <a:endParaRPr lang="el-G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ED0E4D-6830-EF1D-1160-8088E89D4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282" y="3237709"/>
            <a:ext cx="3703257" cy="269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πηγή τους σεναρίου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6725-A0DE-5714-B782-2F4D0234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9331"/>
            <a:ext cx="11777472" cy="490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Σε εφαρμογές που ο χρήστης έχει τη δυνατότητα να δημιουργεί παράθυρα και το κάθε παράθυρο έχει το δικό του περιεχόμενο συναντάμε το </a:t>
            </a: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παρακάτω σενάριο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. </a:t>
            </a:r>
            <a:endParaRPr lang="en-GB" altLang="el-GR" sz="2600" kern="0" dirty="0">
              <a:solidFill>
                <a:srgbClr val="000000"/>
              </a:solidFill>
              <a:latin typeface="Tahoma"/>
            </a:endParaRP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Ο χρήστης κάνει τις παρακάτω ενέργειες: 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1.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	δημιουργεί ένα παράθυρο w1 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2.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	δημιουργεί μέσα σε αυτό δύο τετράγωνα (r11, r12), δύο κύκλους (c11,c12), και ένα τρίγωνο (tr11)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3.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	Στη συνέχεια δημιουργεί ένα άλλο παράθυρο w2 που επικαλύπτει το w1.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4.	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Δημιουργεί μέσα σε αυτό δύο τετράγωνα (r21,r22), δύο κύκλους (c21,c22) και δυο τρίγωνα (tr21,tr22)</a:t>
            </a:r>
            <a:r>
              <a:rPr lang="en-GB" altLang="el-GR" sz="2600" kern="0" dirty="0">
                <a:solidFill>
                  <a:srgbClr val="000000"/>
                </a:solidFill>
                <a:latin typeface="Tahoma"/>
              </a:rPr>
              <a:t>,</a:t>
            </a:r>
            <a:endParaRPr lang="el-GR" altLang="el-GR" sz="2600" kern="0" dirty="0">
              <a:solidFill>
                <a:srgbClr val="000000"/>
              </a:solidFill>
              <a:latin typeface="Tahoma"/>
            </a:endParaRP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b="1" kern="0" dirty="0">
                <a:solidFill>
                  <a:srgbClr val="000000"/>
                </a:solidFill>
                <a:latin typeface="Tahoma"/>
              </a:rPr>
              <a:t>5.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	Στη συνέχεια επιλέγει το w1 και με δεξί κλικ επιλέγει </a:t>
            </a:r>
            <a:r>
              <a:rPr lang="en-GB" altLang="el-GR" sz="2600" b="1" kern="0" dirty="0">
                <a:solidFill>
                  <a:srgbClr val="000000"/>
                </a:solidFill>
                <a:latin typeface="Tahoma"/>
              </a:rPr>
              <a:t>b</a:t>
            </a:r>
            <a:r>
              <a:rPr lang="el-GR" altLang="el-GR" sz="2600" b="1" kern="0" dirty="0" err="1">
                <a:solidFill>
                  <a:srgbClr val="000000"/>
                </a:solidFill>
                <a:latin typeface="Tahoma"/>
              </a:rPr>
              <a:t>ringToFront</a:t>
            </a: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. H εφαρμογή φέρνει το παράθυρο w1 μπροστά από το w2</a:t>
            </a:r>
            <a:r>
              <a:rPr lang="en-GB" altLang="el-GR" sz="2600" kern="0" dirty="0">
                <a:solidFill>
                  <a:srgbClr val="000000"/>
                </a:solidFill>
                <a:latin typeface="Tahoma"/>
              </a:rPr>
              <a:t>.</a:t>
            </a:r>
            <a:endParaRPr lang="el-GR" altLang="el-GR" sz="26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0523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σενάριο  1/3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6725-A0DE-5714-B782-2F4D0234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19331"/>
            <a:ext cx="11362061" cy="167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just" eaLnBrk="1" hangingPunct="1">
              <a:buClr>
                <a:srgbClr val="3333CC"/>
              </a:buClr>
              <a:buNone/>
              <a:defRPr/>
            </a:pP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Ο χρήστης κάνει τις παρακάτω ενέργειες: 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1.	δημιουργεί ένα παράθυρο w1 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600" kern="0" dirty="0">
                <a:solidFill>
                  <a:srgbClr val="000000"/>
                </a:solidFill>
                <a:latin typeface="Tahoma"/>
              </a:rPr>
              <a:t>2.	δημιουργεί μέσα σε αυτό δύο τετράγωνα (r11, r12), δύο κύκλους (c11,c12), και ένα τρίγωνο (tr11)</a:t>
            </a:r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64B98C06-D5A8-5816-FB02-A5DF5419AFC1}"/>
              </a:ext>
            </a:extLst>
          </p:cNvPr>
          <p:cNvGrpSpPr>
            <a:grpSpLocks/>
          </p:cNvGrpSpPr>
          <p:nvPr/>
        </p:nvGrpSpPr>
        <p:grpSpPr bwMode="auto">
          <a:xfrm>
            <a:off x="5923972" y="2751183"/>
            <a:ext cx="4952057" cy="3422179"/>
            <a:chOff x="1237" y="1231"/>
            <a:chExt cx="2767" cy="1769"/>
          </a:xfrm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6E583FA1-446E-90A6-80D1-6DBF1D21B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7" y="1231"/>
              <a:ext cx="2767" cy="17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Oval 37">
              <a:extLst>
                <a:ext uri="{FF2B5EF4-FFF2-40B4-BE49-F238E27FC236}">
                  <a16:creationId xmlns:a16="http://schemas.microsoft.com/office/drawing/2014/main" id="{787D9636-E045-BDAC-F818-4FB2FFC10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570"/>
              <a:ext cx="544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38">
              <a:extLst>
                <a:ext uri="{FF2B5EF4-FFF2-40B4-BE49-F238E27FC236}">
                  <a16:creationId xmlns:a16="http://schemas.microsoft.com/office/drawing/2014/main" id="{9B7011AA-D1E8-15DD-8B6A-870FDC101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251"/>
              <a:ext cx="726" cy="680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AutoShape 39">
              <a:extLst>
                <a:ext uri="{FF2B5EF4-FFF2-40B4-BE49-F238E27FC236}">
                  <a16:creationId xmlns:a16="http://schemas.microsoft.com/office/drawing/2014/main" id="{76954CDE-F640-062F-9449-C2464EF0A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570"/>
              <a:ext cx="544" cy="545"/>
            </a:xfrm>
            <a:prstGeom prst="triangle">
              <a:avLst>
                <a:gd name="adj" fmla="val 50000"/>
              </a:avLst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Oval 40">
              <a:extLst>
                <a:ext uri="{FF2B5EF4-FFF2-40B4-BE49-F238E27FC236}">
                  <a16:creationId xmlns:a16="http://schemas.microsoft.com/office/drawing/2014/main" id="{7B356601-8010-4C7B-95F1-9D511CAA7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87"/>
              <a:ext cx="544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41">
              <a:extLst>
                <a:ext uri="{FF2B5EF4-FFF2-40B4-BE49-F238E27FC236}">
                  <a16:creationId xmlns:a16="http://schemas.microsoft.com/office/drawing/2014/main" id="{ADD58A3F-B701-58EC-CB30-C105B70A4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434"/>
              <a:ext cx="454" cy="453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15" name="Text Box 51">
            <a:extLst>
              <a:ext uri="{FF2B5EF4-FFF2-40B4-BE49-F238E27FC236}">
                <a16:creationId xmlns:a16="http://schemas.microsoft.com/office/drawing/2014/main" id="{A3D0BEB5-2114-037E-A882-08AB0B59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6544" y="2430432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w1:Window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56B5E3-E19B-570B-F0CC-EEF670C19142}"/>
              </a:ext>
            </a:extLst>
          </p:cNvPr>
          <p:cNvSpPr txBox="1"/>
          <p:nvPr/>
        </p:nvSpPr>
        <p:spPr>
          <a:xfrm>
            <a:off x="6198296" y="3096500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c11:Circle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7A5D16-44EF-72B4-9AB9-0501EF5647E5}"/>
              </a:ext>
            </a:extLst>
          </p:cNvPr>
          <p:cNvSpPr txBox="1"/>
          <p:nvPr/>
        </p:nvSpPr>
        <p:spPr>
          <a:xfrm>
            <a:off x="9482323" y="4596289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7C5C17-F055-3F5E-CAAA-73B394D26280}"/>
              </a:ext>
            </a:extLst>
          </p:cNvPr>
          <p:cNvSpPr txBox="1"/>
          <p:nvPr/>
        </p:nvSpPr>
        <p:spPr>
          <a:xfrm>
            <a:off x="7555020" y="4334459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D4DA62-BF94-1506-6067-93AC3AD96B38}"/>
              </a:ext>
            </a:extLst>
          </p:cNvPr>
          <p:cNvSpPr txBox="1"/>
          <p:nvPr/>
        </p:nvSpPr>
        <p:spPr>
          <a:xfrm>
            <a:off x="7922136" y="2752684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r11:Rectangle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B751E1-F11C-D9A0-3B5A-C00F7D66EE07}"/>
              </a:ext>
            </a:extLst>
          </p:cNvPr>
          <p:cNvSpPr txBox="1"/>
          <p:nvPr/>
        </p:nvSpPr>
        <p:spPr>
          <a:xfrm>
            <a:off x="9370396" y="3143892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tr11:Triangle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48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σενάριο  2/3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6725-A0DE-5714-B782-2F4D0234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32" y="1447060"/>
            <a:ext cx="4698852" cy="240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3.	Στη συνέχεια δημιουργεί ένα άλλο παράθυρο w2 που επικαλύπτει το w1.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4.	Δημιουργεί μέσα σε αυτό δύο τετράγωνα (r21,r22), δύο κύκλους (c21,c22) και δυο τρίγωνα (tr21,tr22)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,</a:t>
            </a:r>
          </a:p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5.	Στη συνέχεια επιλέγει το w1 και με δεξί κλικ επιλέγει </a:t>
            </a:r>
            <a:r>
              <a:rPr lang="el-GR" altLang="el-GR" sz="2400" b="1" kern="0" dirty="0" err="1">
                <a:solidFill>
                  <a:srgbClr val="000000"/>
                </a:solidFill>
                <a:latin typeface="Tahoma"/>
              </a:rPr>
              <a:t>BringToFront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. </a:t>
            </a:r>
          </a:p>
        </p:txBody>
      </p:sp>
      <p:grpSp>
        <p:nvGrpSpPr>
          <p:cNvPr id="5" name="Group 35">
            <a:extLst>
              <a:ext uri="{FF2B5EF4-FFF2-40B4-BE49-F238E27FC236}">
                <a16:creationId xmlns:a16="http://schemas.microsoft.com/office/drawing/2014/main" id="{4ADFE91E-17C7-FBC9-5B02-95D327261E31}"/>
              </a:ext>
            </a:extLst>
          </p:cNvPr>
          <p:cNvGrpSpPr>
            <a:grpSpLocks/>
          </p:cNvGrpSpPr>
          <p:nvPr/>
        </p:nvGrpSpPr>
        <p:grpSpPr bwMode="auto">
          <a:xfrm>
            <a:off x="5361912" y="1550398"/>
            <a:ext cx="4952057" cy="3422179"/>
            <a:chOff x="1237" y="1231"/>
            <a:chExt cx="2767" cy="1769"/>
          </a:xfrm>
        </p:grpSpPr>
        <p:sp>
          <p:nvSpPr>
            <p:cNvPr id="6" name="Rectangle 36">
              <a:extLst>
                <a:ext uri="{FF2B5EF4-FFF2-40B4-BE49-F238E27FC236}">
                  <a16:creationId xmlns:a16="http://schemas.microsoft.com/office/drawing/2014/main" id="{425754DD-19AB-505D-CE0B-22534C152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7" y="1231"/>
              <a:ext cx="2767" cy="17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" name="Oval 37">
              <a:extLst>
                <a:ext uri="{FF2B5EF4-FFF2-40B4-BE49-F238E27FC236}">
                  <a16:creationId xmlns:a16="http://schemas.microsoft.com/office/drawing/2014/main" id="{8E163FE5-DE52-D502-1569-CE917565E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570"/>
              <a:ext cx="544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9" name="Rectangle 38">
              <a:extLst>
                <a:ext uri="{FF2B5EF4-FFF2-40B4-BE49-F238E27FC236}">
                  <a16:creationId xmlns:a16="http://schemas.microsoft.com/office/drawing/2014/main" id="{26D0E633-C788-DE5C-292F-E7ED5CFC3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251"/>
              <a:ext cx="726" cy="680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2" name="AutoShape 39">
              <a:extLst>
                <a:ext uri="{FF2B5EF4-FFF2-40B4-BE49-F238E27FC236}">
                  <a16:creationId xmlns:a16="http://schemas.microsoft.com/office/drawing/2014/main" id="{503B3409-F976-B44F-C3A3-3191D365A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570"/>
              <a:ext cx="544" cy="545"/>
            </a:xfrm>
            <a:prstGeom prst="triangle">
              <a:avLst>
                <a:gd name="adj" fmla="val 50000"/>
              </a:avLst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3" name="Oval 40">
              <a:extLst>
                <a:ext uri="{FF2B5EF4-FFF2-40B4-BE49-F238E27FC236}">
                  <a16:creationId xmlns:a16="http://schemas.microsoft.com/office/drawing/2014/main" id="{025CA4EB-E1A8-9A00-7A67-A73AAD9B2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87"/>
              <a:ext cx="544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4" name="Rectangle 41">
              <a:extLst>
                <a:ext uri="{FF2B5EF4-FFF2-40B4-BE49-F238E27FC236}">
                  <a16:creationId xmlns:a16="http://schemas.microsoft.com/office/drawing/2014/main" id="{068BE250-1A4A-91D5-9C6C-225FDC089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434"/>
              <a:ext cx="454" cy="453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15" name="Text Box 51">
            <a:extLst>
              <a:ext uri="{FF2B5EF4-FFF2-40B4-BE49-F238E27FC236}">
                <a16:creationId xmlns:a16="http://schemas.microsoft.com/office/drawing/2014/main" id="{EA3A3E1B-8E03-87EF-3E8A-D83DF0CF7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484" y="1229647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w1:Window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BF2382-644B-102D-C347-CFFF7D29401E}"/>
              </a:ext>
            </a:extLst>
          </p:cNvPr>
          <p:cNvSpPr txBox="1"/>
          <p:nvPr/>
        </p:nvSpPr>
        <p:spPr>
          <a:xfrm>
            <a:off x="5636236" y="1895715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c11:Circle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DC3B4-16DC-557B-1065-9694874AAB5A}"/>
              </a:ext>
            </a:extLst>
          </p:cNvPr>
          <p:cNvSpPr txBox="1"/>
          <p:nvPr/>
        </p:nvSpPr>
        <p:spPr>
          <a:xfrm>
            <a:off x="8920263" y="3395504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81F481-0541-F55B-4B0A-96F9D07B2583}"/>
              </a:ext>
            </a:extLst>
          </p:cNvPr>
          <p:cNvSpPr txBox="1"/>
          <p:nvPr/>
        </p:nvSpPr>
        <p:spPr>
          <a:xfrm>
            <a:off x="6992960" y="3133674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3AEB1-447F-6418-F323-668690F60637}"/>
              </a:ext>
            </a:extLst>
          </p:cNvPr>
          <p:cNvSpPr txBox="1"/>
          <p:nvPr/>
        </p:nvSpPr>
        <p:spPr>
          <a:xfrm>
            <a:off x="7360076" y="1551899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r11:Rectangle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A250C6-3F7E-570D-6A86-B47C299B54D7}"/>
              </a:ext>
            </a:extLst>
          </p:cNvPr>
          <p:cNvSpPr txBox="1"/>
          <p:nvPr/>
        </p:nvSpPr>
        <p:spPr>
          <a:xfrm>
            <a:off x="8808336" y="1943107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tr11:Triangle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:a16="http://schemas.microsoft.com/office/drawing/2014/main" id="{5E66F8D4-6CD2-9F1F-BDD0-1F9DFA27A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0076" y="1229647"/>
            <a:ext cx="4554093" cy="3130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2" name="Oval 44">
            <a:extLst>
              <a:ext uri="{FF2B5EF4-FFF2-40B4-BE49-F238E27FC236}">
                <a16:creationId xmlns:a16="http://schemas.microsoft.com/office/drawing/2014/main" id="{674520EB-0055-7C46-8973-E68AEFD8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2708" y="3292861"/>
            <a:ext cx="863600" cy="865188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3" name="Rectangle 45">
            <a:extLst>
              <a:ext uri="{FF2B5EF4-FFF2-40B4-BE49-F238E27FC236}">
                <a16:creationId xmlns:a16="http://schemas.microsoft.com/office/drawing/2014/main" id="{50BB3AE0-1A50-A381-8F1F-6A373EF6E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457" y="1765827"/>
            <a:ext cx="647700" cy="576262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4" name="AutoShape 46">
            <a:extLst>
              <a:ext uri="{FF2B5EF4-FFF2-40B4-BE49-F238E27FC236}">
                <a16:creationId xmlns:a16="http://schemas.microsoft.com/office/drawing/2014/main" id="{1FBD718A-1C10-033C-AFA6-44566B33C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8769" y="2054752"/>
            <a:ext cx="863600" cy="865187"/>
          </a:xfrm>
          <a:prstGeom prst="triangle">
            <a:avLst>
              <a:gd name="adj" fmla="val 50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5" name="Oval 47">
            <a:extLst>
              <a:ext uri="{FF2B5EF4-FFF2-40B4-BE49-F238E27FC236}">
                <a16:creationId xmlns:a16="http://schemas.microsoft.com/office/drawing/2014/main" id="{24301229-2418-E02F-FF52-9E03D0731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4307" y="3351739"/>
            <a:ext cx="863600" cy="865188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6" name="Rectangle 48">
            <a:extLst>
              <a:ext uri="{FF2B5EF4-FFF2-40B4-BE49-F238E27FC236}">
                <a16:creationId xmlns:a16="http://schemas.microsoft.com/office/drawing/2014/main" id="{480A3925-1F33-46C6-EB69-B11E4C7DD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8907" y="1838852"/>
            <a:ext cx="720725" cy="719137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7" name="AutoShape 49">
            <a:extLst>
              <a:ext uri="{FF2B5EF4-FFF2-40B4-BE49-F238E27FC236}">
                <a16:creationId xmlns:a16="http://schemas.microsoft.com/office/drawing/2014/main" id="{440A72B8-CD83-8132-6FE5-E2FA024F2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4444" y="2989789"/>
            <a:ext cx="863600" cy="865188"/>
          </a:xfrm>
          <a:prstGeom prst="triangle">
            <a:avLst>
              <a:gd name="adj" fmla="val 50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8" name="Text Box 52">
            <a:extLst>
              <a:ext uri="{FF2B5EF4-FFF2-40B4-BE49-F238E27FC236}">
                <a16:creationId xmlns:a16="http://schemas.microsoft.com/office/drawing/2014/main" id="{3D21D90A-F621-6846-2C9A-B9C3076BF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5014" y="893742"/>
            <a:ext cx="1497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w2:Window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007CCC-48E3-0E64-9C8F-BA0613433959}"/>
              </a:ext>
            </a:extLst>
          </p:cNvPr>
          <p:cNvSpPr txBox="1"/>
          <p:nvPr/>
        </p:nvSpPr>
        <p:spPr>
          <a:xfrm>
            <a:off x="7460316" y="2911798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c21:Circle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EFE37-0A45-ABEB-AE49-509A64A67D79}"/>
              </a:ext>
            </a:extLst>
          </p:cNvPr>
          <p:cNvSpPr txBox="1"/>
          <p:nvPr/>
        </p:nvSpPr>
        <p:spPr>
          <a:xfrm>
            <a:off x="10395014" y="3059668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c22:Circle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305177-ABE9-67E3-69A6-FC9275C0E778}"/>
              </a:ext>
            </a:extLst>
          </p:cNvPr>
          <p:cNvSpPr txBox="1"/>
          <p:nvPr/>
        </p:nvSpPr>
        <p:spPr>
          <a:xfrm>
            <a:off x="7418889" y="1409525"/>
            <a:ext cx="161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r21:Rectangle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2EEBD1-E49D-BAE5-E1A6-4676C4D49BFA}"/>
              </a:ext>
            </a:extLst>
          </p:cNvPr>
          <p:cNvSpPr txBox="1"/>
          <p:nvPr/>
        </p:nvSpPr>
        <p:spPr>
          <a:xfrm>
            <a:off x="9065530" y="1489190"/>
            <a:ext cx="161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r22:Rectangle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4A84539-2B7C-976F-08E9-F9099B8E497D}"/>
              </a:ext>
            </a:extLst>
          </p:cNvPr>
          <p:cNvSpPr txBox="1"/>
          <p:nvPr/>
        </p:nvSpPr>
        <p:spPr>
          <a:xfrm>
            <a:off x="10336119" y="1795577"/>
            <a:ext cx="171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tr21: 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4B436B-FFC2-4C34-21CF-D4A65CD73188}"/>
              </a:ext>
            </a:extLst>
          </p:cNvPr>
          <p:cNvSpPr txBox="1"/>
          <p:nvPr/>
        </p:nvSpPr>
        <p:spPr>
          <a:xfrm>
            <a:off x="8915655" y="2727472"/>
            <a:ext cx="171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tr22: 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99DD7AE-9586-022D-F6A3-A10084CB811D}"/>
              </a:ext>
            </a:extLst>
          </p:cNvPr>
          <p:cNvCxnSpPr/>
          <p:nvPr/>
        </p:nvCxnSpPr>
        <p:spPr bwMode="auto">
          <a:xfrm flipV="1">
            <a:off x="5040294" y="4972577"/>
            <a:ext cx="1257722" cy="1186333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6EFCC72-9122-C91E-ACC5-07313E46571A}"/>
              </a:ext>
            </a:extLst>
          </p:cNvPr>
          <p:cNvSpPr txBox="1"/>
          <p:nvPr/>
        </p:nvSpPr>
        <p:spPr>
          <a:xfrm rot="19051796">
            <a:off x="4867119" y="5269552"/>
            <a:ext cx="1332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bringToFront</a:t>
            </a:r>
            <a:endParaRPr lang="el-G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73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Το σενάριο  3/3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4E6725-A0DE-5714-B782-2F4D02349B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6" y="2742790"/>
            <a:ext cx="4698852" cy="2407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algn="just" eaLnBrk="1" hangingPunct="1">
              <a:buClr>
                <a:srgbClr val="3333CC"/>
              </a:buClr>
              <a:defRPr/>
            </a:pP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5.	Στη συνέχεια επιλέγει το w1 και με δεξί κλικ επιλέγει </a:t>
            </a:r>
            <a:r>
              <a:rPr lang="el-GR" altLang="el-GR" sz="2400" kern="0" dirty="0" err="1">
                <a:solidFill>
                  <a:srgbClr val="000000"/>
                </a:solidFill>
                <a:latin typeface="Tahoma"/>
              </a:rPr>
              <a:t>BringToFront</a:t>
            </a:r>
            <a:r>
              <a:rPr lang="el-GR" altLang="el-GR" sz="2400" kern="0" dirty="0">
                <a:solidFill>
                  <a:srgbClr val="000000"/>
                </a:solidFill>
                <a:latin typeface="Tahoma"/>
              </a:rPr>
              <a:t>. H εφαρμογή φέρνει το παράθυρο w1 μπροστά από το w2</a:t>
            </a:r>
            <a:r>
              <a:rPr lang="en-GB" altLang="el-GR" sz="2400" kern="0" dirty="0">
                <a:solidFill>
                  <a:srgbClr val="000000"/>
                </a:solidFill>
                <a:latin typeface="Tahoma"/>
              </a:rPr>
              <a:t>.</a:t>
            </a:r>
            <a:endParaRPr lang="el-GR" altLang="el-GR" sz="2400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7" name="Rectangle 43">
            <a:extLst>
              <a:ext uri="{FF2B5EF4-FFF2-40B4-BE49-F238E27FC236}">
                <a16:creationId xmlns:a16="http://schemas.microsoft.com/office/drawing/2014/main" id="{60589A3B-2808-D301-6D87-81A8D6C29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8306" y="1591160"/>
            <a:ext cx="4554093" cy="31301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B34FF0DD-AC61-7EDF-0306-5D8FEA7DA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938" y="3654374"/>
            <a:ext cx="863600" cy="865188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39" name="Rectangle 45">
            <a:extLst>
              <a:ext uri="{FF2B5EF4-FFF2-40B4-BE49-F238E27FC236}">
                <a16:creationId xmlns:a16="http://schemas.microsoft.com/office/drawing/2014/main" id="{7C708B24-168E-1D3F-908D-4009CCA7F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5687" y="2127340"/>
            <a:ext cx="647700" cy="576262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0" name="AutoShape 46">
            <a:extLst>
              <a:ext uri="{FF2B5EF4-FFF2-40B4-BE49-F238E27FC236}">
                <a16:creationId xmlns:a16="http://schemas.microsoft.com/office/drawing/2014/main" id="{3F37A352-8387-D5EF-D12C-2BE9CA1BC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6999" y="2416265"/>
            <a:ext cx="863600" cy="865187"/>
          </a:xfrm>
          <a:prstGeom prst="triangle">
            <a:avLst>
              <a:gd name="adj" fmla="val 50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1" name="Oval 47">
            <a:extLst>
              <a:ext uri="{FF2B5EF4-FFF2-40B4-BE49-F238E27FC236}">
                <a16:creationId xmlns:a16="http://schemas.microsoft.com/office/drawing/2014/main" id="{22ACC5CF-A770-815D-A9B1-F851E4049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62537" y="3713252"/>
            <a:ext cx="863600" cy="865188"/>
          </a:xfrm>
          <a:prstGeom prst="ellipse">
            <a:avLst/>
          </a:prstGeom>
          <a:solidFill>
            <a:srgbClr val="00E4A8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2" name="Rectangle 48">
            <a:extLst>
              <a:ext uri="{FF2B5EF4-FFF2-40B4-BE49-F238E27FC236}">
                <a16:creationId xmlns:a16="http://schemas.microsoft.com/office/drawing/2014/main" id="{F47DCBE9-FE1D-4676-3B76-F95CED87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7137" y="2200365"/>
            <a:ext cx="720725" cy="719137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3" name="AutoShape 49">
            <a:extLst>
              <a:ext uri="{FF2B5EF4-FFF2-40B4-BE49-F238E27FC236}">
                <a16:creationId xmlns:a16="http://schemas.microsoft.com/office/drawing/2014/main" id="{68CE4CE0-0384-4D57-8B1D-2B0378868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2674" y="3351302"/>
            <a:ext cx="863600" cy="865188"/>
          </a:xfrm>
          <a:prstGeom prst="triangle">
            <a:avLst>
              <a:gd name="adj" fmla="val 50000"/>
            </a:avLst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5585EE-E0FC-5224-9150-D85BAA6E19CA}"/>
              </a:ext>
            </a:extLst>
          </p:cNvPr>
          <p:cNvSpPr txBox="1"/>
          <p:nvPr/>
        </p:nvSpPr>
        <p:spPr>
          <a:xfrm>
            <a:off x="7248546" y="3273311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c21:Circle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0F00BE-E168-B42C-963A-65EED5C8EE91}"/>
              </a:ext>
            </a:extLst>
          </p:cNvPr>
          <p:cNvSpPr txBox="1"/>
          <p:nvPr/>
        </p:nvSpPr>
        <p:spPr>
          <a:xfrm>
            <a:off x="10183244" y="3421181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c22:Circle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2E1B7B-AC38-74A9-A163-38C0D3B3D38B}"/>
              </a:ext>
            </a:extLst>
          </p:cNvPr>
          <p:cNvSpPr txBox="1"/>
          <p:nvPr/>
        </p:nvSpPr>
        <p:spPr>
          <a:xfrm>
            <a:off x="7207119" y="1771038"/>
            <a:ext cx="161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Tahoma" panose="020B0604030504040204" pitchFamily="34" charset="0"/>
              </a:rPr>
              <a:t>r11:Rectangle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F0E6F4-2367-5294-9CEF-9B4034438809}"/>
              </a:ext>
            </a:extLst>
          </p:cNvPr>
          <p:cNvSpPr txBox="1"/>
          <p:nvPr/>
        </p:nvSpPr>
        <p:spPr>
          <a:xfrm>
            <a:off x="8853760" y="1850703"/>
            <a:ext cx="161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r22:Rectangle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8734A-DAE8-E17E-BD2B-DE676E73FF88}"/>
              </a:ext>
            </a:extLst>
          </p:cNvPr>
          <p:cNvSpPr txBox="1"/>
          <p:nvPr/>
        </p:nvSpPr>
        <p:spPr>
          <a:xfrm>
            <a:off x="10124349" y="2157090"/>
            <a:ext cx="171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tr21: 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228A4B-D2EC-9395-C87C-A189D1884312}"/>
              </a:ext>
            </a:extLst>
          </p:cNvPr>
          <p:cNvSpPr txBox="1"/>
          <p:nvPr/>
        </p:nvSpPr>
        <p:spPr>
          <a:xfrm>
            <a:off x="8703885" y="3088985"/>
            <a:ext cx="1715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tr22: 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50" name="Group 35">
            <a:extLst>
              <a:ext uri="{FF2B5EF4-FFF2-40B4-BE49-F238E27FC236}">
                <a16:creationId xmlns:a16="http://schemas.microsoft.com/office/drawing/2014/main" id="{D7D6DD54-2C0E-F15F-534E-318E2D5B9A3A}"/>
              </a:ext>
            </a:extLst>
          </p:cNvPr>
          <p:cNvGrpSpPr>
            <a:grpSpLocks/>
          </p:cNvGrpSpPr>
          <p:nvPr/>
        </p:nvGrpSpPr>
        <p:grpSpPr bwMode="auto">
          <a:xfrm>
            <a:off x="5150142" y="1911911"/>
            <a:ext cx="4952057" cy="3422179"/>
            <a:chOff x="1237" y="1231"/>
            <a:chExt cx="2767" cy="1769"/>
          </a:xfrm>
        </p:grpSpPr>
        <p:sp>
          <p:nvSpPr>
            <p:cNvPr id="51" name="Rectangle 36">
              <a:extLst>
                <a:ext uri="{FF2B5EF4-FFF2-40B4-BE49-F238E27FC236}">
                  <a16:creationId xmlns:a16="http://schemas.microsoft.com/office/drawing/2014/main" id="{B19479E9-3B73-0466-C3A2-680A96110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7" y="1231"/>
              <a:ext cx="2767" cy="176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2" name="Oval 37">
              <a:extLst>
                <a:ext uri="{FF2B5EF4-FFF2-40B4-BE49-F238E27FC236}">
                  <a16:creationId xmlns:a16="http://schemas.microsoft.com/office/drawing/2014/main" id="{B3CE6E4D-0336-780F-8524-2F7C7D364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1570"/>
              <a:ext cx="628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3" name="Rectangle 38">
              <a:extLst>
                <a:ext uri="{FF2B5EF4-FFF2-40B4-BE49-F238E27FC236}">
                  <a16:creationId xmlns:a16="http://schemas.microsoft.com/office/drawing/2014/main" id="{C3DE53BC-768A-239A-0BED-B0B0A36AB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251"/>
              <a:ext cx="726" cy="680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4" name="AutoShape 39">
              <a:extLst>
                <a:ext uri="{FF2B5EF4-FFF2-40B4-BE49-F238E27FC236}">
                  <a16:creationId xmlns:a16="http://schemas.microsoft.com/office/drawing/2014/main" id="{6910C4D8-6307-C746-CD46-62D94828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570"/>
              <a:ext cx="544" cy="545"/>
            </a:xfrm>
            <a:prstGeom prst="triangle">
              <a:avLst>
                <a:gd name="adj" fmla="val 50000"/>
              </a:avLst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5" name="Oval 40">
              <a:extLst>
                <a:ext uri="{FF2B5EF4-FFF2-40B4-BE49-F238E27FC236}">
                  <a16:creationId xmlns:a16="http://schemas.microsoft.com/office/drawing/2014/main" id="{D61E2EEB-AFAE-E5A7-58EC-1921642D24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9" y="2386"/>
              <a:ext cx="620" cy="545"/>
            </a:xfrm>
            <a:prstGeom prst="ellipse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56" name="Rectangle 41">
              <a:extLst>
                <a:ext uri="{FF2B5EF4-FFF2-40B4-BE49-F238E27FC236}">
                  <a16:creationId xmlns:a16="http://schemas.microsoft.com/office/drawing/2014/main" id="{FCEB22D7-D6D3-91FC-CBA5-1D6F9EA55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434"/>
              <a:ext cx="454" cy="453"/>
            </a:xfrm>
            <a:prstGeom prst="rect">
              <a:avLst/>
            </a:prstGeom>
            <a:solidFill>
              <a:srgbClr val="00E4A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57" name="Text Box 51">
            <a:extLst>
              <a:ext uri="{FF2B5EF4-FFF2-40B4-BE49-F238E27FC236}">
                <a16:creationId xmlns:a16="http://schemas.microsoft.com/office/drawing/2014/main" id="{E0F4A735-F60D-F661-81B8-483387D92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714" y="1591160"/>
            <a:ext cx="1497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w1:Window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BE1D74-1ECC-D705-8563-88083AE342E9}"/>
              </a:ext>
            </a:extLst>
          </p:cNvPr>
          <p:cNvSpPr txBox="1"/>
          <p:nvPr/>
        </p:nvSpPr>
        <p:spPr>
          <a:xfrm>
            <a:off x="5424466" y="2257228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c11:Circle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BDCCD3-B891-D353-5E64-93D3642352A1}"/>
              </a:ext>
            </a:extLst>
          </p:cNvPr>
          <p:cNvSpPr txBox="1"/>
          <p:nvPr/>
        </p:nvSpPr>
        <p:spPr>
          <a:xfrm>
            <a:off x="8967137" y="3779068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c12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2E7CA4-C5CD-4CB4-C0B3-FC6AA8472221}"/>
              </a:ext>
            </a:extLst>
          </p:cNvPr>
          <p:cNvSpPr txBox="1"/>
          <p:nvPr/>
        </p:nvSpPr>
        <p:spPr>
          <a:xfrm>
            <a:off x="6781190" y="3495187"/>
            <a:ext cx="808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r12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74BDBC-A4AD-9A02-7EE1-73F7F06221FF}"/>
              </a:ext>
            </a:extLst>
          </p:cNvPr>
          <p:cNvSpPr txBox="1"/>
          <p:nvPr/>
        </p:nvSpPr>
        <p:spPr>
          <a:xfrm>
            <a:off x="7148306" y="1913412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r11:Rectangle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4D26B2-8CA7-DE03-4E01-775DC9B65FF0}"/>
              </a:ext>
            </a:extLst>
          </p:cNvPr>
          <p:cNvSpPr txBox="1"/>
          <p:nvPr/>
        </p:nvSpPr>
        <p:spPr>
          <a:xfrm>
            <a:off x="8596566" y="2304620"/>
            <a:ext cx="1586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00"/>
                </a:solidFill>
                <a:latin typeface="Tahoma" panose="020B0604030504040204" pitchFamily="34" charset="0"/>
              </a:rPr>
              <a:t>tr11:Triangle</a:t>
            </a:r>
            <a:endParaRPr lang="el-GR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63" name="Text Box 52">
            <a:extLst>
              <a:ext uri="{FF2B5EF4-FFF2-40B4-BE49-F238E27FC236}">
                <a16:creationId xmlns:a16="http://schemas.microsoft.com/office/drawing/2014/main" id="{70EFE053-3BC4-3F4F-BFC6-E11902233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83244" y="1255255"/>
            <a:ext cx="1497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w2:Window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C30714D-6DF5-EEFC-5D40-349C9D4DBB14}"/>
              </a:ext>
            </a:extLst>
          </p:cNvPr>
          <p:cNvCxnSpPr/>
          <p:nvPr/>
        </p:nvCxnSpPr>
        <p:spPr bwMode="auto">
          <a:xfrm flipV="1">
            <a:off x="4828524" y="5334090"/>
            <a:ext cx="1257722" cy="1186333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8505AD0-D6A5-F584-19FD-6DE6B3E4D703}"/>
              </a:ext>
            </a:extLst>
          </p:cNvPr>
          <p:cNvSpPr txBox="1"/>
          <p:nvPr/>
        </p:nvSpPr>
        <p:spPr>
          <a:xfrm rot="19051796">
            <a:off x="4655349" y="5631065"/>
            <a:ext cx="1332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 err="1">
                <a:solidFill>
                  <a:srgbClr val="FF0000"/>
                </a:solidFill>
                <a:latin typeface="Tahoma" panose="020B0604030504040204" pitchFamily="34" charset="0"/>
              </a:rPr>
              <a:t>bringToFront</a:t>
            </a:r>
            <a:endParaRPr lang="el-GR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FBC4639-AD81-7490-A84C-C8B66EE70DEF}"/>
              </a:ext>
            </a:extLst>
          </p:cNvPr>
          <p:cNvCxnSpPr>
            <a:cxnSpLocks/>
            <a:endCxn id="52" idx="4"/>
          </p:cNvCxnSpPr>
          <p:nvPr/>
        </p:nvCxnSpPr>
        <p:spPr bwMode="auto">
          <a:xfrm flipV="1">
            <a:off x="5455587" y="3622033"/>
            <a:ext cx="437274" cy="594457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3F3DB1B-928B-7CE4-01DD-75B74C60E571}"/>
              </a:ext>
            </a:extLst>
          </p:cNvPr>
          <p:cNvSpPr txBox="1"/>
          <p:nvPr/>
        </p:nvSpPr>
        <p:spPr>
          <a:xfrm rot="20796406">
            <a:off x="5321813" y="37908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endParaRPr lang="el-G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66167CA-F390-6E22-C58E-FFE40582CC1C}"/>
              </a:ext>
            </a:extLst>
          </p:cNvPr>
          <p:cNvCxnSpPr>
            <a:cxnSpLocks/>
          </p:cNvCxnSpPr>
          <p:nvPr/>
        </p:nvCxnSpPr>
        <p:spPr bwMode="auto">
          <a:xfrm flipV="1">
            <a:off x="6760605" y="2726757"/>
            <a:ext cx="660656" cy="192745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08A4078-D8D7-C9B9-1759-9A81F8671891}"/>
              </a:ext>
            </a:extLst>
          </p:cNvPr>
          <p:cNvSpPr txBox="1"/>
          <p:nvPr/>
        </p:nvSpPr>
        <p:spPr>
          <a:xfrm rot="20796406">
            <a:off x="6637767" y="2568983"/>
            <a:ext cx="792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endParaRPr lang="el-G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C1A50DD-CE34-4E0F-543D-773F18792C78}"/>
              </a:ext>
            </a:extLst>
          </p:cNvPr>
          <p:cNvCxnSpPr/>
          <p:nvPr/>
        </p:nvCxnSpPr>
        <p:spPr bwMode="auto">
          <a:xfrm flipV="1">
            <a:off x="6078743" y="4272608"/>
            <a:ext cx="362107" cy="594457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E4119FF-C850-7C15-0E3D-E1D744C2E362}"/>
              </a:ext>
            </a:extLst>
          </p:cNvPr>
          <p:cNvSpPr txBox="1"/>
          <p:nvPr/>
        </p:nvSpPr>
        <p:spPr>
          <a:xfrm rot="20796406">
            <a:off x="5944969" y="44414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endParaRPr lang="el-G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2EC0390-E23B-3C0E-D8BE-C7DBC5CA968B}"/>
              </a:ext>
            </a:extLst>
          </p:cNvPr>
          <p:cNvCxnSpPr>
            <a:cxnSpLocks/>
          </p:cNvCxnSpPr>
          <p:nvPr/>
        </p:nvCxnSpPr>
        <p:spPr bwMode="auto">
          <a:xfrm flipV="1">
            <a:off x="8182561" y="3420779"/>
            <a:ext cx="605216" cy="197601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8C1EB52-3188-E271-4383-A425D460EADE}"/>
              </a:ext>
            </a:extLst>
          </p:cNvPr>
          <p:cNvSpPr txBox="1"/>
          <p:nvPr/>
        </p:nvSpPr>
        <p:spPr>
          <a:xfrm rot="21578824">
            <a:off x="8047022" y="32834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endParaRPr lang="el-G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3DCE450-B2C9-8142-A3F6-32FA163EBC90}"/>
              </a:ext>
            </a:extLst>
          </p:cNvPr>
          <p:cNvCxnSpPr>
            <a:cxnSpLocks/>
          </p:cNvCxnSpPr>
          <p:nvPr/>
        </p:nvCxnSpPr>
        <p:spPr bwMode="auto">
          <a:xfrm>
            <a:off x="8010666" y="4721315"/>
            <a:ext cx="644354" cy="0"/>
          </a:xfrm>
          <a:prstGeom prst="straightConnector1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590BA11-DC9C-41A8-A825-AE879D891270}"/>
              </a:ext>
            </a:extLst>
          </p:cNvPr>
          <p:cNvSpPr txBox="1"/>
          <p:nvPr/>
        </p:nvSpPr>
        <p:spPr>
          <a:xfrm rot="20796406">
            <a:off x="8047743" y="43967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</a:t>
            </a:r>
            <a:endParaRPr lang="el-G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5891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ΕΑ5 -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Development process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2E7DFD-04B7-1CEB-B3E0-00CCA3B6C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96" y="1554480"/>
            <a:ext cx="11907883" cy="497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indent="-285750" eaLnBrk="1" hangingPunct="1">
              <a:buClr>
                <a:srgbClr val="FF0000"/>
              </a:buClr>
              <a:buSzPct val="55000"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Αναγνώριση Αντικειμένων που θα απαρτίζουν την εφαρμογή </a:t>
            </a:r>
            <a:r>
              <a:rPr kumimoji="0" lang="en-US" altLang="el-GR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Identify Objects (</a:t>
            </a:r>
            <a:r>
              <a:rPr kumimoji="0" lang="en-US" altLang="el-GR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Class</a:t>
            </a:r>
            <a:r>
              <a:rPr kumimoji="0" lang="en-US" altLang="el-GR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)</a:t>
            </a:r>
            <a:r>
              <a:rPr kumimoji="0" lang="en-US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</a:t>
            </a:r>
          </a:p>
          <a:p>
            <a:pPr eaLnBrk="1" hangingPunct="1">
              <a:buClr>
                <a:srgbClr val="3333CC"/>
              </a:buClr>
            </a:pP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Ανάθεση αρμοδιοτήτων στα αντικείμενα της εφαρμογής </a:t>
            </a:r>
          </a:p>
          <a:p>
            <a:pPr marL="0" indent="0" eaLnBrk="1" hangingPunct="1">
              <a:buClr>
                <a:srgbClr val="3333CC"/>
              </a:buClr>
              <a:buNone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  </a:t>
            </a:r>
            <a:r>
              <a:rPr lang="en-US" altLang="el-GR" u="sng" kern="0" dirty="0">
                <a:solidFill>
                  <a:srgbClr val="000000"/>
                </a:solidFill>
                <a:latin typeface="Tahoma"/>
              </a:rPr>
              <a:t>Assign Responsibilities (</a:t>
            </a:r>
            <a:r>
              <a:rPr lang="en-US" altLang="el-GR" b="1" u="sng" kern="0" dirty="0">
                <a:solidFill>
                  <a:srgbClr val="000000"/>
                </a:solidFill>
                <a:latin typeface="Tahoma"/>
              </a:rPr>
              <a:t>Responsibility</a:t>
            </a:r>
            <a:r>
              <a:rPr lang="en-US" altLang="el-GR" u="sng" kern="0" dirty="0">
                <a:solidFill>
                  <a:srgbClr val="000000"/>
                </a:solidFill>
                <a:latin typeface="Tahoma"/>
              </a:rPr>
              <a:t>)</a:t>
            </a:r>
            <a:endParaRPr lang="el-GR" altLang="el-GR" u="sng" kern="0" dirty="0">
              <a:solidFill>
                <a:srgbClr val="000000"/>
              </a:solidFill>
              <a:latin typeface="Tahoma"/>
            </a:endParaRPr>
          </a:p>
          <a:p>
            <a:pPr eaLnBrk="1" hangingPunct="1">
              <a:buClr>
                <a:srgbClr val="FF0000"/>
              </a:buClr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Ορισμός της συνεργασίας των αντικειμένων </a:t>
            </a:r>
          </a:p>
          <a:p>
            <a:pPr marL="0" indent="0" eaLnBrk="1" hangingPunct="1">
              <a:buClr>
                <a:srgbClr val="FF0000"/>
              </a:buClr>
              <a:buNone/>
              <a:defRPr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   </a:t>
            </a:r>
            <a:r>
              <a:rPr lang="en-US" altLang="el-GR" u="sng" kern="0" dirty="0">
                <a:solidFill>
                  <a:srgbClr val="000000"/>
                </a:solidFill>
                <a:latin typeface="Tahoma"/>
              </a:rPr>
              <a:t>Define object collaborations (</a:t>
            </a:r>
            <a:r>
              <a:rPr lang="en-US" altLang="el-GR" b="1" u="sng" kern="0" dirty="0">
                <a:solidFill>
                  <a:srgbClr val="000000"/>
                </a:solidFill>
                <a:latin typeface="Tahoma"/>
              </a:rPr>
              <a:t>Collaboration</a:t>
            </a:r>
            <a:r>
              <a:rPr lang="en-US" altLang="el-GR" u="sng" kern="0" dirty="0">
                <a:solidFill>
                  <a:srgbClr val="000000"/>
                </a:solidFill>
                <a:latin typeface="Tahoma"/>
              </a:rPr>
              <a:t>)</a:t>
            </a:r>
            <a:endParaRPr lang="el-GR" altLang="el-GR" sz="3600" u="sng" kern="0" dirty="0">
              <a:solidFill>
                <a:srgbClr val="000000"/>
              </a:solidFill>
              <a:latin typeface="Tahoma"/>
            </a:endParaRPr>
          </a:p>
          <a:p>
            <a:pPr marL="0" indent="0" eaLnBrk="1" hangingPunct="1">
              <a:buClr>
                <a:srgbClr val="3333CC"/>
              </a:buClr>
              <a:buNone/>
            </a:pPr>
            <a:endParaRPr lang="en-US" altLang="el-GR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2589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ΕΑ5-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WindowsApp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Identify Objects)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7" name="Picture 6" descr="A whiteboard with writing on it&#10;&#10;Description automatically generated">
            <a:extLst>
              <a:ext uri="{FF2B5EF4-FFF2-40B4-BE49-F238E27FC236}">
                <a16:creationId xmlns:a16="http://schemas.microsoft.com/office/drawing/2014/main" id="{FA6F5820-31E1-13F3-A716-F49E146BC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48" y="978742"/>
            <a:ext cx="8735047" cy="534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7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Assign Responsibilities 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3" name="Picture 12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B7020677-82BB-7FFE-2B37-AF64CCD4A2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58" y="854438"/>
            <a:ext cx="9406249" cy="574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31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Define object collaborations 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7" name="Picture 6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3E947AFF-C0FC-B9E0-29CD-5CB30401F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2" y="758816"/>
            <a:ext cx="8289428" cy="576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06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ECF07CBF-1834-9FB3-5D37-B0407ED02F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649" y="282601"/>
            <a:ext cx="4664926" cy="6339096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From Sequence Diagram to </a:t>
            </a:r>
            <a:r>
              <a:rPr lang="en-GB" sz="4000">
                <a:solidFill>
                  <a:srgbClr val="F9853D"/>
                </a:solidFill>
                <a:latin typeface="Bahnschrift" panose="020B0502040204020203" pitchFamily="34" charset="0"/>
              </a:rPr>
              <a:t>Source Code 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7" name="Picture 6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3E947AFF-C0FC-B9E0-29CD-5CB30401F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2" y="758816"/>
            <a:ext cx="5339391" cy="3711169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00DB1DA-BACF-99C5-7368-A7466613CA97}"/>
              </a:ext>
            </a:extLst>
          </p:cNvPr>
          <p:cNvSpPr/>
          <p:nvPr/>
        </p:nvSpPr>
        <p:spPr>
          <a:xfrm>
            <a:off x="5709424" y="2520176"/>
            <a:ext cx="1661532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52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dirty="0" err="1">
                <a:solidFill>
                  <a:srgbClr val="F9853D"/>
                </a:solidFill>
                <a:latin typeface="Bahnschrift" panose="020B0502040204020203" pitchFamily="34" charset="0"/>
              </a:rPr>
              <a:t>addRectangle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9" name="Picture 8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0D1BCA58-AC2B-13BE-0FFD-B466B785F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195"/>
            <a:ext cx="9820656" cy="575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31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Identify Generalization/Specialization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13" name="Picture 12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430EC67F-5BE6-3F66-E5EB-5575A349B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84" y="758815"/>
            <a:ext cx="8361628" cy="582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dirty="0">
                <a:solidFill>
                  <a:srgbClr val="F9853D"/>
                </a:solidFill>
                <a:latin typeface="Bahnschrift" panose="020B0502040204020203" pitchFamily="34" charset="0"/>
              </a:rPr>
              <a:t>Implementation of Generalization/Specialization</a:t>
            </a:r>
            <a:endParaRPr lang="el-GR" sz="4000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Activity 5.9 WindowsApp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 descr="A white board with writing on it&#10;&#10;Description automatically generated">
            <a:extLst>
              <a:ext uri="{FF2B5EF4-FFF2-40B4-BE49-F238E27FC236}">
                <a16:creationId xmlns:a16="http://schemas.microsoft.com/office/drawing/2014/main" id="{C0F56D04-F576-1E38-9724-F3F1756B5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305"/>
            <a:ext cx="11053768" cy="55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4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17144</TotalTime>
  <Words>607</Words>
  <Application>Microsoft Office PowerPoint</Application>
  <PresentationFormat>Widescreen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Wingdings</vt:lpstr>
      <vt:lpstr>Προσαρμοσμένη σχεδίαση</vt:lpstr>
      <vt:lpstr>Θέμα του Office</vt:lpstr>
      <vt:lpstr>PowerPoint Presentation</vt:lpstr>
      <vt:lpstr>Η πηγή τους σεναρίου</vt:lpstr>
      <vt:lpstr>Το σενάριο  1/3</vt:lpstr>
      <vt:lpstr>Το σενάριο  2/3</vt:lpstr>
      <vt:lpstr>Το σενάριο  3/3</vt:lpstr>
      <vt:lpstr>ΕΑ5 - Development process</vt:lpstr>
      <vt:lpstr>ΕΑ5-WindowsApp (Identify Objects) </vt:lpstr>
      <vt:lpstr>Assign Responsibilities  </vt:lpstr>
      <vt:lpstr>Define object collaborations  </vt:lpstr>
      <vt:lpstr>From Sequence Diagram to Source Code </vt:lpstr>
      <vt:lpstr>addRectangle</vt:lpstr>
      <vt:lpstr>Identify Generalization/Specialization</vt:lpstr>
      <vt:lpstr>Implementation of Generalization/Specialization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Ch5_Activity5-9_WindowsApp</dc:title>
  <dc:creator>Kleanthis Thramboulidis</dc:creator>
  <cp:lastModifiedBy>thrambo@ece.upatras.gr</cp:lastModifiedBy>
  <cp:revision>85</cp:revision>
  <dcterms:created xsi:type="dcterms:W3CDTF">2020-03-13T12:21:17Z</dcterms:created>
  <dcterms:modified xsi:type="dcterms:W3CDTF">2024-10-09T06:05:10Z</dcterms:modified>
</cp:coreProperties>
</file>