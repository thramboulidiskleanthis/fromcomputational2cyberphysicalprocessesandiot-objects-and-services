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892" r:id="rId2"/>
    <p:sldMasterId id="2147483904" r:id="rId3"/>
  </p:sldMasterIdLst>
  <p:notesMasterIdLst>
    <p:notesMasterId r:id="rId39"/>
  </p:notesMasterIdLst>
  <p:sldIdLst>
    <p:sldId id="262" r:id="rId4"/>
    <p:sldId id="787" r:id="rId5"/>
    <p:sldId id="763" r:id="rId6"/>
    <p:sldId id="762" r:id="rId7"/>
    <p:sldId id="766" r:id="rId8"/>
    <p:sldId id="761" r:id="rId9"/>
    <p:sldId id="796" r:id="rId10"/>
    <p:sldId id="765" r:id="rId11"/>
    <p:sldId id="770" r:id="rId12"/>
    <p:sldId id="769" r:id="rId13"/>
    <p:sldId id="782" r:id="rId14"/>
    <p:sldId id="771" r:id="rId15"/>
    <p:sldId id="772" r:id="rId16"/>
    <p:sldId id="774" r:id="rId17"/>
    <p:sldId id="775" r:id="rId18"/>
    <p:sldId id="776" r:id="rId19"/>
    <p:sldId id="777" r:id="rId20"/>
    <p:sldId id="778" r:id="rId21"/>
    <p:sldId id="797" r:id="rId22"/>
    <p:sldId id="779" r:id="rId23"/>
    <p:sldId id="781" r:id="rId24"/>
    <p:sldId id="798" r:id="rId25"/>
    <p:sldId id="780" r:id="rId26"/>
    <p:sldId id="785" r:id="rId27"/>
    <p:sldId id="792" r:id="rId28"/>
    <p:sldId id="793" r:id="rId29"/>
    <p:sldId id="791" r:id="rId30"/>
    <p:sldId id="794" r:id="rId31"/>
    <p:sldId id="795" r:id="rId32"/>
    <p:sldId id="784" r:id="rId33"/>
    <p:sldId id="783" r:id="rId34"/>
    <p:sldId id="768" r:id="rId35"/>
    <p:sldId id="760" r:id="rId36"/>
    <p:sldId id="767" r:id="rId37"/>
    <p:sldId id="764" r:id="rId38"/>
  </p:sldIdLst>
  <p:sldSz cx="12192000" cy="6858000"/>
  <p:notesSz cx="7099300" cy="10234613"/>
  <p:defaultTextStyle>
    <a:defPPr>
      <a:defRPr lang="el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hrambo" initials="T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B3CDBB"/>
    <a:srgbClr val="60D69E"/>
    <a:srgbClr val="869391"/>
    <a:srgbClr val="F9853D"/>
    <a:srgbClr val="FDCBAD"/>
    <a:srgbClr val="FBAD7D"/>
    <a:srgbClr val="61649B"/>
    <a:srgbClr val="E49252"/>
    <a:srgbClr val="2E35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64" autoAdjust="0"/>
    <p:restoredTop sz="80664" autoAdjust="0"/>
  </p:normalViewPr>
  <p:slideViewPr>
    <p:cSldViewPr snapToGrid="0">
      <p:cViewPr varScale="1">
        <p:scale>
          <a:sx n="55" d="100"/>
          <a:sy n="55" d="100"/>
        </p:scale>
        <p:origin x="1260" y="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commentAuthors" Target="commentAuthor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theme" Target="theme/theme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κεφαλίδας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l-GR"/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2D120127-9FC1-4D44-BFF2-2F77E5433948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4" name="Θέση εικόνας διαφάνειας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el-GR"/>
          </a:p>
        </p:txBody>
      </p:sp>
      <p:sp>
        <p:nvSpPr>
          <p:cNvPr id="5" name="Θέση σημειώσεων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C9D89646-4F35-49C2-BD28-89287C170EC3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548665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90478">
              <a:defRPr/>
            </a:pPr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1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389721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90478">
              <a:defRPr/>
            </a:pPr>
            <a:fld id="{C9D89646-4F35-49C2-BD28-89287C170EC3}" type="slidenum">
              <a:rPr lang="el-GR">
                <a:solidFill>
                  <a:prstClr val="black"/>
                </a:solidFill>
                <a:latin typeface="Calibri" panose="020F0502020204030204"/>
              </a:rPr>
              <a:pPr defTabSz="990478">
                <a:defRPr/>
              </a:pPr>
              <a:t>2</a:t>
            </a:fld>
            <a:endParaRPr lang="el-GR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0730943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90478">
              <a:defRPr/>
            </a:pPr>
            <a:fld id="{C9D89646-4F35-49C2-BD28-89287C170EC3}" type="slidenum">
              <a:rPr lang="el-GR">
                <a:solidFill>
                  <a:prstClr val="black"/>
                </a:solidFill>
                <a:latin typeface="Calibri" panose="020F0502020204030204"/>
              </a:rPr>
              <a:pPr defTabSz="990478">
                <a:defRPr/>
              </a:pPr>
              <a:t>3</a:t>
            </a:fld>
            <a:endParaRPr lang="el-GR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4732361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90478">
              <a:defRPr/>
            </a:pPr>
            <a:fld id="{C9D89646-4F35-49C2-BD28-89287C170EC3}" type="slidenum">
              <a:rPr lang="el-GR">
                <a:solidFill>
                  <a:prstClr val="black"/>
                </a:solidFill>
                <a:latin typeface="Calibri" panose="020F0502020204030204"/>
              </a:rPr>
              <a:pPr defTabSz="990478">
                <a:defRPr/>
              </a:pPr>
              <a:t>4</a:t>
            </a:fld>
            <a:endParaRPr lang="el-GR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8033454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90478">
              <a:defRPr/>
            </a:pPr>
            <a:fld id="{C9D89646-4F35-49C2-BD28-89287C170EC3}" type="slidenum">
              <a:rPr lang="el-GR">
                <a:solidFill>
                  <a:prstClr val="black"/>
                </a:solidFill>
                <a:latin typeface="Calibri" panose="020F0502020204030204"/>
              </a:rPr>
              <a:pPr defTabSz="990478">
                <a:defRPr/>
              </a:pPr>
              <a:t>5</a:t>
            </a:fld>
            <a:endParaRPr lang="el-GR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580772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90478">
              <a:defRPr/>
            </a:pPr>
            <a:fld id="{C9D89646-4F35-49C2-BD28-89287C170EC3}" type="slidenum">
              <a:rPr lang="el-GR">
                <a:solidFill>
                  <a:prstClr val="black"/>
                </a:solidFill>
                <a:latin typeface="Calibri" panose="020F0502020204030204"/>
              </a:rPr>
              <a:pPr defTabSz="990478">
                <a:defRPr/>
              </a:pPr>
              <a:t>6</a:t>
            </a:fld>
            <a:endParaRPr lang="el-GR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4265816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90478">
              <a:defRPr/>
            </a:pPr>
            <a:fld id="{C9D89646-4F35-49C2-BD28-89287C170EC3}" type="slidenum">
              <a:rPr lang="el-GR">
                <a:solidFill>
                  <a:prstClr val="black"/>
                </a:solidFill>
                <a:latin typeface="Calibri" panose="020F0502020204030204"/>
              </a:rPr>
              <a:pPr defTabSz="990478">
                <a:defRPr/>
              </a:pPr>
              <a:t>7</a:t>
            </a:fld>
            <a:endParaRPr lang="el-GR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5093209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90478">
              <a:defRPr/>
            </a:pPr>
            <a:fld id="{C9D89646-4F35-49C2-BD28-89287C170EC3}" type="slidenum">
              <a:rPr lang="el-GR">
                <a:solidFill>
                  <a:prstClr val="black"/>
                </a:solidFill>
                <a:latin typeface="Calibri" panose="020F0502020204030204"/>
              </a:rPr>
              <a:pPr defTabSz="990478">
                <a:defRPr/>
              </a:pPr>
              <a:t>8</a:t>
            </a:fld>
            <a:endParaRPr lang="el-GR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4495663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90478">
              <a:defRPr/>
            </a:pPr>
            <a:fld id="{C9D89646-4F35-49C2-BD28-89287C170EC3}" type="slidenum">
              <a:rPr lang="el-GR">
                <a:solidFill>
                  <a:prstClr val="black"/>
                </a:solidFill>
                <a:latin typeface="Calibri" panose="020F0502020204030204"/>
              </a:rPr>
              <a:pPr defTabSz="990478">
                <a:defRPr/>
              </a:pPr>
              <a:t>9</a:t>
            </a:fld>
            <a:endParaRPr lang="el-GR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8858047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90478">
              <a:defRPr/>
            </a:pPr>
            <a:fld id="{C9D89646-4F35-49C2-BD28-89287C170EC3}" type="slidenum">
              <a:rPr lang="el-GR">
                <a:solidFill>
                  <a:prstClr val="black"/>
                </a:solidFill>
                <a:latin typeface="Calibri" panose="020F0502020204030204"/>
              </a:rPr>
              <a:pPr defTabSz="990478">
                <a:defRPr/>
              </a:pPr>
              <a:t>10</a:t>
            </a:fld>
            <a:endParaRPr lang="el-GR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6804451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90478">
              <a:defRPr/>
            </a:pPr>
            <a:fld id="{C9D89646-4F35-49C2-BD28-89287C170EC3}" type="slidenum">
              <a:rPr lang="el-GR">
                <a:solidFill>
                  <a:prstClr val="black"/>
                </a:solidFill>
                <a:latin typeface="Calibri" panose="020F0502020204030204"/>
              </a:rPr>
              <a:pPr defTabSz="990478">
                <a:defRPr/>
              </a:pPr>
              <a:t>11</a:t>
            </a:fld>
            <a:endParaRPr lang="el-GR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2592929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90478">
              <a:defRPr/>
            </a:pPr>
            <a:fld id="{C9D89646-4F35-49C2-BD28-89287C170EC3}" type="slidenum">
              <a:rPr lang="el-GR">
                <a:solidFill>
                  <a:prstClr val="black"/>
                </a:solidFill>
                <a:latin typeface="Calibri" panose="020F0502020204030204"/>
              </a:rPr>
              <a:pPr defTabSz="990478">
                <a:defRPr/>
              </a:pPr>
              <a:t>12</a:t>
            </a:fld>
            <a:endParaRPr lang="el-GR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6082329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90478">
              <a:defRPr/>
            </a:pPr>
            <a:fld id="{C9D89646-4F35-49C2-BD28-89287C170EC3}" type="slidenum">
              <a:rPr lang="el-GR">
                <a:solidFill>
                  <a:prstClr val="black"/>
                </a:solidFill>
                <a:latin typeface="Calibri" panose="020F0502020204030204"/>
              </a:rPr>
              <a:pPr defTabSz="990478">
                <a:defRPr/>
              </a:pPr>
              <a:t>13</a:t>
            </a:fld>
            <a:endParaRPr lang="el-GR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943018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90478">
              <a:defRPr/>
            </a:pPr>
            <a:fld id="{C9D89646-4F35-49C2-BD28-89287C170EC3}" type="slidenum">
              <a:rPr lang="el-GR">
                <a:solidFill>
                  <a:prstClr val="black"/>
                </a:solidFill>
                <a:latin typeface="Calibri" panose="020F0502020204030204"/>
              </a:rPr>
              <a:pPr defTabSz="990478">
                <a:defRPr/>
              </a:pPr>
              <a:t>14</a:t>
            </a:fld>
            <a:endParaRPr lang="el-GR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2418665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90478">
              <a:defRPr/>
            </a:pPr>
            <a:fld id="{C9D89646-4F35-49C2-BD28-89287C170EC3}" type="slidenum">
              <a:rPr lang="el-GR">
                <a:solidFill>
                  <a:prstClr val="black"/>
                </a:solidFill>
                <a:latin typeface="Calibri" panose="020F0502020204030204"/>
              </a:rPr>
              <a:pPr defTabSz="990478">
                <a:defRPr/>
              </a:pPr>
              <a:t>15</a:t>
            </a:fld>
            <a:endParaRPr lang="el-GR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021319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90478">
              <a:defRPr/>
            </a:pPr>
            <a:fld id="{C9D89646-4F35-49C2-BD28-89287C170EC3}" type="slidenum">
              <a:rPr lang="el-GR">
                <a:solidFill>
                  <a:prstClr val="black"/>
                </a:solidFill>
                <a:latin typeface="Calibri" panose="020F0502020204030204"/>
              </a:rPr>
              <a:pPr defTabSz="990478">
                <a:defRPr/>
              </a:pPr>
              <a:t>16</a:t>
            </a:fld>
            <a:endParaRPr lang="el-GR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1156884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90478">
              <a:defRPr/>
            </a:pPr>
            <a:fld id="{C9D89646-4F35-49C2-BD28-89287C170EC3}" type="slidenum">
              <a:rPr lang="el-GR">
                <a:solidFill>
                  <a:prstClr val="black"/>
                </a:solidFill>
                <a:latin typeface="Calibri" panose="020F0502020204030204"/>
              </a:rPr>
              <a:pPr defTabSz="990478">
                <a:defRPr/>
              </a:pPr>
              <a:t>17</a:t>
            </a:fld>
            <a:endParaRPr lang="el-GR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7595004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90478">
              <a:defRPr/>
            </a:pPr>
            <a:fld id="{C9D89646-4F35-49C2-BD28-89287C170EC3}" type="slidenum">
              <a:rPr lang="el-GR">
                <a:solidFill>
                  <a:prstClr val="black"/>
                </a:solidFill>
                <a:latin typeface="Calibri" panose="020F0502020204030204"/>
              </a:rPr>
              <a:pPr defTabSz="990478">
                <a:defRPr/>
              </a:pPr>
              <a:t>18</a:t>
            </a:fld>
            <a:endParaRPr lang="el-GR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1644763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90478">
              <a:defRPr/>
            </a:pPr>
            <a:fld id="{C9D89646-4F35-49C2-BD28-89287C170EC3}" type="slidenum">
              <a:rPr lang="el-GR">
                <a:solidFill>
                  <a:prstClr val="black"/>
                </a:solidFill>
                <a:latin typeface="Calibri" panose="020F0502020204030204"/>
              </a:rPr>
              <a:pPr defTabSz="990478">
                <a:defRPr/>
              </a:pPr>
              <a:t>19</a:t>
            </a:fld>
            <a:endParaRPr lang="el-GR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4485835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90478">
              <a:defRPr/>
            </a:pPr>
            <a:fld id="{C9D89646-4F35-49C2-BD28-89287C170EC3}" type="slidenum">
              <a:rPr lang="el-GR">
                <a:solidFill>
                  <a:prstClr val="black"/>
                </a:solidFill>
                <a:latin typeface="Calibri" panose="020F0502020204030204"/>
              </a:rPr>
              <a:pPr defTabSz="990478">
                <a:defRPr/>
              </a:pPr>
              <a:t>20</a:t>
            </a:fld>
            <a:endParaRPr lang="el-GR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39412328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90478">
              <a:defRPr/>
            </a:pPr>
            <a:fld id="{C9D89646-4F35-49C2-BD28-89287C170EC3}" type="slidenum">
              <a:rPr lang="el-GR">
                <a:solidFill>
                  <a:prstClr val="black"/>
                </a:solidFill>
                <a:latin typeface="Calibri" panose="020F0502020204030204"/>
              </a:rPr>
              <a:pPr defTabSz="990478">
                <a:defRPr/>
              </a:pPr>
              <a:t>21</a:t>
            </a:fld>
            <a:endParaRPr lang="el-GR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3190391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90478">
              <a:defRPr/>
            </a:pPr>
            <a:fld id="{C9D89646-4F35-49C2-BD28-89287C170EC3}" type="slidenum">
              <a:rPr lang="el-GR">
                <a:solidFill>
                  <a:prstClr val="black"/>
                </a:solidFill>
                <a:latin typeface="Calibri" panose="020F0502020204030204"/>
              </a:rPr>
              <a:pPr defTabSz="990478">
                <a:defRPr/>
              </a:pPr>
              <a:t>22</a:t>
            </a:fld>
            <a:endParaRPr lang="el-GR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8527061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90478">
              <a:defRPr/>
            </a:pPr>
            <a:fld id="{C9D89646-4F35-49C2-BD28-89287C170EC3}" type="slidenum">
              <a:rPr lang="el-GR">
                <a:solidFill>
                  <a:prstClr val="black"/>
                </a:solidFill>
                <a:latin typeface="Calibri" panose="020F0502020204030204"/>
              </a:rPr>
              <a:pPr defTabSz="990478">
                <a:defRPr/>
              </a:pPr>
              <a:t>23</a:t>
            </a:fld>
            <a:endParaRPr lang="el-GR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7198897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90478">
              <a:defRPr/>
            </a:pPr>
            <a:fld id="{C9D89646-4F35-49C2-BD28-89287C170EC3}" type="slidenum">
              <a:rPr lang="el-GR">
                <a:solidFill>
                  <a:prstClr val="black"/>
                </a:solidFill>
                <a:latin typeface="Calibri" panose="020F0502020204030204"/>
              </a:rPr>
              <a:pPr defTabSz="990478">
                <a:defRPr/>
              </a:pPr>
              <a:t>24</a:t>
            </a:fld>
            <a:endParaRPr lang="el-GR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9217360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90478">
              <a:defRPr/>
            </a:pPr>
            <a:fld id="{C9D89646-4F35-49C2-BD28-89287C170EC3}" type="slidenum">
              <a:rPr lang="el-GR">
                <a:solidFill>
                  <a:prstClr val="black"/>
                </a:solidFill>
                <a:latin typeface="Calibri" panose="020F0502020204030204"/>
              </a:rPr>
              <a:pPr defTabSz="990478">
                <a:defRPr/>
              </a:pPr>
              <a:t>25</a:t>
            </a:fld>
            <a:endParaRPr lang="el-GR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05093507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90478">
              <a:defRPr/>
            </a:pPr>
            <a:fld id="{C9D89646-4F35-49C2-BD28-89287C170EC3}" type="slidenum">
              <a:rPr lang="el-GR">
                <a:solidFill>
                  <a:prstClr val="black"/>
                </a:solidFill>
                <a:latin typeface="Calibri" panose="020F0502020204030204"/>
              </a:rPr>
              <a:pPr defTabSz="990478">
                <a:defRPr/>
              </a:pPr>
              <a:t>26</a:t>
            </a:fld>
            <a:endParaRPr lang="el-GR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10475919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90478">
              <a:defRPr/>
            </a:pPr>
            <a:fld id="{C9D89646-4F35-49C2-BD28-89287C170EC3}" type="slidenum">
              <a:rPr lang="el-GR">
                <a:solidFill>
                  <a:prstClr val="black"/>
                </a:solidFill>
                <a:latin typeface="Calibri" panose="020F0502020204030204"/>
              </a:rPr>
              <a:pPr defTabSz="990478">
                <a:defRPr/>
              </a:pPr>
              <a:t>27</a:t>
            </a:fld>
            <a:endParaRPr lang="el-GR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55732698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90478">
              <a:defRPr/>
            </a:pPr>
            <a:fld id="{C9D89646-4F35-49C2-BD28-89287C170EC3}" type="slidenum">
              <a:rPr lang="el-GR">
                <a:solidFill>
                  <a:prstClr val="black"/>
                </a:solidFill>
                <a:latin typeface="Calibri" panose="020F0502020204030204"/>
              </a:rPr>
              <a:pPr defTabSz="990478">
                <a:defRPr/>
              </a:pPr>
              <a:t>28</a:t>
            </a:fld>
            <a:endParaRPr lang="el-GR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56985081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90478">
              <a:defRPr/>
            </a:pPr>
            <a:fld id="{C9D89646-4F35-49C2-BD28-89287C170EC3}" type="slidenum">
              <a:rPr lang="el-GR">
                <a:solidFill>
                  <a:prstClr val="black"/>
                </a:solidFill>
                <a:latin typeface="Calibri" panose="020F0502020204030204"/>
              </a:rPr>
              <a:pPr defTabSz="990478">
                <a:defRPr/>
              </a:pPr>
              <a:t>29</a:t>
            </a:fld>
            <a:endParaRPr lang="el-GR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04060037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90478">
              <a:defRPr/>
            </a:pPr>
            <a:fld id="{C9D89646-4F35-49C2-BD28-89287C170EC3}" type="slidenum">
              <a:rPr lang="el-GR">
                <a:solidFill>
                  <a:prstClr val="black"/>
                </a:solidFill>
                <a:latin typeface="Calibri" panose="020F0502020204030204"/>
              </a:rPr>
              <a:pPr defTabSz="990478">
                <a:defRPr/>
              </a:pPr>
              <a:t>30</a:t>
            </a:fld>
            <a:endParaRPr lang="el-GR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07599532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90478">
              <a:defRPr/>
            </a:pPr>
            <a:fld id="{C9D89646-4F35-49C2-BD28-89287C170EC3}" type="slidenum">
              <a:rPr lang="el-GR">
                <a:solidFill>
                  <a:prstClr val="black"/>
                </a:solidFill>
                <a:latin typeface="Calibri" panose="020F0502020204030204"/>
              </a:rPr>
              <a:pPr defTabSz="990478">
                <a:defRPr/>
              </a:pPr>
              <a:t>31</a:t>
            </a:fld>
            <a:endParaRPr lang="el-GR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61743597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>
            <a:extLst>
              <a:ext uri="{FF2B5EF4-FFF2-40B4-BE49-F238E27FC236}">
                <a16:creationId xmlns:a16="http://schemas.microsoft.com/office/drawing/2014/main" id="{2CE70A9C-24E1-4176-BA3F-03F53159E62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8131" name="Notes Placeholder 2">
            <a:extLst>
              <a:ext uri="{FF2B5EF4-FFF2-40B4-BE49-F238E27FC236}">
                <a16:creationId xmlns:a16="http://schemas.microsoft.com/office/drawing/2014/main" id="{ADC14309-056F-499B-B2BA-EAB38185BE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l-GR" altLang="el-GR"/>
          </a:p>
        </p:txBody>
      </p:sp>
      <p:sp>
        <p:nvSpPr>
          <p:cNvPr id="48132" name="Slide Number Placeholder 3">
            <a:extLst>
              <a:ext uri="{FF2B5EF4-FFF2-40B4-BE49-F238E27FC236}">
                <a16:creationId xmlns:a16="http://schemas.microsoft.com/office/drawing/2014/main" id="{EC5DFD54-CE7E-4BA4-A265-505617F766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804763" indent="-309524" eaLnBrk="0" hangingPunct="0"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238098" indent="-247620" eaLnBrk="0" hangingPunct="0"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733337" indent="-247620" eaLnBrk="0" hangingPunct="0"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228576" indent="-247620" eaLnBrk="0" hangingPunct="0"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defTabSz="990478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fld id="{9DF86FA3-8C37-4C15-987E-6025C6EEBE75}" type="slidenum">
              <a:rPr lang="en-GB" altLang="el-GR" sz="1400">
                <a:solidFill>
                  <a:srgbClr val="000000"/>
                </a:solidFill>
              </a:rPr>
              <a:pPr defTabSz="990478"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t>32</a:t>
            </a:fld>
            <a:endParaRPr lang="en-GB" altLang="el-GR"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90478">
              <a:defRPr/>
            </a:pPr>
            <a:fld id="{C9D89646-4F35-49C2-BD28-89287C170EC3}" type="slidenum">
              <a:rPr lang="el-GR">
                <a:solidFill>
                  <a:prstClr val="black"/>
                </a:solidFill>
                <a:latin typeface="Calibri" panose="020F0502020204030204"/>
              </a:rPr>
              <a:pPr defTabSz="990478">
                <a:defRPr/>
              </a:pPr>
              <a:t>33</a:t>
            </a:fld>
            <a:endParaRPr lang="el-GR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93278841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90478">
              <a:defRPr/>
            </a:pPr>
            <a:fld id="{C9D89646-4F35-49C2-BD28-89287C170EC3}" type="slidenum">
              <a:rPr lang="el-GR">
                <a:solidFill>
                  <a:prstClr val="black"/>
                </a:solidFill>
                <a:latin typeface="Calibri" panose="020F0502020204030204"/>
              </a:rPr>
              <a:pPr defTabSz="990478">
                <a:defRPr/>
              </a:pPr>
              <a:t>34</a:t>
            </a:fld>
            <a:endParaRPr lang="el-GR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58969198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90478">
              <a:defRPr/>
            </a:pPr>
            <a:fld id="{C9D89646-4F35-49C2-BD28-89287C170EC3}" type="slidenum">
              <a:rPr lang="el-GR">
                <a:solidFill>
                  <a:prstClr val="black"/>
                </a:solidFill>
                <a:latin typeface="Calibri" panose="020F0502020204030204"/>
              </a:rPr>
              <a:pPr defTabSz="990478">
                <a:defRPr/>
              </a:pPr>
              <a:t>35</a:t>
            </a:fld>
            <a:endParaRPr lang="el-GR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492839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1720F0C6-20AC-41EB-97A9-F4D49B814E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E32E3D7A-E6B7-4F3B-A3A4-4325517390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l-GR"/>
              <a:t>Κάντε κλικ για να επεξεργαστείτε τον υπότιτλο του υποδείγματος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5913F9FC-9EB9-4B41-B003-FC4C036B1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3FB8E113-6156-4872-81CC-442E8373B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76173B9A-A0EA-47D7-8D18-B6E2BD95D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992271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AFF7B4CC-9312-4102-9C7A-DD5776C36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59207E59-B014-409F-8E39-F07CF6FA45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D28C698E-FDE3-406F-AEF7-58C354D6F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1DBB6EE0-1F7E-4C3D-8524-627F4FAB7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115A0C17-4537-4F4D-B727-1C89BF11B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202150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FAD7298-5AF8-4835-97EB-C16ED6D23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3D2EC4FE-ACD0-4F71-A34B-36ED905061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Επεξεργασία στυλ υποδείγματος κειμένου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0525369C-E8DA-4A41-A021-C2AFFA6B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09E6631D-4B2B-42B6-B88C-990FA7605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54B4A319-5C9B-46DF-96B8-F30BC39F7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941774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8DD86A31-D5EC-46FA-A235-F151422FA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052F68FD-8072-4020-B6C4-C8DEF5ACC9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CB43AF00-F0E0-4F57-8814-5AB4B0C031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89D9695B-1677-4255-A36B-ADA53963E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32F05351-67C2-46C6-A91C-414650F2C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7D2959A3-E6A4-4BB0-BE95-F23CF5F56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298740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41550276-9848-4578-8364-691220AD2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11C9CFA5-81EF-4418-9CE2-C9EB8CE5F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Επεξεργασία στυλ υποδείγματος κειμένου</a:t>
            </a:r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8144BA92-B3F1-426D-9721-D505666C52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5" name="Θέση κειμένου 4">
            <a:extLst>
              <a:ext uri="{FF2B5EF4-FFF2-40B4-BE49-F238E27FC236}">
                <a16:creationId xmlns:a16="http://schemas.microsoft.com/office/drawing/2014/main" id="{34964523-2FE6-420B-BF7F-3ED5906588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Επεξεργασία στυλ υποδείγματος κειμένου</a:t>
            </a:r>
          </a:p>
        </p:txBody>
      </p:sp>
      <p:sp>
        <p:nvSpPr>
          <p:cNvPr id="6" name="Θέση περιεχομένου 5">
            <a:extLst>
              <a:ext uri="{FF2B5EF4-FFF2-40B4-BE49-F238E27FC236}">
                <a16:creationId xmlns:a16="http://schemas.microsoft.com/office/drawing/2014/main" id="{4EE8D821-AC0B-4F1C-AC1B-68CAEA6E8C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7" name="Θέση ημερομηνίας 6">
            <a:extLst>
              <a:ext uri="{FF2B5EF4-FFF2-40B4-BE49-F238E27FC236}">
                <a16:creationId xmlns:a16="http://schemas.microsoft.com/office/drawing/2014/main" id="{0836FDB2-AE28-437A-B450-FC5FA0970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8" name="Θέση υποσέλιδου 7">
            <a:extLst>
              <a:ext uri="{FF2B5EF4-FFF2-40B4-BE49-F238E27FC236}">
                <a16:creationId xmlns:a16="http://schemas.microsoft.com/office/drawing/2014/main" id="{3CC56F37-5360-4ED6-9EFB-B4959D6A0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Θέση αριθμού διαφάνειας 8">
            <a:extLst>
              <a:ext uri="{FF2B5EF4-FFF2-40B4-BE49-F238E27FC236}">
                <a16:creationId xmlns:a16="http://schemas.microsoft.com/office/drawing/2014/main" id="{8423FDBB-6E0A-4AD0-AD73-FB22040EE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885239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12BE337C-659B-44A0-815E-1CE7F2FDB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ημερομηνίας 2">
            <a:extLst>
              <a:ext uri="{FF2B5EF4-FFF2-40B4-BE49-F238E27FC236}">
                <a16:creationId xmlns:a16="http://schemas.microsoft.com/office/drawing/2014/main" id="{59D7B6A3-3626-4AD7-97D4-F6210A237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D50B290B-CDC6-4F07-927A-EB7F796E2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5AD0E512-8E7A-4A77-8496-D36864CFC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224460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ημερομηνίας 1">
            <a:extLst>
              <a:ext uri="{FF2B5EF4-FFF2-40B4-BE49-F238E27FC236}">
                <a16:creationId xmlns:a16="http://schemas.microsoft.com/office/drawing/2014/main" id="{05F803E6-97F1-4D9B-A18A-566A4A16D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3" name="Θέση υποσέλιδου 2">
            <a:extLst>
              <a:ext uri="{FF2B5EF4-FFF2-40B4-BE49-F238E27FC236}">
                <a16:creationId xmlns:a16="http://schemas.microsoft.com/office/drawing/2014/main" id="{D16003C0-6EB6-4C9B-A531-7B4E3CE4C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2EA301AA-05AA-466A-BB11-E4CEB6F9F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706581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FEAAEFBB-DCF4-46CF-9FC6-8D65BCEB9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DFACB05B-E524-44F7-BF66-694B0E333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κειμένου 3">
            <a:extLst>
              <a:ext uri="{FF2B5EF4-FFF2-40B4-BE49-F238E27FC236}">
                <a16:creationId xmlns:a16="http://schemas.microsoft.com/office/drawing/2014/main" id="{5473C60C-80C9-4542-852E-B22F6BA607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Επεξεργασία στυλ υποδείγματος κειμένου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5209058B-2FCA-4D37-A928-B77A09F78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2F8D9052-7B1B-4DEA-BE59-76E1CA206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7F7BFCBB-BB2D-41CB-8EF4-1D6154D05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546440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7AA72A12-B4CE-41C0-824E-4DB22C0C5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εικόνας 2">
            <a:extLst>
              <a:ext uri="{FF2B5EF4-FFF2-40B4-BE49-F238E27FC236}">
                <a16:creationId xmlns:a16="http://schemas.microsoft.com/office/drawing/2014/main" id="{4331ABF6-AF41-4DA6-82BC-340BA63822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l-GR"/>
          </a:p>
        </p:txBody>
      </p:sp>
      <p:sp>
        <p:nvSpPr>
          <p:cNvPr id="4" name="Θέση κειμένου 3">
            <a:extLst>
              <a:ext uri="{FF2B5EF4-FFF2-40B4-BE49-F238E27FC236}">
                <a16:creationId xmlns:a16="http://schemas.microsoft.com/office/drawing/2014/main" id="{D4AD854A-F202-4241-AFA5-8F8D5175F3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Επεξεργασία στυλ υποδείγματος κειμένου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D2D25601-E5C6-4DAA-A438-750D7B0C4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C1A411BF-7CE1-4136-85D0-CEA759EB3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EBD64BFB-00A3-49A7-B9AF-C93C938A5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06863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7CBF383B-9D9C-4567-A73F-3964FF66D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ατακόρυφου κειμένου 2">
            <a:extLst>
              <a:ext uri="{FF2B5EF4-FFF2-40B4-BE49-F238E27FC236}">
                <a16:creationId xmlns:a16="http://schemas.microsoft.com/office/drawing/2014/main" id="{42568873-5978-4A13-BA12-F77F173EB2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788EFFCE-A34B-4F95-B3D5-603927E16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1BE576DF-BE6C-4DE7-BDD8-60E8F026D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74B323CB-AAB1-4C9E-AE28-C6179CB9C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99656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Κατακόρυφος τίτλος 1">
            <a:extLst>
              <a:ext uri="{FF2B5EF4-FFF2-40B4-BE49-F238E27FC236}">
                <a16:creationId xmlns:a16="http://schemas.microsoft.com/office/drawing/2014/main" id="{E176F3CB-2A60-46CD-8CF9-DD053E08C8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ατακόρυφου κειμένου 2">
            <a:extLst>
              <a:ext uri="{FF2B5EF4-FFF2-40B4-BE49-F238E27FC236}">
                <a16:creationId xmlns:a16="http://schemas.microsoft.com/office/drawing/2014/main" id="{62F4BEC8-6DEB-41E5-B12D-18B14C6B0A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CC7DD041-7F64-4984-A13C-EE7907028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6502BD5F-24B7-4FDD-BD59-39295F573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4E0B5687-7B67-47CF-995B-36EF0D417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997139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l-GR"/>
              <a:t>Στυλ κύριου τίτλου</a:t>
            </a:r>
          </a:p>
        </p:txBody>
      </p:sp>
      <p:sp>
        <p:nvSpPr>
          <p:cNvPr id="3" name="Υπότιτλος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l-GR"/>
              <a:t>Στυλ κύριου υπότιτλου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424216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περιεχομένου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410095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l-GR"/>
              <a:t>Στυλ κύριου τίτλου</a:t>
            </a:r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Στυλ υποδείγματος κειμένου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52586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περιεχομένου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περιεχομένου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5" name="Θέση ημερομηνίας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4143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υποδείγματος κειμένου</a:t>
            </a:r>
          </a:p>
        </p:txBody>
      </p:sp>
      <p:sp>
        <p:nvSpPr>
          <p:cNvPr id="4" name="Θέση περιεχομένου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5" name="Θέση κειμένου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υποδείγματος κειμένου</a:t>
            </a:r>
          </a:p>
        </p:txBody>
      </p:sp>
      <p:sp>
        <p:nvSpPr>
          <p:cNvPr id="6" name="Θέση περιεχομένου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7" name="Θέση ημερομηνίας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8" name="Θέση υποσέλιδου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Θέση αριθμού διαφάνειας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26135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4" name="Θέση υποσέλιδου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5" name="Θέση αριθμού διαφάνειας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127422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ημερομηνίας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3" name="Θέση υποσέλιδου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55293900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Στυλ κύριου τίτλου</a:t>
            </a:r>
          </a:p>
        </p:txBody>
      </p:sp>
      <p:sp>
        <p:nvSpPr>
          <p:cNvPr id="3" name="Θέση περιεχομένου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κειμένου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υποδείγματος κειμένου</a:t>
            </a:r>
          </a:p>
        </p:txBody>
      </p:sp>
      <p:sp>
        <p:nvSpPr>
          <p:cNvPr id="5" name="Θέση ημερομηνίας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076569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Στυλ κύριου τίτλου</a:t>
            </a:r>
          </a:p>
        </p:txBody>
      </p:sp>
      <p:sp>
        <p:nvSpPr>
          <p:cNvPr id="3" name="Θέση εικόνας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l-GR"/>
          </a:p>
        </p:txBody>
      </p:sp>
      <p:sp>
        <p:nvSpPr>
          <p:cNvPr id="4" name="Θέση κειμένου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υποδείγματος κειμένου</a:t>
            </a:r>
          </a:p>
        </p:txBody>
      </p:sp>
      <p:sp>
        <p:nvSpPr>
          <p:cNvPr id="5" name="Θέση ημερομηνίας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457923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κατακόρυφου κειμένου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728904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Κατακόρυφος τίτλος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κατακόρυφου κειμένου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327019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EF6AC27D-6472-4D6C-93F4-FD59A8B0EE04}"/>
              </a:ext>
            </a:extLst>
          </p:cNvPr>
          <p:cNvGrpSpPr>
            <a:grpSpLocks/>
          </p:cNvGrpSpPr>
          <p:nvPr/>
        </p:nvGrpSpPr>
        <p:grpSpPr bwMode="auto">
          <a:xfrm>
            <a:off x="1" y="2438401"/>
            <a:ext cx="12012084" cy="1052513"/>
            <a:chOff x="0" y="1536"/>
            <a:chExt cx="5675" cy="663"/>
          </a:xfrm>
        </p:grpSpPr>
        <p:grpSp>
          <p:nvGrpSpPr>
            <p:cNvPr id="5" name="Group 3">
              <a:extLst>
                <a:ext uri="{FF2B5EF4-FFF2-40B4-BE49-F238E27FC236}">
                  <a16:creationId xmlns:a16="http://schemas.microsoft.com/office/drawing/2014/main" id="{A8BA2E9E-51B3-4DFB-9685-39F3794599B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>
                <a:extLst>
                  <a:ext uri="{FF2B5EF4-FFF2-40B4-BE49-F238E27FC236}">
                    <a16:creationId xmlns:a16="http://schemas.microsoft.com/office/drawing/2014/main" id="{D87AE69F-B8C3-42E8-9DDD-A17E9E8DFA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l-GR" sz="1800"/>
              </a:p>
            </p:txBody>
          </p:sp>
          <p:sp>
            <p:nvSpPr>
              <p:cNvPr id="13" name="Rectangle 5">
                <a:extLst>
                  <a:ext uri="{FF2B5EF4-FFF2-40B4-BE49-F238E27FC236}">
                    <a16:creationId xmlns:a16="http://schemas.microsoft.com/office/drawing/2014/main" id="{42B0836E-F1E0-4541-AFB9-1562F66E1D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l-GR" sz="1800"/>
              </a:p>
            </p:txBody>
          </p:sp>
        </p:grp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F17FCCE1-844B-4CB6-855C-B373BBA55B9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>
                <a:extLst>
                  <a:ext uri="{FF2B5EF4-FFF2-40B4-BE49-F238E27FC236}">
                    <a16:creationId xmlns:a16="http://schemas.microsoft.com/office/drawing/2014/main" id="{2FCB3276-C769-4050-AFC5-4132FB40B1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l-GR" sz="1800"/>
              </a:p>
            </p:txBody>
          </p:sp>
          <p:sp>
            <p:nvSpPr>
              <p:cNvPr id="11" name="Rectangle 8">
                <a:extLst>
                  <a:ext uri="{FF2B5EF4-FFF2-40B4-BE49-F238E27FC236}">
                    <a16:creationId xmlns:a16="http://schemas.microsoft.com/office/drawing/2014/main" id="{EF35814D-3F51-45DD-B392-737EDD1F38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l-GR" sz="1800"/>
              </a:p>
            </p:txBody>
          </p:sp>
        </p:grp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07A0AA9-1EE6-4319-8028-B9F1B24384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l-GR" sz="180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CE7F241-701D-4E8D-89EE-D9FC401F67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l-GR" sz="1800"/>
            </a:p>
          </p:txBody>
        </p:sp>
        <p:sp>
          <p:nvSpPr>
            <p:cNvPr id="9" name="Rectangle 11">
              <a:extLst>
                <a:ext uri="{FF2B5EF4-FFF2-40B4-BE49-F238E27FC236}">
                  <a16:creationId xmlns:a16="http://schemas.microsoft.com/office/drawing/2014/main" id="{B0621479-CAA9-4768-8C63-882DAA6723C2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l-GR" sz="1800"/>
            </a:p>
          </p:txBody>
        </p:sp>
      </p:grpSp>
      <p:sp>
        <p:nvSpPr>
          <p:cNvPr id="410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1320800" y="18288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410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3B59B530-CE1D-4987-9F5B-B0AE2E688B1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1320800" y="6248400"/>
            <a:ext cx="2540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9E70CECE-5BAF-41EF-8EE5-EA8F6293419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4572000" y="6248400"/>
            <a:ext cx="38608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18D90CAA-F220-462D-B916-919F935753B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9144000" y="6248400"/>
            <a:ext cx="2540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bg2"/>
                </a:solidFill>
              </a:defRPr>
            </a:lvl1pPr>
          </a:lstStyle>
          <a:p>
            <a:fld id="{1FDBE616-F282-4BED-BCB8-9ED309B9947D}" type="slidenum">
              <a:rPr lang="en-GB" altLang="el-GR"/>
              <a:pPr/>
              <a:t>‹#›</a:t>
            </a:fld>
            <a:endParaRPr lang="en-GB" altLang="el-GR"/>
          </a:p>
        </p:txBody>
      </p:sp>
    </p:spTree>
    <p:extLst>
      <p:ext uri="{BB962C8B-B14F-4D97-AF65-F5344CB8AC3E}">
        <p14:creationId xmlns:p14="http://schemas.microsoft.com/office/powerpoint/2010/main" val="28622195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81441797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977314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76917" y="2017713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60117" y="2017713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73275292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97376981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57508038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485240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2390607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l-GR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3644100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53059188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38733" y="617539"/>
            <a:ext cx="2601384" cy="55149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34584" y="617539"/>
            <a:ext cx="7600949" cy="55149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25049650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585" y="617538"/>
            <a:ext cx="10390716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576917" y="2017713"/>
            <a:ext cx="10363200" cy="4114800"/>
          </a:xfrm>
        </p:spPr>
        <p:txBody>
          <a:bodyPr/>
          <a:lstStyle/>
          <a:p>
            <a:pPr lvl="0"/>
            <a:endParaRPr lang="el-GR" noProof="0"/>
          </a:p>
        </p:txBody>
      </p:sp>
    </p:spTree>
    <p:extLst>
      <p:ext uri="{BB962C8B-B14F-4D97-AF65-F5344CB8AC3E}">
        <p14:creationId xmlns:p14="http://schemas.microsoft.com/office/powerpoint/2010/main" val="409861844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585" y="617538"/>
            <a:ext cx="10390716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576917" y="2017713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60117" y="2017713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246457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τίτλου 1">
            <a:extLst>
              <a:ext uri="{FF2B5EF4-FFF2-40B4-BE49-F238E27FC236}">
                <a16:creationId xmlns:a16="http://schemas.microsoft.com/office/drawing/2014/main" id="{992F1800-E376-4EAC-8DCE-EF767BC9F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93EDA18A-E08C-433A-8864-CE510E638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F5AF37D2-402E-4529-9EEC-414BB35C59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3CF16FB6-3B9A-47F7-BC11-0CD0D44781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1A057F2B-A2D8-4FC1-B53F-4487A38756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777641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τίτλου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543682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3" r:id="rId1"/>
    <p:sldLayoutId id="2147483894" r:id="rId2"/>
    <p:sldLayoutId id="2147483895" r:id="rId3"/>
    <p:sldLayoutId id="2147483896" r:id="rId4"/>
    <p:sldLayoutId id="2147483897" r:id="rId5"/>
    <p:sldLayoutId id="2147483898" r:id="rId6"/>
    <p:sldLayoutId id="2147483899" r:id="rId7"/>
    <p:sldLayoutId id="2147483900" r:id="rId8"/>
    <p:sldLayoutId id="2147483901" r:id="rId9"/>
    <p:sldLayoutId id="2147483902" r:id="rId10"/>
    <p:sldLayoutId id="2147483903" r:id="rId11"/>
  </p:sldLayoutIdLst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0" name="Rectangle 8">
            <a:extLst>
              <a:ext uri="{FF2B5EF4-FFF2-40B4-BE49-F238E27FC236}">
                <a16:creationId xmlns:a16="http://schemas.microsoft.com/office/drawing/2014/main" id="{E30B7C37-481B-4315-9782-7BDD1B183D7D}"/>
              </a:ext>
            </a:extLst>
          </p:cNvPr>
          <p:cNvSpPr>
            <a:spLocks noChangeArrowheads="1"/>
          </p:cNvSpPr>
          <p:nvPr/>
        </p:nvSpPr>
        <p:spPr bwMode="gray">
          <a:xfrm>
            <a:off x="1" y="692150"/>
            <a:ext cx="10968567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el-GR" sz="1800"/>
          </a:p>
        </p:txBody>
      </p:sp>
      <p:sp>
        <p:nvSpPr>
          <p:cNvPr id="3075" name="Rectangle 9">
            <a:extLst>
              <a:ext uri="{FF2B5EF4-FFF2-40B4-BE49-F238E27FC236}">
                <a16:creationId xmlns:a16="http://schemas.microsoft.com/office/drawing/2014/main" id="{E695CC5E-90ED-422F-BE4E-4B15882363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1"/>
            <a:ext cx="10390717" cy="81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l-GR"/>
              <a:t>Click to edit Master title style</a:t>
            </a:r>
          </a:p>
        </p:txBody>
      </p:sp>
      <p:sp>
        <p:nvSpPr>
          <p:cNvPr id="3076" name="Rectangle 10">
            <a:extLst>
              <a:ext uri="{FF2B5EF4-FFF2-40B4-BE49-F238E27FC236}">
                <a16:creationId xmlns:a16="http://schemas.microsoft.com/office/drawing/2014/main" id="{C8947C2C-E95F-4799-8199-B22C884E84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34434" y="1268413"/>
            <a:ext cx="11605684" cy="486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l-GR"/>
              <a:t>Click to edit Master text styles</a:t>
            </a:r>
          </a:p>
          <a:p>
            <a:pPr lvl="1"/>
            <a:r>
              <a:rPr lang="en-GB" altLang="el-GR"/>
              <a:t>Second level</a:t>
            </a:r>
          </a:p>
          <a:p>
            <a:pPr lvl="2"/>
            <a:r>
              <a:rPr lang="en-GB" altLang="el-GR"/>
              <a:t>Third level</a:t>
            </a:r>
          </a:p>
          <a:p>
            <a:pPr lvl="3"/>
            <a:r>
              <a:rPr lang="en-GB" altLang="el-GR"/>
              <a:t>Fourth level</a:t>
            </a:r>
          </a:p>
          <a:p>
            <a:pPr lvl="4"/>
            <a:r>
              <a:rPr lang="en-GB" altLang="el-GR"/>
              <a:t>Fifth level</a:t>
            </a:r>
          </a:p>
        </p:txBody>
      </p:sp>
      <p:graphicFrame>
        <p:nvGraphicFramePr>
          <p:cNvPr id="3106" name="Group 34">
            <a:extLst>
              <a:ext uri="{FF2B5EF4-FFF2-40B4-BE49-F238E27FC236}">
                <a16:creationId xmlns:a16="http://schemas.microsoft.com/office/drawing/2014/main" id="{4A498387-79CC-4F5B-B73F-ACECCAA51CA5}"/>
              </a:ext>
            </a:extLst>
          </p:cNvPr>
          <p:cNvGraphicFramePr>
            <a:graphicFrameLocks noGrp="1"/>
          </p:cNvGraphicFramePr>
          <p:nvPr/>
        </p:nvGraphicFramePr>
        <p:xfrm>
          <a:off x="203200" y="6470650"/>
          <a:ext cx="11988800" cy="381000"/>
        </p:xfrm>
        <a:graphic>
          <a:graphicData uri="http://schemas.openxmlformats.org/drawingml/2006/table">
            <a:tbl>
              <a:tblPr/>
              <a:tblGrid>
                <a:gridCol w="39962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587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37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© </a:t>
                      </a:r>
                      <a:r>
                        <a:rPr kumimoji="0" lang="el-G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Κλεάνθης </a:t>
                      </a:r>
                      <a:r>
                        <a:rPr kumimoji="0" lang="el-GR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Θραμπουλίδης</a:t>
                      </a: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21920" marR="121920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699FF"/>
                          </a:solidFill>
                          <a:effectLst/>
                          <a:latin typeface="Times New Roman Greek" charset="-95"/>
                        </a:rPr>
                        <a:t>event handling</a:t>
                      </a: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6699FF"/>
                        </a:solidFill>
                        <a:effectLst/>
                        <a:latin typeface="Times New Roman Greek" charset="-95"/>
                      </a:endParaRPr>
                    </a:p>
                  </a:txBody>
                  <a:tcPr marL="121920" marR="12192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121920" marR="121920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4815115F-C351-43E4-B189-3110CD8A739D}"/>
              </a:ext>
            </a:extLst>
          </p:cNvPr>
          <p:cNvSpPr txBox="1"/>
          <p:nvPr userDrawn="1"/>
        </p:nvSpPr>
        <p:spPr>
          <a:xfrm>
            <a:off x="11637434" y="6453189"/>
            <a:ext cx="554567" cy="276225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8202571D-FD0D-4A57-9279-AC622183E2AE}" type="slidenum">
              <a:rPr lang="el-GR" altLang="el-GR" sz="1200"/>
              <a:pPr eaLnBrk="1" hangingPunct="1"/>
              <a:t>‹#›</a:t>
            </a:fld>
            <a:endParaRPr lang="el-GR" altLang="el-GR" sz="1200"/>
          </a:p>
        </p:txBody>
      </p:sp>
    </p:spTree>
    <p:extLst>
      <p:ext uri="{BB962C8B-B14F-4D97-AF65-F5344CB8AC3E}">
        <p14:creationId xmlns:p14="http://schemas.microsoft.com/office/powerpoint/2010/main" val="2136217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5" r:id="rId1"/>
    <p:sldLayoutId id="2147483906" r:id="rId2"/>
    <p:sldLayoutId id="2147483907" r:id="rId3"/>
    <p:sldLayoutId id="2147483908" r:id="rId4"/>
    <p:sldLayoutId id="2147483909" r:id="rId5"/>
    <p:sldLayoutId id="2147483910" r:id="rId6"/>
    <p:sldLayoutId id="2147483911" r:id="rId7"/>
    <p:sldLayoutId id="2147483912" r:id="rId8"/>
    <p:sldLayoutId id="2147483913" r:id="rId9"/>
    <p:sldLayoutId id="2147483914" r:id="rId10"/>
    <p:sldLayoutId id="2147483915" r:id="rId11"/>
    <p:sldLayoutId id="2147483916" r:id="rId12"/>
    <p:sldLayoutId id="2147483917" r:id="rId13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ites.google.com/site/thramboulidiskleanthis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png"/><Relationship Id="rId5" Type="http://schemas.openxmlformats.org/officeDocument/2006/relationships/oleObject" Target="../embeddings/oleObject2.bin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file:///C:\JavaAPI_1.4apijavaawteventActionListener.html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://docs.oracle.com/javase/7/docs/api/java/util/EventObject.html" TargetMode="External"/><Relationship Id="rId3" Type="http://schemas.openxmlformats.org/officeDocument/2006/relationships/image" Target="../media/image8.png"/><Relationship Id="rId7" Type="http://schemas.openxmlformats.org/officeDocument/2006/relationships/hyperlink" Target="file:///C:\JavaAPIs\jdk-6-doc\docs\api\java\lang\Object.html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6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>
            <a:extLst>
              <a:ext uri="{FF2B5EF4-FFF2-40B4-BE49-F238E27FC236}">
                <a16:creationId xmlns:a16="http://schemas.microsoft.com/office/drawing/2014/main" id="{76E192A2-3ED3-4081-8A86-A22B511417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152902" y="-1181101"/>
            <a:ext cx="3886200" cy="121920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Υπότιτλος 2">
            <a:extLst>
              <a:ext uri="{FF2B5EF4-FFF2-40B4-BE49-F238E27FC236}">
                <a16:creationId xmlns:a16="http://schemas.microsoft.com/office/drawing/2014/main" id="{999AB7B1-2CA7-4F2E-91BE-62A4C3CC57D6}"/>
              </a:ext>
            </a:extLst>
          </p:cNvPr>
          <p:cNvSpPr txBox="1">
            <a:spLocks/>
          </p:cNvSpPr>
          <p:nvPr/>
        </p:nvSpPr>
        <p:spPr>
          <a:xfrm>
            <a:off x="-3" y="48411"/>
            <a:ext cx="12192002" cy="1249811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l-GR" sz="4000" b="1">
                <a:solidFill>
                  <a:srgbClr val="F9853D"/>
                </a:solidFill>
                <a:latin typeface="Bahnschrift" panose="020B0502040204020203" pitchFamily="34" charset="0"/>
              </a:rPr>
              <a:t>Αντικειμενοστρεφής Προγραμματισμός </a:t>
            </a:r>
            <a:br>
              <a:rPr lang="el-GR" sz="4000" b="1">
                <a:solidFill>
                  <a:srgbClr val="F9853D"/>
                </a:solidFill>
                <a:latin typeface="Bahnschrift" panose="020B0502040204020203" pitchFamily="34" charset="0"/>
              </a:rPr>
            </a:br>
            <a:r>
              <a:rPr lang="el-GR" sz="4000" b="1">
                <a:solidFill>
                  <a:srgbClr val="F9853D"/>
                </a:solidFill>
                <a:latin typeface="Bahnschrift" panose="020B0502040204020203" pitchFamily="34" charset="0"/>
              </a:rPr>
              <a:t>(</a:t>
            </a:r>
            <a:r>
              <a:rPr lang="el-GR" sz="4000" b="1" err="1">
                <a:solidFill>
                  <a:srgbClr val="F9853D"/>
                </a:solidFill>
                <a:latin typeface="Bahnschrift" panose="020B0502040204020203" pitchFamily="34" charset="0"/>
              </a:rPr>
              <a:t>Object-Oriented</a:t>
            </a:r>
            <a:r>
              <a:rPr lang="el-GR" sz="4000" b="1">
                <a:solidFill>
                  <a:srgbClr val="F9853D"/>
                </a:solidFill>
                <a:latin typeface="Bahnschrift" panose="020B0502040204020203" pitchFamily="34" charset="0"/>
              </a:rPr>
              <a:t> </a:t>
            </a:r>
            <a:r>
              <a:rPr lang="el-GR" sz="4000" b="1" err="1">
                <a:solidFill>
                  <a:srgbClr val="F9853D"/>
                </a:solidFill>
                <a:latin typeface="Bahnschrift" panose="020B0502040204020203" pitchFamily="34" charset="0"/>
              </a:rPr>
              <a:t>Programming</a:t>
            </a:r>
            <a:r>
              <a:rPr lang="el-GR" sz="4000" b="1">
                <a:solidFill>
                  <a:srgbClr val="F9853D"/>
                </a:solidFill>
                <a:latin typeface="Bahnschrift" panose="020B0502040204020203" pitchFamily="34" charset="0"/>
              </a:rPr>
              <a:t>)</a:t>
            </a:r>
            <a:endParaRPr lang="en-US" sz="2800" b="1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50C4F10-C081-CD71-17C8-8DAD4C7DEE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5773068"/>
            <a:ext cx="8610600" cy="1417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sz="4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Book Antiqua" panose="02040602050305030304" pitchFamily="18" charset="0"/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 eaLnBrk="1" hangingPunct="1">
              <a:spcBef>
                <a:spcPct val="0"/>
              </a:spcBef>
              <a:defRPr/>
            </a:pPr>
            <a:r>
              <a:rPr lang="en-US" altLang="el-GR" sz="1800" b="0" i="0" kern="0">
                <a:solidFill>
                  <a:srgbClr val="800000"/>
                </a:solidFill>
                <a:latin typeface="Times New Roman" panose="02020603050405020304" pitchFamily="18" charset="0"/>
              </a:rPr>
              <a:t>Kleanthis Thramboulidis</a:t>
            </a:r>
          </a:p>
          <a:p>
            <a:pPr algn="l" eaLnBrk="1" hangingPunct="1">
              <a:spcBef>
                <a:spcPct val="0"/>
              </a:spcBef>
              <a:defRPr/>
            </a:pPr>
            <a:r>
              <a:rPr lang="en-US" altLang="el-GR" sz="1600" i="0" kern="0">
                <a:latin typeface="Times New Roman" panose="02020603050405020304" pitchFamily="18" charset="0"/>
              </a:rPr>
              <a:t>Prof. of Software and System Engineering </a:t>
            </a:r>
          </a:p>
          <a:p>
            <a:pPr algn="l" eaLnBrk="1" hangingPunct="1">
              <a:spcBef>
                <a:spcPct val="0"/>
              </a:spcBef>
              <a:defRPr/>
            </a:pPr>
            <a:r>
              <a:rPr lang="en-US" altLang="el-GR" sz="1600" b="0" i="0" kern="0">
                <a:latin typeface="Times New Roman" panose="02020603050405020304" pitchFamily="18" charset="0"/>
              </a:rPr>
              <a:t>University of Patras</a:t>
            </a:r>
            <a:r>
              <a:rPr lang="el-GR" altLang="el-GR" sz="1800" b="0" i="0" kern="0">
                <a:latin typeface="Times New Roman" panose="02020603050405020304" pitchFamily="18" charset="0"/>
              </a:rPr>
              <a:t> </a:t>
            </a:r>
            <a:endParaRPr lang="en-US" altLang="el-GR" sz="1800" b="0" i="0" kern="0">
              <a:latin typeface="Times New Roman" panose="02020603050405020304" pitchFamily="18" charset="0"/>
            </a:endParaRPr>
          </a:p>
          <a:p>
            <a:pPr algn="l" eaLnBrk="1" hangingPunct="1">
              <a:spcBef>
                <a:spcPct val="0"/>
              </a:spcBef>
              <a:defRPr/>
            </a:pPr>
            <a:r>
              <a:rPr lang="en-US" altLang="el-GR" sz="1600" b="0" i="0">
                <a:latin typeface="Times New Roman" panose="02020603050405020304" pitchFamily="18" charset="0"/>
                <a:hlinkClick r:id="rId3"/>
              </a:rPr>
              <a:t>https://sites.google.com/site/thramboulidiskleanthis/</a:t>
            </a:r>
            <a:endParaRPr lang="en-US" altLang="el-GR" sz="1600" b="0" i="0">
              <a:latin typeface="Times New Roman" panose="02020603050405020304" pitchFamily="18" charset="0"/>
            </a:endParaRPr>
          </a:p>
          <a:p>
            <a:pPr algn="l" eaLnBrk="1" hangingPunct="1">
              <a:spcBef>
                <a:spcPct val="0"/>
              </a:spcBef>
              <a:defRPr/>
            </a:pPr>
            <a:endParaRPr lang="el-GR" altLang="el-GR" sz="1800" kern="0">
              <a:latin typeface="Times New Roman" panose="02020603050405020304" pitchFamily="18" charset="0"/>
            </a:endParaRPr>
          </a:p>
          <a:p>
            <a:pPr algn="l" eaLnBrk="1" hangingPunct="1">
              <a:spcBef>
                <a:spcPct val="0"/>
              </a:spcBef>
              <a:defRPr/>
            </a:pPr>
            <a:endParaRPr lang="en-GB" altLang="el-GR" sz="1800" b="1" kern="0">
              <a:latin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036E0A-62C8-F25D-25D5-595B0B27A6B1}"/>
              </a:ext>
            </a:extLst>
          </p:cNvPr>
          <p:cNvSpPr txBox="1"/>
          <p:nvPr/>
        </p:nvSpPr>
        <p:spPr>
          <a:xfrm>
            <a:off x="0" y="1318086"/>
            <a:ext cx="17695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F9853D"/>
                </a:solidFill>
                <a:latin typeface="Bahnschrift" panose="020B0502040204020203" pitchFamily="34" charset="0"/>
              </a:rPr>
              <a:t>(CEID_NNY106)</a:t>
            </a:r>
            <a:endParaRPr lang="el-GR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5F3EE9-A938-D663-D46A-160783F1F27F}"/>
              </a:ext>
            </a:extLst>
          </p:cNvPr>
          <p:cNvSpPr txBox="1"/>
          <p:nvPr/>
        </p:nvSpPr>
        <p:spPr>
          <a:xfrm>
            <a:off x="560303" y="2462259"/>
            <a:ext cx="13145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/>
              <a:t>Κύρια Πηγή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171E6F-8AE9-B75E-1823-7991CADC80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123" y="2741663"/>
            <a:ext cx="1950889" cy="2819644"/>
          </a:xfrm>
          <a:prstGeom prst="rect">
            <a:avLst/>
          </a:prstGeom>
        </p:spPr>
      </p:pic>
      <p:sp>
        <p:nvSpPr>
          <p:cNvPr id="4" name="Υπότιτλος 2">
            <a:extLst>
              <a:ext uri="{FF2B5EF4-FFF2-40B4-BE49-F238E27FC236}">
                <a16:creationId xmlns:a16="http://schemas.microsoft.com/office/drawing/2014/main" id="{1FEF44B4-5484-7F60-BA37-96313DC3B896}"/>
              </a:ext>
            </a:extLst>
          </p:cNvPr>
          <p:cNvSpPr txBox="1">
            <a:spLocks/>
          </p:cNvSpPr>
          <p:nvPr/>
        </p:nvSpPr>
        <p:spPr>
          <a:xfrm>
            <a:off x="-4" y="1296692"/>
            <a:ext cx="7748956" cy="146334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l-GR" sz="4000" b="1" dirty="0">
                <a:solidFill>
                  <a:srgbClr val="60D69E"/>
                </a:solidFill>
                <a:latin typeface="Bahnschrift" panose="020B0502040204020203" pitchFamily="34" charset="0"/>
              </a:rPr>
              <a:t>Διαχείριση Συμβάντων</a:t>
            </a:r>
            <a:endParaRPr lang="en-US" sz="4000" b="1" dirty="0">
              <a:solidFill>
                <a:srgbClr val="60D69E"/>
              </a:solidFill>
              <a:latin typeface="Bahnschrift" panose="020B0502040204020203" pitchFamily="34" charset="0"/>
            </a:endParaRPr>
          </a:p>
          <a:p>
            <a:pPr algn="r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Event Handling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F3F1DF-97A8-0745-D06F-F345A61D9C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8952" y="1249095"/>
            <a:ext cx="4443044" cy="5019232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71AC6608-7C00-770A-D4FC-06C135BF8CDE}"/>
              </a:ext>
            </a:extLst>
          </p:cNvPr>
          <p:cNvSpPr/>
          <p:nvPr/>
        </p:nvSpPr>
        <p:spPr>
          <a:xfrm>
            <a:off x="239084" y="3913536"/>
            <a:ext cx="1950889" cy="31272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1600" dirty="0"/>
              <a:t>Κεφάλαιο: 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C96A4A3-88B3-F04A-0B91-01BBBF200BC0}"/>
              </a:ext>
            </a:extLst>
          </p:cNvPr>
          <p:cNvSpPr txBox="1"/>
          <p:nvPr/>
        </p:nvSpPr>
        <p:spPr>
          <a:xfrm>
            <a:off x="192732" y="4202653"/>
            <a:ext cx="1084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8.</a:t>
            </a:r>
            <a:r>
              <a:rPr lang="en-GB" dirty="0"/>
              <a:t>4,</a:t>
            </a:r>
            <a:r>
              <a:rPr lang="el-GR" dirty="0"/>
              <a:t>8.</a:t>
            </a:r>
            <a:r>
              <a:rPr lang="en-GB" dirty="0"/>
              <a:t>8</a:t>
            </a:r>
            <a:endParaRPr lang="el-GR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42A7F2-BD7C-95D7-63EB-5D11F9A4BF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7241" y="2915108"/>
            <a:ext cx="3701436" cy="3313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252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81001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>
                <a:solidFill>
                  <a:srgbClr val="F9853D"/>
                </a:solidFill>
                <a:latin typeface="Bahnschrift" panose="020B0502040204020203" pitchFamily="34" charset="0"/>
              </a:rPr>
              <a:t>Οργάνωση Διάλεξης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179824" y="6581001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Event Handling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8249AB5-3679-9512-97D2-71074F95D0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882" y="737724"/>
            <a:ext cx="9273564" cy="439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lang="el-GR" altLang="el-GR" b="1" kern="0" dirty="0">
                <a:solidFill>
                  <a:srgbClr val="000000"/>
                </a:solidFill>
                <a:latin typeface="Tahoma"/>
              </a:rPr>
              <a:t>Βασικές έννοιες</a:t>
            </a:r>
            <a:endParaRPr lang="en-GB" altLang="el-GR" b="1" kern="0" dirty="0">
              <a:solidFill>
                <a:srgbClr val="000000"/>
              </a:solidFill>
              <a:latin typeface="Tahoma"/>
            </a:endParaRPr>
          </a:p>
          <a:p>
            <a:pPr lvl="1" indent="-342900" eaLnBrk="1" hangingPunct="1">
              <a:buClr>
                <a:srgbClr val="3333CC"/>
              </a:buClr>
              <a:buSzPct val="60000"/>
              <a:defRPr/>
            </a:pPr>
            <a:r>
              <a:rPr lang="en-GB" altLang="el-GR" kern="0" dirty="0">
                <a:solidFill>
                  <a:srgbClr val="000000"/>
                </a:solidFill>
                <a:latin typeface="Tahoma"/>
              </a:rPr>
              <a:t>Delegation Event Model</a:t>
            </a:r>
          </a:p>
          <a:p>
            <a:pPr lvl="1" indent="-342900" eaLnBrk="1" hangingPunct="1">
              <a:buClr>
                <a:srgbClr val="3333CC"/>
              </a:buClr>
              <a:buSzPct val="60000"/>
              <a:defRPr/>
            </a:pPr>
            <a:r>
              <a:rPr kumimoji="0" lang="en-GB" alt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Event </a:t>
            </a:r>
            <a:r>
              <a:rPr lang="en-GB" altLang="el-GR" kern="0" dirty="0">
                <a:solidFill>
                  <a:srgbClr val="000000"/>
                </a:solidFill>
                <a:latin typeface="Tahoma"/>
              </a:rPr>
              <a:t>Handling </a:t>
            </a:r>
            <a:r>
              <a:rPr lang="el-GR" altLang="el-GR" kern="0" dirty="0">
                <a:solidFill>
                  <a:srgbClr val="000000"/>
                </a:solidFill>
                <a:latin typeface="Tahoma"/>
              </a:rPr>
              <a:t>στο </a:t>
            </a:r>
            <a:r>
              <a:rPr lang="en-GB" altLang="el-GR" kern="0" dirty="0">
                <a:solidFill>
                  <a:srgbClr val="000000"/>
                </a:solidFill>
                <a:latin typeface="Tahoma"/>
              </a:rPr>
              <a:t>Goody’s</a:t>
            </a:r>
            <a:endParaRPr kumimoji="0" lang="en-US" altLang="el-GR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Event Handling in Java Gui</a:t>
            </a:r>
          </a:p>
          <a:p>
            <a:pPr lvl="1" indent="-342900" eaLnBrk="1" hangingPunct="1">
              <a:buClr>
                <a:srgbClr val="3333CC"/>
              </a:buClr>
              <a:buSzPct val="60000"/>
              <a:defRPr/>
            </a:pPr>
            <a:r>
              <a:rPr lang="en-US" altLang="el-GR" kern="0" dirty="0">
                <a:solidFill>
                  <a:srgbClr val="000000"/>
                </a:solidFill>
                <a:latin typeface="Tahoma"/>
              </a:rPr>
              <a:t>ActionListener Interface</a:t>
            </a:r>
          </a:p>
          <a:p>
            <a:pPr lvl="1" indent="-342900" eaLnBrk="1" hangingPunct="1">
              <a:buClr>
                <a:srgbClr val="3333CC"/>
              </a:buClr>
              <a:buSzPct val="60000"/>
              <a:defRPr/>
            </a:pPr>
            <a:r>
              <a:rPr kumimoji="0" lang="en-GB" alt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Design For Flexibility and Maintainability</a:t>
            </a:r>
            <a:endParaRPr kumimoji="0" lang="en-US" altLang="el-GR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lang="en-GB" altLang="el-GR" kern="0" dirty="0" err="1">
                <a:solidFill>
                  <a:srgbClr val="000000"/>
                </a:solidFill>
                <a:latin typeface="Tahoma"/>
              </a:rPr>
              <a:t>WindowsApp</a:t>
            </a:r>
            <a:r>
              <a:rPr lang="en-GB" altLang="el-GR" kern="0" dirty="0">
                <a:solidFill>
                  <a:srgbClr val="000000"/>
                </a:solidFill>
                <a:latin typeface="Tahoma"/>
              </a:rPr>
              <a:t> </a:t>
            </a:r>
            <a:r>
              <a:rPr lang="el-GR" altLang="el-GR" kern="0" dirty="0">
                <a:solidFill>
                  <a:srgbClr val="000000"/>
                </a:solidFill>
                <a:latin typeface="Tahoma"/>
              </a:rPr>
              <a:t>με</a:t>
            </a:r>
            <a:r>
              <a:rPr lang="en-GB" altLang="el-GR" kern="0" dirty="0">
                <a:solidFill>
                  <a:srgbClr val="000000"/>
                </a:solidFill>
                <a:latin typeface="Tahoma"/>
              </a:rPr>
              <a:t> Graphics</a:t>
            </a:r>
            <a:endParaRPr kumimoji="0" lang="en-US" altLang="el-GR" sz="32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RpnCalculator</a:t>
            </a:r>
            <a:r>
              <a:rPr kumimoji="0" lang="en-US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kumimoji="0" lang="el-GR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εναλλακτικές υλοποιήσεις</a:t>
            </a:r>
            <a:endParaRPr kumimoji="0" lang="en-US" altLang="el-G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lvl="1" indent="-342900" eaLnBrk="1" hangingPunct="1">
              <a:buClr>
                <a:srgbClr val="3333CC"/>
              </a:buClr>
              <a:buSzPct val="60000"/>
              <a:defRPr/>
            </a:pPr>
            <a:r>
              <a:rPr lang="el-GR" altLang="el-GR" kern="0" dirty="0">
                <a:solidFill>
                  <a:srgbClr val="000000"/>
                </a:solidFill>
                <a:latin typeface="Tahoma"/>
              </a:rPr>
              <a:t>Εσωτερική (</a:t>
            </a:r>
            <a:r>
              <a:rPr lang="en-GB" altLang="el-GR" kern="0" dirty="0" err="1">
                <a:solidFill>
                  <a:srgbClr val="000000"/>
                </a:solidFill>
                <a:latin typeface="Tahoma"/>
              </a:rPr>
              <a:t>i</a:t>
            </a:r>
            <a:r>
              <a:rPr lang="en-US" altLang="el-GR" kern="0" dirty="0" err="1">
                <a:solidFill>
                  <a:srgbClr val="000000"/>
                </a:solidFill>
                <a:latin typeface="Tahoma"/>
              </a:rPr>
              <a:t>nner</a:t>
            </a:r>
            <a:r>
              <a:rPr lang="en-US" altLang="el-GR" kern="0" dirty="0">
                <a:solidFill>
                  <a:srgbClr val="000000"/>
                </a:solidFill>
                <a:latin typeface="Tahoma"/>
              </a:rPr>
              <a:t>) </a:t>
            </a:r>
            <a:r>
              <a:rPr lang="el-GR" altLang="el-GR" kern="0" dirty="0">
                <a:solidFill>
                  <a:srgbClr val="000000"/>
                </a:solidFill>
                <a:latin typeface="Tahoma"/>
              </a:rPr>
              <a:t>κλάση</a:t>
            </a:r>
            <a:endParaRPr lang="en-US" altLang="el-GR" kern="0" dirty="0">
              <a:solidFill>
                <a:srgbClr val="000000"/>
              </a:solidFill>
              <a:latin typeface="Tahoma"/>
            </a:endParaRPr>
          </a:p>
          <a:p>
            <a:pPr lvl="1" indent="-342900" eaLnBrk="1" hangingPunct="1">
              <a:buClr>
                <a:srgbClr val="3333CC"/>
              </a:buClr>
              <a:buSzPct val="60000"/>
              <a:defRPr/>
            </a:pPr>
            <a:r>
              <a:rPr lang="el-GR" altLang="el-GR" kern="0" dirty="0">
                <a:solidFill>
                  <a:srgbClr val="000000"/>
                </a:solidFill>
                <a:latin typeface="Tahoma"/>
              </a:rPr>
              <a:t>Ανώνυμη</a:t>
            </a:r>
            <a:r>
              <a:rPr kumimoji="0" lang="en-US" alt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(anonymous) </a:t>
            </a:r>
            <a:r>
              <a:rPr lang="el-GR" altLang="el-GR" kern="0" dirty="0">
                <a:solidFill>
                  <a:srgbClr val="000000"/>
                </a:solidFill>
                <a:latin typeface="Tahoma"/>
              </a:rPr>
              <a:t>κλάση</a:t>
            </a:r>
            <a:endParaRPr kumimoji="0" lang="en-US" altLang="el-GR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lvl="1" indent="-342900" eaLnBrk="1" hangingPunct="1">
              <a:buClr>
                <a:srgbClr val="3333CC"/>
              </a:buClr>
              <a:buSzPct val="60000"/>
              <a:defRPr/>
            </a:pPr>
            <a:r>
              <a:rPr lang="el-GR" altLang="el-GR" kern="0" dirty="0">
                <a:solidFill>
                  <a:srgbClr val="000000"/>
                </a:solidFill>
                <a:latin typeface="Tahoma"/>
              </a:rPr>
              <a:t>έκφραση</a:t>
            </a:r>
            <a:r>
              <a:rPr lang="en-US" altLang="el-GR" kern="0" dirty="0">
                <a:solidFill>
                  <a:srgbClr val="000000"/>
                </a:solidFill>
                <a:latin typeface="Tahoma"/>
              </a:rPr>
              <a:t> Lambda</a:t>
            </a:r>
            <a:r>
              <a:rPr lang="el-GR" altLang="el-GR" kern="0" dirty="0">
                <a:solidFill>
                  <a:srgbClr val="000000"/>
                </a:solidFill>
                <a:latin typeface="Tahoma"/>
              </a:rPr>
              <a:t> (</a:t>
            </a:r>
            <a:r>
              <a:rPr lang="en-GB" altLang="el-GR" kern="0" dirty="0">
                <a:solidFill>
                  <a:srgbClr val="000000"/>
                </a:solidFill>
                <a:latin typeface="Tahoma"/>
              </a:rPr>
              <a:t>lambda expression)</a:t>
            </a:r>
            <a:endParaRPr kumimoji="0" lang="en-US" altLang="el-GR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n-US" altLang="el-GR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n-US" altLang="el-G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n-US" altLang="el-G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n-US" altLang="el-G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n-GB" altLang="el-G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n-GB" altLang="el-G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8373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81001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Το πρόβλημα … και η λύση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179824" y="6581001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Event Handling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727F236-DC58-F087-A9A4-106F4D83D42E}"/>
              </a:ext>
            </a:extLst>
          </p:cNvPr>
          <p:cNvCxnSpPr/>
          <p:nvPr/>
        </p:nvCxnSpPr>
        <p:spPr bwMode="auto">
          <a:xfrm>
            <a:off x="2314222" y="2182623"/>
            <a:ext cx="6667549" cy="0"/>
          </a:xfrm>
          <a:prstGeom prst="straightConnector1">
            <a:avLst/>
          </a:prstGeom>
          <a:solidFill>
            <a:srgbClr val="00E4A8"/>
          </a:solidFill>
          <a:ln w="57150" cap="flat" cmpd="sng" algn="ctr">
            <a:solidFill>
              <a:srgbClr val="000000"/>
            </a:solidFill>
            <a:prstDash val="sysDash"/>
            <a:miter lim="800000"/>
            <a:headEnd type="none" w="med" len="med"/>
            <a:tailEnd type="triangle"/>
          </a:ln>
          <a:effectLst/>
        </p:spPr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CBD8ECB-35DD-8CF2-7417-C624354B5C6A}"/>
              </a:ext>
            </a:extLst>
          </p:cNvPr>
          <p:cNvCxnSpPr>
            <a:cxnSpLocks/>
            <a:stCxn id="14" idx="2"/>
          </p:cNvCxnSpPr>
          <p:nvPr/>
        </p:nvCxnSpPr>
        <p:spPr bwMode="auto">
          <a:xfrm>
            <a:off x="2333512" y="1570214"/>
            <a:ext cx="0" cy="1467842"/>
          </a:xfrm>
          <a:prstGeom prst="line">
            <a:avLst/>
          </a:prstGeom>
          <a:solidFill>
            <a:srgbClr val="00E4A8"/>
          </a:solidFill>
          <a:ln w="5715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D4DF167-5541-137A-9942-4C43F474C29F}"/>
              </a:ext>
            </a:extLst>
          </p:cNvPr>
          <p:cNvCxnSpPr>
            <a:cxnSpLocks/>
          </p:cNvCxnSpPr>
          <p:nvPr/>
        </p:nvCxnSpPr>
        <p:spPr bwMode="auto">
          <a:xfrm flipH="1">
            <a:off x="8960496" y="1535312"/>
            <a:ext cx="21275" cy="1646760"/>
          </a:xfrm>
          <a:prstGeom prst="line">
            <a:avLst/>
          </a:prstGeom>
          <a:solidFill>
            <a:srgbClr val="00E4A8"/>
          </a:solidFill>
          <a:ln w="5715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A4807D0A-1061-40B3-E17F-F3E649C5F231}"/>
              </a:ext>
            </a:extLst>
          </p:cNvPr>
          <p:cNvSpPr/>
          <p:nvPr/>
        </p:nvSpPr>
        <p:spPr>
          <a:xfrm>
            <a:off x="5038460" y="1000108"/>
            <a:ext cx="534121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4800" b="1" dirty="0">
                <a:solidFill>
                  <a:srgbClr val="FF0000"/>
                </a:solidFill>
                <a:latin typeface="Tahoma" panose="020B0604030504040204" pitchFamily="34" charset="0"/>
              </a:rPr>
              <a:t>?</a:t>
            </a:r>
            <a:endParaRPr lang="el-GR" sz="4800" b="1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93ADA0-FEE1-1F27-5591-C8EAA3F979BC}"/>
              </a:ext>
            </a:extLst>
          </p:cNvPr>
          <p:cNvSpPr txBox="1"/>
          <p:nvPr/>
        </p:nvSpPr>
        <p:spPr>
          <a:xfrm>
            <a:off x="4516204" y="1681206"/>
            <a:ext cx="2334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</a:rPr>
              <a:t>addDigit(‘0’)</a:t>
            </a:r>
            <a:endParaRPr lang="el-GR" sz="240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DA2194B-8469-B84A-7625-635127DE2930}"/>
              </a:ext>
            </a:extLst>
          </p:cNvPr>
          <p:cNvSpPr/>
          <p:nvPr/>
        </p:nvSpPr>
        <p:spPr bwMode="auto">
          <a:xfrm>
            <a:off x="8184445" y="1101668"/>
            <a:ext cx="1489785" cy="432594"/>
          </a:xfrm>
          <a:prstGeom prst="rect">
            <a:avLst/>
          </a:prstGeom>
          <a:solidFill>
            <a:srgbClr val="FFCF01">
              <a:lumMod val="20000"/>
              <a:lumOff val="80000"/>
            </a:srgbClr>
          </a:solidFill>
          <a:ln w="952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op:Operand</a:t>
            </a:r>
            <a:endParaRPr kumimoji="0" lang="el-G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44D54C8-A47E-4266-0C69-57E71793052B}"/>
              </a:ext>
            </a:extLst>
          </p:cNvPr>
          <p:cNvSpPr/>
          <p:nvPr/>
        </p:nvSpPr>
        <p:spPr bwMode="auto">
          <a:xfrm>
            <a:off x="1919466" y="1137900"/>
            <a:ext cx="828092" cy="432315"/>
          </a:xfrm>
          <a:prstGeom prst="rect">
            <a:avLst/>
          </a:prstGeom>
          <a:solidFill>
            <a:srgbClr val="333399">
              <a:lumMod val="20000"/>
              <a:lumOff val="80000"/>
            </a:srgbClr>
          </a:solidFill>
          <a:ln w="952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</a:rPr>
              <a:t>User</a:t>
            </a:r>
            <a:endParaRPr kumimoji="0" 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</a:endParaRPr>
          </a:p>
        </p:txBody>
      </p:sp>
      <p:graphicFrame>
        <p:nvGraphicFramePr>
          <p:cNvPr id="15" name="Object 7">
            <a:extLst>
              <a:ext uri="{FF2B5EF4-FFF2-40B4-BE49-F238E27FC236}">
                <a16:creationId xmlns:a16="http://schemas.microsoft.com/office/drawing/2014/main" id="{05652022-4C8B-E7BB-1227-82365CAF2A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2992552"/>
              </p:ext>
            </p:extLst>
          </p:nvPr>
        </p:nvGraphicFramePr>
        <p:xfrm>
          <a:off x="5944364" y="4381214"/>
          <a:ext cx="5903913" cy="1525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5420482" imgH="1400000" progId="Paint.Picture">
                  <p:embed/>
                </p:oleObj>
              </mc:Choice>
              <mc:Fallback>
                <p:oleObj name="Bitmap Image" r:id="rId3" imgW="5420482" imgH="1400000" progId="Paint.Picture">
                  <p:embed/>
                  <p:pic>
                    <p:nvPicPr>
                      <p:cNvPr id="12" name="Object 7">
                        <a:extLst>
                          <a:ext uri="{FF2B5EF4-FFF2-40B4-BE49-F238E27FC236}">
                            <a16:creationId xmlns:a16="http://schemas.microsoft.com/office/drawing/2014/main" id="{BD07FE93-4FDA-9D6C-6ABB-8AE5CFC062C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4364" y="4381214"/>
                        <a:ext cx="5903913" cy="1525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Oval 9">
            <a:extLst>
              <a:ext uri="{FF2B5EF4-FFF2-40B4-BE49-F238E27FC236}">
                <a16:creationId xmlns:a16="http://schemas.microsoft.com/office/drawing/2014/main" id="{021C67A6-F738-03A1-8404-C2DE86AEA9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65314" y="4238339"/>
            <a:ext cx="1150938" cy="2016125"/>
          </a:xfrm>
          <a:prstGeom prst="ellipse">
            <a:avLst/>
          </a:prstGeom>
          <a:solidFill>
            <a:srgbClr val="E8FE46">
              <a:alpha val="52156"/>
            </a:srgb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alt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graphicFrame>
        <p:nvGraphicFramePr>
          <p:cNvPr id="17" name="Object 10">
            <a:extLst>
              <a:ext uri="{FF2B5EF4-FFF2-40B4-BE49-F238E27FC236}">
                <a16:creationId xmlns:a16="http://schemas.microsoft.com/office/drawing/2014/main" id="{5BE0C477-BF86-8F8D-C22D-5688CCD54E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6181582"/>
              </p:ext>
            </p:extLst>
          </p:nvPr>
        </p:nvGraphicFramePr>
        <p:xfrm>
          <a:off x="303975" y="3365753"/>
          <a:ext cx="2875849" cy="29971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5" imgW="2715004" imgH="2828571" progId="Paint.Picture">
                  <p:embed/>
                </p:oleObj>
              </mc:Choice>
              <mc:Fallback>
                <p:oleObj name="Bitmap Image" r:id="rId5" imgW="2715004" imgH="2828571" progId="Paint.Picture">
                  <p:embed/>
                  <p:pic>
                    <p:nvPicPr>
                      <p:cNvPr id="15" name="Object 10">
                        <a:extLst>
                          <a:ext uri="{FF2B5EF4-FFF2-40B4-BE49-F238E27FC236}">
                            <a16:creationId xmlns:a16="http://schemas.microsoft.com/office/drawing/2014/main" id="{52E1BDD8-03B7-0882-2383-9A483A7DB5B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975" y="3365753"/>
                        <a:ext cx="2875849" cy="299719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F764950-F4AD-E07E-EDDF-E41519291C51}"/>
              </a:ext>
            </a:extLst>
          </p:cNvPr>
          <p:cNvSpPr txBox="1"/>
          <p:nvPr/>
        </p:nvSpPr>
        <p:spPr>
          <a:xfrm rot="20629103">
            <a:off x="7269266" y="3479087"/>
            <a:ext cx="42525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altLang="el-GR" sz="2400" b="1" i="1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Delegation Event Model</a:t>
            </a:r>
            <a:endParaRPr lang="en-GB" sz="2400" b="1" dirty="0"/>
          </a:p>
        </p:txBody>
      </p:sp>
    </p:spTree>
    <p:extLst>
      <p:ext uri="{BB962C8B-B14F-4D97-AF65-F5344CB8AC3E}">
        <p14:creationId xmlns:p14="http://schemas.microsoft.com/office/powerpoint/2010/main" val="3732830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81001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Event Handling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179824" y="6581001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Event Handling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69AC7C8-B4E9-6585-8AB3-DCFCD320C9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541" y="737724"/>
            <a:ext cx="10850880" cy="4215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Είναι ο μηχανισμός ο οποίος μας επιτρέπει</a:t>
            </a:r>
            <a:r>
              <a:rPr kumimoji="0" lang="el-GR" altLang="el-GR" sz="2800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να ορίσουμε την απόκριση του συστήματος σε ένα συμβάν (</a:t>
            </a:r>
            <a:r>
              <a:rPr kumimoji="0" lang="en-GB" altLang="el-GR" sz="2800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event).</a:t>
            </a:r>
            <a:endParaRPr kumimoji="0" lang="en-US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lang="el-GR" altLang="el-GR" sz="2400" kern="0" noProof="0" dirty="0">
                <a:solidFill>
                  <a:srgbClr val="000000"/>
                </a:solidFill>
                <a:latin typeface="Tahoma"/>
              </a:rPr>
              <a:t>Ένα</a:t>
            </a:r>
            <a:r>
              <a:rPr lang="el-GR" altLang="el-GR" sz="2400" b="1" kern="0" noProof="0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GB" altLang="el-GR" sz="2400" b="1" kern="0" noProof="0" dirty="0">
                <a:solidFill>
                  <a:srgbClr val="000000"/>
                </a:solidFill>
                <a:latin typeface="Tahoma"/>
              </a:rPr>
              <a:t>event </a:t>
            </a:r>
            <a:r>
              <a:rPr lang="el-GR" altLang="el-GR" sz="2400" b="1" kern="0" noProof="0" dirty="0">
                <a:solidFill>
                  <a:srgbClr val="000000"/>
                </a:solidFill>
                <a:latin typeface="Tahoma"/>
              </a:rPr>
              <a:t>δημιουργείται </a:t>
            </a:r>
            <a:r>
              <a:rPr lang="el-GR" altLang="el-GR" sz="2400" kern="0" noProof="0" dirty="0">
                <a:solidFill>
                  <a:srgbClr val="000000"/>
                </a:solidFill>
                <a:latin typeface="Tahoma"/>
              </a:rPr>
              <a:t>όταν ο χρήστης επιδράσει σε ένα στοιχείο της γραφικής </a:t>
            </a:r>
            <a:r>
              <a:rPr lang="el-GR" altLang="el-GR" sz="2400" kern="0" noProof="0" dirty="0" err="1">
                <a:solidFill>
                  <a:srgbClr val="000000"/>
                </a:solidFill>
                <a:latin typeface="Tahoma"/>
              </a:rPr>
              <a:t>διεπαφής</a:t>
            </a:r>
            <a:r>
              <a:rPr lang="el-GR" altLang="el-GR" sz="2400" kern="0" noProof="0" dirty="0">
                <a:solidFill>
                  <a:srgbClr val="000000"/>
                </a:solidFill>
                <a:latin typeface="Tahoma"/>
              </a:rPr>
              <a:t>.</a:t>
            </a:r>
            <a:endParaRPr kumimoji="0" lang="en-US" altLang="el-GR" sz="24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lang="el-GR" altLang="el-GR" sz="2400" kern="0" noProof="0" dirty="0">
                <a:solidFill>
                  <a:srgbClr val="000000"/>
                </a:solidFill>
                <a:latin typeface="Tahoma"/>
              </a:rPr>
              <a:t>Ο κώδικα που θα εκτελεστεί σε απόκριση ενός συμβάντος είναι γνωστός ως διαχειριστής συμβάντος  (</a:t>
            </a:r>
            <a:r>
              <a:rPr kumimoji="0" lang="en-US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event handler</a:t>
            </a:r>
            <a:r>
              <a:rPr lang="el-GR" altLang="el-GR" sz="2400" kern="0" dirty="0">
                <a:solidFill>
                  <a:srgbClr val="000000"/>
                </a:solidFill>
                <a:latin typeface="Tahoma"/>
              </a:rPr>
              <a:t>).</a:t>
            </a:r>
            <a:r>
              <a:rPr kumimoji="0" lang="en-US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Η </a:t>
            </a:r>
            <a:r>
              <a:rPr kumimoji="0" lang="en-US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Java 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χρησιμοποιεί το </a:t>
            </a:r>
            <a:r>
              <a:rPr kumimoji="0" lang="en-US" altLang="el-GR" sz="2800" b="0" i="1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Delegation Event Model </a:t>
            </a:r>
            <a:r>
              <a:rPr lang="el-GR" altLang="el-GR" sz="2800" i="1" kern="0" dirty="0">
                <a:solidFill>
                  <a:srgbClr val="C00000"/>
                </a:solidFill>
                <a:latin typeface="Tahoma"/>
              </a:rPr>
              <a:t> 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για να διαχειριστεί συμβάντα στις</a:t>
            </a:r>
            <a:r>
              <a:rPr kumimoji="0" lang="el-GR" altLang="el-GR" sz="2800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γραφικές </a:t>
            </a:r>
            <a:r>
              <a:rPr kumimoji="0" lang="el-GR" altLang="el-GR" sz="2800" b="0" i="0" u="none" strike="noStrike" kern="0" cap="none" spc="0" normalizeH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διεπαφές</a:t>
            </a:r>
            <a:r>
              <a:rPr kumimoji="0" lang="el-GR" altLang="el-GR" sz="2800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.</a:t>
            </a:r>
            <a:endParaRPr lang="el-GR" altLang="el-GR" sz="2800" kern="0" dirty="0">
              <a:solidFill>
                <a:srgbClr val="000000"/>
              </a:solidFill>
              <a:latin typeface="Tahoma"/>
            </a:endParaRPr>
          </a:p>
          <a:p>
            <a:pPr lvl="1">
              <a:buClr>
                <a:srgbClr val="3333CC"/>
              </a:buClr>
              <a:defRPr/>
            </a:pPr>
            <a:r>
              <a:rPr lang="el-GR" altLang="el-GR" sz="2400" kern="0" dirty="0">
                <a:solidFill>
                  <a:srgbClr val="000000"/>
                </a:solidFill>
                <a:latin typeface="Tahoma"/>
              </a:rPr>
              <a:t>μας επιτρέπει π.χ. να ορίσουμε την συμπεριφορά που θέλουμε να έχει η εφαρμογή μας στο συμβάν “</a:t>
            </a:r>
            <a:r>
              <a:rPr lang="el-GR" altLang="el-GR" sz="2400" kern="0" dirty="0" err="1">
                <a:solidFill>
                  <a:srgbClr val="000000"/>
                </a:solidFill>
                <a:latin typeface="Tahoma"/>
              </a:rPr>
              <a:t>press</a:t>
            </a:r>
            <a:r>
              <a:rPr lang="el-GR" altLang="el-GR" sz="2400" kern="0" dirty="0">
                <a:solidFill>
                  <a:srgbClr val="000000"/>
                </a:solidFill>
                <a:latin typeface="Tahoma"/>
              </a:rPr>
              <a:t> and </a:t>
            </a:r>
            <a:r>
              <a:rPr lang="el-GR" altLang="el-GR" sz="2400" kern="0" dirty="0" err="1">
                <a:solidFill>
                  <a:srgbClr val="000000"/>
                </a:solidFill>
                <a:latin typeface="Tahoma"/>
              </a:rPr>
              <a:t>release</a:t>
            </a:r>
            <a:r>
              <a:rPr lang="el-GR" altLang="el-GR" sz="2400" kern="0" dirty="0">
                <a:solidFill>
                  <a:srgbClr val="000000"/>
                </a:solidFill>
                <a:latin typeface="Tahoma"/>
              </a:rPr>
              <a:t>” ενός στιγμιότυπου της </a:t>
            </a:r>
            <a:r>
              <a:rPr lang="el-GR" altLang="el-GR" sz="2400" kern="0" dirty="0" err="1">
                <a:solidFill>
                  <a:srgbClr val="000000"/>
                </a:solidFill>
                <a:latin typeface="Tahoma"/>
              </a:rPr>
              <a:t>Button</a:t>
            </a:r>
            <a:r>
              <a:rPr lang="el-GR" altLang="el-GR" sz="2400" kern="0" dirty="0">
                <a:solidFill>
                  <a:srgbClr val="000000"/>
                </a:solidFill>
                <a:latin typeface="Tahoma"/>
              </a:rPr>
              <a:t> στην γραφική </a:t>
            </a:r>
            <a:r>
              <a:rPr lang="el-GR" altLang="el-GR" sz="2400" kern="0" dirty="0" err="1">
                <a:solidFill>
                  <a:srgbClr val="000000"/>
                </a:solidFill>
                <a:latin typeface="Tahoma"/>
              </a:rPr>
              <a:t>διεπαφή</a:t>
            </a:r>
            <a:r>
              <a:rPr lang="el-GR" altLang="el-GR" sz="2400" kern="0" dirty="0">
                <a:solidFill>
                  <a:srgbClr val="000000"/>
                </a:solidFill>
                <a:latin typeface="Tahoma"/>
              </a:rPr>
              <a:t> της εφαρμογής.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lang="el-GR" altLang="el-GR" sz="2800" kern="0" dirty="0">
                <a:solidFill>
                  <a:srgbClr val="000000"/>
                </a:solidFill>
                <a:latin typeface="Tahoma"/>
              </a:rPr>
              <a:t>Βασικό Πλεονέκτημα </a:t>
            </a:r>
          </a:p>
          <a:p>
            <a:pPr lvl="1" indent="-342900">
              <a:buClr>
                <a:srgbClr val="3333CC"/>
              </a:buClr>
              <a:buSzPct val="60000"/>
              <a:defRPr/>
            </a:pPr>
            <a:r>
              <a:rPr lang="el-GR" altLang="el-GR" sz="2400" kern="0" dirty="0">
                <a:solidFill>
                  <a:srgbClr val="000000"/>
                </a:solidFill>
                <a:latin typeface="Tahoma"/>
              </a:rPr>
              <a:t>διαχωρίζει πλήρως </a:t>
            </a:r>
            <a:r>
              <a:rPr lang="en-GB" altLang="el-GR" sz="2400" b="1" kern="0" dirty="0">
                <a:solidFill>
                  <a:srgbClr val="000000"/>
                </a:solidFill>
                <a:latin typeface="Tahoma"/>
              </a:rPr>
              <a:t>application logic </a:t>
            </a:r>
            <a:r>
              <a:rPr lang="el-GR" altLang="el-GR" sz="2400" kern="0" dirty="0">
                <a:solidFill>
                  <a:srgbClr val="000000"/>
                </a:solidFill>
                <a:latin typeface="Tahoma"/>
              </a:rPr>
              <a:t>από</a:t>
            </a:r>
            <a:r>
              <a:rPr lang="el-GR" altLang="el-GR" sz="2400" b="1" kern="0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GB" altLang="el-GR" sz="2400" b="1" kern="0" dirty="0">
                <a:solidFill>
                  <a:srgbClr val="000000"/>
                </a:solidFill>
                <a:latin typeface="Tahoma"/>
              </a:rPr>
              <a:t>interface logic</a:t>
            </a:r>
            <a:r>
              <a:rPr lang="el-GR" altLang="el-GR" sz="2400" b="1" kern="0" dirty="0">
                <a:solidFill>
                  <a:srgbClr val="000000"/>
                </a:solidFill>
                <a:latin typeface="Tahoma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tabLst/>
              <a:defRPr/>
            </a:pPr>
            <a:endParaRPr kumimoji="0" lang="en-US" altLang="el-GR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n-US" altLang="el-GR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n-US" altLang="el-GR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2625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81001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Βασικά συνθετικά του </a:t>
            </a:r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event model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179824" y="6581001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Event Handling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69AC7C8-B4E9-6585-8AB3-DCFCD320C9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37724"/>
            <a:ext cx="12192000" cy="5110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lang="en-GB" altLang="el-GR" sz="2400" b="1" kern="0" dirty="0">
                <a:solidFill>
                  <a:srgbClr val="000000"/>
                </a:solidFill>
                <a:latin typeface="Tahoma"/>
              </a:rPr>
              <a:t>Event</a:t>
            </a:r>
          </a:p>
          <a:p>
            <a:pPr lvl="1" indent="-342900">
              <a:buClr>
                <a:srgbClr val="3333CC"/>
              </a:buClr>
              <a:buSzPct val="60000"/>
              <a:defRPr/>
            </a:pPr>
            <a:r>
              <a:rPr lang="el-GR" altLang="el-GR" sz="2000" kern="0" dirty="0">
                <a:solidFill>
                  <a:srgbClr val="000000"/>
                </a:solidFill>
                <a:latin typeface="Tahoma"/>
              </a:rPr>
              <a:t>Είναι ένα αντικείμενο που περιγράφει αλλαγή κατάστασης του αντικειμένου που το δημιουργεί (</a:t>
            </a:r>
            <a:r>
              <a:rPr lang="en-GB" altLang="el-GR" sz="2000" kern="0" dirty="0">
                <a:solidFill>
                  <a:srgbClr val="000000"/>
                </a:solidFill>
                <a:latin typeface="Tahoma"/>
              </a:rPr>
              <a:t>event source</a:t>
            </a:r>
            <a:r>
              <a:rPr lang="el-GR" altLang="el-GR" sz="2000" kern="0" dirty="0">
                <a:solidFill>
                  <a:srgbClr val="000000"/>
                </a:solidFill>
                <a:latin typeface="Tahoma"/>
              </a:rPr>
              <a:t>)</a:t>
            </a:r>
            <a:r>
              <a:rPr lang="en-GB" altLang="el-GR" sz="2000" kern="0" dirty="0">
                <a:solidFill>
                  <a:srgbClr val="000000"/>
                </a:solidFill>
                <a:latin typeface="Tahoma"/>
              </a:rPr>
              <a:t>.</a:t>
            </a:r>
          </a:p>
          <a:p>
            <a:pPr lvl="1" indent="-342900">
              <a:buClr>
                <a:srgbClr val="3333CC"/>
              </a:buClr>
              <a:buSzPct val="60000"/>
              <a:defRPr/>
            </a:pPr>
            <a:r>
              <a:rPr lang="el-GR" altLang="el-GR" sz="2000" kern="0" dirty="0">
                <a:solidFill>
                  <a:srgbClr val="000000"/>
                </a:solidFill>
                <a:latin typeface="Tahoma"/>
              </a:rPr>
              <a:t>Δημιουργείται ως αποτέλεσμα της επίδρασης του χρήστη πάνω σε ένα συνθετικό της γραφικής </a:t>
            </a:r>
            <a:r>
              <a:rPr lang="el-GR" altLang="el-GR" sz="2000" kern="0" dirty="0" err="1">
                <a:solidFill>
                  <a:srgbClr val="000000"/>
                </a:solidFill>
                <a:latin typeface="Tahoma"/>
              </a:rPr>
              <a:t>διεπαφής</a:t>
            </a:r>
            <a:r>
              <a:rPr lang="el-GR" altLang="el-GR" sz="2000" kern="0" dirty="0">
                <a:solidFill>
                  <a:srgbClr val="000000"/>
                </a:solidFill>
                <a:latin typeface="Tahoma"/>
              </a:rPr>
              <a:t>. </a:t>
            </a:r>
          </a:p>
          <a:p>
            <a:pPr lvl="1" indent="-342900">
              <a:buClr>
                <a:srgbClr val="3333CC"/>
              </a:buClr>
              <a:buSzPct val="60000"/>
              <a:defRPr/>
            </a:pPr>
            <a:r>
              <a:rPr lang="el-GR" altLang="el-GR" sz="2000" kern="0" dirty="0">
                <a:solidFill>
                  <a:srgbClr val="000000"/>
                </a:solidFill>
                <a:latin typeface="Tahoma"/>
              </a:rPr>
              <a:t>Περιέχει πληροφορία για το συμβάν η οποία είναι χρήσιμη για την απόκριση του συστήματος.</a:t>
            </a:r>
            <a:endParaRPr lang="en-GB" altLang="el-GR" sz="2000" kern="0" dirty="0">
              <a:solidFill>
                <a:srgbClr val="000000"/>
              </a:solidFill>
              <a:latin typeface="Tahom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lang="en-GB" altLang="el-GR" sz="2400" b="1" kern="0" dirty="0">
                <a:solidFill>
                  <a:srgbClr val="000000"/>
                </a:solidFill>
                <a:latin typeface="Tahoma"/>
              </a:rPr>
              <a:t>Event Source </a:t>
            </a:r>
            <a:r>
              <a:rPr lang="en-GB" altLang="el-GR" sz="2400" kern="0" dirty="0">
                <a:solidFill>
                  <a:srgbClr val="000000"/>
                </a:solidFill>
                <a:latin typeface="Tahoma"/>
              </a:rPr>
              <a:t>(</a:t>
            </a:r>
            <a:r>
              <a:rPr lang="en-GB" altLang="el-GR" sz="2400" kern="0" dirty="0">
                <a:solidFill>
                  <a:srgbClr val="C00000"/>
                </a:solidFill>
                <a:latin typeface="Tahoma"/>
              </a:rPr>
              <a:t>object that “fires” events</a:t>
            </a:r>
            <a:r>
              <a:rPr lang="en-GB" altLang="el-GR" sz="2400" kern="0" dirty="0">
                <a:solidFill>
                  <a:srgbClr val="000000"/>
                </a:solidFill>
                <a:latin typeface="Tahoma"/>
              </a:rPr>
              <a:t>)</a:t>
            </a:r>
          </a:p>
          <a:p>
            <a:pPr lvl="1">
              <a:buClr>
                <a:srgbClr val="3333CC"/>
              </a:buClr>
              <a:defRPr/>
            </a:pPr>
            <a:r>
              <a:rPr lang="en-US" altLang="el-GR" sz="2000" kern="0" dirty="0">
                <a:solidFill>
                  <a:srgbClr val="000000"/>
                </a:solidFill>
                <a:latin typeface="Tahoma"/>
              </a:rPr>
              <a:t>To </a:t>
            </a:r>
            <a:r>
              <a:rPr lang="el-GR" altLang="el-GR" sz="2000" kern="0" dirty="0">
                <a:solidFill>
                  <a:srgbClr val="000000"/>
                </a:solidFill>
                <a:latin typeface="Tahoma"/>
              </a:rPr>
              <a:t>αντικείμενο που δημιουργεί το </a:t>
            </a:r>
            <a:r>
              <a:rPr lang="en-GB" altLang="el-GR" sz="2000" kern="0" dirty="0">
                <a:solidFill>
                  <a:srgbClr val="000000"/>
                </a:solidFill>
                <a:latin typeface="Tahoma"/>
              </a:rPr>
              <a:t>event</a:t>
            </a:r>
            <a:r>
              <a:rPr lang="el-GR" altLang="el-GR" sz="2000" kern="0" dirty="0">
                <a:solidFill>
                  <a:srgbClr val="000000"/>
                </a:solidFill>
                <a:latin typeface="Tahoma"/>
              </a:rPr>
              <a:t>. Δημιουργεί το </a:t>
            </a:r>
            <a:r>
              <a:rPr lang="en-GB" altLang="el-GR" sz="2000" kern="0" dirty="0">
                <a:solidFill>
                  <a:srgbClr val="000000"/>
                </a:solidFill>
                <a:latin typeface="Tahoma"/>
              </a:rPr>
              <a:t>event </a:t>
            </a:r>
            <a:r>
              <a:rPr lang="el-GR" altLang="el-GR" sz="2000" kern="0" dirty="0">
                <a:solidFill>
                  <a:srgbClr val="000000"/>
                </a:solidFill>
                <a:latin typeface="Tahoma"/>
              </a:rPr>
              <a:t>όταν η κατάσταση του αλλάξει. </a:t>
            </a:r>
          </a:p>
          <a:p>
            <a:pPr lvl="1">
              <a:buClr>
                <a:srgbClr val="3333CC"/>
              </a:buClr>
              <a:defRPr/>
            </a:pPr>
            <a:r>
              <a:rPr lang="el-GR" altLang="el-GR" sz="2000" kern="0" dirty="0">
                <a:solidFill>
                  <a:srgbClr val="000000"/>
                </a:solidFill>
                <a:latin typeface="Tahoma"/>
              </a:rPr>
              <a:t>Ένα σύνολο από κλάσεις της βασικής βιβλιοθήκης είναι </a:t>
            </a:r>
            <a:r>
              <a:rPr lang="en-GB" altLang="el-GR" sz="2000" kern="0" dirty="0">
                <a:solidFill>
                  <a:srgbClr val="000000"/>
                </a:solidFill>
                <a:latin typeface="Tahoma"/>
              </a:rPr>
              <a:t>Event Sources, </a:t>
            </a:r>
            <a:r>
              <a:rPr lang="el-GR" altLang="el-GR" sz="2000" kern="0" dirty="0">
                <a:solidFill>
                  <a:srgbClr val="000000"/>
                </a:solidFill>
                <a:latin typeface="Tahoma"/>
              </a:rPr>
              <a:t>π.χ. </a:t>
            </a:r>
            <a:r>
              <a:rPr lang="en-GB" altLang="el-GR" sz="2000" kern="0" dirty="0">
                <a:solidFill>
                  <a:srgbClr val="000000"/>
                </a:solidFill>
                <a:latin typeface="Tahoma"/>
              </a:rPr>
              <a:t>Button, </a:t>
            </a:r>
            <a:r>
              <a:rPr lang="en-GB" altLang="el-GR" sz="2000" kern="0" dirty="0" err="1">
                <a:solidFill>
                  <a:srgbClr val="000000"/>
                </a:solidFill>
                <a:latin typeface="Tahoma"/>
              </a:rPr>
              <a:t>JButton</a:t>
            </a:r>
            <a:r>
              <a:rPr lang="en-GB" altLang="el-GR" sz="2000" kern="0" dirty="0">
                <a:solidFill>
                  <a:srgbClr val="000000"/>
                </a:solidFill>
                <a:latin typeface="Tahoma"/>
              </a:rPr>
              <a:t>, …. </a:t>
            </a:r>
            <a:endParaRPr lang="en-US" altLang="el-GR" sz="2000" kern="0" dirty="0">
              <a:solidFill>
                <a:srgbClr val="000000"/>
              </a:solidFill>
              <a:latin typeface="Tahom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lang="en-GB" altLang="el-GR" sz="2400" b="1" kern="0" dirty="0">
                <a:solidFill>
                  <a:srgbClr val="000000"/>
                </a:solidFill>
                <a:latin typeface="Tahoma"/>
              </a:rPr>
              <a:t>Event Listener </a:t>
            </a:r>
            <a:r>
              <a:rPr lang="en-GB" altLang="el-GR" sz="2400" kern="0" dirty="0">
                <a:solidFill>
                  <a:srgbClr val="000000"/>
                </a:solidFill>
                <a:latin typeface="Tahoma"/>
              </a:rPr>
              <a:t>(</a:t>
            </a:r>
            <a:r>
              <a:rPr lang="en-GB" altLang="el-GR" sz="2400" kern="0" dirty="0">
                <a:solidFill>
                  <a:srgbClr val="C00000"/>
                </a:solidFill>
                <a:latin typeface="Tahoma"/>
              </a:rPr>
              <a:t>object interested in events</a:t>
            </a:r>
            <a:r>
              <a:rPr lang="en-GB" altLang="el-GR" sz="2400" kern="0" dirty="0">
                <a:solidFill>
                  <a:srgbClr val="000000"/>
                </a:solidFill>
                <a:latin typeface="Tahoma"/>
              </a:rPr>
              <a:t>)</a:t>
            </a:r>
          </a:p>
          <a:p>
            <a:pPr lvl="1" indent="-342900">
              <a:buClr>
                <a:srgbClr val="3333CC"/>
              </a:buClr>
              <a:buSzPct val="60000"/>
              <a:defRPr/>
            </a:pPr>
            <a:r>
              <a:rPr lang="el-GR" altLang="el-GR" sz="2000" kern="0" dirty="0">
                <a:solidFill>
                  <a:srgbClr val="000000"/>
                </a:solidFill>
                <a:latin typeface="Tahoma"/>
              </a:rPr>
              <a:t>Γνωστός και ως </a:t>
            </a:r>
            <a:r>
              <a:rPr lang="en-US" altLang="el-GR" sz="2000" b="1" kern="0" dirty="0">
                <a:solidFill>
                  <a:srgbClr val="000000"/>
                </a:solidFill>
                <a:latin typeface="Tahoma"/>
              </a:rPr>
              <a:t>Event</a:t>
            </a:r>
            <a:r>
              <a:rPr lang="en-GB" altLang="el-GR" sz="2000" b="1" kern="0" dirty="0">
                <a:solidFill>
                  <a:srgbClr val="000000"/>
                </a:solidFill>
                <a:latin typeface="Tahoma"/>
              </a:rPr>
              <a:t> Handler</a:t>
            </a:r>
            <a:r>
              <a:rPr lang="en-GB" altLang="el-GR" sz="2000" kern="0" dirty="0">
                <a:solidFill>
                  <a:srgbClr val="000000"/>
                </a:solidFill>
                <a:latin typeface="Tahoma"/>
              </a:rPr>
              <a:t>.</a:t>
            </a:r>
          </a:p>
          <a:p>
            <a:pPr lvl="1" indent="-342900">
              <a:buClr>
                <a:srgbClr val="3333CC"/>
              </a:buClr>
              <a:buSzPct val="60000"/>
              <a:defRPr/>
            </a:pPr>
            <a:r>
              <a:rPr lang="el-GR" altLang="el-GR" sz="2000" kern="0" dirty="0">
                <a:solidFill>
                  <a:srgbClr val="000000"/>
                </a:solidFill>
                <a:latin typeface="Tahoma"/>
              </a:rPr>
              <a:t>Είναι το αντικείμενο στο οποίο έχει ανατεθεί η αρμοδιότητα της απόκρισης σε συμβάν.</a:t>
            </a:r>
          </a:p>
          <a:p>
            <a:pPr lvl="1" indent="-342900">
              <a:buClr>
                <a:srgbClr val="3333CC"/>
              </a:buClr>
              <a:buSzPct val="60000"/>
              <a:defRPr/>
            </a:pPr>
            <a:r>
              <a:rPr lang="el-GR" altLang="el-GR" sz="2000" kern="0" dirty="0">
                <a:solidFill>
                  <a:srgbClr val="000000"/>
                </a:solidFill>
                <a:latin typeface="Tahoma"/>
              </a:rPr>
              <a:t>Όταν ενημερωθεί για το συμβάν (λάβει το </a:t>
            </a:r>
            <a:r>
              <a:rPr lang="en-GB" altLang="el-GR" sz="2000" kern="0" dirty="0">
                <a:solidFill>
                  <a:srgbClr val="000000"/>
                </a:solidFill>
                <a:latin typeface="Tahoma"/>
              </a:rPr>
              <a:t>event) </a:t>
            </a:r>
            <a:r>
              <a:rPr lang="el-GR" altLang="el-GR" sz="2000" kern="0" dirty="0">
                <a:solidFill>
                  <a:srgbClr val="000000"/>
                </a:solidFill>
                <a:latin typeface="Tahoma"/>
              </a:rPr>
              <a:t>ενεργοποιείται για να υλοποιήσει την απόκριση του συστήματος στο συμβάν.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n-US" altLang="el-GR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n-US" altLang="el-GR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n-US" altLang="el-GR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1828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Μηχανισμός </a:t>
            </a:r>
            <a:r>
              <a:rPr lang="el-GR" sz="4000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Event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</a:t>
            </a:r>
            <a:r>
              <a:rPr lang="el-GR" sz="4000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Handling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– Βασική αρχή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E3F7EC9B-355F-980B-845A-E785C88730FF}"/>
              </a:ext>
            </a:extLst>
          </p:cNvPr>
          <p:cNvSpPr txBox="1">
            <a:spLocks/>
          </p:cNvSpPr>
          <p:nvPr/>
        </p:nvSpPr>
        <p:spPr>
          <a:xfrm>
            <a:off x="3179824" y="6581001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Event Handling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7F7B4CB5-4AEF-B76F-67B2-8919FCA490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5849" y="761316"/>
            <a:ext cx="5832869" cy="2613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	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Ο Νικολάου μόλις έδωσε την παραγγελία του στην Μαίρη. Για να μην περιμένει όρθιος μέχρι αυτή να ετοιμαστεί ζητά από την Μαίρη να τον ειδοποιήσει. Απαραίτητη προϋπόθεση είναι</a:t>
            </a:r>
            <a:r>
              <a:rPr kumimoji="0" lang="en-US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: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endParaRPr kumimoji="0" lang="en-US" altLang="el-GR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η γνωστοποίηση του ονόματος του (της αναφοράς του) στην Μαίρη και </a:t>
            </a:r>
            <a:endParaRPr kumimoji="0" lang="en-US" altLang="el-G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η γνώση που θα πρέπει να έχει ο Νικολάου για το πως θα αντιδράσει όταν η Μαίρη του αποστείλει το μήνυμα «Νικολάου έτοιμος». </a:t>
            </a: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endParaRPr kumimoji="0" lang="el-GR" altLang="el-G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	</a:t>
            </a:r>
            <a:endParaRPr kumimoji="0" lang="en-US" altLang="el-GR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D77C8161-4DF0-5028-34FD-1DB3C48224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69817" y="4668885"/>
            <a:ext cx="12051331" cy="18726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defRPr/>
            </a:pPr>
            <a:r>
              <a:rPr lang="en-US" sz="2000" kern="0" dirty="0">
                <a:solidFill>
                  <a:srgbClr val="000000"/>
                </a:solidFill>
                <a:latin typeface="Tahoma"/>
              </a:rPr>
              <a:t>	</a:t>
            </a:r>
            <a:r>
              <a:rPr lang="el-GR" sz="2400" kern="0" dirty="0">
                <a:solidFill>
                  <a:srgbClr val="000000"/>
                </a:solidFill>
                <a:latin typeface="Times New Roman" pitchFamily="18" charset="0"/>
              </a:rPr>
              <a:t>Ο Νικολάου κάθεται σε ένα τραπέζι και αναμένει την ειδοποίηση της Μαίρης.</a:t>
            </a:r>
            <a:r>
              <a:rPr lang="en-US" sz="2400" kern="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l-GR" sz="2400" kern="0" dirty="0">
                <a:solidFill>
                  <a:srgbClr val="000000"/>
                </a:solidFill>
                <a:latin typeface="Times New Roman" pitchFamily="18" charset="0"/>
              </a:rPr>
              <a:t>Όταν η παραγγελία του Νικολάου ετοιμασθεί (</a:t>
            </a:r>
            <a:r>
              <a:rPr lang="el-GR" sz="2400" kern="0" dirty="0">
                <a:solidFill>
                  <a:srgbClr val="990000"/>
                </a:solidFill>
                <a:latin typeface="Times New Roman" pitchFamily="18" charset="0"/>
              </a:rPr>
              <a:t>συμβεί το </a:t>
            </a:r>
            <a:r>
              <a:rPr lang="en-US" sz="2400" kern="0" dirty="0">
                <a:solidFill>
                  <a:srgbClr val="990000"/>
                </a:solidFill>
                <a:latin typeface="Times New Roman" pitchFamily="18" charset="0"/>
              </a:rPr>
              <a:t>event</a:t>
            </a:r>
            <a:r>
              <a:rPr lang="el-GR" sz="2400" kern="0" dirty="0">
                <a:solidFill>
                  <a:srgbClr val="990000"/>
                </a:solidFill>
                <a:latin typeface="Times New Roman" pitchFamily="18" charset="0"/>
              </a:rPr>
              <a:t> για το οποίο έκανε </a:t>
            </a:r>
            <a:r>
              <a:rPr lang="en-US" sz="2400" kern="0" dirty="0">
                <a:solidFill>
                  <a:srgbClr val="990000"/>
                </a:solidFill>
                <a:latin typeface="Times New Roman" pitchFamily="18" charset="0"/>
              </a:rPr>
              <a:t>register</a:t>
            </a:r>
            <a:r>
              <a:rPr lang="el-GR" sz="2400" kern="0" dirty="0">
                <a:solidFill>
                  <a:srgbClr val="990000"/>
                </a:solidFill>
                <a:latin typeface="Times New Roman" pitchFamily="18" charset="0"/>
              </a:rPr>
              <a:t> ο Νικολάου</a:t>
            </a:r>
            <a:r>
              <a:rPr lang="el-GR" sz="2400" kern="0" dirty="0">
                <a:solidFill>
                  <a:srgbClr val="000000"/>
                </a:solidFill>
                <a:latin typeface="Times New Roman" pitchFamily="18" charset="0"/>
              </a:rPr>
              <a:t>) </a:t>
            </a:r>
            <a:r>
              <a:rPr lang="el-GR" sz="2400" b="1" kern="0" dirty="0">
                <a:solidFill>
                  <a:srgbClr val="000000"/>
                </a:solidFill>
                <a:latin typeface="Times New Roman" pitchFamily="18" charset="0"/>
              </a:rPr>
              <a:t>η Μαίρη δημιουργεί το μήνυμα </a:t>
            </a:r>
            <a:r>
              <a:rPr lang="el-GR" sz="2400" kern="0" dirty="0">
                <a:solidFill>
                  <a:srgbClr val="000000"/>
                </a:solidFill>
                <a:latin typeface="Times New Roman" pitchFamily="18" charset="0"/>
              </a:rPr>
              <a:t>«παραγγελία έτοιμη» και το αποστέλλει στον Νικολάου. </a:t>
            </a: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defRPr/>
            </a:pPr>
            <a:r>
              <a:rPr lang="el-GR" sz="2400" kern="0" dirty="0">
                <a:solidFill>
                  <a:srgbClr val="000000"/>
                </a:solidFill>
                <a:latin typeface="Times New Roman" pitchFamily="18" charset="0"/>
              </a:rPr>
              <a:t>	</a:t>
            </a:r>
            <a:r>
              <a:rPr lang="el-GR" sz="2800" kern="0" dirty="0">
                <a:solidFill>
                  <a:srgbClr val="000000"/>
                </a:solidFill>
                <a:latin typeface="Times New Roman" pitchFamily="18" charset="0"/>
              </a:rPr>
              <a:t>Ο Νικολάου </a:t>
            </a:r>
            <a:r>
              <a:rPr lang="el-GR" sz="2800" b="1" kern="0" dirty="0">
                <a:solidFill>
                  <a:srgbClr val="000000"/>
                </a:solidFill>
                <a:latin typeface="Times New Roman" pitchFamily="18" charset="0"/>
              </a:rPr>
              <a:t>πρέπει να γνωρίζει πως αντιδρά στο </a:t>
            </a:r>
            <a:r>
              <a:rPr lang="en-US" sz="2800" b="1" kern="0" dirty="0">
                <a:solidFill>
                  <a:srgbClr val="000000"/>
                </a:solidFill>
                <a:latin typeface="Times New Roman" pitchFamily="18" charset="0"/>
              </a:rPr>
              <a:t>event</a:t>
            </a:r>
            <a:r>
              <a:rPr lang="el-GR" sz="2800" kern="0" dirty="0">
                <a:solidFill>
                  <a:srgbClr val="000000"/>
                </a:solidFill>
                <a:latin typeface="Times New Roman" pitchFamily="18" charset="0"/>
              </a:rPr>
              <a:t> «παραγγελία έτοιμη».</a:t>
            </a:r>
            <a:endParaRPr lang="en-US" sz="2400" kern="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graphicFrame>
        <p:nvGraphicFramePr>
          <p:cNvPr id="14" name="Object 7">
            <a:extLst>
              <a:ext uri="{FF2B5EF4-FFF2-40B4-BE49-F238E27FC236}">
                <a16:creationId xmlns:a16="http://schemas.microsoft.com/office/drawing/2014/main" id="{F9EE9E32-A150-F709-B923-E3EAE47B7A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7230084"/>
              </p:ext>
            </p:extLst>
          </p:nvPr>
        </p:nvGraphicFramePr>
        <p:xfrm>
          <a:off x="403282" y="815973"/>
          <a:ext cx="5296901" cy="32532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5990476" imgH="3666667" progId="Paint.Picture">
                  <p:embed/>
                </p:oleObj>
              </mc:Choice>
              <mc:Fallback>
                <p:oleObj name="Bitmap Image" r:id="rId3" imgW="5990476" imgH="3666667" progId="Paint.Picture">
                  <p:embed/>
                  <p:pic>
                    <p:nvPicPr>
                      <p:cNvPr id="7" name="Object 7">
                        <a:extLst>
                          <a:ext uri="{FF2B5EF4-FFF2-40B4-BE49-F238E27FC236}">
                            <a16:creationId xmlns:a16="http://schemas.microsoft.com/office/drawing/2014/main" id="{A534EAA4-CBDF-4CB2-BD7F-256BAA24DFB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282" y="815973"/>
                        <a:ext cx="5296901" cy="325321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5">
            <a:extLst>
              <a:ext uri="{FF2B5EF4-FFF2-40B4-BE49-F238E27FC236}">
                <a16:creationId xmlns:a16="http://schemas.microsoft.com/office/drawing/2014/main" id="{FE45936F-C65C-53FE-45F3-26A9D79A79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3717" y="2843188"/>
            <a:ext cx="5577797" cy="1482135"/>
          </a:xfrm>
          <a:prstGeom prst="rect">
            <a:avLst/>
          </a:prstGeom>
          <a:solidFill>
            <a:srgbClr val="E8FE46">
              <a:alpha val="48000"/>
            </a:srgb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alt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6945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  <p:bldP spid="13" grpId="0" build="p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81001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>
                <a:solidFill>
                  <a:srgbClr val="F9853D"/>
                </a:solidFill>
                <a:latin typeface="Bahnschrift" panose="020B0502040204020203" pitchFamily="34" charset="0"/>
              </a:rPr>
              <a:t>Οργάνωση Διάλεξης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179824" y="6581001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Event Handling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8249AB5-3679-9512-97D2-71074F95D0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882" y="737724"/>
            <a:ext cx="9273564" cy="439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lang="el-GR" altLang="el-GR" kern="0" dirty="0">
                <a:solidFill>
                  <a:srgbClr val="000000"/>
                </a:solidFill>
                <a:latin typeface="Tahoma"/>
              </a:rPr>
              <a:t>Βασικές έννοιες</a:t>
            </a:r>
            <a:endParaRPr lang="en-GB" altLang="el-GR" kern="0" dirty="0">
              <a:solidFill>
                <a:srgbClr val="000000"/>
              </a:solidFill>
              <a:latin typeface="Tahoma"/>
            </a:endParaRPr>
          </a:p>
          <a:p>
            <a:pPr lvl="1" indent="-342900" eaLnBrk="1" hangingPunct="1">
              <a:buClr>
                <a:srgbClr val="3333CC"/>
              </a:buClr>
              <a:buSzPct val="60000"/>
              <a:defRPr/>
            </a:pPr>
            <a:r>
              <a:rPr lang="en-GB" altLang="el-GR" kern="0" dirty="0">
                <a:solidFill>
                  <a:srgbClr val="000000"/>
                </a:solidFill>
                <a:latin typeface="Tahoma"/>
              </a:rPr>
              <a:t>Delegation Event Model</a:t>
            </a:r>
          </a:p>
          <a:p>
            <a:pPr lvl="1" indent="-342900" eaLnBrk="1" hangingPunct="1">
              <a:buClr>
                <a:srgbClr val="3333CC"/>
              </a:buClr>
              <a:buSzPct val="60000"/>
              <a:defRPr/>
            </a:pPr>
            <a:r>
              <a:rPr kumimoji="0" lang="en-GB" alt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Event </a:t>
            </a:r>
            <a:r>
              <a:rPr lang="en-GB" altLang="el-GR" kern="0" dirty="0">
                <a:solidFill>
                  <a:srgbClr val="000000"/>
                </a:solidFill>
                <a:latin typeface="Tahoma"/>
              </a:rPr>
              <a:t>Handling </a:t>
            </a:r>
            <a:r>
              <a:rPr lang="el-GR" altLang="el-GR" kern="0" dirty="0">
                <a:solidFill>
                  <a:srgbClr val="000000"/>
                </a:solidFill>
                <a:latin typeface="Tahoma"/>
              </a:rPr>
              <a:t>στο </a:t>
            </a:r>
            <a:r>
              <a:rPr lang="en-GB" altLang="el-GR" kern="0" dirty="0">
                <a:solidFill>
                  <a:srgbClr val="000000"/>
                </a:solidFill>
                <a:latin typeface="Tahoma"/>
              </a:rPr>
              <a:t>Goody’s</a:t>
            </a:r>
            <a:endParaRPr kumimoji="0" lang="en-US" altLang="el-GR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Event Handling in Java Gui</a:t>
            </a:r>
          </a:p>
          <a:p>
            <a:pPr lvl="1" indent="-342900" eaLnBrk="1" hangingPunct="1">
              <a:buClr>
                <a:srgbClr val="3333CC"/>
              </a:buClr>
              <a:buSzPct val="60000"/>
              <a:defRPr/>
            </a:pPr>
            <a:r>
              <a:rPr lang="en-US" altLang="el-GR" kern="0" dirty="0">
                <a:solidFill>
                  <a:srgbClr val="000000"/>
                </a:solidFill>
                <a:latin typeface="Tahoma"/>
              </a:rPr>
              <a:t>ActionListener Interface</a:t>
            </a:r>
          </a:p>
          <a:p>
            <a:pPr lvl="1" indent="-342900" eaLnBrk="1" hangingPunct="1">
              <a:buClr>
                <a:srgbClr val="3333CC"/>
              </a:buClr>
              <a:buSzPct val="60000"/>
              <a:defRPr/>
            </a:pPr>
            <a:r>
              <a:rPr kumimoji="0" lang="en-GB" alt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Design For Flexibility and Maintainability</a:t>
            </a:r>
            <a:endParaRPr kumimoji="0" lang="en-US" altLang="el-GR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lang="en-GB" altLang="el-GR" kern="0" dirty="0" err="1">
                <a:solidFill>
                  <a:srgbClr val="000000"/>
                </a:solidFill>
                <a:latin typeface="Tahoma"/>
              </a:rPr>
              <a:t>WindowsApp</a:t>
            </a:r>
            <a:r>
              <a:rPr lang="en-GB" altLang="el-GR" kern="0" dirty="0">
                <a:solidFill>
                  <a:srgbClr val="000000"/>
                </a:solidFill>
                <a:latin typeface="Tahoma"/>
              </a:rPr>
              <a:t> </a:t>
            </a:r>
            <a:r>
              <a:rPr lang="el-GR" altLang="el-GR" kern="0" dirty="0">
                <a:solidFill>
                  <a:srgbClr val="000000"/>
                </a:solidFill>
                <a:latin typeface="Tahoma"/>
              </a:rPr>
              <a:t>με</a:t>
            </a:r>
            <a:r>
              <a:rPr lang="en-GB" altLang="el-GR" kern="0" dirty="0">
                <a:solidFill>
                  <a:srgbClr val="000000"/>
                </a:solidFill>
                <a:latin typeface="Tahoma"/>
              </a:rPr>
              <a:t> Graphics</a:t>
            </a:r>
            <a:endParaRPr kumimoji="0" lang="en-US" altLang="el-GR" sz="32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RpnCalculator</a:t>
            </a:r>
            <a:r>
              <a:rPr kumimoji="0" lang="en-US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kumimoji="0" lang="el-GR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εναλλακτικές υλοποιήσεις</a:t>
            </a:r>
            <a:endParaRPr kumimoji="0" lang="en-US" altLang="el-G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lvl="1" indent="-342900" eaLnBrk="1" hangingPunct="1">
              <a:buClr>
                <a:srgbClr val="3333CC"/>
              </a:buClr>
              <a:buSzPct val="60000"/>
              <a:defRPr/>
            </a:pPr>
            <a:r>
              <a:rPr lang="el-GR" altLang="el-GR" kern="0" dirty="0">
                <a:solidFill>
                  <a:srgbClr val="000000"/>
                </a:solidFill>
                <a:latin typeface="Tahoma"/>
              </a:rPr>
              <a:t>Εσωτερική (</a:t>
            </a:r>
            <a:r>
              <a:rPr lang="en-GB" altLang="el-GR" kern="0" dirty="0" err="1">
                <a:solidFill>
                  <a:srgbClr val="000000"/>
                </a:solidFill>
                <a:latin typeface="Tahoma"/>
              </a:rPr>
              <a:t>i</a:t>
            </a:r>
            <a:r>
              <a:rPr lang="en-US" altLang="el-GR" kern="0" dirty="0" err="1">
                <a:solidFill>
                  <a:srgbClr val="000000"/>
                </a:solidFill>
                <a:latin typeface="Tahoma"/>
              </a:rPr>
              <a:t>nner</a:t>
            </a:r>
            <a:r>
              <a:rPr lang="en-US" altLang="el-GR" kern="0" dirty="0">
                <a:solidFill>
                  <a:srgbClr val="000000"/>
                </a:solidFill>
                <a:latin typeface="Tahoma"/>
              </a:rPr>
              <a:t>) </a:t>
            </a:r>
            <a:r>
              <a:rPr lang="el-GR" altLang="el-GR" kern="0" dirty="0">
                <a:solidFill>
                  <a:srgbClr val="000000"/>
                </a:solidFill>
                <a:latin typeface="Tahoma"/>
              </a:rPr>
              <a:t>κλάση</a:t>
            </a:r>
            <a:endParaRPr lang="en-US" altLang="el-GR" kern="0" dirty="0">
              <a:solidFill>
                <a:srgbClr val="000000"/>
              </a:solidFill>
              <a:latin typeface="Tahoma"/>
            </a:endParaRPr>
          </a:p>
          <a:p>
            <a:pPr lvl="1" indent="-342900" eaLnBrk="1" hangingPunct="1">
              <a:buClr>
                <a:srgbClr val="3333CC"/>
              </a:buClr>
              <a:buSzPct val="60000"/>
              <a:defRPr/>
            </a:pPr>
            <a:r>
              <a:rPr lang="el-GR" altLang="el-GR" kern="0" dirty="0">
                <a:solidFill>
                  <a:srgbClr val="000000"/>
                </a:solidFill>
                <a:latin typeface="Tahoma"/>
              </a:rPr>
              <a:t>Ανώνυμη</a:t>
            </a:r>
            <a:r>
              <a:rPr kumimoji="0" lang="en-US" alt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(anonymous) </a:t>
            </a:r>
            <a:r>
              <a:rPr lang="el-GR" altLang="el-GR" kern="0" dirty="0">
                <a:solidFill>
                  <a:srgbClr val="000000"/>
                </a:solidFill>
                <a:latin typeface="Tahoma"/>
              </a:rPr>
              <a:t>κλάση</a:t>
            </a:r>
            <a:endParaRPr kumimoji="0" lang="en-US" altLang="el-GR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lvl="1" indent="-342900" eaLnBrk="1" hangingPunct="1">
              <a:buClr>
                <a:srgbClr val="3333CC"/>
              </a:buClr>
              <a:buSzPct val="60000"/>
              <a:defRPr/>
            </a:pPr>
            <a:r>
              <a:rPr lang="el-GR" altLang="el-GR" kern="0" dirty="0">
                <a:solidFill>
                  <a:srgbClr val="000000"/>
                </a:solidFill>
                <a:latin typeface="Tahoma"/>
              </a:rPr>
              <a:t>έκφραση</a:t>
            </a:r>
            <a:r>
              <a:rPr lang="en-US" altLang="el-GR" kern="0" dirty="0">
                <a:solidFill>
                  <a:srgbClr val="000000"/>
                </a:solidFill>
                <a:latin typeface="Tahoma"/>
              </a:rPr>
              <a:t> Lambda</a:t>
            </a:r>
            <a:r>
              <a:rPr lang="el-GR" altLang="el-GR" kern="0" dirty="0">
                <a:solidFill>
                  <a:srgbClr val="000000"/>
                </a:solidFill>
                <a:latin typeface="Tahoma"/>
              </a:rPr>
              <a:t> (</a:t>
            </a:r>
            <a:r>
              <a:rPr lang="en-GB" altLang="el-GR" kern="0" dirty="0">
                <a:solidFill>
                  <a:srgbClr val="000000"/>
                </a:solidFill>
                <a:latin typeface="Tahoma"/>
              </a:rPr>
              <a:t>lambda expression)</a:t>
            </a:r>
            <a:endParaRPr kumimoji="0" lang="en-US" altLang="el-GR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n-US" altLang="el-GR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n-US" altLang="el-G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n-US" altLang="el-G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n-US" altLang="el-G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n-GB" altLang="el-G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n-GB" altLang="el-G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7029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81001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Event Handling in Java (1/2)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179824" y="6581001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Event Handling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0EDA65F-125D-BBBB-FB1E-507180399E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95" y="908721"/>
            <a:ext cx="9468776" cy="2520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	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Στην τεκμηρίωση της κλάσης </a:t>
            </a:r>
            <a:r>
              <a:rPr kumimoji="0" lang="en-US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Button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αναφέρονται τα παρακάτω:</a:t>
            </a:r>
            <a:endParaRPr kumimoji="0" lang="en-US" altLang="el-GR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	Εάν μια εφαρμογή θέλει να εκτελέσει κάποιες ενέργειες όταν θα πατηθεί και αφεθεί ένα στιγμιότυπο της κλάσης 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Button</a:t>
            </a: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el-GR" altLang="el-GR" sz="2400" b="1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θα πρέπει </a:t>
            </a:r>
            <a:r>
              <a:rPr lang="en-GB" altLang="el-GR" sz="2400" b="1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:</a:t>
            </a:r>
          </a:p>
          <a:p>
            <a:pPr lvl="0" eaLnBrk="1" hangingPunct="1">
              <a:lnSpc>
                <a:spcPct val="80000"/>
              </a:lnSpc>
              <a:buClr>
                <a:srgbClr val="3333CC"/>
              </a:buClr>
              <a:buNone/>
            </a:pPr>
            <a:r>
              <a:rPr lang="en-GB" altLang="el-GR" sz="2400" b="1" kern="0" dirty="0">
                <a:solidFill>
                  <a:srgbClr val="990000"/>
                </a:solidFill>
                <a:latin typeface="Times New Roman" panose="02020603050405020304" pitchFamily="18" charset="0"/>
              </a:rPr>
              <a:t>	</a:t>
            </a:r>
            <a:r>
              <a:rPr lang="en-GB" altLang="el-GR" sz="2800" b="1" kern="0" dirty="0">
                <a:solidFill>
                  <a:srgbClr val="990000"/>
                </a:solidFill>
                <a:latin typeface="Times New Roman" panose="02020603050405020304" pitchFamily="18" charset="0"/>
              </a:rPr>
              <a:t>A) </a:t>
            </a:r>
            <a:r>
              <a:rPr lang="el-GR" altLang="el-GR" sz="2800" b="1" kern="0" dirty="0">
                <a:solidFill>
                  <a:srgbClr val="990000"/>
                </a:solidFill>
                <a:latin typeface="Times New Roman" panose="02020603050405020304" pitchFamily="18" charset="0"/>
              </a:rPr>
              <a:t>να ορίσει μια κλάση που θα κάνει </a:t>
            </a:r>
            <a:r>
              <a:rPr lang="en-US" altLang="el-GR" sz="2800" b="1" kern="0" dirty="0">
                <a:solidFill>
                  <a:srgbClr val="3333CC"/>
                </a:solidFill>
                <a:latin typeface="Times New Roman" panose="02020603050405020304" pitchFamily="18" charset="0"/>
              </a:rPr>
              <a:t>implements</a:t>
            </a:r>
            <a:r>
              <a:rPr lang="el-GR" altLang="el-GR" sz="2800" b="1" kern="0" dirty="0">
                <a:solidFill>
                  <a:srgbClr val="3333CC"/>
                </a:solidFill>
                <a:latin typeface="Times New Roman" panose="02020603050405020304" pitchFamily="18" charset="0"/>
              </a:rPr>
              <a:t> το </a:t>
            </a:r>
            <a:r>
              <a:rPr lang="en-US" altLang="el-GR" sz="2800" b="1" kern="0" dirty="0">
                <a:solidFill>
                  <a:srgbClr val="3333CC"/>
                </a:solidFill>
                <a:latin typeface="Times New Roman" panose="02020603050405020304" pitchFamily="18" charset="0"/>
              </a:rPr>
              <a:t>interface</a:t>
            </a:r>
            <a:r>
              <a:rPr lang="el-GR" altLang="el-GR" sz="2800" b="1" kern="0" dirty="0">
                <a:solidFill>
                  <a:srgbClr val="3333CC"/>
                </a:solidFill>
                <a:latin typeface="Times New Roman" panose="02020603050405020304" pitchFamily="18" charset="0"/>
              </a:rPr>
              <a:t> </a:t>
            </a:r>
            <a:r>
              <a:rPr lang="en-US" altLang="el-GR" sz="2800" b="1" kern="0" dirty="0">
                <a:solidFill>
                  <a:srgbClr val="3333CC"/>
                </a:solidFill>
                <a:latin typeface="Times New Roman" panose="02020603050405020304" pitchFamily="18" charset="0"/>
              </a:rPr>
              <a:t>ActionListener</a:t>
            </a:r>
            <a:endParaRPr lang="el-GR" altLang="el-GR" sz="2800" b="1" kern="0" dirty="0">
              <a:solidFill>
                <a:srgbClr val="3333CC"/>
              </a:solidFill>
              <a:latin typeface="Times New Roman" panose="02020603050405020304" pitchFamily="18" charset="0"/>
            </a:endParaRPr>
          </a:p>
          <a:p>
            <a:pPr lvl="0" eaLnBrk="1" hangingPunct="1">
              <a:lnSpc>
                <a:spcPct val="80000"/>
              </a:lnSpc>
              <a:buClr>
                <a:srgbClr val="3333CC"/>
              </a:buClr>
              <a:buNone/>
            </a:pPr>
            <a:endParaRPr lang="el-GR" altLang="el-GR" sz="2400" b="1" kern="0" dirty="0">
              <a:solidFill>
                <a:srgbClr val="3333CC"/>
              </a:solidFill>
              <a:latin typeface="Times New Roman" panose="02020603050405020304" pitchFamily="18" charset="0"/>
            </a:endParaRPr>
          </a:p>
          <a:p>
            <a:pPr lvl="0" eaLnBrk="1" hangingPunct="1">
              <a:lnSpc>
                <a:spcPct val="80000"/>
              </a:lnSpc>
              <a:buClr>
                <a:srgbClr val="3333CC"/>
              </a:buClr>
              <a:buNone/>
            </a:pPr>
            <a:r>
              <a:rPr lang="el-GR" altLang="el-GR" sz="2400" b="1" kern="0" dirty="0">
                <a:solidFill>
                  <a:srgbClr val="3333CC"/>
                </a:solidFill>
                <a:latin typeface="Times New Roman" panose="02020603050405020304" pitchFamily="18" charset="0"/>
              </a:rPr>
              <a:t>	</a:t>
            </a:r>
            <a:r>
              <a:rPr lang="en-GB" altLang="el-GR" sz="2400" b="1" kern="0" dirty="0">
                <a:solidFill>
                  <a:srgbClr val="002060"/>
                </a:solidFill>
                <a:latin typeface="Courier"/>
              </a:rPr>
              <a:t>class Button0Listener </a:t>
            </a:r>
            <a:r>
              <a:rPr lang="en-GB" altLang="el-GR" sz="2400" b="1" kern="0" dirty="0">
                <a:solidFill>
                  <a:srgbClr val="FF0000"/>
                </a:solidFill>
                <a:latin typeface="Courier"/>
              </a:rPr>
              <a:t>implements </a:t>
            </a:r>
            <a:r>
              <a:rPr lang="en-GB" altLang="el-GR" sz="2400" b="1" kern="0" dirty="0">
                <a:solidFill>
                  <a:srgbClr val="002060"/>
                </a:solidFill>
                <a:latin typeface="Courier"/>
              </a:rPr>
              <a:t>ActionListener{</a:t>
            </a:r>
            <a:endParaRPr lang="el-GR" altLang="el-GR" sz="2400" b="1" kern="0" dirty="0">
              <a:solidFill>
                <a:srgbClr val="002060"/>
              </a:solidFill>
              <a:latin typeface="Courier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787CB19-3116-2DC3-5A44-39FA65F3B4D4}"/>
              </a:ext>
            </a:extLst>
          </p:cNvPr>
          <p:cNvGrpSpPr/>
          <p:nvPr/>
        </p:nvGrpSpPr>
        <p:grpSpPr>
          <a:xfrm>
            <a:off x="4729727" y="4108274"/>
            <a:ext cx="4708577" cy="1223751"/>
            <a:chOff x="395536" y="2492896"/>
            <a:chExt cx="2448272" cy="1619522"/>
          </a:xfrm>
          <a:solidFill>
            <a:srgbClr val="00E4A8">
              <a:lumMod val="20000"/>
              <a:lumOff val="80000"/>
            </a:srgbClr>
          </a:solidFill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39D6F19-6E7F-B451-447F-4B9084535DFA}"/>
                </a:ext>
              </a:extLst>
            </p:cNvPr>
            <p:cNvSpPr/>
            <p:nvPr/>
          </p:nvSpPr>
          <p:spPr bwMode="auto">
            <a:xfrm>
              <a:off x="395536" y="2492896"/>
              <a:ext cx="2448272" cy="504056"/>
            </a:xfrm>
            <a:prstGeom prst="rect">
              <a:avLst/>
            </a:prstGeom>
            <a:grpFill/>
            <a:ln w="952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itchFamily="34" charset="0"/>
                </a:rPr>
                <a:t>ActionListener</a:t>
              </a:r>
              <a:endParaRPr kumimoji="0" 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E3E283E-B7A0-30A3-946A-D010BF44F621}"/>
                </a:ext>
              </a:extLst>
            </p:cNvPr>
            <p:cNvSpPr/>
            <p:nvPr/>
          </p:nvSpPr>
          <p:spPr bwMode="auto">
            <a:xfrm>
              <a:off x="395536" y="2996952"/>
              <a:ext cx="2448272" cy="1115466"/>
            </a:xfrm>
            <a:prstGeom prst="rect">
              <a:avLst/>
            </a:prstGeom>
            <a:grpFill/>
            <a:ln w="952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itchFamily="34" charset="0"/>
                </a:rPr>
                <a:t>actionPerformed</a:t>
              </a: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itchFamily="34" charset="0"/>
                </a:rPr>
                <a:t>(</a:t>
              </a:r>
              <a:r>
                <a:rPr kumimoji="0" lang="en-US" sz="20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itchFamily="34" charset="0"/>
                </a:rPr>
                <a:t>ActionEvent</a:t>
              </a: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itchFamily="34" charset="0"/>
                </a:rPr>
                <a:t> ae)</a:t>
              </a:r>
              <a:endParaRPr kumimoji="0" 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5CB1910-F2CD-F175-50CC-6AF7F8D24687}"/>
              </a:ext>
            </a:extLst>
          </p:cNvPr>
          <p:cNvGrpSpPr/>
          <p:nvPr/>
        </p:nvGrpSpPr>
        <p:grpSpPr>
          <a:xfrm>
            <a:off x="493440" y="5622682"/>
            <a:ext cx="2857101" cy="761994"/>
            <a:chOff x="395536" y="2492896"/>
            <a:chExt cx="2448272" cy="1008112"/>
          </a:xfrm>
          <a:solidFill>
            <a:srgbClr val="E8FE46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D9B4A7E-7559-419D-67F9-2499EAD8BC04}"/>
                </a:ext>
              </a:extLst>
            </p:cNvPr>
            <p:cNvSpPr/>
            <p:nvPr/>
          </p:nvSpPr>
          <p:spPr bwMode="auto">
            <a:xfrm>
              <a:off x="395536" y="2492896"/>
              <a:ext cx="2448272" cy="504056"/>
            </a:xfrm>
            <a:prstGeom prst="rect">
              <a:avLst/>
            </a:prstGeom>
            <a:grpFill/>
            <a:ln w="952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ahoma" pitchFamily="34" charset="0"/>
                </a:rPr>
                <a:t>Button0Listener</a:t>
              </a:r>
              <a:endParaRPr kumimoji="0" 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ED4F199-4739-0654-D010-DE5D739A04BE}"/>
                </a:ext>
              </a:extLst>
            </p:cNvPr>
            <p:cNvSpPr/>
            <p:nvPr/>
          </p:nvSpPr>
          <p:spPr bwMode="auto">
            <a:xfrm>
              <a:off x="395536" y="2996952"/>
              <a:ext cx="2448272" cy="504056"/>
            </a:xfrm>
            <a:prstGeom prst="rect">
              <a:avLst/>
            </a:prstGeom>
            <a:grpFill/>
            <a:ln w="952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</a:endParaRPr>
            </a:p>
          </p:txBody>
        </p:sp>
      </p:grp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6A646CC-BB86-9F38-B908-CDE2F7CCE085}"/>
              </a:ext>
            </a:extLst>
          </p:cNvPr>
          <p:cNvCxnSpPr>
            <a:stCxn id="13" idx="0"/>
            <a:endCxn id="9" idx="1"/>
          </p:cNvCxnSpPr>
          <p:nvPr/>
        </p:nvCxnSpPr>
        <p:spPr bwMode="auto">
          <a:xfrm flipV="1">
            <a:off x="1921991" y="4910588"/>
            <a:ext cx="2807736" cy="712094"/>
          </a:xfrm>
          <a:prstGeom prst="straightConnector1">
            <a:avLst/>
          </a:prstGeom>
          <a:solidFill>
            <a:srgbClr val="00E4A8"/>
          </a:solidFill>
          <a:ln w="28575" cap="flat" cmpd="sng" algn="ctr">
            <a:solidFill>
              <a:srgbClr val="000000"/>
            </a:solidFill>
            <a:prstDash val="dash"/>
            <a:miter lim="800000"/>
            <a:headEnd type="none" w="med" len="med"/>
            <a:tailEnd type="triangle"/>
          </a:ln>
          <a:effectLst/>
        </p:spPr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FBDD053-A0E2-A112-7335-83D237FF2F35}"/>
              </a:ext>
            </a:extLst>
          </p:cNvPr>
          <p:cNvSpPr txBox="1"/>
          <p:nvPr/>
        </p:nvSpPr>
        <p:spPr>
          <a:xfrm rot="20550581">
            <a:off x="2343200" y="4593191"/>
            <a:ext cx="17475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FF0000"/>
                </a:solidFill>
                <a:latin typeface="Tahoma" panose="020B0604030504040204" pitchFamily="34" charset="0"/>
              </a:rPr>
              <a:t>implements</a:t>
            </a:r>
            <a:endParaRPr lang="el-GR" sz="2000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graphicFrame>
        <p:nvGraphicFramePr>
          <p:cNvPr id="17" name="Object 10">
            <a:extLst>
              <a:ext uri="{FF2B5EF4-FFF2-40B4-BE49-F238E27FC236}">
                <a16:creationId xmlns:a16="http://schemas.microsoft.com/office/drawing/2014/main" id="{6406DA53-BD60-1BA4-44E1-395A43EB6A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696963"/>
              </p:ext>
            </p:extLst>
          </p:nvPr>
        </p:nvGraphicFramePr>
        <p:xfrm>
          <a:off x="9511553" y="719331"/>
          <a:ext cx="2680447" cy="27935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2715004" imgH="2828571" progId="Paint.Picture">
                  <p:embed/>
                </p:oleObj>
              </mc:Choice>
              <mc:Fallback>
                <p:oleObj name="Bitmap Image" r:id="rId3" imgW="2715004" imgH="2828571" progId="Paint.Picture">
                  <p:embed/>
                  <p:pic>
                    <p:nvPicPr>
                      <p:cNvPr id="17" name="Object 10">
                        <a:extLst>
                          <a:ext uri="{FF2B5EF4-FFF2-40B4-BE49-F238E27FC236}">
                            <a16:creationId xmlns:a16="http://schemas.microsoft.com/office/drawing/2014/main" id="{5BE0C477-BF86-8F8D-C22D-5688CCD54EB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11553" y="719331"/>
                        <a:ext cx="2680447" cy="279355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63807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81001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Event Handling in Java (2/2)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179824" y="6581001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Event Handling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D36CAC-432A-DBFB-A9FC-A9AFE0D7F2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821976"/>
            <a:ext cx="11689855" cy="5773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lnSpc>
                <a:spcPct val="80000"/>
              </a:lnSpc>
              <a:buClr>
                <a:srgbClr val="3333CC"/>
              </a:buClr>
              <a:buNone/>
            </a:pPr>
            <a:r>
              <a:rPr lang="el-GR" altLang="el-GR" sz="2400" b="1" kern="0" dirty="0">
                <a:solidFill>
                  <a:srgbClr val="990000"/>
                </a:solidFill>
                <a:latin typeface="Times New Roman" panose="02020603050405020304" pitchFamily="18" charset="0"/>
              </a:rPr>
              <a:t>Β</a:t>
            </a:r>
            <a:r>
              <a:rPr lang="el-GR" altLang="el-GR" sz="2800" b="1" kern="0" dirty="0">
                <a:solidFill>
                  <a:srgbClr val="990000"/>
                </a:solidFill>
                <a:latin typeface="Times New Roman" panose="02020603050405020304" pitchFamily="18" charset="0"/>
              </a:rPr>
              <a:t>) να δημιουργήσει ένα στιγμιότυπο της κλάσης αυτής 	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D56CE50-6892-6A52-B07C-FB10A0530C4D}"/>
              </a:ext>
            </a:extLst>
          </p:cNvPr>
          <p:cNvGrpSpPr/>
          <p:nvPr/>
        </p:nvGrpSpPr>
        <p:grpSpPr>
          <a:xfrm>
            <a:off x="825792" y="5072772"/>
            <a:ext cx="3170573" cy="761994"/>
            <a:chOff x="395536" y="2492896"/>
            <a:chExt cx="2448272" cy="1008112"/>
          </a:xfrm>
          <a:solidFill>
            <a:srgbClr val="E8FE46"/>
          </a:solidFill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0284A50-19F5-96E6-1FA5-E7DB65FAAF38}"/>
                </a:ext>
              </a:extLst>
            </p:cNvPr>
            <p:cNvSpPr/>
            <p:nvPr/>
          </p:nvSpPr>
          <p:spPr bwMode="auto">
            <a:xfrm>
              <a:off x="395536" y="2492896"/>
              <a:ext cx="2448272" cy="504056"/>
            </a:xfrm>
            <a:prstGeom prst="rect">
              <a:avLst/>
            </a:prstGeom>
            <a:grpFill/>
            <a:ln w="952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b0l:Button0Listener</a:t>
              </a:r>
              <a:endParaRPr kumimoji="0" 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D9D8E49-FB06-18F5-18A9-C9F9C0FE9729}"/>
                </a:ext>
              </a:extLst>
            </p:cNvPr>
            <p:cNvSpPr/>
            <p:nvPr/>
          </p:nvSpPr>
          <p:spPr bwMode="auto">
            <a:xfrm>
              <a:off x="395536" y="2996952"/>
              <a:ext cx="2448272" cy="504056"/>
            </a:xfrm>
            <a:prstGeom prst="rect">
              <a:avLst/>
            </a:prstGeom>
            <a:grpFill/>
            <a:ln w="952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6E96B76-6751-DC2F-B339-55B8BDDB6A9D}"/>
              </a:ext>
            </a:extLst>
          </p:cNvPr>
          <p:cNvGrpSpPr/>
          <p:nvPr/>
        </p:nvGrpSpPr>
        <p:grpSpPr>
          <a:xfrm>
            <a:off x="7214753" y="4630572"/>
            <a:ext cx="2448272" cy="1619522"/>
            <a:chOff x="395536" y="2492896"/>
            <a:chExt cx="2448272" cy="1619522"/>
          </a:xfrm>
          <a:solidFill>
            <a:srgbClr val="00E4A8">
              <a:lumMod val="20000"/>
              <a:lumOff val="80000"/>
            </a:srgbClr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A3C3192-62B1-D4DA-CA37-D197E76D3032}"/>
                </a:ext>
              </a:extLst>
            </p:cNvPr>
            <p:cNvSpPr/>
            <p:nvPr/>
          </p:nvSpPr>
          <p:spPr bwMode="auto">
            <a:xfrm>
              <a:off x="395536" y="2492896"/>
              <a:ext cx="2448272" cy="504056"/>
            </a:xfrm>
            <a:prstGeom prst="rect">
              <a:avLst/>
            </a:prstGeom>
            <a:grpFill/>
            <a:ln w="952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b0:Button</a:t>
              </a:r>
              <a:endPara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76ED75A-0ED9-0B12-9CB6-0FF5C3997F9E}"/>
                </a:ext>
              </a:extLst>
            </p:cNvPr>
            <p:cNvSpPr/>
            <p:nvPr/>
          </p:nvSpPr>
          <p:spPr bwMode="auto">
            <a:xfrm>
              <a:off x="395536" y="2996952"/>
              <a:ext cx="2448272" cy="1115466"/>
            </a:xfrm>
            <a:prstGeom prst="rect">
              <a:avLst/>
            </a:prstGeom>
            <a:grpFill/>
            <a:ln w="952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</a:endParaRPr>
            </a:p>
          </p:txBody>
        </p:sp>
      </p:grp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716F7AC-DB28-62F4-9C05-55374B47E670}"/>
              </a:ext>
            </a:extLst>
          </p:cNvPr>
          <p:cNvCxnSpPr/>
          <p:nvPr/>
        </p:nvCxnSpPr>
        <p:spPr bwMode="auto">
          <a:xfrm>
            <a:off x="4550457" y="5478475"/>
            <a:ext cx="2376264" cy="0"/>
          </a:xfrm>
          <a:prstGeom prst="straightConnector1">
            <a:avLst/>
          </a:prstGeom>
          <a:solidFill>
            <a:srgbClr val="00E4A8"/>
          </a:solidFill>
          <a:ln w="952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99197BC-AA00-F0A6-FBC4-5D940326CFEA}"/>
              </a:ext>
            </a:extLst>
          </p:cNvPr>
          <p:cNvSpPr txBox="1"/>
          <p:nvPr/>
        </p:nvSpPr>
        <p:spPr>
          <a:xfrm>
            <a:off x="4982505" y="5016810"/>
            <a:ext cx="13901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000000"/>
                </a:solidFill>
                <a:latin typeface="Tahoma" panose="020B0604030504040204" pitchFamily="34" charset="0"/>
              </a:rPr>
              <a:t>register</a:t>
            </a:r>
            <a:endParaRPr lang="el-GR" sz="2400" b="1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2D99BB-27F5-4CEF-C598-EF00FE1F01EE}"/>
              </a:ext>
            </a:extLst>
          </p:cNvPr>
          <p:cNvSpPr txBox="1"/>
          <p:nvPr/>
        </p:nvSpPr>
        <p:spPr>
          <a:xfrm>
            <a:off x="4334433" y="5622491"/>
            <a:ext cx="28803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</a:rPr>
              <a:t>addActionListener(b0l)</a:t>
            </a:r>
            <a:endParaRPr lang="el-GR" sz="200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BECF578D-1A2B-707B-483C-9DA5A83722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45" y="1446027"/>
            <a:ext cx="11689855" cy="16019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lnSpc>
                <a:spcPct val="80000"/>
              </a:lnSpc>
              <a:buClr>
                <a:srgbClr val="3333CC"/>
              </a:buClr>
              <a:buNone/>
            </a:pPr>
            <a:r>
              <a:rPr lang="el-GR" altLang="el-GR" sz="2400" b="1" kern="0" dirty="0">
                <a:solidFill>
                  <a:srgbClr val="990000"/>
                </a:solidFill>
                <a:latin typeface="Times New Roman" panose="02020603050405020304" pitchFamily="18" charset="0"/>
              </a:rPr>
              <a:t>Γ) </a:t>
            </a:r>
            <a:r>
              <a:rPr lang="el-GR" altLang="el-GR" sz="2800" b="1" kern="0" dirty="0">
                <a:solidFill>
                  <a:srgbClr val="990000"/>
                </a:solidFill>
                <a:latin typeface="Times New Roman" panose="02020603050405020304" pitchFamily="18" charset="0"/>
              </a:rPr>
              <a:t>να κάνει </a:t>
            </a:r>
            <a:r>
              <a:rPr lang="en-US" altLang="el-GR" sz="2800" b="1" kern="0" dirty="0">
                <a:solidFill>
                  <a:srgbClr val="333399"/>
                </a:solidFill>
                <a:latin typeface="Times New Roman" panose="02020603050405020304" pitchFamily="18" charset="0"/>
              </a:rPr>
              <a:t>register</a:t>
            </a:r>
            <a:r>
              <a:rPr lang="el-GR" altLang="el-GR" sz="2800" b="1" kern="0" dirty="0">
                <a:solidFill>
                  <a:srgbClr val="990000"/>
                </a:solidFill>
                <a:latin typeface="Times New Roman" panose="02020603050405020304" pitchFamily="18" charset="0"/>
              </a:rPr>
              <a:t> το στιγμιότυπο της </a:t>
            </a:r>
            <a:r>
              <a:rPr lang="en-GB" altLang="el-GR" sz="2800" b="1" kern="0" dirty="0">
                <a:solidFill>
                  <a:srgbClr val="990000"/>
                </a:solidFill>
                <a:latin typeface="Times New Roman" panose="02020603050405020304" pitchFamily="18" charset="0"/>
              </a:rPr>
              <a:t>Button0Listener </a:t>
            </a:r>
            <a:r>
              <a:rPr lang="el-GR" altLang="el-GR" sz="2800" b="1" kern="0" dirty="0">
                <a:solidFill>
                  <a:srgbClr val="990000"/>
                </a:solidFill>
                <a:latin typeface="Times New Roman" panose="02020603050405020304" pitchFamily="18" charset="0"/>
              </a:rPr>
              <a:t>στο στιγμιότυπο της </a:t>
            </a:r>
            <a:r>
              <a:rPr lang="en-US" altLang="el-GR" sz="2800" b="1" kern="0" dirty="0">
                <a:solidFill>
                  <a:srgbClr val="990000"/>
                </a:solidFill>
                <a:latin typeface="Times New Roman" panose="02020603050405020304" pitchFamily="18" charset="0"/>
              </a:rPr>
              <a:t>Button. </a:t>
            </a:r>
            <a:r>
              <a:rPr lang="el-GR" altLang="el-GR" sz="2800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Να ενημερώσει δηλαδή το στιγμιότυπο της  </a:t>
            </a:r>
            <a:r>
              <a:rPr lang="en-US" altLang="el-GR" sz="2800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Button</a:t>
            </a:r>
            <a:r>
              <a:rPr lang="el-GR" altLang="el-GR" sz="2800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για το στιγμιότυπο </a:t>
            </a:r>
            <a:r>
              <a:rPr lang="el-GR" altLang="el-GR" sz="2800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της </a:t>
            </a:r>
            <a:r>
              <a:rPr lang="en-GB" altLang="el-GR" sz="2800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Button0Listener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. 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	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Αυτό γίνεται με την μέθοδο </a:t>
            </a:r>
            <a:r>
              <a:rPr kumimoji="0" lang="en-US" altLang="el-GR" sz="2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addActionListener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της </a:t>
            </a:r>
            <a:r>
              <a:rPr kumimoji="0" lang="en-US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Button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. </a:t>
            </a:r>
            <a:endParaRPr kumimoji="0" lang="en-GB" altLang="el-GR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EF375C78-3865-BC08-9FF0-8B9B14AB9F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45" y="3045252"/>
            <a:ext cx="11689855" cy="1214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 pitchFamily="49" charset="0"/>
                <a:ea typeface="+mn-ea"/>
                <a:cs typeface="+mn-cs"/>
              </a:rPr>
              <a:t>	</a:t>
            </a:r>
            <a:r>
              <a:rPr kumimoji="0" lang="en-GB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 pitchFamily="49" charset="0"/>
                <a:ea typeface="+mn-ea"/>
                <a:cs typeface="+mn-cs"/>
              </a:rPr>
              <a:t>public void </a:t>
            </a:r>
            <a:r>
              <a:rPr kumimoji="0" lang="en-GB" altLang="el-GR" sz="2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 pitchFamily="49" charset="0"/>
                <a:ea typeface="+mn-ea"/>
                <a:cs typeface="+mn-cs"/>
              </a:rPr>
              <a:t>addActionListener</a:t>
            </a:r>
            <a:r>
              <a:rPr kumimoji="0" lang="en-GB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 pitchFamily="49" charset="0"/>
                <a:ea typeface="+mn-ea"/>
                <a:cs typeface="+mn-cs"/>
              </a:rPr>
              <a:t>(</a:t>
            </a:r>
            <a:r>
              <a:rPr kumimoji="0" lang="en-GB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 pitchFamily="49" charset="0"/>
                <a:ea typeface="+mn-ea"/>
                <a:cs typeface="+mn-cs"/>
                <a:hlinkClick r:id="rId3" action="ppaction://hlinkfile"/>
              </a:rPr>
              <a:t>ActionListener</a:t>
            </a:r>
            <a:r>
              <a:rPr kumimoji="0" lang="en-GB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 pitchFamily="49" charset="0"/>
                <a:ea typeface="+mn-ea"/>
                <a:cs typeface="+mn-cs"/>
              </a:rPr>
              <a:t> l)</a:t>
            </a:r>
            <a:endParaRPr kumimoji="0" lang="el-GR" altLang="el-GR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" pitchFamily="49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	</a:t>
            </a:r>
            <a:endParaRPr kumimoji="0" lang="en-GB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lang="en-GB" altLang="el-GR" sz="2400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	</a:t>
            </a:r>
            <a:r>
              <a:rPr kumimoji="0" lang="el-GR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Η μέθοδος</a:t>
            </a:r>
            <a:r>
              <a:rPr kumimoji="0" lang="en-GB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«Adds the specified action listener to receive action events from this button. Action events occur when a user presses or releases the mouse over this button. If l is null, no exception is thrown and no action is performed.» </a:t>
            </a:r>
            <a:endParaRPr kumimoji="0" lang="en-US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6577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  <p:bldP spid="16" grpId="0"/>
      <p:bldP spid="17" grpId="0"/>
      <p:bldP spid="18" grpId="0" build="p" bldLvl="2"/>
      <p:bldP spid="19" grpId="0" build="p" bldLvl="2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81001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Button0 Event Handling key constructs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179824" y="6581001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Event Handling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B1559B1-CB89-134F-8FB3-4EFEBC7D8C87}"/>
              </a:ext>
            </a:extLst>
          </p:cNvPr>
          <p:cNvGrpSpPr/>
          <p:nvPr/>
        </p:nvGrpSpPr>
        <p:grpSpPr>
          <a:xfrm>
            <a:off x="196082" y="4960669"/>
            <a:ext cx="2965994" cy="1476412"/>
            <a:chOff x="395536" y="2492896"/>
            <a:chExt cx="2448272" cy="1619522"/>
          </a:xfrm>
          <a:solidFill>
            <a:srgbClr val="00E4A8">
              <a:lumMod val="20000"/>
              <a:lumOff val="80000"/>
            </a:srgbClr>
          </a:solidFill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9529349-616D-668E-9C88-CFB7C6C8D0D2}"/>
                </a:ext>
              </a:extLst>
            </p:cNvPr>
            <p:cNvSpPr/>
            <p:nvPr/>
          </p:nvSpPr>
          <p:spPr bwMode="auto">
            <a:xfrm>
              <a:off x="395536" y="2492896"/>
              <a:ext cx="2448272" cy="504056"/>
            </a:xfrm>
            <a:prstGeom prst="rect">
              <a:avLst/>
            </a:prstGeom>
            <a:grpFill/>
            <a:ln w="952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b0:Button</a:t>
              </a:r>
              <a:endPara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5A4B5CC-D3B5-0807-9007-43BE21AD43CF}"/>
                </a:ext>
              </a:extLst>
            </p:cNvPr>
            <p:cNvSpPr/>
            <p:nvPr/>
          </p:nvSpPr>
          <p:spPr bwMode="auto">
            <a:xfrm>
              <a:off x="395536" y="2996952"/>
              <a:ext cx="2448272" cy="1115466"/>
            </a:xfrm>
            <a:prstGeom prst="rect">
              <a:avLst/>
            </a:prstGeom>
            <a:grpFill/>
            <a:ln w="952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8AD409F-C121-0F9E-6A31-B4242FEBA773}"/>
              </a:ext>
            </a:extLst>
          </p:cNvPr>
          <p:cNvGrpSpPr/>
          <p:nvPr/>
        </p:nvGrpSpPr>
        <p:grpSpPr>
          <a:xfrm>
            <a:off x="6026984" y="1496391"/>
            <a:ext cx="5250616" cy="1216177"/>
            <a:chOff x="395536" y="2492896"/>
            <a:chExt cx="2448272" cy="1619522"/>
          </a:xfrm>
          <a:solidFill>
            <a:srgbClr val="00E4A8">
              <a:lumMod val="20000"/>
              <a:lumOff val="80000"/>
            </a:srgbClr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F6B4492-B38E-05F3-083C-5B2B75D64EE7}"/>
                </a:ext>
              </a:extLst>
            </p:cNvPr>
            <p:cNvSpPr/>
            <p:nvPr/>
          </p:nvSpPr>
          <p:spPr bwMode="auto">
            <a:xfrm>
              <a:off x="395536" y="2492896"/>
              <a:ext cx="2448272" cy="504056"/>
            </a:xfrm>
            <a:prstGeom prst="rect">
              <a:avLst/>
            </a:prstGeom>
            <a:grpFill/>
            <a:ln w="952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itchFamily="34" charset="0"/>
                </a:rPr>
                <a:t>ActionListener</a:t>
              </a:r>
              <a:endParaRPr kumimoji="0" 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3A23822-6BF8-1D60-FB76-3288E793BAD7}"/>
                </a:ext>
              </a:extLst>
            </p:cNvPr>
            <p:cNvSpPr/>
            <p:nvPr/>
          </p:nvSpPr>
          <p:spPr bwMode="auto">
            <a:xfrm>
              <a:off x="395536" y="2996952"/>
              <a:ext cx="2448272" cy="1115466"/>
            </a:xfrm>
            <a:prstGeom prst="rect">
              <a:avLst/>
            </a:prstGeom>
            <a:grpFill/>
            <a:ln w="952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itchFamily="34" charset="0"/>
                </a:rPr>
                <a:t>actionPerformed</a:t>
              </a: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itchFamily="34" charset="0"/>
                </a:rPr>
                <a:t>(</a:t>
              </a:r>
              <a:r>
                <a:rPr kumimoji="0" lang="en-US" sz="20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itchFamily="34" charset="0"/>
                </a:rPr>
                <a:t>ActionEvent</a:t>
              </a: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itchFamily="34" charset="0"/>
                </a:rPr>
                <a:t> ae)</a:t>
              </a:r>
              <a:endParaRPr kumimoji="0" 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2499453-3870-2B40-BE0B-521E357FDB87}"/>
              </a:ext>
            </a:extLst>
          </p:cNvPr>
          <p:cNvGrpSpPr/>
          <p:nvPr/>
        </p:nvGrpSpPr>
        <p:grpSpPr>
          <a:xfrm>
            <a:off x="1226274" y="3128412"/>
            <a:ext cx="2664296" cy="761993"/>
            <a:chOff x="-1060888" y="2651971"/>
            <a:chExt cx="2448272" cy="1008111"/>
          </a:xfrm>
          <a:solidFill>
            <a:srgbClr val="E8FE46"/>
          </a:solidFill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29BEC35-F04C-379E-77D1-1FDB8CC80B00}"/>
                </a:ext>
              </a:extLst>
            </p:cNvPr>
            <p:cNvSpPr/>
            <p:nvPr/>
          </p:nvSpPr>
          <p:spPr bwMode="auto">
            <a:xfrm>
              <a:off x="-1060888" y="2651971"/>
              <a:ext cx="2448272" cy="504056"/>
            </a:xfrm>
            <a:prstGeom prst="rect">
              <a:avLst/>
            </a:prstGeom>
            <a:grpFill/>
            <a:ln w="952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ahoma" pitchFamily="34" charset="0"/>
                </a:rPr>
                <a:t>Button0Listener</a:t>
              </a:r>
              <a:endParaRPr kumimoji="0" 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 pitchFamily="34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BBF41D5-DE47-6C8A-4B63-61F18F6A97C5}"/>
                </a:ext>
              </a:extLst>
            </p:cNvPr>
            <p:cNvSpPr/>
            <p:nvPr/>
          </p:nvSpPr>
          <p:spPr bwMode="auto">
            <a:xfrm>
              <a:off x="-1060888" y="3156026"/>
              <a:ext cx="2448272" cy="504056"/>
            </a:xfrm>
            <a:prstGeom prst="rect">
              <a:avLst/>
            </a:prstGeom>
            <a:grpFill/>
            <a:ln w="952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itchFamily="34" charset="0"/>
                </a:rPr>
                <a:t>Operand op;</a:t>
              </a:r>
              <a:endParaRPr kumimoji="0" 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D403686-11CC-AB2F-BF4A-5737E92EA26F}"/>
              </a:ext>
            </a:extLst>
          </p:cNvPr>
          <p:cNvGrpSpPr/>
          <p:nvPr/>
        </p:nvGrpSpPr>
        <p:grpSpPr>
          <a:xfrm>
            <a:off x="8869724" y="4886798"/>
            <a:ext cx="3126194" cy="1577179"/>
            <a:chOff x="395536" y="2489673"/>
            <a:chExt cx="2448272" cy="1171764"/>
          </a:xfrm>
          <a:solidFill>
            <a:srgbClr val="C4F5FA"/>
          </a:solidFill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0AADD7C-0993-74DE-E703-8F9C33A20B17}"/>
                </a:ext>
              </a:extLst>
            </p:cNvPr>
            <p:cNvSpPr/>
            <p:nvPr/>
          </p:nvSpPr>
          <p:spPr bwMode="auto">
            <a:xfrm>
              <a:off x="395536" y="2489673"/>
              <a:ext cx="2448272" cy="504056"/>
            </a:xfrm>
            <a:prstGeom prst="rect">
              <a:avLst/>
            </a:prstGeom>
            <a:grpFill/>
            <a:ln w="952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itchFamily="34" charset="0"/>
                </a:rPr>
                <a:t>Operand</a:t>
              </a:r>
              <a:endPara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4745E71-A29B-86FF-A0F4-53A9332F5A7F}"/>
                </a:ext>
              </a:extLst>
            </p:cNvPr>
            <p:cNvSpPr/>
            <p:nvPr/>
          </p:nvSpPr>
          <p:spPr bwMode="auto">
            <a:xfrm>
              <a:off x="395536" y="2996953"/>
              <a:ext cx="2448272" cy="664484"/>
            </a:xfrm>
            <a:prstGeom prst="rect">
              <a:avLst/>
            </a:prstGeom>
            <a:grpFill/>
            <a:ln w="952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itchFamily="34" charset="0"/>
                </a:rPr>
                <a:t>addDigit(Char digit)</a:t>
              </a:r>
              <a:endParaRPr kumimoji="0" 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</a:endParaRPr>
            </a:p>
          </p:txBody>
        </p:sp>
      </p:grp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95FEE6E-4463-2FA4-746E-B17C6ADC684E}"/>
              </a:ext>
            </a:extLst>
          </p:cNvPr>
          <p:cNvCxnSpPr>
            <a:stCxn id="16" idx="0"/>
            <a:endCxn id="14" idx="1"/>
          </p:cNvCxnSpPr>
          <p:nvPr/>
        </p:nvCxnSpPr>
        <p:spPr bwMode="auto">
          <a:xfrm flipV="1">
            <a:off x="2558422" y="2293740"/>
            <a:ext cx="3468562" cy="834672"/>
          </a:xfrm>
          <a:prstGeom prst="straightConnector1">
            <a:avLst/>
          </a:prstGeom>
          <a:solidFill>
            <a:srgbClr val="00E4A8"/>
          </a:solidFill>
          <a:ln w="28575" cap="flat" cmpd="sng" algn="ctr">
            <a:solidFill>
              <a:srgbClr val="000000"/>
            </a:solidFill>
            <a:prstDash val="dash"/>
            <a:miter lim="800000"/>
            <a:headEnd type="none" w="med" len="med"/>
            <a:tailEnd type="triangle"/>
          </a:ln>
          <a:effectLst/>
        </p:spPr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5E47C7D-CF2C-1352-0AEB-1AF43A24F8FF}"/>
              </a:ext>
            </a:extLst>
          </p:cNvPr>
          <p:cNvSpPr txBox="1"/>
          <p:nvPr/>
        </p:nvSpPr>
        <p:spPr>
          <a:xfrm rot="20575480">
            <a:off x="2886128" y="2149940"/>
            <a:ext cx="20088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FF0000"/>
                </a:solidFill>
                <a:latin typeface="Tahoma" panose="020B0604030504040204" pitchFamily="34" charset="0"/>
              </a:rPr>
              <a:t>implements</a:t>
            </a:r>
            <a:endParaRPr lang="el-GR" sz="2800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6501325-450E-EF26-898E-5F1148862EEB}"/>
              </a:ext>
            </a:extLst>
          </p:cNvPr>
          <p:cNvSpPr txBox="1"/>
          <p:nvPr/>
        </p:nvSpPr>
        <p:spPr>
          <a:xfrm rot="20860572">
            <a:off x="4563709" y="4951856"/>
            <a:ext cx="17748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800" b="1" dirty="0">
                <a:solidFill>
                  <a:srgbClr val="000000"/>
                </a:solidFill>
                <a:latin typeface="Tahoma" panose="020B0604030504040204" pitchFamily="34" charset="0"/>
              </a:rPr>
              <a:t>registers</a:t>
            </a:r>
            <a:endParaRPr lang="el-GR" sz="2800" b="1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0A4D8BD-44C3-F09F-3E0F-EE141328F038}"/>
              </a:ext>
            </a:extLst>
          </p:cNvPr>
          <p:cNvSpPr txBox="1"/>
          <p:nvPr/>
        </p:nvSpPr>
        <p:spPr>
          <a:xfrm rot="20549925">
            <a:off x="3418364" y="4284250"/>
            <a:ext cx="35538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C00000"/>
                </a:solidFill>
                <a:latin typeface="Tahoma" pitchFamily="34" charset="0"/>
              </a:rPr>
              <a:t>addActionListener(b0l)</a:t>
            </a:r>
            <a:endParaRPr lang="el-GR" sz="2400" dirty="0">
              <a:solidFill>
                <a:srgbClr val="C00000"/>
              </a:solidFill>
              <a:latin typeface="Tahoma" panose="020B0604030504040204" pitchFamily="34" charset="0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77FA350-513F-20EE-F94A-2B68A77F9AE7}"/>
              </a:ext>
            </a:extLst>
          </p:cNvPr>
          <p:cNvCxnSpPr>
            <a:cxnSpLocks/>
          </p:cNvCxnSpPr>
          <p:nvPr/>
        </p:nvCxnSpPr>
        <p:spPr bwMode="auto">
          <a:xfrm flipH="1">
            <a:off x="3179824" y="4267971"/>
            <a:ext cx="3779510" cy="1244962"/>
          </a:xfrm>
          <a:prstGeom prst="straightConnector1">
            <a:avLst/>
          </a:prstGeom>
          <a:solidFill>
            <a:srgbClr val="00E4A8"/>
          </a:solidFill>
          <a:ln w="5715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55E3DC8E-B494-8359-AE82-87AB7AA2B28A}"/>
              </a:ext>
            </a:extLst>
          </p:cNvPr>
          <p:cNvSpPr txBox="1"/>
          <p:nvPr/>
        </p:nvSpPr>
        <p:spPr>
          <a:xfrm>
            <a:off x="777923" y="2595259"/>
            <a:ext cx="7429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3200" b="1" dirty="0"/>
              <a:t>Α)</a:t>
            </a:r>
            <a:endParaRPr lang="en-GB" sz="32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29E5EC0-C9B6-86F0-88FD-3ADD399950AF}"/>
              </a:ext>
            </a:extLst>
          </p:cNvPr>
          <p:cNvSpPr txBox="1"/>
          <p:nvPr/>
        </p:nvSpPr>
        <p:spPr>
          <a:xfrm>
            <a:off x="7273973" y="3241945"/>
            <a:ext cx="7429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3200" b="1" dirty="0"/>
              <a:t>Β)</a:t>
            </a:r>
            <a:endParaRPr lang="en-GB" sz="32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831AE9D-AB2D-44C1-1D5F-E164804BFB10}"/>
              </a:ext>
            </a:extLst>
          </p:cNvPr>
          <p:cNvSpPr txBox="1"/>
          <p:nvPr/>
        </p:nvSpPr>
        <p:spPr>
          <a:xfrm>
            <a:off x="4734570" y="3815483"/>
            <a:ext cx="7429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3200" b="1" dirty="0"/>
              <a:t>Γ)</a:t>
            </a:r>
            <a:endParaRPr lang="en-GB" sz="3200" b="1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F9E0E20-0007-5C2C-4351-65BFF61F0D20}"/>
              </a:ext>
            </a:extLst>
          </p:cNvPr>
          <p:cNvGrpSpPr/>
          <p:nvPr/>
        </p:nvGrpSpPr>
        <p:grpSpPr>
          <a:xfrm>
            <a:off x="7795153" y="3434486"/>
            <a:ext cx="3170573" cy="761994"/>
            <a:chOff x="395536" y="2492896"/>
            <a:chExt cx="2448272" cy="1008112"/>
          </a:xfrm>
          <a:solidFill>
            <a:srgbClr val="E8FE46"/>
          </a:solidFill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665A93C4-DF3A-5E55-DB89-E30586838054}"/>
                </a:ext>
              </a:extLst>
            </p:cNvPr>
            <p:cNvSpPr/>
            <p:nvPr/>
          </p:nvSpPr>
          <p:spPr bwMode="auto">
            <a:xfrm>
              <a:off x="395536" y="2492896"/>
              <a:ext cx="2448272" cy="504056"/>
            </a:xfrm>
            <a:prstGeom prst="rect">
              <a:avLst/>
            </a:prstGeom>
            <a:grpFill/>
            <a:ln w="952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b0l:Button0Listener</a:t>
              </a:r>
              <a:endParaRPr kumimoji="0" 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 pitchFamily="34" charset="0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694F2A4B-3DC1-4C34-1972-15404050BF84}"/>
                </a:ext>
              </a:extLst>
            </p:cNvPr>
            <p:cNvSpPr/>
            <p:nvPr/>
          </p:nvSpPr>
          <p:spPr bwMode="auto">
            <a:xfrm>
              <a:off x="395536" y="2996952"/>
              <a:ext cx="2448272" cy="504056"/>
            </a:xfrm>
            <a:prstGeom prst="rect">
              <a:avLst/>
            </a:prstGeom>
            <a:grpFill/>
            <a:ln w="952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51788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81001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Button0 pressed - Event Handling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179824" y="6581001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Event Handling</a:t>
            </a:r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4D638709-7EF1-911D-1E4A-8476F8C238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1053" y="740423"/>
            <a:ext cx="7060947" cy="1550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7F6BA5F8-2DC4-B448-1545-F7DFB2C2A3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" y="4057036"/>
            <a:ext cx="10164871" cy="1081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defRPr/>
            </a:pPr>
            <a:r>
              <a:rPr lang="en-US" sz="2400" b="1" kern="0" dirty="0">
                <a:solidFill>
                  <a:srgbClr val="990000"/>
                </a:solidFill>
                <a:latin typeface="Times New Roman" pitchFamily="18" charset="0"/>
              </a:rPr>
              <a:t>2. </a:t>
            </a:r>
            <a:r>
              <a:rPr lang="el-GR" sz="2400" b="1" kern="0" dirty="0">
                <a:solidFill>
                  <a:srgbClr val="990000"/>
                </a:solidFill>
                <a:latin typeface="Times New Roman" pitchFamily="18" charset="0"/>
              </a:rPr>
              <a:t>Δημιουργούμε ένα στιγμιότυπο της κλάσης </a:t>
            </a:r>
            <a:r>
              <a:rPr lang="en-GB" sz="2400" b="1" kern="0" dirty="0">
                <a:solidFill>
                  <a:srgbClr val="990000"/>
                </a:solidFill>
                <a:latin typeface="Times New Roman" pitchFamily="18" charset="0"/>
              </a:rPr>
              <a:t>Button</a:t>
            </a:r>
            <a:r>
              <a:rPr lang="el-GR" sz="2400" b="1" kern="0" dirty="0">
                <a:solidFill>
                  <a:srgbClr val="990000"/>
                </a:solidFill>
                <a:latin typeface="Times New Roman" pitchFamily="18" charset="0"/>
              </a:rPr>
              <a:t>0</a:t>
            </a:r>
            <a:r>
              <a:rPr lang="en-GB" sz="2400" b="1" kern="0" dirty="0">
                <a:solidFill>
                  <a:srgbClr val="990000"/>
                </a:solidFill>
                <a:latin typeface="Times New Roman" pitchFamily="18" charset="0"/>
              </a:rPr>
              <a:t>Handler</a:t>
            </a: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defRPr/>
            </a:pPr>
            <a:endParaRPr lang="en-US" sz="2400" b="1" kern="0" dirty="0">
              <a:solidFill>
                <a:srgbClr val="990000"/>
              </a:solidFill>
              <a:latin typeface="Times New Roman" pitchFamily="18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6E60BDF2-610C-91E9-441B-4134FA5AC8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814560"/>
            <a:ext cx="10164871" cy="1368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defRPr/>
            </a:pPr>
            <a:r>
              <a:rPr lang="el-GR" sz="2400" b="1" kern="0" dirty="0">
                <a:solidFill>
                  <a:srgbClr val="990000"/>
                </a:solidFill>
                <a:latin typeface="Times New Roman" pitchFamily="18" charset="0"/>
              </a:rPr>
              <a:t>3. Το κάνουμε </a:t>
            </a:r>
            <a:r>
              <a:rPr lang="en-US" sz="2400" b="1" kern="0" dirty="0">
                <a:solidFill>
                  <a:srgbClr val="990000"/>
                </a:solidFill>
                <a:latin typeface="Times New Roman" pitchFamily="18" charset="0"/>
              </a:rPr>
              <a:t>register</a:t>
            </a:r>
            <a:r>
              <a:rPr lang="el-GR" sz="2400" b="1" kern="0" dirty="0">
                <a:solidFill>
                  <a:srgbClr val="990000"/>
                </a:solidFill>
                <a:latin typeface="Times New Roman" pitchFamily="18" charset="0"/>
              </a:rPr>
              <a:t> στο πλήκτρο 0 χρησιμοποιώντας την μέθοδο </a:t>
            </a:r>
            <a:r>
              <a:rPr lang="en-US" sz="2400" b="1" kern="0" dirty="0">
                <a:solidFill>
                  <a:srgbClr val="990000"/>
                </a:solidFill>
                <a:latin typeface="Times New Roman" pitchFamily="18" charset="0"/>
              </a:rPr>
              <a:t>addActionListener</a:t>
            </a:r>
            <a:r>
              <a:rPr lang="el-GR" sz="2400" b="1" kern="0" dirty="0">
                <a:solidFill>
                  <a:srgbClr val="990000"/>
                </a:solidFill>
                <a:latin typeface="Times New Roman" pitchFamily="18" charset="0"/>
              </a:rPr>
              <a:t> της </a:t>
            </a:r>
            <a:r>
              <a:rPr lang="en-US" sz="2400" b="1" kern="0" dirty="0">
                <a:solidFill>
                  <a:srgbClr val="990000"/>
                </a:solidFill>
                <a:latin typeface="Times New Roman" pitchFamily="18" charset="0"/>
              </a:rPr>
              <a:t>Button</a:t>
            </a:r>
            <a:r>
              <a:rPr lang="el-GR" sz="2400" b="1" kern="0" dirty="0">
                <a:solidFill>
                  <a:srgbClr val="990000"/>
                </a:solidFill>
                <a:latin typeface="Times New Roman" pitchFamily="18" charset="0"/>
              </a:rPr>
              <a:t>.</a:t>
            </a:r>
            <a:endParaRPr lang="en-GB" sz="2400" b="1" kern="0" dirty="0">
              <a:solidFill>
                <a:srgbClr val="990000"/>
              </a:solidFill>
              <a:latin typeface="Times New Roman" pitchFamily="18" charset="0"/>
            </a:endParaRP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defRPr/>
            </a:pPr>
            <a:r>
              <a:rPr lang="en-GB" sz="2400" kern="0" dirty="0">
                <a:solidFill>
                  <a:srgbClr val="000000"/>
                </a:solidFill>
                <a:latin typeface="Times New Roman" pitchFamily="18" charset="0"/>
              </a:rPr>
              <a:t>	</a:t>
            </a: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defRPr/>
            </a:pPr>
            <a:r>
              <a:rPr lang="en-GB" sz="2400" kern="0" dirty="0">
                <a:solidFill>
                  <a:srgbClr val="000000"/>
                </a:solidFill>
                <a:latin typeface="Times New Roman" pitchFamily="18" charset="0"/>
              </a:rPr>
              <a:t>	</a:t>
            </a:r>
            <a:r>
              <a:rPr lang="en-GB" sz="2400" kern="0" dirty="0">
                <a:solidFill>
                  <a:srgbClr val="000000"/>
                </a:solidFill>
                <a:latin typeface="Courier" pitchFamily="49" charset="0"/>
              </a:rPr>
              <a:t>button0.</a:t>
            </a:r>
            <a:r>
              <a:rPr lang="en-GB" sz="2400" b="1" kern="0" dirty="0">
                <a:solidFill>
                  <a:srgbClr val="000000"/>
                </a:solidFill>
                <a:latin typeface="Courier" pitchFamily="49" charset="0"/>
              </a:rPr>
              <a:t>addActionListener</a:t>
            </a:r>
            <a:r>
              <a:rPr lang="en-GB" sz="2400" kern="0" dirty="0">
                <a:solidFill>
                  <a:srgbClr val="000000"/>
                </a:solidFill>
                <a:latin typeface="Courier" pitchFamily="49" charset="0"/>
              </a:rPr>
              <a:t>(new Button0Handler());</a:t>
            </a:r>
            <a:endParaRPr lang="en-US" sz="2400" kern="0" dirty="0">
              <a:solidFill>
                <a:srgbClr val="000000"/>
              </a:solidFill>
              <a:latin typeface="Courier" pitchFamily="49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32AAF2E5-1606-C56C-B5FE-F6DFB42303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987666"/>
            <a:ext cx="10164871" cy="19209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l-GR" sz="2400" b="1" kern="0" dirty="0">
                <a:solidFill>
                  <a:srgbClr val="990000"/>
                </a:solidFill>
                <a:latin typeface="Times New Roman" panose="02020603050405020304" pitchFamily="18" charset="0"/>
              </a:rPr>
              <a:t>1. </a:t>
            </a:r>
            <a:r>
              <a:rPr lang="el-GR" altLang="el-GR" sz="2400" b="1" kern="0" dirty="0">
                <a:solidFill>
                  <a:srgbClr val="990000"/>
                </a:solidFill>
                <a:latin typeface="Times New Roman" panose="02020603050405020304" pitchFamily="18" charset="0"/>
              </a:rPr>
              <a:t>Ορίζουμε την κλάση </a:t>
            </a:r>
            <a:r>
              <a:rPr lang="en-US" altLang="el-GR" sz="2400" b="1" kern="0" dirty="0">
                <a:solidFill>
                  <a:srgbClr val="990000"/>
                </a:solidFill>
                <a:latin typeface="Times New Roman" panose="02020603050405020304" pitchFamily="18" charset="0"/>
              </a:rPr>
              <a:t>Button</a:t>
            </a:r>
            <a:r>
              <a:rPr lang="el-GR" altLang="el-GR" sz="2400" b="1" kern="0" dirty="0">
                <a:solidFill>
                  <a:srgbClr val="990000"/>
                </a:solidFill>
                <a:latin typeface="Times New Roman" panose="02020603050405020304" pitchFamily="18" charset="0"/>
              </a:rPr>
              <a:t>0</a:t>
            </a:r>
            <a:r>
              <a:rPr lang="en-US" altLang="el-GR" sz="2400" b="1" kern="0" dirty="0">
                <a:solidFill>
                  <a:srgbClr val="990000"/>
                </a:solidFill>
                <a:latin typeface="Times New Roman" panose="02020603050405020304" pitchFamily="18" charset="0"/>
              </a:rPr>
              <a:t>Handler</a:t>
            </a:r>
            <a:r>
              <a:rPr lang="el-GR" altLang="el-GR" sz="2400" b="1" kern="0" dirty="0">
                <a:latin typeface="Times New Roman" panose="02020603050405020304" pitchFamily="18" charset="0"/>
              </a:rPr>
              <a:t> </a:t>
            </a:r>
            <a:endParaRPr lang="en-US" altLang="el-GR" sz="2400" b="1" kern="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l-GR" altLang="el-GR" sz="2000" b="1" kern="0" dirty="0">
                <a:latin typeface="Courier" pitchFamily="49" charset="0"/>
              </a:rPr>
              <a:t>	</a:t>
            </a:r>
            <a:r>
              <a:rPr lang="en-GB" altLang="el-GR" sz="2000" b="1" kern="0" dirty="0">
                <a:latin typeface="Courier" pitchFamily="49" charset="0"/>
              </a:rPr>
              <a:t>class Button0Handler implements ActionListener </a:t>
            </a:r>
            <a:r>
              <a:rPr lang="en-GB" altLang="el-GR" sz="2000" kern="0" dirty="0">
                <a:latin typeface="Courier" pitchFamily="49" charset="0"/>
              </a:rPr>
              <a:t>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GB" altLang="el-GR" sz="2000" kern="0" dirty="0">
                <a:latin typeface="Courier" pitchFamily="49" charset="0"/>
              </a:rPr>
              <a:t>      public void </a:t>
            </a:r>
            <a:r>
              <a:rPr lang="en-GB" altLang="el-GR" sz="2000" kern="0" dirty="0" err="1">
                <a:latin typeface="Courier" pitchFamily="49" charset="0"/>
              </a:rPr>
              <a:t>actionPerformed</a:t>
            </a:r>
            <a:r>
              <a:rPr lang="en-GB" altLang="el-GR" sz="2000" kern="0" dirty="0">
                <a:latin typeface="Courier" pitchFamily="49" charset="0"/>
              </a:rPr>
              <a:t>(</a:t>
            </a:r>
            <a:r>
              <a:rPr lang="en-GB" altLang="el-GR" sz="2000" kern="0" dirty="0" err="1">
                <a:latin typeface="Courier" pitchFamily="49" charset="0"/>
              </a:rPr>
              <a:t>ActionEvent</a:t>
            </a:r>
            <a:r>
              <a:rPr lang="en-GB" altLang="el-GR" sz="2000" kern="0" dirty="0">
                <a:latin typeface="Courier" pitchFamily="49" charset="0"/>
              </a:rPr>
              <a:t> e){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GB" altLang="el-GR" sz="2000" kern="0" dirty="0">
                <a:latin typeface="Courier" pitchFamily="49" charset="0"/>
              </a:rPr>
              <a:t>          </a:t>
            </a:r>
            <a:r>
              <a:rPr lang="en-GB" altLang="el-GR" sz="2000" kern="0" dirty="0" err="1">
                <a:latin typeface="Courier" pitchFamily="49" charset="0"/>
              </a:rPr>
              <a:t>System.out.println</a:t>
            </a:r>
            <a:r>
              <a:rPr lang="en-GB" altLang="el-GR" sz="2000" kern="0" dirty="0">
                <a:latin typeface="Courier" pitchFamily="49" charset="0"/>
              </a:rPr>
              <a:t>("button0 was</a:t>
            </a:r>
            <a:r>
              <a:rPr lang="el-GR" altLang="el-GR" sz="2000" kern="0" dirty="0">
                <a:latin typeface="Courier" pitchFamily="49" charset="0"/>
              </a:rPr>
              <a:t> </a:t>
            </a:r>
            <a:r>
              <a:rPr lang="en-GB" altLang="el-GR" sz="2000" kern="0" dirty="0">
                <a:latin typeface="Courier" pitchFamily="49" charset="0"/>
              </a:rPr>
              <a:t>pressed");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GB" altLang="el-GR" sz="2000" kern="0" dirty="0">
                <a:latin typeface="Courier" pitchFamily="49" charset="0"/>
              </a:rPr>
              <a:t>     	    </a:t>
            </a:r>
            <a:r>
              <a:rPr lang="el-GR" altLang="el-GR" sz="2000" kern="0" dirty="0">
                <a:latin typeface="Courier" pitchFamily="49" charset="0"/>
              </a:rPr>
              <a:t>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l-GR" altLang="el-GR" sz="2000" kern="0" dirty="0">
                <a:latin typeface="Courier" pitchFamily="49" charset="0"/>
              </a:rPr>
              <a:t>   </a:t>
            </a:r>
            <a:r>
              <a:rPr lang="en-US" altLang="el-GR" sz="2000" kern="0" dirty="0">
                <a:latin typeface="Courier" pitchFamily="49" charset="0"/>
              </a:rPr>
              <a:t>   </a:t>
            </a:r>
            <a:r>
              <a:rPr lang="el-GR" altLang="el-GR" sz="2000" kern="0" dirty="0">
                <a:latin typeface="Courier" pitchFamily="49" charset="0"/>
              </a:rPr>
              <a:t>}</a:t>
            </a:r>
            <a:endParaRPr lang="en-US" altLang="el-GR" sz="2000" kern="0" dirty="0">
              <a:latin typeface="Courier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7571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81001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Event Handling -</a:t>
            </a:r>
            <a:r>
              <a:rPr lang="en-GB" sz="4000" b="1">
                <a:solidFill>
                  <a:srgbClr val="F9853D"/>
                </a:solidFill>
                <a:latin typeface="Bahnschrift" panose="020B0502040204020203" pitchFamily="34" charset="0"/>
              </a:rPr>
              <a:t>Sequence Diagrams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179824" y="6581001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Event Handling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AF9E8D0-3545-251D-9494-161DD958B1C3}"/>
              </a:ext>
            </a:extLst>
          </p:cNvPr>
          <p:cNvSpPr/>
          <p:nvPr/>
        </p:nvSpPr>
        <p:spPr bwMode="auto">
          <a:xfrm>
            <a:off x="2679393" y="5745980"/>
            <a:ext cx="7344809" cy="841543"/>
          </a:xfrm>
          <a:prstGeom prst="rect">
            <a:avLst/>
          </a:prstGeom>
          <a:solidFill>
            <a:srgbClr val="FFFFFF">
              <a:lumMod val="85000"/>
            </a:srgbClr>
          </a:solidFill>
          <a:ln w="952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833557A-034B-3982-F5D1-BF3E2CD944FA}"/>
              </a:ext>
            </a:extLst>
          </p:cNvPr>
          <p:cNvCxnSpPr>
            <a:cxnSpLocks/>
          </p:cNvCxnSpPr>
          <p:nvPr/>
        </p:nvCxnSpPr>
        <p:spPr bwMode="auto">
          <a:xfrm>
            <a:off x="2019046" y="1317764"/>
            <a:ext cx="24811" cy="3888159"/>
          </a:xfrm>
          <a:prstGeom prst="line">
            <a:avLst/>
          </a:prstGeom>
          <a:solidFill>
            <a:srgbClr val="00E4A8"/>
          </a:solidFill>
          <a:ln w="952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FEF6A6CC-AFB2-A4F1-3A32-FDFAA12C1E60}"/>
              </a:ext>
            </a:extLst>
          </p:cNvPr>
          <p:cNvSpPr/>
          <p:nvPr/>
        </p:nvSpPr>
        <p:spPr bwMode="auto">
          <a:xfrm>
            <a:off x="1298965" y="885170"/>
            <a:ext cx="1489785" cy="432594"/>
          </a:xfrm>
          <a:prstGeom prst="rect">
            <a:avLst/>
          </a:prstGeom>
          <a:solidFill>
            <a:srgbClr val="00E4A8">
              <a:lumMod val="20000"/>
              <a:lumOff val="80000"/>
            </a:srgbClr>
          </a:solidFill>
          <a:ln w="952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</a:rPr>
              <a:t>CalculatorGui</a:t>
            </a:r>
            <a:endParaRPr kumimoji="0" lang="el-G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F4F42F1-48F5-276F-4342-A5BAEEE58447}"/>
              </a:ext>
            </a:extLst>
          </p:cNvPr>
          <p:cNvSpPr/>
          <p:nvPr/>
        </p:nvSpPr>
        <p:spPr bwMode="auto">
          <a:xfrm>
            <a:off x="3001939" y="885170"/>
            <a:ext cx="936104" cy="432594"/>
          </a:xfrm>
          <a:prstGeom prst="rect">
            <a:avLst/>
          </a:prstGeom>
          <a:solidFill>
            <a:srgbClr val="00E4A8">
              <a:lumMod val="20000"/>
              <a:lumOff val="80000"/>
            </a:srgbClr>
          </a:solidFill>
          <a:ln w="952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</a:rPr>
              <a:t>Button</a:t>
            </a:r>
            <a:endParaRPr kumimoji="0" lang="el-G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42C9DE-7E89-BF2A-53D4-74191250CBD6}"/>
              </a:ext>
            </a:extLst>
          </p:cNvPr>
          <p:cNvSpPr/>
          <p:nvPr/>
        </p:nvSpPr>
        <p:spPr bwMode="auto">
          <a:xfrm>
            <a:off x="3938043" y="1461507"/>
            <a:ext cx="1489785" cy="432594"/>
          </a:xfrm>
          <a:prstGeom prst="rect">
            <a:avLst/>
          </a:prstGeom>
          <a:solidFill>
            <a:srgbClr val="FFCF01">
              <a:lumMod val="20000"/>
              <a:lumOff val="80000"/>
            </a:srgbClr>
          </a:solidFill>
          <a:ln w="952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</a:rPr>
              <a:t>b0:Button</a:t>
            </a:r>
            <a:endParaRPr kumimoji="0" lang="el-G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9BF5B90-5A57-E3C2-5E42-4E8156A3F9EF}"/>
              </a:ext>
            </a:extLst>
          </p:cNvPr>
          <p:cNvSpPr/>
          <p:nvPr/>
        </p:nvSpPr>
        <p:spPr bwMode="auto">
          <a:xfrm>
            <a:off x="5450210" y="879217"/>
            <a:ext cx="1733264" cy="432594"/>
          </a:xfrm>
          <a:prstGeom prst="rect">
            <a:avLst/>
          </a:prstGeom>
          <a:solidFill>
            <a:srgbClr val="00E4A8">
              <a:lumMod val="20000"/>
              <a:lumOff val="80000"/>
            </a:srgbClr>
          </a:solidFill>
          <a:ln w="952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</a:rPr>
              <a:t>Button0Listener</a:t>
            </a:r>
            <a:endParaRPr kumimoji="0" lang="el-G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492DCC-FAC5-8194-4147-4B5DCDC4866C}"/>
              </a:ext>
            </a:extLst>
          </p:cNvPr>
          <p:cNvSpPr/>
          <p:nvPr/>
        </p:nvSpPr>
        <p:spPr bwMode="auto">
          <a:xfrm>
            <a:off x="6678416" y="1445795"/>
            <a:ext cx="2018245" cy="432594"/>
          </a:xfrm>
          <a:prstGeom prst="rect">
            <a:avLst/>
          </a:prstGeom>
          <a:solidFill>
            <a:srgbClr val="FFCF01">
              <a:lumMod val="20000"/>
              <a:lumOff val="80000"/>
            </a:srgbClr>
          </a:solidFill>
          <a:ln w="952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</a:rPr>
              <a:t>b0l: Button0Listener</a:t>
            </a:r>
            <a:endParaRPr kumimoji="0" lang="el-G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C33ECBC-B1EB-9098-2CFB-D3D5DF995088}"/>
              </a:ext>
            </a:extLst>
          </p:cNvPr>
          <p:cNvSpPr/>
          <p:nvPr/>
        </p:nvSpPr>
        <p:spPr bwMode="auto">
          <a:xfrm>
            <a:off x="8829986" y="1461507"/>
            <a:ext cx="1489785" cy="432594"/>
          </a:xfrm>
          <a:prstGeom prst="rect">
            <a:avLst/>
          </a:prstGeom>
          <a:solidFill>
            <a:srgbClr val="FFCF01">
              <a:lumMod val="20000"/>
              <a:lumOff val="80000"/>
            </a:srgbClr>
          </a:solidFill>
          <a:ln w="952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op:Operand</a:t>
            </a:r>
            <a:endParaRPr kumimoji="0" lang="el-G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91F2DF4-D9CD-F029-C0B7-8D579A376E8D}"/>
              </a:ext>
            </a:extLst>
          </p:cNvPr>
          <p:cNvCxnSpPr/>
          <p:nvPr/>
        </p:nvCxnSpPr>
        <p:spPr bwMode="auto">
          <a:xfrm>
            <a:off x="1298965" y="1677804"/>
            <a:ext cx="720081" cy="0"/>
          </a:xfrm>
          <a:prstGeom prst="straightConnector1">
            <a:avLst/>
          </a:prstGeom>
          <a:solidFill>
            <a:srgbClr val="00E4A8"/>
          </a:solidFill>
          <a:ln w="952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2A7A614-FC84-8C23-A839-393C5E3FAAC0}"/>
              </a:ext>
            </a:extLst>
          </p:cNvPr>
          <p:cNvCxnSpPr>
            <a:cxnSpLocks/>
            <a:stCxn id="9" idx="2"/>
          </p:cNvCxnSpPr>
          <p:nvPr/>
        </p:nvCxnSpPr>
        <p:spPr bwMode="auto">
          <a:xfrm>
            <a:off x="3469991" y="1317764"/>
            <a:ext cx="0" cy="1583903"/>
          </a:xfrm>
          <a:prstGeom prst="line">
            <a:avLst/>
          </a:prstGeom>
          <a:solidFill>
            <a:srgbClr val="00E4A8"/>
          </a:solidFill>
          <a:ln w="952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7E70389-4E2E-6255-6B69-BEB463041CE7}"/>
              </a:ext>
            </a:extLst>
          </p:cNvPr>
          <p:cNvCxnSpPr>
            <a:cxnSpLocks/>
          </p:cNvCxnSpPr>
          <p:nvPr/>
        </p:nvCxnSpPr>
        <p:spPr bwMode="auto">
          <a:xfrm flipH="1">
            <a:off x="4662077" y="2106739"/>
            <a:ext cx="20858" cy="3243200"/>
          </a:xfrm>
          <a:prstGeom prst="line">
            <a:avLst/>
          </a:prstGeom>
          <a:solidFill>
            <a:srgbClr val="00E4A8"/>
          </a:solidFill>
          <a:ln w="952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927DB76-4BF2-2414-8A8A-9B6D2A8448E3}"/>
              </a:ext>
            </a:extLst>
          </p:cNvPr>
          <p:cNvCxnSpPr>
            <a:stCxn id="13" idx="2"/>
          </p:cNvCxnSpPr>
          <p:nvPr/>
        </p:nvCxnSpPr>
        <p:spPr bwMode="auto">
          <a:xfrm>
            <a:off x="6316842" y="1311811"/>
            <a:ext cx="0" cy="1589856"/>
          </a:xfrm>
          <a:prstGeom prst="line">
            <a:avLst/>
          </a:prstGeom>
          <a:solidFill>
            <a:srgbClr val="00E4A8"/>
          </a:solidFill>
          <a:ln w="952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62562DD-5C03-AC14-1F44-333931AABCCF}"/>
              </a:ext>
            </a:extLst>
          </p:cNvPr>
          <p:cNvCxnSpPr>
            <a:cxnSpLocks/>
          </p:cNvCxnSpPr>
          <p:nvPr/>
        </p:nvCxnSpPr>
        <p:spPr bwMode="auto">
          <a:xfrm>
            <a:off x="7806627" y="2469619"/>
            <a:ext cx="20858" cy="2952328"/>
          </a:xfrm>
          <a:prstGeom prst="line">
            <a:avLst/>
          </a:prstGeom>
          <a:solidFill>
            <a:srgbClr val="00E4A8"/>
          </a:solidFill>
          <a:ln w="952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04EC1D9-7263-480E-EA32-E999519B670E}"/>
              </a:ext>
            </a:extLst>
          </p:cNvPr>
          <p:cNvCxnSpPr>
            <a:cxnSpLocks/>
            <a:stCxn id="15" idx="2"/>
          </p:cNvCxnSpPr>
          <p:nvPr/>
        </p:nvCxnSpPr>
        <p:spPr bwMode="auto">
          <a:xfrm>
            <a:off x="9574879" y="1894101"/>
            <a:ext cx="0" cy="3455838"/>
          </a:xfrm>
          <a:prstGeom prst="line">
            <a:avLst/>
          </a:prstGeom>
          <a:solidFill>
            <a:srgbClr val="00E4A8"/>
          </a:solidFill>
          <a:ln w="952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9D01D89-907A-8A86-A3EC-7AAFEA333359}"/>
              </a:ext>
            </a:extLst>
          </p:cNvPr>
          <p:cNvCxnSpPr/>
          <p:nvPr/>
        </p:nvCxnSpPr>
        <p:spPr bwMode="auto">
          <a:xfrm>
            <a:off x="2043857" y="1894101"/>
            <a:ext cx="1426134" cy="0"/>
          </a:xfrm>
          <a:prstGeom prst="straightConnector1">
            <a:avLst/>
          </a:prstGeom>
          <a:solidFill>
            <a:srgbClr val="00E4A8"/>
          </a:solidFill>
          <a:ln w="952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ED5052B-96EE-9C1E-0270-FC8892C98D72}"/>
              </a:ext>
            </a:extLst>
          </p:cNvPr>
          <p:cNvCxnSpPr/>
          <p:nvPr/>
        </p:nvCxnSpPr>
        <p:spPr bwMode="auto">
          <a:xfrm>
            <a:off x="3469991" y="2106739"/>
            <a:ext cx="1212944" cy="0"/>
          </a:xfrm>
          <a:prstGeom prst="straightConnector1">
            <a:avLst/>
          </a:prstGeom>
          <a:solidFill>
            <a:srgbClr val="00E4A8"/>
          </a:solidFill>
          <a:ln w="9525" cap="flat" cmpd="sng" algn="ctr">
            <a:solidFill>
              <a:srgbClr val="000000"/>
            </a:solidFill>
            <a:prstDash val="dash"/>
            <a:miter lim="800000"/>
            <a:headEnd type="none" w="med" len="med"/>
            <a:tailEnd type="triangle"/>
          </a:ln>
          <a:effectLst/>
        </p:spPr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15D3001-1252-5156-CAC5-7A78DF3485C3}"/>
              </a:ext>
            </a:extLst>
          </p:cNvPr>
          <p:cNvCxnSpPr/>
          <p:nvPr/>
        </p:nvCxnSpPr>
        <p:spPr bwMode="auto">
          <a:xfrm>
            <a:off x="2019046" y="2325603"/>
            <a:ext cx="4297796" cy="0"/>
          </a:xfrm>
          <a:prstGeom prst="straightConnector1">
            <a:avLst/>
          </a:prstGeom>
          <a:solidFill>
            <a:srgbClr val="00E4A8"/>
          </a:solidFill>
          <a:ln w="952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6D70225-3038-38B0-00A5-7F0AE7705A63}"/>
              </a:ext>
            </a:extLst>
          </p:cNvPr>
          <p:cNvCxnSpPr>
            <a:cxnSpLocks/>
          </p:cNvCxnSpPr>
          <p:nvPr/>
        </p:nvCxnSpPr>
        <p:spPr bwMode="auto">
          <a:xfrm>
            <a:off x="6316842" y="2469619"/>
            <a:ext cx="1510642" cy="0"/>
          </a:xfrm>
          <a:prstGeom prst="straightConnector1">
            <a:avLst/>
          </a:prstGeom>
          <a:solidFill>
            <a:srgbClr val="00E4A8"/>
          </a:solidFill>
          <a:ln w="9525" cap="flat" cmpd="sng" algn="ctr">
            <a:solidFill>
              <a:srgbClr val="000000"/>
            </a:solidFill>
            <a:prstDash val="dash"/>
            <a:miter lim="800000"/>
            <a:headEnd type="none" w="med" len="med"/>
            <a:tailEnd type="triangle"/>
          </a:ln>
          <a:effectLst/>
        </p:spPr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A6951F2-6C31-4925-5AF7-8E08C168B55F}"/>
              </a:ext>
            </a:extLst>
          </p:cNvPr>
          <p:cNvCxnSpPr/>
          <p:nvPr/>
        </p:nvCxnSpPr>
        <p:spPr bwMode="auto">
          <a:xfrm>
            <a:off x="1994236" y="3045683"/>
            <a:ext cx="2688699" cy="0"/>
          </a:xfrm>
          <a:prstGeom prst="straightConnector1">
            <a:avLst/>
          </a:prstGeom>
          <a:solidFill>
            <a:srgbClr val="00E4A8"/>
          </a:solidFill>
          <a:ln w="952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46D53CB2-433B-16F5-B8FB-C91EEB23B67F}"/>
              </a:ext>
            </a:extLst>
          </p:cNvPr>
          <p:cNvSpPr/>
          <p:nvPr/>
        </p:nvSpPr>
        <p:spPr bwMode="auto">
          <a:xfrm>
            <a:off x="2641898" y="3550012"/>
            <a:ext cx="828092" cy="432315"/>
          </a:xfrm>
          <a:prstGeom prst="rect">
            <a:avLst/>
          </a:prstGeom>
          <a:solidFill>
            <a:srgbClr val="333399">
              <a:lumMod val="20000"/>
              <a:lumOff val="80000"/>
            </a:srgbClr>
          </a:solidFill>
          <a:ln w="952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</a:rPr>
              <a:t>User</a:t>
            </a:r>
            <a:endParaRPr kumimoji="0" 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9473849-C476-1542-04DE-DD7B787D54F8}"/>
              </a:ext>
            </a:extLst>
          </p:cNvPr>
          <p:cNvCxnSpPr>
            <a:cxnSpLocks/>
            <a:stCxn id="27" idx="2"/>
          </p:cNvCxnSpPr>
          <p:nvPr/>
        </p:nvCxnSpPr>
        <p:spPr bwMode="auto">
          <a:xfrm>
            <a:off x="3055944" y="3982327"/>
            <a:ext cx="0" cy="1223596"/>
          </a:xfrm>
          <a:prstGeom prst="line">
            <a:avLst/>
          </a:prstGeom>
          <a:solidFill>
            <a:srgbClr val="00E4A8"/>
          </a:solidFill>
          <a:ln w="952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56F934A-7A7B-5E4F-7B4D-541AF4DC9872}"/>
              </a:ext>
            </a:extLst>
          </p:cNvPr>
          <p:cNvCxnSpPr/>
          <p:nvPr/>
        </p:nvCxnSpPr>
        <p:spPr bwMode="auto">
          <a:xfrm>
            <a:off x="3055944" y="4413835"/>
            <a:ext cx="1626991" cy="0"/>
          </a:xfrm>
          <a:prstGeom prst="straightConnector1">
            <a:avLst/>
          </a:prstGeom>
          <a:solidFill>
            <a:srgbClr val="00E4A8"/>
          </a:solidFill>
          <a:ln w="381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7C5C666-ED1B-3DBD-10C3-9C1DA43D048B}"/>
              </a:ext>
            </a:extLst>
          </p:cNvPr>
          <p:cNvCxnSpPr/>
          <p:nvPr/>
        </p:nvCxnSpPr>
        <p:spPr bwMode="auto">
          <a:xfrm>
            <a:off x="4682935" y="4557851"/>
            <a:ext cx="3123692" cy="0"/>
          </a:xfrm>
          <a:prstGeom prst="straightConnector1">
            <a:avLst/>
          </a:prstGeom>
          <a:solidFill>
            <a:srgbClr val="00E4A8"/>
          </a:solidFill>
          <a:ln w="952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B06CBE8-6DB6-44BE-C26E-83F842C78C0D}"/>
              </a:ext>
            </a:extLst>
          </p:cNvPr>
          <p:cNvCxnSpPr>
            <a:cxnSpLocks/>
          </p:cNvCxnSpPr>
          <p:nvPr/>
        </p:nvCxnSpPr>
        <p:spPr bwMode="auto">
          <a:xfrm>
            <a:off x="7827484" y="4701867"/>
            <a:ext cx="1726537" cy="0"/>
          </a:xfrm>
          <a:prstGeom prst="straightConnector1">
            <a:avLst/>
          </a:prstGeom>
          <a:solidFill>
            <a:srgbClr val="00E4A8"/>
          </a:solidFill>
          <a:ln w="952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64F51D45-B909-E7EF-7B45-BDBEA919F6B5}"/>
              </a:ext>
            </a:extLst>
          </p:cNvPr>
          <p:cNvSpPr txBox="1"/>
          <p:nvPr/>
        </p:nvSpPr>
        <p:spPr>
          <a:xfrm>
            <a:off x="7970490" y="4322062"/>
            <a:ext cx="15835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rgbClr val="000000"/>
                </a:solidFill>
                <a:latin typeface="Tahoma" panose="020B0604030504040204" pitchFamily="34" charset="0"/>
              </a:rPr>
              <a:t>addDigit(‘0’)</a:t>
            </a:r>
            <a:endParaRPr lang="el-GR" sz="200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7DBBF20-5E86-33B0-47B9-3DD1FE313398}"/>
              </a:ext>
            </a:extLst>
          </p:cNvPr>
          <p:cNvCxnSpPr/>
          <p:nvPr/>
        </p:nvCxnSpPr>
        <p:spPr bwMode="auto">
          <a:xfrm>
            <a:off x="3093439" y="6247398"/>
            <a:ext cx="6667549" cy="0"/>
          </a:xfrm>
          <a:prstGeom prst="straightConnector1">
            <a:avLst/>
          </a:prstGeom>
          <a:solidFill>
            <a:srgbClr val="00E4A8"/>
          </a:solidFill>
          <a:ln w="57150" cap="flat" cmpd="sng" algn="ctr">
            <a:solidFill>
              <a:srgbClr val="000000"/>
            </a:solidFill>
            <a:prstDash val="sysDash"/>
            <a:miter lim="800000"/>
            <a:headEnd type="none" w="med" len="med"/>
            <a:tailEnd type="triangle"/>
          </a:ln>
          <a:effectLst/>
        </p:spPr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7F2BB44-56A6-7C32-85C2-1CC0B793B593}"/>
              </a:ext>
            </a:extLst>
          </p:cNvPr>
          <p:cNvCxnSpPr/>
          <p:nvPr/>
        </p:nvCxnSpPr>
        <p:spPr bwMode="auto">
          <a:xfrm>
            <a:off x="3107841" y="5959503"/>
            <a:ext cx="0" cy="575791"/>
          </a:xfrm>
          <a:prstGeom prst="line">
            <a:avLst/>
          </a:prstGeom>
          <a:solidFill>
            <a:srgbClr val="00E4A8"/>
          </a:solidFill>
          <a:ln w="5715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DA5889C-4D34-945B-4C59-AE1F902434F1}"/>
              </a:ext>
            </a:extLst>
          </p:cNvPr>
          <p:cNvCxnSpPr/>
          <p:nvPr/>
        </p:nvCxnSpPr>
        <p:spPr bwMode="auto">
          <a:xfrm>
            <a:off x="9744406" y="5976813"/>
            <a:ext cx="0" cy="575791"/>
          </a:xfrm>
          <a:prstGeom prst="line">
            <a:avLst/>
          </a:prstGeom>
          <a:solidFill>
            <a:srgbClr val="00E4A8"/>
          </a:solidFill>
          <a:ln w="5715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2E64A7F4-05B6-6D25-DDE0-1E143AEBAF76}"/>
              </a:ext>
            </a:extLst>
          </p:cNvPr>
          <p:cNvSpPr/>
          <p:nvPr/>
        </p:nvSpPr>
        <p:spPr>
          <a:xfrm>
            <a:off x="8731008" y="5527182"/>
            <a:ext cx="534121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4800" b="1" dirty="0">
                <a:solidFill>
                  <a:srgbClr val="FF0000"/>
                </a:solidFill>
                <a:latin typeface="Tahoma" panose="020B0604030504040204" pitchFamily="34" charset="0"/>
              </a:rPr>
              <a:t>?</a:t>
            </a:r>
            <a:endParaRPr lang="el-GR" sz="4800" b="1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E46BC40-83EE-02B3-16CC-2AFE8038D623}"/>
              </a:ext>
            </a:extLst>
          </p:cNvPr>
          <p:cNvSpPr txBox="1"/>
          <p:nvPr/>
        </p:nvSpPr>
        <p:spPr>
          <a:xfrm>
            <a:off x="5295421" y="5745980"/>
            <a:ext cx="2334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</a:rPr>
              <a:t>addDigit(‘0’)</a:t>
            </a:r>
            <a:endParaRPr lang="el-GR" sz="240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C294767-E1D6-B7C6-5762-112EAE463592}"/>
              </a:ext>
            </a:extLst>
          </p:cNvPr>
          <p:cNvSpPr txBox="1"/>
          <p:nvPr/>
        </p:nvSpPr>
        <p:spPr>
          <a:xfrm>
            <a:off x="1224623" y="1317764"/>
            <a:ext cx="6527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rgbClr val="000000"/>
                </a:solidFill>
                <a:latin typeface="Tahoma" panose="020B0604030504040204" pitchFamily="34" charset="0"/>
              </a:rPr>
              <a:t>new</a:t>
            </a:r>
            <a:endParaRPr lang="el-GR" sz="200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015A9E3-2123-EFCF-099C-37FC2867F1A8}"/>
              </a:ext>
            </a:extLst>
          </p:cNvPr>
          <p:cNvSpPr txBox="1"/>
          <p:nvPr/>
        </p:nvSpPr>
        <p:spPr>
          <a:xfrm>
            <a:off x="2337294" y="1529452"/>
            <a:ext cx="6527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rgbClr val="000000"/>
                </a:solidFill>
                <a:latin typeface="Tahoma" panose="020B0604030504040204" pitchFamily="34" charset="0"/>
              </a:rPr>
              <a:t>new</a:t>
            </a:r>
            <a:endParaRPr lang="el-GR" sz="200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CB5D93A-7378-512C-6616-B3B55F08AF5E}"/>
              </a:ext>
            </a:extLst>
          </p:cNvPr>
          <p:cNvSpPr txBox="1"/>
          <p:nvPr/>
        </p:nvSpPr>
        <p:spPr>
          <a:xfrm>
            <a:off x="2462377" y="1997503"/>
            <a:ext cx="6527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rgbClr val="000000"/>
                </a:solidFill>
                <a:latin typeface="Tahoma" panose="020B0604030504040204" pitchFamily="34" charset="0"/>
              </a:rPr>
              <a:t>new</a:t>
            </a:r>
            <a:endParaRPr lang="el-GR" sz="200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3CC7E0D-9F11-7DD4-8CE7-07ABD060E985}"/>
              </a:ext>
            </a:extLst>
          </p:cNvPr>
          <p:cNvSpPr txBox="1"/>
          <p:nvPr/>
        </p:nvSpPr>
        <p:spPr>
          <a:xfrm>
            <a:off x="2019045" y="2754538"/>
            <a:ext cx="29271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sz="1600" b="1" kern="0" dirty="0">
                <a:solidFill>
                  <a:srgbClr val="000000"/>
                </a:solidFill>
                <a:latin typeface="Courier" pitchFamily="49" charset="0"/>
              </a:rPr>
              <a:t>addActionListener(b0l)</a:t>
            </a:r>
            <a:endParaRPr lang="el-GR" sz="160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9CA5CD4-AEF3-5293-F309-54DDEEC65C61}"/>
              </a:ext>
            </a:extLst>
          </p:cNvPr>
          <p:cNvSpPr txBox="1"/>
          <p:nvPr/>
        </p:nvSpPr>
        <p:spPr>
          <a:xfrm>
            <a:off x="4770852" y="4160289"/>
            <a:ext cx="30253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l-GR" sz="2000" b="1" dirty="0">
                <a:solidFill>
                  <a:srgbClr val="000000"/>
                </a:solidFill>
                <a:latin typeface="Courier" pitchFamily="49" charset="0"/>
              </a:rPr>
              <a:t>actionPerformed(ActionEvent)</a:t>
            </a:r>
            <a:endParaRPr lang="el-GR" sz="2000" b="1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BA21E4C1-94B4-9AE6-79EF-A82A655392FF}"/>
              </a:ext>
            </a:extLst>
          </p:cNvPr>
          <p:cNvCxnSpPr>
            <a:cxnSpLocks/>
          </p:cNvCxnSpPr>
          <p:nvPr/>
        </p:nvCxnSpPr>
        <p:spPr>
          <a:xfrm>
            <a:off x="316523" y="3429000"/>
            <a:ext cx="11734808" cy="0"/>
          </a:xfrm>
          <a:prstGeom prst="line">
            <a:avLst/>
          </a:prstGeom>
          <a:ln w="571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5342B175-0DFA-829B-FEA7-5A6CDA835751}"/>
              </a:ext>
            </a:extLst>
          </p:cNvPr>
          <p:cNvSpPr txBox="1"/>
          <p:nvPr/>
        </p:nvSpPr>
        <p:spPr>
          <a:xfrm>
            <a:off x="9723493" y="2397613"/>
            <a:ext cx="21496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highlight>
                  <a:srgbClr val="FFFF00"/>
                </a:highlight>
              </a:rPr>
              <a:t>SD for event Handling set-up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58516F3-4EC2-E53B-5508-56E6D1619C7A}"/>
              </a:ext>
            </a:extLst>
          </p:cNvPr>
          <p:cNvSpPr txBox="1"/>
          <p:nvPr/>
        </p:nvSpPr>
        <p:spPr>
          <a:xfrm>
            <a:off x="9723493" y="3763108"/>
            <a:ext cx="232783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SD for the interaction of user with </a:t>
            </a:r>
            <a:r>
              <a:rPr lang="en-GB" sz="2400" dirty="0" err="1">
                <a:solidFill>
                  <a:srgbClr val="FF0000"/>
                </a:solidFill>
              </a:rPr>
              <a:t>op:Operand</a:t>
            </a:r>
            <a:endParaRPr lang="en-GB" sz="2400" dirty="0">
              <a:solidFill>
                <a:srgbClr val="FF0000"/>
              </a:solidFill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928B2E13-CD80-649B-943E-7880738D87B5}"/>
              </a:ext>
            </a:extLst>
          </p:cNvPr>
          <p:cNvCxnSpPr/>
          <p:nvPr/>
        </p:nvCxnSpPr>
        <p:spPr>
          <a:xfrm>
            <a:off x="0" y="5527182"/>
            <a:ext cx="1219199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1575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81001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ActionListener - </a:t>
            </a:r>
            <a:r>
              <a:rPr lang="en-GB" sz="4000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ActionEvent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179824" y="6581001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Event Handling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A3281F3E-96FD-EC2E-3119-A48C0F0DE7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89" y="838636"/>
            <a:ext cx="3960813" cy="67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3">
            <a:extLst>
              <a:ext uri="{FF2B5EF4-FFF2-40B4-BE49-F238E27FC236}">
                <a16:creationId xmlns:a16="http://schemas.microsoft.com/office/drawing/2014/main" id="{385106EB-D819-614E-9746-5028F2440B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7312" y="783966"/>
            <a:ext cx="5794019" cy="1592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0C43E0D8-0DF3-2DF4-54EA-48A8C84AF9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669" y="1960064"/>
            <a:ext cx="4749842" cy="2034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5">
            <a:extLst>
              <a:ext uri="{FF2B5EF4-FFF2-40B4-BE49-F238E27FC236}">
                <a16:creationId xmlns:a16="http://schemas.microsoft.com/office/drawing/2014/main" id="{DFF7BCFF-49E3-F1EB-700D-EE7FA4702D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70" y="4130051"/>
            <a:ext cx="6025629" cy="1105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9C86DA3-A948-B33B-3C77-79815A5961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2785" y="5829953"/>
            <a:ext cx="665285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public 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hlinkClick r:id="rId7" action="ppaction://hlinkfile" tooltip="class in java.lang"/>
              </a:rPr>
              <a:t>Object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</a:t>
            </a:r>
            <a:r>
              <a:rPr kumimoji="0" lang="en-US" altLang="el-GR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getSource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()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Returns:</a:t>
            </a:r>
            <a:r>
              <a:rPr kumimoji="0" lang="en-US" altLang="el-G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 panose="020B0604030504040204" pitchFamily="34" charset="0"/>
              </a:rPr>
              <a:t>The</a:t>
            </a: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 panose="020B0604030504040204" pitchFamily="34" charset="0"/>
              </a:rPr>
              <a:t> object on which the Event initially occurred. </a:t>
            </a:r>
            <a:endParaRPr kumimoji="0" lang="el-GR" altLang="el-GR" sz="18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E1454A-A143-D391-253E-34BD18D910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5462883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Methods inherited from class </a:t>
            </a:r>
            <a:r>
              <a:rPr kumimoji="0" lang="en-US" altLang="el-G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java.util.</a:t>
            </a:r>
            <a:r>
              <a:rPr kumimoji="0" lang="en-US" altLang="el-G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hlinkClick r:id="rId8" tooltip="class in java.util"/>
              </a:rPr>
              <a:t>EventObject</a:t>
            </a:r>
            <a:endParaRPr kumimoji="0" lang="en-US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80CA17-04D2-6152-D0F8-AAD37DD1AB25}"/>
              </a:ext>
            </a:extLst>
          </p:cNvPr>
          <p:cNvSpPr txBox="1"/>
          <p:nvPr/>
        </p:nvSpPr>
        <p:spPr>
          <a:xfrm>
            <a:off x="4890511" y="2738060"/>
            <a:ext cx="72311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l-GR" altLang="el-GR" sz="2400" dirty="0" err="1">
                <a:solidFill>
                  <a:srgbClr val="000000"/>
                </a:solidFill>
                <a:latin typeface="Tahoma"/>
              </a:rPr>
              <a:t>This</a:t>
            </a:r>
            <a:r>
              <a:rPr lang="el-GR" altLang="el-GR" sz="2400" dirty="0">
                <a:solidFill>
                  <a:srgbClr val="000000"/>
                </a:solidFill>
                <a:latin typeface="Tahoma"/>
              </a:rPr>
              <a:t> </a:t>
            </a:r>
            <a:r>
              <a:rPr lang="el-GR" altLang="el-GR" sz="2400" dirty="0" err="1">
                <a:solidFill>
                  <a:srgbClr val="000000"/>
                </a:solidFill>
                <a:latin typeface="Tahoma"/>
              </a:rPr>
              <a:t>high-level</a:t>
            </a:r>
            <a:r>
              <a:rPr lang="el-GR" altLang="el-GR" sz="2400" dirty="0">
                <a:solidFill>
                  <a:srgbClr val="000000"/>
                </a:solidFill>
                <a:latin typeface="Tahoma"/>
              </a:rPr>
              <a:t> </a:t>
            </a:r>
            <a:r>
              <a:rPr lang="el-GR" altLang="el-GR" sz="2400" dirty="0" err="1">
                <a:solidFill>
                  <a:srgbClr val="000000"/>
                </a:solidFill>
                <a:latin typeface="Tahoma"/>
              </a:rPr>
              <a:t>event</a:t>
            </a:r>
            <a:r>
              <a:rPr lang="el-GR" altLang="el-GR" sz="2400" dirty="0">
                <a:solidFill>
                  <a:srgbClr val="000000"/>
                </a:solidFill>
                <a:latin typeface="Tahoma"/>
              </a:rPr>
              <a:t> </a:t>
            </a:r>
            <a:r>
              <a:rPr lang="el-GR" altLang="el-GR" sz="2400" dirty="0" err="1">
                <a:solidFill>
                  <a:srgbClr val="000000"/>
                </a:solidFill>
                <a:latin typeface="Tahoma"/>
              </a:rPr>
              <a:t>is</a:t>
            </a:r>
            <a:r>
              <a:rPr lang="el-GR" altLang="el-GR" sz="2400" dirty="0">
                <a:solidFill>
                  <a:srgbClr val="000000"/>
                </a:solidFill>
                <a:latin typeface="Tahoma"/>
              </a:rPr>
              <a:t> </a:t>
            </a:r>
            <a:r>
              <a:rPr lang="el-GR" altLang="el-GR" sz="2400" dirty="0" err="1">
                <a:solidFill>
                  <a:srgbClr val="000000"/>
                </a:solidFill>
                <a:latin typeface="Tahoma"/>
              </a:rPr>
              <a:t>generated</a:t>
            </a:r>
            <a:r>
              <a:rPr lang="el-GR" altLang="el-GR" sz="2400" dirty="0">
                <a:solidFill>
                  <a:srgbClr val="000000"/>
                </a:solidFill>
                <a:latin typeface="Tahoma"/>
              </a:rPr>
              <a:t> </a:t>
            </a:r>
            <a:r>
              <a:rPr lang="el-GR" altLang="el-GR" sz="2400" dirty="0" err="1">
                <a:solidFill>
                  <a:srgbClr val="000000"/>
                </a:solidFill>
                <a:latin typeface="Tahoma"/>
              </a:rPr>
              <a:t>by</a:t>
            </a:r>
            <a:r>
              <a:rPr lang="el-GR" altLang="el-GR" sz="2400" dirty="0">
                <a:solidFill>
                  <a:srgbClr val="000000"/>
                </a:solidFill>
                <a:latin typeface="Tahoma"/>
              </a:rPr>
              <a:t> a </a:t>
            </a:r>
            <a:r>
              <a:rPr lang="el-GR" altLang="el-GR" sz="2400" dirty="0" err="1">
                <a:solidFill>
                  <a:srgbClr val="000000"/>
                </a:solidFill>
                <a:latin typeface="Tahoma"/>
              </a:rPr>
              <a:t>component</a:t>
            </a:r>
            <a:r>
              <a:rPr lang="el-GR" altLang="el-GR" sz="2400" dirty="0">
                <a:solidFill>
                  <a:srgbClr val="000000"/>
                </a:solidFill>
                <a:latin typeface="Tahoma"/>
              </a:rPr>
              <a:t> (</a:t>
            </a:r>
            <a:r>
              <a:rPr lang="el-GR" altLang="el-GR" sz="2400" dirty="0" err="1">
                <a:solidFill>
                  <a:srgbClr val="000000"/>
                </a:solidFill>
                <a:latin typeface="Tahoma"/>
              </a:rPr>
              <a:t>such</a:t>
            </a:r>
            <a:r>
              <a:rPr lang="el-GR" altLang="el-GR" sz="2400" dirty="0">
                <a:solidFill>
                  <a:srgbClr val="000000"/>
                </a:solidFill>
                <a:latin typeface="Tahoma"/>
              </a:rPr>
              <a:t> </a:t>
            </a:r>
            <a:r>
              <a:rPr lang="el-GR" altLang="el-GR" sz="2400" dirty="0" err="1">
                <a:solidFill>
                  <a:srgbClr val="000000"/>
                </a:solidFill>
                <a:latin typeface="Tahoma"/>
              </a:rPr>
              <a:t>as</a:t>
            </a:r>
            <a:r>
              <a:rPr lang="el-GR" altLang="el-GR" sz="2400" dirty="0">
                <a:solidFill>
                  <a:srgbClr val="000000"/>
                </a:solidFill>
                <a:latin typeface="Tahoma"/>
              </a:rPr>
              <a:t> a </a:t>
            </a:r>
            <a:r>
              <a:rPr lang="el-GR" altLang="el-GR" sz="2400" dirty="0" err="1">
                <a:solidFill>
                  <a:srgbClr val="000000"/>
                </a:solidFill>
                <a:latin typeface="Tahoma"/>
              </a:rPr>
              <a:t>Button</a:t>
            </a:r>
            <a:r>
              <a:rPr lang="el-GR" altLang="el-GR" sz="2400" dirty="0">
                <a:solidFill>
                  <a:srgbClr val="000000"/>
                </a:solidFill>
                <a:latin typeface="Tahoma"/>
              </a:rPr>
              <a:t>) </a:t>
            </a:r>
            <a:r>
              <a:rPr lang="el-GR" altLang="el-GR" sz="2400" dirty="0" err="1">
                <a:solidFill>
                  <a:srgbClr val="000000"/>
                </a:solidFill>
                <a:latin typeface="Tahoma"/>
              </a:rPr>
              <a:t>when</a:t>
            </a:r>
            <a:r>
              <a:rPr lang="el-GR" altLang="el-GR" sz="2400" dirty="0">
                <a:solidFill>
                  <a:srgbClr val="000000"/>
                </a:solidFill>
                <a:latin typeface="Tahoma"/>
              </a:rPr>
              <a:t> the </a:t>
            </a:r>
            <a:r>
              <a:rPr lang="el-GR" altLang="el-GR" sz="2400" dirty="0" err="1">
                <a:solidFill>
                  <a:srgbClr val="000000"/>
                </a:solidFill>
                <a:latin typeface="Tahoma"/>
              </a:rPr>
              <a:t>component-specific</a:t>
            </a:r>
            <a:r>
              <a:rPr lang="el-GR" altLang="el-GR" sz="2400" dirty="0">
                <a:solidFill>
                  <a:srgbClr val="000000"/>
                </a:solidFill>
                <a:latin typeface="Tahoma"/>
              </a:rPr>
              <a:t> </a:t>
            </a:r>
            <a:r>
              <a:rPr lang="el-GR" altLang="el-GR" sz="2400" dirty="0" err="1">
                <a:solidFill>
                  <a:srgbClr val="000000"/>
                </a:solidFill>
                <a:latin typeface="Tahoma"/>
              </a:rPr>
              <a:t>action</a:t>
            </a:r>
            <a:r>
              <a:rPr lang="el-GR" altLang="el-GR" sz="2400" dirty="0">
                <a:solidFill>
                  <a:srgbClr val="000000"/>
                </a:solidFill>
                <a:latin typeface="Tahoma"/>
              </a:rPr>
              <a:t> </a:t>
            </a:r>
            <a:r>
              <a:rPr lang="el-GR" altLang="el-GR" sz="2400" dirty="0" err="1">
                <a:solidFill>
                  <a:srgbClr val="000000"/>
                </a:solidFill>
                <a:latin typeface="Tahoma"/>
              </a:rPr>
              <a:t>occurs</a:t>
            </a:r>
            <a:r>
              <a:rPr lang="el-GR" altLang="el-GR" sz="2400" dirty="0">
                <a:solidFill>
                  <a:srgbClr val="000000"/>
                </a:solidFill>
                <a:latin typeface="Tahoma"/>
              </a:rPr>
              <a:t> (</a:t>
            </a:r>
            <a:r>
              <a:rPr lang="el-GR" altLang="el-GR" sz="2400" dirty="0" err="1">
                <a:solidFill>
                  <a:srgbClr val="000000"/>
                </a:solidFill>
                <a:latin typeface="Tahoma"/>
              </a:rPr>
              <a:t>such</a:t>
            </a:r>
            <a:r>
              <a:rPr lang="el-GR" altLang="el-GR" sz="2400" dirty="0">
                <a:solidFill>
                  <a:srgbClr val="000000"/>
                </a:solidFill>
                <a:latin typeface="Tahoma"/>
              </a:rPr>
              <a:t> </a:t>
            </a:r>
            <a:r>
              <a:rPr lang="el-GR" altLang="el-GR" sz="2400" dirty="0" err="1">
                <a:solidFill>
                  <a:srgbClr val="000000"/>
                </a:solidFill>
                <a:latin typeface="Tahoma"/>
              </a:rPr>
              <a:t>as</a:t>
            </a:r>
            <a:r>
              <a:rPr lang="el-GR" altLang="el-GR" sz="2400" dirty="0">
                <a:solidFill>
                  <a:srgbClr val="000000"/>
                </a:solidFill>
                <a:latin typeface="Tahoma"/>
              </a:rPr>
              <a:t> </a:t>
            </a:r>
            <a:r>
              <a:rPr lang="el-GR" altLang="el-GR" sz="2400" dirty="0" err="1">
                <a:solidFill>
                  <a:srgbClr val="000000"/>
                </a:solidFill>
                <a:latin typeface="Tahoma"/>
              </a:rPr>
              <a:t>being</a:t>
            </a:r>
            <a:r>
              <a:rPr lang="el-GR" altLang="el-GR" sz="2400" dirty="0">
                <a:solidFill>
                  <a:srgbClr val="000000"/>
                </a:solidFill>
                <a:latin typeface="Tahoma"/>
              </a:rPr>
              <a:t> </a:t>
            </a:r>
            <a:r>
              <a:rPr lang="el-GR" altLang="el-GR" sz="2400" dirty="0" err="1">
                <a:solidFill>
                  <a:srgbClr val="000000"/>
                </a:solidFill>
                <a:latin typeface="Tahoma"/>
              </a:rPr>
              <a:t>pressed</a:t>
            </a:r>
            <a:r>
              <a:rPr lang="el-GR" altLang="el-GR" sz="2400" dirty="0">
                <a:solidFill>
                  <a:srgbClr val="000000"/>
                </a:solidFill>
                <a:latin typeface="Tahoma"/>
              </a:rPr>
              <a:t>). </a:t>
            </a:r>
            <a:endParaRPr lang="el-GR" sz="280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8095BCB-1BEE-5409-FC35-4B368FA59AAA}"/>
              </a:ext>
            </a:extLst>
          </p:cNvPr>
          <p:cNvSpPr txBox="1"/>
          <p:nvPr/>
        </p:nvSpPr>
        <p:spPr>
          <a:xfrm>
            <a:off x="5020471" y="4144158"/>
            <a:ext cx="41338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l-GR" sz="2400" b="1" dirty="0" err="1"/>
              <a:t>getActionCommand</a:t>
            </a:r>
            <a:r>
              <a:rPr lang="en-US" altLang="el-GR" sz="2400" b="1" dirty="0"/>
              <a:t>()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1889879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81001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Specify event handling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179824" y="6581001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Event Handling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306D56-6548-BC02-BAFF-61A6E0D880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" y="0"/>
            <a:ext cx="9713357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l-GR" sz="4000" b="0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Tahoma"/>
              <a:ea typeface="+mj-ea"/>
              <a:cs typeface="+mj-cs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0A0282B-7236-C80D-784F-523A031DCC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34" y="918132"/>
            <a:ext cx="11262665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listeners</a:t>
            </a: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are objects interested in events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sources</a:t>
            </a: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are objects that “fire” events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register listeners </a:t>
            </a: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with sources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component.add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&lt;EventType&gt;Listener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5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EventTypes are ActionEvent, AdjustmentEvent, ComponentEvent, FocusEvent, ItemEvent, KeyEvent, MouseEvent, TextEvent, WindowEvent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implement methods of listener interfaces in listener classes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an event object is passed to the methods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ActionListener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, AdjustmentListener, ComponentListener, FocusListener, ItemListener, KeyListener, MouseListener, MouseMotionListener, TextListener, WindowListener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endParaRPr kumimoji="0" lang="en-US" sz="2000" b="1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ahom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F8DB48B2-F509-9627-9E60-1F88E78868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2357438"/>
            <a:ext cx="1139721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alt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4D0B53C1-2609-7E47-926D-6F62F8E79C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2376488"/>
            <a:ext cx="1139721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alt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2764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81001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Event sources, Listeners and Objects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179824" y="6581001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Event Handling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129AD95-4C11-B50C-D455-E7A63AE8FF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7793038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l-GR" sz="3600" b="0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Tahoma"/>
              <a:ea typeface="+mj-ea"/>
              <a:cs typeface="+mj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A92FC4-5F1D-84E0-F60D-E02E9F8285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57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alt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7109A5-AD67-FE59-04B8-6E57E97B6F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764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alt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AFF1F8CD-ECD0-B3B6-7967-749640EAA4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49" y="737723"/>
            <a:ext cx="9469853" cy="58822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7">
            <a:extLst>
              <a:ext uri="{FF2B5EF4-FFF2-40B4-BE49-F238E27FC236}">
                <a16:creationId xmlns:a16="http://schemas.microsoft.com/office/drawing/2014/main" id="{3E759FB6-EDFD-7FEB-02E0-42F51EB657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58425" y="6142982"/>
            <a:ext cx="1933575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1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Source: Object Computing, Inc</a:t>
            </a:r>
            <a:endParaRPr kumimoji="0" lang="el-GR" altLang="el-GR" sz="10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1829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81001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Design For Flexibility and Maintainability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179824" y="6581001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Event Handling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2D7557-25D5-FC4C-9649-7A4AEB7C5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57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alt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884ADB-339D-D5F6-32EC-00296327CE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764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alt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D71550ED-A44B-86ED-F7AF-484E50CC50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64871" y="6274338"/>
            <a:ext cx="1933575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1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Source: Object Computing, Inc</a:t>
            </a:r>
            <a:endParaRPr kumimoji="0" lang="el-GR" altLang="el-GR" sz="10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pic>
        <p:nvPicPr>
          <p:cNvPr id="9" name="Picture 9">
            <a:extLst>
              <a:ext uri="{FF2B5EF4-FFF2-40B4-BE49-F238E27FC236}">
                <a16:creationId xmlns:a16="http://schemas.microsoft.com/office/drawing/2014/main" id="{C3F8ECDE-CDAE-6524-0AD8-495F3653A7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7021" y="740957"/>
            <a:ext cx="5893381" cy="37677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0">
            <a:extLst>
              <a:ext uri="{FF2B5EF4-FFF2-40B4-BE49-F238E27FC236}">
                <a16:creationId xmlns:a16="http://schemas.microsoft.com/office/drawing/2014/main" id="{28BC023C-88CA-C66C-0181-9A56B6A2E5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98" y="857755"/>
            <a:ext cx="3977194" cy="19045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1">
            <a:extLst>
              <a:ext uri="{FF2B5EF4-FFF2-40B4-BE49-F238E27FC236}">
                <a16:creationId xmlns:a16="http://schemas.microsoft.com/office/drawing/2014/main" id="{345B2170-55B1-03B0-262C-8EE14E1AFF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97" y="2966244"/>
            <a:ext cx="6592628" cy="3593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26499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81001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Event Handling Revisited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179824" y="6581001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Event Handling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3C1FA20-B66C-B3AC-5FA3-165890EC65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213100"/>
            <a:ext cx="8640763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defRPr/>
            </a:pPr>
            <a:endParaRPr lang="en-GB" b="1" kern="0" dirty="0">
              <a:solidFill>
                <a:srgbClr val="990000"/>
              </a:solidFill>
              <a:latin typeface="Times New Roman" pitchFamily="18" charset="0"/>
            </a:endParaRP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defRPr/>
            </a:pPr>
            <a:endParaRPr lang="en-US" b="1" kern="0" dirty="0">
              <a:solidFill>
                <a:srgbClr val="990000"/>
              </a:solidFill>
              <a:latin typeface="Times New Roman" pitchFamily="18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CF8DE0C-6FF3-D63C-2764-29826F1CB7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399" y="4009986"/>
            <a:ext cx="10012471" cy="23568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l-GR" sz="2400" b="1" kern="0">
                <a:solidFill>
                  <a:srgbClr val="990000"/>
                </a:solidFill>
                <a:latin typeface="Times New Roman" panose="02020603050405020304" pitchFamily="18" charset="0"/>
              </a:rPr>
              <a:t>1. </a:t>
            </a:r>
            <a:r>
              <a:rPr lang="el-GR" altLang="el-GR" sz="2400" b="1" kern="0">
                <a:solidFill>
                  <a:srgbClr val="990000"/>
                </a:solidFill>
                <a:latin typeface="Times New Roman" panose="02020603050405020304" pitchFamily="18" charset="0"/>
              </a:rPr>
              <a:t>Ορίζουμε την κλάση </a:t>
            </a:r>
            <a:r>
              <a:rPr lang="en-US" altLang="el-GR" sz="2400" b="1" kern="0">
                <a:solidFill>
                  <a:srgbClr val="990000"/>
                </a:solidFill>
                <a:latin typeface="Times New Roman" panose="02020603050405020304" pitchFamily="18" charset="0"/>
              </a:rPr>
              <a:t>Button</a:t>
            </a:r>
            <a:r>
              <a:rPr lang="el-GR" altLang="el-GR" sz="2400" b="1" kern="0">
                <a:solidFill>
                  <a:srgbClr val="990000"/>
                </a:solidFill>
                <a:latin typeface="Times New Roman" panose="02020603050405020304" pitchFamily="18" charset="0"/>
              </a:rPr>
              <a:t>0</a:t>
            </a:r>
            <a:r>
              <a:rPr lang="en-US" altLang="el-GR" sz="2400" b="1" kern="0">
                <a:solidFill>
                  <a:srgbClr val="990000"/>
                </a:solidFill>
                <a:latin typeface="Times New Roman" panose="02020603050405020304" pitchFamily="18" charset="0"/>
              </a:rPr>
              <a:t>Handler</a:t>
            </a:r>
            <a:r>
              <a:rPr lang="el-GR" altLang="el-GR" sz="2400" b="1" kern="0">
                <a:latin typeface="Times New Roman" panose="02020603050405020304" pitchFamily="18" charset="0"/>
              </a:rPr>
              <a:t> </a:t>
            </a:r>
            <a:endParaRPr lang="en-US" altLang="el-GR" sz="2400" b="1" kern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GB" altLang="el-GR" sz="1600" b="1" kern="0">
                <a:latin typeface="Courier" pitchFamily="49" charset="0"/>
              </a:rPr>
              <a:t>class Button0Handler implements ActionListener </a:t>
            </a:r>
            <a:r>
              <a:rPr lang="en-GB" altLang="el-GR" sz="1600" kern="0">
                <a:latin typeface="Courier" pitchFamily="49" charset="0"/>
              </a:rPr>
              <a:t>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GB" altLang="el-GR" sz="1600" kern="0">
                <a:latin typeface="Courier" pitchFamily="49" charset="0"/>
              </a:rPr>
              <a:t>  public void actionPerformed(ActionEvent pushingButton0){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GB" altLang="el-GR" sz="1600" kern="0">
                <a:latin typeface="Courier" pitchFamily="49" charset="0"/>
              </a:rPr>
              <a:t>          System.out.println("button0 was</a:t>
            </a:r>
            <a:r>
              <a:rPr lang="el-GR" altLang="el-GR" sz="1600" kern="0">
                <a:latin typeface="Courier" pitchFamily="49" charset="0"/>
              </a:rPr>
              <a:t> </a:t>
            </a:r>
            <a:r>
              <a:rPr lang="en-GB" altLang="el-GR" sz="1600" kern="0">
                <a:latin typeface="Courier" pitchFamily="49" charset="0"/>
              </a:rPr>
              <a:t>pressed");</a:t>
            </a:r>
            <a:r>
              <a:rPr lang="el-GR" altLang="el-GR" sz="1600" kern="0">
                <a:latin typeface="Courier" pitchFamily="49" charset="0"/>
              </a:rPr>
              <a:t>}}</a:t>
            </a:r>
            <a:endParaRPr lang="en-US" altLang="el-GR" sz="2000" kern="0">
              <a:latin typeface="Courier" pitchFamily="49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l-GR" sz="2400" b="1" kern="0">
                <a:solidFill>
                  <a:srgbClr val="990000"/>
                </a:solidFill>
                <a:latin typeface="Times New Roman" panose="02020603050405020304" pitchFamily="18" charset="0"/>
              </a:rPr>
              <a:t>2. </a:t>
            </a:r>
            <a:r>
              <a:rPr lang="el-GR" altLang="el-GR" sz="2400" b="1" kern="0">
                <a:solidFill>
                  <a:srgbClr val="990000"/>
                </a:solidFill>
                <a:latin typeface="Times New Roman" panose="02020603050405020304" pitchFamily="18" charset="0"/>
              </a:rPr>
              <a:t>Δημιουργούμε ένα στιγμιότυπο της κλάσης </a:t>
            </a:r>
            <a:r>
              <a:rPr lang="en-GB" altLang="el-GR" sz="2400" b="1" kern="0">
                <a:solidFill>
                  <a:srgbClr val="990000"/>
                </a:solidFill>
                <a:latin typeface="Times New Roman" panose="02020603050405020304" pitchFamily="18" charset="0"/>
              </a:rPr>
              <a:t>Button</a:t>
            </a:r>
            <a:r>
              <a:rPr lang="el-GR" altLang="el-GR" sz="2400" b="1" kern="0">
                <a:solidFill>
                  <a:srgbClr val="990000"/>
                </a:solidFill>
                <a:latin typeface="Times New Roman" panose="02020603050405020304" pitchFamily="18" charset="0"/>
              </a:rPr>
              <a:t>0</a:t>
            </a:r>
            <a:r>
              <a:rPr lang="en-GB" altLang="el-GR" sz="2400" b="1" kern="0">
                <a:solidFill>
                  <a:srgbClr val="990000"/>
                </a:solidFill>
                <a:latin typeface="Times New Roman" panose="02020603050405020304" pitchFamily="18" charset="0"/>
              </a:rPr>
              <a:t>Handler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l-GR" altLang="el-GR" sz="2400" b="1" kern="0">
                <a:solidFill>
                  <a:srgbClr val="990000"/>
                </a:solidFill>
                <a:latin typeface="Times New Roman" panose="02020603050405020304" pitchFamily="18" charset="0"/>
              </a:rPr>
              <a:t>3. Το κάνουμε </a:t>
            </a:r>
            <a:r>
              <a:rPr lang="en-US" altLang="el-GR" sz="2400" b="1" kern="0">
                <a:solidFill>
                  <a:srgbClr val="990000"/>
                </a:solidFill>
                <a:latin typeface="Times New Roman" panose="02020603050405020304" pitchFamily="18" charset="0"/>
              </a:rPr>
              <a:t>register</a:t>
            </a:r>
            <a:r>
              <a:rPr lang="el-GR" altLang="el-GR" sz="2400" b="1" kern="0">
                <a:solidFill>
                  <a:srgbClr val="990000"/>
                </a:solidFill>
                <a:latin typeface="Times New Roman" panose="02020603050405020304" pitchFamily="18" charset="0"/>
              </a:rPr>
              <a:t> στο πλήκτρο 0 χρησιμοποιώντας την μέθοδο </a:t>
            </a:r>
            <a:r>
              <a:rPr lang="en-US" altLang="el-GR" sz="2000" b="1" kern="0">
                <a:solidFill>
                  <a:srgbClr val="990000"/>
                </a:solidFill>
                <a:latin typeface="Times New Roman" panose="02020603050405020304" pitchFamily="18" charset="0"/>
              </a:rPr>
              <a:t>addActionListener</a:t>
            </a:r>
            <a:r>
              <a:rPr lang="el-GR" altLang="el-GR" sz="2000" b="1" kern="0">
                <a:solidFill>
                  <a:srgbClr val="990000"/>
                </a:solidFill>
                <a:latin typeface="Times New Roman" panose="02020603050405020304" pitchFamily="18" charset="0"/>
              </a:rPr>
              <a:t> της </a:t>
            </a:r>
            <a:r>
              <a:rPr lang="en-US" altLang="el-GR" sz="2000" b="1" kern="0">
                <a:solidFill>
                  <a:srgbClr val="990000"/>
                </a:solidFill>
                <a:latin typeface="Times New Roman" panose="02020603050405020304" pitchFamily="18" charset="0"/>
              </a:rPr>
              <a:t>Button</a:t>
            </a:r>
            <a:r>
              <a:rPr lang="el-GR" altLang="el-GR" sz="2000" b="1" kern="0">
                <a:solidFill>
                  <a:srgbClr val="990000"/>
                </a:solidFill>
                <a:latin typeface="Times New Roman" panose="02020603050405020304" pitchFamily="18" charset="0"/>
              </a:rPr>
              <a:t>.</a:t>
            </a:r>
            <a:endParaRPr lang="en-GB" altLang="el-GR" sz="2400" b="1" kern="0">
              <a:solidFill>
                <a:srgbClr val="990000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GB" altLang="el-GR" sz="2400" kern="0">
                <a:latin typeface="Times New Roman" panose="02020603050405020304" pitchFamily="18" charset="0"/>
              </a:rPr>
              <a:t>	</a:t>
            </a:r>
            <a:r>
              <a:rPr lang="en-GB" altLang="el-GR" sz="2000" kern="0">
                <a:latin typeface="Courier" pitchFamily="49" charset="0"/>
              </a:rPr>
              <a:t>button0.</a:t>
            </a:r>
            <a:r>
              <a:rPr lang="en-GB" altLang="el-GR" sz="2000" b="1" kern="0">
                <a:latin typeface="Courier" pitchFamily="49" charset="0"/>
              </a:rPr>
              <a:t>addActionListener</a:t>
            </a:r>
            <a:r>
              <a:rPr lang="en-GB" altLang="el-GR" sz="2000" kern="0">
                <a:latin typeface="Courier" pitchFamily="49" charset="0"/>
              </a:rPr>
              <a:t>(new Button0Handler());</a:t>
            </a:r>
            <a:endParaRPr lang="en-US" altLang="el-GR" sz="2400" kern="0">
              <a:latin typeface="Courier" pitchFamily="49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l-GR" sz="2400" kern="0" dirty="0">
              <a:latin typeface="Courier" pitchFamily="49" charset="0"/>
            </a:endParaRPr>
          </a:p>
        </p:txBody>
      </p:sp>
      <p:graphicFrame>
        <p:nvGraphicFramePr>
          <p:cNvPr id="7" name="Object 7">
            <a:extLst>
              <a:ext uri="{FF2B5EF4-FFF2-40B4-BE49-F238E27FC236}">
                <a16:creationId xmlns:a16="http://schemas.microsoft.com/office/drawing/2014/main" id="{715250A7-02F0-7F38-9D35-ECB91F0614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4965823"/>
              </p:ext>
            </p:extLst>
          </p:nvPr>
        </p:nvGraphicFramePr>
        <p:xfrm>
          <a:off x="5904706" y="719331"/>
          <a:ext cx="5472113" cy="3360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5990476" imgH="3666667" progId="Paint.Picture">
                  <p:embed/>
                </p:oleObj>
              </mc:Choice>
              <mc:Fallback>
                <p:oleObj name="Bitmap Image" r:id="rId3" imgW="5990476" imgH="3666667" progId="Paint.Picture">
                  <p:embed/>
                  <p:pic>
                    <p:nvPicPr>
                      <p:cNvPr id="74754" name="Object 7">
                        <a:extLst>
                          <a:ext uri="{FF2B5EF4-FFF2-40B4-BE49-F238E27FC236}">
                            <a16:creationId xmlns:a16="http://schemas.microsoft.com/office/drawing/2014/main" id="{40B742B3-1624-4679-8300-563FE4FB33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4706" y="719331"/>
                        <a:ext cx="5472113" cy="3360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7">
            <a:extLst>
              <a:ext uri="{FF2B5EF4-FFF2-40B4-BE49-F238E27FC236}">
                <a16:creationId xmlns:a16="http://schemas.microsoft.com/office/drawing/2014/main" id="{69FBF92D-A0FF-CD80-DE36-A9AB1995BA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50" y="1178796"/>
            <a:ext cx="3452813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ahoma" panose="020B0604030504040204" pitchFamily="34" charset="0"/>
              </a:rPr>
              <a:t>Button event handling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ahoma" panose="020B0604030504040204" pitchFamily="34" charset="0"/>
              </a:rPr>
              <a:t>vs.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ahoma" panose="020B0604030504040204" pitchFamily="34" charset="0"/>
              </a:rPr>
              <a:t>Goody’s event handling: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ahoma" panose="020B0604030504040204" pitchFamily="34" charset="0"/>
              </a:rPr>
              <a:t>A comparison</a:t>
            </a:r>
            <a:endParaRPr kumimoji="0" lang="el-GR" altLang="el-GR" sz="2400" b="1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9597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81001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Event Handling 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στο</a:t>
            </a:r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Goody’s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179824" y="6581001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Event Handling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1561801E-B384-EA78-7D8A-E779C3761C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2133600"/>
            <a:ext cx="10539412" cy="1081088"/>
          </a:xfrm>
          <a:prstGeom prst="rect">
            <a:avLst/>
          </a:prstGeom>
          <a:solidFill>
            <a:srgbClr val="E8FE46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alt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7A061D60-E929-B83F-6299-5D86A81CFF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196976"/>
            <a:ext cx="10539412" cy="188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	</a:t>
            </a: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Ο Νικολάου μόλις έδωσε την παραγγελία του στην Μαίρη. Για να μην περιμένει όρθιος μέχρι αυτή να ετοιμαστεί ζητά από την Μαίρη να τον ειδοποιήσει. Απαραίτητη προϋπόθεση είναι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:</a:t>
            </a: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endParaRPr kumimoji="0" lang="en-US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η γνωστοποίηση του ονόματος του (της αναφοράς του) στην Μαίρη και </a:t>
            </a:r>
            <a:endParaRPr kumimoji="0" lang="en-US" altLang="el-G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η γνώση που θα πρέπει να έχει ο Νικολάου (</a:t>
            </a:r>
            <a:r>
              <a:rPr kumimoji="0" lang="en-US" altLang="el-G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event</a:t>
            </a:r>
            <a:r>
              <a:rPr kumimoji="0" lang="el-GR" altLang="el-G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 </a:t>
            </a:r>
            <a:r>
              <a:rPr kumimoji="0" lang="en-US" altLang="el-G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Listener</a:t>
            </a:r>
            <a:r>
              <a:rPr kumimoji="0" lang="el-GR" altLang="el-G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) για το πως θα αντιδράσει όταν η Μαίρη του αποστείλει το μήνυμα «Νικολάου έτοιμος».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115AFAD6-8994-4467-99F3-42DA081D0A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669" y="4017150"/>
            <a:ext cx="10825162" cy="1888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defRPr/>
            </a:pPr>
            <a:r>
              <a:rPr lang="en-US" sz="2000" kern="0" dirty="0">
                <a:solidFill>
                  <a:srgbClr val="000000"/>
                </a:solidFill>
                <a:latin typeface="Tahoma"/>
              </a:rPr>
              <a:t>	</a:t>
            </a:r>
            <a:r>
              <a:rPr lang="el-GR" sz="2400" kern="0" dirty="0">
                <a:solidFill>
                  <a:srgbClr val="000000"/>
                </a:solidFill>
                <a:latin typeface="Times New Roman" pitchFamily="18" charset="0"/>
              </a:rPr>
              <a:t>Ο Νικολάου κάθεται σε ένα τραπέζι και αναμένει την ειδοποίηση της Μαίρης.</a:t>
            </a:r>
            <a:r>
              <a:rPr lang="en-US" sz="2400" kern="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l-GR" sz="2400" kern="0" dirty="0">
                <a:solidFill>
                  <a:srgbClr val="000000"/>
                </a:solidFill>
                <a:latin typeface="Times New Roman" pitchFamily="18" charset="0"/>
              </a:rPr>
              <a:t>Όταν η παραγγελία του Νικολάου ετοιμασθεί (</a:t>
            </a:r>
            <a:r>
              <a:rPr lang="el-GR" sz="2400" kern="0" dirty="0">
                <a:solidFill>
                  <a:srgbClr val="990000"/>
                </a:solidFill>
                <a:latin typeface="Times New Roman" pitchFamily="18" charset="0"/>
              </a:rPr>
              <a:t>συμβεί το </a:t>
            </a:r>
            <a:r>
              <a:rPr lang="en-US" sz="2400" kern="0" dirty="0">
                <a:solidFill>
                  <a:srgbClr val="990000"/>
                </a:solidFill>
                <a:latin typeface="Times New Roman" pitchFamily="18" charset="0"/>
              </a:rPr>
              <a:t>event</a:t>
            </a:r>
            <a:r>
              <a:rPr lang="el-GR" sz="2400" kern="0" dirty="0">
                <a:solidFill>
                  <a:srgbClr val="990000"/>
                </a:solidFill>
                <a:latin typeface="Times New Roman" pitchFamily="18" charset="0"/>
              </a:rPr>
              <a:t> για το οποίο έκανε </a:t>
            </a:r>
            <a:r>
              <a:rPr lang="en-US" sz="2400" kern="0" dirty="0">
                <a:solidFill>
                  <a:srgbClr val="990000"/>
                </a:solidFill>
                <a:latin typeface="Times New Roman" pitchFamily="18" charset="0"/>
              </a:rPr>
              <a:t>register</a:t>
            </a:r>
            <a:r>
              <a:rPr lang="el-GR" sz="2400" kern="0" dirty="0">
                <a:solidFill>
                  <a:srgbClr val="990000"/>
                </a:solidFill>
                <a:latin typeface="Times New Roman" pitchFamily="18" charset="0"/>
              </a:rPr>
              <a:t> ο Νικολάου</a:t>
            </a:r>
            <a:r>
              <a:rPr lang="el-GR" sz="2400" kern="0" dirty="0">
                <a:solidFill>
                  <a:srgbClr val="000000"/>
                </a:solidFill>
                <a:latin typeface="Times New Roman" pitchFamily="18" charset="0"/>
              </a:rPr>
              <a:t>) η Μαίρη δημιουργεί το μήνυμα «παραγγελία έτοιμη» και το αποστέλλει στον Νικολάου. </a:t>
            </a: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defRPr/>
            </a:pPr>
            <a:r>
              <a:rPr lang="el-GR" sz="2400" kern="0" dirty="0">
                <a:solidFill>
                  <a:srgbClr val="000000"/>
                </a:solidFill>
                <a:latin typeface="Times New Roman" pitchFamily="18" charset="0"/>
              </a:rPr>
              <a:t>	Ο Νικολάου, που </a:t>
            </a:r>
            <a:r>
              <a:rPr lang="el-GR" sz="2400" b="1" kern="0" dirty="0">
                <a:solidFill>
                  <a:srgbClr val="000000"/>
                </a:solidFill>
                <a:latin typeface="Times New Roman" pitchFamily="18" charset="0"/>
              </a:rPr>
              <a:t>πρέπει να γνωρίζει πως αντιδρά στο </a:t>
            </a:r>
            <a:r>
              <a:rPr lang="en-US" sz="2400" b="1" kern="0" dirty="0">
                <a:solidFill>
                  <a:srgbClr val="000000"/>
                </a:solidFill>
                <a:latin typeface="Times New Roman" pitchFamily="18" charset="0"/>
              </a:rPr>
              <a:t>event</a:t>
            </a:r>
            <a:r>
              <a:rPr lang="el-GR" sz="2400" kern="0" dirty="0">
                <a:solidFill>
                  <a:srgbClr val="000000"/>
                </a:solidFill>
                <a:latin typeface="Times New Roman" pitchFamily="18" charset="0"/>
              </a:rPr>
              <a:t> «παραγγελία έτοιμη», εκτελεί τις ενέργειες που η υλοποίηση της αντίστοιχης μεθόδου ορίζει.</a:t>
            </a:r>
            <a:endParaRPr lang="en-US" sz="2400" kern="0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4880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build="p"/>
      <p:bldP spid="7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81001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>
                <a:solidFill>
                  <a:srgbClr val="F9853D"/>
                </a:solidFill>
                <a:latin typeface="Bahnschrift" panose="020B0502040204020203" pitchFamily="34" charset="0"/>
              </a:rPr>
              <a:t>Οργάνωση Διάλεξης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179824" y="6581001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Event Handling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8249AB5-3679-9512-97D2-71074F95D0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882" y="737724"/>
            <a:ext cx="9273564" cy="439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lang="el-GR" altLang="el-GR" kern="0" dirty="0">
                <a:solidFill>
                  <a:srgbClr val="000000"/>
                </a:solidFill>
                <a:latin typeface="Tahoma"/>
              </a:rPr>
              <a:t>Βασικές έννοιες</a:t>
            </a:r>
            <a:endParaRPr lang="en-GB" altLang="el-GR" kern="0" dirty="0">
              <a:solidFill>
                <a:srgbClr val="000000"/>
              </a:solidFill>
              <a:latin typeface="Tahoma"/>
            </a:endParaRPr>
          </a:p>
          <a:p>
            <a:pPr lvl="1" indent="-342900" eaLnBrk="1" hangingPunct="1">
              <a:buClr>
                <a:srgbClr val="3333CC"/>
              </a:buClr>
              <a:buSzPct val="60000"/>
              <a:defRPr/>
            </a:pPr>
            <a:r>
              <a:rPr lang="en-GB" altLang="el-GR" kern="0" dirty="0">
                <a:solidFill>
                  <a:srgbClr val="000000"/>
                </a:solidFill>
                <a:latin typeface="Tahoma"/>
              </a:rPr>
              <a:t>Delegation Event Model</a:t>
            </a:r>
          </a:p>
          <a:p>
            <a:pPr lvl="1" indent="-342900" eaLnBrk="1" hangingPunct="1">
              <a:buClr>
                <a:srgbClr val="3333CC"/>
              </a:buClr>
              <a:buSzPct val="60000"/>
              <a:defRPr/>
            </a:pPr>
            <a:r>
              <a:rPr kumimoji="0" lang="en-GB" alt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Event </a:t>
            </a:r>
            <a:r>
              <a:rPr lang="en-GB" altLang="el-GR" kern="0" dirty="0">
                <a:solidFill>
                  <a:srgbClr val="000000"/>
                </a:solidFill>
                <a:latin typeface="Tahoma"/>
              </a:rPr>
              <a:t>Handling </a:t>
            </a:r>
            <a:r>
              <a:rPr lang="el-GR" altLang="el-GR" kern="0" dirty="0">
                <a:solidFill>
                  <a:srgbClr val="000000"/>
                </a:solidFill>
                <a:latin typeface="Tahoma"/>
              </a:rPr>
              <a:t>στο </a:t>
            </a:r>
            <a:r>
              <a:rPr lang="en-GB" altLang="el-GR" kern="0" dirty="0">
                <a:solidFill>
                  <a:srgbClr val="000000"/>
                </a:solidFill>
                <a:latin typeface="Tahoma"/>
              </a:rPr>
              <a:t>Goody’s</a:t>
            </a:r>
            <a:endParaRPr kumimoji="0" lang="en-US" altLang="el-GR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Event Handling in Java Gui</a:t>
            </a:r>
          </a:p>
          <a:p>
            <a:pPr lvl="1" indent="-342900" eaLnBrk="1" hangingPunct="1">
              <a:buClr>
                <a:srgbClr val="3333CC"/>
              </a:buClr>
              <a:buSzPct val="60000"/>
              <a:defRPr/>
            </a:pPr>
            <a:r>
              <a:rPr lang="en-US" altLang="el-GR" kern="0" dirty="0">
                <a:solidFill>
                  <a:srgbClr val="000000"/>
                </a:solidFill>
                <a:latin typeface="Tahoma"/>
              </a:rPr>
              <a:t>ActionListener Interface</a:t>
            </a:r>
          </a:p>
          <a:p>
            <a:pPr lvl="1" indent="-342900" eaLnBrk="1" hangingPunct="1">
              <a:buClr>
                <a:srgbClr val="3333CC"/>
              </a:buClr>
              <a:buSzPct val="60000"/>
              <a:defRPr/>
            </a:pPr>
            <a:r>
              <a:rPr kumimoji="0" lang="en-GB" alt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Design For Flexibility and Maintainability</a:t>
            </a:r>
            <a:endParaRPr kumimoji="0" lang="en-US" altLang="el-GR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lang="en-GB" altLang="el-GR" b="1" kern="0" dirty="0" err="1">
                <a:solidFill>
                  <a:srgbClr val="000000"/>
                </a:solidFill>
                <a:latin typeface="Tahoma"/>
              </a:rPr>
              <a:t>WindowsApp</a:t>
            </a:r>
            <a:r>
              <a:rPr lang="en-GB" altLang="el-GR" b="1" kern="0" dirty="0">
                <a:solidFill>
                  <a:srgbClr val="000000"/>
                </a:solidFill>
                <a:latin typeface="Tahoma"/>
              </a:rPr>
              <a:t> </a:t>
            </a:r>
            <a:r>
              <a:rPr lang="el-GR" altLang="el-GR" b="1" kern="0" dirty="0">
                <a:solidFill>
                  <a:srgbClr val="000000"/>
                </a:solidFill>
                <a:latin typeface="Tahoma"/>
              </a:rPr>
              <a:t>με</a:t>
            </a:r>
            <a:r>
              <a:rPr lang="en-GB" altLang="el-GR" b="1" kern="0" dirty="0">
                <a:solidFill>
                  <a:srgbClr val="000000"/>
                </a:solidFill>
                <a:latin typeface="Tahoma"/>
              </a:rPr>
              <a:t> Graphics</a:t>
            </a:r>
            <a:endParaRPr kumimoji="0" lang="en-US" altLang="el-GR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RpnCalculator</a:t>
            </a:r>
            <a:r>
              <a:rPr kumimoji="0" lang="en-US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kumimoji="0" lang="el-GR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εναλλακτικές υλοποιήσεις</a:t>
            </a:r>
            <a:endParaRPr kumimoji="0" lang="en-US" altLang="el-G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lvl="1" indent="-342900" eaLnBrk="1" hangingPunct="1">
              <a:buClr>
                <a:srgbClr val="3333CC"/>
              </a:buClr>
              <a:buSzPct val="60000"/>
              <a:defRPr/>
            </a:pPr>
            <a:r>
              <a:rPr lang="el-GR" altLang="el-GR" kern="0" dirty="0">
                <a:solidFill>
                  <a:srgbClr val="000000"/>
                </a:solidFill>
                <a:latin typeface="Tahoma"/>
              </a:rPr>
              <a:t>Εσωτερική (</a:t>
            </a:r>
            <a:r>
              <a:rPr lang="en-GB" altLang="el-GR" kern="0" dirty="0" err="1">
                <a:solidFill>
                  <a:srgbClr val="000000"/>
                </a:solidFill>
                <a:latin typeface="Tahoma"/>
              </a:rPr>
              <a:t>i</a:t>
            </a:r>
            <a:r>
              <a:rPr lang="en-US" altLang="el-GR" kern="0" dirty="0" err="1">
                <a:solidFill>
                  <a:srgbClr val="000000"/>
                </a:solidFill>
                <a:latin typeface="Tahoma"/>
              </a:rPr>
              <a:t>nner</a:t>
            </a:r>
            <a:r>
              <a:rPr lang="en-US" altLang="el-GR" kern="0" dirty="0">
                <a:solidFill>
                  <a:srgbClr val="000000"/>
                </a:solidFill>
                <a:latin typeface="Tahoma"/>
              </a:rPr>
              <a:t>) </a:t>
            </a:r>
            <a:r>
              <a:rPr lang="el-GR" altLang="el-GR" kern="0" dirty="0">
                <a:solidFill>
                  <a:srgbClr val="000000"/>
                </a:solidFill>
                <a:latin typeface="Tahoma"/>
              </a:rPr>
              <a:t>κλάση</a:t>
            </a:r>
            <a:endParaRPr lang="en-US" altLang="el-GR" kern="0" dirty="0">
              <a:solidFill>
                <a:srgbClr val="000000"/>
              </a:solidFill>
              <a:latin typeface="Tahoma"/>
            </a:endParaRPr>
          </a:p>
          <a:p>
            <a:pPr lvl="1" indent="-342900" eaLnBrk="1" hangingPunct="1">
              <a:buClr>
                <a:srgbClr val="3333CC"/>
              </a:buClr>
              <a:buSzPct val="60000"/>
              <a:defRPr/>
            </a:pPr>
            <a:r>
              <a:rPr lang="el-GR" altLang="el-GR" kern="0" dirty="0">
                <a:solidFill>
                  <a:srgbClr val="000000"/>
                </a:solidFill>
                <a:latin typeface="Tahoma"/>
              </a:rPr>
              <a:t>Ανώνυμη</a:t>
            </a:r>
            <a:r>
              <a:rPr kumimoji="0" lang="en-US" alt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(anonymous) </a:t>
            </a:r>
            <a:r>
              <a:rPr lang="el-GR" altLang="el-GR" kern="0" dirty="0">
                <a:solidFill>
                  <a:srgbClr val="000000"/>
                </a:solidFill>
                <a:latin typeface="Tahoma"/>
              </a:rPr>
              <a:t>κλάση</a:t>
            </a:r>
            <a:endParaRPr kumimoji="0" lang="en-US" altLang="el-GR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lvl="1" indent="-342900" eaLnBrk="1" hangingPunct="1">
              <a:buClr>
                <a:srgbClr val="3333CC"/>
              </a:buClr>
              <a:buSzPct val="60000"/>
              <a:defRPr/>
            </a:pPr>
            <a:r>
              <a:rPr lang="el-GR" altLang="el-GR" kern="0" dirty="0">
                <a:solidFill>
                  <a:srgbClr val="000000"/>
                </a:solidFill>
                <a:latin typeface="Tahoma"/>
              </a:rPr>
              <a:t>έκφραση</a:t>
            </a:r>
            <a:r>
              <a:rPr lang="en-US" altLang="el-GR" kern="0" dirty="0">
                <a:solidFill>
                  <a:srgbClr val="000000"/>
                </a:solidFill>
                <a:latin typeface="Tahoma"/>
              </a:rPr>
              <a:t> Lambda</a:t>
            </a:r>
            <a:r>
              <a:rPr lang="el-GR" altLang="el-GR" kern="0" dirty="0">
                <a:solidFill>
                  <a:srgbClr val="000000"/>
                </a:solidFill>
                <a:latin typeface="Tahoma"/>
              </a:rPr>
              <a:t> (</a:t>
            </a:r>
            <a:r>
              <a:rPr lang="en-GB" altLang="el-GR" kern="0" dirty="0">
                <a:solidFill>
                  <a:srgbClr val="000000"/>
                </a:solidFill>
                <a:latin typeface="Tahoma"/>
              </a:rPr>
              <a:t>lambda expression)</a:t>
            </a:r>
            <a:endParaRPr kumimoji="0" lang="en-US" altLang="el-GR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n-US" altLang="el-GR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n-US" altLang="el-G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n-US" altLang="el-G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n-US" altLang="el-G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n-GB" altLang="el-G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n-GB" altLang="el-G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1996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81001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WindowsApp</a:t>
            </a:r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με γραφική </a:t>
            </a:r>
            <a:r>
              <a:rPr lang="el-GR" sz="4000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διεπαφή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</a:t>
            </a:r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V1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179824" y="6581001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Event Handling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58CEC9-FB9C-EA5C-749F-CCC3A8835E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984" y="886991"/>
            <a:ext cx="5068007" cy="33627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93D08B5-CBA7-80A9-9509-CEE1C38BFA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4153" y="914049"/>
            <a:ext cx="3057952" cy="251495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C2DAAE8-FC12-34EA-D6F7-4BAAB14186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01559" y="2604761"/>
            <a:ext cx="2990440" cy="107499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2A525A7-592B-90C5-0C65-C4B0211092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6464" y="5324780"/>
            <a:ext cx="11215378" cy="121403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0175584-FAFF-FA2F-106B-9FF17B32101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71720" y="4123765"/>
            <a:ext cx="8079611" cy="999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84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81001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WindowsApp</a:t>
            </a:r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με γραφική </a:t>
            </a:r>
            <a:r>
              <a:rPr lang="el-GR" sz="4000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διεπαφή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</a:t>
            </a:r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V2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179824" y="6581001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Event Handling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BF55BCA-3723-03A1-C6C6-F259F968AD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37724"/>
            <a:ext cx="4715435" cy="422031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908B9E8-49D9-2B16-118C-B7763A8CE9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2610" y="753412"/>
            <a:ext cx="4563582" cy="408560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61685E7-55BD-7544-C145-5B8CA4B616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2121" y="5008129"/>
            <a:ext cx="4164202" cy="138806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D458513-463A-C6CF-E9D8-D237111789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2068" y="5010928"/>
            <a:ext cx="7267811" cy="97718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2E9C1FB-C2B7-9C8C-91E9-9D551015014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9339" y="6022194"/>
            <a:ext cx="3865062" cy="438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499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81001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>
                <a:solidFill>
                  <a:srgbClr val="F9853D"/>
                </a:solidFill>
                <a:latin typeface="Bahnschrift" panose="020B0502040204020203" pitchFamily="34" charset="0"/>
              </a:rPr>
              <a:t>Οργάνωση Διάλεξης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179824" y="6581001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Event Handling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8249AB5-3679-9512-97D2-71074F95D0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882" y="737724"/>
            <a:ext cx="9273564" cy="439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lang="el-GR" altLang="el-GR" kern="0" dirty="0">
                <a:solidFill>
                  <a:srgbClr val="000000"/>
                </a:solidFill>
                <a:latin typeface="Tahoma"/>
              </a:rPr>
              <a:t>Βασικές έννοιες</a:t>
            </a:r>
            <a:endParaRPr lang="en-GB" altLang="el-GR" kern="0" dirty="0">
              <a:solidFill>
                <a:srgbClr val="000000"/>
              </a:solidFill>
              <a:latin typeface="Tahoma"/>
            </a:endParaRPr>
          </a:p>
          <a:p>
            <a:pPr lvl="1" indent="-342900" eaLnBrk="1" hangingPunct="1">
              <a:buClr>
                <a:srgbClr val="3333CC"/>
              </a:buClr>
              <a:buSzPct val="60000"/>
              <a:defRPr/>
            </a:pPr>
            <a:r>
              <a:rPr lang="en-GB" altLang="el-GR" kern="0" dirty="0">
                <a:solidFill>
                  <a:srgbClr val="000000"/>
                </a:solidFill>
                <a:latin typeface="Tahoma"/>
              </a:rPr>
              <a:t>Delegation Event Model</a:t>
            </a:r>
          </a:p>
          <a:p>
            <a:pPr lvl="1" indent="-342900" eaLnBrk="1" hangingPunct="1">
              <a:buClr>
                <a:srgbClr val="3333CC"/>
              </a:buClr>
              <a:buSzPct val="60000"/>
              <a:defRPr/>
            </a:pPr>
            <a:r>
              <a:rPr kumimoji="0" lang="en-GB" alt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Event </a:t>
            </a:r>
            <a:r>
              <a:rPr lang="en-GB" altLang="el-GR" kern="0" dirty="0">
                <a:solidFill>
                  <a:srgbClr val="000000"/>
                </a:solidFill>
                <a:latin typeface="Tahoma"/>
              </a:rPr>
              <a:t>Handling </a:t>
            </a:r>
            <a:r>
              <a:rPr lang="el-GR" altLang="el-GR" kern="0" dirty="0">
                <a:solidFill>
                  <a:srgbClr val="000000"/>
                </a:solidFill>
                <a:latin typeface="Tahoma"/>
              </a:rPr>
              <a:t>στο </a:t>
            </a:r>
            <a:r>
              <a:rPr lang="en-GB" altLang="el-GR" kern="0" dirty="0">
                <a:solidFill>
                  <a:srgbClr val="000000"/>
                </a:solidFill>
                <a:latin typeface="Tahoma"/>
              </a:rPr>
              <a:t>Goody’s</a:t>
            </a:r>
            <a:endParaRPr kumimoji="0" lang="en-US" altLang="el-GR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Event Handling in Java Gui</a:t>
            </a:r>
          </a:p>
          <a:p>
            <a:pPr lvl="1" indent="-342900" eaLnBrk="1" hangingPunct="1">
              <a:buClr>
                <a:srgbClr val="3333CC"/>
              </a:buClr>
              <a:buSzPct val="60000"/>
              <a:defRPr/>
            </a:pPr>
            <a:r>
              <a:rPr lang="en-US" altLang="el-GR" kern="0" dirty="0">
                <a:solidFill>
                  <a:srgbClr val="000000"/>
                </a:solidFill>
                <a:latin typeface="Tahoma"/>
              </a:rPr>
              <a:t>ActionListener Interface</a:t>
            </a:r>
          </a:p>
          <a:p>
            <a:pPr lvl="1" indent="-342900" eaLnBrk="1" hangingPunct="1">
              <a:buClr>
                <a:srgbClr val="3333CC"/>
              </a:buClr>
              <a:buSzPct val="60000"/>
              <a:defRPr/>
            </a:pPr>
            <a:r>
              <a:rPr kumimoji="0" lang="en-GB" alt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Design For Flexibility and Maintainability</a:t>
            </a:r>
            <a:endParaRPr kumimoji="0" lang="en-US" altLang="el-GR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lang="en-GB" altLang="el-GR" kern="0" dirty="0" err="1">
                <a:solidFill>
                  <a:srgbClr val="000000"/>
                </a:solidFill>
                <a:latin typeface="Tahoma"/>
              </a:rPr>
              <a:t>WindowsApp</a:t>
            </a:r>
            <a:r>
              <a:rPr lang="en-GB" altLang="el-GR" kern="0" dirty="0">
                <a:solidFill>
                  <a:srgbClr val="000000"/>
                </a:solidFill>
                <a:latin typeface="Tahoma"/>
              </a:rPr>
              <a:t> </a:t>
            </a:r>
            <a:r>
              <a:rPr lang="el-GR" altLang="el-GR" kern="0" dirty="0">
                <a:solidFill>
                  <a:srgbClr val="000000"/>
                </a:solidFill>
                <a:latin typeface="Tahoma"/>
              </a:rPr>
              <a:t>με</a:t>
            </a:r>
            <a:r>
              <a:rPr lang="en-GB" altLang="el-GR" kern="0" dirty="0">
                <a:solidFill>
                  <a:srgbClr val="000000"/>
                </a:solidFill>
                <a:latin typeface="Tahoma"/>
              </a:rPr>
              <a:t> Graphics</a:t>
            </a:r>
            <a:endParaRPr kumimoji="0" lang="en-US" altLang="el-GR" sz="32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32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RpnCalculator</a:t>
            </a:r>
            <a:r>
              <a:rPr kumimoji="0" lang="en-US" altLang="el-GR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kumimoji="0" lang="el-GR" altLang="el-GR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εναλλακτικές υλοποιήσεις</a:t>
            </a:r>
            <a:endParaRPr kumimoji="0" lang="en-US" altLang="el-GR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lvl="1" indent="-342900" eaLnBrk="1" hangingPunct="1">
              <a:buClr>
                <a:srgbClr val="3333CC"/>
              </a:buClr>
              <a:buSzPct val="60000"/>
              <a:defRPr/>
            </a:pPr>
            <a:r>
              <a:rPr lang="el-GR" altLang="el-GR" kern="0" dirty="0">
                <a:solidFill>
                  <a:srgbClr val="000000"/>
                </a:solidFill>
                <a:latin typeface="Tahoma"/>
              </a:rPr>
              <a:t>Εσωτερική (</a:t>
            </a:r>
            <a:r>
              <a:rPr lang="en-GB" altLang="el-GR" kern="0" dirty="0" err="1">
                <a:solidFill>
                  <a:srgbClr val="000000"/>
                </a:solidFill>
                <a:latin typeface="Tahoma"/>
              </a:rPr>
              <a:t>i</a:t>
            </a:r>
            <a:r>
              <a:rPr lang="en-US" altLang="el-GR" kern="0" dirty="0" err="1">
                <a:solidFill>
                  <a:srgbClr val="000000"/>
                </a:solidFill>
                <a:latin typeface="Tahoma"/>
              </a:rPr>
              <a:t>nner</a:t>
            </a:r>
            <a:r>
              <a:rPr lang="en-US" altLang="el-GR" kern="0" dirty="0">
                <a:solidFill>
                  <a:srgbClr val="000000"/>
                </a:solidFill>
                <a:latin typeface="Tahoma"/>
              </a:rPr>
              <a:t>) </a:t>
            </a:r>
            <a:r>
              <a:rPr lang="el-GR" altLang="el-GR" kern="0" dirty="0">
                <a:solidFill>
                  <a:srgbClr val="000000"/>
                </a:solidFill>
                <a:latin typeface="Tahoma"/>
              </a:rPr>
              <a:t>κλάση</a:t>
            </a:r>
            <a:endParaRPr lang="en-US" altLang="el-GR" kern="0" dirty="0">
              <a:solidFill>
                <a:srgbClr val="000000"/>
              </a:solidFill>
              <a:latin typeface="Tahoma"/>
            </a:endParaRPr>
          </a:p>
          <a:p>
            <a:pPr lvl="1" indent="-342900" eaLnBrk="1" hangingPunct="1">
              <a:buClr>
                <a:srgbClr val="3333CC"/>
              </a:buClr>
              <a:buSzPct val="60000"/>
              <a:defRPr/>
            </a:pPr>
            <a:r>
              <a:rPr lang="el-GR" altLang="el-GR" kern="0" dirty="0">
                <a:solidFill>
                  <a:srgbClr val="000000"/>
                </a:solidFill>
                <a:latin typeface="Tahoma"/>
              </a:rPr>
              <a:t>Ανώνυμη</a:t>
            </a:r>
            <a:r>
              <a:rPr kumimoji="0" lang="en-US" alt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(anonymous) </a:t>
            </a:r>
            <a:r>
              <a:rPr lang="el-GR" altLang="el-GR" kern="0" dirty="0">
                <a:solidFill>
                  <a:srgbClr val="000000"/>
                </a:solidFill>
                <a:latin typeface="Tahoma"/>
              </a:rPr>
              <a:t>κλάση</a:t>
            </a:r>
            <a:endParaRPr kumimoji="0" lang="en-US" altLang="el-GR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lvl="1" indent="-342900" eaLnBrk="1" hangingPunct="1">
              <a:buClr>
                <a:srgbClr val="3333CC"/>
              </a:buClr>
              <a:buSzPct val="60000"/>
              <a:defRPr/>
            </a:pPr>
            <a:r>
              <a:rPr lang="el-GR" altLang="el-GR" kern="0" dirty="0">
                <a:solidFill>
                  <a:srgbClr val="000000"/>
                </a:solidFill>
                <a:latin typeface="Tahoma"/>
              </a:rPr>
              <a:t>έκφραση</a:t>
            </a:r>
            <a:r>
              <a:rPr lang="en-US" altLang="el-GR" kern="0" dirty="0">
                <a:solidFill>
                  <a:srgbClr val="000000"/>
                </a:solidFill>
                <a:latin typeface="Tahoma"/>
              </a:rPr>
              <a:t> Lambda</a:t>
            </a:r>
            <a:r>
              <a:rPr lang="el-GR" altLang="el-GR" kern="0" dirty="0">
                <a:solidFill>
                  <a:srgbClr val="000000"/>
                </a:solidFill>
                <a:latin typeface="Tahoma"/>
              </a:rPr>
              <a:t> (</a:t>
            </a:r>
            <a:r>
              <a:rPr lang="en-GB" altLang="el-GR" kern="0" dirty="0">
                <a:solidFill>
                  <a:srgbClr val="000000"/>
                </a:solidFill>
                <a:latin typeface="Tahoma"/>
              </a:rPr>
              <a:t>lambda expression)</a:t>
            </a:r>
            <a:endParaRPr kumimoji="0" lang="en-US" altLang="el-GR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n-US" altLang="el-GR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n-US" altLang="el-G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n-US" altLang="el-G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n-US" altLang="el-G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n-GB" altLang="el-G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n-GB" altLang="el-G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075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81001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Example code 1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179824" y="6581001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Event Handling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262AD3ED-2063-3F93-F904-A2814F105E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908050"/>
            <a:ext cx="8769350" cy="600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l-GR" altLang="el-GR" sz="2400" dirty="0" err="1"/>
              <a:t>public</a:t>
            </a:r>
            <a:r>
              <a:rPr lang="el-GR" altLang="el-GR" sz="2400" dirty="0"/>
              <a:t> </a:t>
            </a:r>
            <a:r>
              <a:rPr lang="el-GR" altLang="el-GR" sz="2400" dirty="0" err="1"/>
              <a:t>class</a:t>
            </a:r>
            <a:r>
              <a:rPr lang="el-GR" altLang="el-GR" sz="2400" dirty="0"/>
              <a:t> </a:t>
            </a:r>
            <a:r>
              <a:rPr lang="en-GB" altLang="el-GR" sz="2400" dirty="0" err="1"/>
              <a:t>RpnCalculator</a:t>
            </a:r>
            <a:r>
              <a:rPr lang="el-GR" altLang="el-GR" sz="2400" dirty="0"/>
              <a:t> </a:t>
            </a:r>
            <a:r>
              <a:rPr lang="el-GR" altLang="el-GR" sz="2400" b="1" dirty="0">
                <a:solidFill>
                  <a:srgbClr val="7030A0"/>
                </a:solidFill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l-GR" altLang="el-GR" sz="2400" dirty="0"/>
              <a:t>	</a:t>
            </a:r>
            <a:r>
              <a:rPr lang="el-GR" altLang="el-GR" sz="2400" b="1" dirty="0" err="1">
                <a:solidFill>
                  <a:srgbClr val="FF0000"/>
                </a:solidFill>
              </a:rPr>
              <a:t>public</a:t>
            </a:r>
            <a:r>
              <a:rPr lang="el-GR" altLang="el-GR" sz="2400" dirty="0"/>
              <a:t> </a:t>
            </a:r>
            <a:r>
              <a:rPr lang="el-GR" altLang="el-GR" sz="2400" dirty="0" err="1"/>
              <a:t>static</a:t>
            </a:r>
            <a:r>
              <a:rPr lang="el-GR" altLang="el-GR" sz="2400" dirty="0"/>
              <a:t> </a:t>
            </a:r>
            <a:r>
              <a:rPr lang="el-GR" altLang="el-GR" sz="2400" dirty="0" err="1"/>
              <a:t>Operand</a:t>
            </a:r>
            <a:r>
              <a:rPr lang="el-GR" altLang="el-GR" sz="2400" dirty="0"/>
              <a:t> </a:t>
            </a:r>
            <a:r>
              <a:rPr lang="el-GR" altLang="el-GR" sz="2400" i="1" dirty="0" err="1"/>
              <a:t>op</a:t>
            </a:r>
            <a:r>
              <a:rPr lang="el-GR" altLang="el-GR" sz="2400" dirty="0"/>
              <a:t>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l-GR" sz="2400" dirty="0"/>
              <a:t>	…</a:t>
            </a:r>
            <a:endParaRPr lang="el-GR" altLang="el-GR" sz="2400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l-GR" sz="2400" dirty="0"/>
              <a:t>	</a:t>
            </a:r>
            <a:r>
              <a:rPr lang="en-US" altLang="el-GR" sz="2400" b="1" dirty="0">
                <a:solidFill>
                  <a:srgbClr val="7030A0"/>
                </a:solidFill>
              </a:rPr>
              <a:t>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l-GR" altLang="el-GR" sz="2400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l-GR" sz="2400" dirty="0"/>
              <a:t>public class </a:t>
            </a:r>
            <a:r>
              <a:rPr lang="en-US" altLang="el-GR" sz="2400" dirty="0" err="1"/>
              <a:t>CalculatorGui</a:t>
            </a:r>
            <a:r>
              <a:rPr lang="en-US" altLang="el-GR" sz="2400" dirty="0"/>
              <a:t> extends Frame</a:t>
            </a:r>
            <a:r>
              <a:rPr lang="en-US" altLang="el-GR" sz="2400" b="1" dirty="0">
                <a:solidFill>
                  <a:srgbClr val="7030A0"/>
                </a:solidFill>
              </a:rPr>
              <a:t>{</a:t>
            </a:r>
            <a:endParaRPr lang="el-GR" altLang="el-GR" sz="2400" b="1" dirty="0">
              <a:solidFill>
                <a:srgbClr val="7030A0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l-GR" sz="2400" dirty="0"/>
              <a:t>	private Operand op;</a:t>
            </a:r>
            <a:endParaRPr lang="el-GR" altLang="el-GR" sz="2400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l-GR" sz="2400" dirty="0"/>
              <a:t>	…</a:t>
            </a:r>
            <a:endParaRPr lang="el-GR" altLang="el-GR" sz="2400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l-GR" sz="2400" dirty="0"/>
              <a:t>	</a:t>
            </a:r>
            <a:r>
              <a:rPr lang="en-US" altLang="el-GR" sz="2400" b="1" dirty="0">
                <a:solidFill>
                  <a:srgbClr val="7030A0"/>
                </a:solidFill>
              </a:rPr>
              <a:t>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l-GR" altLang="el-GR" sz="2400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l-GR" sz="2400" dirty="0"/>
              <a:t>class Button2Handler implements ActionListener </a:t>
            </a:r>
            <a:r>
              <a:rPr lang="en-US" altLang="el-GR" sz="2400" b="1" dirty="0">
                <a:solidFill>
                  <a:srgbClr val="7030A0"/>
                </a:solidFill>
              </a:rPr>
              <a:t>{</a:t>
            </a:r>
            <a:endParaRPr lang="el-GR" altLang="el-GR" sz="2400" b="1" dirty="0">
              <a:solidFill>
                <a:srgbClr val="7030A0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l-GR" sz="2400" dirty="0"/>
              <a:t>   public void </a:t>
            </a:r>
            <a:r>
              <a:rPr lang="en-US" altLang="el-GR" sz="2400" dirty="0" err="1"/>
              <a:t>actionPerformed</a:t>
            </a:r>
            <a:r>
              <a:rPr lang="en-US" altLang="el-GR" sz="2400" dirty="0"/>
              <a:t>(</a:t>
            </a:r>
            <a:r>
              <a:rPr lang="en-US" altLang="el-GR" sz="2400" dirty="0" err="1"/>
              <a:t>ActionEvent</a:t>
            </a:r>
            <a:r>
              <a:rPr lang="en-US" altLang="el-GR" sz="2400" dirty="0"/>
              <a:t> e){ </a:t>
            </a:r>
            <a:endParaRPr lang="el-GR" altLang="el-GR" sz="2400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l-GR" sz="2400" dirty="0"/>
              <a:t>	</a:t>
            </a:r>
            <a:r>
              <a:rPr lang="en-GB" altLang="el-GR" sz="2400" dirty="0"/>
              <a:t> </a:t>
            </a:r>
            <a:r>
              <a:rPr lang="en-GB" altLang="el-GR" sz="2400" dirty="0" err="1"/>
              <a:t>RpnCalculator</a:t>
            </a:r>
            <a:r>
              <a:rPr lang="en-US" altLang="el-GR" sz="2400" dirty="0"/>
              <a:t>.</a:t>
            </a:r>
            <a:r>
              <a:rPr lang="en-US" altLang="el-GR" sz="2400" i="1" dirty="0" err="1">
                <a:solidFill>
                  <a:srgbClr val="C00000"/>
                </a:solidFill>
              </a:rPr>
              <a:t>op</a:t>
            </a:r>
            <a:r>
              <a:rPr lang="en-US" altLang="el-GR" sz="2400" dirty="0" err="1">
                <a:solidFill>
                  <a:srgbClr val="C00000"/>
                </a:solidFill>
              </a:rPr>
              <a:t>.addDigit</a:t>
            </a:r>
            <a:r>
              <a:rPr lang="en-US" altLang="el-GR" sz="2400" dirty="0"/>
              <a:t>('2');</a:t>
            </a:r>
            <a:endParaRPr lang="el-GR" altLang="el-GR" sz="2400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l-GR" sz="2400" dirty="0"/>
              <a:t>	}</a:t>
            </a:r>
            <a:endParaRPr lang="el-GR" altLang="el-GR" sz="2400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l-GR" sz="2400" dirty="0"/>
              <a:t>   </a:t>
            </a:r>
            <a:r>
              <a:rPr lang="en-US" altLang="el-GR" sz="2400" b="1" dirty="0">
                <a:solidFill>
                  <a:srgbClr val="7030A0"/>
                </a:solidFill>
              </a:rPr>
              <a:t>}</a:t>
            </a:r>
            <a:endParaRPr lang="el-GR" altLang="el-GR" sz="2400" b="1" dirty="0">
              <a:solidFill>
                <a:srgbClr val="7030A0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l-GR" altLang="el-GR" sz="2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5D5EFC-96F9-0D4B-807D-0590EE6E5D45}"/>
              </a:ext>
            </a:extLst>
          </p:cNvPr>
          <p:cNvSpPr/>
          <p:nvPr/>
        </p:nvSpPr>
        <p:spPr bwMode="auto">
          <a:xfrm>
            <a:off x="7828811" y="5142089"/>
            <a:ext cx="3384550" cy="115093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eaLnBrk="1" hangingPunct="1">
              <a:defRPr/>
            </a:pPr>
            <a:r>
              <a:rPr lang="en-US" b="1" dirty="0" err="1"/>
              <a:t>Bytecodes</a:t>
            </a:r>
            <a:endParaRPr lang="en-US" b="1" dirty="0"/>
          </a:p>
          <a:p>
            <a:pPr eaLnBrk="1" hangingPunct="1">
              <a:defRPr/>
            </a:pPr>
            <a:r>
              <a:rPr lang="en-US" dirty="0" err="1"/>
              <a:t>CalculatorGui.class</a:t>
            </a:r>
            <a:endParaRPr lang="en-US" dirty="0"/>
          </a:p>
          <a:p>
            <a:pPr eaLnBrk="1" hangingPunct="1">
              <a:defRPr/>
            </a:pPr>
            <a:r>
              <a:rPr lang="en-US" dirty="0"/>
              <a:t>Button2Handler.class</a:t>
            </a:r>
          </a:p>
          <a:p>
            <a:pPr eaLnBrk="1" hangingPunct="1">
              <a:defRPr/>
            </a:pPr>
            <a:endParaRPr lang="el-GR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250FC42-CB99-F352-4947-CE4CB3C83BD0}"/>
              </a:ext>
            </a:extLst>
          </p:cNvPr>
          <p:cNvCxnSpPr>
            <a:cxnSpLocks/>
          </p:cNvCxnSpPr>
          <p:nvPr/>
        </p:nvCxnSpPr>
        <p:spPr>
          <a:xfrm>
            <a:off x="0" y="2602523"/>
            <a:ext cx="1219199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FAA9696-0329-03C6-F461-63998C8885B9}"/>
              </a:ext>
            </a:extLst>
          </p:cNvPr>
          <p:cNvCxnSpPr>
            <a:cxnSpLocks/>
          </p:cNvCxnSpPr>
          <p:nvPr/>
        </p:nvCxnSpPr>
        <p:spPr>
          <a:xfrm>
            <a:off x="0" y="4443046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8">
            <a:extLst>
              <a:ext uri="{FF2B5EF4-FFF2-40B4-BE49-F238E27FC236}">
                <a16:creationId xmlns:a16="http://schemas.microsoft.com/office/drawing/2014/main" id="{20E52A9B-9834-9761-9981-D002464B88FE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V="1">
            <a:off x="71437" y="3105151"/>
            <a:ext cx="3673475" cy="863600"/>
          </a:xfrm>
          <a:prstGeom prst="bentConnector3">
            <a:avLst>
              <a:gd name="adj1" fmla="val 50000"/>
            </a:avLst>
          </a:prstGeom>
          <a:noFill/>
          <a:ln w="38100" algn="ctr">
            <a:solidFill>
              <a:srgbClr val="D2D70D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" name="Elbow Connector 10">
            <a:extLst>
              <a:ext uri="{FF2B5EF4-FFF2-40B4-BE49-F238E27FC236}">
                <a16:creationId xmlns:a16="http://schemas.microsoft.com/office/drawing/2014/main" id="{D159FCD2-96A0-02C8-0403-001760F97C96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2472746" y="4329513"/>
            <a:ext cx="1751257" cy="337097"/>
          </a:xfrm>
          <a:prstGeom prst="bentConnector3">
            <a:avLst>
              <a:gd name="adj1" fmla="val 50000"/>
            </a:avLst>
          </a:prstGeom>
          <a:noFill/>
          <a:ln w="57150" algn="ctr">
            <a:solidFill>
              <a:srgbClr val="92D05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2468573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5">
            <a:extLst>
              <a:ext uri="{FF2B5EF4-FFF2-40B4-BE49-F238E27FC236}">
                <a16:creationId xmlns:a16="http://schemas.microsoft.com/office/drawing/2014/main" id="{233AFA4D-9CAF-2CFA-A1A2-6DA833E3F1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3933825"/>
            <a:ext cx="6922842" cy="1798638"/>
          </a:xfrm>
          <a:prstGeom prst="rect">
            <a:avLst/>
          </a:prstGeom>
          <a:solidFill>
            <a:srgbClr val="00E4A8"/>
          </a:solidFill>
          <a:ln w="9525" algn="ctr">
            <a:solidFill>
              <a:schemeClr val="bg1"/>
            </a:solidFill>
            <a:miter lim="800000"/>
            <a:headEnd/>
            <a:tailEnd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alt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E6771F3E-5853-FF00-4796-804557EFED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49" y="908050"/>
            <a:ext cx="8912959" cy="5324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public class </a:t>
            </a:r>
            <a:r>
              <a:rPr kumimoji="0" lang="en-US" altLang="el-G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RpnCalculator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</a:t>
            </a:r>
            <a:r>
              <a:rPr kumimoji="0" lang="en-US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ahoma" panose="020B0604030504040204" pitchFamily="34" charset="0"/>
              </a:rPr>
              <a:t>{</a:t>
            </a:r>
            <a:endParaRPr kumimoji="0" lang="el-GR" altLang="el-GR" sz="2400" b="1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ahoma" panose="020B0604030504040204" pitchFamily="34" charset="0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	</a:t>
            </a:r>
            <a:r>
              <a:rPr kumimoji="0" lang="en-US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 panose="020B0604030504040204" pitchFamily="34" charset="0"/>
              </a:rPr>
              <a:t>private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static Operand </a:t>
            </a:r>
            <a:r>
              <a:rPr kumimoji="0" lang="en-US" altLang="el-GR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op</a:t>
            </a:r>
            <a:r>
              <a:rPr lang="en-US" altLang="el-GR" sz="2400" i="1" kern="0" dirty="0">
                <a:solidFill>
                  <a:srgbClr val="000000"/>
                </a:solidFill>
              </a:rPr>
              <a:t>;</a:t>
            </a:r>
            <a:r>
              <a:rPr lang="en-US" altLang="el-GR" sz="2400" b="1" kern="0" dirty="0">
                <a:solidFill>
                  <a:srgbClr val="7030A0"/>
                </a:solidFill>
              </a:rPr>
              <a:t>// Increase Encapsulation</a:t>
            </a:r>
            <a:endParaRPr lang="el-GR" altLang="el-GR" sz="2400" b="1" kern="0" dirty="0">
              <a:solidFill>
                <a:srgbClr val="7030A0"/>
              </a:solidFill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	…</a:t>
            </a:r>
            <a:endParaRPr kumimoji="0" lang="el-GR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	</a:t>
            </a:r>
            <a:r>
              <a:rPr kumimoji="0" lang="en-US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ahoma" panose="020B0604030504040204" pitchFamily="34" charset="0"/>
              </a:rPr>
              <a:t>}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public class </a:t>
            </a:r>
            <a:r>
              <a:rPr kumimoji="0" lang="en-US" altLang="el-GR" sz="2400" b="0" i="0" u="sng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CalculatorGui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extends Frame</a:t>
            </a:r>
            <a:r>
              <a:rPr kumimoji="0" lang="en-US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ahoma" panose="020B0604030504040204" pitchFamily="34" charset="0"/>
              </a:rPr>
              <a:t>{</a:t>
            </a:r>
            <a:endParaRPr kumimoji="0" lang="el-GR" altLang="el-GR" sz="2400" b="1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ahoma" panose="020B0604030504040204" pitchFamily="34" charset="0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	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 panose="020B0604030504040204" pitchFamily="34" charset="0"/>
              </a:rPr>
              <a:t>private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Operand op;</a:t>
            </a:r>
            <a:endParaRPr kumimoji="0" lang="el-GR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	…</a:t>
            </a:r>
            <a:endParaRPr kumimoji="0" lang="el-GR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	class Button2Handler implements ActionListener 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ahoma" panose="020B0604030504040204" pitchFamily="34" charset="0"/>
              </a:rPr>
              <a:t>{</a:t>
            </a:r>
            <a:endParaRPr kumimoji="0" lang="el-GR" altLang="el-GR" sz="24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ahoma" panose="020B0604030504040204" pitchFamily="34" charset="0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		</a:t>
            </a: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public void </a:t>
            </a:r>
            <a:r>
              <a:rPr kumimoji="0" lang="en-US" altLang="el-G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actionPerformed</a:t>
            </a: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(</a:t>
            </a:r>
            <a:r>
              <a:rPr kumimoji="0" lang="en-US" altLang="el-G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ActionEvent</a:t>
            </a: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e){ </a:t>
            </a:r>
            <a:endParaRPr kumimoji="0" lang="el-GR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			</a:t>
            </a:r>
            <a:r>
              <a:rPr kumimoji="0" lang="el-GR" altLang="el-G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 panose="020B0604030504040204" pitchFamily="34" charset="0"/>
              </a:rPr>
              <a:t>op.addDigit</a:t>
            </a: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('2');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		    }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		</a:t>
            </a: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ahoma" panose="020B0604030504040204" pitchFamily="34" charset="0"/>
              </a:rPr>
              <a:t>}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</a:t>
            </a:r>
            <a:r>
              <a:rPr kumimoji="0" lang="en-US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</a:rPr>
              <a:t>//</a:t>
            </a:r>
            <a:r>
              <a:rPr kumimoji="0" lang="en-US" altLang="el-GR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</a:rPr>
              <a:t>inner class</a:t>
            </a:r>
            <a:endParaRPr kumimoji="0" lang="el-GR" altLang="el-GR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panose="020B0604030504040204" pitchFamily="34" charset="0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ahoma" panose="020B0604030504040204" pitchFamily="34" charset="0"/>
              </a:rPr>
              <a:t>} //Logical Grouping of classes </a:t>
            </a:r>
            <a:endParaRPr kumimoji="0" lang="el-GR" altLang="el-GR" sz="2400" b="1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81001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Using Local Class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179824" y="6581001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Event Handling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FF9C48-1EC1-BE5B-F97B-EBC571724D5D}"/>
              </a:ext>
            </a:extLst>
          </p:cNvPr>
          <p:cNvSpPr/>
          <p:nvPr/>
        </p:nvSpPr>
        <p:spPr bwMode="auto">
          <a:xfrm>
            <a:off x="5884061" y="5613440"/>
            <a:ext cx="4280810" cy="965261"/>
          </a:xfrm>
          <a:prstGeom prst="rect">
            <a:avLst/>
          </a:prstGeom>
          <a:solidFill>
            <a:srgbClr val="FFCF01">
              <a:lumMod val="20000"/>
              <a:lumOff val="80000"/>
            </a:srgbClr>
          </a:solidFill>
          <a:ln w="952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Bytecodes</a:t>
            </a: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CalculatorGui.class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CalculatorGui$Button2Handler.class</a:t>
            </a:r>
            <a:endParaRPr kumimoji="0" lang="el-G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9" name="Explosion 2 5">
            <a:extLst>
              <a:ext uri="{FF2B5EF4-FFF2-40B4-BE49-F238E27FC236}">
                <a16:creationId xmlns:a16="http://schemas.microsoft.com/office/drawing/2014/main" id="{A06FA10D-AA6E-496D-F51E-757317C4F5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6669" y="771362"/>
            <a:ext cx="4284662" cy="1727200"/>
          </a:xfrm>
          <a:prstGeom prst="irregularSeal2">
            <a:avLst/>
          </a:prstGeom>
          <a:solidFill>
            <a:srgbClr val="FFFF00"/>
          </a:solidFill>
          <a:ln w="9525" algn="ctr">
            <a:solidFill>
              <a:srgbClr val="FFFF00"/>
            </a:solidFill>
            <a:miter lim="800000"/>
            <a:headEnd/>
            <a:tailEnd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More readable, 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maintainable code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DAFEB68-858F-4439-FB4B-39BA052B4F7C}"/>
              </a:ext>
            </a:extLst>
          </p:cNvPr>
          <p:cNvCxnSpPr>
            <a:cxnSpLocks/>
          </p:cNvCxnSpPr>
          <p:nvPr/>
        </p:nvCxnSpPr>
        <p:spPr>
          <a:xfrm>
            <a:off x="0" y="2602523"/>
            <a:ext cx="1219199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BDD90DA-1E47-9311-709C-92F21D9391B8}"/>
              </a:ext>
            </a:extLst>
          </p:cNvPr>
          <p:cNvSpPr txBox="1"/>
          <p:nvPr/>
        </p:nvSpPr>
        <p:spPr>
          <a:xfrm>
            <a:off x="8350242" y="2732975"/>
            <a:ext cx="3733808" cy="267765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el-GR" sz="2800" dirty="0">
                <a:solidFill>
                  <a:schemeClr val="bg1"/>
                </a:solidFill>
              </a:rPr>
              <a:t>(non-static nested classes) have access to other members of the enclosing class, </a:t>
            </a:r>
            <a:r>
              <a:rPr lang="en-US" altLang="el-GR" sz="2800" b="1" dirty="0">
                <a:solidFill>
                  <a:schemeClr val="bg1"/>
                </a:solidFill>
              </a:rPr>
              <a:t>even if they are declared private.</a:t>
            </a:r>
            <a:endParaRPr lang="en-GB" dirty="0">
              <a:solidFill>
                <a:schemeClr val="bg1"/>
              </a:solidFill>
              <a:highlight>
                <a:srgbClr val="FF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497629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>
            <a:extLst>
              <a:ext uri="{FF2B5EF4-FFF2-40B4-BE49-F238E27FC236}">
                <a16:creationId xmlns:a16="http://schemas.microsoft.com/office/drawing/2014/main" id="{5D970C58-A8D3-E2EA-B8A6-A1E55BAC19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3573462"/>
            <a:ext cx="7953619" cy="2410359"/>
          </a:xfrm>
          <a:prstGeom prst="rect">
            <a:avLst/>
          </a:prstGeom>
          <a:solidFill>
            <a:srgbClr val="00E4A8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alt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10403DBD-6FDA-A94B-34B7-33F5F41DF1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979488"/>
            <a:ext cx="8634046" cy="6617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public 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 panose="020B0604030504040204" pitchFamily="34" charset="0"/>
              </a:rPr>
              <a:t>class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</a:t>
            </a:r>
            <a:r>
              <a:rPr kumimoji="0" lang="en-US" altLang="el-G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CalculatorGui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extends Frame{</a:t>
            </a:r>
            <a:endParaRPr kumimoji="0" lang="el-GR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   private Operand op;</a:t>
            </a:r>
            <a:endParaRPr kumimoji="0" lang="el-GR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   …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   </a:t>
            </a:r>
            <a:r>
              <a:rPr kumimoji="0" lang="el-GR" altLang="el-G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 panose="020B0604030504040204" pitchFamily="34" charset="0"/>
              </a:rPr>
              <a:t>public</a:t>
            </a: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 panose="020B0604030504040204" pitchFamily="34" charset="0"/>
              </a:rPr>
              <a:t> </a:t>
            </a:r>
            <a:r>
              <a:rPr kumimoji="0" lang="el-GR" altLang="el-G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 panose="020B0604030504040204" pitchFamily="34" charset="0"/>
              </a:rPr>
              <a:t>CalculatorGui</a:t>
            </a: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 panose="020B0604030504040204" pitchFamily="34" charset="0"/>
              </a:rPr>
              <a:t>(</a:t>
            </a:r>
            <a:r>
              <a:rPr kumimoji="0" lang="el-GR" altLang="el-G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 panose="020B0604030504040204" pitchFamily="34" charset="0"/>
              </a:rPr>
              <a:t>Operand</a:t>
            </a: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 panose="020B0604030504040204" pitchFamily="34" charset="0"/>
              </a:rPr>
              <a:t> </a:t>
            </a:r>
            <a:r>
              <a:rPr kumimoji="0" lang="el-GR" altLang="el-G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 panose="020B0604030504040204" pitchFamily="34" charset="0"/>
              </a:rPr>
              <a:t>op</a:t>
            </a: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 panose="020B0604030504040204" pitchFamily="34" charset="0"/>
              </a:rPr>
              <a:t>)</a:t>
            </a:r>
            <a:r>
              <a:rPr kumimoji="0" lang="en-GB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 panose="020B0604030504040204" pitchFamily="34" charset="0"/>
              </a:rPr>
              <a:t> </a:t>
            </a:r>
            <a:r>
              <a:rPr kumimoji="0" lang="el-GR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 panose="020B0604030504040204" pitchFamily="34" charset="0"/>
              </a:rPr>
              <a:t>{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      </a:t>
            </a:r>
            <a:r>
              <a:rPr kumimoji="0" lang="el-GR" altLang="el-G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super</a:t>
            </a: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("JAVA Polish </a:t>
            </a:r>
            <a:r>
              <a:rPr kumimoji="0" lang="el-GR" altLang="el-G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Reverse</a:t>
            </a: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</a:t>
            </a:r>
            <a:r>
              <a:rPr kumimoji="0" lang="el-GR" altLang="el-G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Calculator</a:t>
            </a: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");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      this</a:t>
            </a: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.</a:t>
            </a:r>
            <a:r>
              <a:rPr kumimoji="0" lang="el-GR" altLang="el-GR" sz="24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op</a:t>
            </a: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= </a:t>
            </a:r>
            <a:r>
              <a:rPr kumimoji="0" lang="el-GR" altLang="el-G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op</a:t>
            </a: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;</a:t>
            </a:r>
            <a:endParaRPr kumimoji="0" lang="en-US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      class Button0Handler implements ActionListener {</a:t>
            </a:r>
            <a:endParaRPr kumimoji="0" lang="el-GR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		</a:t>
            </a: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public void </a:t>
            </a:r>
            <a:r>
              <a:rPr kumimoji="0" lang="en-US" altLang="el-G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actionPerformed</a:t>
            </a: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(</a:t>
            </a:r>
            <a:r>
              <a:rPr kumimoji="0" lang="en-US" altLang="el-G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ActionEvent</a:t>
            </a: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e)  { </a:t>
            </a:r>
            <a:endParaRPr kumimoji="0" lang="el-GR" altLang="el-G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			</a:t>
            </a:r>
            <a:r>
              <a:rPr kumimoji="0" lang="el-GR" altLang="el-GR" sz="20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op</a:t>
            </a:r>
            <a:r>
              <a:rPr kumimoji="0" lang="el-GR" altLang="el-G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.addDigit</a:t>
            </a:r>
            <a:r>
              <a:rPr kumimoji="0" lang="el-GR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(‘</a:t>
            </a: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0</a:t>
            </a:r>
            <a:r>
              <a:rPr kumimoji="0" lang="el-GR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’);</a:t>
            </a:r>
            <a:endParaRPr kumimoji="0" lang="en-US" altLang="el-G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                  </a:t>
            </a: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Tahoma" panose="020B0604030504040204" pitchFamily="34" charset="0"/>
              </a:rPr>
              <a:t>//</a:t>
            </a:r>
            <a:r>
              <a:rPr kumimoji="0" lang="en-US" altLang="el-G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Tahoma" panose="020B0604030504040204" pitchFamily="34" charset="0"/>
              </a:rPr>
              <a:t>op.addDigit</a:t>
            </a: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Tahoma" panose="020B0604030504040204" pitchFamily="34" charset="0"/>
              </a:rPr>
              <a:t>(((Button)</a:t>
            </a:r>
            <a:r>
              <a:rPr kumimoji="0" lang="en-US" altLang="el-G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Tahoma" panose="020B0604030504040204" pitchFamily="34" charset="0"/>
              </a:rPr>
              <a:t>e.getSource</a:t>
            </a: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Tahoma" panose="020B0604030504040204" pitchFamily="34" charset="0"/>
              </a:rPr>
              <a:t>()).</a:t>
            </a:r>
            <a:r>
              <a:rPr kumimoji="0" lang="en-US" altLang="el-G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Tahoma" panose="020B0604030504040204" pitchFamily="34" charset="0"/>
              </a:rPr>
              <a:t>getLabel</a:t>
            </a: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Tahoma" panose="020B0604030504040204" pitchFamily="34" charset="0"/>
              </a:rPr>
              <a:t>().</a:t>
            </a:r>
            <a:r>
              <a:rPr kumimoji="0" lang="en-US" altLang="el-G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Tahoma" panose="020B0604030504040204" pitchFamily="34" charset="0"/>
              </a:rPr>
              <a:t>charAt</a:t>
            </a: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Tahoma" panose="020B0604030504040204" pitchFamily="34" charset="0"/>
              </a:rPr>
              <a:t>(0));</a:t>
            </a:r>
            <a:endParaRPr kumimoji="0" lang="el-GR" altLang="el-GR" sz="20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Tahoma" panose="020B0604030504040204" pitchFamily="34" charset="0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			</a:t>
            </a:r>
            <a:r>
              <a:rPr lang="el-GR" altLang="el-GR" sz="2400" kern="0" dirty="0">
                <a:solidFill>
                  <a:srgbClr val="000000"/>
                </a:solidFill>
              </a:rPr>
              <a:t>}</a:t>
            </a:r>
            <a:r>
              <a:rPr lang="en-GB" altLang="el-GR" sz="2400" kern="0" dirty="0">
                <a:solidFill>
                  <a:srgbClr val="000000"/>
                </a:solidFill>
              </a:rPr>
              <a:t>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		}</a:t>
            </a:r>
            <a:r>
              <a:rPr kumimoji="0" lang="en-GB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</a:t>
            </a:r>
            <a:r>
              <a:rPr kumimoji="0" lang="en-GB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</a:rPr>
              <a:t>//local inner class</a:t>
            </a:r>
            <a:endParaRPr kumimoji="0" lang="el-GR" altLang="el-GR" sz="20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panose="020B0604030504040204" pitchFamily="34" charset="0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	</a:t>
            </a:r>
            <a:endParaRPr kumimoji="0" lang="el-GR" altLang="el-GR" sz="24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ahoma" panose="020B0604030504040204" pitchFamily="34" charset="0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 </a:t>
            </a:r>
            <a:endParaRPr kumimoji="0" lang="el-GR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      </a:t>
            </a: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button0.addActionListener(</a:t>
            </a:r>
            <a:r>
              <a:rPr kumimoji="0" lang="el-GR" altLang="el-G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</a:rPr>
              <a:t>new</a:t>
            </a: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</a:rPr>
              <a:t> Button0Handler()</a:t>
            </a: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);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      …</a:t>
            </a:r>
            <a:endParaRPr kumimoji="0" lang="el-GR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81001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Using Local Inner Class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179824" y="6581001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Event Handling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F18C00-0EAE-02AA-1819-479CEFBB1330}"/>
              </a:ext>
            </a:extLst>
          </p:cNvPr>
          <p:cNvSpPr txBox="1"/>
          <p:nvPr/>
        </p:nvSpPr>
        <p:spPr>
          <a:xfrm>
            <a:off x="8317523" y="979488"/>
            <a:ext cx="3733808" cy="209288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altLang="el-GR" sz="2800" b="1" dirty="0">
                <a:solidFill>
                  <a:schemeClr val="bg1"/>
                </a:solidFill>
              </a:rPr>
              <a:t>local inner class </a:t>
            </a:r>
            <a:r>
              <a:rPr lang="en-GB" altLang="el-GR" sz="2800" dirty="0">
                <a:solidFill>
                  <a:schemeClr val="bg1"/>
                </a:solidFill>
              </a:rPr>
              <a:t>is</a:t>
            </a:r>
          </a:p>
          <a:p>
            <a:pPr algn="ctr"/>
            <a:r>
              <a:rPr lang="en-GB" altLang="el-GR" sz="2800" dirty="0">
                <a:solidFill>
                  <a:schemeClr val="bg1"/>
                </a:solidFill>
              </a:rPr>
              <a:t>an inner class declared within the body of a method. </a:t>
            </a:r>
          </a:p>
          <a:p>
            <a:pPr algn="ctr"/>
            <a:endParaRPr lang="en-GB" dirty="0">
              <a:solidFill>
                <a:schemeClr val="bg1"/>
              </a:solidFill>
              <a:highlight>
                <a:srgbClr val="FF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328536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>
            <a:extLst>
              <a:ext uri="{FF2B5EF4-FFF2-40B4-BE49-F238E27FC236}">
                <a16:creationId xmlns:a16="http://schemas.microsoft.com/office/drawing/2014/main" id="{FF4AD417-0936-58AF-229B-CB3F575EDF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723" y="3921369"/>
            <a:ext cx="7019992" cy="1746456"/>
          </a:xfrm>
          <a:prstGeom prst="rect">
            <a:avLst/>
          </a:prstGeom>
          <a:solidFill>
            <a:srgbClr val="00E4A8"/>
          </a:solidFill>
          <a:ln w="9525" algn="ctr">
            <a:solidFill>
              <a:schemeClr val="bg1"/>
            </a:solidFill>
            <a:miter lim="800000"/>
            <a:headEnd/>
            <a:tailEnd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alt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123774A5-7462-CF86-61B5-98D802010E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908050"/>
            <a:ext cx="8262938" cy="557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public class </a:t>
            </a:r>
            <a:r>
              <a:rPr kumimoji="0" lang="en-US" altLang="el-G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CalculatorGui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extends Frame{</a:t>
            </a:r>
            <a:endParaRPr kumimoji="0" lang="el-GR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  private static Operand op;</a:t>
            </a:r>
            <a:endParaRPr kumimoji="0" lang="el-GR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  …</a:t>
            </a:r>
            <a:endParaRPr kumimoji="0" lang="el-GR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  public </a:t>
            </a:r>
            <a:r>
              <a:rPr kumimoji="0" lang="en-US" altLang="el-G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CalculatorGui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(Operand op){</a:t>
            </a:r>
            <a:endParaRPr kumimoji="0" lang="el-GR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     super("JAVA Polish Reverse Calculator");</a:t>
            </a:r>
            <a:endParaRPr kumimoji="0" lang="el-GR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     CalculatorGui.</a:t>
            </a:r>
            <a:r>
              <a:rPr kumimoji="0" lang="pt-PT" altLang="el-GR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op</a:t>
            </a:r>
            <a:r>
              <a:rPr kumimoji="0" lang="pt-PT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= op;</a:t>
            </a:r>
            <a:endParaRPr kumimoji="0" lang="el-GR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     ….</a:t>
            </a:r>
            <a:endParaRPr kumimoji="0" lang="el-GR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     button0.addActionListener( 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6699FF"/>
                </a:solidFill>
                <a:effectLst/>
                <a:uLnTx/>
                <a:uFillTx/>
                <a:latin typeface="Tahoma" panose="020B0604030504040204" pitchFamily="34" charset="0"/>
              </a:rPr>
              <a:t>//</a:t>
            </a:r>
            <a:r>
              <a:rPr kumimoji="0" lang="el-GR" altLang="el-G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6699FF"/>
                </a:solidFill>
                <a:effectLst/>
                <a:uLnTx/>
                <a:uFillTx/>
                <a:latin typeface="Tahoma" panose="020B0604030504040204" pitchFamily="34" charset="0"/>
              </a:rPr>
              <a:t>new</a:t>
            </a: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6699FF"/>
                </a:solidFill>
                <a:effectLst/>
                <a:uLnTx/>
                <a:uFillTx/>
                <a:latin typeface="Tahoma" panose="020B0604030504040204" pitchFamily="34" charset="0"/>
              </a:rPr>
              <a:t> Button0Handler()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6699FF"/>
                </a:solidFill>
                <a:effectLst/>
                <a:uLnTx/>
                <a:uFillTx/>
                <a:latin typeface="Tahoma" panose="020B0604030504040204" pitchFamily="34" charset="0"/>
              </a:rPr>
              <a:t>);</a:t>
            </a:r>
            <a:endParaRPr kumimoji="0" lang="el-GR" altLang="el-GR" sz="2400" b="0" i="0" u="none" strike="noStrike" kern="0" cap="none" spc="0" normalizeH="0" baseline="0" noProof="0" dirty="0">
              <a:ln>
                <a:noFill/>
              </a:ln>
              <a:solidFill>
                <a:srgbClr val="6699FF"/>
              </a:solidFill>
              <a:effectLst/>
              <a:uLnTx/>
              <a:uFillTx/>
              <a:latin typeface="Tahoma" panose="020B0604030504040204" pitchFamily="34" charset="0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	</a:t>
            </a:r>
            <a:r>
              <a:rPr kumimoji="0" lang="en-US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</a:rPr>
              <a:t>new ActionListener()</a:t>
            </a:r>
            <a:r>
              <a:rPr kumimoji="0" lang="el-GR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</a:rPr>
              <a:t> 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{</a:t>
            </a:r>
            <a:endParaRPr kumimoji="0" lang="el-GR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	   </a:t>
            </a: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public void </a:t>
            </a:r>
            <a:r>
              <a:rPr kumimoji="0" lang="en-US" altLang="el-G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actionPerformed</a:t>
            </a: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(</a:t>
            </a:r>
            <a:r>
              <a:rPr kumimoji="0" lang="en-US" altLang="el-G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ActionEvent</a:t>
            </a: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e){ </a:t>
            </a:r>
            <a:endParaRPr kumimoji="0" lang="el-GR" altLang="el-G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	        </a:t>
            </a:r>
            <a:r>
              <a:rPr kumimoji="0" lang="el-GR" altLang="el-GR" sz="20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op</a:t>
            </a:r>
            <a:r>
              <a:rPr kumimoji="0" lang="el-GR" altLang="el-G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.addDigit</a:t>
            </a:r>
            <a:r>
              <a:rPr kumimoji="0" lang="el-GR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('2');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	</a:t>
            </a: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       </a:t>
            </a:r>
            <a:r>
              <a:rPr kumimoji="0" lang="el-GR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}</a:t>
            </a:r>
            <a:endParaRPr kumimoji="0" lang="el-GR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	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  </a:t>
            </a: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}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 			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 panose="020B0604030504040204" pitchFamily="34" charset="0"/>
              </a:rPr>
              <a:t>//</a:t>
            </a:r>
            <a:r>
              <a:rPr kumimoji="0" lang="en-US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 panose="020B0604030504040204" pitchFamily="34" charset="0"/>
              </a:rPr>
              <a:t>anonymous class</a:t>
            </a:r>
            <a:endParaRPr kumimoji="0" lang="el-GR" altLang="el-GR" sz="24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ahoma" panose="020B0604030504040204" pitchFamily="34" charset="0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	);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81001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Using Anonymous class 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179824" y="6581001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Event Handling</a:t>
            </a:r>
          </a:p>
        </p:txBody>
      </p:sp>
      <p:sp>
        <p:nvSpPr>
          <p:cNvPr id="7" name="Rounded Rectangular Callout 5">
            <a:extLst>
              <a:ext uri="{FF2B5EF4-FFF2-40B4-BE49-F238E27FC236}">
                <a16:creationId xmlns:a16="http://schemas.microsoft.com/office/drawing/2014/main" id="{DA1312DB-0163-C260-26EB-C576A9E951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3361" y="5903546"/>
            <a:ext cx="8569325" cy="503237"/>
          </a:xfrm>
          <a:prstGeom prst="wedgeRoundRectCallout">
            <a:avLst>
              <a:gd name="adj1" fmla="val -40579"/>
              <a:gd name="adj2" fmla="val 115176"/>
              <a:gd name="adj3" fmla="val 16667"/>
            </a:avLst>
          </a:prstGeom>
          <a:solidFill>
            <a:srgbClr val="FFFF00"/>
          </a:solidFill>
          <a:ln w="9525" algn="ctr">
            <a:solidFill>
              <a:srgbClr val="FFFF00"/>
            </a:solidFill>
            <a:miter lim="800000"/>
            <a:headEnd/>
            <a:tailEnd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Instead of writing </a:t>
            </a:r>
            <a:r>
              <a:rPr kumimoji="0" lang="en-US" altLang="el-GR" sz="14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new Button0Handler() </a:t>
            </a:r>
            <a:r>
              <a:rPr kumimoji="0" lang="en-US" altLang="el-GR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and defining Button0Handler to implement ActionListener, we 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write </a:t>
            </a:r>
            <a:r>
              <a:rPr kumimoji="0" lang="en-US" altLang="el-GR" sz="14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new ActionListener </a:t>
            </a:r>
            <a:r>
              <a:rPr kumimoji="0" lang="en-US" altLang="el-GR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and then provide the implementation of the interface.</a:t>
            </a:r>
            <a:endParaRPr kumimoji="0" lang="el-GR" altLang="el-GR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67CEAE9-47E2-AE7B-998C-7FEDD72FB6F3}"/>
              </a:ext>
            </a:extLst>
          </p:cNvPr>
          <p:cNvSpPr txBox="1"/>
          <p:nvPr/>
        </p:nvSpPr>
        <p:spPr>
          <a:xfrm>
            <a:off x="7895492" y="979488"/>
            <a:ext cx="4155839" cy="209288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altLang="el-GR" sz="2800" b="1" dirty="0">
                <a:solidFill>
                  <a:schemeClr val="bg1"/>
                </a:solidFill>
              </a:rPr>
              <a:t>anonymous class </a:t>
            </a:r>
            <a:r>
              <a:rPr lang="en-GB" altLang="el-GR" sz="2800" dirty="0">
                <a:solidFill>
                  <a:schemeClr val="bg1"/>
                </a:solidFill>
              </a:rPr>
              <a:t>is</a:t>
            </a:r>
          </a:p>
          <a:p>
            <a:pPr algn="ctr"/>
            <a:r>
              <a:rPr lang="en-GB" altLang="el-GR" sz="2800" dirty="0">
                <a:solidFill>
                  <a:schemeClr val="bg1"/>
                </a:solidFill>
              </a:rPr>
              <a:t>an inner class declared within the body of a method without naming it.</a:t>
            </a:r>
          </a:p>
          <a:p>
            <a:pPr algn="ctr"/>
            <a:endParaRPr lang="en-GB" dirty="0">
              <a:solidFill>
                <a:schemeClr val="bg1"/>
              </a:solidFill>
              <a:highlight>
                <a:srgbClr val="FFFFFF"/>
              </a:highlight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5A3743-2B1B-DD8A-C901-500C0F0959CA}"/>
              </a:ext>
            </a:extLst>
          </p:cNvPr>
          <p:cNvSpPr txBox="1"/>
          <p:nvPr/>
        </p:nvSpPr>
        <p:spPr>
          <a:xfrm>
            <a:off x="7895492" y="3306288"/>
            <a:ext cx="4155839" cy="221599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altLang="el-GR" sz="2400" b="1" dirty="0">
                <a:solidFill>
                  <a:schemeClr val="bg1"/>
                </a:solidFill>
              </a:rPr>
              <a:t>an anonymous class definition </a:t>
            </a:r>
            <a:r>
              <a:rPr lang="en-GB" altLang="el-GR" sz="2400" dirty="0">
                <a:solidFill>
                  <a:schemeClr val="bg1"/>
                </a:solidFill>
              </a:rPr>
              <a:t>is an expression, which means that it can be included as part of a larger expression, such as a method call.</a:t>
            </a:r>
          </a:p>
          <a:p>
            <a:pPr algn="ctr"/>
            <a:endParaRPr lang="en-GB" sz="1600" dirty="0">
              <a:solidFill>
                <a:schemeClr val="bg1"/>
              </a:solidFill>
              <a:highlight>
                <a:srgbClr val="FF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180226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81001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Ανώνυμη Κλάση (</a:t>
            </a:r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Anonymous class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)</a:t>
            </a:r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179824" y="6581001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Event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97037-6AE7-88B3-FBAF-3737D975FBF4}"/>
              </a:ext>
            </a:extLst>
          </p:cNvPr>
          <p:cNvSpPr txBox="1">
            <a:spLocks/>
          </p:cNvSpPr>
          <p:nvPr/>
        </p:nvSpPr>
        <p:spPr bwMode="auto">
          <a:xfrm>
            <a:off x="0" y="914110"/>
            <a:ext cx="11904785" cy="5472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lang="el-GR" altLang="el-GR" sz="2800" kern="0" dirty="0">
                <a:solidFill>
                  <a:srgbClr val="000000"/>
                </a:solidFill>
                <a:latin typeface="Tahoma"/>
              </a:rPr>
              <a:t>Είναι μια εσωτερική κλάση ορισμένη μέσα στο σώμα μεθόδου χωρίς να την αποδοθεί όνομα.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lang="el-GR" altLang="el-GR" sz="2400" kern="0" dirty="0">
                <a:solidFill>
                  <a:srgbClr val="000000"/>
                </a:solidFill>
                <a:latin typeface="Tahoma"/>
              </a:rPr>
              <a:t>Περιλαμβάνει ορισμό και χρήση της κλάσης στο ίδιο σημείο.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Χρησιμοποιείται για :</a:t>
            </a:r>
            <a:endParaRPr kumimoji="0" lang="en-US" altLang="el-GR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b="1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υλοποίηση </a:t>
            </a:r>
            <a:r>
              <a:rPr kumimoji="0" lang="en-GB" altLang="el-GR" b="1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interface</a:t>
            </a:r>
            <a:r>
              <a:rPr kumimoji="0" lang="en-US" altLang="el-GR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 </a:t>
            </a:r>
            <a:r>
              <a:rPr kumimoji="0" lang="el-GR" alt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χωρίς</a:t>
            </a:r>
            <a:r>
              <a:rPr kumimoji="0" lang="el-GR" altLang="el-GR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 απόδοση ονόματος, δίνοντας μόνο την υλοποίηση. </a:t>
            </a:r>
            <a:endParaRPr kumimoji="0" lang="en-US" altLang="el-GR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Ορισμό απογόνου</a:t>
            </a:r>
            <a:r>
              <a:rPr kumimoji="0" lang="el-GR" altLang="el-GR" b="1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 κλάσης </a:t>
            </a:r>
            <a:r>
              <a:rPr kumimoji="0" lang="el-GR" altLang="el-GR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χωρίς όνομα</a:t>
            </a:r>
            <a:r>
              <a:rPr kumimoji="0" lang="en-GB" altLang="el-GR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,</a:t>
            </a:r>
            <a:r>
              <a:rPr kumimoji="0" lang="el-GR" altLang="el-GR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 απλά δίνοντας τον ορισμό των επικαλυπτόμενων μεθόδων (</a:t>
            </a:r>
            <a:r>
              <a:rPr kumimoji="0" lang="en-US" alt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overridden methods</a:t>
            </a:r>
            <a:r>
              <a:rPr kumimoji="0" lang="el-GR" alt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)</a:t>
            </a:r>
            <a:endParaRPr kumimoji="0" lang="en-US" altLang="el-GR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Δεν ορίζεται με χρήση των </a:t>
            </a:r>
            <a:r>
              <a:rPr kumimoji="0" lang="en-GB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keywords</a:t>
            </a:r>
            <a:r>
              <a:rPr kumimoji="0" lang="en-GB" altLang="el-GR" sz="2800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kumimoji="0" lang="en-US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extends or implements 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αλλά</a:t>
            </a:r>
            <a:r>
              <a:rPr kumimoji="0" lang="el-GR" altLang="el-GR" sz="2800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με την παρακάτω σύνταξη</a:t>
            </a:r>
            <a:endParaRPr kumimoji="0" lang="el-GR" altLang="el-GR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 panose="020B0604030504040204" pitchFamily="34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tabLst/>
              <a:defRPr/>
            </a:pPr>
            <a:r>
              <a:rPr lang="el-GR" altLang="el-GR" sz="2800" b="1" kern="0" noProof="0" dirty="0">
                <a:solidFill>
                  <a:srgbClr val="000000"/>
                </a:solidFill>
                <a:latin typeface="Tahoma"/>
                <a:ea typeface="Tahoma" panose="020B0604030504040204" pitchFamily="34" charset="0"/>
                <a:cs typeface="Courier New" panose="02070309020205020404" pitchFamily="49" charset="0"/>
              </a:rPr>
              <a:t>    </a:t>
            </a:r>
            <a:r>
              <a:rPr kumimoji="0" lang="en-GB" altLang="el-GR" sz="3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new interface</a:t>
            </a:r>
            <a:r>
              <a:rPr kumimoji="0" lang="el-GR" altLang="el-GR" sz="3200" b="1" i="0" u="none" strike="noStrike" kern="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</a:t>
            </a:r>
            <a:r>
              <a:rPr kumimoji="0" lang="en-GB" altLang="el-GR" sz="3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or</a:t>
            </a:r>
            <a:r>
              <a:rPr kumimoji="0" lang="el-GR" altLang="el-GR" sz="3200" b="1" i="0" u="none" strike="noStrike" kern="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</a:t>
            </a:r>
            <a:r>
              <a:rPr kumimoji="0" lang="en-GB" altLang="el-GR" sz="3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class-name() { class-body }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	</a:t>
            </a:r>
            <a:endParaRPr kumimoji="0" lang="el-GR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n-US" altLang="el-GR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6181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197B472-9120-9AB8-8DA3-6637B0DCC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765" y="3904639"/>
            <a:ext cx="4676996" cy="983883"/>
          </a:xfrm>
          <a:prstGeom prst="rect">
            <a:avLst/>
          </a:prstGeom>
          <a:solidFill>
            <a:srgbClr val="FFFF00"/>
          </a:solidFill>
          <a:ln w="9525" algn="ctr">
            <a:solidFill>
              <a:srgbClr val="FFFF00"/>
            </a:solidFill>
            <a:miter lim="800000"/>
            <a:headEnd/>
            <a:tailEnd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alt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FDA18F7A-B3FC-5044-6EC1-3EF7851195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908050"/>
            <a:ext cx="6285695" cy="4401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public class </a:t>
            </a:r>
            <a:r>
              <a:rPr kumimoji="0" lang="en-US" altLang="el-G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CalculatorGui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extends Frame{</a:t>
            </a:r>
            <a:endParaRPr kumimoji="0" lang="el-GR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  private Operand op;</a:t>
            </a:r>
            <a:endParaRPr kumimoji="0" lang="el-GR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  …</a:t>
            </a:r>
            <a:endParaRPr kumimoji="0" lang="el-GR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  public </a:t>
            </a:r>
            <a:r>
              <a:rPr kumimoji="0" lang="en-US" altLang="el-G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CalculatorGui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(Operand op){</a:t>
            </a:r>
            <a:endParaRPr kumimoji="0" lang="el-GR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     super("JAVA Polish Reverse Calculator");</a:t>
            </a:r>
            <a:endParaRPr kumimoji="0" lang="el-GR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     this.</a:t>
            </a:r>
            <a:r>
              <a:rPr kumimoji="0" lang="pt-PT" altLang="el-GR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op</a:t>
            </a:r>
            <a:r>
              <a:rPr kumimoji="0" lang="pt-PT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= op;</a:t>
            </a:r>
            <a:endParaRPr kumimoji="0" lang="el-GR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     ….</a:t>
            </a:r>
            <a:endParaRPr kumimoji="0" lang="el-GR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     button0.addActionListener( 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l-GR" sz="2400" kern="0" dirty="0">
                <a:solidFill>
                  <a:srgbClr val="000000"/>
                </a:solidFill>
              </a:rPr>
              <a:t>	</a:t>
            </a:r>
            <a:r>
              <a:rPr kumimoji="0" lang="en-US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6699FF"/>
                </a:solidFill>
                <a:effectLst/>
                <a:uLnTx/>
                <a:uFillTx/>
                <a:latin typeface="Tahoma" panose="020B0604030504040204" pitchFamily="34" charset="0"/>
              </a:rPr>
              <a:t>e -&gt;  </a:t>
            </a: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{ </a:t>
            </a:r>
            <a:endParaRPr kumimoji="0" lang="el-GR" altLang="el-G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	        </a:t>
            </a:r>
            <a:r>
              <a:rPr kumimoji="0" lang="el-GR" altLang="el-GR" sz="20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op</a:t>
            </a:r>
            <a:r>
              <a:rPr kumimoji="0" lang="el-GR" altLang="el-G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.addDigit</a:t>
            </a:r>
            <a:r>
              <a:rPr kumimoji="0" lang="el-GR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(‘</a:t>
            </a:r>
            <a:r>
              <a:rPr kumimoji="0" lang="en-GB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0</a:t>
            </a:r>
            <a:r>
              <a:rPr kumimoji="0" lang="el-GR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’);</a:t>
            </a:r>
            <a:endParaRPr kumimoji="0" lang="en-GB" altLang="el-G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altLang="el-GR" sz="2000" kern="0" dirty="0">
                <a:solidFill>
                  <a:srgbClr val="000000"/>
                </a:solidFill>
              </a:rPr>
              <a:t>	         </a:t>
            </a:r>
            <a:r>
              <a:rPr kumimoji="0" lang="el-GR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}</a:t>
            </a:r>
            <a:endParaRPr kumimoji="0" lang="en-GB" altLang="el-G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altLang="el-GR" sz="2000" kern="0" dirty="0">
                <a:solidFill>
                  <a:srgbClr val="000000"/>
                </a:solidFill>
              </a:rPr>
              <a:t>	</a:t>
            </a: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);</a:t>
            </a:r>
          </a:p>
        </p:txBody>
      </p:sp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81001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kumimoji="0" lang="en-GB" sz="4000" b="1" i="0" u="none" strike="noStrike" kern="1200" cap="none" spc="0" normalizeH="0" baseline="0" noProof="0" dirty="0">
                <a:ln>
                  <a:noFill/>
                </a:ln>
                <a:solidFill>
                  <a:srgbClr val="F9853D"/>
                </a:solidFill>
                <a:effectLst/>
                <a:uLnTx/>
                <a:uFillTx/>
                <a:latin typeface="Bahnschrift" panose="020B0502040204020203" pitchFamily="34" charset="0"/>
                <a:ea typeface="+mj-ea"/>
                <a:cs typeface="+mj-cs"/>
              </a:rPr>
              <a:t>Using Lambda 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179824" y="6581001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Event Handling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8FF87B-7126-76C2-1C70-1395009A50E5}"/>
              </a:ext>
            </a:extLst>
          </p:cNvPr>
          <p:cNvSpPr txBox="1"/>
          <p:nvPr/>
        </p:nvSpPr>
        <p:spPr>
          <a:xfrm>
            <a:off x="7895492" y="979488"/>
            <a:ext cx="4155839" cy="209288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altLang="el-GR" sz="2800" b="1" dirty="0">
                <a:solidFill>
                  <a:schemeClr val="bg1"/>
                </a:solidFill>
              </a:rPr>
              <a:t>Lambda expressions </a:t>
            </a:r>
            <a:r>
              <a:rPr lang="en-GB" altLang="el-GR" sz="2800" dirty="0">
                <a:solidFill>
                  <a:schemeClr val="bg1"/>
                </a:solidFill>
              </a:rPr>
              <a:t>enable you to </a:t>
            </a:r>
            <a:r>
              <a:rPr lang="en-GB" altLang="el-GR" sz="2800" dirty="0">
                <a:solidFill>
                  <a:srgbClr val="FF0000"/>
                </a:solidFill>
              </a:rPr>
              <a:t>treat</a:t>
            </a:r>
            <a:r>
              <a:rPr lang="en-GB" altLang="el-GR" sz="2800" dirty="0">
                <a:solidFill>
                  <a:schemeClr val="bg1"/>
                </a:solidFill>
              </a:rPr>
              <a:t> functionality as method argument, or </a:t>
            </a:r>
            <a:r>
              <a:rPr lang="en-GB" altLang="el-GR" sz="2800" dirty="0">
                <a:solidFill>
                  <a:srgbClr val="FF0000"/>
                </a:solidFill>
              </a:rPr>
              <a:t>code as data</a:t>
            </a:r>
            <a:r>
              <a:rPr lang="en-GB" altLang="el-GR" sz="2800" dirty="0">
                <a:solidFill>
                  <a:schemeClr val="bg1"/>
                </a:solidFill>
              </a:rPr>
              <a:t>.</a:t>
            </a:r>
          </a:p>
          <a:p>
            <a:pPr algn="ctr"/>
            <a:endParaRPr lang="en-GB" dirty="0">
              <a:solidFill>
                <a:schemeClr val="bg1"/>
              </a:solidFill>
              <a:highlight>
                <a:srgbClr val="FFFFFF"/>
              </a:highlight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C49679F-289C-8E0F-206E-90B157ED6B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0760" y="4554523"/>
            <a:ext cx="6801239" cy="203858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4ABA957-EFC1-B6A2-2D3B-01E7737D8E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0923" y="3602174"/>
            <a:ext cx="6870408" cy="632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286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81001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179824" y="6581001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Event Handling</a:t>
            </a:r>
          </a:p>
        </p:txBody>
      </p:sp>
    </p:spTree>
    <p:extLst>
      <p:ext uri="{BB962C8B-B14F-4D97-AF65-F5344CB8AC3E}">
        <p14:creationId xmlns:p14="http://schemas.microsoft.com/office/powerpoint/2010/main" val="421327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81001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Event Classes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179824" y="6581001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Event Handling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2A9CA5-D27A-1EBF-2117-E196FC4B02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7793038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l-GR" sz="3600" b="0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Tahoma"/>
              <a:ea typeface="+mj-ea"/>
              <a:cs typeface="+mj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8D3F27-0721-7336-8647-CC9C2909DA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57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alt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108D16-6D15-2ED1-3BC3-A14797129D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764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alt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63C9507-5009-316B-5254-61D4FFE3EE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10425" y="6165850"/>
            <a:ext cx="1933575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10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Source: Object Computing, Inc</a:t>
            </a:r>
            <a:endParaRPr kumimoji="0" lang="el-GR" altLang="el-GR" sz="1000" b="0" i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8547BB73-5092-FC0B-1A0B-628B546BDB14}"/>
              </a:ext>
            </a:extLst>
          </p:cNvPr>
          <p:cNvSpPr txBox="1">
            <a:spLocks/>
          </p:cNvSpPr>
          <p:nvPr/>
        </p:nvSpPr>
        <p:spPr bwMode="auto">
          <a:xfrm>
            <a:off x="250825" y="1268413"/>
            <a:ext cx="8704263" cy="187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Hierarchy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	java.util.EventObject</a:t>
            </a:r>
            <a:endParaRPr kumimoji="0" lang="el-GR" altLang="el-GR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12" name="Picture 3">
            <a:extLst>
              <a:ext uri="{FF2B5EF4-FFF2-40B4-BE49-F238E27FC236}">
                <a16:creationId xmlns:a16="http://schemas.microsoft.com/office/drawing/2014/main" id="{4631337D-733C-FE00-095F-03ED0F1A0D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250" y="2492375"/>
            <a:ext cx="5184775" cy="3871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57745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81001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Specify event handling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179824" y="6581001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Event Handling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4557867-A9BE-595C-D647-73D4CBA6A7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35" y="918132"/>
            <a:ext cx="10149936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listeners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are objects interested in events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sources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are objects that “fire” events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register listeners 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with sources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sz="2400" b="1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component.add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&lt;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EventType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&gt;Listener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5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EventTypes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are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ActionEvent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,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AdjustmentEvent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,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ComponentEvent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,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FocusEvent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,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ItemEvent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,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KeyEvent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,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MouseEvent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,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TextEvent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,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WindowEvent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implement methods of listener interfaces in listener classes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an event object is passed to the methods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ActionListener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,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AdjustmentListener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,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ComponentListener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,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FocusListener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,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ItemListener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,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KeyListener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,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MouseListener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,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MouseMotionListener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,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TextListener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,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WindowListener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ahom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40AE488A-20F5-F461-0A34-51CD0FF71A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57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alt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4DD777FD-0A6D-B624-B4A7-288FBCA77B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764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alt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9136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F91A6942-7391-4725-A6CA-48FFFD271D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0"/>
            <a:ext cx="7793038" cy="692150"/>
          </a:xfrm>
        </p:spPr>
        <p:txBody>
          <a:bodyPr/>
          <a:lstStyle/>
          <a:p>
            <a:pPr eaLnBrk="1" hangingPunct="1"/>
            <a:r>
              <a:rPr lang="en-US" altLang="el-GR" sz="4000"/>
              <a:t>Steps to use awt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D2B318B2-80A1-4C14-86A2-A4A9E73B43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0" y="1052513"/>
            <a:ext cx="9036050" cy="3600450"/>
          </a:xfrm>
        </p:spPr>
        <p:txBody>
          <a:bodyPr/>
          <a:lstStyle/>
          <a:p>
            <a:pPr>
              <a:defRPr/>
            </a:pPr>
            <a:r>
              <a:rPr lang="en-US" sz="2800" dirty="0" err="1"/>
              <a:t>awt</a:t>
            </a:r>
            <a:r>
              <a:rPr lang="en-US" sz="2800" dirty="0"/>
              <a:t> classes</a:t>
            </a:r>
          </a:p>
          <a:p>
            <a:pPr lvl="1">
              <a:defRPr/>
            </a:pPr>
            <a:r>
              <a:rPr lang="en-US" sz="2000" dirty="0">
                <a:ea typeface="+mn-ea"/>
                <a:cs typeface="+mn-cs"/>
              </a:rPr>
              <a:t>Components</a:t>
            </a:r>
          </a:p>
          <a:p>
            <a:pPr lvl="1">
              <a:defRPr/>
            </a:pPr>
            <a:r>
              <a:rPr lang="en-US" sz="2000" dirty="0">
                <a:ea typeface="+mn-ea"/>
                <a:cs typeface="+mn-cs"/>
              </a:rPr>
              <a:t>Containers</a:t>
            </a:r>
          </a:p>
          <a:p>
            <a:pPr lvl="1">
              <a:defRPr/>
            </a:pPr>
            <a:r>
              <a:rPr lang="en-US" sz="2000" dirty="0">
                <a:ea typeface="+mn-ea"/>
                <a:cs typeface="+mn-cs"/>
              </a:rPr>
              <a:t>layout managers</a:t>
            </a:r>
          </a:p>
          <a:p>
            <a:pPr lvl="1">
              <a:defRPr/>
            </a:pPr>
            <a:r>
              <a:rPr lang="en-US" sz="2000" b="1" dirty="0">
                <a:solidFill>
                  <a:srgbClr val="FF0000"/>
                </a:solidFill>
                <a:ea typeface="+mn-ea"/>
                <a:cs typeface="+mn-cs"/>
              </a:rPr>
              <a:t>event handling</a:t>
            </a:r>
          </a:p>
          <a:p>
            <a:pPr>
              <a:defRPr/>
            </a:pPr>
            <a:r>
              <a:rPr lang="en-US" sz="2800" dirty="0"/>
              <a:t>Steps To Use AWT</a:t>
            </a:r>
          </a:p>
          <a:p>
            <a:pPr lvl="1">
              <a:defRPr/>
            </a:pPr>
            <a:r>
              <a:rPr lang="en-US" sz="2000" dirty="0">
                <a:ea typeface="+mn-ea"/>
                <a:cs typeface="+mn-cs"/>
              </a:rPr>
              <a:t>Create a container</a:t>
            </a:r>
          </a:p>
          <a:p>
            <a:pPr lvl="2">
              <a:defRPr/>
            </a:pPr>
            <a:r>
              <a:rPr lang="en-US" sz="2000" dirty="0">
                <a:ea typeface="+mn-ea"/>
                <a:cs typeface="+mn-cs"/>
              </a:rPr>
              <a:t>Frame, Dialog, Window, Panel, </a:t>
            </a:r>
            <a:r>
              <a:rPr lang="en-US" sz="2000" dirty="0" err="1">
                <a:ea typeface="+mn-ea"/>
                <a:cs typeface="+mn-cs"/>
              </a:rPr>
              <a:t>ScrollPane</a:t>
            </a:r>
            <a:endParaRPr lang="en-US" sz="2000" dirty="0">
              <a:ea typeface="+mn-ea"/>
              <a:cs typeface="+mn-cs"/>
            </a:endParaRPr>
          </a:p>
          <a:p>
            <a:pPr lvl="1">
              <a:defRPr/>
            </a:pPr>
            <a:r>
              <a:rPr lang="en-US" sz="2000" dirty="0">
                <a:ea typeface="+mn-ea"/>
                <a:cs typeface="+mn-cs"/>
              </a:rPr>
              <a:t>Select a </a:t>
            </a:r>
            <a:r>
              <a:rPr lang="en-US" sz="2000" dirty="0" err="1">
                <a:ea typeface="+mn-ea"/>
                <a:cs typeface="+mn-cs"/>
              </a:rPr>
              <a:t>LayoutManager</a:t>
            </a:r>
            <a:endParaRPr lang="en-US" sz="2000" dirty="0">
              <a:ea typeface="+mn-ea"/>
              <a:cs typeface="+mn-cs"/>
            </a:endParaRPr>
          </a:p>
          <a:p>
            <a:pPr lvl="2">
              <a:defRPr/>
            </a:pPr>
            <a:r>
              <a:rPr lang="en-US" sz="1600" dirty="0">
                <a:ea typeface="+mn-ea"/>
                <a:cs typeface="+mn-cs"/>
              </a:rPr>
              <a:t>Flow, Border, Grid, </a:t>
            </a:r>
            <a:r>
              <a:rPr lang="en-US" sz="1600" dirty="0" err="1">
                <a:ea typeface="+mn-ea"/>
                <a:cs typeface="+mn-cs"/>
              </a:rPr>
              <a:t>GridBag</a:t>
            </a:r>
            <a:r>
              <a:rPr lang="en-US" sz="1600" dirty="0">
                <a:ea typeface="+mn-ea"/>
                <a:cs typeface="+mn-cs"/>
              </a:rPr>
              <a:t>, Card, none (null)</a:t>
            </a:r>
          </a:p>
          <a:p>
            <a:pPr lvl="1">
              <a:defRPr/>
            </a:pPr>
            <a:r>
              <a:rPr lang="en-US" sz="2000" dirty="0">
                <a:ea typeface="+mn-ea"/>
                <a:cs typeface="+mn-cs"/>
              </a:rPr>
              <a:t>Create components</a:t>
            </a:r>
          </a:p>
          <a:p>
            <a:pPr lvl="2">
              <a:defRPr/>
            </a:pPr>
            <a:r>
              <a:rPr lang="en-US" sz="1600" dirty="0">
                <a:ea typeface="+mn-ea"/>
                <a:cs typeface="+mn-cs"/>
              </a:rPr>
              <a:t>Button, Checkbox, Choice, Label, List, </a:t>
            </a:r>
            <a:r>
              <a:rPr lang="en-US" sz="1600" dirty="0" err="1">
                <a:ea typeface="+mn-ea"/>
                <a:cs typeface="+mn-cs"/>
              </a:rPr>
              <a:t>TextArea</a:t>
            </a:r>
            <a:r>
              <a:rPr lang="en-US" sz="1600" dirty="0">
                <a:ea typeface="+mn-ea"/>
                <a:cs typeface="+mn-cs"/>
              </a:rPr>
              <a:t>, </a:t>
            </a:r>
            <a:r>
              <a:rPr lang="en-US" sz="1600" dirty="0" err="1">
                <a:ea typeface="+mn-ea"/>
                <a:cs typeface="+mn-cs"/>
              </a:rPr>
              <a:t>TextField</a:t>
            </a:r>
            <a:r>
              <a:rPr lang="en-US" sz="1600" dirty="0">
                <a:ea typeface="+mn-ea"/>
                <a:cs typeface="+mn-cs"/>
              </a:rPr>
              <a:t>, </a:t>
            </a:r>
            <a:r>
              <a:rPr lang="en-US" sz="1600" dirty="0" err="1">
                <a:ea typeface="+mn-ea"/>
                <a:cs typeface="+mn-cs"/>
              </a:rPr>
              <a:t>PopupMenu</a:t>
            </a:r>
            <a:endParaRPr lang="en-US" sz="2000" dirty="0">
              <a:ea typeface="+mn-ea"/>
              <a:cs typeface="+mn-cs"/>
            </a:endParaRPr>
          </a:p>
          <a:p>
            <a:pPr lvl="1">
              <a:defRPr/>
            </a:pPr>
            <a:r>
              <a:rPr lang="en-US" sz="2000" dirty="0">
                <a:ea typeface="+mn-ea"/>
                <a:cs typeface="+mn-cs"/>
              </a:rPr>
              <a:t>Add components to container</a:t>
            </a:r>
          </a:p>
          <a:p>
            <a:pPr lvl="1">
              <a:defRPr/>
            </a:pPr>
            <a:r>
              <a:rPr lang="en-US" sz="2000" b="1" dirty="0">
                <a:solidFill>
                  <a:srgbClr val="C00000"/>
                </a:solidFill>
                <a:ea typeface="+mn-ea"/>
                <a:cs typeface="+mn-cs"/>
              </a:rPr>
              <a:t>Specify event handling</a:t>
            </a:r>
            <a:endParaRPr lang="en-US" sz="2000" b="1" dirty="0">
              <a:solidFill>
                <a:srgbClr val="C00000"/>
              </a:solidFill>
            </a:endParaRPr>
          </a:p>
          <a:p>
            <a:pPr eaLnBrk="1" hangingPunct="1">
              <a:defRPr/>
            </a:pPr>
            <a:endParaRPr lang="en-US" sz="2400" b="1" dirty="0"/>
          </a:p>
          <a:p>
            <a:pPr eaLnBrk="1" hangingPunct="1">
              <a:defRPr/>
            </a:pPr>
            <a:endParaRPr lang="en-US" sz="2400" dirty="0">
              <a:latin typeface="Times New Roman" pitchFamily="18" charset="0"/>
            </a:endParaRPr>
          </a:p>
        </p:txBody>
      </p:sp>
      <p:sp>
        <p:nvSpPr>
          <p:cNvPr id="8196" name="Rectangle 4">
            <a:extLst>
              <a:ext uri="{FF2B5EF4-FFF2-40B4-BE49-F238E27FC236}">
                <a16:creationId xmlns:a16="http://schemas.microsoft.com/office/drawing/2014/main" id="{4BB78FFE-89F1-4FDB-841B-66E14C4263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126607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l-GR" altLang="el-GR">
              <a:solidFill>
                <a:srgbClr val="000000"/>
              </a:solidFill>
            </a:endParaRPr>
          </a:p>
        </p:txBody>
      </p:sp>
      <p:sp>
        <p:nvSpPr>
          <p:cNvPr id="8197" name="Rectangle 5">
            <a:extLst>
              <a:ext uri="{FF2B5EF4-FFF2-40B4-BE49-F238E27FC236}">
                <a16:creationId xmlns:a16="http://schemas.microsoft.com/office/drawing/2014/main" id="{E6C157AF-C637-46F8-AC5B-633ABC9394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145657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l-GR" altLang="el-GR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81001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>
                <a:solidFill>
                  <a:srgbClr val="F9853D"/>
                </a:solidFill>
                <a:latin typeface="Bahnschrift" panose="020B0502040204020203" pitchFamily="34" charset="0"/>
              </a:rPr>
              <a:t>Οργάνωση Διάλεξης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179824" y="6581001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Event Handling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8249AB5-3679-9512-97D2-71074F95D0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484313"/>
            <a:ext cx="8345487" cy="439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Event Handling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n-US" altLang="el-G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Event Handling in Java Gui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n-US" altLang="el-G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Observer/Observable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n-US" altLang="el-GR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Model-View-</a:t>
            </a:r>
            <a:r>
              <a:rPr kumimoji="0" lang="en-US" altLang="el-GR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Controler</a:t>
            </a:r>
            <a:r>
              <a:rPr kumimoji="0" lang="en-US" altLang="el-GR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(MVC)</a:t>
            </a:r>
            <a:endParaRPr kumimoji="0" lang="en-US" altLang="el-G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n-US" altLang="el-GR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n-US" altLang="el-G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n-US" altLang="el-G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n-US" altLang="el-G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n-GB" altLang="el-G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n-GB" altLang="el-G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3615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81001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179824" y="6581001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Event Handling</a:t>
            </a:r>
          </a:p>
        </p:txBody>
      </p:sp>
    </p:spTree>
    <p:extLst>
      <p:ext uri="{BB962C8B-B14F-4D97-AF65-F5344CB8AC3E}">
        <p14:creationId xmlns:p14="http://schemas.microsoft.com/office/powerpoint/2010/main" val="391806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81001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179824" y="6581001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Event Handling</a:t>
            </a:r>
          </a:p>
        </p:txBody>
      </p:sp>
    </p:spTree>
    <p:extLst>
      <p:ext uri="{BB962C8B-B14F-4D97-AF65-F5344CB8AC3E}">
        <p14:creationId xmlns:p14="http://schemas.microsoft.com/office/powerpoint/2010/main" val="2849358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Προσαρμοσμένη σχεδίαση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18918</TotalTime>
  <Words>2504</Words>
  <Application>Microsoft Office PowerPoint</Application>
  <PresentationFormat>Widescreen</PresentationFormat>
  <Paragraphs>494</Paragraphs>
  <Slides>35</Slides>
  <Notes>35</Notes>
  <HiddenSlides>3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50" baseType="lpstr">
      <vt:lpstr>Arial</vt:lpstr>
      <vt:lpstr>Bahnschrift</vt:lpstr>
      <vt:lpstr>Bahnschrift Light</vt:lpstr>
      <vt:lpstr>Calibri</vt:lpstr>
      <vt:lpstr>Calibri Light</vt:lpstr>
      <vt:lpstr>Courier</vt:lpstr>
      <vt:lpstr>Courier New</vt:lpstr>
      <vt:lpstr>Tahoma</vt:lpstr>
      <vt:lpstr>Times New Roman</vt:lpstr>
      <vt:lpstr>Times New Roman Greek</vt:lpstr>
      <vt:lpstr>Wingdings</vt:lpstr>
      <vt:lpstr>Προσαρμοσμένη σχεδίαση</vt:lpstr>
      <vt:lpstr>Θέμα του Office</vt:lpstr>
      <vt:lpstr>Blends</vt:lpstr>
      <vt:lpstr>Bitmap Image</vt:lpstr>
      <vt:lpstr>PowerPoint Presentation</vt:lpstr>
      <vt:lpstr>Οργάνωση Διάλεξης</vt:lpstr>
      <vt:lpstr>Το πρόβλημα … και η λύση</vt:lpstr>
      <vt:lpstr>Event Handling</vt:lpstr>
      <vt:lpstr>Βασικά συνθετικά του event model</vt:lpstr>
      <vt:lpstr>Μηχανισμός Event Handling – Βασική αρχή</vt:lpstr>
      <vt:lpstr>Οργάνωση Διάλεξης</vt:lpstr>
      <vt:lpstr>Event Handling in Java (1/2)</vt:lpstr>
      <vt:lpstr>Event Handling in Java (2/2)</vt:lpstr>
      <vt:lpstr>Button0 Event Handling key constructs</vt:lpstr>
      <vt:lpstr>Button0 pressed - Event Handling</vt:lpstr>
      <vt:lpstr>Event Handling -Sequence Diagrams</vt:lpstr>
      <vt:lpstr>ActionListener - ActionEvent</vt:lpstr>
      <vt:lpstr>Specify event handling</vt:lpstr>
      <vt:lpstr>Event sources, Listeners and Objects</vt:lpstr>
      <vt:lpstr>Design For Flexibility and Maintainability</vt:lpstr>
      <vt:lpstr>Event Handling Revisited</vt:lpstr>
      <vt:lpstr>Event Handling στο Goody’s</vt:lpstr>
      <vt:lpstr>Οργάνωση Διάλεξης</vt:lpstr>
      <vt:lpstr>WindowsApp με γραφική διεπαφή V1</vt:lpstr>
      <vt:lpstr>WindowsApp με γραφική διεπαφή V2</vt:lpstr>
      <vt:lpstr>Οργάνωση Διάλεξης</vt:lpstr>
      <vt:lpstr>Example code 1</vt:lpstr>
      <vt:lpstr>Using Local Class</vt:lpstr>
      <vt:lpstr>Using Local Inner Class</vt:lpstr>
      <vt:lpstr>Using Anonymous class </vt:lpstr>
      <vt:lpstr>Ανώνυμη Κλάση (Anonymous class) </vt:lpstr>
      <vt:lpstr>Using Lambda </vt:lpstr>
      <vt:lpstr>PowerPoint Presentation</vt:lpstr>
      <vt:lpstr>Event Classes</vt:lpstr>
      <vt:lpstr>Specify event handling</vt:lpstr>
      <vt:lpstr>Steps to use awt</vt:lpstr>
      <vt:lpstr>Οργάνωση Διάλεξης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Παρουσίαση του PowerPoint</dc:title>
  <dc:creator>PCUser</dc:creator>
  <cp:lastModifiedBy>thrambo@ece.upatras.gr</cp:lastModifiedBy>
  <cp:revision>97</cp:revision>
  <cp:lastPrinted>2023-05-03T09:26:53Z</cp:lastPrinted>
  <dcterms:created xsi:type="dcterms:W3CDTF">2020-03-13T12:21:17Z</dcterms:created>
  <dcterms:modified xsi:type="dcterms:W3CDTF">2024-10-09T06:19:19Z</dcterms:modified>
</cp:coreProperties>
</file>