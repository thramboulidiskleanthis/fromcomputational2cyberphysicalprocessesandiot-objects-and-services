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92" r:id="rId2"/>
  </p:sldMasterIdLst>
  <p:notesMasterIdLst>
    <p:notesMasterId r:id="rId25"/>
  </p:notesMasterIdLst>
  <p:sldIdLst>
    <p:sldId id="262" r:id="rId3"/>
    <p:sldId id="842" r:id="rId4"/>
    <p:sldId id="827" r:id="rId5"/>
    <p:sldId id="828" r:id="rId6"/>
    <p:sldId id="829" r:id="rId7"/>
    <p:sldId id="830" r:id="rId8"/>
    <p:sldId id="832" r:id="rId9"/>
    <p:sldId id="831" r:id="rId10"/>
    <p:sldId id="833" r:id="rId11"/>
    <p:sldId id="834" r:id="rId12"/>
    <p:sldId id="844" r:id="rId13"/>
    <p:sldId id="826" r:id="rId14"/>
    <p:sldId id="836" r:id="rId15"/>
    <p:sldId id="835" r:id="rId16"/>
    <p:sldId id="837" r:id="rId17"/>
    <p:sldId id="846" r:id="rId18"/>
    <p:sldId id="838" r:id="rId19"/>
    <p:sldId id="840" r:id="rId20"/>
    <p:sldId id="848" r:id="rId21"/>
    <p:sldId id="847" r:id="rId22"/>
    <p:sldId id="839" r:id="rId23"/>
    <p:sldId id="852" r:id="rId24"/>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DBB"/>
    <a:srgbClr val="60D69E"/>
    <a:srgbClr val="869391"/>
    <a:srgbClr val="F9853D"/>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53" autoAdjust="0"/>
    <p:restoredTop sz="91224" autoAdjust="0"/>
  </p:normalViewPr>
  <p:slideViewPr>
    <p:cSldViewPr snapToGrid="0">
      <p:cViewPr varScale="1">
        <p:scale>
          <a:sx n="63" d="100"/>
          <a:sy n="63" d="100"/>
        </p:scale>
        <p:origin x="678" y="6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9/10/2024</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1775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7163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205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8457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1162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3996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1460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2599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8278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7691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5197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57365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0741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18549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1960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6238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54563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76586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90873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8883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1203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9/10/2024</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9/10/2024</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9/10/2024</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9/10/2024</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ites.google.com/site/thramboulidiskleanthis/"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Υπότιτλος 2">
            <a:extLst>
              <a:ext uri="{FF2B5EF4-FFF2-40B4-BE49-F238E27FC236}">
                <a16:creationId xmlns:a16="http://schemas.microsoft.com/office/drawing/2014/main" id="{999AB7B1-2CA7-4F2E-91BE-62A4C3CC57D6}"/>
              </a:ext>
            </a:extLst>
          </p:cNvPr>
          <p:cNvSpPr txBox="1">
            <a:spLocks/>
          </p:cNvSpPr>
          <p:nvPr/>
        </p:nvSpPr>
        <p:spPr>
          <a:xfrm>
            <a:off x="-3" y="48411"/>
            <a:ext cx="12192002" cy="1249811"/>
          </a:xfrm>
          <a:prstGeom prst="rect">
            <a:avLst/>
          </a:prstGeom>
        </p:spPr>
        <p:txBody>
          <a:bodyPr vert="horz" lIns="91440" tIns="45720" rIns="91440" bIns="45720" rtlCol="0" anchor="b">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l-GR" sz="4000" b="1" dirty="0">
                <a:solidFill>
                  <a:srgbClr val="F9853D"/>
                </a:solidFill>
                <a:latin typeface="Bahnschrift" panose="020B0502040204020203" pitchFamily="34" charset="0"/>
              </a:rPr>
              <a:t>Αντικειμενοστρεφής Προγραμματισμός </a:t>
            </a:r>
            <a:br>
              <a:rPr lang="el-GR" sz="4000" b="1" dirty="0">
                <a:solidFill>
                  <a:srgbClr val="F9853D"/>
                </a:solidFill>
                <a:latin typeface="Bahnschrift" panose="020B0502040204020203" pitchFamily="34" charset="0"/>
              </a:rPr>
            </a:br>
            <a:r>
              <a:rPr lang="el-GR" sz="4000" b="1" dirty="0">
                <a:solidFill>
                  <a:srgbClr val="F9853D"/>
                </a:solidFill>
                <a:latin typeface="Bahnschrift" panose="020B0502040204020203" pitchFamily="34" charset="0"/>
              </a:rPr>
              <a:t>(</a:t>
            </a:r>
            <a:r>
              <a:rPr lang="el-GR" sz="4000" b="1" dirty="0" err="1">
                <a:solidFill>
                  <a:srgbClr val="F9853D"/>
                </a:solidFill>
                <a:latin typeface="Bahnschrift" panose="020B0502040204020203" pitchFamily="34" charset="0"/>
              </a:rPr>
              <a:t>Object-Oriented</a:t>
            </a:r>
            <a:r>
              <a:rPr lang="el-GR" sz="4000" b="1" dirty="0">
                <a:solidFill>
                  <a:srgbClr val="F9853D"/>
                </a:solidFill>
                <a:latin typeface="Bahnschrift" panose="020B0502040204020203" pitchFamily="34" charset="0"/>
              </a:rPr>
              <a:t> </a:t>
            </a:r>
            <a:r>
              <a:rPr lang="el-GR" sz="4000" b="1" dirty="0" err="1">
                <a:solidFill>
                  <a:srgbClr val="F9853D"/>
                </a:solidFill>
                <a:latin typeface="Bahnschrift" panose="020B0502040204020203" pitchFamily="34" charset="0"/>
              </a:rPr>
              <a:t>Programming</a:t>
            </a:r>
            <a:r>
              <a:rPr lang="el-GR" sz="4000" b="1" dirty="0">
                <a:solidFill>
                  <a:srgbClr val="F9853D"/>
                </a:solidFill>
                <a:latin typeface="Bahnschrift" panose="020B0502040204020203" pitchFamily="34" charset="0"/>
              </a:rPr>
              <a:t>)</a:t>
            </a:r>
            <a:endParaRPr lang="en-US" sz="2800" b="1" dirty="0">
              <a:solidFill>
                <a:srgbClr val="F9853D"/>
              </a:solidFill>
              <a:latin typeface="Bahnschrift" panose="020B0502040204020203" pitchFamily="34" charset="0"/>
            </a:endParaRPr>
          </a:p>
        </p:txBody>
      </p:sp>
      <p:sp>
        <p:nvSpPr>
          <p:cNvPr id="5" name="Rectangle 3">
            <a:extLst>
              <a:ext uri="{FF2B5EF4-FFF2-40B4-BE49-F238E27FC236}">
                <a16:creationId xmlns:a16="http://schemas.microsoft.com/office/drawing/2014/main" id="{850C4F10-C081-CD71-17C8-8DAD4C7DEEF4}"/>
              </a:ext>
            </a:extLst>
          </p:cNvPr>
          <p:cNvSpPr txBox="1">
            <a:spLocks noChangeArrowheads="1"/>
          </p:cNvSpPr>
          <p:nvPr/>
        </p:nvSpPr>
        <p:spPr bwMode="auto">
          <a:xfrm>
            <a:off x="0" y="5773068"/>
            <a:ext cx="8610600"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ctr" rtl="0" eaLnBrk="0" fontAlgn="base" hangingPunct="0">
              <a:spcBef>
                <a:spcPct val="20000"/>
              </a:spcBef>
              <a:spcAft>
                <a:spcPct val="0"/>
              </a:spcAft>
              <a:buFont typeface="Wingdings" pitchFamily="2" charset="2"/>
              <a:buNone/>
              <a:defRPr sz="4000">
                <a:solidFill>
                  <a:schemeClr val="tx1"/>
                </a:solidFill>
                <a:latin typeface="+mn-lt"/>
                <a:ea typeface="+mn-ea"/>
                <a:cs typeface="+mn-cs"/>
              </a:defRPr>
            </a:lvl1pPr>
            <a:lvl2pPr marL="742950" indent="-285750" algn="l" rtl="0" eaLnBrk="0" fontAlgn="base" hangingPunct="0">
              <a:spcBef>
                <a:spcPct val="20000"/>
              </a:spcBef>
              <a:spcAft>
                <a:spcPct val="0"/>
              </a:spcAft>
              <a:buFont typeface="Book Antiqua" panose="02040602050305030304" pitchFamily="18" charset="0"/>
              <a:buChar char="–"/>
              <a:defRPr sz="2800">
                <a:solidFill>
                  <a:schemeClr val="tx1"/>
                </a:solidFill>
                <a:latin typeface="+mn-lt"/>
              </a:defRPr>
            </a:lvl2pPr>
            <a:lvl3pPr marL="1143000" indent="-228600" algn="l" rtl="0" eaLnBrk="0" fontAlgn="base" hangingPunct="0">
              <a:spcBef>
                <a:spcPct val="20000"/>
              </a:spcBef>
              <a:spcAft>
                <a:spcPct val="0"/>
              </a:spcAft>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algn="l" eaLnBrk="1" hangingPunct="1">
              <a:spcBef>
                <a:spcPct val="0"/>
              </a:spcBef>
              <a:defRPr/>
            </a:pPr>
            <a:r>
              <a:rPr lang="en-US" altLang="el-GR" sz="1800" b="0" i="0" kern="0" dirty="0">
                <a:solidFill>
                  <a:srgbClr val="800000"/>
                </a:solidFill>
                <a:latin typeface="Times New Roman" panose="02020603050405020304" pitchFamily="18" charset="0"/>
              </a:rPr>
              <a:t>Kleanthis Thramboulidis</a:t>
            </a:r>
          </a:p>
          <a:p>
            <a:pPr algn="l" eaLnBrk="1" hangingPunct="1">
              <a:spcBef>
                <a:spcPct val="0"/>
              </a:spcBef>
              <a:defRPr/>
            </a:pPr>
            <a:r>
              <a:rPr lang="en-US" altLang="el-GR" sz="1600" i="0" kern="0" dirty="0">
                <a:latin typeface="Times New Roman" panose="02020603050405020304" pitchFamily="18" charset="0"/>
              </a:rPr>
              <a:t>Prof. of Software and System Engineering </a:t>
            </a:r>
          </a:p>
          <a:p>
            <a:pPr algn="l" eaLnBrk="1" hangingPunct="1">
              <a:spcBef>
                <a:spcPct val="0"/>
              </a:spcBef>
              <a:defRPr/>
            </a:pPr>
            <a:r>
              <a:rPr lang="en-US" altLang="el-GR" sz="1600" b="0" i="0" kern="0" dirty="0">
                <a:latin typeface="Times New Roman" panose="02020603050405020304" pitchFamily="18" charset="0"/>
              </a:rPr>
              <a:t>University of Patras</a:t>
            </a:r>
            <a:r>
              <a:rPr lang="el-GR" altLang="el-GR" sz="1800" b="0" i="0" kern="0" dirty="0">
                <a:latin typeface="Times New Roman" panose="02020603050405020304" pitchFamily="18" charset="0"/>
              </a:rPr>
              <a:t> </a:t>
            </a:r>
            <a:endParaRPr lang="en-US" altLang="el-GR" sz="1800" b="0" i="0" kern="0" dirty="0">
              <a:latin typeface="Times New Roman" panose="02020603050405020304" pitchFamily="18" charset="0"/>
            </a:endParaRPr>
          </a:p>
          <a:p>
            <a:pPr algn="l" eaLnBrk="1" hangingPunct="1">
              <a:spcBef>
                <a:spcPct val="0"/>
              </a:spcBef>
              <a:defRPr/>
            </a:pPr>
            <a:r>
              <a:rPr lang="en-US" altLang="el-GR" sz="1600" b="0" i="0" dirty="0">
                <a:latin typeface="Times New Roman" panose="02020603050405020304" pitchFamily="18" charset="0"/>
                <a:hlinkClick r:id="rId3"/>
              </a:rPr>
              <a:t>https://sites.google.com/site/thramboulidiskleanthis/</a:t>
            </a:r>
            <a:endParaRPr lang="en-US" altLang="el-GR" sz="1600" b="0" i="0" dirty="0">
              <a:latin typeface="Times New Roman" panose="02020603050405020304" pitchFamily="18" charset="0"/>
            </a:endParaRPr>
          </a:p>
          <a:p>
            <a:pPr algn="l" eaLnBrk="1" hangingPunct="1">
              <a:spcBef>
                <a:spcPct val="0"/>
              </a:spcBef>
              <a:defRPr/>
            </a:pPr>
            <a:endParaRPr lang="el-GR" altLang="el-GR" sz="1800" kern="0" dirty="0">
              <a:latin typeface="Times New Roman" panose="02020603050405020304" pitchFamily="18" charset="0"/>
            </a:endParaRPr>
          </a:p>
          <a:p>
            <a:pPr algn="l" eaLnBrk="1" hangingPunct="1">
              <a:spcBef>
                <a:spcPct val="0"/>
              </a:spcBef>
              <a:defRPr/>
            </a:pPr>
            <a:endParaRPr lang="en-GB" altLang="el-GR" sz="1800" b="1" kern="0" dirty="0">
              <a:latin typeface="Times New Roman" panose="02020603050405020304" pitchFamily="18" charset="0"/>
            </a:endParaRPr>
          </a:p>
        </p:txBody>
      </p:sp>
      <p:sp>
        <p:nvSpPr>
          <p:cNvPr id="16" name="TextBox 15">
            <a:extLst>
              <a:ext uri="{FF2B5EF4-FFF2-40B4-BE49-F238E27FC236}">
                <a16:creationId xmlns:a16="http://schemas.microsoft.com/office/drawing/2014/main" id="{D3036E0A-62C8-F25D-25D5-595B0B27A6B1}"/>
              </a:ext>
            </a:extLst>
          </p:cNvPr>
          <p:cNvSpPr txBox="1"/>
          <p:nvPr/>
        </p:nvSpPr>
        <p:spPr>
          <a:xfrm>
            <a:off x="0" y="1318086"/>
            <a:ext cx="1769534" cy="369332"/>
          </a:xfrm>
          <a:prstGeom prst="rect">
            <a:avLst/>
          </a:prstGeom>
          <a:noFill/>
        </p:spPr>
        <p:txBody>
          <a:bodyPr wrap="square">
            <a:spAutoFit/>
          </a:bodyPr>
          <a:lstStyle/>
          <a:p>
            <a:r>
              <a:rPr lang="en-US" dirty="0">
                <a:solidFill>
                  <a:srgbClr val="F9853D"/>
                </a:solidFill>
                <a:latin typeface="Bahnschrift" panose="020B0502040204020203" pitchFamily="34" charset="0"/>
              </a:rPr>
              <a:t>(CEID_NNY106)</a:t>
            </a:r>
            <a:endParaRPr lang="el-GR" dirty="0">
              <a:solidFill>
                <a:srgbClr val="F9853D"/>
              </a:solidFill>
              <a:latin typeface="Bahnschrift" panose="020B0502040204020203" pitchFamily="34" charset="0"/>
            </a:endParaRPr>
          </a:p>
        </p:txBody>
      </p:sp>
      <p:sp>
        <p:nvSpPr>
          <p:cNvPr id="2" name="TextBox 1">
            <a:extLst>
              <a:ext uri="{FF2B5EF4-FFF2-40B4-BE49-F238E27FC236}">
                <a16:creationId xmlns:a16="http://schemas.microsoft.com/office/drawing/2014/main" id="{515F3EE9-A938-D663-D46A-160783F1F27F}"/>
              </a:ext>
            </a:extLst>
          </p:cNvPr>
          <p:cNvSpPr txBox="1"/>
          <p:nvPr/>
        </p:nvSpPr>
        <p:spPr>
          <a:xfrm>
            <a:off x="560303" y="2462259"/>
            <a:ext cx="1314527" cy="369332"/>
          </a:xfrm>
          <a:prstGeom prst="rect">
            <a:avLst/>
          </a:prstGeom>
          <a:noFill/>
        </p:spPr>
        <p:txBody>
          <a:bodyPr wrap="none" rtlCol="0">
            <a:spAutoFit/>
          </a:bodyPr>
          <a:lstStyle/>
          <a:p>
            <a:r>
              <a:rPr lang="el-GR" dirty="0"/>
              <a:t>Κύρια Πηγή</a:t>
            </a:r>
          </a:p>
        </p:txBody>
      </p:sp>
      <p:pic>
        <p:nvPicPr>
          <p:cNvPr id="6" name="Picture 5">
            <a:extLst>
              <a:ext uri="{FF2B5EF4-FFF2-40B4-BE49-F238E27FC236}">
                <a16:creationId xmlns:a16="http://schemas.microsoft.com/office/drawing/2014/main" id="{06171E6F-8AE9-B75E-1823-7991CADC80F8}"/>
              </a:ext>
            </a:extLst>
          </p:cNvPr>
          <p:cNvPicPr>
            <a:picLocks noChangeAspect="1"/>
          </p:cNvPicPr>
          <p:nvPr/>
        </p:nvPicPr>
        <p:blipFill>
          <a:blip r:embed="rId4"/>
          <a:stretch>
            <a:fillRect/>
          </a:stretch>
        </p:blipFill>
        <p:spPr>
          <a:xfrm>
            <a:off x="242123" y="2741663"/>
            <a:ext cx="1950889" cy="2819644"/>
          </a:xfrm>
          <a:prstGeom prst="rect">
            <a:avLst/>
          </a:prstGeom>
        </p:spPr>
      </p:pic>
      <p:sp>
        <p:nvSpPr>
          <p:cNvPr id="20" name="Rectangle 19">
            <a:extLst>
              <a:ext uri="{FF2B5EF4-FFF2-40B4-BE49-F238E27FC236}">
                <a16:creationId xmlns:a16="http://schemas.microsoft.com/office/drawing/2014/main" id="{71AC6608-7C00-770A-D4FC-06C135BF8CDE}"/>
              </a:ext>
            </a:extLst>
          </p:cNvPr>
          <p:cNvSpPr/>
          <p:nvPr/>
        </p:nvSpPr>
        <p:spPr>
          <a:xfrm>
            <a:off x="239084" y="3913536"/>
            <a:ext cx="1950889" cy="31272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1600" dirty="0"/>
              <a:t>Κεφάλαιο: </a:t>
            </a:r>
            <a:r>
              <a:rPr lang="en-US" sz="1600" dirty="0"/>
              <a:t>6</a:t>
            </a:r>
            <a:endParaRPr lang="el-GR" sz="1600" dirty="0"/>
          </a:p>
        </p:txBody>
      </p:sp>
      <p:pic>
        <p:nvPicPr>
          <p:cNvPr id="21" name="Picture 6">
            <a:extLst>
              <a:ext uri="{FF2B5EF4-FFF2-40B4-BE49-F238E27FC236}">
                <a16:creationId xmlns:a16="http://schemas.microsoft.com/office/drawing/2014/main" id="{B2F63C07-2E5A-3DFC-8018-E09F68C8D0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85312" y="3081938"/>
            <a:ext cx="4906687" cy="3280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BC265853-6E3A-054B-2FAD-552C220A1F2C}"/>
              </a:ext>
            </a:extLst>
          </p:cNvPr>
          <p:cNvSpPr txBox="1"/>
          <p:nvPr/>
        </p:nvSpPr>
        <p:spPr>
          <a:xfrm>
            <a:off x="2637429" y="2971870"/>
            <a:ext cx="5055359" cy="3539430"/>
          </a:xfrm>
          <a:prstGeom prst="rect">
            <a:avLst/>
          </a:prstGeom>
          <a:noFill/>
        </p:spPr>
        <p:txBody>
          <a:bodyPr wrap="square" rtlCol="0">
            <a:spAutoFit/>
          </a:bodyPr>
          <a:lstStyle/>
          <a:p>
            <a:pPr algn="ctr"/>
            <a:r>
              <a:rPr lang="el-GR" sz="2400" b="1" dirty="0">
                <a:solidFill>
                  <a:srgbClr val="202122"/>
                </a:solidFill>
                <a:latin typeface="Calibri" panose="020F0502020204030204" pitchFamily="34" charset="0"/>
                <a:ea typeface="Calibri" panose="020F0502020204030204" pitchFamily="34" charset="0"/>
                <a:cs typeface="Calibri" panose="020F0502020204030204" pitchFamily="34" charset="0"/>
              </a:rPr>
              <a:t>Διαδικασία Ανάπτυξης </a:t>
            </a:r>
            <a:endParaRPr lang="en-GB" sz="2400" b="1" dirty="0">
              <a:solidFill>
                <a:srgbClr val="202122"/>
              </a:solidFill>
              <a:latin typeface="Calibri" panose="020F0502020204030204" pitchFamily="34" charset="0"/>
              <a:ea typeface="Calibri" panose="020F0502020204030204" pitchFamily="34" charset="0"/>
              <a:cs typeface="Calibri" panose="020F0502020204030204" pitchFamily="34" charset="0"/>
            </a:endParaRPr>
          </a:p>
          <a:p>
            <a:pPr algn="ctr"/>
            <a:r>
              <a:rPr lang="el-GR" sz="2400" b="1" dirty="0">
                <a:solidFill>
                  <a:srgbClr val="202122"/>
                </a:solidFill>
                <a:latin typeface="Calibri" panose="020F0502020204030204" pitchFamily="34" charset="0"/>
                <a:ea typeface="Calibri" panose="020F0502020204030204" pitchFamily="34" charset="0"/>
                <a:cs typeface="Calibri" panose="020F0502020204030204" pitchFamily="34" charset="0"/>
              </a:rPr>
              <a:t>(</a:t>
            </a:r>
            <a:r>
              <a:rPr lang="en-GB" sz="2400" b="1" dirty="0">
                <a:solidFill>
                  <a:srgbClr val="202122"/>
                </a:solidFill>
                <a:latin typeface="Calibri" panose="020F0502020204030204" pitchFamily="34" charset="0"/>
                <a:ea typeface="Calibri" panose="020F0502020204030204" pitchFamily="34" charset="0"/>
                <a:cs typeface="Calibri" panose="020F0502020204030204" pitchFamily="34" charset="0"/>
              </a:rPr>
              <a:t>Development Process)</a:t>
            </a:r>
            <a:endParaRPr lang="el-GR" sz="2400" b="1" dirty="0">
              <a:solidFill>
                <a:srgbClr val="202122"/>
              </a:solidFill>
              <a:latin typeface="Calibri" panose="020F0502020204030204" pitchFamily="34" charset="0"/>
              <a:ea typeface="Calibri" panose="020F0502020204030204" pitchFamily="34" charset="0"/>
              <a:cs typeface="Calibri" panose="020F0502020204030204" pitchFamily="34" charset="0"/>
            </a:endParaRPr>
          </a:p>
          <a:p>
            <a:pPr algn="ctr"/>
            <a:endParaRPr lang="en-GB" sz="2400" b="1" dirty="0">
              <a:solidFill>
                <a:srgbClr val="202122"/>
              </a:solidFill>
              <a:latin typeface="Calibri" panose="020F0502020204030204" pitchFamily="34" charset="0"/>
              <a:ea typeface="Calibri" panose="020F0502020204030204" pitchFamily="34" charset="0"/>
              <a:cs typeface="Calibri" panose="020F0502020204030204" pitchFamily="34" charset="0"/>
            </a:endParaRPr>
          </a:p>
          <a:p>
            <a:pPr algn="ctr"/>
            <a:r>
              <a:rPr lang="el-GR" sz="2400" b="1" dirty="0">
                <a:solidFill>
                  <a:srgbClr val="202122"/>
                </a:solidFill>
                <a:latin typeface="Calibri" panose="020F0502020204030204" pitchFamily="34" charset="0"/>
                <a:ea typeface="Calibri" panose="020F0502020204030204" pitchFamily="34" charset="0"/>
                <a:cs typeface="Calibri" panose="020F0502020204030204" pitchFamily="34" charset="0"/>
              </a:rPr>
              <a:t>Σύνθετες αλληλεπιδράσεις Αντικειμένων - </a:t>
            </a:r>
            <a:r>
              <a:rPr lang="en-GB" sz="24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System Integration</a:t>
            </a:r>
          </a:p>
          <a:p>
            <a:pPr algn="ctr"/>
            <a:endParaRPr lang="en-GB" sz="2400" b="1" dirty="0">
              <a:solidFill>
                <a:srgbClr val="202122"/>
              </a:solidFill>
              <a:latin typeface="Calibri" panose="020F0502020204030204" pitchFamily="34" charset="0"/>
              <a:ea typeface="Calibri" panose="020F0502020204030204" pitchFamily="34" charset="0"/>
              <a:cs typeface="Calibri" panose="020F0502020204030204" pitchFamily="34" charset="0"/>
            </a:endParaRPr>
          </a:p>
          <a:p>
            <a:pPr algn="ctr"/>
            <a:r>
              <a:rPr lang="en-GB" sz="28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RPN Calculator </a:t>
            </a:r>
            <a:r>
              <a:rPr lang="el-GR" sz="28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με γραφική </a:t>
            </a:r>
            <a:r>
              <a:rPr lang="el-GR" sz="28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διεπαφή</a:t>
            </a:r>
            <a:endParaRPr lang="el-GR" sz="2800" b="1"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p>
            <a:pPr algn="ctr"/>
            <a:endParaRPr lang="el-GR" sz="2400" b="1" dirty="0"/>
          </a:p>
        </p:txBody>
      </p:sp>
      <p:sp>
        <p:nvSpPr>
          <p:cNvPr id="3" name="TextBox 2">
            <a:extLst>
              <a:ext uri="{FF2B5EF4-FFF2-40B4-BE49-F238E27FC236}">
                <a16:creationId xmlns:a16="http://schemas.microsoft.com/office/drawing/2014/main" id="{C0119BA2-9DCE-781A-CDE2-5E13583CECD9}"/>
              </a:ext>
            </a:extLst>
          </p:cNvPr>
          <p:cNvSpPr txBox="1"/>
          <p:nvPr/>
        </p:nvSpPr>
        <p:spPr>
          <a:xfrm>
            <a:off x="214596" y="4236100"/>
            <a:ext cx="1089986" cy="369332"/>
          </a:xfrm>
          <a:prstGeom prst="rect">
            <a:avLst/>
          </a:prstGeom>
          <a:noFill/>
        </p:spPr>
        <p:txBody>
          <a:bodyPr wrap="square" rtlCol="0">
            <a:spAutoFit/>
          </a:bodyPr>
          <a:lstStyle/>
          <a:p>
            <a:r>
              <a:rPr lang="en-US" dirty="0"/>
              <a:t>6.4-6.6</a:t>
            </a:r>
            <a:endParaRPr lang="el-GR" dirty="0"/>
          </a:p>
        </p:txBody>
      </p:sp>
      <p:sp>
        <p:nvSpPr>
          <p:cNvPr id="7" name="Υπότιτλος 2">
            <a:extLst>
              <a:ext uri="{FF2B5EF4-FFF2-40B4-BE49-F238E27FC236}">
                <a16:creationId xmlns:a16="http://schemas.microsoft.com/office/drawing/2014/main" id="{8157F78C-BA44-707B-E449-39E19DBCDA14}"/>
              </a:ext>
            </a:extLst>
          </p:cNvPr>
          <p:cNvSpPr txBox="1">
            <a:spLocks/>
          </p:cNvSpPr>
          <p:nvPr/>
        </p:nvSpPr>
        <p:spPr>
          <a:xfrm>
            <a:off x="3193576" y="1257787"/>
            <a:ext cx="8998424" cy="1463345"/>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spcBef>
                <a:spcPct val="0"/>
              </a:spcBef>
              <a:spcAft>
                <a:spcPts val="600"/>
              </a:spcAft>
            </a:pPr>
            <a:r>
              <a:rPr lang="el-GR" sz="4000" b="1" dirty="0">
                <a:solidFill>
                  <a:srgbClr val="60D69E"/>
                </a:solidFill>
                <a:latin typeface="Bahnschrift" panose="020B0502040204020203" pitchFamily="34" charset="0"/>
              </a:rPr>
              <a:t>Η ΠΡΟΣΕΓΓΙΣΗ </a:t>
            </a:r>
            <a:r>
              <a:rPr lang="en-US" sz="4000" b="1" dirty="0">
                <a:solidFill>
                  <a:srgbClr val="60D69E"/>
                </a:solidFill>
                <a:latin typeface="Bahnschrift" panose="020B0502040204020203" pitchFamily="34" charset="0"/>
              </a:rPr>
              <a:t>LEGO </a:t>
            </a:r>
          </a:p>
          <a:p>
            <a:pPr algn="r">
              <a:lnSpc>
                <a:spcPct val="100000"/>
              </a:lnSpc>
              <a:spcBef>
                <a:spcPct val="0"/>
              </a:spcBef>
              <a:spcAft>
                <a:spcPts val="600"/>
              </a:spcAft>
            </a:pPr>
            <a:r>
              <a:rPr lang="el-GR" sz="4000" b="1" dirty="0">
                <a:solidFill>
                  <a:schemeClr val="accent1">
                    <a:lumMod val="60000"/>
                    <a:lumOff val="40000"/>
                  </a:schemeClr>
                </a:solidFill>
                <a:latin typeface="Bahnschrift" panose="020B0502040204020203" pitchFamily="34" charset="0"/>
              </a:rPr>
              <a:t>Παίζοντας με τα “τουβλάκια”</a:t>
            </a:r>
            <a:r>
              <a:rPr lang="en-US" sz="4000" b="1" dirty="0">
                <a:solidFill>
                  <a:schemeClr val="accent1">
                    <a:lumMod val="60000"/>
                    <a:lumOff val="40000"/>
                  </a:schemeClr>
                </a:solidFill>
                <a:latin typeface="Bahnschrift" panose="020B0502040204020203" pitchFamily="34" charset="0"/>
              </a:rPr>
              <a:t> - Part</a:t>
            </a:r>
            <a:r>
              <a:rPr lang="el-GR" sz="4000" b="1" dirty="0">
                <a:solidFill>
                  <a:schemeClr val="accent1">
                    <a:lumMod val="60000"/>
                    <a:lumOff val="40000"/>
                  </a:schemeClr>
                </a:solidFill>
                <a:latin typeface="Bahnschrift" panose="020B0502040204020203" pitchFamily="34" charset="0"/>
              </a:rPr>
              <a:t> </a:t>
            </a:r>
            <a:r>
              <a:rPr lang="en-US" sz="4000" b="1" dirty="0">
                <a:solidFill>
                  <a:schemeClr val="accent1">
                    <a:lumMod val="60000"/>
                    <a:lumOff val="40000"/>
                  </a:schemeClr>
                </a:solidFill>
                <a:latin typeface="Bahnschrift" panose="020B0502040204020203" pitchFamily="34" charset="0"/>
              </a:rPr>
              <a:t>C</a:t>
            </a:r>
          </a:p>
        </p:txBody>
      </p:sp>
    </p:spTree>
    <p:extLst>
      <p:ext uri="{BB962C8B-B14F-4D97-AF65-F5344CB8AC3E}">
        <p14:creationId xmlns:p14="http://schemas.microsoft.com/office/powerpoint/2010/main" val="307325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E26DB777-2335-FA66-7A3F-D92F133E0F9D}"/>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 name="Rectangle 3">
            <a:extLst>
              <a:ext uri="{FF2B5EF4-FFF2-40B4-BE49-F238E27FC236}">
                <a16:creationId xmlns:a16="http://schemas.microsoft.com/office/drawing/2014/main" id="{F569FD65-6C32-4251-AC14-0AD042ADB2C6}"/>
              </a:ext>
            </a:extLst>
          </p:cNvPr>
          <p:cNvSpPr txBox="1">
            <a:spLocks noChangeArrowheads="1"/>
          </p:cNvSpPr>
          <p:nvPr/>
        </p:nvSpPr>
        <p:spPr bwMode="auto">
          <a:xfrm>
            <a:off x="355599" y="1137289"/>
            <a:ext cx="11480801" cy="4583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90000"/>
              </a:lnSpc>
              <a:buClr>
                <a:srgbClr val="3333CC"/>
              </a:buClr>
            </a:pPr>
            <a:r>
              <a:rPr lang="en-US" altLang="el-GR" b="1" dirty="0">
                <a:solidFill>
                  <a:srgbClr val="000000"/>
                </a:solidFill>
                <a:latin typeface="Tahoma"/>
              </a:rPr>
              <a:t>RPN Calculator </a:t>
            </a:r>
            <a:r>
              <a:rPr lang="el-GR" altLang="el-GR" b="1" dirty="0">
                <a:solidFill>
                  <a:srgbClr val="000000"/>
                </a:solidFill>
                <a:latin typeface="Tahoma"/>
              </a:rPr>
              <a:t>με γραφική </a:t>
            </a:r>
            <a:r>
              <a:rPr lang="el-GR" altLang="el-GR" b="1" dirty="0" err="1">
                <a:solidFill>
                  <a:srgbClr val="000000"/>
                </a:solidFill>
                <a:latin typeface="Tahoma"/>
              </a:rPr>
              <a:t>διεπαφή</a:t>
            </a:r>
            <a:endParaRPr lang="el-GR" altLang="el-GR" b="1" dirty="0">
              <a:solidFill>
                <a:srgbClr val="000000"/>
              </a:solidFill>
              <a:latin typeface="Tahoma"/>
            </a:endParaRPr>
          </a:p>
          <a:p>
            <a:pPr lvl="1" eaLnBrk="1" hangingPunct="1">
              <a:lnSpc>
                <a:spcPct val="90000"/>
              </a:lnSpc>
              <a:buClr>
                <a:srgbClr val="3333CC"/>
              </a:buClr>
            </a:pPr>
            <a:r>
              <a:rPr lang="el-GR" altLang="el-GR" b="1" dirty="0">
                <a:solidFill>
                  <a:srgbClr val="000000"/>
                </a:solidFill>
                <a:latin typeface="Tahoma"/>
              </a:rPr>
              <a:t>δομή εφαρμογής</a:t>
            </a:r>
          </a:p>
          <a:p>
            <a:pPr lvl="1" eaLnBrk="1" hangingPunct="1">
              <a:lnSpc>
                <a:spcPct val="90000"/>
              </a:lnSpc>
              <a:buClr>
                <a:srgbClr val="3333CC"/>
              </a:buClr>
            </a:pPr>
            <a:r>
              <a:rPr lang="el-GR" altLang="el-GR" b="1" dirty="0">
                <a:solidFill>
                  <a:srgbClr val="000000"/>
                </a:solidFill>
                <a:latin typeface="Tahoma"/>
              </a:rPr>
              <a:t>αρμοδιότητες (</a:t>
            </a:r>
            <a:r>
              <a:rPr lang="en-GB" altLang="el-GR" b="1" dirty="0">
                <a:solidFill>
                  <a:srgbClr val="000000"/>
                </a:solidFill>
                <a:latin typeface="Tahoma"/>
              </a:rPr>
              <a:t>Responsibilities</a:t>
            </a:r>
            <a:r>
              <a:rPr lang="el-GR" altLang="el-GR" b="1" dirty="0">
                <a:solidFill>
                  <a:srgbClr val="000000"/>
                </a:solidFill>
                <a:latin typeface="Tahoma"/>
              </a:rPr>
              <a:t>) συνιστωσών</a:t>
            </a:r>
          </a:p>
          <a:p>
            <a:pPr lvl="1" eaLnBrk="1" hangingPunct="1">
              <a:lnSpc>
                <a:spcPct val="90000"/>
              </a:lnSpc>
              <a:buClr>
                <a:srgbClr val="3333CC"/>
              </a:buClr>
            </a:pPr>
            <a:r>
              <a:rPr lang="el-GR" altLang="el-GR" b="1" kern="0" dirty="0">
                <a:solidFill>
                  <a:srgbClr val="000000"/>
                </a:solidFill>
                <a:latin typeface="Tahoma"/>
              </a:rPr>
              <a:t>αλληλεπιδράσεις συνιστωσών </a:t>
            </a:r>
            <a:endParaRPr lang="en-GB" altLang="el-GR" b="1" kern="0" dirty="0">
              <a:solidFill>
                <a:srgbClr val="000000"/>
              </a:solidFill>
              <a:latin typeface="Tahoma"/>
            </a:endParaRPr>
          </a:p>
          <a:p>
            <a:pPr eaLnBrk="1" hangingPunct="1">
              <a:lnSpc>
                <a:spcPct val="90000"/>
              </a:lnSpc>
              <a:buClr>
                <a:srgbClr val="3333CC"/>
              </a:buClr>
            </a:pPr>
            <a:r>
              <a:rPr lang="en-GB" altLang="el-GR" kern="0" dirty="0">
                <a:solidFill>
                  <a:srgbClr val="000000"/>
                </a:solidFill>
                <a:latin typeface="Tahoma"/>
              </a:rPr>
              <a:t>System integration</a:t>
            </a:r>
          </a:p>
          <a:p>
            <a:pPr lvl="1" eaLnBrk="1" hangingPunct="1">
              <a:lnSpc>
                <a:spcPct val="90000"/>
              </a:lnSpc>
              <a:buClr>
                <a:srgbClr val="3333CC"/>
              </a:buClr>
            </a:pPr>
            <a:r>
              <a:rPr lang="el-GR" altLang="el-GR" kern="0" dirty="0">
                <a:solidFill>
                  <a:srgbClr val="000000"/>
                </a:solidFill>
                <a:latin typeface="Tahoma"/>
              </a:rPr>
              <a:t>Χρήση </a:t>
            </a:r>
            <a:r>
              <a:rPr lang="en-GB" altLang="el-GR" kern="0" dirty="0">
                <a:solidFill>
                  <a:srgbClr val="000000"/>
                </a:solidFill>
                <a:latin typeface="Tahoma"/>
              </a:rPr>
              <a:t>third party libraries</a:t>
            </a:r>
          </a:p>
          <a:p>
            <a:pPr lvl="1" eaLnBrk="1" hangingPunct="1">
              <a:lnSpc>
                <a:spcPct val="90000"/>
              </a:lnSpc>
              <a:buClr>
                <a:srgbClr val="3333CC"/>
              </a:buClr>
            </a:pPr>
            <a:r>
              <a:rPr lang="el-GR" altLang="el-GR" kern="0" dirty="0">
                <a:solidFill>
                  <a:srgbClr val="000000"/>
                </a:solidFill>
                <a:latin typeface="Tahoma"/>
              </a:rPr>
              <a:t>Εξαρτήσεις (</a:t>
            </a:r>
            <a:r>
              <a:rPr lang="en-GB" altLang="el-GR" kern="0" dirty="0">
                <a:solidFill>
                  <a:srgbClr val="000000"/>
                </a:solidFill>
                <a:latin typeface="Tahoma"/>
              </a:rPr>
              <a:t>dependencies</a:t>
            </a:r>
            <a:r>
              <a:rPr lang="el-GR" altLang="el-GR" kern="0" dirty="0">
                <a:solidFill>
                  <a:srgbClr val="000000"/>
                </a:solidFill>
                <a:latin typeface="Tahoma"/>
              </a:rPr>
              <a:t>)</a:t>
            </a:r>
            <a:endParaRPr lang="en-GB" altLang="el-GR" kern="0" dirty="0">
              <a:solidFill>
                <a:srgbClr val="000000"/>
              </a:solidFill>
              <a:latin typeface="Tahoma"/>
            </a:endParaRPr>
          </a:p>
          <a:p>
            <a:pPr eaLnBrk="1" hangingPunct="1">
              <a:lnSpc>
                <a:spcPct val="90000"/>
              </a:lnSpc>
              <a:buClr>
                <a:srgbClr val="3333CC"/>
              </a:buClr>
            </a:pPr>
            <a:r>
              <a:rPr lang="el-GR" altLang="el-GR" kern="0" dirty="0">
                <a:solidFill>
                  <a:srgbClr val="000000"/>
                </a:solidFill>
                <a:latin typeface="Tahoma"/>
              </a:rPr>
              <a:t>Πλήρως λειτουργική </a:t>
            </a:r>
            <a:r>
              <a:rPr lang="en-US" altLang="el-GR" dirty="0">
                <a:solidFill>
                  <a:srgbClr val="000000"/>
                </a:solidFill>
                <a:latin typeface="Tahoma"/>
              </a:rPr>
              <a:t>RPN Calculator </a:t>
            </a:r>
            <a:endParaRPr lang="en-GB" altLang="el-GR" kern="0" dirty="0">
              <a:solidFill>
                <a:srgbClr val="000000"/>
              </a:solidFill>
              <a:latin typeface="Tahoma"/>
            </a:endParaRPr>
          </a:p>
          <a:p>
            <a:pPr eaLnBrk="1" hangingPunct="1">
              <a:lnSpc>
                <a:spcPct val="90000"/>
              </a:lnSpc>
              <a:buClr>
                <a:srgbClr val="3333CC"/>
              </a:buClr>
            </a:pPr>
            <a:r>
              <a:rPr lang="en-GB" altLang="el-GR" kern="0" dirty="0">
                <a:solidFill>
                  <a:srgbClr val="000000"/>
                </a:solidFill>
                <a:latin typeface="Tahoma"/>
              </a:rPr>
              <a:t>Object Interactions</a:t>
            </a:r>
          </a:p>
        </p:txBody>
      </p:sp>
    </p:spTree>
    <p:extLst>
      <p:ext uri="{BB962C8B-B14F-4D97-AF65-F5344CB8AC3E}">
        <p14:creationId xmlns:p14="http://schemas.microsoft.com/office/powerpoint/2010/main" val="378349782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Η γραφική </a:t>
            </a:r>
            <a:r>
              <a:rPr lang="el-GR" sz="4000" b="1" dirty="0" err="1">
                <a:solidFill>
                  <a:srgbClr val="F9853D"/>
                </a:solidFill>
                <a:latin typeface="Bahnschrift" panose="020B0502040204020203" pitchFamily="34" charset="0"/>
              </a:rPr>
              <a:t>διεπαφή</a:t>
            </a:r>
            <a:r>
              <a:rPr lang="el-GR" sz="4000" b="1" dirty="0">
                <a:solidFill>
                  <a:srgbClr val="F9853D"/>
                </a:solidFill>
                <a:latin typeface="Bahnschrift" panose="020B0502040204020203" pitchFamily="34" charset="0"/>
              </a:rPr>
              <a:t> (</a:t>
            </a:r>
            <a:r>
              <a:rPr lang="en-GB" sz="4000" b="1" dirty="0">
                <a:solidFill>
                  <a:srgbClr val="F9853D"/>
                </a:solidFill>
                <a:latin typeface="Bahnschrift" panose="020B0502040204020203" pitchFamily="34" charset="0"/>
              </a:rPr>
              <a:t>RPN Calculator Gui</a:t>
            </a:r>
            <a:r>
              <a:rPr lang="el-GR"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Rectangle 3">
            <a:extLst>
              <a:ext uri="{FF2B5EF4-FFF2-40B4-BE49-F238E27FC236}">
                <a16:creationId xmlns:a16="http://schemas.microsoft.com/office/drawing/2014/main" id="{27AB7304-A1AC-369C-9A33-8B8AADE494AF}"/>
              </a:ext>
            </a:extLst>
          </p:cNvPr>
          <p:cNvSpPr/>
          <p:nvPr/>
        </p:nvSpPr>
        <p:spPr>
          <a:xfrm>
            <a:off x="6095999" y="783628"/>
            <a:ext cx="2818400" cy="461665"/>
          </a:xfrm>
          <a:prstGeom prst="rect">
            <a:avLst/>
          </a:prstGeom>
        </p:spPr>
        <p:txBody>
          <a:bodyPr wrap="none">
            <a:spAutoFit/>
          </a:bodyPr>
          <a:lstStyle/>
          <a:p>
            <a:pPr fontAlgn="base">
              <a:spcBef>
                <a:spcPct val="0"/>
              </a:spcBef>
              <a:spcAft>
                <a:spcPct val="0"/>
              </a:spcAft>
            </a:pPr>
            <a:r>
              <a:rPr lang="en-US" sz="2400" b="1" kern="0" dirty="0">
                <a:solidFill>
                  <a:srgbClr val="FF0000"/>
                </a:solidFill>
                <a:latin typeface="Tahoma" panose="020B0604030504040204" pitchFamily="34" charset="0"/>
              </a:rPr>
              <a:t>30 61 + 8 6 - * =</a:t>
            </a:r>
            <a:endParaRPr lang="el-GR" sz="2400" dirty="0">
              <a:solidFill>
                <a:srgbClr val="000000"/>
              </a:solidFill>
              <a:latin typeface="Tahoma" panose="020B0604030504040204" pitchFamily="34" charset="0"/>
            </a:endParaRPr>
          </a:p>
        </p:txBody>
      </p:sp>
      <p:pic>
        <p:nvPicPr>
          <p:cNvPr id="5" name="Picture 4">
            <a:extLst>
              <a:ext uri="{FF2B5EF4-FFF2-40B4-BE49-F238E27FC236}">
                <a16:creationId xmlns:a16="http://schemas.microsoft.com/office/drawing/2014/main" id="{991A5933-DEAF-E97D-9132-7E983F3B5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448" y="806879"/>
            <a:ext cx="4797362" cy="2861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a:extLst>
              <a:ext uri="{FF2B5EF4-FFF2-40B4-BE49-F238E27FC236}">
                <a16:creationId xmlns:a16="http://schemas.microsoft.com/office/drawing/2014/main" id="{89DF11BD-01F8-8DE4-6075-EFC1D7CF897A}"/>
              </a:ext>
            </a:extLst>
          </p:cNvPr>
          <p:cNvSpPr txBox="1">
            <a:spLocks noChangeArrowheads="1"/>
          </p:cNvSpPr>
          <p:nvPr/>
        </p:nvSpPr>
        <p:spPr bwMode="auto">
          <a:xfrm>
            <a:off x="143448" y="4164869"/>
            <a:ext cx="11480801" cy="1715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90000"/>
              </a:lnSpc>
              <a:buClr>
                <a:srgbClr val="3333CC"/>
              </a:buClr>
            </a:pPr>
            <a:r>
              <a:rPr lang="el-GR" altLang="el-GR" dirty="0">
                <a:solidFill>
                  <a:srgbClr val="000000"/>
                </a:solidFill>
                <a:latin typeface="Tahoma"/>
              </a:rPr>
              <a:t>Ποια αντικείμενα θα απαρτίζουν το σύστημα;</a:t>
            </a:r>
            <a:endParaRPr lang="en-US" altLang="el-GR" dirty="0">
              <a:solidFill>
                <a:srgbClr val="000000"/>
              </a:solidFill>
              <a:latin typeface="Tahoma"/>
            </a:endParaRPr>
          </a:p>
          <a:p>
            <a:pPr eaLnBrk="1" hangingPunct="1">
              <a:lnSpc>
                <a:spcPct val="90000"/>
              </a:lnSpc>
              <a:buClr>
                <a:srgbClr val="3333CC"/>
              </a:buClr>
            </a:pPr>
            <a:endParaRPr lang="en-US" altLang="el-GR" dirty="0">
              <a:solidFill>
                <a:srgbClr val="000000"/>
              </a:solidFill>
              <a:latin typeface="Tahoma"/>
            </a:endParaRPr>
          </a:p>
          <a:p>
            <a:pPr eaLnBrk="1" hangingPunct="1">
              <a:lnSpc>
                <a:spcPct val="90000"/>
              </a:lnSpc>
              <a:buClr>
                <a:srgbClr val="3333CC"/>
              </a:buClr>
            </a:pPr>
            <a:r>
              <a:rPr lang="el-GR" altLang="el-GR" kern="0" dirty="0">
                <a:solidFill>
                  <a:srgbClr val="000000"/>
                </a:solidFill>
                <a:latin typeface="Tahoma"/>
              </a:rPr>
              <a:t>Πως αυτά πρέπει να συνεργαστούν ώστε το πρόγραμμα μας να παρέχει τη ζητούμενη συμπεριφορά;</a:t>
            </a:r>
            <a:endParaRPr lang="en-GB" altLang="el-GR" kern="0" dirty="0">
              <a:solidFill>
                <a:srgbClr val="000000"/>
              </a:solidFill>
              <a:latin typeface="Tahoma"/>
            </a:endParaRPr>
          </a:p>
        </p:txBody>
      </p:sp>
      <p:sp>
        <p:nvSpPr>
          <p:cNvPr id="12" name="Text Box 5">
            <a:extLst>
              <a:ext uri="{FF2B5EF4-FFF2-40B4-BE49-F238E27FC236}">
                <a16:creationId xmlns:a16="http://schemas.microsoft.com/office/drawing/2014/main" id="{7551F227-30FD-B959-E128-6550C1CBCE15}"/>
              </a:ext>
            </a:extLst>
          </p:cNvPr>
          <p:cNvSpPr txBox="1">
            <a:spLocks noChangeArrowheads="1"/>
          </p:cNvSpPr>
          <p:nvPr/>
        </p:nvSpPr>
        <p:spPr bwMode="auto">
          <a:xfrm>
            <a:off x="5026431" y="1742222"/>
            <a:ext cx="624812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instance of the class </a:t>
            </a:r>
            <a:r>
              <a:rPr kumimoji="0" lang="en-US" altLang="el-GR" sz="2400" b="1" i="0" u="none" strike="noStrike" kern="0" cap="none" spc="0" normalizeH="0" baseline="0" noProof="0" dirty="0">
                <a:ln>
                  <a:noFill/>
                </a:ln>
                <a:solidFill>
                  <a:srgbClr val="000000"/>
                </a:solidFill>
                <a:effectLst/>
                <a:uLnTx/>
                <a:uFillTx/>
                <a:latin typeface="Tahoma" panose="020B0604030504040204" pitchFamily="34" charset="0"/>
              </a:rPr>
              <a:t>CalculatorGui</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that is included in the file </a:t>
            </a:r>
            <a:r>
              <a:rPr kumimoji="0" lang="en-GB" altLang="el-GR" sz="2400" b="1" i="0" u="none" strike="noStrike" kern="0" cap="none" spc="0" normalizeH="0" baseline="0" noProof="0" dirty="0">
                <a:ln>
                  <a:noFill/>
                </a:ln>
                <a:solidFill>
                  <a:srgbClr val="000000"/>
                </a:solidFill>
                <a:effectLst/>
                <a:uLnTx/>
                <a:uFillTx/>
                <a:latin typeface="Tahoma" panose="020B0604030504040204" pitchFamily="34" charset="0"/>
              </a:rPr>
              <a:t>CalcGuiV1.jar</a:t>
            </a:r>
            <a:r>
              <a:rPr kumimoji="0" lang="en-US" altLang="el-GR" sz="2400" b="1"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l-GR" sz="2400" b="0" i="1"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1" i="1" u="none" strike="noStrike" kern="0" cap="none" spc="0" normalizeH="0" baseline="0" noProof="0" dirty="0">
                <a:ln>
                  <a:noFill/>
                </a:ln>
                <a:solidFill>
                  <a:srgbClr val="000000"/>
                </a:solidFill>
                <a:effectLst/>
                <a:uLnTx/>
                <a:uFillTx/>
                <a:latin typeface="Tahoma" panose="020B0604030504040204" pitchFamily="34" charset="0"/>
              </a:rPr>
              <a:t>Constructor</a:t>
            </a:r>
            <a:r>
              <a:rPr kumimoji="0" lang="en-US" altLang="el-GR" sz="2400" b="0" i="1" u="none" strike="noStrike" kern="0" cap="none" spc="0" normalizeH="0" baseline="0" noProof="0" dirty="0">
                <a:ln>
                  <a:noFill/>
                </a:ln>
                <a:solidFill>
                  <a:srgbClr val="000000"/>
                </a:solidFill>
                <a:effectLst/>
                <a:uLnTx/>
                <a:uFillTx/>
                <a:latin typeface="Tahoma" panose="020B0604030504040204" pitchFamily="34" charset="0"/>
              </a:rPr>
              <a:t>: CalculatorGui(Operand op);</a:t>
            </a:r>
          </a:p>
        </p:txBody>
      </p:sp>
      <p:sp>
        <p:nvSpPr>
          <p:cNvPr id="7" name="Θέση υποσέλιδου 4">
            <a:extLst>
              <a:ext uri="{FF2B5EF4-FFF2-40B4-BE49-F238E27FC236}">
                <a16:creationId xmlns:a16="http://schemas.microsoft.com/office/drawing/2014/main" id="{E2A04DCB-F802-23EE-7F1F-EC111C90A975}"/>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34032314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RPN Calculator – Identify Objects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pic>
        <p:nvPicPr>
          <p:cNvPr id="4" name="Picture 3">
            <a:extLst>
              <a:ext uri="{FF2B5EF4-FFF2-40B4-BE49-F238E27FC236}">
                <a16:creationId xmlns:a16="http://schemas.microsoft.com/office/drawing/2014/main" id="{4FCCD35D-D129-9A09-E670-D7FB44E22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3581" y="0"/>
            <a:ext cx="4208419" cy="2509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27">
            <a:extLst>
              <a:ext uri="{FF2B5EF4-FFF2-40B4-BE49-F238E27FC236}">
                <a16:creationId xmlns:a16="http://schemas.microsoft.com/office/drawing/2014/main" id="{D8755A45-21C2-6392-1E46-2BE41E26ADB7}"/>
              </a:ext>
            </a:extLst>
          </p:cNvPr>
          <p:cNvSpPr txBox="1">
            <a:spLocks noChangeArrowheads="1"/>
          </p:cNvSpPr>
          <p:nvPr/>
        </p:nvSpPr>
        <p:spPr bwMode="auto">
          <a:xfrm>
            <a:off x="-1" y="719331"/>
            <a:ext cx="834597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fontAlgn="base" hangingPunct="1">
              <a:spcBef>
                <a:spcPct val="0"/>
              </a:spcBef>
              <a:spcAft>
                <a:spcPct val="0"/>
              </a:spcAft>
            </a:pPr>
            <a:r>
              <a:rPr kumimoji="0" lang="en-US" altLang="el-GR" sz="2800" b="1" i="0" u="none" strike="noStrike" kern="0" cap="none" spc="0" normalizeH="0" baseline="0" noProof="0" dirty="0">
                <a:ln>
                  <a:noFill/>
                </a:ln>
                <a:solidFill>
                  <a:srgbClr val="000000"/>
                </a:solidFill>
                <a:effectLst/>
                <a:uLnTx/>
                <a:uFillTx/>
                <a:latin typeface="Tahoma" panose="020B0604030504040204" pitchFamily="34" charset="0"/>
              </a:rPr>
              <a:t>Repository - </a:t>
            </a:r>
            <a:r>
              <a:rPr lang="en-US" sz="2800" b="1" dirty="0">
                <a:solidFill>
                  <a:srgbClr val="000000"/>
                </a:solidFill>
                <a:latin typeface="Tahoma" panose="020B0604030504040204" pitchFamily="34" charset="0"/>
              </a:rPr>
              <a:t>Third party - </a:t>
            </a:r>
            <a:r>
              <a:rPr kumimoji="0" lang="en-US" altLang="el-GR" sz="2800" b="1" i="0" u="none" strike="noStrike" kern="0" cap="none" spc="0" normalizeH="0" baseline="0" noProof="0" dirty="0">
                <a:ln>
                  <a:noFill/>
                </a:ln>
                <a:solidFill>
                  <a:srgbClr val="000000"/>
                </a:solidFill>
                <a:effectLst/>
                <a:uLnTx/>
                <a:uFillTx/>
                <a:latin typeface="Tahoma" panose="020B0604030504040204" pitchFamily="34" charset="0"/>
              </a:rPr>
              <a:t>Application Specific</a:t>
            </a:r>
            <a:endParaRPr lang="el-GR" sz="2800" b="1" dirty="0">
              <a:solidFill>
                <a:srgbClr val="000000"/>
              </a:solidFill>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l-GR" sz="2800" b="1"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6" name="Θέση υποσέλιδου 4">
            <a:extLst>
              <a:ext uri="{FF2B5EF4-FFF2-40B4-BE49-F238E27FC236}">
                <a16:creationId xmlns:a16="http://schemas.microsoft.com/office/drawing/2014/main" id="{53205EB5-28FB-E6A4-693E-D28626BD4F2A}"/>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365921422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RPN Calculator Constituent objects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grpSp>
        <p:nvGrpSpPr>
          <p:cNvPr id="5" name="Group 3">
            <a:extLst>
              <a:ext uri="{FF2B5EF4-FFF2-40B4-BE49-F238E27FC236}">
                <a16:creationId xmlns:a16="http://schemas.microsoft.com/office/drawing/2014/main" id="{FBC0ED19-C1A7-717B-D253-567256B549B8}"/>
              </a:ext>
            </a:extLst>
          </p:cNvPr>
          <p:cNvGrpSpPr>
            <a:grpSpLocks/>
          </p:cNvGrpSpPr>
          <p:nvPr/>
        </p:nvGrpSpPr>
        <p:grpSpPr bwMode="auto">
          <a:xfrm>
            <a:off x="2341649" y="3389502"/>
            <a:ext cx="1585778" cy="1116512"/>
            <a:chOff x="748" y="1434"/>
            <a:chExt cx="1316" cy="862"/>
          </a:xfrm>
        </p:grpSpPr>
        <p:sp>
          <p:nvSpPr>
            <p:cNvPr id="6" name="Rectangle 4">
              <a:extLst>
                <a:ext uri="{FF2B5EF4-FFF2-40B4-BE49-F238E27FC236}">
                  <a16:creationId xmlns:a16="http://schemas.microsoft.com/office/drawing/2014/main" id="{B5786643-0267-E5AB-2406-117CEB1FC084}"/>
                </a:ext>
              </a:extLst>
            </p:cNvPr>
            <p:cNvSpPr>
              <a:spLocks noChangeArrowheads="1"/>
            </p:cNvSpPr>
            <p:nvPr/>
          </p:nvSpPr>
          <p:spPr bwMode="auto">
            <a:xfrm>
              <a:off x="884" y="1570"/>
              <a:ext cx="907" cy="590"/>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Integer</a:t>
              </a:r>
            </a:p>
          </p:txBody>
        </p:sp>
        <p:sp>
          <p:nvSpPr>
            <p:cNvPr id="7" name="Rectangle 5">
              <a:extLst>
                <a:ext uri="{FF2B5EF4-FFF2-40B4-BE49-F238E27FC236}">
                  <a16:creationId xmlns:a16="http://schemas.microsoft.com/office/drawing/2014/main" id="{D0F76C37-7855-8830-422F-7844DC77ABA3}"/>
                </a:ext>
              </a:extLst>
            </p:cNvPr>
            <p:cNvSpPr>
              <a:spLocks noChangeArrowheads="1"/>
            </p:cNvSpPr>
            <p:nvPr/>
          </p:nvSpPr>
          <p:spPr bwMode="auto">
            <a:xfrm>
              <a:off x="1791" y="1979"/>
              <a:ext cx="273" cy="181"/>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Rectangle 6">
              <a:extLst>
                <a:ext uri="{FF2B5EF4-FFF2-40B4-BE49-F238E27FC236}">
                  <a16:creationId xmlns:a16="http://schemas.microsoft.com/office/drawing/2014/main" id="{64A9FD25-30E1-69DD-22FD-760FCBD29A41}"/>
                </a:ext>
              </a:extLst>
            </p:cNvPr>
            <p:cNvSpPr>
              <a:spLocks noChangeArrowheads="1"/>
            </p:cNvSpPr>
            <p:nvPr/>
          </p:nvSpPr>
          <p:spPr bwMode="auto">
            <a:xfrm>
              <a:off x="1791" y="1570"/>
              <a:ext cx="273" cy="181"/>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Rectangle 7">
              <a:extLst>
                <a:ext uri="{FF2B5EF4-FFF2-40B4-BE49-F238E27FC236}">
                  <a16:creationId xmlns:a16="http://schemas.microsoft.com/office/drawing/2014/main" id="{B4AD044B-CBFC-4137-BCBD-B73198F2331E}"/>
                </a:ext>
              </a:extLst>
            </p:cNvPr>
            <p:cNvSpPr>
              <a:spLocks noChangeArrowheads="1"/>
            </p:cNvSpPr>
            <p:nvPr/>
          </p:nvSpPr>
          <p:spPr bwMode="auto">
            <a:xfrm>
              <a:off x="975" y="2160"/>
              <a:ext cx="272" cy="136"/>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Rectangle 8">
              <a:extLst>
                <a:ext uri="{FF2B5EF4-FFF2-40B4-BE49-F238E27FC236}">
                  <a16:creationId xmlns:a16="http://schemas.microsoft.com/office/drawing/2014/main" id="{80D366E2-6092-652F-BD25-444555AEED60}"/>
                </a:ext>
              </a:extLst>
            </p:cNvPr>
            <p:cNvSpPr>
              <a:spLocks noChangeArrowheads="1"/>
            </p:cNvSpPr>
            <p:nvPr/>
          </p:nvSpPr>
          <p:spPr bwMode="auto">
            <a:xfrm>
              <a:off x="1429" y="2160"/>
              <a:ext cx="272" cy="136"/>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Rectangle 9">
              <a:extLst>
                <a:ext uri="{FF2B5EF4-FFF2-40B4-BE49-F238E27FC236}">
                  <a16:creationId xmlns:a16="http://schemas.microsoft.com/office/drawing/2014/main" id="{81F6D2B6-E15A-5B30-41EF-F3198FB623EA}"/>
                </a:ext>
              </a:extLst>
            </p:cNvPr>
            <p:cNvSpPr>
              <a:spLocks noChangeArrowheads="1"/>
            </p:cNvSpPr>
            <p:nvPr/>
          </p:nvSpPr>
          <p:spPr bwMode="auto">
            <a:xfrm>
              <a:off x="1111" y="1434"/>
              <a:ext cx="272" cy="136"/>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Rectangle 10">
              <a:extLst>
                <a:ext uri="{FF2B5EF4-FFF2-40B4-BE49-F238E27FC236}">
                  <a16:creationId xmlns:a16="http://schemas.microsoft.com/office/drawing/2014/main" id="{6EBB6ABE-2599-DCE4-ABD1-6059BE2E0E23}"/>
                </a:ext>
              </a:extLst>
            </p:cNvPr>
            <p:cNvSpPr>
              <a:spLocks noChangeArrowheads="1"/>
            </p:cNvSpPr>
            <p:nvPr/>
          </p:nvSpPr>
          <p:spPr bwMode="auto">
            <a:xfrm>
              <a:off x="748" y="1706"/>
              <a:ext cx="136" cy="318"/>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16" name="Group 11">
            <a:extLst>
              <a:ext uri="{FF2B5EF4-FFF2-40B4-BE49-F238E27FC236}">
                <a16:creationId xmlns:a16="http://schemas.microsoft.com/office/drawing/2014/main" id="{F35246F4-DD14-CFC3-66D5-6B5AFBB8100B}"/>
              </a:ext>
            </a:extLst>
          </p:cNvPr>
          <p:cNvGrpSpPr>
            <a:grpSpLocks/>
          </p:cNvGrpSpPr>
          <p:nvPr/>
        </p:nvGrpSpPr>
        <p:grpSpPr bwMode="auto">
          <a:xfrm>
            <a:off x="2182987" y="1800478"/>
            <a:ext cx="1546161" cy="1106415"/>
            <a:chOff x="748" y="1434"/>
            <a:chExt cx="1316" cy="862"/>
          </a:xfrm>
        </p:grpSpPr>
        <p:sp>
          <p:nvSpPr>
            <p:cNvPr id="17" name="Rectangle 12">
              <a:extLst>
                <a:ext uri="{FF2B5EF4-FFF2-40B4-BE49-F238E27FC236}">
                  <a16:creationId xmlns:a16="http://schemas.microsoft.com/office/drawing/2014/main" id="{31F2F14F-6156-6B73-70FE-01C4FE07E0EA}"/>
                </a:ext>
              </a:extLst>
            </p:cNvPr>
            <p:cNvSpPr>
              <a:spLocks noChangeArrowheads="1"/>
            </p:cNvSpPr>
            <p:nvPr/>
          </p:nvSpPr>
          <p:spPr bwMode="auto">
            <a:xfrm>
              <a:off x="884" y="1570"/>
              <a:ext cx="907" cy="590"/>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Stack</a:t>
              </a:r>
            </a:p>
          </p:txBody>
        </p:sp>
        <p:sp>
          <p:nvSpPr>
            <p:cNvPr id="18" name="Rectangle 13">
              <a:extLst>
                <a:ext uri="{FF2B5EF4-FFF2-40B4-BE49-F238E27FC236}">
                  <a16:creationId xmlns:a16="http://schemas.microsoft.com/office/drawing/2014/main" id="{21D43B4F-1BA6-0D81-04E8-B6AF97A05FA5}"/>
                </a:ext>
              </a:extLst>
            </p:cNvPr>
            <p:cNvSpPr>
              <a:spLocks noChangeArrowheads="1"/>
            </p:cNvSpPr>
            <p:nvPr/>
          </p:nvSpPr>
          <p:spPr bwMode="auto">
            <a:xfrm>
              <a:off x="1791" y="1979"/>
              <a:ext cx="273" cy="181"/>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9" name="Rectangle 14">
              <a:extLst>
                <a:ext uri="{FF2B5EF4-FFF2-40B4-BE49-F238E27FC236}">
                  <a16:creationId xmlns:a16="http://schemas.microsoft.com/office/drawing/2014/main" id="{DE364E4B-7DBC-F097-01DA-7F959E21067C}"/>
                </a:ext>
              </a:extLst>
            </p:cNvPr>
            <p:cNvSpPr>
              <a:spLocks noChangeArrowheads="1"/>
            </p:cNvSpPr>
            <p:nvPr/>
          </p:nvSpPr>
          <p:spPr bwMode="auto">
            <a:xfrm>
              <a:off x="1791" y="1570"/>
              <a:ext cx="273" cy="181"/>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0" name="Rectangle 15">
              <a:extLst>
                <a:ext uri="{FF2B5EF4-FFF2-40B4-BE49-F238E27FC236}">
                  <a16:creationId xmlns:a16="http://schemas.microsoft.com/office/drawing/2014/main" id="{5948B6EC-B6FC-C0B6-8EAE-2CCFB01F8122}"/>
                </a:ext>
              </a:extLst>
            </p:cNvPr>
            <p:cNvSpPr>
              <a:spLocks noChangeArrowheads="1"/>
            </p:cNvSpPr>
            <p:nvPr/>
          </p:nvSpPr>
          <p:spPr bwMode="auto">
            <a:xfrm>
              <a:off x="975" y="2160"/>
              <a:ext cx="272" cy="136"/>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1" name="Rectangle 16">
              <a:extLst>
                <a:ext uri="{FF2B5EF4-FFF2-40B4-BE49-F238E27FC236}">
                  <a16:creationId xmlns:a16="http://schemas.microsoft.com/office/drawing/2014/main" id="{8D15F06A-5710-4AE7-3DAC-F9F5DEA719F0}"/>
                </a:ext>
              </a:extLst>
            </p:cNvPr>
            <p:cNvSpPr>
              <a:spLocks noChangeArrowheads="1"/>
            </p:cNvSpPr>
            <p:nvPr/>
          </p:nvSpPr>
          <p:spPr bwMode="auto">
            <a:xfrm>
              <a:off x="1429" y="2160"/>
              <a:ext cx="272" cy="136"/>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2" name="Rectangle 17">
              <a:extLst>
                <a:ext uri="{FF2B5EF4-FFF2-40B4-BE49-F238E27FC236}">
                  <a16:creationId xmlns:a16="http://schemas.microsoft.com/office/drawing/2014/main" id="{C16B0053-E494-6540-A7DC-F393070489FF}"/>
                </a:ext>
              </a:extLst>
            </p:cNvPr>
            <p:cNvSpPr>
              <a:spLocks noChangeArrowheads="1"/>
            </p:cNvSpPr>
            <p:nvPr/>
          </p:nvSpPr>
          <p:spPr bwMode="auto">
            <a:xfrm>
              <a:off x="1111" y="1434"/>
              <a:ext cx="272" cy="136"/>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3" name="Rectangle 18">
              <a:extLst>
                <a:ext uri="{FF2B5EF4-FFF2-40B4-BE49-F238E27FC236}">
                  <a16:creationId xmlns:a16="http://schemas.microsoft.com/office/drawing/2014/main" id="{B7DA7D29-DAC8-24E2-478A-A7C27A554260}"/>
                </a:ext>
              </a:extLst>
            </p:cNvPr>
            <p:cNvSpPr>
              <a:spLocks noChangeArrowheads="1"/>
            </p:cNvSpPr>
            <p:nvPr/>
          </p:nvSpPr>
          <p:spPr bwMode="auto">
            <a:xfrm>
              <a:off x="748" y="1706"/>
              <a:ext cx="136" cy="318"/>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24" name="Group 19">
            <a:extLst>
              <a:ext uri="{FF2B5EF4-FFF2-40B4-BE49-F238E27FC236}">
                <a16:creationId xmlns:a16="http://schemas.microsoft.com/office/drawing/2014/main" id="{3FC759B9-17A7-9D72-86E8-537DEE1C4820}"/>
              </a:ext>
            </a:extLst>
          </p:cNvPr>
          <p:cNvGrpSpPr>
            <a:grpSpLocks/>
          </p:cNvGrpSpPr>
          <p:nvPr/>
        </p:nvGrpSpPr>
        <p:grpSpPr bwMode="auto">
          <a:xfrm>
            <a:off x="722495" y="2539608"/>
            <a:ext cx="1467206" cy="1106672"/>
            <a:chOff x="748" y="1434"/>
            <a:chExt cx="1316" cy="862"/>
          </a:xfrm>
        </p:grpSpPr>
        <p:sp>
          <p:nvSpPr>
            <p:cNvPr id="25" name="Rectangle 20">
              <a:extLst>
                <a:ext uri="{FF2B5EF4-FFF2-40B4-BE49-F238E27FC236}">
                  <a16:creationId xmlns:a16="http://schemas.microsoft.com/office/drawing/2014/main" id="{B6DD52C8-D1F9-170D-B575-7D044FD1F54B}"/>
                </a:ext>
              </a:extLst>
            </p:cNvPr>
            <p:cNvSpPr>
              <a:spLocks noChangeArrowheads="1"/>
            </p:cNvSpPr>
            <p:nvPr/>
          </p:nvSpPr>
          <p:spPr bwMode="auto">
            <a:xfrm>
              <a:off x="884" y="1570"/>
              <a:ext cx="907" cy="590"/>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System</a:t>
              </a:r>
            </a:p>
          </p:txBody>
        </p:sp>
        <p:sp>
          <p:nvSpPr>
            <p:cNvPr id="26" name="Rectangle 21">
              <a:extLst>
                <a:ext uri="{FF2B5EF4-FFF2-40B4-BE49-F238E27FC236}">
                  <a16:creationId xmlns:a16="http://schemas.microsoft.com/office/drawing/2014/main" id="{EC286F9C-DC69-DD54-4487-5E55446C46B1}"/>
                </a:ext>
              </a:extLst>
            </p:cNvPr>
            <p:cNvSpPr>
              <a:spLocks noChangeArrowheads="1"/>
            </p:cNvSpPr>
            <p:nvPr/>
          </p:nvSpPr>
          <p:spPr bwMode="auto">
            <a:xfrm>
              <a:off x="1791" y="1979"/>
              <a:ext cx="273" cy="181"/>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 name="Rectangle 22">
              <a:extLst>
                <a:ext uri="{FF2B5EF4-FFF2-40B4-BE49-F238E27FC236}">
                  <a16:creationId xmlns:a16="http://schemas.microsoft.com/office/drawing/2014/main" id="{F8341A48-6C2E-E9E2-E27D-3E2672EDCC2D}"/>
                </a:ext>
              </a:extLst>
            </p:cNvPr>
            <p:cNvSpPr>
              <a:spLocks noChangeArrowheads="1"/>
            </p:cNvSpPr>
            <p:nvPr/>
          </p:nvSpPr>
          <p:spPr bwMode="auto">
            <a:xfrm>
              <a:off x="1791" y="1570"/>
              <a:ext cx="273" cy="181"/>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 name="Rectangle 23">
              <a:extLst>
                <a:ext uri="{FF2B5EF4-FFF2-40B4-BE49-F238E27FC236}">
                  <a16:creationId xmlns:a16="http://schemas.microsoft.com/office/drawing/2014/main" id="{73DC8BC7-5AED-FA99-00DA-C7B4A5282B6A}"/>
                </a:ext>
              </a:extLst>
            </p:cNvPr>
            <p:cNvSpPr>
              <a:spLocks noChangeArrowheads="1"/>
            </p:cNvSpPr>
            <p:nvPr/>
          </p:nvSpPr>
          <p:spPr bwMode="auto">
            <a:xfrm>
              <a:off x="975" y="2160"/>
              <a:ext cx="272" cy="136"/>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9" name="Rectangle 24">
              <a:extLst>
                <a:ext uri="{FF2B5EF4-FFF2-40B4-BE49-F238E27FC236}">
                  <a16:creationId xmlns:a16="http://schemas.microsoft.com/office/drawing/2014/main" id="{C0E6D081-583B-A54A-4E4B-0D831B093CC6}"/>
                </a:ext>
              </a:extLst>
            </p:cNvPr>
            <p:cNvSpPr>
              <a:spLocks noChangeArrowheads="1"/>
            </p:cNvSpPr>
            <p:nvPr/>
          </p:nvSpPr>
          <p:spPr bwMode="auto">
            <a:xfrm>
              <a:off x="1429" y="2160"/>
              <a:ext cx="272" cy="136"/>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0" name="Rectangle 25">
              <a:extLst>
                <a:ext uri="{FF2B5EF4-FFF2-40B4-BE49-F238E27FC236}">
                  <a16:creationId xmlns:a16="http://schemas.microsoft.com/office/drawing/2014/main" id="{F35B4650-34CE-7E52-5766-3965AFE627DB}"/>
                </a:ext>
              </a:extLst>
            </p:cNvPr>
            <p:cNvSpPr>
              <a:spLocks noChangeArrowheads="1"/>
            </p:cNvSpPr>
            <p:nvPr/>
          </p:nvSpPr>
          <p:spPr bwMode="auto">
            <a:xfrm>
              <a:off x="1111" y="1434"/>
              <a:ext cx="272" cy="136"/>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1" name="Rectangle 26">
              <a:extLst>
                <a:ext uri="{FF2B5EF4-FFF2-40B4-BE49-F238E27FC236}">
                  <a16:creationId xmlns:a16="http://schemas.microsoft.com/office/drawing/2014/main" id="{85CADC6C-7FB0-97CF-7768-EFF4B4C6B885}"/>
                </a:ext>
              </a:extLst>
            </p:cNvPr>
            <p:cNvSpPr>
              <a:spLocks noChangeArrowheads="1"/>
            </p:cNvSpPr>
            <p:nvPr/>
          </p:nvSpPr>
          <p:spPr bwMode="auto">
            <a:xfrm>
              <a:off x="748" y="1706"/>
              <a:ext cx="136" cy="318"/>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32" name="Text Box 27">
            <a:extLst>
              <a:ext uri="{FF2B5EF4-FFF2-40B4-BE49-F238E27FC236}">
                <a16:creationId xmlns:a16="http://schemas.microsoft.com/office/drawing/2014/main" id="{BCA9E36C-633E-AD84-E8F0-D2EF43B03A39}"/>
              </a:ext>
            </a:extLst>
          </p:cNvPr>
          <p:cNvSpPr txBox="1">
            <a:spLocks noChangeArrowheads="1"/>
          </p:cNvSpPr>
          <p:nvPr/>
        </p:nvSpPr>
        <p:spPr bwMode="auto">
          <a:xfrm>
            <a:off x="1342130" y="1038469"/>
            <a:ext cx="1841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Repository</a:t>
            </a:r>
          </a:p>
        </p:txBody>
      </p:sp>
      <p:sp>
        <p:nvSpPr>
          <p:cNvPr id="33" name="Text Box 28">
            <a:extLst>
              <a:ext uri="{FF2B5EF4-FFF2-40B4-BE49-F238E27FC236}">
                <a16:creationId xmlns:a16="http://schemas.microsoft.com/office/drawing/2014/main" id="{15701BC2-48C5-EA9E-A97D-73F2EA043765}"/>
              </a:ext>
            </a:extLst>
          </p:cNvPr>
          <p:cNvSpPr txBox="1">
            <a:spLocks noChangeArrowheads="1"/>
          </p:cNvSpPr>
          <p:nvPr/>
        </p:nvSpPr>
        <p:spPr bwMode="auto">
          <a:xfrm>
            <a:off x="7287402" y="772786"/>
            <a:ext cx="27904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Application Specific</a:t>
            </a:r>
          </a:p>
        </p:txBody>
      </p:sp>
      <p:grpSp>
        <p:nvGrpSpPr>
          <p:cNvPr id="34" name="Group 33">
            <a:extLst>
              <a:ext uri="{FF2B5EF4-FFF2-40B4-BE49-F238E27FC236}">
                <a16:creationId xmlns:a16="http://schemas.microsoft.com/office/drawing/2014/main" id="{9CA0FA7E-A1CC-0640-D34E-D8A4F7982709}"/>
              </a:ext>
            </a:extLst>
          </p:cNvPr>
          <p:cNvGrpSpPr/>
          <p:nvPr/>
        </p:nvGrpSpPr>
        <p:grpSpPr>
          <a:xfrm>
            <a:off x="6031385" y="1181558"/>
            <a:ext cx="2520950" cy="1944687"/>
            <a:chOff x="5219700" y="2420938"/>
            <a:chExt cx="2520950" cy="1944687"/>
          </a:xfrm>
        </p:grpSpPr>
        <p:sp>
          <p:nvSpPr>
            <p:cNvPr id="35" name="Rectangle 29">
              <a:extLst>
                <a:ext uri="{FF2B5EF4-FFF2-40B4-BE49-F238E27FC236}">
                  <a16:creationId xmlns:a16="http://schemas.microsoft.com/office/drawing/2014/main" id="{EA9F9CA1-64D7-076B-C762-CFF99283B0C9}"/>
                </a:ext>
              </a:extLst>
            </p:cNvPr>
            <p:cNvSpPr>
              <a:spLocks noChangeArrowheads="1"/>
            </p:cNvSpPr>
            <p:nvPr/>
          </p:nvSpPr>
          <p:spPr bwMode="auto">
            <a:xfrm>
              <a:off x="5508625" y="2708275"/>
              <a:ext cx="1943100" cy="136842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1" i="0" u="none" strike="noStrike" kern="0" cap="none" spc="0" normalizeH="0" baseline="0" noProof="0" dirty="0" err="1">
                  <a:ln>
                    <a:noFill/>
                  </a:ln>
                  <a:solidFill>
                    <a:srgbClr val="000000"/>
                  </a:solidFill>
                  <a:effectLst/>
                  <a:uLnTx/>
                  <a:uFillTx/>
                  <a:latin typeface="Tahoma" panose="020B0604030504040204" pitchFamily="34" charset="0"/>
                </a:rPr>
                <a:t>RpnCalc</a:t>
              </a:r>
              <a:endParaRPr kumimoji="0" lang="en-US" altLang="el-GR" sz="2400" b="1"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36" name="Rectangle 30">
              <a:extLst>
                <a:ext uri="{FF2B5EF4-FFF2-40B4-BE49-F238E27FC236}">
                  <a16:creationId xmlns:a16="http://schemas.microsoft.com/office/drawing/2014/main" id="{1760A2BA-F569-D345-3C59-6C2B63A662D5}"/>
                </a:ext>
              </a:extLst>
            </p:cNvPr>
            <p:cNvSpPr>
              <a:spLocks noChangeArrowheads="1"/>
            </p:cNvSpPr>
            <p:nvPr/>
          </p:nvSpPr>
          <p:spPr bwMode="auto">
            <a:xfrm>
              <a:off x="5508625" y="4076700"/>
              <a:ext cx="647700" cy="28892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7" name="Rectangle 31">
              <a:extLst>
                <a:ext uri="{FF2B5EF4-FFF2-40B4-BE49-F238E27FC236}">
                  <a16:creationId xmlns:a16="http://schemas.microsoft.com/office/drawing/2014/main" id="{7852CC9A-BFE0-C4EB-FEFE-FA152680FEDA}"/>
                </a:ext>
              </a:extLst>
            </p:cNvPr>
            <p:cNvSpPr>
              <a:spLocks noChangeArrowheads="1"/>
            </p:cNvSpPr>
            <p:nvPr/>
          </p:nvSpPr>
          <p:spPr bwMode="auto">
            <a:xfrm>
              <a:off x="6588125" y="4076700"/>
              <a:ext cx="647700" cy="28892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8" name="Rectangle 32">
              <a:extLst>
                <a:ext uri="{FF2B5EF4-FFF2-40B4-BE49-F238E27FC236}">
                  <a16:creationId xmlns:a16="http://schemas.microsoft.com/office/drawing/2014/main" id="{A8D7E214-983B-1CAE-5394-8422CB73C0EE}"/>
                </a:ext>
              </a:extLst>
            </p:cNvPr>
            <p:cNvSpPr>
              <a:spLocks noChangeArrowheads="1"/>
            </p:cNvSpPr>
            <p:nvPr/>
          </p:nvSpPr>
          <p:spPr bwMode="auto">
            <a:xfrm>
              <a:off x="5219700" y="3141663"/>
              <a:ext cx="288925" cy="57467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9" name="Rectangle 33">
              <a:extLst>
                <a:ext uri="{FF2B5EF4-FFF2-40B4-BE49-F238E27FC236}">
                  <a16:creationId xmlns:a16="http://schemas.microsoft.com/office/drawing/2014/main" id="{B7217F97-6945-AB95-C113-03B295167D51}"/>
                </a:ext>
              </a:extLst>
            </p:cNvPr>
            <p:cNvSpPr>
              <a:spLocks noChangeArrowheads="1"/>
            </p:cNvSpPr>
            <p:nvPr/>
          </p:nvSpPr>
          <p:spPr bwMode="auto">
            <a:xfrm>
              <a:off x="7451725" y="2708275"/>
              <a:ext cx="288925" cy="57467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0" name="Rectangle 34">
              <a:extLst>
                <a:ext uri="{FF2B5EF4-FFF2-40B4-BE49-F238E27FC236}">
                  <a16:creationId xmlns:a16="http://schemas.microsoft.com/office/drawing/2014/main" id="{2E1A801A-90C4-7D9E-27F1-FC0DC59BF5E2}"/>
                </a:ext>
              </a:extLst>
            </p:cNvPr>
            <p:cNvSpPr>
              <a:spLocks noChangeArrowheads="1"/>
            </p:cNvSpPr>
            <p:nvPr/>
          </p:nvSpPr>
          <p:spPr bwMode="auto">
            <a:xfrm>
              <a:off x="7451725" y="3500438"/>
              <a:ext cx="288925" cy="57467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1" name="Rectangle 35">
              <a:extLst>
                <a:ext uri="{FF2B5EF4-FFF2-40B4-BE49-F238E27FC236}">
                  <a16:creationId xmlns:a16="http://schemas.microsoft.com/office/drawing/2014/main" id="{E996EDFC-A3D6-3179-6153-D5F4A9F19ED3}"/>
                </a:ext>
              </a:extLst>
            </p:cNvPr>
            <p:cNvSpPr>
              <a:spLocks noChangeArrowheads="1"/>
            </p:cNvSpPr>
            <p:nvPr/>
          </p:nvSpPr>
          <p:spPr bwMode="auto">
            <a:xfrm>
              <a:off x="6156325" y="2420938"/>
              <a:ext cx="647700" cy="28892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42" name="Group 43">
            <a:extLst>
              <a:ext uri="{FF2B5EF4-FFF2-40B4-BE49-F238E27FC236}">
                <a16:creationId xmlns:a16="http://schemas.microsoft.com/office/drawing/2014/main" id="{72C68326-89A1-022D-4A30-1473102844AC}"/>
              </a:ext>
            </a:extLst>
          </p:cNvPr>
          <p:cNvGrpSpPr>
            <a:grpSpLocks/>
          </p:cNvGrpSpPr>
          <p:nvPr/>
        </p:nvGrpSpPr>
        <p:grpSpPr bwMode="auto">
          <a:xfrm>
            <a:off x="9112172" y="1460348"/>
            <a:ext cx="1952625" cy="1101725"/>
            <a:chOff x="3606" y="2886"/>
            <a:chExt cx="1230" cy="694"/>
          </a:xfrm>
        </p:grpSpPr>
        <p:sp>
          <p:nvSpPr>
            <p:cNvPr id="43" name="Rectangle 36">
              <a:extLst>
                <a:ext uri="{FF2B5EF4-FFF2-40B4-BE49-F238E27FC236}">
                  <a16:creationId xmlns:a16="http://schemas.microsoft.com/office/drawing/2014/main" id="{1E43D2D3-F6B6-9E7A-0BA3-CC53B727478E}"/>
                </a:ext>
              </a:extLst>
            </p:cNvPr>
            <p:cNvSpPr>
              <a:spLocks noChangeArrowheads="1"/>
            </p:cNvSpPr>
            <p:nvPr/>
          </p:nvSpPr>
          <p:spPr bwMode="auto">
            <a:xfrm>
              <a:off x="3742" y="2976"/>
              <a:ext cx="952" cy="499"/>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Operand</a:t>
              </a:r>
            </a:p>
          </p:txBody>
        </p:sp>
        <p:sp>
          <p:nvSpPr>
            <p:cNvPr id="44" name="Rectangle 37">
              <a:extLst>
                <a:ext uri="{FF2B5EF4-FFF2-40B4-BE49-F238E27FC236}">
                  <a16:creationId xmlns:a16="http://schemas.microsoft.com/office/drawing/2014/main" id="{5B986A5C-9929-CFCF-000E-C0B0AF6B962E}"/>
                </a:ext>
              </a:extLst>
            </p:cNvPr>
            <p:cNvSpPr>
              <a:spLocks noChangeArrowheads="1"/>
            </p:cNvSpPr>
            <p:nvPr/>
          </p:nvSpPr>
          <p:spPr bwMode="auto">
            <a:xfrm>
              <a:off x="3742" y="3475"/>
              <a:ext cx="317" cy="105"/>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5" name="Rectangle 38">
              <a:extLst>
                <a:ext uri="{FF2B5EF4-FFF2-40B4-BE49-F238E27FC236}">
                  <a16:creationId xmlns:a16="http://schemas.microsoft.com/office/drawing/2014/main" id="{2426F9CB-F3A9-5F60-CB01-8320F36DC93A}"/>
                </a:ext>
              </a:extLst>
            </p:cNvPr>
            <p:cNvSpPr>
              <a:spLocks noChangeArrowheads="1"/>
            </p:cNvSpPr>
            <p:nvPr/>
          </p:nvSpPr>
          <p:spPr bwMode="auto">
            <a:xfrm>
              <a:off x="4286" y="3475"/>
              <a:ext cx="317" cy="105"/>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6" name="Rectangle 39">
              <a:extLst>
                <a:ext uri="{FF2B5EF4-FFF2-40B4-BE49-F238E27FC236}">
                  <a16:creationId xmlns:a16="http://schemas.microsoft.com/office/drawing/2014/main" id="{DAFC5686-0AA0-924A-D78E-19843279859B}"/>
                </a:ext>
              </a:extLst>
            </p:cNvPr>
            <p:cNvSpPr>
              <a:spLocks noChangeArrowheads="1"/>
            </p:cNvSpPr>
            <p:nvPr/>
          </p:nvSpPr>
          <p:spPr bwMode="auto">
            <a:xfrm>
              <a:off x="3606" y="3203"/>
              <a:ext cx="142" cy="210"/>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7" name="Rectangle 40">
              <a:extLst>
                <a:ext uri="{FF2B5EF4-FFF2-40B4-BE49-F238E27FC236}">
                  <a16:creationId xmlns:a16="http://schemas.microsoft.com/office/drawing/2014/main" id="{1693CD8D-8DA0-11D2-CF7D-B05DE88149FA}"/>
                </a:ext>
              </a:extLst>
            </p:cNvPr>
            <p:cNvSpPr>
              <a:spLocks noChangeArrowheads="1"/>
            </p:cNvSpPr>
            <p:nvPr/>
          </p:nvSpPr>
          <p:spPr bwMode="auto">
            <a:xfrm>
              <a:off x="4694" y="2976"/>
              <a:ext cx="142" cy="120"/>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8" name="Rectangle 41">
              <a:extLst>
                <a:ext uri="{FF2B5EF4-FFF2-40B4-BE49-F238E27FC236}">
                  <a16:creationId xmlns:a16="http://schemas.microsoft.com/office/drawing/2014/main" id="{E1D7FC03-1B55-D8A6-EE77-EC1D0F94020C}"/>
                </a:ext>
              </a:extLst>
            </p:cNvPr>
            <p:cNvSpPr>
              <a:spLocks noChangeArrowheads="1"/>
            </p:cNvSpPr>
            <p:nvPr/>
          </p:nvSpPr>
          <p:spPr bwMode="auto">
            <a:xfrm>
              <a:off x="4694" y="3203"/>
              <a:ext cx="142" cy="210"/>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9" name="Rectangle 42">
              <a:extLst>
                <a:ext uri="{FF2B5EF4-FFF2-40B4-BE49-F238E27FC236}">
                  <a16:creationId xmlns:a16="http://schemas.microsoft.com/office/drawing/2014/main" id="{224681B1-794B-D18B-A707-34808FE9A5FF}"/>
                </a:ext>
              </a:extLst>
            </p:cNvPr>
            <p:cNvSpPr>
              <a:spLocks noChangeArrowheads="1"/>
            </p:cNvSpPr>
            <p:nvPr/>
          </p:nvSpPr>
          <p:spPr bwMode="auto">
            <a:xfrm>
              <a:off x="3787" y="2886"/>
              <a:ext cx="317" cy="105"/>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pic>
        <p:nvPicPr>
          <p:cNvPr id="51" name="Picture 4">
            <a:extLst>
              <a:ext uri="{FF2B5EF4-FFF2-40B4-BE49-F238E27FC236}">
                <a16:creationId xmlns:a16="http://schemas.microsoft.com/office/drawing/2014/main" id="{9205DCB9-D5DC-86E3-B9BC-49E78680F8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1014" y="3933340"/>
            <a:ext cx="2631863" cy="1569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 name="Group 3">
            <a:extLst>
              <a:ext uri="{FF2B5EF4-FFF2-40B4-BE49-F238E27FC236}">
                <a16:creationId xmlns:a16="http://schemas.microsoft.com/office/drawing/2014/main" id="{635DC092-B987-56AB-D536-9E68BFAD16F3}"/>
              </a:ext>
            </a:extLst>
          </p:cNvPr>
          <p:cNvGrpSpPr>
            <a:grpSpLocks/>
          </p:cNvGrpSpPr>
          <p:nvPr/>
        </p:nvGrpSpPr>
        <p:grpSpPr bwMode="auto">
          <a:xfrm>
            <a:off x="841821" y="5241683"/>
            <a:ext cx="2412496" cy="1116512"/>
            <a:chOff x="748" y="1434"/>
            <a:chExt cx="1316" cy="862"/>
          </a:xfrm>
          <a:solidFill>
            <a:srgbClr val="6699FF"/>
          </a:solidFill>
        </p:grpSpPr>
        <p:sp>
          <p:nvSpPr>
            <p:cNvPr id="53" name="Rectangle 4">
              <a:extLst>
                <a:ext uri="{FF2B5EF4-FFF2-40B4-BE49-F238E27FC236}">
                  <a16:creationId xmlns:a16="http://schemas.microsoft.com/office/drawing/2014/main" id="{D7D519AC-5743-112F-8094-24C3D23A77D7}"/>
                </a:ext>
              </a:extLst>
            </p:cNvPr>
            <p:cNvSpPr>
              <a:spLocks noChangeArrowheads="1"/>
            </p:cNvSpPr>
            <p:nvPr/>
          </p:nvSpPr>
          <p:spPr bwMode="auto">
            <a:xfrm>
              <a:off x="884" y="1570"/>
              <a:ext cx="907" cy="590"/>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StringBuffer</a:t>
              </a:r>
              <a:endPar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54" name="Rectangle 5">
              <a:extLst>
                <a:ext uri="{FF2B5EF4-FFF2-40B4-BE49-F238E27FC236}">
                  <a16:creationId xmlns:a16="http://schemas.microsoft.com/office/drawing/2014/main" id="{929C4F3F-47DC-BAA5-8AB2-13EF7A7ECB2E}"/>
                </a:ext>
              </a:extLst>
            </p:cNvPr>
            <p:cNvSpPr>
              <a:spLocks noChangeArrowheads="1"/>
            </p:cNvSpPr>
            <p:nvPr/>
          </p:nvSpPr>
          <p:spPr bwMode="auto">
            <a:xfrm>
              <a:off x="1791" y="1979"/>
              <a:ext cx="273" cy="181"/>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 name="Rectangle 6">
              <a:extLst>
                <a:ext uri="{FF2B5EF4-FFF2-40B4-BE49-F238E27FC236}">
                  <a16:creationId xmlns:a16="http://schemas.microsoft.com/office/drawing/2014/main" id="{945A3AF2-B8F5-C7D5-2246-F3E3D970E59D}"/>
                </a:ext>
              </a:extLst>
            </p:cNvPr>
            <p:cNvSpPr>
              <a:spLocks noChangeArrowheads="1"/>
            </p:cNvSpPr>
            <p:nvPr/>
          </p:nvSpPr>
          <p:spPr bwMode="auto">
            <a:xfrm>
              <a:off x="1791" y="1570"/>
              <a:ext cx="273" cy="181"/>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6" name="Rectangle 7">
              <a:extLst>
                <a:ext uri="{FF2B5EF4-FFF2-40B4-BE49-F238E27FC236}">
                  <a16:creationId xmlns:a16="http://schemas.microsoft.com/office/drawing/2014/main" id="{B74C48EF-0F45-6169-86A1-72E8A3AEA272}"/>
                </a:ext>
              </a:extLst>
            </p:cNvPr>
            <p:cNvSpPr>
              <a:spLocks noChangeArrowheads="1"/>
            </p:cNvSpPr>
            <p:nvPr/>
          </p:nvSpPr>
          <p:spPr bwMode="auto">
            <a:xfrm>
              <a:off x="975" y="2160"/>
              <a:ext cx="272" cy="136"/>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7" name="Rectangle 8">
              <a:extLst>
                <a:ext uri="{FF2B5EF4-FFF2-40B4-BE49-F238E27FC236}">
                  <a16:creationId xmlns:a16="http://schemas.microsoft.com/office/drawing/2014/main" id="{37430F11-3B08-FFF1-C52B-DC02C819F5C6}"/>
                </a:ext>
              </a:extLst>
            </p:cNvPr>
            <p:cNvSpPr>
              <a:spLocks noChangeArrowheads="1"/>
            </p:cNvSpPr>
            <p:nvPr/>
          </p:nvSpPr>
          <p:spPr bwMode="auto">
            <a:xfrm>
              <a:off x="1429" y="2160"/>
              <a:ext cx="272" cy="136"/>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8" name="Rectangle 9">
              <a:extLst>
                <a:ext uri="{FF2B5EF4-FFF2-40B4-BE49-F238E27FC236}">
                  <a16:creationId xmlns:a16="http://schemas.microsoft.com/office/drawing/2014/main" id="{2590897A-232B-B584-1DC0-8F1921DEBEB7}"/>
                </a:ext>
              </a:extLst>
            </p:cNvPr>
            <p:cNvSpPr>
              <a:spLocks noChangeArrowheads="1"/>
            </p:cNvSpPr>
            <p:nvPr/>
          </p:nvSpPr>
          <p:spPr bwMode="auto">
            <a:xfrm>
              <a:off x="1111" y="1434"/>
              <a:ext cx="272" cy="136"/>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9" name="Rectangle 10">
              <a:extLst>
                <a:ext uri="{FF2B5EF4-FFF2-40B4-BE49-F238E27FC236}">
                  <a16:creationId xmlns:a16="http://schemas.microsoft.com/office/drawing/2014/main" id="{CFA911C3-0C5A-1B7B-5B79-0EF23E1E7D98}"/>
                </a:ext>
              </a:extLst>
            </p:cNvPr>
            <p:cNvSpPr>
              <a:spLocks noChangeArrowheads="1"/>
            </p:cNvSpPr>
            <p:nvPr/>
          </p:nvSpPr>
          <p:spPr bwMode="auto">
            <a:xfrm>
              <a:off x="748" y="1706"/>
              <a:ext cx="136" cy="318"/>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60" name="TextBox 59">
            <a:extLst>
              <a:ext uri="{FF2B5EF4-FFF2-40B4-BE49-F238E27FC236}">
                <a16:creationId xmlns:a16="http://schemas.microsoft.com/office/drawing/2014/main" id="{592BE977-7567-C83D-8058-B05EA2398535}"/>
              </a:ext>
            </a:extLst>
          </p:cNvPr>
          <p:cNvSpPr txBox="1"/>
          <p:nvPr/>
        </p:nvSpPr>
        <p:spPr>
          <a:xfrm>
            <a:off x="7749424" y="3373250"/>
            <a:ext cx="2631044" cy="461665"/>
          </a:xfrm>
          <a:prstGeom prst="rect">
            <a:avLst/>
          </a:prstGeom>
          <a:noFill/>
        </p:spPr>
        <p:txBody>
          <a:bodyPr wrap="square" rtlCol="0">
            <a:spAutoFit/>
          </a:bodyPr>
          <a:lstStyle/>
          <a:p>
            <a:pPr fontAlgn="base">
              <a:spcBef>
                <a:spcPct val="0"/>
              </a:spcBef>
              <a:spcAft>
                <a:spcPct val="0"/>
              </a:spcAft>
            </a:pPr>
            <a:r>
              <a:rPr lang="en-US" sz="2400" dirty="0">
                <a:solidFill>
                  <a:srgbClr val="000000"/>
                </a:solidFill>
                <a:latin typeface="Tahoma" panose="020B0604030504040204" pitchFamily="34" charset="0"/>
              </a:rPr>
              <a:t>Third party </a:t>
            </a:r>
            <a:endParaRPr lang="el-GR" sz="2400" dirty="0">
              <a:solidFill>
                <a:srgbClr val="000000"/>
              </a:solidFill>
              <a:latin typeface="Tahoma" panose="020B0604030504040204" pitchFamily="34" charset="0"/>
            </a:endParaRPr>
          </a:p>
        </p:txBody>
      </p:sp>
      <p:grpSp>
        <p:nvGrpSpPr>
          <p:cNvPr id="61" name="Group 3">
            <a:extLst>
              <a:ext uri="{FF2B5EF4-FFF2-40B4-BE49-F238E27FC236}">
                <a16:creationId xmlns:a16="http://schemas.microsoft.com/office/drawing/2014/main" id="{E2940514-B59B-625A-09AA-F9254D482006}"/>
              </a:ext>
            </a:extLst>
          </p:cNvPr>
          <p:cNvGrpSpPr>
            <a:grpSpLocks/>
          </p:cNvGrpSpPr>
          <p:nvPr/>
        </p:nvGrpSpPr>
        <p:grpSpPr bwMode="auto">
          <a:xfrm>
            <a:off x="688101" y="3983733"/>
            <a:ext cx="1585778" cy="1116512"/>
            <a:chOff x="748" y="1434"/>
            <a:chExt cx="1316" cy="862"/>
          </a:xfrm>
          <a:solidFill>
            <a:srgbClr val="FFFF00"/>
          </a:solidFill>
        </p:grpSpPr>
        <p:sp>
          <p:nvSpPr>
            <p:cNvPr id="62" name="Rectangle 4">
              <a:extLst>
                <a:ext uri="{FF2B5EF4-FFF2-40B4-BE49-F238E27FC236}">
                  <a16:creationId xmlns:a16="http://schemas.microsoft.com/office/drawing/2014/main" id="{BFCFE9DB-D514-C56B-9B12-2C3145CA861F}"/>
                </a:ext>
              </a:extLst>
            </p:cNvPr>
            <p:cNvSpPr>
              <a:spLocks noChangeArrowheads="1"/>
            </p:cNvSpPr>
            <p:nvPr/>
          </p:nvSpPr>
          <p:spPr bwMode="auto">
            <a:xfrm>
              <a:off x="884" y="1570"/>
              <a:ext cx="907" cy="590"/>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String</a:t>
              </a:r>
            </a:p>
          </p:txBody>
        </p:sp>
        <p:sp>
          <p:nvSpPr>
            <p:cNvPr id="63" name="Rectangle 5">
              <a:extLst>
                <a:ext uri="{FF2B5EF4-FFF2-40B4-BE49-F238E27FC236}">
                  <a16:creationId xmlns:a16="http://schemas.microsoft.com/office/drawing/2014/main" id="{355F209D-9870-CD59-CEBE-2CD1E742579B}"/>
                </a:ext>
              </a:extLst>
            </p:cNvPr>
            <p:cNvSpPr>
              <a:spLocks noChangeArrowheads="1"/>
            </p:cNvSpPr>
            <p:nvPr/>
          </p:nvSpPr>
          <p:spPr bwMode="auto">
            <a:xfrm>
              <a:off x="1791" y="1979"/>
              <a:ext cx="273" cy="181"/>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4" name="Rectangle 6">
              <a:extLst>
                <a:ext uri="{FF2B5EF4-FFF2-40B4-BE49-F238E27FC236}">
                  <a16:creationId xmlns:a16="http://schemas.microsoft.com/office/drawing/2014/main" id="{5C9A956A-58CE-468F-D882-500F19B9B79A}"/>
                </a:ext>
              </a:extLst>
            </p:cNvPr>
            <p:cNvSpPr>
              <a:spLocks noChangeArrowheads="1"/>
            </p:cNvSpPr>
            <p:nvPr/>
          </p:nvSpPr>
          <p:spPr bwMode="auto">
            <a:xfrm>
              <a:off x="1791" y="1570"/>
              <a:ext cx="273" cy="181"/>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5" name="Rectangle 7">
              <a:extLst>
                <a:ext uri="{FF2B5EF4-FFF2-40B4-BE49-F238E27FC236}">
                  <a16:creationId xmlns:a16="http://schemas.microsoft.com/office/drawing/2014/main" id="{F2AA482E-EB03-2AF4-F75D-9A77C35DF942}"/>
                </a:ext>
              </a:extLst>
            </p:cNvPr>
            <p:cNvSpPr>
              <a:spLocks noChangeArrowheads="1"/>
            </p:cNvSpPr>
            <p:nvPr/>
          </p:nvSpPr>
          <p:spPr bwMode="auto">
            <a:xfrm>
              <a:off x="975" y="2160"/>
              <a:ext cx="272" cy="136"/>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6" name="Rectangle 8">
              <a:extLst>
                <a:ext uri="{FF2B5EF4-FFF2-40B4-BE49-F238E27FC236}">
                  <a16:creationId xmlns:a16="http://schemas.microsoft.com/office/drawing/2014/main" id="{1736E88F-C0A3-FD80-377C-148C86F60483}"/>
                </a:ext>
              </a:extLst>
            </p:cNvPr>
            <p:cNvSpPr>
              <a:spLocks noChangeArrowheads="1"/>
            </p:cNvSpPr>
            <p:nvPr/>
          </p:nvSpPr>
          <p:spPr bwMode="auto">
            <a:xfrm>
              <a:off x="1429" y="2160"/>
              <a:ext cx="272" cy="136"/>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7" name="Rectangle 9">
              <a:extLst>
                <a:ext uri="{FF2B5EF4-FFF2-40B4-BE49-F238E27FC236}">
                  <a16:creationId xmlns:a16="http://schemas.microsoft.com/office/drawing/2014/main" id="{EDA51FF9-1B1D-83C0-A549-AA8D1ECADCBD}"/>
                </a:ext>
              </a:extLst>
            </p:cNvPr>
            <p:cNvSpPr>
              <a:spLocks noChangeArrowheads="1"/>
            </p:cNvSpPr>
            <p:nvPr/>
          </p:nvSpPr>
          <p:spPr bwMode="auto">
            <a:xfrm>
              <a:off x="1111" y="1434"/>
              <a:ext cx="272" cy="136"/>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8" name="Rectangle 10">
              <a:extLst>
                <a:ext uri="{FF2B5EF4-FFF2-40B4-BE49-F238E27FC236}">
                  <a16:creationId xmlns:a16="http://schemas.microsoft.com/office/drawing/2014/main" id="{9CA3019C-F0BC-0E7E-9A59-A632A25B1378}"/>
                </a:ext>
              </a:extLst>
            </p:cNvPr>
            <p:cNvSpPr>
              <a:spLocks noChangeArrowheads="1"/>
            </p:cNvSpPr>
            <p:nvPr/>
          </p:nvSpPr>
          <p:spPr bwMode="auto">
            <a:xfrm>
              <a:off x="748" y="1706"/>
              <a:ext cx="136" cy="318"/>
            </a:xfrm>
            <a:prstGeom prst="rect">
              <a:avLst/>
            </a:prstGeom>
            <a:grp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4" name="Speech Bubble: Rectangle with Corners Rounded 3">
            <a:extLst>
              <a:ext uri="{FF2B5EF4-FFF2-40B4-BE49-F238E27FC236}">
                <a16:creationId xmlns:a16="http://schemas.microsoft.com/office/drawing/2014/main" id="{1D510F87-9AF2-E7AB-F4E3-2A1E9D7B29DD}"/>
              </a:ext>
            </a:extLst>
          </p:cNvPr>
          <p:cNvSpPr/>
          <p:nvPr/>
        </p:nvSpPr>
        <p:spPr>
          <a:xfrm>
            <a:off x="5652655" y="5593993"/>
            <a:ext cx="5042255" cy="719331"/>
          </a:xfrm>
          <a:prstGeom prst="wedgeRoundRectCallout">
            <a:avLst>
              <a:gd name="adj1" fmla="val -64356"/>
              <a:gd name="adj2" fmla="val 80990"/>
              <a:gd name="adj3" fmla="val 16667"/>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Who is creating these objects?</a:t>
            </a:r>
            <a:endParaRPr kumimoji="0" lang="el-GR" altLang="el-GR" sz="18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How do they communicate?</a:t>
            </a:r>
          </a:p>
        </p:txBody>
      </p:sp>
      <p:sp>
        <p:nvSpPr>
          <p:cNvPr id="50" name="Θέση υποσέλιδου 4">
            <a:extLst>
              <a:ext uri="{FF2B5EF4-FFF2-40B4-BE49-F238E27FC236}">
                <a16:creationId xmlns:a16="http://schemas.microsoft.com/office/drawing/2014/main" id="{9D3FF879-E0BB-FBBF-71A3-4F27E2357A07}"/>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136960942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2000" cy="719331"/>
          </a:xfrm>
          <a:solidFill>
            <a:srgbClr val="FDCBAD"/>
          </a:solidFill>
        </p:spPr>
        <p:txBody>
          <a:bodyPr>
            <a:normAutofit/>
          </a:bodyPr>
          <a:lstStyle/>
          <a:p>
            <a:r>
              <a:rPr lang="en-GB" sz="4000" b="1" dirty="0">
                <a:solidFill>
                  <a:srgbClr val="F9853D"/>
                </a:solidFill>
                <a:latin typeface="Bahnschrift" panose="020B0502040204020203" pitchFamily="34" charset="0"/>
              </a:rPr>
              <a:t>Responsibilities and Interaction</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pic>
        <p:nvPicPr>
          <p:cNvPr id="5" name="Picture 4">
            <a:extLst>
              <a:ext uri="{FF2B5EF4-FFF2-40B4-BE49-F238E27FC236}">
                <a16:creationId xmlns:a16="http://schemas.microsoft.com/office/drawing/2014/main" id="{AFDCAA56-6B00-F249-0476-5406AB7EF6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928" y="1526839"/>
            <a:ext cx="3960118" cy="236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rrow: Left-Right 5">
            <a:extLst>
              <a:ext uri="{FF2B5EF4-FFF2-40B4-BE49-F238E27FC236}">
                <a16:creationId xmlns:a16="http://schemas.microsoft.com/office/drawing/2014/main" id="{840B4463-0D09-20AE-75FD-3F011BFAD104}"/>
              </a:ext>
            </a:extLst>
          </p:cNvPr>
          <p:cNvSpPr/>
          <p:nvPr/>
        </p:nvSpPr>
        <p:spPr bwMode="auto">
          <a:xfrm rot="2311189">
            <a:off x="3924342" y="4297105"/>
            <a:ext cx="1790675" cy="419894"/>
          </a:xfrm>
          <a:prstGeom prst="leftRightArrow">
            <a:avLst/>
          </a:prstGeom>
          <a:solidFill>
            <a:srgbClr val="FFFF00"/>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7" name="TextBox 6">
            <a:extLst>
              <a:ext uri="{FF2B5EF4-FFF2-40B4-BE49-F238E27FC236}">
                <a16:creationId xmlns:a16="http://schemas.microsoft.com/office/drawing/2014/main" id="{66C1B184-1D20-D3CC-FCE8-60690A89520F}"/>
              </a:ext>
            </a:extLst>
          </p:cNvPr>
          <p:cNvSpPr txBox="1"/>
          <p:nvPr/>
        </p:nvSpPr>
        <p:spPr>
          <a:xfrm>
            <a:off x="4894993" y="3173045"/>
            <a:ext cx="1083212" cy="1323439"/>
          </a:xfrm>
          <a:prstGeom prst="rect">
            <a:avLst/>
          </a:prstGeom>
          <a:noFill/>
        </p:spPr>
        <p:txBody>
          <a:bodyPr wrap="square" rtlCol="0">
            <a:spAutoFit/>
          </a:bodyPr>
          <a:lstStyle/>
          <a:p>
            <a:pPr fontAlgn="base">
              <a:spcBef>
                <a:spcPct val="0"/>
              </a:spcBef>
              <a:spcAft>
                <a:spcPct val="0"/>
              </a:spcAft>
            </a:pPr>
            <a:r>
              <a:rPr lang="en-US" sz="8000" dirty="0">
                <a:solidFill>
                  <a:srgbClr val="FF0000"/>
                </a:solidFill>
                <a:latin typeface="Tahoma" panose="020B0604030504040204" pitchFamily="34" charset="0"/>
              </a:rPr>
              <a:t>?</a:t>
            </a:r>
            <a:endParaRPr lang="el-GR" sz="8000" dirty="0">
              <a:solidFill>
                <a:srgbClr val="FF0000"/>
              </a:solidFill>
              <a:latin typeface="Tahoma" panose="020B0604030504040204" pitchFamily="34" charset="0"/>
            </a:endParaRPr>
          </a:p>
        </p:txBody>
      </p:sp>
      <p:grpSp>
        <p:nvGrpSpPr>
          <p:cNvPr id="12" name="Group 43">
            <a:extLst>
              <a:ext uri="{FF2B5EF4-FFF2-40B4-BE49-F238E27FC236}">
                <a16:creationId xmlns:a16="http://schemas.microsoft.com/office/drawing/2014/main" id="{D33235D0-3FE6-A92C-3D5F-0EFB41B533FD}"/>
              </a:ext>
            </a:extLst>
          </p:cNvPr>
          <p:cNvGrpSpPr>
            <a:grpSpLocks/>
          </p:cNvGrpSpPr>
          <p:nvPr/>
        </p:nvGrpSpPr>
        <p:grpSpPr bwMode="auto">
          <a:xfrm>
            <a:off x="5183418" y="5204064"/>
            <a:ext cx="1952625" cy="1101725"/>
            <a:chOff x="3606" y="2886"/>
            <a:chExt cx="1230" cy="694"/>
          </a:xfrm>
        </p:grpSpPr>
        <p:sp>
          <p:nvSpPr>
            <p:cNvPr id="19" name="Rectangle 42">
              <a:extLst>
                <a:ext uri="{FF2B5EF4-FFF2-40B4-BE49-F238E27FC236}">
                  <a16:creationId xmlns:a16="http://schemas.microsoft.com/office/drawing/2014/main" id="{34E318BE-B845-1061-AF0F-2D5B04A96076}"/>
                </a:ext>
              </a:extLst>
            </p:cNvPr>
            <p:cNvSpPr>
              <a:spLocks noChangeArrowheads="1"/>
            </p:cNvSpPr>
            <p:nvPr/>
          </p:nvSpPr>
          <p:spPr bwMode="auto">
            <a:xfrm>
              <a:off x="3787" y="2886"/>
              <a:ext cx="317" cy="105"/>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Rectangle 36">
              <a:extLst>
                <a:ext uri="{FF2B5EF4-FFF2-40B4-BE49-F238E27FC236}">
                  <a16:creationId xmlns:a16="http://schemas.microsoft.com/office/drawing/2014/main" id="{6D5E4222-369E-9967-A0DC-FF12B46F4D5D}"/>
                </a:ext>
              </a:extLst>
            </p:cNvPr>
            <p:cNvSpPr>
              <a:spLocks noChangeArrowheads="1"/>
            </p:cNvSpPr>
            <p:nvPr/>
          </p:nvSpPr>
          <p:spPr bwMode="auto">
            <a:xfrm>
              <a:off x="3742" y="2976"/>
              <a:ext cx="952" cy="499"/>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Operand</a:t>
              </a:r>
            </a:p>
          </p:txBody>
        </p:sp>
        <p:sp>
          <p:nvSpPr>
            <p:cNvPr id="14" name="Rectangle 37">
              <a:extLst>
                <a:ext uri="{FF2B5EF4-FFF2-40B4-BE49-F238E27FC236}">
                  <a16:creationId xmlns:a16="http://schemas.microsoft.com/office/drawing/2014/main" id="{A535C9A0-BA5F-6A3F-176B-079ED457EEC8}"/>
                </a:ext>
              </a:extLst>
            </p:cNvPr>
            <p:cNvSpPr>
              <a:spLocks noChangeArrowheads="1"/>
            </p:cNvSpPr>
            <p:nvPr/>
          </p:nvSpPr>
          <p:spPr bwMode="auto">
            <a:xfrm>
              <a:off x="3742" y="3475"/>
              <a:ext cx="317" cy="105"/>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Rectangle 38">
              <a:extLst>
                <a:ext uri="{FF2B5EF4-FFF2-40B4-BE49-F238E27FC236}">
                  <a16:creationId xmlns:a16="http://schemas.microsoft.com/office/drawing/2014/main" id="{4A217EB9-443B-AE29-DD38-B65D61BD2120}"/>
                </a:ext>
              </a:extLst>
            </p:cNvPr>
            <p:cNvSpPr>
              <a:spLocks noChangeArrowheads="1"/>
            </p:cNvSpPr>
            <p:nvPr/>
          </p:nvSpPr>
          <p:spPr bwMode="auto">
            <a:xfrm>
              <a:off x="4286" y="3475"/>
              <a:ext cx="317" cy="105"/>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6" name="Rectangle 39">
              <a:extLst>
                <a:ext uri="{FF2B5EF4-FFF2-40B4-BE49-F238E27FC236}">
                  <a16:creationId xmlns:a16="http://schemas.microsoft.com/office/drawing/2014/main" id="{00A1360E-C53A-2DCD-FE32-A653AD18B092}"/>
                </a:ext>
              </a:extLst>
            </p:cNvPr>
            <p:cNvSpPr>
              <a:spLocks noChangeArrowheads="1"/>
            </p:cNvSpPr>
            <p:nvPr/>
          </p:nvSpPr>
          <p:spPr bwMode="auto">
            <a:xfrm>
              <a:off x="3606" y="3203"/>
              <a:ext cx="142" cy="210"/>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7" name="Rectangle 40">
              <a:extLst>
                <a:ext uri="{FF2B5EF4-FFF2-40B4-BE49-F238E27FC236}">
                  <a16:creationId xmlns:a16="http://schemas.microsoft.com/office/drawing/2014/main" id="{ED8CAC66-9347-D88D-D9AB-278B2BE86562}"/>
                </a:ext>
              </a:extLst>
            </p:cNvPr>
            <p:cNvSpPr>
              <a:spLocks noChangeArrowheads="1"/>
            </p:cNvSpPr>
            <p:nvPr/>
          </p:nvSpPr>
          <p:spPr bwMode="auto">
            <a:xfrm>
              <a:off x="4694" y="2976"/>
              <a:ext cx="142" cy="120"/>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8" name="Rectangle 41">
              <a:extLst>
                <a:ext uri="{FF2B5EF4-FFF2-40B4-BE49-F238E27FC236}">
                  <a16:creationId xmlns:a16="http://schemas.microsoft.com/office/drawing/2014/main" id="{89A0DA6A-4B9E-F54D-CB2B-B52B24F1CC47}"/>
                </a:ext>
              </a:extLst>
            </p:cNvPr>
            <p:cNvSpPr>
              <a:spLocks noChangeArrowheads="1"/>
            </p:cNvSpPr>
            <p:nvPr/>
          </p:nvSpPr>
          <p:spPr bwMode="auto">
            <a:xfrm>
              <a:off x="4694" y="3203"/>
              <a:ext cx="142" cy="210"/>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23" name="Group 22">
            <a:extLst>
              <a:ext uri="{FF2B5EF4-FFF2-40B4-BE49-F238E27FC236}">
                <a16:creationId xmlns:a16="http://schemas.microsoft.com/office/drawing/2014/main" id="{FDD73B65-DAE0-64E0-E3B9-1B8871A94D14}"/>
              </a:ext>
            </a:extLst>
          </p:cNvPr>
          <p:cNvGrpSpPr/>
          <p:nvPr/>
        </p:nvGrpSpPr>
        <p:grpSpPr>
          <a:xfrm>
            <a:off x="8072667" y="1510233"/>
            <a:ext cx="3764657" cy="4075920"/>
            <a:chOff x="8810510" y="1510233"/>
            <a:chExt cx="3026814" cy="3388704"/>
          </a:xfrm>
        </p:grpSpPr>
        <p:sp>
          <p:nvSpPr>
            <p:cNvPr id="4" name="Rectangle 3">
              <a:extLst>
                <a:ext uri="{FF2B5EF4-FFF2-40B4-BE49-F238E27FC236}">
                  <a16:creationId xmlns:a16="http://schemas.microsoft.com/office/drawing/2014/main" id="{B9FB7161-2411-9F44-7079-0548C6FB56F9}"/>
                </a:ext>
              </a:extLst>
            </p:cNvPr>
            <p:cNvSpPr/>
            <p:nvPr/>
          </p:nvSpPr>
          <p:spPr>
            <a:xfrm>
              <a:off x="8810510" y="1510233"/>
              <a:ext cx="3026814" cy="536992"/>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solidFill>
                    <a:sysClr val="windowText" lastClr="000000"/>
                  </a:solidFill>
                </a:rPr>
                <a:t>Operand</a:t>
              </a:r>
              <a:endParaRPr lang="en-GB" dirty="0">
                <a:solidFill>
                  <a:sysClr val="windowText" lastClr="000000"/>
                </a:solidFill>
              </a:endParaRPr>
            </a:p>
          </p:txBody>
        </p:sp>
        <p:sp>
          <p:nvSpPr>
            <p:cNvPr id="20" name="Rectangle 19">
              <a:extLst>
                <a:ext uri="{FF2B5EF4-FFF2-40B4-BE49-F238E27FC236}">
                  <a16:creationId xmlns:a16="http://schemas.microsoft.com/office/drawing/2014/main" id="{E771EB55-99B3-C96B-4575-3825AAD4001C}"/>
                </a:ext>
              </a:extLst>
            </p:cNvPr>
            <p:cNvSpPr/>
            <p:nvPr/>
          </p:nvSpPr>
          <p:spPr>
            <a:xfrm>
              <a:off x="8810510" y="2003330"/>
              <a:ext cx="3026814" cy="536992"/>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52675117-7352-E9A1-B7FD-7BA0CC9A1983}"/>
                </a:ext>
              </a:extLst>
            </p:cNvPr>
            <p:cNvSpPr/>
            <p:nvPr/>
          </p:nvSpPr>
          <p:spPr>
            <a:xfrm>
              <a:off x="8810510" y="2540044"/>
              <a:ext cx="3026814" cy="2358893"/>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4" name="TextBox 23">
            <a:extLst>
              <a:ext uri="{FF2B5EF4-FFF2-40B4-BE49-F238E27FC236}">
                <a16:creationId xmlns:a16="http://schemas.microsoft.com/office/drawing/2014/main" id="{AA5F051E-5819-D041-80EB-7E7F6CD8EA82}"/>
              </a:ext>
            </a:extLst>
          </p:cNvPr>
          <p:cNvSpPr txBox="1"/>
          <p:nvPr/>
        </p:nvSpPr>
        <p:spPr>
          <a:xfrm>
            <a:off x="924602" y="1035083"/>
            <a:ext cx="3025833" cy="523220"/>
          </a:xfrm>
          <a:prstGeom prst="rect">
            <a:avLst/>
          </a:prstGeom>
          <a:noFill/>
        </p:spPr>
        <p:txBody>
          <a:bodyPr wrap="square" rtlCol="0">
            <a:spAutoFit/>
          </a:bodyPr>
          <a:lstStyle/>
          <a:p>
            <a:r>
              <a:rPr lang="en-GB" sz="2800" b="1" dirty="0" err="1">
                <a:solidFill>
                  <a:srgbClr val="F9853D"/>
                </a:solidFill>
                <a:latin typeface="Bahnschrift" panose="020B0502040204020203" pitchFamily="34" charset="0"/>
              </a:rPr>
              <a:t>CalculatorGui</a:t>
            </a:r>
            <a:endParaRPr lang="en-GB" sz="2800" dirty="0"/>
          </a:p>
        </p:txBody>
      </p:sp>
      <p:sp>
        <p:nvSpPr>
          <p:cNvPr id="9" name="Θέση υποσέλιδου 4">
            <a:extLst>
              <a:ext uri="{FF2B5EF4-FFF2-40B4-BE49-F238E27FC236}">
                <a16:creationId xmlns:a16="http://schemas.microsoft.com/office/drawing/2014/main" id="{F46DD1DB-1976-953D-C051-57D6DD02B281}"/>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40506688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Class Operand</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Rectangle 4">
            <a:extLst>
              <a:ext uri="{FF2B5EF4-FFF2-40B4-BE49-F238E27FC236}">
                <a16:creationId xmlns:a16="http://schemas.microsoft.com/office/drawing/2014/main" id="{CB5E2BE4-7E96-F78E-C648-D59A9768DCD9}"/>
              </a:ext>
            </a:extLst>
          </p:cNvPr>
          <p:cNvSpPr txBox="1">
            <a:spLocks noChangeArrowheads="1"/>
          </p:cNvSpPr>
          <p:nvPr/>
        </p:nvSpPr>
        <p:spPr bwMode="auto">
          <a:xfrm>
            <a:off x="140669" y="840636"/>
            <a:ext cx="611944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800" b="0" i="0" u="none" strike="noStrike" kern="0" cap="none" spc="0" normalizeH="0" baseline="0" noProof="0" dirty="0">
                <a:ln>
                  <a:noFill/>
                </a:ln>
                <a:solidFill>
                  <a:srgbClr val="000000"/>
                </a:solidFill>
                <a:effectLst/>
                <a:uLnTx/>
                <a:uFillTx/>
                <a:latin typeface="Tahoma"/>
                <a:ea typeface="+mn-ea"/>
                <a:cs typeface="+mn-cs"/>
              </a:rPr>
              <a:t>class </a:t>
            </a:r>
            <a:r>
              <a:rPr kumimoji="0" lang="en-GB" altLang="el-GR" sz="2800" b="1" i="0" u="none" strike="noStrike" kern="0" cap="none" spc="0" normalizeH="0" baseline="0" noProof="0" dirty="0">
                <a:ln>
                  <a:noFill/>
                </a:ln>
                <a:solidFill>
                  <a:srgbClr val="000000"/>
                </a:solidFill>
                <a:effectLst/>
                <a:uLnTx/>
                <a:uFillTx/>
                <a:latin typeface="Tahoma"/>
                <a:ea typeface="+mn-ea"/>
                <a:cs typeface="+mn-cs"/>
              </a:rPr>
              <a:t>Operand</a:t>
            </a:r>
            <a:r>
              <a:rPr kumimoji="0" lang="en-GB" altLang="el-GR" sz="2800" b="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800" b="0" i="0" u="none" strike="noStrike" kern="0" cap="none" spc="0" normalizeH="0" baseline="0" noProof="0" dirty="0">
                <a:ln>
                  <a:noFill/>
                </a:ln>
                <a:solidFill>
                  <a:srgbClr val="000000"/>
                </a:solidFill>
                <a:effectLst/>
                <a:uLnTx/>
                <a:uFillTx/>
                <a:latin typeface="Tahoma"/>
                <a:ea typeface="+mn-ea"/>
                <a:cs typeface="+mn-cs"/>
              </a:rPr>
              <a:t>	private int value;</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800" b="0" i="0" u="none" strike="noStrike" kern="0" cap="none" spc="0" normalizeH="0" baseline="0" noProof="0" dirty="0">
                <a:ln>
                  <a:noFill/>
                </a:ln>
                <a:solidFill>
                  <a:srgbClr val="000000"/>
                </a:solidFill>
                <a:effectLst/>
                <a:uLnTx/>
                <a:uFillTx/>
                <a:latin typeface="Tahoma"/>
                <a:ea typeface="+mn-ea"/>
                <a:cs typeface="+mn-cs"/>
              </a:rPr>
              <a:t>	public Operand(int </a:t>
            </a:r>
            <a:r>
              <a:rPr kumimoji="0" lang="en-US" altLang="el-GR" sz="2800" b="0" i="0" u="none" strike="noStrike" kern="0" cap="none" spc="0" normalizeH="0" baseline="0" noProof="0" dirty="0" err="1">
                <a:ln>
                  <a:noFill/>
                </a:ln>
                <a:solidFill>
                  <a:srgbClr val="000000"/>
                </a:solidFill>
                <a:effectLst/>
                <a:uLnTx/>
                <a:uFillTx/>
                <a:latin typeface="Tahoma"/>
                <a:ea typeface="+mn-ea"/>
                <a:cs typeface="+mn-cs"/>
              </a:rPr>
              <a:t>val</a:t>
            </a:r>
            <a:r>
              <a:rPr kumimoji="0" lang="en-US" altLang="el-GR" sz="2800" b="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800" b="0" i="0" u="none" strike="noStrike" kern="0" cap="none" spc="0" normalizeH="0" baseline="0" noProof="0" dirty="0">
                <a:ln>
                  <a:noFill/>
                </a:ln>
                <a:solidFill>
                  <a:srgbClr val="000000"/>
                </a:solidFill>
                <a:effectLst/>
                <a:uLnTx/>
                <a:uFillTx/>
                <a:latin typeface="Tahoma"/>
                <a:ea typeface="+mn-ea"/>
                <a:cs typeface="+mn-cs"/>
              </a:rPr>
              <a:t>	public void </a:t>
            </a:r>
            <a:r>
              <a:rPr kumimoji="0" lang="en-GB" altLang="el-GR" sz="2800" b="0" i="0" u="none" strike="noStrike" kern="0" cap="none" spc="0" normalizeH="0" baseline="0" noProof="0" dirty="0" err="1">
                <a:ln>
                  <a:noFill/>
                </a:ln>
                <a:solidFill>
                  <a:srgbClr val="000000"/>
                </a:solidFill>
                <a:effectLst/>
                <a:uLnTx/>
                <a:uFillTx/>
                <a:latin typeface="Tahoma"/>
                <a:ea typeface="+mn-ea"/>
                <a:cs typeface="+mn-cs"/>
              </a:rPr>
              <a:t>addDigit</a:t>
            </a:r>
            <a:r>
              <a:rPr kumimoji="0" lang="en-GB" altLang="el-GR" sz="2800" b="0" i="0" u="none" strike="noStrike" kern="0" cap="none" spc="0" normalizeH="0" baseline="0" noProof="0" dirty="0">
                <a:ln>
                  <a:noFill/>
                </a:ln>
                <a:solidFill>
                  <a:srgbClr val="000000"/>
                </a:solidFill>
                <a:effectLst/>
                <a:uLnTx/>
                <a:uFillTx/>
                <a:latin typeface="Tahoma"/>
                <a:ea typeface="+mn-ea"/>
                <a:cs typeface="+mn-cs"/>
              </a:rPr>
              <a:t>(char </a:t>
            </a:r>
            <a:r>
              <a:rPr kumimoji="0" lang="en-GB" altLang="el-GR" sz="2800" b="0" i="0" u="none" strike="noStrike" kern="0" cap="none" spc="0" normalizeH="0" baseline="0" noProof="0" dirty="0" err="1">
                <a:ln>
                  <a:noFill/>
                </a:ln>
                <a:solidFill>
                  <a:srgbClr val="000000"/>
                </a:solidFill>
                <a:effectLst/>
                <a:uLnTx/>
                <a:uFillTx/>
                <a:latin typeface="Tahoma"/>
                <a:ea typeface="+mn-ea"/>
                <a:cs typeface="+mn-cs"/>
              </a:rPr>
              <a:t>ch</a:t>
            </a:r>
            <a:r>
              <a:rPr kumimoji="0" lang="en-GB" altLang="el-GR" sz="2800" b="0" i="0" u="none" strike="noStrike" kern="0" cap="none" spc="0" normalizeH="0" baseline="0" noProof="0" dirty="0">
                <a:ln>
                  <a:noFill/>
                </a:ln>
                <a:solidFill>
                  <a:srgbClr val="000000"/>
                </a:solidFill>
                <a:effectLst/>
                <a:uLnTx/>
                <a:uFillTx/>
                <a:latin typeface="Tahoma"/>
                <a:ea typeface="+mn-ea"/>
                <a:cs typeface="+mn-cs"/>
              </a:rPr>
              <a:t>){}</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800" b="0" i="0" u="none" strike="noStrike" kern="0" cap="none" spc="0" normalizeH="0" baseline="0" noProof="0" dirty="0">
                <a:ln>
                  <a:noFill/>
                </a:ln>
                <a:solidFill>
                  <a:srgbClr val="000000"/>
                </a:solidFill>
                <a:effectLst/>
                <a:uLnTx/>
                <a:uFillTx/>
                <a:latin typeface="Tahoma"/>
                <a:ea typeface="+mn-ea"/>
                <a:cs typeface="+mn-cs"/>
              </a:rPr>
              <a:t>	public void </a:t>
            </a:r>
            <a:r>
              <a:rPr kumimoji="0" lang="en-GB" altLang="el-GR" sz="2800" b="0" i="0" u="none" strike="noStrike" kern="0" cap="none" spc="0" normalizeH="0" baseline="0" noProof="0" dirty="0" err="1">
                <a:ln>
                  <a:noFill/>
                </a:ln>
                <a:solidFill>
                  <a:srgbClr val="000000"/>
                </a:solidFill>
                <a:effectLst/>
                <a:uLnTx/>
                <a:uFillTx/>
                <a:latin typeface="Tahoma"/>
                <a:ea typeface="+mn-ea"/>
                <a:cs typeface="+mn-cs"/>
              </a:rPr>
              <a:t>deleteLastDigit</a:t>
            </a:r>
            <a:r>
              <a:rPr kumimoji="0" lang="en-GB" altLang="el-GR" sz="2800" b="0" i="0" u="none" strike="noStrike" kern="0" cap="none" spc="0" normalizeH="0" baseline="0" noProof="0" dirty="0">
                <a:ln>
                  <a:noFill/>
                </a:ln>
                <a:solidFill>
                  <a:srgbClr val="000000"/>
                </a:solidFill>
                <a:effectLst/>
                <a:uLnTx/>
                <a:uFillTx/>
                <a:latin typeface="Tahoma"/>
                <a:ea typeface="+mn-ea"/>
                <a:cs typeface="+mn-cs"/>
              </a:rPr>
              <a:t>(){}</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8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800" b="0" i="0" u="none" strike="noStrike" kern="0" cap="none" spc="0" normalizeH="0" baseline="0" noProof="0" dirty="0">
                <a:ln>
                  <a:noFill/>
                </a:ln>
                <a:solidFill>
                  <a:srgbClr val="000000"/>
                </a:solidFill>
                <a:effectLst/>
                <a:uLnTx/>
                <a:uFillTx/>
                <a:latin typeface="Tahoma"/>
                <a:ea typeface="+mn-ea"/>
                <a:cs typeface="+mn-cs"/>
              </a:rPr>
              <a:t>public void complete() {}</a:t>
            </a:r>
            <a:endParaRPr kumimoji="0" lang="en-US" altLang="el-GR" sz="2800" b="0" i="0" u="none" strike="noStrike" kern="0" cap="none" spc="0" normalizeH="0" baseline="0" noProof="0" dirty="0">
              <a:ln>
                <a:noFill/>
              </a:ln>
              <a:solidFill>
                <a:srgbClr val="FF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800" b="0" i="0" u="none" strike="noStrike" kern="0" cap="none" spc="0" normalizeH="0" baseline="0" noProof="0" dirty="0">
                <a:ln>
                  <a:noFill/>
                </a:ln>
                <a:solidFill>
                  <a:srgbClr val="000000"/>
                </a:solidFill>
                <a:effectLst/>
                <a:uLnTx/>
                <a:uFillTx/>
                <a:latin typeface="Tahoma"/>
                <a:ea typeface="+mn-ea"/>
                <a:cs typeface="+mn-cs"/>
              </a:rPr>
              <a:t>	public void reset(){}</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800" b="0" i="0" u="none" strike="noStrike" kern="0" cap="none" spc="0" normalizeH="0" baseline="0" noProof="0" dirty="0">
                <a:ln>
                  <a:noFill/>
                </a:ln>
                <a:solidFill>
                  <a:srgbClr val="000000"/>
                </a:solidFill>
                <a:effectLst/>
                <a:uLnTx/>
                <a:uFillTx/>
                <a:latin typeface="Tahoma"/>
                <a:ea typeface="+mn-ea"/>
                <a:cs typeface="+mn-cs"/>
              </a:rPr>
              <a:t>	public void set(int </a:t>
            </a:r>
            <a:r>
              <a:rPr kumimoji="0" lang="en-GB" altLang="el-GR" sz="2800" b="0" i="0" u="none" strike="noStrike" kern="0" cap="none" spc="0" normalizeH="0" baseline="0" noProof="0" dirty="0" err="1">
                <a:ln>
                  <a:noFill/>
                </a:ln>
                <a:solidFill>
                  <a:srgbClr val="000000"/>
                </a:solidFill>
                <a:effectLst/>
                <a:uLnTx/>
                <a:uFillTx/>
                <a:latin typeface="Tahoma"/>
                <a:ea typeface="+mn-ea"/>
                <a:cs typeface="+mn-cs"/>
              </a:rPr>
              <a:t>val</a:t>
            </a:r>
            <a:r>
              <a:rPr kumimoji="0" lang="en-GB" altLang="el-GR" sz="2800" b="0" i="0" u="none" strike="noStrike" kern="0" cap="none" spc="0" normalizeH="0" baseline="0" noProof="0" dirty="0">
                <a:ln>
                  <a:noFill/>
                </a:ln>
                <a:solidFill>
                  <a:srgbClr val="000000"/>
                </a:solidFill>
                <a:effectLst/>
                <a:uLnTx/>
                <a:uFillTx/>
                <a:latin typeface="Tahoma"/>
                <a:ea typeface="+mn-ea"/>
                <a:cs typeface="+mn-cs"/>
              </a:rPr>
              <a:t>) {</a:t>
            </a:r>
            <a:r>
              <a:rPr kumimoji="0" lang="el-GR" altLang="el-GR" sz="2800" b="0" i="0" u="none" strike="noStrike" kern="0" cap="none" spc="0" normalizeH="0" baseline="0" noProof="0" dirty="0">
                <a:ln>
                  <a:noFill/>
                </a:ln>
                <a:solidFill>
                  <a:srgbClr val="000000"/>
                </a:solidFill>
                <a:effectLst/>
                <a:uLnTx/>
                <a:uFillTx/>
                <a:latin typeface="Tahoma"/>
                <a:ea typeface="+mn-ea"/>
                <a:cs typeface="+mn-cs"/>
              </a:rPr>
              <a:t>}</a:t>
            </a:r>
            <a:endParaRPr kumimoji="0" lang="en-US" altLang="el-GR" sz="28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800" b="0" i="0" u="none" strike="noStrike" kern="0" cap="none" spc="0" normalizeH="0" baseline="0" noProof="0" dirty="0">
                <a:ln>
                  <a:noFill/>
                </a:ln>
                <a:solidFill>
                  <a:srgbClr val="000000"/>
                </a:solidFill>
                <a:effectLst/>
                <a:uLnTx/>
                <a:uFillTx/>
                <a:latin typeface="Tahoma"/>
                <a:ea typeface="+mn-ea"/>
                <a:cs typeface="+mn-cs"/>
              </a:rPr>
              <a:t>}</a:t>
            </a:r>
            <a:endParaRPr kumimoji="0" lang="el-GR" altLang="el-GR" sz="2800" b="0" i="0" u="none" strike="noStrike" kern="0" cap="none" spc="0" normalizeH="0" baseline="0" noProof="0" dirty="0">
              <a:ln>
                <a:noFill/>
              </a:ln>
              <a:solidFill>
                <a:srgbClr val="000000"/>
              </a:solidFill>
              <a:effectLst/>
              <a:uLnTx/>
              <a:uFillTx/>
              <a:latin typeface="Tahoma"/>
              <a:ea typeface="+mn-ea"/>
              <a:cs typeface="+mn-cs"/>
            </a:endParaRPr>
          </a:p>
        </p:txBody>
      </p:sp>
      <p:sp>
        <p:nvSpPr>
          <p:cNvPr id="6" name="Speech Bubble: Rectangle with Corners Rounded 5">
            <a:extLst>
              <a:ext uri="{FF2B5EF4-FFF2-40B4-BE49-F238E27FC236}">
                <a16:creationId xmlns:a16="http://schemas.microsoft.com/office/drawing/2014/main" id="{92567C29-9AC0-FE59-30AF-198BAD898698}"/>
              </a:ext>
            </a:extLst>
          </p:cNvPr>
          <p:cNvSpPr/>
          <p:nvPr/>
        </p:nvSpPr>
        <p:spPr>
          <a:xfrm>
            <a:off x="6666807" y="841351"/>
            <a:ext cx="5384524" cy="1443316"/>
          </a:xfrm>
          <a:prstGeom prst="wedgeRoundRectCallout">
            <a:avLst>
              <a:gd name="adj1" fmla="val -49489"/>
              <a:gd name="adj2" fmla="val 71916"/>
              <a:gd name="adj3" fmla="val 16667"/>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2400" dirty="0">
                <a:solidFill>
                  <a:sysClr val="windowText" lastClr="000000"/>
                </a:solidFill>
              </a:rPr>
              <a:t>Θεώρησε ως εναλλακτική υλοποίηση την δομή της </a:t>
            </a:r>
            <a:r>
              <a:rPr lang="en-GB" sz="2400" dirty="0">
                <a:solidFill>
                  <a:sysClr val="windowText" lastClr="000000"/>
                </a:solidFill>
              </a:rPr>
              <a:t>Operand </a:t>
            </a:r>
            <a:r>
              <a:rPr lang="el-GR" sz="2400" dirty="0">
                <a:solidFill>
                  <a:sysClr val="windowText" lastClr="000000"/>
                </a:solidFill>
              </a:rPr>
              <a:t>αποτελούμενη από ένα αλφαριθμητικό.</a:t>
            </a:r>
            <a:endParaRPr lang="en-GB" sz="2400" dirty="0">
              <a:solidFill>
                <a:sysClr val="windowText" lastClr="000000"/>
              </a:solidFill>
            </a:endParaRPr>
          </a:p>
        </p:txBody>
      </p:sp>
      <p:sp>
        <p:nvSpPr>
          <p:cNvPr id="19" name="Rectangle 18">
            <a:extLst>
              <a:ext uri="{FF2B5EF4-FFF2-40B4-BE49-F238E27FC236}">
                <a16:creationId xmlns:a16="http://schemas.microsoft.com/office/drawing/2014/main" id="{CCB69FF6-D5A3-717A-5E2D-DB038B584918}"/>
              </a:ext>
            </a:extLst>
          </p:cNvPr>
          <p:cNvSpPr/>
          <p:nvPr/>
        </p:nvSpPr>
        <p:spPr>
          <a:xfrm>
            <a:off x="0" y="5386647"/>
            <a:ext cx="12191999" cy="1173262"/>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b="1" dirty="0"/>
              <a:t>public final class </a:t>
            </a:r>
            <a:r>
              <a:rPr lang="en-GB" sz="2400" b="1" dirty="0" err="1"/>
              <a:t>StringBuffer</a:t>
            </a:r>
            <a:endParaRPr lang="el-GR" sz="2400" b="1" dirty="0"/>
          </a:p>
          <a:p>
            <a:r>
              <a:rPr lang="en-GB" dirty="0"/>
              <a:t>A thread-safe, mutable sequence of characters. A string buffer is like a String, but can be modified. At any point in time it contains some particular sequence of characters, but the length and content of the sequence can be changed through certain method calls.</a:t>
            </a:r>
          </a:p>
        </p:txBody>
      </p:sp>
      <p:grpSp>
        <p:nvGrpSpPr>
          <p:cNvPr id="28" name="Group 27">
            <a:extLst>
              <a:ext uri="{FF2B5EF4-FFF2-40B4-BE49-F238E27FC236}">
                <a16:creationId xmlns:a16="http://schemas.microsoft.com/office/drawing/2014/main" id="{973E87E2-0CFF-1490-6006-A29C89B0A66A}"/>
              </a:ext>
            </a:extLst>
          </p:cNvPr>
          <p:cNvGrpSpPr/>
          <p:nvPr/>
        </p:nvGrpSpPr>
        <p:grpSpPr>
          <a:xfrm>
            <a:off x="4855913" y="3196319"/>
            <a:ext cx="7336087" cy="1974722"/>
            <a:chOff x="4855913" y="3196319"/>
            <a:chExt cx="7336087" cy="1974722"/>
          </a:xfrm>
        </p:grpSpPr>
        <p:pic>
          <p:nvPicPr>
            <p:cNvPr id="15" name="Picture 14">
              <a:extLst>
                <a:ext uri="{FF2B5EF4-FFF2-40B4-BE49-F238E27FC236}">
                  <a16:creationId xmlns:a16="http://schemas.microsoft.com/office/drawing/2014/main" id="{6A8167A7-CAED-B4B3-8E7E-DE7AC912A01F}"/>
                </a:ext>
              </a:extLst>
            </p:cNvPr>
            <p:cNvPicPr>
              <a:picLocks noChangeAspect="1"/>
            </p:cNvPicPr>
            <p:nvPr/>
          </p:nvPicPr>
          <p:blipFill>
            <a:blip r:embed="rId3"/>
            <a:stretch>
              <a:fillRect/>
            </a:stretch>
          </p:blipFill>
          <p:spPr>
            <a:xfrm>
              <a:off x="4855913" y="3629400"/>
              <a:ext cx="7336087" cy="1541641"/>
            </a:xfrm>
            <a:prstGeom prst="rect">
              <a:avLst/>
            </a:prstGeom>
          </p:spPr>
        </p:pic>
        <p:sp>
          <p:nvSpPr>
            <p:cNvPr id="26" name="TextBox 25">
              <a:extLst>
                <a:ext uri="{FF2B5EF4-FFF2-40B4-BE49-F238E27FC236}">
                  <a16:creationId xmlns:a16="http://schemas.microsoft.com/office/drawing/2014/main" id="{3B5326BB-E589-4195-A1D8-E68D5F2A30C9}"/>
                </a:ext>
              </a:extLst>
            </p:cNvPr>
            <p:cNvSpPr txBox="1"/>
            <p:nvPr/>
          </p:nvSpPr>
          <p:spPr>
            <a:xfrm>
              <a:off x="7946968" y="3196319"/>
              <a:ext cx="3854982" cy="523220"/>
            </a:xfrm>
            <a:prstGeom prst="rect">
              <a:avLst/>
            </a:prstGeom>
            <a:noFill/>
          </p:spPr>
          <p:txBody>
            <a:bodyPr wrap="square" rtlCol="0">
              <a:spAutoFit/>
            </a:bodyPr>
            <a:lstStyle/>
            <a:p>
              <a:pPr algn="r"/>
              <a:r>
                <a:rPr lang="en-GB" sz="2800" dirty="0"/>
                <a:t>Class </a:t>
              </a:r>
              <a:r>
                <a:rPr lang="en-GB" sz="2800" b="1" dirty="0"/>
                <a:t>String</a:t>
              </a:r>
            </a:p>
          </p:txBody>
        </p:sp>
      </p:grpSp>
      <p:sp>
        <p:nvSpPr>
          <p:cNvPr id="4" name="Θέση υποσέλιδου 4">
            <a:extLst>
              <a:ext uri="{FF2B5EF4-FFF2-40B4-BE49-F238E27FC236}">
                <a16:creationId xmlns:a16="http://schemas.microsoft.com/office/drawing/2014/main" id="{A24426CB-2D88-3FE9-F019-C6C029215037}"/>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62109259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err="1">
                <a:solidFill>
                  <a:srgbClr val="F9853D"/>
                </a:solidFill>
                <a:latin typeface="Bahnschrift" panose="020B0502040204020203" pitchFamily="34" charset="0"/>
              </a:rPr>
              <a:t>CalculatorGui</a:t>
            </a:r>
            <a:r>
              <a:rPr lang="en-GB" sz="4000" b="1" dirty="0">
                <a:solidFill>
                  <a:srgbClr val="F9853D"/>
                </a:solidFill>
                <a:latin typeface="Bahnschrift" panose="020B0502040204020203" pitchFamily="34" charset="0"/>
              </a:rPr>
              <a:t> - Operand Interaction</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9" name="Line 6">
            <a:extLst>
              <a:ext uri="{FF2B5EF4-FFF2-40B4-BE49-F238E27FC236}">
                <a16:creationId xmlns:a16="http://schemas.microsoft.com/office/drawing/2014/main" id="{23943CE0-4F12-03D0-15CF-23963F0F7F63}"/>
              </a:ext>
            </a:extLst>
          </p:cNvPr>
          <p:cNvSpPr>
            <a:spLocks noChangeShapeType="1"/>
          </p:cNvSpPr>
          <p:nvPr/>
        </p:nvSpPr>
        <p:spPr bwMode="auto">
          <a:xfrm>
            <a:off x="3467792" y="1732114"/>
            <a:ext cx="0" cy="451351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Line 7">
            <a:extLst>
              <a:ext uri="{FF2B5EF4-FFF2-40B4-BE49-F238E27FC236}">
                <a16:creationId xmlns:a16="http://schemas.microsoft.com/office/drawing/2014/main" id="{8FFD329B-B3EF-BB31-AC2E-C3FDEEAF3A93}"/>
              </a:ext>
            </a:extLst>
          </p:cNvPr>
          <p:cNvSpPr>
            <a:spLocks noChangeShapeType="1"/>
          </p:cNvSpPr>
          <p:nvPr/>
        </p:nvSpPr>
        <p:spPr bwMode="auto">
          <a:xfrm>
            <a:off x="4686992" y="3197629"/>
            <a:ext cx="0" cy="3047999"/>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Line 9">
            <a:extLst>
              <a:ext uri="{FF2B5EF4-FFF2-40B4-BE49-F238E27FC236}">
                <a16:creationId xmlns:a16="http://schemas.microsoft.com/office/drawing/2014/main" id="{9B50C7D1-C300-6CC3-82F3-F11C69963530}"/>
              </a:ext>
            </a:extLst>
          </p:cNvPr>
          <p:cNvSpPr>
            <a:spLocks noChangeShapeType="1"/>
          </p:cNvSpPr>
          <p:nvPr/>
        </p:nvSpPr>
        <p:spPr bwMode="auto">
          <a:xfrm>
            <a:off x="6380587" y="2214108"/>
            <a:ext cx="9166" cy="412286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Text Box 10">
            <a:extLst>
              <a:ext uri="{FF2B5EF4-FFF2-40B4-BE49-F238E27FC236}">
                <a16:creationId xmlns:a16="http://schemas.microsoft.com/office/drawing/2014/main" id="{8FC3E1E1-4FDD-4A73-BBCF-8185D5C35F0C}"/>
              </a:ext>
            </a:extLst>
          </p:cNvPr>
          <p:cNvSpPr txBox="1">
            <a:spLocks noChangeArrowheads="1"/>
          </p:cNvSpPr>
          <p:nvPr/>
        </p:nvSpPr>
        <p:spPr bwMode="auto">
          <a:xfrm>
            <a:off x="2886040" y="1270448"/>
            <a:ext cx="11913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CalcGui</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15" name="Text Box 11">
            <a:extLst>
              <a:ext uri="{FF2B5EF4-FFF2-40B4-BE49-F238E27FC236}">
                <a16:creationId xmlns:a16="http://schemas.microsoft.com/office/drawing/2014/main" id="{C044FD1F-6790-AB45-4E05-99CB3789F9DC}"/>
              </a:ext>
            </a:extLst>
          </p:cNvPr>
          <p:cNvSpPr txBox="1">
            <a:spLocks noChangeArrowheads="1"/>
          </p:cNvSpPr>
          <p:nvPr/>
        </p:nvSpPr>
        <p:spPr bwMode="auto">
          <a:xfrm>
            <a:off x="3983969" y="2699261"/>
            <a:ext cx="16129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cg:CalcGui</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16" name="Text Box 13">
            <a:extLst>
              <a:ext uri="{FF2B5EF4-FFF2-40B4-BE49-F238E27FC236}">
                <a16:creationId xmlns:a16="http://schemas.microsoft.com/office/drawing/2014/main" id="{D8BB181A-28F5-02F7-8B9A-8260628D330A}"/>
              </a:ext>
            </a:extLst>
          </p:cNvPr>
          <p:cNvSpPr txBox="1">
            <a:spLocks noChangeArrowheads="1"/>
          </p:cNvSpPr>
          <p:nvPr/>
        </p:nvSpPr>
        <p:spPr bwMode="auto">
          <a:xfrm>
            <a:off x="7043077" y="2085637"/>
            <a:ext cx="17888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op:Operand</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17" name="Line 14">
            <a:extLst>
              <a:ext uri="{FF2B5EF4-FFF2-40B4-BE49-F238E27FC236}">
                <a16:creationId xmlns:a16="http://schemas.microsoft.com/office/drawing/2014/main" id="{5A99890F-EC94-E447-EC34-D2153E9664A3}"/>
              </a:ext>
            </a:extLst>
          </p:cNvPr>
          <p:cNvSpPr>
            <a:spLocks noChangeShapeType="1"/>
          </p:cNvSpPr>
          <p:nvPr/>
        </p:nvSpPr>
        <p:spPr bwMode="auto">
          <a:xfrm>
            <a:off x="7821137" y="2556036"/>
            <a:ext cx="20163" cy="37338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18" name="Group 18">
            <a:extLst>
              <a:ext uri="{FF2B5EF4-FFF2-40B4-BE49-F238E27FC236}">
                <a16:creationId xmlns:a16="http://schemas.microsoft.com/office/drawing/2014/main" id="{6496901C-5501-3B4D-61C9-A22109DD1353}"/>
              </a:ext>
            </a:extLst>
          </p:cNvPr>
          <p:cNvGrpSpPr>
            <a:grpSpLocks/>
          </p:cNvGrpSpPr>
          <p:nvPr/>
        </p:nvGrpSpPr>
        <p:grpSpPr bwMode="auto">
          <a:xfrm>
            <a:off x="2004117" y="2518179"/>
            <a:ext cx="1463675" cy="400050"/>
            <a:chOff x="854" y="1492"/>
            <a:chExt cx="922" cy="252"/>
          </a:xfrm>
        </p:grpSpPr>
        <p:sp>
          <p:nvSpPr>
            <p:cNvPr id="19" name="Line 16">
              <a:extLst>
                <a:ext uri="{FF2B5EF4-FFF2-40B4-BE49-F238E27FC236}">
                  <a16:creationId xmlns:a16="http://schemas.microsoft.com/office/drawing/2014/main" id="{CE448807-39E0-D892-6F06-5038883E6BED}"/>
                </a:ext>
              </a:extLst>
            </p:cNvPr>
            <p:cNvSpPr>
              <a:spLocks noChangeShapeType="1"/>
            </p:cNvSpPr>
            <p:nvPr/>
          </p:nvSpPr>
          <p:spPr bwMode="auto">
            <a:xfrm>
              <a:off x="864" y="1728"/>
              <a:ext cx="912"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0" name="Text Box 17">
              <a:extLst>
                <a:ext uri="{FF2B5EF4-FFF2-40B4-BE49-F238E27FC236}">
                  <a16:creationId xmlns:a16="http://schemas.microsoft.com/office/drawing/2014/main" id="{B7839EE3-52A2-9AF3-6386-257BD45BBDE3}"/>
                </a:ext>
              </a:extLst>
            </p:cNvPr>
            <p:cNvSpPr txBox="1">
              <a:spLocks noChangeArrowheads="1"/>
            </p:cNvSpPr>
            <p:nvPr/>
          </p:nvSpPr>
          <p:spPr bwMode="auto">
            <a:xfrm>
              <a:off x="854" y="1492"/>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new(op)</a:t>
              </a:r>
              <a:endPar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endParaRPr>
            </a:p>
          </p:txBody>
        </p:sp>
      </p:grpSp>
      <p:grpSp>
        <p:nvGrpSpPr>
          <p:cNvPr id="21" name="Group 21">
            <a:extLst>
              <a:ext uri="{FF2B5EF4-FFF2-40B4-BE49-F238E27FC236}">
                <a16:creationId xmlns:a16="http://schemas.microsoft.com/office/drawing/2014/main" id="{4763BA45-28C0-C242-E832-66DF2A07EF24}"/>
              </a:ext>
            </a:extLst>
          </p:cNvPr>
          <p:cNvGrpSpPr>
            <a:grpSpLocks/>
          </p:cNvGrpSpPr>
          <p:nvPr/>
        </p:nvGrpSpPr>
        <p:grpSpPr bwMode="auto">
          <a:xfrm>
            <a:off x="990324" y="3197629"/>
            <a:ext cx="3696667" cy="400050"/>
            <a:chOff x="854" y="1492"/>
            <a:chExt cx="922" cy="252"/>
          </a:xfrm>
        </p:grpSpPr>
        <p:sp>
          <p:nvSpPr>
            <p:cNvPr id="22" name="Line 22">
              <a:extLst>
                <a:ext uri="{FF2B5EF4-FFF2-40B4-BE49-F238E27FC236}">
                  <a16:creationId xmlns:a16="http://schemas.microsoft.com/office/drawing/2014/main" id="{291B8FFA-5B87-168F-667F-0D613D73C1A0}"/>
                </a:ext>
              </a:extLst>
            </p:cNvPr>
            <p:cNvSpPr>
              <a:spLocks noChangeShapeType="1"/>
            </p:cNvSpPr>
            <p:nvPr/>
          </p:nvSpPr>
          <p:spPr bwMode="auto">
            <a:xfrm>
              <a:off x="864" y="1728"/>
              <a:ext cx="912"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3" name="Text Box 23">
              <a:extLst>
                <a:ext uri="{FF2B5EF4-FFF2-40B4-BE49-F238E27FC236}">
                  <a16:creationId xmlns:a16="http://schemas.microsoft.com/office/drawing/2014/main" id="{9AF311EC-07AF-28D5-99BB-123EA3A36D01}"/>
                </a:ext>
              </a:extLst>
            </p:cNvPr>
            <p:cNvSpPr txBox="1">
              <a:spLocks noChangeArrowheads="1"/>
            </p:cNvSpPr>
            <p:nvPr/>
          </p:nvSpPr>
          <p:spPr bwMode="auto">
            <a:xfrm>
              <a:off x="854" y="1492"/>
              <a:ext cx="43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Click button 1</a:t>
              </a:r>
              <a:endPar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endParaRPr>
            </a:p>
          </p:txBody>
        </p:sp>
      </p:grpSp>
      <p:sp>
        <p:nvSpPr>
          <p:cNvPr id="24" name="Line 24">
            <a:extLst>
              <a:ext uri="{FF2B5EF4-FFF2-40B4-BE49-F238E27FC236}">
                <a16:creationId xmlns:a16="http://schemas.microsoft.com/office/drawing/2014/main" id="{72FE3F16-6371-6F73-20D0-A6AA9D274671}"/>
              </a:ext>
            </a:extLst>
          </p:cNvPr>
          <p:cNvSpPr>
            <a:spLocks noChangeShapeType="1"/>
          </p:cNvSpPr>
          <p:nvPr/>
        </p:nvSpPr>
        <p:spPr bwMode="auto">
          <a:xfrm>
            <a:off x="3467792" y="3197629"/>
            <a:ext cx="1219200" cy="0"/>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5" name="Line 26">
            <a:extLst>
              <a:ext uri="{FF2B5EF4-FFF2-40B4-BE49-F238E27FC236}">
                <a16:creationId xmlns:a16="http://schemas.microsoft.com/office/drawing/2014/main" id="{8BABE288-0D23-5B54-D3BE-191E65AB258A}"/>
              </a:ext>
            </a:extLst>
          </p:cNvPr>
          <p:cNvSpPr>
            <a:spLocks noChangeShapeType="1"/>
          </p:cNvSpPr>
          <p:nvPr/>
        </p:nvSpPr>
        <p:spPr bwMode="auto">
          <a:xfrm flipV="1">
            <a:off x="1928140" y="2495019"/>
            <a:ext cx="4418242" cy="7030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6" name="Text Box 27">
            <a:extLst>
              <a:ext uri="{FF2B5EF4-FFF2-40B4-BE49-F238E27FC236}">
                <a16:creationId xmlns:a16="http://schemas.microsoft.com/office/drawing/2014/main" id="{F635147F-3957-6EEF-2D23-A57A2BF58C80}"/>
              </a:ext>
            </a:extLst>
          </p:cNvPr>
          <p:cNvSpPr txBox="1">
            <a:spLocks noChangeArrowheads="1"/>
          </p:cNvSpPr>
          <p:nvPr/>
        </p:nvSpPr>
        <p:spPr bwMode="auto">
          <a:xfrm>
            <a:off x="4822913" y="3572279"/>
            <a:ext cx="14306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addDigit</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(‘1’)</a:t>
            </a:r>
            <a:endParaRPr kumimoji="0" lang="en-GB" altLang="el-GR"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27" name="Line 29">
            <a:extLst>
              <a:ext uri="{FF2B5EF4-FFF2-40B4-BE49-F238E27FC236}">
                <a16:creationId xmlns:a16="http://schemas.microsoft.com/office/drawing/2014/main" id="{37E005AB-D45C-E572-B08E-DF15BB34C6A5}"/>
              </a:ext>
            </a:extLst>
          </p:cNvPr>
          <p:cNvSpPr>
            <a:spLocks noChangeShapeType="1"/>
          </p:cNvSpPr>
          <p:nvPr/>
        </p:nvSpPr>
        <p:spPr bwMode="auto">
          <a:xfrm flipV="1">
            <a:off x="4686990" y="3876287"/>
            <a:ext cx="3154309" cy="22034"/>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 name="Line 36">
            <a:extLst>
              <a:ext uri="{FF2B5EF4-FFF2-40B4-BE49-F238E27FC236}">
                <a16:creationId xmlns:a16="http://schemas.microsoft.com/office/drawing/2014/main" id="{2777AEEF-17FB-B6A3-CFFB-B3DA76A769E3}"/>
              </a:ext>
            </a:extLst>
          </p:cNvPr>
          <p:cNvSpPr>
            <a:spLocks noChangeShapeType="1"/>
          </p:cNvSpPr>
          <p:nvPr/>
        </p:nvSpPr>
        <p:spPr bwMode="auto">
          <a:xfrm flipH="1">
            <a:off x="1901181" y="1772070"/>
            <a:ext cx="15873" cy="4255133"/>
          </a:xfrm>
          <a:prstGeom prst="line">
            <a:avLst/>
          </a:prstGeom>
          <a:noFill/>
          <a:ln w="38100">
            <a:solidFill>
              <a:srgbClr val="128F05"/>
            </a:solidFill>
            <a:miter lim="800000"/>
            <a:headEnd/>
            <a:tailEn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lang="el-GR" sz="2400">
              <a:solidFill>
                <a:srgbClr val="000000"/>
              </a:solidFill>
              <a:latin typeface="Tahoma" panose="020B0604030504040204" pitchFamily="34" charset="0"/>
            </a:endParaRPr>
          </a:p>
        </p:txBody>
      </p:sp>
      <p:sp>
        <p:nvSpPr>
          <p:cNvPr id="29" name="TextBox 28">
            <a:extLst>
              <a:ext uri="{FF2B5EF4-FFF2-40B4-BE49-F238E27FC236}">
                <a16:creationId xmlns:a16="http://schemas.microsoft.com/office/drawing/2014/main" id="{9AFBF11F-2EFF-03C9-6127-5C1E36DD9293}"/>
              </a:ext>
            </a:extLst>
          </p:cNvPr>
          <p:cNvSpPr txBox="1"/>
          <p:nvPr/>
        </p:nvSpPr>
        <p:spPr>
          <a:xfrm>
            <a:off x="7799283" y="755490"/>
            <a:ext cx="4392716" cy="523220"/>
          </a:xfrm>
          <a:prstGeom prst="rect">
            <a:avLst/>
          </a:prstGeom>
          <a:noFill/>
        </p:spPr>
        <p:txBody>
          <a:bodyPr wrap="square" rtlCol="0">
            <a:spAutoFit/>
          </a:bodyPr>
          <a:lstStyle/>
          <a:p>
            <a:pPr fontAlgn="base">
              <a:spcBef>
                <a:spcPct val="0"/>
              </a:spcBef>
              <a:spcAft>
                <a:spcPct val="0"/>
              </a:spcAft>
            </a:pPr>
            <a:r>
              <a:rPr lang="en-US" sz="2800" b="1" dirty="0">
                <a:solidFill>
                  <a:srgbClr val="000000"/>
                </a:solidFill>
                <a:latin typeface="Tahoma" panose="020B0604030504040204" pitchFamily="34" charset="0"/>
              </a:rPr>
              <a:t>UML sequence diagram</a:t>
            </a:r>
            <a:endParaRPr lang="el-GR" sz="2800" b="1" dirty="0">
              <a:solidFill>
                <a:srgbClr val="000000"/>
              </a:solidFill>
              <a:latin typeface="Tahoma" panose="020B0604030504040204" pitchFamily="34" charset="0"/>
            </a:endParaRPr>
          </a:p>
        </p:txBody>
      </p:sp>
      <p:sp>
        <p:nvSpPr>
          <p:cNvPr id="30" name="TextBox 29">
            <a:extLst>
              <a:ext uri="{FF2B5EF4-FFF2-40B4-BE49-F238E27FC236}">
                <a16:creationId xmlns:a16="http://schemas.microsoft.com/office/drawing/2014/main" id="{5152CF18-68E8-613C-05C2-5146B9B39C52}"/>
              </a:ext>
            </a:extLst>
          </p:cNvPr>
          <p:cNvSpPr txBox="1"/>
          <p:nvPr/>
        </p:nvSpPr>
        <p:spPr>
          <a:xfrm>
            <a:off x="5725462" y="1752443"/>
            <a:ext cx="1519159" cy="461665"/>
          </a:xfrm>
          <a:prstGeom prst="rect">
            <a:avLst/>
          </a:prstGeom>
          <a:noFill/>
        </p:spPr>
        <p:txBody>
          <a:bodyPr wrap="square" rtlCol="0">
            <a:spAutoFit/>
          </a:bodyPr>
          <a:lstStyle/>
          <a:p>
            <a:pPr fontAlgn="base">
              <a:spcBef>
                <a:spcPct val="0"/>
              </a:spcBef>
              <a:spcAft>
                <a:spcPct val="0"/>
              </a:spcAft>
            </a:pPr>
            <a:r>
              <a:rPr lang="en-US" sz="2400" dirty="0">
                <a:solidFill>
                  <a:srgbClr val="000000"/>
                </a:solidFill>
                <a:latin typeface="Tahoma" panose="020B0604030504040204" pitchFamily="34" charset="0"/>
              </a:rPr>
              <a:t>Operand</a:t>
            </a:r>
            <a:endParaRPr lang="el-GR" sz="2400" dirty="0">
              <a:solidFill>
                <a:srgbClr val="000000"/>
              </a:solidFill>
              <a:latin typeface="Tahoma" panose="020B0604030504040204" pitchFamily="34" charset="0"/>
            </a:endParaRPr>
          </a:p>
        </p:txBody>
      </p:sp>
      <p:sp>
        <p:nvSpPr>
          <p:cNvPr id="31" name="Line 25">
            <a:extLst>
              <a:ext uri="{FF2B5EF4-FFF2-40B4-BE49-F238E27FC236}">
                <a16:creationId xmlns:a16="http://schemas.microsoft.com/office/drawing/2014/main" id="{B82634FC-0FAA-F445-AC71-295064EF25B3}"/>
              </a:ext>
            </a:extLst>
          </p:cNvPr>
          <p:cNvSpPr>
            <a:spLocks noChangeShapeType="1"/>
          </p:cNvSpPr>
          <p:nvPr/>
        </p:nvSpPr>
        <p:spPr bwMode="auto">
          <a:xfrm>
            <a:off x="6388916" y="2624171"/>
            <a:ext cx="1447802" cy="6948"/>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2" name="Line 29">
            <a:extLst>
              <a:ext uri="{FF2B5EF4-FFF2-40B4-BE49-F238E27FC236}">
                <a16:creationId xmlns:a16="http://schemas.microsoft.com/office/drawing/2014/main" id="{72662EB1-518B-05A3-B06B-58C628109364}"/>
              </a:ext>
            </a:extLst>
          </p:cNvPr>
          <p:cNvSpPr>
            <a:spLocks noChangeShapeType="1"/>
          </p:cNvSpPr>
          <p:nvPr/>
        </p:nvSpPr>
        <p:spPr bwMode="auto">
          <a:xfrm>
            <a:off x="4702637" y="5341521"/>
            <a:ext cx="3143547"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3" name="Text Box 27">
            <a:extLst>
              <a:ext uri="{FF2B5EF4-FFF2-40B4-BE49-F238E27FC236}">
                <a16:creationId xmlns:a16="http://schemas.microsoft.com/office/drawing/2014/main" id="{673ED697-53D3-44EE-5A76-BCFE5ADC7D5E}"/>
              </a:ext>
            </a:extLst>
          </p:cNvPr>
          <p:cNvSpPr txBox="1">
            <a:spLocks noChangeArrowheads="1"/>
          </p:cNvSpPr>
          <p:nvPr/>
        </p:nvSpPr>
        <p:spPr bwMode="auto">
          <a:xfrm>
            <a:off x="4860174" y="4969709"/>
            <a:ext cx="12875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complete()</a:t>
            </a:r>
            <a:endParaRPr kumimoji="0" lang="en-GB" altLang="el-GR"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34" name="Text Box 33">
            <a:extLst>
              <a:ext uri="{FF2B5EF4-FFF2-40B4-BE49-F238E27FC236}">
                <a16:creationId xmlns:a16="http://schemas.microsoft.com/office/drawing/2014/main" id="{D437AAAC-8868-A70A-78D0-830652A4A5DA}"/>
              </a:ext>
            </a:extLst>
          </p:cNvPr>
          <p:cNvSpPr txBox="1">
            <a:spLocks noChangeArrowheads="1"/>
          </p:cNvSpPr>
          <p:nvPr/>
        </p:nvSpPr>
        <p:spPr bwMode="auto">
          <a:xfrm>
            <a:off x="1536788" y="1315145"/>
            <a:ext cx="8290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Calc</a:t>
            </a:r>
            <a:endParaRPr kumimoji="0" lang="en-GB" altLang="el-GR" sz="2400" b="1" i="0" u="none" strike="noStrike" kern="0" cap="none" spc="0" normalizeH="0" baseline="0" noProof="0" dirty="0">
              <a:ln>
                <a:noFill/>
              </a:ln>
              <a:solidFill>
                <a:srgbClr val="FF0000"/>
              </a:solidFill>
              <a:effectLst/>
              <a:uLnTx/>
              <a:uFillTx/>
              <a:latin typeface="Tahoma" panose="020B0604030504040204" pitchFamily="34" charset="0"/>
            </a:endParaRPr>
          </a:p>
        </p:txBody>
      </p:sp>
      <p:sp>
        <p:nvSpPr>
          <p:cNvPr id="35" name="Line 34">
            <a:extLst>
              <a:ext uri="{FF2B5EF4-FFF2-40B4-BE49-F238E27FC236}">
                <a16:creationId xmlns:a16="http://schemas.microsoft.com/office/drawing/2014/main" id="{83C90D41-649B-5372-D743-AE657498D40F}"/>
              </a:ext>
            </a:extLst>
          </p:cNvPr>
          <p:cNvSpPr>
            <a:spLocks noChangeShapeType="1"/>
          </p:cNvSpPr>
          <p:nvPr/>
        </p:nvSpPr>
        <p:spPr bwMode="auto">
          <a:xfrm>
            <a:off x="990229" y="1732113"/>
            <a:ext cx="96" cy="4161181"/>
          </a:xfrm>
          <a:prstGeom prst="line">
            <a:avLst/>
          </a:prstGeom>
          <a:noFill/>
          <a:ln w="38100">
            <a:solidFill>
              <a:srgbClr val="1BDD07"/>
            </a:solidFill>
            <a:miter lim="800000"/>
            <a:headEnd/>
            <a:tailEn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lang="el-GR" sz="2400">
              <a:solidFill>
                <a:srgbClr val="000000"/>
              </a:solidFill>
              <a:latin typeface="Tahoma" panose="020B0604030504040204" pitchFamily="34" charset="0"/>
            </a:endParaRPr>
          </a:p>
        </p:txBody>
      </p:sp>
      <p:sp>
        <p:nvSpPr>
          <p:cNvPr id="36" name="Line 36">
            <a:extLst>
              <a:ext uri="{FF2B5EF4-FFF2-40B4-BE49-F238E27FC236}">
                <a16:creationId xmlns:a16="http://schemas.microsoft.com/office/drawing/2014/main" id="{8FB6EC4E-7E4F-75EB-7EC6-C946427F23DB}"/>
              </a:ext>
            </a:extLst>
          </p:cNvPr>
          <p:cNvSpPr>
            <a:spLocks noChangeShapeType="1"/>
          </p:cNvSpPr>
          <p:nvPr/>
        </p:nvSpPr>
        <p:spPr bwMode="auto">
          <a:xfrm>
            <a:off x="1000885" y="2089638"/>
            <a:ext cx="910857" cy="22225"/>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7" name="Text Box 37">
            <a:extLst>
              <a:ext uri="{FF2B5EF4-FFF2-40B4-BE49-F238E27FC236}">
                <a16:creationId xmlns:a16="http://schemas.microsoft.com/office/drawing/2014/main" id="{B5DE2C25-801A-6A10-18AE-9D725DCFB95C}"/>
              </a:ext>
            </a:extLst>
          </p:cNvPr>
          <p:cNvSpPr txBox="1">
            <a:spLocks noChangeArrowheads="1"/>
          </p:cNvSpPr>
          <p:nvPr/>
        </p:nvSpPr>
        <p:spPr bwMode="auto">
          <a:xfrm>
            <a:off x="1100743" y="1677049"/>
            <a:ext cx="633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run</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38" name="Text Box 35">
            <a:extLst>
              <a:ext uri="{FF2B5EF4-FFF2-40B4-BE49-F238E27FC236}">
                <a16:creationId xmlns:a16="http://schemas.microsoft.com/office/drawing/2014/main" id="{6A21B319-1C30-52E7-C924-45446FBA3E19}"/>
              </a:ext>
            </a:extLst>
          </p:cNvPr>
          <p:cNvSpPr txBox="1">
            <a:spLocks noChangeArrowheads="1"/>
          </p:cNvSpPr>
          <p:nvPr/>
        </p:nvSpPr>
        <p:spPr bwMode="auto">
          <a:xfrm>
            <a:off x="636698" y="1314870"/>
            <a:ext cx="790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E4A8"/>
                </a:solidFill>
                <a:effectLst/>
                <a:uLnTx/>
                <a:uFillTx/>
                <a:latin typeface="Tahoma" panose="020B0604030504040204" pitchFamily="34" charset="0"/>
              </a:rPr>
              <a:t>User</a:t>
            </a:r>
            <a:endParaRPr kumimoji="0" lang="en-GB" altLang="el-GR" sz="2400" b="0" i="0" u="none" strike="noStrike" kern="0" cap="none" spc="0" normalizeH="0" baseline="0" noProof="0" dirty="0">
              <a:ln>
                <a:noFill/>
              </a:ln>
              <a:solidFill>
                <a:srgbClr val="00E4A8"/>
              </a:solidFill>
              <a:effectLst/>
              <a:uLnTx/>
              <a:uFillTx/>
              <a:latin typeface="Tahoma" panose="020B0604030504040204" pitchFamily="34" charset="0"/>
            </a:endParaRPr>
          </a:p>
        </p:txBody>
      </p:sp>
      <p:sp>
        <p:nvSpPr>
          <p:cNvPr id="39" name="TextBox 38">
            <a:extLst>
              <a:ext uri="{FF2B5EF4-FFF2-40B4-BE49-F238E27FC236}">
                <a16:creationId xmlns:a16="http://schemas.microsoft.com/office/drawing/2014/main" id="{FBEC2F36-928D-376E-A148-99D96D481891}"/>
              </a:ext>
            </a:extLst>
          </p:cNvPr>
          <p:cNvSpPr txBox="1"/>
          <p:nvPr/>
        </p:nvSpPr>
        <p:spPr>
          <a:xfrm>
            <a:off x="2056102" y="2136634"/>
            <a:ext cx="652743" cy="400110"/>
          </a:xfrm>
          <a:prstGeom prst="rect">
            <a:avLst/>
          </a:prstGeom>
          <a:noFill/>
        </p:spPr>
        <p:txBody>
          <a:bodyPr wrap="none" rtlCol="0">
            <a:spAutoFit/>
          </a:bodyPr>
          <a:lstStyle/>
          <a:p>
            <a:pPr fontAlgn="base">
              <a:spcBef>
                <a:spcPct val="0"/>
              </a:spcBef>
              <a:spcAft>
                <a:spcPct val="0"/>
              </a:spcAft>
            </a:pPr>
            <a:r>
              <a:rPr lang="en-US" sz="2000" dirty="0">
                <a:solidFill>
                  <a:srgbClr val="000000"/>
                </a:solidFill>
                <a:latin typeface="Tahoma" panose="020B0604030504040204" pitchFamily="34" charset="0"/>
              </a:rPr>
              <a:t>new</a:t>
            </a:r>
            <a:endParaRPr lang="el-GR" sz="2000" dirty="0">
              <a:solidFill>
                <a:srgbClr val="000000"/>
              </a:solidFill>
              <a:latin typeface="Tahoma" panose="020B0604030504040204" pitchFamily="34" charset="0"/>
            </a:endParaRPr>
          </a:p>
        </p:txBody>
      </p:sp>
      <p:sp>
        <p:nvSpPr>
          <p:cNvPr id="40" name="Line 22">
            <a:extLst>
              <a:ext uri="{FF2B5EF4-FFF2-40B4-BE49-F238E27FC236}">
                <a16:creationId xmlns:a16="http://schemas.microsoft.com/office/drawing/2014/main" id="{E767DED0-864F-5866-AB52-4609DAA04DA2}"/>
              </a:ext>
            </a:extLst>
          </p:cNvPr>
          <p:cNvSpPr>
            <a:spLocks noChangeShapeType="1"/>
          </p:cNvSpPr>
          <p:nvPr/>
        </p:nvSpPr>
        <p:spPr bwMode="auto">
          <a:xfrm>
            <a:off x="1030418" y="4184197"/>
            <a:ext cx="3656573"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1" name="Text Box 23">
            <a:extLst>
              <a:ext uri="{FF2B5EF4-FFF2-40B4-BE49-F238E27FC236}">
                <a16:creationId xmlns:a16="http://schemas.microsoft.com/office/drawing/2014/main" id="{D4531E56-652A-3AED-3371-090F3FAB08DB}"/>
              </a:ext>
            </a:extLst>
          </p:cNvPr>
          <p:cNvSpPr txBox="1">
            <a:spLocks noChangeArrowheads="1"/>
          </p:cNvSpPr>
          <p:nvPr/>
        </p:nvSpPr>
        <p:spPr bwMode="auto">
          <a:xfrm>
            <a:off x="1008394" y="3758748"/>
            <a:ext cx="174008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Click button 2</a:t>
            </a:r>
            <a:endPar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42" name="Text Box 27">
            <a:extLst>
              <a:ext uri="{FF2B5EF4-FFF2-40B4-BE49-F238E27FC236}">
                <a16:creationId xmlns:a16="http://schemas.microsoft.com/office/drawing/2014/main" id="{614FF67B-2448-16BA-FA1F-AACB897104BC}"/>
              </a:ext>
            </a:extLst>
          </p:cNvPr>
          <p:cNvSpPr txBox="1">
            <a:spLocks noChangeArrowheads="1"/>
          </p:cNvSpPr>
          <p:nvPr/>
        </p:nvSpPr>
        <p:spPr bwMode="auto">
          <a:xfrm>
            <a:off x="4838560" y="4145853"/>
            <a:ext cx="14306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addDigit</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(‘2’)</a:t>
            </a:r>
            <a:endParaRPr kumimoji="0" lang="en-GB" altLang="el-GR"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43" name="Line 29">
            <a:extLst>
              <a:ext uri="{FF2B5EF4-FFF2-40B4-BE49-F238E27FC236}">
                <a16:creationId xmlns:a16="http://schemas.microsoft.com/office/drawing/2014/main" id="{FA77FD57-7E5A-9059-8006-FD789AB87FD4}"/>
              </a:ext>
            </a:extLst>
          </p:cNvPr>
          <p:cNvSpPr>
            <a:spLocks noChangeShapeType="1"/>
          </p:cNvSpPr>
          <p:nvPr/>
        </p:nvSpPr>
        <p:spPr bwMode="auto">
          <a:xfrm flipV="1">
            <a:off x="4702638" y="4471894"/>
            <a:ext cx="3128580"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4" name="Line 22">
            <a:extLst>
              <a:ext uri="{FF2B5EF4-FFF2-40B4-BE49-F238E27FC236}">
                <a16:creationId xmlns:a16="http://schemas.microsoft.com/office/drawing/2014/main" id="{3CA41DFE-B5E3-4D03-2665-6929D5BD56F7}"/>
              </a:ext>
            </a:extLst>
          </p:cNvPr>
          <p:cNvSpPr>
            <a:spLocks noChangeShapeType="1"/>
          </p:cNvSpPr>
          <p:nvPr/>
        </p:nvSpPr>
        <p:spPr bwMode="auto">
          <a:xfrm>
            <a:off x="1030418" y="4887118"/>
            <a:ext cx="3656573"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5" name="Text Box 23">
            <a:extLst>
              <a:ext uri="{FF2B5EF4-FFF2-40B4-BE49-F238E27FC236}">
                <a16:creationId xmlns:a16="http://schemas.microsoft.com/office/drawing/2014/main" id="{26E152AE-79E4-CD08-FD51-CC8096A798BC}"/>
              </a:ext>
            </a:extLst>
          </p:cNvPr>
          <p:cNvSpPr txBox="1">
            <a:spLocks noChangeArrowheads="1"/>
          </p:cNvSpPr>
          <p:nvPr/>
        </p:nvSpPr>
        <p:spPr bwMode="auto">
          <a:xfrm>
            <a:off x="1008394" y="4461669"/>
            <a:ext cx="22027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Click button Enter</a:t>
            </a:r>
            <a:endPar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46" name="Line 14">
            <a:extLst>
              <a:ext uri="{FF2B5EF4-FFF2-40B4-BE49-F238E27FC236}">
                <a16:creationId xmlns:a16="http://schemas.microsoft.com/office/drawing/2014/main" id="{9A739BBD-6EEA-8BA0-B6CA-555ADF0B2F87}"/>
              </a:ext>
            </a:extLst>
          </p:cNvPr>
          <p:cNvSpPr>
            <a:spLocks noChangeShapeType="1"/>
          </p:cNvSpPr>
          <p:nvPr/>
        </p:nvSpPr>
        <p:spPr bwMode="auto">
          <a:xfrm>
            <a:off x="9156274" y="2953051"/>
            <a:ext cx="6504" cy="321785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7" name="TextBox 46">
            <a:extLst>
              <a:ext uri="{FF2B5EF4-FFF2-40B4-BE49-F238E27FC236}">
                <a16:creationId xmlns:a16="http://schemas.microsoft.com/office/drawing/2014/main" id="{63C67088-4E73-5700-8923-65311310734D}"/>
              </a:ext>
            </a:extLst>
          </p:cNvPr>
          <p:cNvSpPr txBox="1"/>
          <p:nvPr/>
        </p:nvSpPr>
        <p:spPr>
          <a:xfrm>
            <a:off x="8550920" y="2530169"/>
            <a:ext cx="1266693" cy="461665"/>
          </a:xfrm>
          <a:prstGeom prst="rect">
            <a:avLst/>
          </a:prstGeom>
          <a:noFill/>
        </p:spPr>
        <p:txBody>
          <a:bodyPr wrap="none" rtlCol="0">
            <a:spAutoFit/>
          </a:bodyPr>
          <a:lstStyle/>
          <a:p>
            <a:pPr fontAlgn="base">
              <a:spcBef>
                <a:spcPct val="0"/>
              </a:spcBef>
              <a:spcAft>
                <a:spcPct val="0"/>
              </a:spcAft>
            </a:pPr>
            <a:r>
              <a:rPr lang="en-US" sz="2400" dirty="0" err="1">
                <a:solidFill>
                  <a:srgbClr val="000000"/>
                </a:solidFill>
                <a:latin typeface="Tahoma" panose="020B0604030504040204" pitchFamily="34" charset="0"/>
              </a:rPr>
              <a:t>st:Stack</a:t>
            </a:r>
            <a:endParaRPr lang="el-GR" sz="2400" dirty="0">
              <a:solidFill>
                <a:srgbClr val="000000"/>
              </a:solidFill>
              <a:latin typeface="Tahoma" panose="020B0604030504040204" pitchFamily="34" charset="0"/>
            </a:endParaRPr>
          </a:p>
        </p:txBody>
      </p:sp>
      <p:sp>
        <p:nvSpPr>
          <p:cNvPr id="48" name="Line 29">
            <a:extLst>
              <a:ext uri="{FF2B5EF4-FFF2-40B4-BE49-F238E27FC236}">
                <a16:creationId xmlns:a16="http://schemas.microsoft.com/office/drawing/2014/main" id="{A1E20FE2-F1A8-1042-8C05-9DBD2E895B13}"/>
              </a:ext>
            </a:extLst>
          </p:cNvPr>
          <p:cNvSpPr>
            <a:spLocks noChangeShapeType="1"/>
          </p:cNvSpPr>
          <p:nvPr/>
        </p:nvSpPr>
        <p:spPr bwMode="auto">
          <a:xfrm>
            <a:off x="7841299" y="5522845"/>
            <a:ext cx="1321479"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9" name="Text Box 27">
            <a:extLst>
              <a:ext uri="{FF2B5EF4-FFF2-40B4-BE49-F238E27FC236}">
                <a16:creationId xmlns:a16="http://schemas.microsoft.com/office/drawing/2014/main" id="{993314DD-19C1-45FB-CF61-B07F5C736CE4}"/>
              </a:ext>
            </a:extLst>
          </p:cNvPr>
          <p:cNvSpPr txBox="1">
            <a:spLocks noChangeArrowheads="1"/>
          </p:cNvSpPr>
          <p:nvPr/>
        </p:nvSpPr>
        <p:spPr bwMode="auto">
          <a:xfrm>
            <a:off x="7816253" y="5204786"/>
            <a:ext cx="8483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push()</a:t>
            </a:r>
            <a:endParaRPr kumimoji="0" lang="en-GB" altLang="el-GR"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4" name="Θέση υποσέλιδου 4">
            <a:extLst>
              <a:ext uri="{FF2B5EF4-FFF2-40B4-BE49-F238E27FC236}">
                <a16:creationId xmlns:a16="http://schemas.microsoft.com/office/drawing/2014/main" id="{9016B993-2443-C8EB-9E85-54F10F5D7012}"/>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19979062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err="1">
                <a:solidFill>
                  <a:srgbClr val="F9853D"/>
                </a:solidFill>
                <a:latin typeface="Bahnschrift" panose="020B0502040204020203" pitchFamily="34" charset="0"/>
              </a:rPr>
              <a:t>RpnCalc</a:t>
            </a:r>
            <a:r>
              <a:rPr lang="en-GB" sz="4000" b="1" dirty="0">
                <a:solidFill>
                  <a:srgbClr val="F9853D"/>
                </a:solidFill>
                <a:latin typeface="Bahnschrift" panose="020B0502040204020203" pitchFamily="34" charset="0"/>
              </a:rPr>
              <a:t> – Structure and Responsibilities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Rectangle 62">
            <a:extLst>
              <a:ext uri="{FF2B5EF4-FFF2-40B4-BE49-F238E27FC236}">
                <a16:creationId xmlns:a16="http://schemas.microsoft.com/office/drawing/2014/main" id="{9FDC38BF-C080-40EA-8C63-C8635279925E}"/>
              </a:ext>
            </a:extLst>
          </p:cNvPr>
          <p:cNvSpPr txBox="1">
            <a:spLocks noChangeArrowheads="1"/>
          </p:cNvSpPr>
          <p:nvPr/>
        </p:nvSpPr>
        <p:spPr bwMode="auto">
          <a:xfrm>
            <a:off x="0" y="719329"/>
            <a:ext cx="8064500" cy="5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l-GR" altLang="el-GR" sz="3200" b="1" i="0" u="none" strike="noStrike" kern="0" cap="none" spc="0" normalizeH="0" baseline="0" noProof="0" dirty="0" err="1">
                <a:ln>
                  <a:noFill/>
                </a:ln>
                <a:solidFill>
                  <a:srgbClr val="000000"/>
                </a:solidFill>
                <a:effectLst/>
                <a:uLnTx/>
                <a:uFillTx/>
                <a:latin typeface="Tahoma"/>
                <a:ea typeface="+mn-ea"/>
                <a:cs typeface="+mn-cs"/>
              </a:rPr>
              <a:t>class</a:t>
            </a:r>
            <a:r>
              <a:rPr kumimoji="0" lang="el-GR" altLang="el-GR" sz="3200" b="1" i="0" u="none" strike="noStrike" kern="0" cap="none" spc="0" normalizeH="0" baseline="0" noProof="0" dirty="0">
                <a:ln>
                  <a:noFill/>
                </a:ln>
                <a:solidFill>
                  <a:srgbClr val="000000"/>
                </a:solidFill>
                <a:effectLst/>
                <a:uLnTx/>
                <a:uFillTx/>
                <a:latin typeface="Tahoma"/>
                <a:ea typeface="+mn-ea"/>
                <a:cs typeface="+mn-cs"/>
              </a:rPr>
              <a:t> </a:t>
            </a:r>
            <a:r>
              <a:rPr lang="en-GB" altLang="el-GR" b="1" kern="0" dirty="0" err="1">
                <a:solidFill>
                  <a:srgbClr val="FF0000"/>
                </a:solidFill>
                <a:latin typeface="Tahoma"/>
              </a:rPr>
              <a:t>Rpn</a:t>
            </a:r>
            <a:r>
              <a:rPr kumimoji="0" lang="en-US" altLang="el-GR" sz="3200" b="1" i="0" u="none" strike="noStrike" kern="0" cap="none" spc="0" normalizeH="0" baseline="0" noProof="0" dirty="0">
                <a:ln>
                  <a:noFill/>
                </a:ln>
                <a:solidFill>
                  <a:srgbClr val="FF0000"/>
                </a:solidFill>
                <a:effectLst/>
                <a:uLnTx/>
                <a:uFillTx/>
                <a:latin typeface="Tahoma"/>
                <a:ea typeface="+mn-ea"/>
                <a:cs typeface="+mn-cs"/>
              </a:rPr>
              <a:t>Calc</a:t>
            </a:r>
            <a:r>
              <a:rPr kumimoji="0" lang="el-GR" altLang="el-GR" sz="3200" b="1" i="0" u="none" strike="noStrike" kern="0" cap="none" spc="0" normalizeH="0" baseline="0" noProof="0" dirty="0">
                <a:ln>
                  <a:noFill/>
                </a:ln>
                <a:solidFill>
                  <a:srgbClr val="000000"/>
                </a:solidFill>
                <a:effectLst/>
                <a:uLnTx/>
                <a:uFillTx/>
                <a:latin typeface="Tahoma"/>
                <a:ea typeface="+mn-ea"/>
                <a:cs typeface="+mn-cs"/>
              </a:rPr>
              <a:t> {</a:t>
            </a:r>
            <a:endParaRPr kumimoji="0" lang="en-US" altLang="el-GR" sz="3200" b="1"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r>
              <a:rPr kumimoji="0" lang="en-US" altLang="el-GR" sz="3200" b="0" i="0" u="none" strike="noStrike" kern="0" cap="none" spc="0" normalizeH="0" baseline="0" noProof="0" dirty="0">
                <a:ln>
                  <a:noFill/>
                </a:ln>
                <a:solidFill>
                  <a:srgbClr val="000000"/>
                </a:solidFill>
                <a:effectLst/>
                <a:uLnTx/>
                <a:uFillTx/>
                <a:latin typeface="Tahoma"/>
                <a:ea typeface="+mn-ea"/>
                <a:cs typeface="+mn-cs"/>
              </a:rPr>
              <a:t>//data members</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r>
              <a:rPr kumimoji="0" lang="en-US" altLang="el-GR" sz="3200" b="0" i="0" u="none" strike="noStrike" kern="0" cap="none" spc="0" normalizeH="0" baseline="0" noProof="0" dirty="0">
                <a:ln>
                  <a:noFill/>
                </a:ln>
                <a:solidFill>
                  <a:srgbClr val="000000"/>
                </a:solidFill>
                <a:effectLst/>
                <a:uLnTx/>
                <a:uFillTx/>
                <a:latin typeface="Tahoma"/>
                <a:ea typeface="+mn-ea"/>
                <a:cs typeface="+mn-cs"/>
              </a:rPr>
              <a:t>// methods</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public static void </a:t>
            </a:r>
            <a:r>
              <a:rPr kumimoji="0" lang="en-US" altLang="el-GR" sz="3200" b="1" i="0" u="none" strike="noStrike" kern="0" cap="none" spc="0" normalizeH="0" baseline="0" noProof="0" dirty="0">
                <a:ln>
                  <a:noFill/>
                </a:ln>
                <a:solidFill>
                  <a:srgbClr val="800000"/>
                </a:solidFill>
                <a:effectLst/>
                <a:uLnTx/>
                <a:uFillTx/>
                <a:latin typeface="Tahoma"/>
                <a:ea typeface="+mn-ea"/>
                <a:cs typeface="+mn-cs"/>
              </a:rPr>
              <a:t>main</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r>
              <a:rPr kumimoji="0" lang="en-US" altLang="el-GR" sz="3200" b="1" i="0" u="none" strike="noStrike" kern="0" cap="none" spc="0" normalizeH="0" baseline="0" noProof="0" dirty="0">
                <a:ln>
                  <a:noFill/>
                </a:ln>
                <a:solidFill>
                  <a:srgbClr val="FF0000"/>
                </a:solidFill>
                <a:effectLst/>
                <a:uLnTx/>
                <a:uFillTx/>
                <a:latin typeface="Tahoma"/>
                <a:ea typeface="+mn-ea"/>
                <a:cs typeface="+mn-cs"/>
              </a:rPr>
              <a:t>?</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lang="en-US" altLang="el-GR" b="1" kern="0" dirty="0">
              <a:solidFill>
                <a:srgbClr val="000000"/>
              </a:solidFill>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US" altLang="el-GR" sz="3200" b="1"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lang="en-US" altLang="el-GR" b="1" kern="0" dirty="0">
                <a:solidFill>
                  <a:srgbClr val="000000"/>
                </a:solidFill>
                <a:latin typeface="Tahoma"/>
              </a:rPr>
              <a:t>		</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r>
              <a:rPr kumimoji="0" lang="el-GR" altLang="el-GR" sz="3200" b="1" i="0" u="none" strike="noStrike" kern="0" cap="none" spc="0" normalizeH="0" baseline="0" noProof="0" dirty="0">
                <a:ln>
                  <a:noFill/>
                </a:ln>
                <a:solidFill>
                  <a:srgbClr val="000000"/>
                </a:solidFill>
                <a:effectLst/>
                <a:uLnTx/>
                <a:uFillTx/>
                <a:latin typeface="Tahoma"/>
                <a:ea typeface="+mn-ea"/>
                <a:cs typeface="+mn-cs"/>
              </a:rPr>
              <a:t>}</a:t>
            </a:r>
            <a:endParaRPr kumimoji="0" lang="en-US" altLang="el-GR" sz="3200" b="1" i="0" u="none" strike="noStrike" kern="0" cap="none" spc="0" normalizeH="0" baseline="0" noProof="0" dirty="0">
              <a:ln>
                <a:noFill/>
              </a:ln>
              <a:solidFill>
                <a:srgbClr val="000000"/>
              </a:solidFill>
              <a:effectLst/>
              <a:uLnTx/>
              <a:uFillTx/>
              <a:latin typeface="Tahoma"/>
              <a:ea typeface="+mn-ea"/>
              <a:cs typeface="+mn-cs"/>
            </a:endParaRPr>
          </a:p>
        </p:txBody>
      </p:sp>
      <p:sp>
        <p:nvSpPr>
          <p:cNvPr id="5" name="TextBox 4">
            <a:extLst>
              <a:ext uri="{FF2B5EF4-FFF2-40B4-BE49-F238E27FC236}">
                <a16:creationId xmlns:a16="http://schemas.microsoft.com/office/drawing/2014/main" id="{E0723FE2-2057-5176-F19D-EFAA2C5527B2}"/>
              </a:ext>
            </a:extLst>
          </p:cNvPr>
          <p:cNvSpPr txBox="1"/>
          <p:nvPr/>
        </p:nvSpPr>
        <p:spPr>
          <a:xfrm>
            <a:off x="6096000" y="719330"/>
            <a:ext cx="6095999" cy="3046988"/>
          </a:xfrm>
          <a:prstGeom prst="rect">
            <a:avLst/>
          </a:prstGeom>
          <a:noFill/>
        </p:spPr>
        <p:txBody>
          <a:bodyPr wrap="square" rtlCol="0">
            <a:spAutoFit/>
          </a:bodyPr>
          <a:lstStyle/>
          <a:p>
            <a:r>
              <a:rPr lang="en-GB" sz="2800" b="1" dirty="0"/>
              <a:t>Iteration No 1</a:t>
            </a:r>
            <a:endParaRPr lang="el-GR" sz="2800" b="1" dirty="0"/>
          </a:p>
          <a:p>
            <a:r>
              <a:rPr lang="el-GR" sz="2000" dirty="0"/>
              <a:t>Λειτουργικότητα: Εμφάνιση της γραφικής </a:t>
            </a:r>
            <a:r>
              <a:rPr lang="el-GR" sz="2000" dirty="0" err="1"/>
              <a:t>διεπαφής</a:t>
            </a:r>
            <a:endParaRPr lang="el-GR" sz="2000" dirty="0"/>
          </a:p>
          <a:p>
            <a:r>
              <a:rPr lang="el-GR" sz="2000" dirty="0"/>
              <a:t>Χρήση </a:t>
            </a:r>
            <a:r>
              <a:rPr lang="en-GB" sz="2000" dirty="0"/>
              <a:t>Eclipse.</a:t>
            </a:r>
          </a:p>
          <a:p>
            <a:endParaRPr lang="en-GB" sz="1600" dirty="0"/>
          </a:p>
          <a:p>
            <a:r>
              <a:rPr lang="en-GB" sz="2800" b="1" dirty="0"/>
              <a:t>Iteration No 2</a:t>
            </a:r>
          </a:p>
          <a:p>
            <a:r>
              <a:rPr lang="el-GR" sz="2000" dirty="0"/>
              <a:t>Λειτουργικότητα:΄Ορισμός και ενσωμάτωση της κλάσης </a:t>
            </a:r>
            <a:r>
              <a:rPr lang="en-GB" sz="2000" dirty="0"/>
              <a:t>Operand </a:t>
            </a:r>
            <a:r>
              <a:rPr lang="el-GR" sz="2000" dirty="0"/>
              <a:t>υλοποιημένης με δομή </a:t>
            </a:r>
            <a:r>
              <a:rPr lang="en-GB" sz="2000" b="1" dirty="0"/>
              <a:t>int</a:t>
            </a:r>
            <a:r>
              <a:rPr lang="en-GB" sz="2000" dirty="0"/>
              <a:t>.</a:t>
            </a:r>
          </a:p>
          <a:p>
            <a:r>
              <a:rPr lang="el-GR" sz="2000" dirty="0"/>
              <a:t>Εναλλακτική υλοποίηση της </a:t>
            </a:r>
            <a:r>
              <a:rPr lang="en-GB" sz="2000" dirty="0"/>
              <a:t>Operand </a:t>
            </a:r>
            <a:r>
              <a:rPr lang="el-GR" sz="2000" dirty="0"/>
              <a:t>ως </a:t>
            </a:r>
            <a:r>
              <a:rPr kumimoji="0" lang="el-GR" sz="2000" b="1" i="0" u="none" strike="noStrike" kern="1200" cap="none" spc="0" normalizeH="0" baseline="0" noProof="0" dirty="0">
                <a:ln>
                  <a:noFill/>
                </a:ln>
                <a:solidFill>
                  <a:prstClr val="black"/>
                </a:solidFill>
                <a:effectLst/>
                <a:uLnTx/>
                <a:uFillTx/>
                <a:latin typeface="Calibri" panose="020F0502020204030204"/>
                <a:ea typeface="+mn-ea"/>
                <a:cs typeface="+mn-cs"/>
              </a:rPr>
              <a:t>αλφαριθμητικό</a:t>
            </a:r>
            <a:r>
              <a:rPr kumimoji="0" lang="el-GR" sz="1600" b="1" i="0" u="none" strike="noStrike" kern="1200" cap="none" spc="0" normalizeH="0" baseline="0" noProof="0" dirty="0">
                <a:ln>
                  <a:noFill/>
                </a:ln>
                <a:solidFill>
                  <a:prstClr val="black"/>
                </a:solidFill>
                <a:effectLst/>
                <a:uLnTx/>
                <a:uFillTx/>
                <a:latin typeface="Calibri" panose="020F0502020204030204"/>
                <a:ea typeface="+mn-ea"/>
                <a:cs typeface="+mn-cs"/>
              </a:rPr>
              <a:t>.</a:t>
            </a:r>
            <a:endParaRPr lang="el-GR" sz="1600" dirty="0"/>
          </a:p>
        </p:txBody>
      </p:sp>
      <p:sp>
        <p:nvSpPr>
          <p:cNvPr id="6" name="Θέση υποσέλιδου 4">
            <a:extLst>
              <a:ext uri="{FF2B5EF4-FFF2-40B4-BE49-F238E27FC236}">
                <a16:creationId xmlns:a16="http://schemas.microsoft.com/office/drawing/2014/main" id="{506BBC49-E8B9-AA23-C5C8-DEFB93CC601B}"/>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14628201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dissolv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dissolv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dissolv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dissolve">
                                      <p:cBhvr>
                                        <p:cTn id="37" dur="500"/>
                                        <p:tgtEl>
                                          <p:spTgt spid="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dissolve">
                                      <p:cBhvr>
                                        <p:cTn id="4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Iteration No </a:t>
            </a:r>
            <a:r>
              <a:rPr lang="el-GR" sz="4000" b="1" dirty="0">
                <a:solidFill>
                  <a:srgbClr val="F9853D"/>
                </a:solidFill>
                <a:latin typeface="Bahnschrift" panose="020B0502040204020203" pitchFamily="34" charset="0"/>
              </a:rPr>
              <a:t>3 – </a:t>
            </a:r>
            <a:r>
              <a:rPr lang="en-GB" sz="4000" b="1" dirty="0">
                <a:solidFill>
                  <a:srgbClr val="F9853D"/>
                </a:solidFill>
                <a:latin typeface="Bahnschrift" panose="020B0502040204020203" pitchFamily="34" charset="0"/>
              </a:rPr>
              <a:t>Adding Operators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17" name="Rectangle 3">
            <a:extLst>
              <a:ext uri="{FF2B5EF4-FFF2-40B4-BE49-F238E27FC236}">
                <a16:creationId xmlns:a16="http://schemas.microsoft.com/office/drawing/2014/main" id="{25AB39F2-D920-987F-13D2-130A028548D8}"/>
              </a:ext>
            </a:extLst>
          </p:cNvPr>
          <p:cNvSpPr txBox="1">
            <a:spLocks noChangeArrowheads="1"/>
          </p:cNvSpPr>
          <p:nvPr/>
        </p:nvSpPr>
        <p:spPr bwMode="auto">
          <a:xfrm>
            <a:off x="149629" y="1073828"/>
            <a:ext cx="7223096" cy="119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000000"/>
                </a:solidFill>
                <a:effectLst/>
                <a:uLnTx/>
                <a:uFillTx/>
                <a:latin typeface="Tahoma"/>
                <a:ea typeface="+mn-ea"/>
                <a:cs typeface="+mn-cs"/>
              </a:rPr>
              <a:t>Ποια αντικείμενα απαρτίζουν το σύστημα;</a:t>
            </a:r>
            <a:endParaRPr kumimoji="0" lang="en-US" altLang="el-GR" sz="3200" b="0" i="0" u="none" strike="noStrike" kern="0" cap="none" spc="0" normalizeH="0" baseline="0" noProof="0" dirty="0">
              <a:ln>
                <a:noFill/>
              </a:ln>
              <a:solidFill>
                <a:srgbClr val="000000"/>
              </a:solidFill>
              <a:effectLst/>
              <a:uLnTx/>
              <a:uFillTx/>
              <a:latin typeface="Tahoma"/>
              <a:ea typeface="+mn-ea"/>
              <a:cs typeface="+mn-cs"/>
            </a:endParaRPr>
          </a:p>
        </p:txBody>
      </p:sp>
      <p:sp>
        <p:nvSpPr>
          <p:cNvPr id="18" name="Explosion: 14 Points 17">
            <a:extLst>
              <a:ext uri="{FF2B5EF4-FFF2-40B4-BE49-F238E27FC236}">
                <a16:creationId xmlns:a16="http://schemas.microsoft.com/office/drawing/2014/main" id="{80F9F2B9-8822-E4D4-D561-15E1C3306994}"/>
              </a:ext>
            </a:extLst>
          </p:cNvPr>
          <p:cNvSpPr/>
          <p:nvPr/>
        </p:nvSpPr>
        <p:spPr bwMode="auto">
          <a:xfrm>
            <a:off x="850037" y="2326541"/>
            <a:ext cx="2454572" cy="1098749"/>
          </a:xfrm>
          <a:prstGeom prst="irregularSeal2">
            <a:avLst/>
          </a:prstGeom>
          <a:solidFill>
            <a:srgbClr val="FFFF00"/>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Operand</a:t>
            </a: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sp>
        <p:nvSpPr>
          <p:cNvPr id="19" name="Rectangle 3">
            <a:extLst>
              <a:ext uri="{FF2B5EF4-FFF2-40B4-BE49-F238E27FC236}">
                <a16:creationId xmlns:a16="http://schemas.microsoft.com/office/drawing/2014/main" id="{AE685E53-80CF-4826-26E2-6D2B9A134337}"/>
              </a:ext>
            </a:extLst>
          </p:cNvPr>
          <p:cNvSpPr txBox="1">
            <a:spLocks noChangeArrowheads="1"/>
          </p:cNvSpPr>
          <p:nvPr/>
        </p:nvSpPr>
        <p:spPr bwMode="auto">
          <a:xfrm>
            <a:off x="172295" y="4612138"/>
            <a:ext cx="6444681" cy="1715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90000"/>
              </a:lnSpc>
              <a:buClr>
                <a:srgbClr val="3333CC"/>
              </a:buClr>
            </a:pPr>
            <a:r>
              <a:rPr lang="el-GR" altLang="el-GR" sz="2800" kern="0" dirty="0">
                <a:solidFill>
                  <a:srgbClr val="000000"/>
                </a:solidFill>
                <a:latin typeface="Tahoma"/>
              </a:rPr>
              <a:t>Πως αυτά πρέπει να συνεργαστούν ώστε το πρόγραμμα μας να παρέχει την ζητούμενη συμπεριφορά;</a:t>
            </a:r>
            <a:endParaRPr lang="en-GB" altLang="el-GR" sz="2800" kern="0" dirty="0">
              <a:solidFill>
                <a:srgbClr val="000000"/>
              </a:solidFill>
              <a:latin typeface="Tahoma"/>
            </a:endParaRPr>
          </a:p>
        </p:txBody>
      </p:sp>
      <p:sp>
        <p:nvSpPr>
          <p:cNvPr id="20" name="Explosion: 14 Points 19">
            <a:extLst>
              <a:ext uri="{FF2B5EF4-FFF2-40B4-BE49-F238E27FC236}">
                <a16:creationId xmlns:a16="http://schemas.microsoft.com/office/drawing/2014/main" id="{CC0C1228-1BAE-A8C8-95E0-3863CBA9D683}"/>
              </a:ext>
            </a:extLst>
          </p:cNvPr>
          <p:cNvSpPr/>
          <p:nvPr/>
        </p:nvSpPr>
        <p:spPr bwMode="auto">
          <a:xfrm>
            <a:off x="3443190" y="1894172"/>
            <a:ext cx="2454572" cy="1098749"/>
          </a:xfrm>
          <a:prstGeom prst="irregularSeal2">
            <a:avLst/>
          </a:prstGeom>
          <a:solidFill>
            <a:srgbClr val="6699FF"/>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err="1">
                <a:ln>
                  <a:noFill/>
                </a:ln>
                <a:solidFill>
                  <a:srgbClr val="000000"/>
                </a:solidFill>
                <a:effectLst/>
                <a:uLnTx/>
                <a:uFillTx/>
                <a:latin typeface="Tahoma" pitchFamily="34" charset="0"/>
              </a:rPr>
              <a:t>Gui</a:t>
            </a: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sp>
        <p:nvSpPr>
          <p:cNvPr id="21" name="Explosion: 14 Points 20">
            <a:extLst>
              <a:ext uri="{FF2B5EF4-FFF2-40B4-BE49-F238E27FC236}">
                <a16:creationId xmlns:a16="http://schemas.microsoft.com/office/drawing/2014/main" id="{073A27DF-DE28-A78A-B232-A1C3B8879C0C}"/>
              </a:ext>
            </a:extLst>
          </p:cNvPr>
          <p:cNvSpPr/>
          <p:nvPr/>
        </p:nvSpPr>
        <p:spPr bwMode="auto">
          <a:xfrm>
            <a:off x="4162405" y="3213156"/>
            <a:ext cx="2454572" cy="1098749"/>
          </a:xfrm>
          <a:prstGeom prst="irregularSeal2">
            <a:avLst/>
          </a:prstGeom>
          <a:solidFill>
            <a:srgbClr val="AAEFD1">
              <a:lumMod val="50000"/>
            </a:srgbClr>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Multiplier</a:t>
            </a: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sp>
        <p:nvSpPr>
          <p:cNvPr id="22" name="Explosion: 14 Points 21">
            <a:extLst>
              <a:ext uri="{FF2B5EF4-FFF2-40B4-BE49-F238E27FC236}">
                <a16:creationId xmlns:a16="http://schemas.microsoft.com/office/drawing/2014/main" id="{617C8625-CCAF-693C-BFFA-C2A371E9AEED}"/>
              </a:ext>
            </a:extLst>
          </p:cNvPr>
          <p:cNvSpPr/>
          <p:nvPr/>
        </p:nvSpPr>
        <p:spPr bwMode="auto">
          <a:xfrm>
            <a:off x="1570117" y="3416478"/>
            <a:ext cx="2454572" cy="1098749"/>
          </a:xfrm>
          <a:prstGeom prst="irregularSeal2">
            <a:avLst/>
          </a:prstGeom>
          <a:solidFill>
            <a:srgbClr val="AAEFD1">
              <a:lumMod val="50000"/>
            </a:srgbClr>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Adder</a:t>
            </a: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pic>
        <p:nvPicPr>
          <p:cNvPr id="23" name="Picture 46">
            <a:extLst>
              <a:ext uri="{FF2B5EF4-FFF2-40B4-BE49-F238E27FC236}">
                <a16:creationId xmlns:a16="http://schemas.microsoft.com/office/drawing/2014/main" id="{88DD1FFF-248D-8A58-9CD2-ACC580AB87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3122" y="674045"/>
            <a:ext cx="4066687" cy="3761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5">
            <a:extLst>
              <a:ext uri="{FF2B5EF4-FFF2-40B4-BE49-F238E27FC236}">
                <a16:creationId xmlns:a16="http://schemas.microsoft.com/office/drawing/2014/main" id="{AAF71C5A-5321-79D5-69FC-C5BF00FB59A3}"/>
              </a:ext>
            </a:extLst>
          </p:cNvPr>
          <p:cNvSpPr txBox="1">
            <a:spLocks noChangeArrowheads="1"/>
          </p:cNvSpPr>
          <p:nvPr/>
        </p:nvSpPr>
        <p:spPr bwMode="auto">
          <a:xfrm>
            <a:off x="6439008" y="4308574"/>
            <a:ext cx="6248121"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instance of the class </a:t>
            </a:r>
            <a:r>
              <a:rPr kumimoji="0" lang="en-US" altLang="el-GR" sz="2400" b="1" i="0" u="none" strike="noStrike" kern="0" cap="none" spc="0" normalizeH="0" baseline="0" noProof="0" dirty="0">
                <a:ln>
                  <a:noFill/>
                </a:ln>
                <a:solidFill>
                  <a:srgbClr val="000000"/>
                </a:solidFill>
                <a:effectLst/>
                <a:uLnTx/>
                <a:uFillTx/>
                <a:latin typeface="Tahoma" panose="020B0604030504040204" pitchFamily="34" charset="0"/>
              </a:rPr>
              <a:t>CalculatorGui</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included in </a:t>
            </a:r>
            <a:r>
              <a:rPr kumimoji="0" lang="en-GB" altLang="el-GR" sz="2400" b="1" i="0" u="none" strike="noStrike" kern="0" cap="none" spc="0" normalizeH="0" baseline="0" noProof="0" dirty="0">
                <a:ln>
                  <a:noFill/>
                </a:ln>
                <a:solidFill>
                  <a:srgbClr val="000000"/>
                </a:solidFill>
                <a:effectLst/>
                <a:uLnTx/>
                <a:uFillTx/>
                <a:latin typeface="Tahoma" panose="020B0604030504040204" pitchFamily="34" charset="0"/>
              </a:rPr>
              <a:t>CalcGuiV2.jar</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l-GR" sz="2400" b="0" i="1"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1" i="1" u="none" strike="noStrike" kern="0" cap="none" spc="0" normalizeH="0" baseline="0" noProof="0" dirty="0">
                <a:ln>
                  <a:noFill/>
                </a:ln>
                <a:solidFill>
                  <a:srgbClr val="000000"/>
                </a:solidFill>
                <a:effectLst/>
                <a:uLnTx/>
                <a:uFillTx/>
                <a:latin typeface="Tahoma" panose="020B0604030504040204" pitchFamily="34" charset="0"/>
              </a:rPr>
              <a:t>Constructor</a:t>
            </a:r>
            <a:r>
              <a:rPr kumimoji="0" lang="en-US" altLang="el-GR" sz="2400" b="0" i="1" u="none" strike="noStrike" kern="0" cap="none" spc="0" normalizeH="0" baseline="0" noProof="0" dirty="0">
                <a:ln>
                  <a:noFill/>
                </a:ln>
                <a:solidFill>
                  <a:srgbClr val="000000"/>
                </a:solidFill>
                <a:effectLst/>
                <a:uLnTx/>
                <a:uFillTx/>
                <a:latin typeface="Tahoma" panose="020B0604030504040204" pitchFamily="34" charset="0"/>
              </a:rPr>
              <a:t>: CalculatorGui(Operand op,</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1" u="none" strike="noStrike" kern="0" cap="none" spc="0" normalizeH="0" baseline="0" noProof="0" dirty="0">
                <a:ln>
                  <a:noFill/>
                </a:ln>
                <a:solidFill>
                  <a:srgbClr val="000000"/>
                </a:solidFill>
                <a:effectLst/>
                <a:uLnTx/>
                <a:uFillTx/>
                <a:latin typeface="Tahoma" panose="020B0604030504040204" pitchFamily="34" charset="0"/>
              </a:rPr>
              <a:t>   Adder add, Subtracter sub, Multiplier </a:t>
            </a:r>
            <a:r>
              <a:rPr kumimoji="0" lang="en-US" altLang="el-GR" sz="2400" b="0" i="1" u="none" strike="noStrike" kern="0" cap="none" spc="0" normalizeH="0" baseline="0" noProof="0" dirty="0" err="1">
                <a:ln>
                  <a:noFill/>
                </a:ln>
                <a:solidFill>
                  <a:srgbClr val="000000"/>
                </a:solidFill>
                <a:effectLst/>
                <a:uLnTx/>
                <a:uFillTx/>
                <a:latin typeface="Tahoma" panose="020B0604030504040204" pitchFamily="34" charset="0"/>
              </a:rPr>
              <a:t>mul</a:t>
            </a:r>
            <a:r>
              <a:rPr kumimoji="0" lang="en-US" altLang="el-GR" sz="2400" b="0" i="1"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1" u="none" strike="noStrike" kern="0" cap="none" spc="0" normalizeH="0" baseline="0" noProof="0" dirty="0">
                <a:ln>
                  <a:noFill/>
                </a:ln>
                <a:solidFill>
                  <a:srgbClr val="000000"/>
                </a:solidFill>
                <a:effectLst/>
                <a:uLnTx/>
                <a:uFillTx/>
                <a:latin typeface="Tahoma" panose="020B0604030504040204" pitchFamily="34" charset="0"/>
              </a:rPr>
              <a:t>  Divider div, </a:t>
            </a:r>
            <a:r>
              <a:rPr kumimoji="0" lang="en-US" altLang="el-GR" sz="2400" b="0" i="1" u="none" strike="noStrike" kern="0" cap="none" spc="0" normalizeH="0" baseline="0" noProof="0" dirty="0" err="1">
                <a:ln>
                  <a:noFill/>
                </a:ln>
                <a:solidFill>
                  <a:srgbClr val="000000"/>
                </a:solidFill>
                <a:effectLst/>
                <a:uLnTx/>
                <a:uFillTx/>
                <a:latin typeface="Tahoma" panose="020B0604030504040204" pitchFamily="34" charset="0"/>
              </a:rPr>
              <a:t>ResultPresenter</a:t>
            </a:r>
            <a:r>
              <a:rPr kumimoji="0" lang="en-US" altLang="el-GR" sz="2400" b="0" i="1"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1" u="none" strike="noStrike" kern="0" cap="none" spc="0" normalizeH="0" baseline="0" noProof="0" dirty="0" err="1">
                <a:ln>
                  <a:noFill/>
                </a:ln>
                <a:solidFill>
                  <a:srgbClr val="000000"/>
                </a:solidFill>
                <a:effectLst/>
                <a:uLnTx/>
                <a:uFillTx/>
                <a:latin typeface="Tahoma" panose="020B0604030504040204" pitchFamily="34" charset="0"/>
              </a:rPr>
              <a:t>rp</a:t>
            </a:r>
            <a:r>
              <a:rPr kumimoji="0" lang="en-US" altLang="el-GR" sz="2400" b="0" i="1" u="none" strike="noStrike" kern="0" cap="none" spc="0" normalizeH="0" baseline="0" noProof="0" dirty="0">
                <a:ln>
                  <a:noFill/>
                </a:ln>
                <a:solidFill>
                  <a:srgbClr val="000000"/>
                </a:solidFill>
                <a:effectLst/>
                <a:uLnTx/>
                <a:uFillTx/>
                <a:latin typeface="Tahoma" panose="020B0604030504040204" pitchFamily="34" charset="0"/>
              </a:rPr>
              <a:t>)</a:t>
            </a:r>
          </a:p>
        </p:txBody>
      </p:sp>
      <p:sp>
        <p:nvSpPr>
          <p:cNvPr id="4" name="Θέση υποσέλιδου 4">
            <a:extLst>
              <a:ext uri="{FF2B5EF4-FFF2-40B4-BE49-F238E27FC236}">
                <a16:creationId xmlns:a16="http://schemas.microsoft.com/office/drawing/2014/main" id="{E6CA51EB-A802-E97B-DADC-54F485C7614F}"/>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41887666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cBhvr>
                                        <p:cTn id="28" dur="1000" fill="hold"/>
                                        <p:tgtEl>
                                          <p:spTgt spid="23"/>
                                        </p:tgtEl>
                                        <p:attrNameLst>
                                          <p:attrName>ppt_w</p:attrName>
                                        </p:attrNameLst>
                                      </p:cBhvr>
                                      <p:tavLst>
                                        <p:tav tm="0">
                                          <p:val>
                                            <p:strVal val="#ppt_w*0.70"/>
                                          </p:val>
                                        </p:tav>
                                        <p:tav tm="100000">
                                          <p:val>
                                            <p:strVal val="#ppt_w"/>
                                          </p:val>
                                        </p:tav>
                                      </p:tavLst>
                                    </p:anim>
                                    <p:anim calcmode="lin" valueType="num">
                                      <p:cBhvr>
                                        <p:cTn id="29" dur="1000" fill="hold"/>
                                        <p:tgtEl>
                                          <p:spTgt spid="23"/>
                                        </p:tgtEl>
                                        <p:attrNameLst>
                                          <p:attrName>ppt_h</p:attrName>
                                        </p:attrNameLst>
                                      </p:cBhvr>
                                      <p:tavLst>
                                        <p:tav tm="0">
                                          <p:val>
                                            <p:strVal val="#ppt_h"/>
                                          </p:val>
                                        </p:tav>
                                        <p:tav tm="100000">
                                          <p:val>
                                            <p:strVal val="#ppt_h"/>
                                          </p:val>
                                        </p:tav>
                                      </p:tavLst>
                                    </p:anim>
                                    <p:animEffect transition="in" filter="fade">
                                      <p:cBhvr>
                                        <p:cTn id="30"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animBg="1"/>
      <p:bldP spid="21"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Rectangle 3">
            <a:extLst>
              <a:ext uri="{FF2B5EF4-FFF2-40B4-BE49-F238E27FC236}">
                <a16:creationId xmlns:a16="http://schemas.microsoft.com/office/drawing/2014/main" id="{F569FD65-6C32-4251-AC14-0AD042ADB2C6}"/>
              </a:ext>
            </a:extLst>
          </p:cNvPr>
          <p:cNvSpPr txBox="1">
            <a:spLocks noChangeArrowheads="1"/>
          </p:cNvSpPr>
          <p:nvPr/>
        </p:nvSpPr>
        <p:spPr bwMode="auto">
          <a:xfrm>
            <a:off x="355598" y="1368491"/>
            <a:ext cx="11480801" cy="3901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90000"/>
              </a:lnSpc>
              <a:buClr>
                <a:srgbClr val="3333CC"/>
              </a:buClr>
            </a:pPr>
            <a:r>
              <a:rPr lang="en-US" altLang="el-GR" dirty="0">
                <a:solidFill>
                  <a:srgbClr val="000000"/>
                </a:solidFill>
                <a:latin typeface="Tahoma"/>
              </a:rPr>
              <a:t>RPN Calculator </a:t>
            </a:r>
            <a:r>
              <a:rPr lang="el-GR" altLang="el-GR" dirty="0">
                <a:solidFill>
                  <a:srgbClr val="000000"/>
                </a:solidFill>
                <a:latin typeface="Tahoma"/>
              </a:rPr>
              <a:t>με γραφική </a:t>
            </a:r>
            <a:r>
              <a:rPr lang="el-GR" altLang="el-GR" dirty="0" err="1">
                <a:solidFill>
                  <a:srgbClr val="000000"/>
                </a:solidFill>
                <a:latin typeface="Tahoma"/>
              </a:rPr>
              <a:t>διεπαφή</a:t>
            </a:r>
            <a:endParaRPr lang="el-GR" altLang="el-GR" dirty="0">
              <a:solidFill>
                <a:srgbClr val="000000"/>
              </a:solidFill>
              <a:latin typeface="Tahoma"/>
            </a:endParaRPr>
          </a:p>
          <a:p>
            <a:pPr lvl="1" eaLnBrk="1" hangingPunct="1">
              <a:lnSpc>
                <a:spcPct val="90000"/>
              </a:lnSpc>
              <a:buClr>
                <a:srgbClr val="3333CC"/>
              </a:buClr>
            </a:pPr>
            <a:r>
              <a:rPr lang="el-GR" altLang="el-GR" dirty="0">
                <a:solidFill>
                  <a:srgbClr val="000000"/>
                </a:solidFill>
                <a:latin typeface="Tahoma"/>
              </a:rPr>
              <a:t>δομή εφαρμογής</a:t>
            </a:r>
          </a:p>
          <a:p>
            <a:pPr lvl="1" eaLnBrk="1" hangingPunct="1">
              <a:lnSpc>
                <a:spcPct val="90000"/>
              </a:lnSpc>
              <a:buClr>
                <a:srgbClr val="3333CC"/>
              </a:buClr>
            </a:pPr>
            <a:r>
              <a:rPr lang="el-GR" altLang="el-GR" dirty="0">
                <a:solidFill>
                  <a:srgbClr val="000000"/>
                </a:solidFill>
                <a:latin typeface="Tahoma"/>
              </a:rPr>
              <a:t>αρμοδιότητες (</a:t>
            </a:r>
            <a:r>
              <a:rPr lang="en-GB" altLang="el-GR" dirty="0">
                <a:solidFill>
                  <a:srgbClr val="000000"/>
                </a:solidFill>
                <a:latin typeface="Tahoma"/>
              </a:rPr>
              <a:t>Responsibilities</a:t>
            </a:r>
            <a:r>
              <a:rPr lang="el-GR" altLang="el-GR" dirty="0">
                <a:solidFill>
                  <a:srgbClr val="000000"/>
                </a:solidFill>
                <a:latin typeface="Tahoma"/>
              </a:rPr>
              <a:t>) συνιστωσών</a:t>
            </a:r>
          </a:p>
          <a:p>
            <a:pPr lvl="1" eaLnBrk="1" hangingPunct="1">
              <a:lnSpc>
                <a:spcPct val="90000"/>
              </a:lnSpc>
              <a:buClr>
                <a:srgbClr val="3333CC"/>
              </a:buClr>
            </a:pPr>
            <a:r>
              <a:rPr lang="el-GR" altLang="el-GR" kern="0" dirty="0">
                <a:solidFill>
                  <a:srgbClr val="000000"/>
                </a:solidFill>
                <a:latin typeface="Tahoma"/>
              </a:rPr>
              <a:t>αλληλεπιδράσεις συνιστωσών </a:t>
            </a:r>
            <a:endParaRPr lang="en-GB" altLang="el-GR" kern="0" dirty="0">
              <a:solidFill>
                <a:srgbClr val="000000"/>
              </a:solidFill>
              <a:latin typeface="Tahoma"/>
            </a:endParaRPr>
          </a:p>
          <a:p>
            <a:pPr eaLnBrk="1" hangingPunct="1">
              <a:lnSpc>
                <a:spcPct val="90000"/>
              </a:lnSpc>
              <a:buClr>
                <a:srgbClr val="3333CC"/>
              </a:buClr>
            </a:pPr>
            <a:r>
              <a:rPr lang="en-GB" altLang="el-GR" b="1" kern="0" dirty="0">
                <a:solidFill>
                  <a:srgbClr val="000000"/>
                </a:solidFill>
                <a:latin typeface="Tahoma"/>
              </a:rPr>
              <a:t>System integration</a:t>
            </a:r>
            <a:endParaRPr lang="el-GR" altLang="el-GR" b="1" kern="0" dirty="0">
              <a:solidFill>
                <a:srgbClr val="000000"/>
              </a:solidFill>
              <a:latin typeface="Tahoma"/>
            </a:endParaRPr>
          </a:p>
          <a:p>
            <a:pPr lvl="1" eaLnBrk="1" hangingPunct="1">
              <a:lnSpc>
                <a:spcPct val="90000"/>
              </a:lnSpc>
              <a:buClr>
                <a:srgbClr val="3333CC"/>
              </a:buClr>
            </a:pPr>
            <a:r>
              <a:rPr lang="el-GR" altLang="el-GR" b="1" kern="0" dirty="0">
                <a:solidFill>
                  <a:srgbClr val="000000"/>
                </a:solidFill>
                <a:latin typeface="Tahoma"/>
              </a:rPr>
              <a:t>Χρήση </a:t>
            </a:r>
            <a:r>
              <a:rPr lang="en-GB" altLang="el-GR" b="1" kern="0" dirty="0">
                <a:solidFill>
                  <a:srgbClr val="000000"/>
                </a:solidFill>
                <a:latin typeface="Tahoma"/>
              </a:rPr>
              <a:t>third party libraries</a:t>
            </a:r>
          </a:p>
          <a:p>
            <a:pPr lvl="1" eaLnBrk="1" hangingPunct="1">
              <a:lnSpc>
                <a:spcPct val="90000"/>
              </a:lnSpc>
              <a:buClr>
                <a:srgbClr val="3333CC"/>
              </a:buClr>
            </a:pPr>
            <a:r>
              <a:rPr lang="el-GR" altLang="el-GR" b="1" kern="0" dirty="0">
                <a:solidFill>
                  <a:srgbClr val="000000"/>
                </a:solidFill>
                <a:latin typeface="Tahoma"/>
              </a:rPr>
              <a:t>Εξαρτήσεις (</a:t>
            </a:r>
            <a:r>
              <a:rPr lang="en-GB" altLang="el-GR" b="1" kern="0" dirty="0">
                <a:solidFill>
                  <a:srgbClr val="000000"/>
                </a:solidFill>
                <a:latin typeface="Tahoma"/>
              </a:rPr>
              <a:t>dependencies)</a:t>
            </a:r>
          </a:p>
          <a:p>
            <a:pPr eaLnBrk="1" hangingPunct="1">
              <a:lnSpc>
                <a:spcPct val="90000"/>
              </a:lnSpc>
              <a:buClr>
                <a:srgbClr val="3333CC"/>
              </a:buClr>
            </a:pPr>
            <a:r>
              <a:rPr lang="el-GR" altLang="el-GR" kern="0" dirty="0">
                <a:solidFill>
                  <a:srgbClr val="000000"/>
                </a:solidFill>
                <a:latin typeface="Tahoma"/>
              </a:rPr>
              <a:t>Πλήρως λειτουργική </a:t>
            </a:r>
            <a:r>
              <a:rPr lang="en-US" altLang="el-GR" dirty="0">
                <a:solidFill>
                  <a:srgbClr val="000000"/>
                </a:solidFill>
                <a:latin typeface="Tahoma"/>
              </a:rPr>
              <a:t>RPN Calculator </a:t>
            </a:r>
            <a:endParaRPr lang="en-GB" altLang="el-GR" kern="0" dirty="0">
              <a:solidFill>
                <a:srgbClr val="000000"/>
              </a:solidFill>
              <a:latin typeface="Tahoma"/>
            </a:endParaRPr>
          </a:p>
          <a:p>
            <a:pPr eaLnBrk="1" hangingPunct="1">
              <a:lnSpc>
                <a:spcPct val="90000"/>
              </a:lnSpc>
              <a:buClr>
                <a:srgbClr val="3333CC"/>
              </a:buClr>
            </a:pPr>
            <a:r>
              <a:rPr lang="en-GB" altLang="el-GR" kern="0" dirty="0">
                <a:solidFill>
                  <a:srgbClr val="000000"/>
                </a:solidFill>
                <a:latin typeface="Tahoma"/>
              </a:rPr>
              <a:t>Object Interactions</a:t>
            </a:r>
          </a:p>
        </p:txBody>
      </p:sp>
      <p:sp>
        <p:nvSpPr>
          <p:cNvPr id="5" name="Θέση υποσέλιδου 4">
            <a:extLst>
              <a:ext uri="{FF2B5EF4-FFF2-40B4-BE49-F238E27FC236}">
                <a16:creationId xmlns:a16="http://schemas.microsoft.com/office/drawing/2014/main" id="{FBA5EA03-711A-87F4-1812-7C2F691D6A80}"/>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35082238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H </a:t>
            </a:r>
            <a:r>
              <a:rPr lang="el-GR" sz="4000" b="1" dirty="0">
                <a:solidFill>
                  <a:srgbClr val="F9853D"/>
                </a:solidFill>
                <a:latin typeface="Bahnschrift" panose="020B0502040204020203" pitchFamily="34" charset="0"/>
              </a:rPr>
              <a:t>Άσκηση</a:t>
            </a:r>
            <a:r>
              <a:rPr lang="en-US" sz="4000" b="1" dirty="0">
                <a:solidFill>
                  <a:srgbClr val="F9853D"/>
                </a:solidFill>
                <a:latin typeface="Bahnschrift" panose="020B0502040204020203" pitchFamily="34" charset="0"/>
              </a:rPr>
              <a:t> – </a:t>
            </a:r>
            <a:r>
              <a:rPr lang="en-GB" sz="4000" b="1" dirty="0">
                <a:solidFill>
                  <a:srgbClr val="F9853D"/>
                </a:solidFill>
                <a:latin typeface="Bahnschrift" panose="020B0502040204020203" pitchFamily="34" charset="0"/>
              </a:rPr>
              <a:t>RPN Calculator </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Rectangle 2">
            <a:extLst>
              <a:ext uri="{FF2B5EF4-FFF2-40B4-BE49-F238E27FC236}">
                <a16:creationId xmlns:a16="http://schemas.microsoft.com/office/drawing/2014/main" id="{3484F41C-DD3D-1448-7327-01170DFB9BD2}"/>
              </a:ext>
            </a:extLst>
          </p:cNvPr>
          <p:cNvSpPr/>
          <p:nvPr/>
        </p:nvSpPr>
        <p:spPr>
          <a:xfrm>
            <a:off x="0" y="978058"/>
            <a:ext cx="10607040" cy="123463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l-GR" sz="28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Δραστηριότητα 6.5 Σύνθεση της εφαρμογής από έτοιμα συνθετικά </a:t>
            </a:r>
            <a:endParaRPr lang="en-US" sz="28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C730D82-FE62-6C6D-7040-895EE6527DFF}"/>
              </a:ext>
            </a:extLst>
          </p:cNvPr>
          <p:cNvSpPr txBox="1"/>
          <p:nvPr/>
        </p:nvSpPr>
        <p:spPr>
          <a:xfrm>
            <a:off x="0" y="2471415"/>
            <a:ext cx="11384507" cy="1569660"/>
          </a:xfrm>
          <a:prstGeom prst="rect">
            <a:avLst/>
          </a:prstGeom>
          <a:noFill/>
        </p:spPr>
        <p:txBody>
          <a:bodyPr wrap="square" rtlCol="0">
            <a:spAutoFit/>
          </a:bodyPr>
          <a:lstStyle/>
          <a:p>
            <a:r>
              <a:rPr lang="el-GR" sz="3200" i="1" dirty="0">
                <a:solidFill>
                  <a:srgbClr val="000000"/>
                </a:solidFill>
                <a:latin typeface="Calibri" panose="020F0502020204030204" pitchFamily="34" charset="0"/>
              </a:rPr>
              <a:t>Σας δίνεται ένα σύνολο από δομικά στοιχεία και σας ζητείται να συναρμολογήσετε με αυτά μια λειτουργική έκδοση της RPN </a:t>
            </a:r>
            <a:r>
              <a:rPr lang="el-GR" sz="3200" i="1" dirty="0" err="1">
                <a:solidFill>
                  <a:srgbClr val="000000"/>
                </a:solidFill>
                <a:latin typeface="Calibri" panose="020F0502020204030204" pitchFamily="34" charset="0"/>
              </a:rPr>
              <a:t>Calculator</a:t>
            </a:r>
            <a:r>
              <a:rPr lang="el-GR" sz="3200" i="1" dirty="0">
                <a:solidFill>
                  <a:srgbClr val="000000"/>
                </a:solidFill>
                <a:latin typeface="Calibri" panose="020F0502020204030204" pitchFamily="34" charset="0"/>
              </a:rPr>
              <a:t> με γραφική </a:t>
            </a:r>
            <a:r>
              <a:rPr lang="el-GR" sz="3200" i="1" dirty="0" err="1">
                <a:solidFill>
                  <a:srgbClr val="000000"/>
                </a:solidFill>
                <a:latin typeface="Calibri" panose="020F0502020204030204" pitchFamily="34" charset="0"/>
              </a:rPr>
              <a:t>διεπαφή</a:t>
            </a:r>
            <a:r>
              <a:rPr lang="el-GR" sz="3200" i="1" dirty="0">
                <a:solidFill>
                  <a:srgbClr val="000000"/>
                </a:solidFill>
                <a:latin typeface="Calibri" panose="020F0502020204030204" pitchFamily="34" charset="0"/>
              </a:rPr>
              <a:t>.</a:t>
            </a:r>
            <a:endParaRPr lang="el-GR" sz="3200" dirty="0"/>
          </a:p>
        </p:txBody>
      </p:sp>
      <p:sp>
        <p:nvSpPr>
          <p:cNvPr id="4" name="TextBox 3">
            <a:extLst>
              <a:ext uri="{FF2B5EF4-FFF2-40B4-BE49-F238E27FC236}">
                <a16:creationId xmlns:a16="http://schemas.microsoft.com/office/drawing/2014/main" id="{362ED841-26F0-48CB-4302-87A0AAE2D4AC}"/>
              </a:ext>
            </a:extLst>
          </p:cNvPr>
          <p:cNvSpPr txBox="1"/>
          <p:nvPr/>
        </p:nvSpPr>
        <p:spPr>
          <a:xfrm>
            <a:off x="0" y="4206831"/>
            <a:ext cx="12192000" cy="2031325"/>
          </a:xfrm>
          <a:prstGeom prst="rect">
            <a:avLst/>
          </a:prstGeom>
          <a:noFill/>
        </p:spPr>
        <p:txBody>
          <a:bodyPr wrap="square" rtlCol="0">
            <a:spAutoFit/>
          </a:bodyPr>
          <a:lstStyle/>
          <a:p>
            <a:r>
              <a:rPr lang="en-GB" sz="1800" b="0" i="0" u="none" strike="noStrike" baseline="0" dirty="0">
                <a:latin typeface="Times New Roman" panose="02020603050405020304" pitchFamily="18" charset="0"/>
              </a:rPr>
              <a:t>1. </a:t>
            </a:r>
            <a:r>
              <a:rPr lang="el-GR" sz="1800" b="0" i="0" u="none" strike="noStrike" baseline="0" dirty="0">
                <a:latin typeface="Times New Roman" panose="02020603050405020304" pitchFamily="18" charset="0"/>
              </a:rPr>
              <a:t>Οι κλάσεις </a:t>
            </a:r>
            <a:r>
              <a:rPr lang="en-GB" sz="1800" b="0" i="0" u="none" strike="noStrike" baseline="0" dirty="0">
                <a:latin typeface="Times New Roman" panose="02020603050405020304" pitchFamily="18" charset="0"/>
              </a:rPr>
              <a:t>Operand, Adder, Divider, Multiplier, Subtractor </a:t>
            </a:r>
            <a:r>
              <a:rPr lang="el-GR" sz="1800" b="0" i="0" u="none" strike="noStrike" baseline="0" dirty="0">
                <a:latin typeface="Times New Roman" panose="02020603050405020304" pitchFamily="18" charset="0"/>
              </a:rPr>
              <a:t>και </a:t>
            </a:r>
            <a:r>
              <a:rPr lang="en-GB" sz="1800" b="0" i="0" u="none" strike="noStrike" baseline="0" dirty="0" err="1">
                <a:latin typeface="Times New Roman" panose="02020603050405020304" pitchFamily="18" charset="0"/>
              </a:rPr>
              <a:t>ResultPresenter</a:t>
            </a:r>
            <a:r>
              <a:rPr lang="en-GB" sz="1800" b="0" i="0" u="none" strike="noStrike" baseline="0" dirty="0">
                <a:latin typeface="Times New Roman" panose="02020603050405020304" pitchFamily="18" charset="0"/>
              </a:rPr>
              <a:t> </a:t>
            </a:r>
            <a:r>
              <a:rPr lang="el-GR" sz="1800" b="0" i="0" u="none" strike="noStrike" baseline="0" dirty="0">
                <a:latin typeface="Times New Roman" panose="02020603050405020304" pitchFamily="18" charset="0"/>
              </a:rPr>
              <a:t>περιέχονται στη βιβλιοθήκη </a:t>
            </a:r>
            <a:r>
              <a:rPr lang="en-GB" sz="1800" b="1" i="0" u="none" strike="noStrike" baseline="0" dirty="0">
                <a:latin typeface="Times New Roman" panose="02020603050405020304" pitchFamily="18" charset="0"/>
              </a:rPr>
              <a:t>CalcComponents.jar</a:t>
            </a:r>
            <a:r>
              <a:rPr lang="en-GB" sz="1800" b="0" i="0" u="none" strike="noStrike" baseline="0" dirty="0">
                <a:latin typeface="Times New Roman" panose="02020603050405020304" pitchFamily="18" charset="0"/>
              </a:rPr>
              <a:t>. </a:t>
            </a:r>
          </a:p>
          <a:p>
            <a:r>
              <a:rPr lang="en-GB" sz="1800" b="0" i="0" u="none" strike="noStrike" baseline="0" dirty="0">
                <a:latin typeface="Times New Roman" panose="02020603050405020304" pitchFamily="18" charset="0"/>
              </a:rPr>
              <a:t>2. </a:t>
            </a:r>
            <a:r>
              <a:rPr lang="el-GR" sz="1800" b="0" i="0" u="none" strike="noStrike" baseline="0" dirty="0">
                <a:latin typeface="Times New Roman" panose="02020603050405020304" pitchFamily="18" charset="0"/>
              </a:rPr>
              <a:t>Η κλάση </a:t>
            </a:r>
            <a:r>
              <a:rPr lang="el-GR" sz="1800" b="0" i="0" u="none" strike="noStrike" baseline="0" dirty="0" err="1">
                <a:latin typeface="Times New Roman" panose="02020603050405020304" pitchFamily="18" charset="0"/>
              </a:rPr>
              <a:t>Operand</a:t>
            </a:r>
            <a:r>
              <a:rPr lang="el-GR" sz="1800" b="0" i="0" u="none" strike="noStrike" baseline="0" dirty="0">
                <a:latin typeface="Times New Roman" panose="02020603050405020304" pitchFamily="18" charset="0"/>
              </a:rPr>
              <a:t> βρίσκεται στο πακέτο </a:t>
            </a:r>
            <a:r>
              <a:rPr lang="el-GR" sz="1800" b="0" i="0" u="none" strike="noStrike" baseline="0" dirty="0" err="1">
                <a:latin typeface="Times New Roman" panose="02020603050405020304" pitchFamily="18" charset="0"/>
              </a:rPr>
              <a:t>engine</a:t>
            </a:r>
            <a:r>
              <a:rPr lang="el-GR" sz="1800" b="0" i="0" u="none" strike="noStrike" baseline="0" dirty="0">
                <a:latin typeface="Times New Roman" panose="02020603050405020304" pitchFamily="18" charset="0"/>
              </a:rPr>
              <a:t>. </a:t>
            </a:r>
          </a:p>
          <a:p>
            <a:r>
              <a:rPr lang="el-GR" sz="1800" b="0" i="0" u="none" strike="noStrike" baseline="0" dirty="0">
                <a:latin typeface="Times New Roman" panose="02020603050405020304" pitchFamily="18" charset="0"/>
              </a:rPr>
              <a:t>3. Οι κλάσεις </a:t>
            </a:r>
            <a:r>
              <a:rPr lang="en-GB" sz="1800" b="0" i="0" u="none" strike="noStrike" baseline="0" dirty="0">
                <a:latin typeface="Times New Roman" panose="02020603050405020304" pitchFamily="18" charset="0"/>
              </a:rPr>
              <a:t>Adder, Divider, Multiplier, Subtractor </a:t>
            </a:r>
            <a:r>
              <a:rPr lang="el-GR" sz="1800" b="0" i="0" u="none" strike="noStrike" baseline="0" dirty="0">
                <a:latin typeface="Times New Roman" panose="02020603050405020304" pitchFamily="18" charset="0"/>
              </a:rPr>
              <a:t>και </a:t>
            </a:r>
            <a:r>
              <a:rPr lang="en-GB" sz="1800" b="0" i="0" u="none" strike="noStrike" baseline="0" dirty="0" err="1">
                <a:latin typeface="Times New Roman" panose="02020603050405020304" pitchFamily="18" charset="0"/>
              </a:rPr>
              <a:t>ResultPresenter</a:t>
            </a:r>
            <a:r>
              <a:rPr lang="en-GB" sz="1800" b="0" i="0" u="none" strike="noStrike" baseline="0" dirty="0">
                <a:latin typeface="Times New Roman" panose="02020603050405020304" pitchFamily="18" charset="0"/>
              </a:rPr>
              <a:t> </a:t>
            </a:r>
            <a:r>
              <a:rPr lang="el-GR" sz="1800" b="0" i="0" u="none" strike="noStrike" baseline="0" dirty="0">
                <a:latin typeface="Times New Roman" panose="02020603050405020304" pitchFamily="18" charset="0"/>
              </a:rPr>
              <a:t>βρίσκονται στο πακέτο </a:t>
            </a:r>
            <a:r>
              <a:rPr lang="en-GB" sz="1800" b="0" i="0" u="none" strike="noStrike" baseline="0" dirty="0">
                <a:latin typeface="Times New Roman" panose="02020603050405020304" pitchFamily="18" charset="0"/>
              </a:rPr>
              <a:t>operators. </a:t>
            </a:r>
          </a:p>
          <a:p>
            <a:r>
              <a:rPr lang="el-GR" sz="1800" b="0" i="0" u="none" strike="noStrike" baseline="0" dirty="0">
                <a:latin typeface="Times New Roman" panose="02020603050405020304" pitchFamily="18" charset="0"/>
              </a:rPr>
              <a:t>4. Η κλάση </a:t>
            </a:r>
            <a:r>
              <a:rPr lang="el-GR" sz="1800" b="0" i="0" u="none" strike="noStrike" baseline="0" dirty="0" err="1">
                <a:latin typeface="Times New Roman" panose="02020603050405020304" pitchFamily="18" charset="0"/>
              </a:rPr>
              <a:t>CalculatorGui</a:t>
            </a:r>
            <a:r>
              <a:rPr lang="el-GR" sz="1800" b="0" i="0" u="none" strike="noStrike" baseline="0" dirty="0">
                <a:latin typeface="Times New Roman" panose="02020603050405020304" pitchFamily="18" charset="0"/>
              </a:rPr>
              <a:t> (γραφική </a:t>
            </a:r>
            <a:r>
              <a:rPr lang="el-GR" sz="1800" b="0" i="0" u="none" strike="noStrike" baseline="0" dirty="0" err="1">
                <a:latin typeface="Times New Roman" panose="02020603050405020304" pitchFamily="18" charset="0"/>
              </a:rPr>
              <a:t>διεπαφή</a:t>
            </a:r>
            <a:r>
              <a:rPr lang="el-GR" sz="1800" b="0" i="0" u="none" strike="noStrike" baseline="0" dirty="0">
                <a:latin typeface="Times New Roman" panose="02020603050405020304" pitchFamily="18" charset="0"/>
              </a:rPr>
              <a:t>) περιέχεται στη βιβλιοθήκη </a:t>
            </a:r>
            <a:r>
              <a:rPr lang="el-GR" sz="1800" b="1" i="0" u="none" strike="noStrike" baseline="0" dirty="0">
                <a:latin typeface="Times New Roman" panose="02020603050405020304" pitchFamily="18" charset="0"/>
              </a:rPr>
              <a:t>CalcGuiActivity3V1 .</a:t>
            </a:r>
            <a:r>
              <a:rPr lang="el-GR" sz="1800" b="1" i="0" u="none" strike="noStrike" baseline="0">
                <a:latin typeface="Times New Roman" panose="02020603050405020304" pitchFamily="18" charset="0"/>
              </a:rPr>
              <a:t>jar</a:t>
            </a:r>
            <a:r>
              <a:rPr lang="el-GR" sz="1800" b="1" i="0" u="none" strike="noStrike" baseline="0">
                <a:solidFill>
                  <a:srgbClr val="000000"/>
                </a:solidFill>
                <a:latin typeface="Calibri" panose="020F0502020204030204" pitchFamily="34" charset="0"/>
              </a:rPr>
              <a:t> </a:t>
            </a:r>
            <a:r>
              <a:rPr lang="el-GR" sz="1800" b="0" i="0" u="none" strike="noStrike" baseline="0" dirty="0">
                <a:solidFill>
                  <a:srgbClr val="000000"/>
                </a:solidFill>
                <a:latin typeface="Times New Roman" panose="02020603050405020304" pitchFamily="18" charset="0"/>
              </a:rPr>
              <a:t>και πιο συγκεκριμένα στο πακέτο </a:t>
            </a:r>
            <a:r>
              <a:rPr lang="el-GR" sz="1800" b="0" i="0" u="none" strike="noStrike" baseline="0" dirty="0" err="1">
                <a:solidFill>
                  <a:srgbClr val="000000"/>
                </a:solidFill>
                <a:latin typeface="Times New Roman" panose="02020603050405020304" pitchFamily="18" charset="0"/>
              </a:rPr>
              <a:t>gui</a:t>
            </a:r>
            <a:r>
              <a:rPr lang="el-GR" sz="1800" b="0" i="0" u="none" strike="noStrike" baseline="0" dirty="0">
                <a:solidFill>
                  <a:srgbClr val="000000"/>
                </a:solidFill>
                <a:latin typeface="Times New Roman" panose="02020603050405020304" pitchFamily="18" charset="0"/>
              </a:rPr>
              <a:t>. </a:t>
            </a:r>
          </a:p>
          <a:p>
            <a:endParaRPr lang="en-GB" dirty="0"/>
          </a:p>
        </p:txBody>
      </p:sp>
      <p:sp>
        <p:nvSpPr>
          <p:cNvPr id="7" name="Θέση υποσέλιδου 4">
            <a:extLst>
              <a:ext uri="{FF2B5EF4-FFF2-40B4-BE49-F238E27FC236}">
                <a16:creationId xmlns:a16="http://schemas.microsoft.com/office/drawing/2014/main" id="{BA50293C-0B9E-CF1E-34F7-988AE652ED80}"/>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120427023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E80D059-BDC8-7A2B-0133-B65E9C243744}"/>
              </a:ext>
            </a:extLst>
          </p:cNvPr>
          <p:cNvPicPr>
            <a:picLocks noChangeAspect="1"/>
          </p:cNvPicPr>
          <p:nvPr/>
        </p:nvPicPr>
        <p:blipFill>
          <a:blip r:embed="rId3"/>
          <a:stretch>
            <a:fillRect/>
          </a:stretch>
        </p:blipFill>
        <p:spPr>
          <a:xfrm>
            <a:off x="5790968" y="719330"/>
            <a:ext cx="6401032" cy="2709670"/>
          </a:xfrm>
          <a:prstGeom prst="rect">
            <a:avLst/>
          </a:prstGeom>
        </p:spPr>
      </p:pic>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fontScale="90000"/>
          </a:bodyPr>
          <a:lstStyle/>
          <a:p>
            <a:r>
              <a:rPr lang="en-GB" sz="4000" b="1" dirty="0">
                <a:solidFill>
                  <a:srgbClr val="F9853D"/>
                </a:solidFill>
                <a:latin typeface="Bahnschrift" panose="020B0502040204020203" pitchFamily="34" charset="0"/>
              </a:rPr>
              <a:t>Class </a:t>
            </a:r>
            <a:r>
              <a:rPr lang="en-GB" sz="4000" b="1" dirty="0" err="1">
                <a:solidFill>
                  <a:srgbClr val="F9853D"/>
                </a:solidFill>
                <a:latin typeface="Bahnschrift" panose="020B0502040204020203" pitchFamily="34" charset="0"/>
              </a:rPr>
              <a:t>RpnCalculator</a:t>
            </a:r>
            <a:r>
              <a:rPr lang="en-GB" sz="4000" b="1" dirty="0">
                <a:solidFill>
                  <a:srgbClr val="F9853D"/>
                </a:solidFill>
                <a:latin typeface="Bahnschrift" panose="020B0502040204020203" pitchFamily="34" charset="0"/>
              </a:rPr>
              <a:t> – Structure and Responsibilities?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Rectangle 62">
            <a:extLst>
              <a:ext uri="{FF2B5EF4-FFF2-40B4-BE49-F238E27FC236}">
                <a16:creationId xmlns:a16="http://schemas.microsoft.com/office/drawing/2014/main" id="{9FDC38BF-C080-40EA-8C63-C8635279925E}"/>
              </a:ext>
            </a:extLst>
          </p:cNvPr>
          <p:cNvSpPr txBox="1">
            <a:spLocks noChangeArrowheads="1"/>
          </p:cNvSpPr>
          <p:nvPr/>
        </p:nvSpPr>
        <p:spPr bwMode="auto">
          <a:xfrm>
            <a:off x="240261" y="758816"/>
            <a:ext cx="8064500" cy="5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l-GR" altLang="el-GR" sz="3200" b="1" i="0" u="none" strike="noStrike" kern="0" cap="none" spc="0" normalizeH="0" baseline="0" noProof="0" dirty="0" err="1">
                <a:ln>
                  <a:noFill/>
                </a:ln>
                <a:solidFill>
                  <a:srgbClr val="000000"/>
                </a:solidFill>
                <a:effectLst/>
                <a:uLnTx/>
                <a:uFillTx/>
                <a:latin typeface="Tahoma"/>
                <a:ea typeface="+mn-ea"/>
                <a:cs typeface="+mn-cs"/>
              </a:rPr>
              <a:t>class</a:t>
            </a:r>
            <a:r>
              <a:rPr kumimoji="0" lang="el-GR" altLang="el-GR" sz="3200" b="1" i="0" u="none" strike="noStrike" kern="0" cap="none" spc="0" normalizeH="0" baseline="0" noProof="0" dirty="0">
                <a:ln>
                  <a:noFill/>
                </a:ln>
                <a:solidFill>
                  <a:srgbClr val="000000"/>
                </a:solidFill>
                <a:effectLst/>
                <a:uLnTx/>
                <a:uFillTx/>
                <a:latin typeface="Tahoma"/>
                <a:ea typeface="+mn-ea"/>
                <a:cs typeface="+mn-cs"/>
              </a:rPr>
              <a:t> </a:t>
            </a:r>
            <a:r>
              <a:rPr lang="en-GB" altLang="el-GR" b="1" kern="0" dirty="0" err="1">
                <a:solidFill>
                  <a:srgbClr val="FF0000"/>
                </a:solidFill>
                <a:latin typeface="Tahoma"/>
              </a:rPr>
              <a:t>Rpn</a:t>
            </a:r>
            <a:r>
              <a:rPr kumimoji="0" lang="en-US" altLang="el-GR" sz="3200" b="1" i="0" u="none" strike="noStrike" kern="0" cap="none" spc="0" normalizeH="0" baseline="0" noProof="0" dirty="0">
                <a:ln>
                  <a:noFill/>
                </a:ln>
                <a:solidFill>
                  <a:srgbClr val="FF0000"/>
                </a:solidFill>
                <a:effectLst/>
                <a:uLnTx/>
                <a:uFillTx/>
                <a:latin typeface="Tahoma"/>
                <a:ea typeface="+mn-ea"/>
                <a:cs typeface="+mn-cs"/>
              </a:rPr>
              <a:t>Calculator</a:t>
            </a:r>
            <a:r>
              <a:rPr kumimoji="0" lang="el-GR" altLang="el-GR" sz="3200" b="1" i="0" u="none" strike="noStrike" kern="0" cap="none" spc="0" normalizeH="0" baseline="0" noProof="0" dirty="0">
                <a:ln>
                  <a:noFill/>
                </a:ln>
                <a:solidFill>
                  <a:srgbClr val="000000"/>
                </a:solidFill>
                <a:effectLst/>
                <a:uLnTx/>
                <a:uFillTx/>
                <a:latin typeface="Tahoma"/>
                <a:ea typeface="+mn-ea"/>
                <a:cs typeface="+mn-cs"/>
              </a:rPr>
              <a:t> {</a:t>
            </a:r>
            <a:endParaRPr kumimoji="0" lang="en-US" altLang="el-GR" sz="3200" b="1"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r>
              <a:rPr kumimoji="0" lang="en-US" altLang="el-GR" sz="3200" b="0" i="0" u="none" strike="noStrike" kern="0" cap="none" spc="0" normalizeH="0" baseline="0" noProof="0" dirty="0">
                <a:ln>
                  <a:noFill/>
                </a:ln>
                <a:solidFill>
                  <a:srgbClr val="000000"/>
                </a:solidFill>
                <a:effectLst/>
                <a:uLnTx/>
                <a:uFillTx/>
                <a:latin typeface="Tahoma"/>
                <a:ea typeface="+mn-ea"/>
                <a:cs typeface="+mn-cs"/>
              </a:rPr>
              <a:t>//data members</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r>
              <a:rPr kumimoji="0" lang="en-US" altLang="el-GR" sz="3200" b="0" i="0" u="none" strike="noStrike" kern="0" cap="none" spc="0" normalizeH="0" baseline="0" noProof="0" dirty="0">
                <a:ln>
                  <a:noFill/>
                </a:ln>
                <a:solidFill>
                  <a:srgbClr val="000000"/>
                </a:solidFill>
                <a:effectLst/>
                <a:uLnTx/>
                <a:uFillTx/>
                <a:latin typeface="Tahoma"/>
                <a:ea typeface="+mn-ea"/>
                <a:cs typeface="+mn-cs"/>
              </a:rPr>
              <a:t>// methods</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public static void </a:t>
            </a:r>
            <a:r>
              <a:rPr kumimoji="0" lang="en-US" altLang="el-GR" sz="3200" b="1" i="0" u="none" strike="noStrike" kern="0" cap="none" spc="0" normalizeH="0" baseline="0" noProof="0" dirty="0">
                <a:ln>
                  <a:noFill/>
                </a:ln>
                <a:solidFill>
                  <a:srgbClr val="800000"/>
                </a:solidFill>
                <a:effectLst/>
                <a:uLnTx/>
                <a:uFillTx/>
                <a:latin typeface="Tahoma"/>
                <a:ea typeface="+mn-ea"/>
                <a:cs typeface="+mn-cs"/>
              </a:rPr>
              <a:t>main</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r>
              <a:rPr kumimoji="0" lang="en-US" altLang="el-GR" sz="3200" b="1" i="0" u="none" strike="noStrike" kern="0" cap="none" spc="0" normalizeH="0" baseline="0" noProof="0" dirty="0">
                <a:ln>
                  <a:noFill/>
                </a:ln>
                <a:solidFill>
                  <a:srgbClr val="FF0000"/>
                </a:solidFill>
                <a:effectLst/>
                <a:uLnTx/>
                <a:uFillTx/>
                <a:latin typeface="Tahoma"/>
                <a:ea typeface="+mn-ea"/>
                <a:cs typeface="+mn-cs"/>
              </a:rPr>
              <a:t>?</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lang="en-US" altLang="el-GR" b="1" kern="0" dirty="0">
              <a:solidFill>
                <a:srgbClr val="000000"/>
              </a:solidFill>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US" altLang="el-GR" sz="3200" b="1"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lang="en-US" altLang="el-GR" b="1" kern="0" dirty="0">
                <a:solidFill>
                  <a:srgbClr val="000000"/>
                </a:solidFill>
                <a:latin typeface="Tahoma"/>
              </a:rPr>
              <a:t>		</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a:t>
            </a:r>
            <a:r>
              <a:rPr kumimoji="0" lang="el-GR" altLang="el-GR" sz="3200" b="1" i="0" u="none" strike="noStrike" kern="0" cap="none" spc="0" normalizeH="0" baseline="0" noProof="0" dirty="0">
                <a:ln>
                  <a:noFill/>
                </a:ln>
                <a:solidFill>
                  <a:srgbClr val="000000"/>
                </a:solidFill>
                <a:effectLst/>
                <a:uLnTx/>
                <a:uFillTx/>
                <a:latin typeface="Tahoma"/>
                <a:ea typeface="+mn-ea"/>
                <a:cs typeface="+mn-cs"/>
              </a:rPr>
              <a:t>}</a:t>
            </a:r>
            <a:endParaRPr kumimoji="0" lang="en-US" altLang="el-GR" sz="3200" b="1" i="0" u="none" strike="noStrike" kern="0" cap="none" spc="0" normalizeH="0" baseline="0" noProof="0" dirty="0">
              <a:ln>
                <a:noFill/>
              </a:ln>
              <a:solidFill>
                <a:srgbClr val="000000"/>
              </a:solidFill>
              <a:effectLst/>
              <a:uLnTx/>
              <a:uFillTx/>
              <a:latin typeface="Tahoma"/>
              <a:ea typeface="+mn-ea"/>
              <a:cs typeface="+mn-cs"/>
            </a:endParaRPr>
          </a:p>
        </p:txBody>
      </p:sp>
      <p:sp>
        <p:nvSpPr>
          <p:cNvPr id="5" name="TextBox 4">
            <a:extLst>
              <a:ext uri="{FF2B5EF4-FFF2-40B4-BE49-F238E27FC236}">
                <a16:creationId xmlns:a16="http://schemas.microsoft.com/office/drawing/2014/main" id="{8425E641-63EB-EBA8-8200-9AC2352647D6}"/>
              </a:ext>
            </a:extLst>
          </p:cNvPr>
          <p:cNvSpPr txBox="1"/>
          <p:nvPr/>
        </p:nvSpPr>
        <p:spPr>
          <a:xfrm>
            <a:off x="9425353" y="3468485"/>
            <a:ext cx="2625978" cy="1200329"/>
          </a:xfrm>
          <a:prstGeom prst="rect">
            <a:avLst/>
          </a:prstGeom>
          <a:solidFill>
            <a:schemeClr val="accent6">
              <a:lumMod val="75000"/>
            </a:schemeClr>
          </a:solidFill>
        </p:spPr>
        <p:txBody>
          <a:bodyPr wrap="square" rtlCol="0">
            <a:spAutoFit/>
          </a:bodyPr>
          <a:lstStyle/>
          <a:p>
            <a:pPr algn="ctr"/>
            <a:r>
              <a:rPr lang="el-GR" dirty="0"/>
              <a:t>Οι εξαρτήσεις επιβάλουν μια ακολουθία στην σειρά δημιουργίας των </a:t>
            </a:r>
            <a:r>
              <a:rPr lang="el-GR" dirty="0" err="1"/>
              <a:t>στιγμιοτύπων</a:t>
            </a:r>
            <a:r>
              <a:rPr lang="el-GR" dirty="0"/>
              <a:t>.</a:t>
            </a:r>
            <a:endParaRPr lang="en-GB" dirty="0"/>
          </a:p>
        </p:txBody>
      </p:sp>
      <p:sp>
        <p:nvSpPr>
          <p:cNvPr id="7" name="Θέση υποσέλιδου 4">
            <a:extLst>
              <a:ext uri="{FF2B5EF4-FFF2-40B4-BE49-F238E27FC236}">
                <a16:creationId xmlns:a16="http://schemas.microsoft.com/office/drawing/2014/main" id="{30D68BF5-B385-85F2-D8CB-30426AF23220}"/>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318601498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dissolv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dissolv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dissolv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dissolve">
                                      <p:cBhvr>
                                        <p:cTn id="37" dur="500"/>
                                        <p:tgtEl>
                                          <p:spTgt spid="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dissolve">
                                      <p:cBhvr>
                                        <p:cTn id="42" dur="500"/>
                                        <p:tgtEl>
                                          <p:spTgt spid="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RPN Calculator project</a:t>
            </a:r>
            <a:r>
              <a:rPr lang="el-GR" sz="4000" b="1" dirty="0">
                <a:solidFill>
                  <a:srgbClr val="F9853D"/>
                </a:solidFill>
                <a:latin typeface="Bahnschrift" panose="020B0502040204020203" pitchFamily="34" charset="0"/>
              </a:rPr>
              <a:t> (</a:t>
            </a:r>
            <a:r>
              <a:rPr lang="en-GB" sz="4000" b="1" dirty="0" err="1">
                <a:solidFill>
                  <a:srgbClr val="F9853D"/>
                </a:solidFill>
                <a:latin typeface="Bahnschrift" panose="020B0502040204020203" pitchFamily="34" charset="0"/>
              </a:rPr>
              <a:t>BlueJ</a:t>
            </a:r>
            <a:r>
              <a:rPr lang="en-GB" sz="4000" b="1" dirty="0">
                <a:solidFill>
                  <a:srgbClr val="F9853D"/>
                </a:solidFill>
                <a:latin typeface="Bahnschrift" panose="020B0502040204020203" pitchFamily="34" charset="0"/>
              </a:rPr>
              <a:t>) </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pic>
        <p:nvPicPr>
          <p:cNvPr id="5" name="Picture 6">
            <a:extLst>
              <a:ext uri="{FF2B5EF4-FFF2-40B4-BE49-F238E27FC236}">
                <a16:creationId xmlns:a16="http://schemas.microsoft.com/office/drawing/2014/main" id="{3AC876AB-5591-A8FA-8923-50ACC5DDC6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829" y="1196975"/>
            <a:ext cx="7058025"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a:extLst>
              <a:ext uri="{FF2B5EF4-FFF2-40B4-BE49-F238E27FC236}">
                <a16:creationId xmlns:a16="http://schemas.microsoft.com/office/drawing/2014/main" id="{E5E5988C-36F5-25F6-106B-E2A39D1DC83D}"/>
              </a:ext>
            </a:extLst>
          </p:cNvPr>
          <p:cNvSpPr txBox="1">
            <a:spLocks noChangeArrowheads="1"/>
          </p:cNvSpPr>
          <p:nvPr/>
        </p:nvSpPr>
        <p:spPr bwMode="auto">
          <a:xfrm>
            <a:off x="4073236" y="719331"/>
            <a:ext cx="889317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public class </a:t>
            </a:r>
            <a:r>
              <a:rPr kumimoji="0" lang="en-US" altLang="el-GR" sz="2000" b="1" i="0" u="none" strike="noStrike" kern="0" cap="none" spc="0" normalizeH="0" baseline="0" noProof="0" dirty="0" err="1">
                <a:ln>
                  <a:noFill/>
                </a:ln>
                <a:solidFill>
                  <a:srgbClr val="000000"/>
                </a:solidFill>
                <a:effectLst/>
                <a:uLnTx/>
                <a:uFillTx/>
                <a:latin typeface="Tahoma" panose="020B0604030504040204" pitchFamily="34" charset="0"/>
              </a:rPr>
              <a:t>MyCalculatorGui</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000" b="0" i="0" u="none" strike="noStrike" kern="0" cap="none" spc="0" normalizeH="0" baseline="0" noProof="0" dirty="0">
                <a:ln>
                  <a:noFill/>
                </a:ln>
                <a:solidFill>
                  <a:srgbClr val="FF0000"/>
                </a:solidFill>
                <a:effectLst/>
                <a:uLnTx/>
                <a:uFillTx/>
                <a:latin typeface="Tahoma" panose="020B0604030504040204" pitchFamily="34" charset="0"/>
              </a:rPr>
              <a:t>extends</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 CalculatorGui {</a:t>
            </a:r>
          </a:p>
          <a:p>
            <a:pPr marL="0" marR="0" lvl="0" indent="0" defTabSz="914400" eaLnBrk="1" fontAlgn="base" latinLnBrk="0" hangingPunct="1">
              <a:lnSpc>
                <a:spcPct val="100000"/>
              </a:lnSpc>
              <a:spcBef>
                <a:spcPct val="0"/>
              </a:spcBef>
              <a:spcAft>
                <a:spcPct val="0"/>
              </a:spcAft>
              <a:buClrTx/>
              <a:buSzTx/>
              <a:buFontTx/>
              <a:buNone/>
              <a:tabLst/>
              <a:defRPr/>
            </a:pPr>
            <a:r>
              <a:rPr lang="el-GR" altLang="el-GR" sz="2000" kern="0" dirty="0">
                <a:solidFill>
                  <a:srgbClr val="000000"/>
                </a:solidFill>
              </a:rPr>
              <a:t>     	</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public </a:t>
            </a:r>
            <a:r>
              <a:rPr kumimoji="0" lang="en-US" altLang="el-GR" sz="2000" b="0" i="0" u="none" strike="noStrike" kern="0" cap="none" spc="0" normalizeH="0" baseline="0" noProof="0" dirty="0" err="1">
                <a:ln>
                  <a:noFill/>
                </a:ln>
                <a:solidFill>
                  <a:srgbClr val="000000"/>
                </a:solidFill>
                <a:effectLst/>
                <a:uLnTx/>
                <a:uFillTx/>
                <a:latin typeface="Tahoma" panose="020B0604030504040204" pitchFamily="34" charset="0"/>
              </a:rPr>
              <a:t>MyCalculatorGui</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(Operand op, Adder add, Subtracter</a:t>
            </a:r>
            <a:endParaRPr kumimoji="0" lang="el-GR" altLang="el-GR" sz="20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lang="el-GR" altLang="el-GR" sz="2000" kern="0" dirty="0">
                <a:solidFill>
                  <a:srgbClr val="000000"/>
                </a:solidFill>
              </a:rPr>
              <a:t>	</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 sub, Multiplier </a:t>
            </a:r>
            <a:r>
              <a:rPr kumimoji="0" lang="en-US" altLang="el-GR" sz="2000" b="0" i="0" u="none" strike="noStrike" kern="0" cap="none" spc="0" normalizeH="0" baseline="0" noProof="0" dirty="0" err="1">
                <a:ln>
                  <a:noFill/>
                </a:ln>
                <a:solidFill>
                  <a:srgbClr val="000000"/>
                </a:solidFill>
                <a:effectLst/>
                <a:uLnTx/>
                <a:uFillTx/>
                <a:latin typeface="Tahoma" panose="020B0604030504040204" pitchFamily="34" charset="0"/>
              </a:rPr>
              <a:t>mul</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 Divider div,</a:t>
            </a:r>
            <a:r>
              <a:rPr kumimoji="0" lang="el-GR" altLang="el-GR" sz="20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000" b="0" i="0" u="none" strike="noStrike" kern="0" cap="none" spc="0" normalizeH="0" baseline="0" noProof="0" dirty="0" err="1">
                <a:ln>
                  <a:noFill/>
                </a:ln>
                <a:solidFill>
                  <a:srgbClr val="000000"/>
                </a:solidFill>
                <a:effectLst/>
                <a:uLnTx/>
                <a:uFillTx/>
                <a:latin typeface="Tahoma" panose="020B0604030504040204" pitchFamily="34" charset="0"/>
              </a:rPr>
              <a:t>ResultPresenter</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000" b="0" i="0" u="none" strike="noStrike" kern="0" cap="none" spc="0" normalizeH="0" baseline="0" noProof="0" dirty="0" err="1">
                <a:ln>
                  <a:noFill/>
                </a:ln>
                <a:solidFill>
                  <a:srgbClr val="000000"/>
                </a:solidFill>
                <a:effectLst/>
                <a:uLnTx/>
                <a:uFillTx/>
                <a:latin typeface="Tahoma" panose="020B0604030504040204" pitchFamily="34" charset="0"/>
              </a:rPr>
              <a:t>rp</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000" b="1" i="0" u="none" strike="noStrike" kern="0" cap="none" spc="0" normalizeH="0" baseline="0" noProof="0" dirty="0">
                <a:ln>
                  <a:noFill/>
                </a:ln>
                <a:solidFill>
                  <a:srgbClr val="FF0000"/>
                </a:solidFill>
                <a:effectLst/>
                <a:uLnTx/>
                <a:uFillTx/>
                <a:latin typeface="Tahoma" panose="020B0604030504040204" pitchFamily="34" charset="0"/>
              </a:rPr>
              <a:t>super</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(op, add, sub, </a:t>
            </a:r>
            <a:r>
              <a:rPr kumimoji="0" lang="en-US" altLang="el-GR" sz="2000" b="0" i="0" u="none" strike="noStrike" kern="0" cap="none" spc="0" normalizeH="0" baseline="0" noProof="0" dirty="0" err="1">
                <a:ln>
                  <a:noFill/>
                </a:ln>
                <a:solidFill>
                  <a:srgbClr val="000000"/>
                </a:solidFill>
                <a:effectLst/>
                <a:uLnTx/>
                <a:uFillTx/>
                <a:latin typeface="Tahoma" panose="020B0604030504040204" pitchFamily="34" charset="0"/>
              </a:rPr>
              <a:t>mul</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 div, </a:t>
            </a:r>
            <a:r>
              <a:rPr kumimoji="0" lang="en-US" altLang="el-GR" sz="2000" b="0" i="0" u="none" strike="noStrike" kern="0" cap="none" spc="0" normalizeH="0" baseline="0" noProof="0" dirty="0" err="1">
                <a:ln>
                  <a:noFill/>
                </a:ln>
                <a:solidFill>
                  <a:srgbClr val="000000"/>
                </a:solidFill>
                <a:effectLst/>
                <a:uLnTx/>
                <a:uFillTx/>
                <a:latin typeface="Tahoma" panose="020B0604030504040204" pitchFamily="34" charset="0"/>
              </a:rPr>
              <a:t>rp</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a:t>
            </a:r>
            <a:endParaRPr kumimoji="0" lang="el-GR" altLang="el-GR" sz="20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lang="el-GR" altLang="el-GR" sz="2000" kern="0" dirty="0">
                <a:solidFill>
                  <a:srgbClr val="000000"/>
                </a:solidFill>
              </a:rPr>
              <a:t>	</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a:t>
            </a:r>
          </a:p>
        </p:txBody>
      </p:sp>
      <p:sp>
        <p:nvSpPr>
          <p:cNvPr id="4" name="Θέση υποσέλιδου 4">
            <a:extLst>
              <a:ext uri="{FF2B5EF4-FFF2-40B4-BE49-F238E27FC236}">
                <a16:creationId xmlns:a16="http://schemas.microsoft.com/office/drawing/2014/main" id="{2D9599C9-1AD4-616B-A56B-EE5BF09C7AC6}"/>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376118006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RPN Calculator project (</a:t>
            </a:r>
            <a:r>
              <a:rPr lang="en-GB" sz="4000" b="1" dirty="0" err="1">
                <a:solidFill>
                  <a:srgbClr val="F9853D"/>
                </a:solidFill>
                <a:latin typeface="Bahnschrift" panose="020B0502040204020203" pitchFamily="34" charset="0"/>
              </a:rPr>
              <a:t>BlueJ</a:t>
            </a:r>
            <a:r>
              <a:rPr lang="en-GB" sz="4000" b="1" dirty="0">
                <a:solidFill>
                  <a:srgbClr val="F9853D"/>
                </a:solidFill>
                <a:latin typeface="Bahnschrift" panose="020B0502040204020203" pitchFamily="34" charset="0"/>
              </a:rPr>
              <a:t>) </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pic>
        <p:nvPicPr>
          <p:cNvPr id="4" name="Picture 3">
            <a:extLst>
              <a:ext uri="{FF2B5EF4-FFF2-40B4-BE49-F238E27FC236}">
                <a16:creationId xmlns:a16="http://schemas.microsoft.com/office/drawing/2014/main" id="{FCE5E3D8-9A66-02FC-2B59-22DEAB9796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06438"/>
            <a:ext cx="5519651" cy="4386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a:extLst>
              <a:ext uri="{FF2B5EF4-FFF2-40B4-BE49-F238E27FC236}">
                <a16:creationId xmlns:a16="http://schemas.microsoft.com/office/drawing/2014/main" id="{4F69340B-441F-BA2C-CABC-BEBEB57E69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8676" y="1315980"/>
            <a:ext cx="6334298" cy="4959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Θέση υποσέλιδου 4">
            <a:extLst>
              <a:ext uri="{FF2B5EF4-FFF2-40B4-BE49-F238E27FC236}">
                <a16:creationId xmlns:a16="http://schemas.microsoft.com/office/drawing/2014/main" id="{4B83994E-CDD3-9216-B21F-64E2A85A8EDD}"/>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370275696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Rectangle 3">
            <a:extLst>
              <a:ext uri="{FF2B5EF4-FFF2-40B4-BE49-F238E27FC236}">
                <a16:creationId xmlns:a16="http://schemas.microsoft.com/office/drawing/2014/main" id="{F569FD65-6C32-4251-AC14-0AD042ADB2C6}"/>
              </a:ext>
            </a:extLst>
          </p:cNvPr>
          <p:cNvSpPr txBox="1">
            <a:spLocks noChangeArrowheads="1"/>
          </p:cNvSpPr>
          <p:nvPr/>
        </p:nvSpPr>
        <p:spPr bwMode="auto">
          <a:xfrm>
            <a:off x="355598" y="1368491"/>
            <a:ext cx="11480801" cy="3901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90000"/>
              </a:lnSpc>
              <a:buClr>
                <a:srgbClr val="3333CC"/>
              </a:buClr>
            </a:pPr>
            <a:r>
              <a:rPr lang="en-US" altLang="el-GR" dirty="0">
                <a:solidFill>
                  <a:srgbClr val="000000"/>
                </a:solidFill>
                <a:latin typeface="Tahoma"/>
              </a:rPr>
              <a:t>RPN Calculator </a:t>
            </a:r>
            <a:r>
              <a:rPr lang="el-GR" altLang="el-GR" dirty="0">
                <a:solidFill>
                  <a:srgbClr val="000000"/>
                </a:solidFill>
                <a:latin typeface="Tahoma"/>
              </a:rPr>
              <a:t>με γραφική </a:t>
            </a:r>
            <a:r>
              <a:rPr lang="el-GR" altLang="el-GR" dirty="0" err="1">
                <a:solidFill>
                  <a:srgbClr val="000000"/>
                </a:solidFill>
                <a:latin typeface="Tahoma"/>
              </a:rPr>
              <a:t>διεπαφή</a:t>
            </a:r>
            <a:endParaRPr lang="el-GR" altLang="el-GR" dirty="0">
              <a:solidFill>
                <a:srgbClr val="000000"/>
              </a:solidFill>
              <a:latin typeface="Tahoma"/>
            </a:endParaRPr>
          </a:p>
          <a:p>
            <a:pPr lvl="1" eaLnBrk="1" hangingPunct="1">
              <a:lnSpc>
                <a:spcPct val="90000"/>
              </a:lnSpc>
              <a:buClr>
                <a:srgbClr val="3333CC"/>
              </a:buClr>
            </a:pPr>
            <a:r>
              <a:rPr lang="el-GR" altLang="el-GR" dirty="0">
                <a:solidFill>
                  <a:srgbClr val="000000"/>
                </a:solidFill>
                <a:latin typeface="Tahoma"/>
              </a:rPr>
              <a:t>δομή εφαρμογής</a:t>
            </a:r>
          </a:p>
          <a:p>
            <a:pPr lvl="1" eaLnBrk="1" hangingPunct="1">
              <a:lnSpc>
                <a:spcPct val="90000"/>
              </a:lnSpc>
              <a:buClr>
                <a:srgbClr val="3333CC"/>
              </a:buClr>
            </a:pPr>
            <a:r>
              <a:rPr lang="el-GR" altLang="el-GR" dirty="0">
                <a:solidFill>
                  <a:srgbClr val="000000"/>
                </a:solidFill>
                <a:latin typeface="Tahoma"/>
              </a:rPr>
              <a:t>αρμοδιότητες (</a:t>
            </a:r>
            <a:r>
              <a:rPr lang="en-GB" altLang="el-GR" dirty="0">
                <a:solidFill>
                  <a:srgbClr val="000000"/>
                </a:solidFill>
                <a:latin typeface="Tahoma"/>
              </a:rPr>
              <a:t>Responsibilities</a:t>
            </a:r>
            <a:r>
              <a:rPr lang="el-GR" altLang="el-GR" dirty="0">
                <a:solidFill>
                  <a:srgbClr val="000000"/>
                </a:solidFill>
                <a:latin typeface="Tahoma"/>
              </a:rPr>
              <a:t>) συνιστωσών</a:t>
            </a:r>
          </a:p>
          <a:p>
            <a:pPr lvl="1" eaLnBrk="1" hangingPunct="1">
              <a:lnSpc>
                <a:spcPct val="90000"/>
              </a:lnSpc>
              <a:buClr>
                <a:srgbClr val="3333CC"/>
              </a:buClr>
            </a:pPr>
            <a:r>
              <a:rPr lang="el-GR" altLang="el-GR" kern="0" dirty="0">
                <a:solidFill>
                  <a:srgbClr val="000000"/>
                </a:solidFill>
                <a:latin typeface="Tahoma"/>
              </a:rPr>
              <a:t>αλληλεπιδράσεις συνιστωσών </a:t>
            </a:r>
            <a:endParaRPr lang="en-GB" altLang="el-GR" kern="0" dirty="0">
              <a:solidFill>
                <a:srgbClr val="000000"/>
              </a:solidFill>
              <a:latin typeface="Tahoma"/>
            </a:endParaRPr>
          </a:p>
          <a:p>
            <a:pPr eaLnBrk="1" hangingPunct="1">
              <a:lnSpc>
                <a:spcPct val="90000"/>
              </a:lnSpc>
              <a:buClr>
                <a:srgbClr val="3333CC"/>
              </a:buClr>
            </a:pPr>
            <a:r>
              <a:rPr lang="en-GB" altLang="el-GR" kern="0" dirty="0">
                <a:solidFill>
                  <a:srgbClr val="000000"/>
                </a:solidFill>
                <a:latin typeface="Tahoma"/>
              </a:rPr>
              <a:t>System integration</a:t>
            </a:r>
            <a:endParaRPr lang="el-GR" altLang="el-GR" kern="0" dirty="0">
              <a:solidFill>
                <a:srgbClr val="000000"/>
              </a:solidFill>
              <a:latin typeface="Tahoma"/>
            </a:endParaRPr>
          </a:p>
          <a:p>
            <a:pPr lvl="1" eaLnBrk="1" hangingPunct="1">
              <a:lnSpc>
                <a:spcPct val="90000"/>
              </a:lnSpc>
              <a:buClr>
                <a:srgbClr val="3333CC"/>
              </a:buClr>
            </a:pPr>
            <a:r>
              <a:rPr lang="el-GR" altLang="el-GR" kern="0" dirty="0">
                <a:solidFill>
                  <a:srgbClr val="000000"/>
                </a:solidFill>
                <a:latin typeface="Tahoma"/>
              </a:rPr>
              <a:t>Χρήση </a:t>
            </a:r>
            <a:r>
              <a:rPr lang="en-GB" altLang="el-GR" kern="0" dirty="0">
                <a:solidFill>
                  <a:srgbClr val="000000"/>
                </a:solidFill>
                <a:latin typeface="Tahoma"/>
              </a:rPr>
              <a:t>third party libraries</a:t>
            </a:r>
          </a:p>
          <a:p>
            <a:pPr lvl="1" eaLnBrk="1" hangingPunct="1">
              <a:lnSpc>
                <a:spcPct val="90000"/>
              </a:lnSpc>
              <a:buClr>
                <a:srgbClr val="3333CC"/>
              </a:buClr>
            </a:pPr>
            <a:r>
              <a:rPr lang="el-GR" altLang="el-GR" kern="0" dirty="0">
                <a:solidFill>
                  <a:srgbClr val="000000"/>
                </a:solidFill>
                <a:latin typeface="Tahoma"/>
              </a:rPr>
              <a:t>Εξαρτήσεις (</a:t>
            </a:r>
            <a:r>
              <a:rPr lang="en-GB" altLang="el-GR" kern="0" dirty="0">
                <a:solidFill>
                  <a:srgbClr val="000000"/>
                </a:solidFill>
                <a:latin typeface="Tahoma"/>
              </a:rPr>
              <a:t>dependencies)</a:t>
            </a:r>
          </a:p>
          <a:p>
            <a:pPr eaLnBrk="1" hangingPunct="1">
              <a:lnSpc>
                <a:spcPct val="90000"/>
              </a:lnSpc>
              <a:buClr>
                <a:srgbClr val="3333CC"/>
              </a:buClr>
            </a:pPr>
            <a:r>
              <a:rPr lang="el-GR" altLang="el-GR" b="1" kern="0" dirty="0">
                <a:solidFill>
                  <a:srgbClr val="000000"/>
                </a:solidFill>
                <a:latin typeface="Tahoma"/>
              </a:rPr>
              <a:t>Πλήρως λειτουργική </a:t>
            </a:r>
            <a:r>
              <a:rPr lang="en-US" altLang="el-GR" b="1" dirty="0">
                <a:solidFill>
                  <a:srgbClr val="000000"/>
                </a:solidFill>
                <a:latin typeface="Tahoma"/>
              </a:rPr>
              <a:t>RPN Calculator </a:t>
            </a:r>
            <a:endParaRPr lang="en-GB" altLang="el-GR" b="1" kern="0" dirty="0">
              <a:solidFill>
                <a:srgbClr val="000000"/>
              </a:solidFill>
              <a:latin typeface="Tahoma"/>
            </a:endParaRPr>
          </a:p>
          <a:p>
            <a:pPr eaLnBrk="1" hangingPunct="1">
              <a:lnSpc>
                <a:spcPct val="90000"/>
              </a:lnSpc>
              <a:buClr>
                <a:srgbClr val="3333CC"/>
              </a:buClr>
            </a:pPr>
            <a:r>
              <a:rPr lang="en-GB" altLang="el-GR" kern="0" dirty="0">
                <a:solidFill>
                  <a:srgbClr val="000000"/>
                </a:solidFill>
                <a:latin typeface="Tahoma"/>
              </a:rPr>
              <a:t>Object Interactions</a:t>
            </a:r>
          </a:p>
        </p:txBody>
      </p:sp>
      <p:sp>
        <p:nvSpPr>
          <p:cNvPr id="5" name="Θέση υποσέλιδου 4">
            <a:extLst>
              <a:ext uri="{FF2B5EF4-FFF2-40B4-BE49-F238E27FC236}">
                <a16:creationId xmlns:a16="http://schemas.microsoft.com/office/drawing/2014/main" id="{F780CC10-F7F3-C39B-68E1-4A569A62995B}"/>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4863618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Iteration No 4 –using inheritance </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pic>
        <p:nvPicPr>
          <p:cNvPr id="4" name="Picture 4">
            <a:extLst>
              <a:ext uri="{FF2B5EF4-FFF2-40B4-BE49-F238E27FC236}">
                <a16:creationId xmlns:a16="http://schemas.microsoft.com/office/drawing/2014/main" id="{8092D0F6-3DDA-048A-A5B3-94FCD8F269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41438"/>
            <a:ext cx="9144000" cy="471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5">
            <a:extLst>
              <a:ext uri="{FF2B5EF4-FFF2-40B4-BE49-F238E27FC236}">
                <a16:creationId xmlns:a16="http://schemas.microsoft.com/office/drawing/2014/main" id="{BFC0B7CB-7D05-7470-C71F-52C95B11DE7C}"/>
              </a:ext>
            </a:extLst>
          </p:cNvPr>
          <p:cNvSpPr txBox="1">
            <a:spLocks noChangeArrowheads="1"/>
          </p:cNvSpPr>
          <p:nvPr/>
        </p:nvSpPr>
        <p:spPr bwMode="auto">
          <a:xfrm>
            <a:off x="0" y="799552"/>
            <a:ext cx="89290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rPr>
              <a:t>Υπάρχει σχέση Γενίκευσης/εξειδίκευσης (</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Gen/Spec relationship</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rPr>
              <a:t>)?</a:t>
            </a:r>
            <a:endPar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6" name="Rectangle 6">
            <a:extLst>
              <a:ext uri="{FF2B5EF4-FFF2-40B4-BE49-F238E27FC236}">
                <a16:creationId xmlns:a16="http://schemas.microsoft.com/office/drawing/2014/main" id="{96836F86-282A-557D-AED3-41B100EB4D39}"/>
              </a:ext>
            </a:extLst>
          </p:cNvPr>
          <p:cNvSpPr>
            <a:spLocks noChangeArrowheads="1"/>
          </p:cNvSpPr>
          <p:nvPr/>
        </p:nvSpPr>
        <p:spPr bwMode="auto">
          <a:xfrm>
            <a:off x="2411413" y="3644900"/>
            <a:ext cx="2592387" cy="1152525"/>
          </a:xfrm>
          <a:prstGeom prst="rect">
            <a:avLst/>
          </a:prstGeom>
          <a:solidFill>
            <a:srgbClr val="FF0000">
              <a:alpha val="23921"/>
            </a:srgbClr>
          </a:solidFill>
          <a:ln w="9525">
            <a:solidFill>
              <a:srgbClr val="FFFFFF"/>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 name="Θέση υποσέλιδου 4">
            <a:extLst>
              <a:ext uri="{FF2B5EF4-FFF2-40B4-BE49-F238E27FC236}">
                <a16:creationId xmlns:a16="http://schemas.microsoft.com/office/drawing/2014/main" id="{03E30DE3-5CC6-8678-4757-39606E753A2A}"/>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176148859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Iteration No </a:t>
            </a:r>
            <a:r>
              <a:rPr lang="el-GR" sz="4000" b="1" dirty="0">
                <a:solidFill>
                  <a:srgbClr val="F9853D"/>
                </a:solidFill>
                <a:latin typeface="Bahnschrift" panose="020B0502040204020203" pitchFamily="34" charset="0"/>
              </a:rPr>
              <a:t>5</a:t>
            </a:r>
            <a:r>
              <a:rPr lang="en-GB" sz="4000" b="1" dirty="0">
                <a:solidFill>
                  <a:srgbClr val="F9853D"/>
                </a:solidFill>
                <a:latin typeface="Bahnschrift" panose="020B0502040204020203" pitchFamily="34" charset="0"/>
              </a:rPr>
              <a:t> – using Interfaces </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E26DB777-2335-FA66-7A3F-D92F133E0F9D}"/>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C</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9" name="Rectangle 14">
            <a:extLst>
              <a:ext uri="{FF2B5EF4-FFF2-40B4-BE49-F238E27FC236}">
                <a16:creationId xmlns:a16="http://schemas.microsoft.com/office/drawing/2014/main" id="{474BC968-7856-35EB-3F83-0FF945782CFC}"/>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Θέση υποσέλιδου 4">
            <a:extLst>
              <a:ext uri="{FF2B5EF4-FFF2-40B4-BE49-F238E27FC236}">
                <a16:creationId xmlns:a16="http://schemas.microsoft.com/office/drawing/2014/main" id="{B6F9C7BF-5F38-DE0E-B30B-0F982D5C0C2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4" name="TextBox 13">
            <a:extLst>
              <a:ext uri="{FF2B5EF4-FFF2-40B4-BE49-F238E27FC236}">
                <a16:creationId xmlns:a16="http://schemas.microsoft.com/office/drawing/2014/main" id="{3586E266-B785-01DC-8B63-58B682F0891A}"/>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pic>
        <p:nvPicPr>
          <p:cNvPr id="16" name="Picture 15">
            <a:extLst>
              <a:ext uri="{FF2B5EF4-FFF2-40B4-BE49-F238E27FC236}">
                <a16:creationId xmlns:a16="http://schemas.microsoft.com/office/drawing/2014/main" id="{BE40C561-37EC-20B8-D5C2-B0C8AB4C4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287" y="935967"/>
            <a:ext cx="3960118" cy="236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Arrow: Left-Right 16">
            <a:extLst>
              <a:ext uri="{FF2B5EF4-FFF2-40B4-BE49-F238E27FC236}">
                <a16:creationId xmlns:a16="http://schemas.microsoft.com/office/drawing/2014/main" id="{179AE39C-274C-569A-93D3-701729B89DA6}"/>
              </a:ext>
            </a:extLst>
          </p:cNvPr>
          <p:cNvSpPr/>
          <p:nvPr/>
        </p:nvSpPr>
        <p:spPr bwMode="auto">
          <a:xfrm rot="3068111">
            <a:off x="3829325" y="3946094"/>
            <a:ext cx="1788886" cy="419894"/>
          </a:xfrm>
          <a:prstGeom prst="leftRightArrow">
            <a:avLst/>
          </a:prstGeom>
          <a:solidFill>
            <a:srgbClr val="FFFF00"/>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18" name="TextBox 17">
            <a:extLst>
              <a:ext uri="{FF2B5EF4-FFF2-40B4-BE49-F238E27FC236}">
                <a16:creationId xmlns:a16="http://schemas.microsoft.com/office/drawing/2014/main" id="{14B07DCE-44AA-18FF-8644-18EA40B4BA00}"/>
              </a:ext>
            </a:extLst>
          </p:cNvPr>
          <p:cNvSpPr txBox="1"/>
          <p:nvPr/>
        </p:nvSpPr>
        <p:spPr>
          <a:xfrm>
            <a:off x="4752158" y="3127332"/>
            <a:ext cx="1083212" cy="1323439"/>
          </a:xfrm>
          <a:prstGeom prst="rect">
            <a:avLst/>
          </a:prstGeom>
          <a:noFill/>
        </p:spPr>
        <p:txBody>
          <a:bodyPr wrap="square" rtlCol="0">
            <a:spAutoFit/>
          </a:bodyPr>
          <a:lstStyle/>
          <a:p>
            <a:pPr fontAlgn="base">
              <a:spcBef>
                <a:spcPct val="0"/>
              </a:spcBef>
              <a:spcAft>
                <a:spcPct val="0"/>
              </a:spcAft>
            </a:pPr>
            <a:r>
              <a:rPr lang="en-US" sz="8000" dirty="0">
                <a:solidFill>
                  <a:srgbClr val="FF0000"/>
                </a:solidFill>
                <a:latin typeface="Tahoma" panose="020B0604030504040204" pitchFamily="34" charset="0"/>
              </a:rPr>
              <a:t>?</a:t>
            </a:r>
            <a:endParaRPr lang="el-GR" sz="8000" dirty="0">
              <a:solidFill>
                <a:srgbClr val="FF0000"/>
              </a:solidFill>
              <a:latin typeface="Tahoma" panose="020B0604030504040204" pitchFamily="34" charset="0"/>
            </a:endParaRPr>
          </a:p>
        </p:txBody>
      </p:sp>
      <p:sp>
        <p:nvSpPr>
          <p:cNvPr id="19" name="AutoShape 44">
            <a:extLst>
              <a:ext uri="{FF2B5EF4-FFF2-40B4-BE49-F238E27FC236}">
                <a16:creationId xmlns:a16="http://schemas.microsoft.com/office/drawing/2014/main" id="{905FA212-8680-87D3-870A-6E2AE9B6C818}"/>
              </a:ext>
            </a:extLst>
          </p:cNvPr>
          <p:cNvSpPr>
            <a:spLocks noChangeArrowheads="1"/>
          </p:cNvSpPr>
          <p:nvPr/>
        </p:nvSpPr>
        <p:spPr bwMode="auto">
          <a:xfrm>
            <a:off x="264402" y="3904508"/>
            <a:ext cx="3889375" cy="1115240"/>
          </a:xfrm>
          <a:prstGeom prst="wedgeRectCallout">
            <a:avLst>
              <a:gd name="adj1" fmla="val -47887"/>
              <a:gd name="adj2" fmla="val 80475"/>
            </a:avLst>
          </a:prstGeom>
          <a:solidFill>
            <a:srgbClr val="FFFF00"/>
          </a:solidFill>
          <a:ln w="9525">
            <a:solidFill>
              <a:schemeClr val="bg1"/>
            </a:solidFill>
            <a:miter lim="800000"/>
            <a:headEnd/>
            <a:tailEnd/>
          </a:ln>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3200" i="0" u="none" strike="noStrike" kern="0" cap="none" spc="0" normalizeH="0" baseline="0" noProof="0" dirty="0">
                <a:ln>
                  <a:noFill/>
                </a:ln>
                <a:effectLst/>
                <a:uLnTx/>
                <a:uFillTx/>
                <a:latin typeface="Tahoma" panose="020B0604030504040204" pitchFamily="34" charset="0"/>
              </a:rPr>
              <a:t>Consider the use of</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3200" b="1" i="0" u="none" strike="noStrike" kern="0" cap="none" spc="0" normalizeH="0" baseline="0" noProof="0" dirty="0">
                <a:ln>
                  <a:noFill/>
                </a:ln>
                <a:solidFill>
                  <a:srgbClr val="C00000"/>
                </a:solidFill>
                <a:effectLst/>
                <a:uLnTx/>
                <a:uFillTx/>
                <a:latin typeface="Tahoma" panose="020B0604030504040204" pitchFamily="34" charset="0"/>
              </a:rPr>
              <a:t>interface</a:t>
            </a:r>
            <a:endParaRPr kumimoji="0" lang="en-US" altLang="el-GR" sz="3600" b="1" i="0" u="none" strike="noStrike" kern="0" cap="none" spc="0" normalizeH="0" baseline="0" noProof="0" dirty="0">
              <a:ln>
                <a:noFill/>
              </a:ln>
              <a:solidFill>
                <a:srgbClr val="C00000"/>
              </a:solidFill>
              <a:effectLst/>
              <a:uLnTx/>
              <a:uFillTx/>
              <a:latin typeface="Tahoma" panose="020B0604030504040204" pitchFamily="34" charset="0"/>
            </a:endParaRPr>
          </a:p>
        </p:txBody>
      </p:sp>
      <p:grpSp>
        <p:nvGrpSpPr>
          <p:cNvPr id="20" name="Group 43">
            <a:extLst>
              <a:ext uri="{FF2B5EF4-FFF2-40B4-BE49-F238E27FC236}">
                <a16:creationId xmlns:a16="http://schemas.microsoft.com/office/drawing/2014/main" id="{E741356E-33BC-5634-501A-D2C70B6B4D0E}"/>
              </a:ext>
            </a:extLst>
          </p:cNvPr>
          <p:cNvGrpSpPr>
            <a:grpSpLocks/>
          </p:cNvGrpSpPr>
          <p:nvPr/>
        </p:nvGrpSpPr>
        <p:grpSpPr bwMode="auto">
          <a:xfrm>
            <a:off x="4396268" y="5135328"/>
            <a:ext cx="1952625" cy="1101725"/>
            <a:chOff x="3606" y="2886"/>
            <a:chExt cx="1230" cy="694"/>
          </a:xfrm>
        </p:grpSpPr>
        <p:sp>
          <p:nvSpPr>
            <p:cNvPr id="21" name="Rectangle 36">
              <a:extLst>
                <a:ext uri="{FF2B5EF4-FFF2-40B4-BE49-F238E27FC236}">
                  <a16:creationId xmlns:a16="http://schemas.microsoft.com/office/drawing/2014/main" id="{F10B077B-13A9-CAAE-68A7-679A5FA60068}"/>
                </a:ext>
              </a:extLst>
            </p:cNvPr>
            <p:cNvSpPr>
              <a:spLocks noChangeArrowheads="1"/>
            </p:cNvSpPr>
            <p:nvPr/>
          </p:nvSpPr>
          <p:spPr bwMode="auto">
            <a:xfrm>
              <a:off x="3742" y="2976"/>
              <a:ext cx="952" cy="499"/>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Operand</a:t>
              </a:r>
            </a:p>
          </p:txBody>
        </p:sp>
        <p:sp>
          <p:nvSpPr>
            <p:cNvPr id="22" name="Rectangle 37">
              <a:extLst>
                <a:ext uri="{FF2B5EF4-FFF2-40B4-BE49-F238E27FC236}">
                  <a16:creationId xmlns:a16="http://schemas.microsoft.com/office/drawing/2014/main" id="{73290959-C238-71E3-7C84-D5B25E4FEBEC}"/>
                </a:ext>
              </a:extLst>
            </p:cNvPr>
            <p:cNvSpPr>
              <a:spLocks noChangeArrowheads="1"/>
            </p:cNvSpPr>
            <p:nvPr/>
          </p:nvSpPr>
          <p:spPr bwMode="auto">
            <a:xfrm>
              <a:off x="3742" y="3475"/>
              <a:ext cx="317" cy="105"/>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3" name="Rectangle 38">
              <a:extLst>
                <a:ext uri="{FF2B5EF4-FFF2-40B4-BE49-F238E27FC236}">
                  <a16:creationId xmlns:a16="http://schemas.microsoft.com/office/drawing/2014/main" id="{81BDE8A3-AC58-ED9A-9DA6-35FF316C541D}"/>
                </a:ext>
              </a:extLst>
            </p:cNvPr>
            <p:cNvSpPr>
              <a:spLocks noChangeArrowheads="1"/>
            </p:cNvSpPr>
            <p:nvPr/>
          </p:nvSpPr>
          <p:spPr bwMode="auto">
            <a:xfrm>
              <a:off x="4286" y="3475"/>
              <a:ext cx="317" cy="105"/>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4" name="Rectangle 39">
              <a:extLst>
                <a:ext uri="{FF2B5EF4-FFF2-40B4-BE49-F238E27FC236}">
                  <a16:creationId xmlns:a16="http://schemas.microsoft.com/office/drawing/2014/main" id="{AA2BC056-7E8D-37E6-71E0-428311508DB4}"/>
                </a:ext>
              </a:extLst>
            </p:cNvPr>
            <p:cNvSpPr>
              <a:spLocks noChangeArrowheads="1"/>
            </p:cNvSpPr>
            <p:nvPr/>
          </p:nvSpPr>
          <p:spPr bwMode="auto">
            <a:xfrm>
              <a:off x="3606" y="3203"/>
              <a:ext cx="142" cy="210"/>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5" name="Rectangle 40">
              <a:extLst>
                <a:ext uri="{FF2B5EF4-FFF2-40B4-BE49-F238E27FC236}">
                  <a16:creationId xmlns:a16="http://schemas.microsoft.com/office/drawing/2014/main" id="{E78EF9A0-EEF7-D9D7-5CB1-852DD83E1823}"/>
                </a:ext>
              </a:extLst>
            </p:cNvPr>
            <p:cNvSpPr>
              <a:spLocks noChangeArrowheads="1"/>
            </p:cNvSpPr>
            <p:nvPr/>
          </p:nvSpPr>
          <p:spPr bwMode="auto">
            <a:xfrm>
              <a:off x="4694" y="2976"/>
              <a:ext cx="142" cy="120"/>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6" name="Rectangle 41">
              <a:extLst>
                <a:ext uri="{FF2B5EF4-FFF2-40B4-BE49-F238E27FC236}">
                  <a16:creationId xmlns:a16="http://schemas.microsoft.com/office/drawing/2014/main" id="{F7C6D9C7-BE02-7515-4FD9-5ACE2E5D4D6D}"/>
                </a:ext>
              </a:extLst>
            </p:cNvPr>
            <p:cNvSpPr>
              <a:spLocks noChangeArrowheads="1"/>
            </p:cNvSpPr>
            <p:nvPr/>
          </p:nvSpPr>
          <p:spPr bwMode="auto">
            <a:xfrm>
              <a:off x="4694" y="3203"/>
              <a:ext cx="142" cy="210"/>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 name="Rectangle 42">
              <a:extLst>
                <a:ext uri="{FF2B5EF4-FFF2-40B4-BE49-F238E27FC236}">
                  <a16:creationId xmlns:a16="http://schemas.microsoft.com/office/drawing/2014/main" id="{8136F040-F4BB-E047-A083-F3CE52F15FB4}"/>
                </a:ext>
              </a:extLst>
            </p:cNvPr>
            <p:cNvSpPr>
              <a:spLocks noChangeArrowheads="1"/>
            </p:cNvSpPr>
            <p:nvPr/>
          </p:nvSpPr>
          <p:spPr bwMode="auto">
            <a:xfrm>
              <a:off x="3787" y="2886"/>
              <a:ext cx="317" cy="105"/>
            </a:xfrm>
            <a:prstGeom prst="rect">
              <a:avLst/>
            </a:prstGeom>
            <a:solidFill>
              <a:srgbClr val="E7BB01">
                <a:lumMod val="60000"/>
                <a:lumOff val="40000"/>
              </a:srgbClr>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28" name="Rectangle 27">
            <a:extLst>
              <a:ext uri="{FF2B5EF4-FFF2-40B4-BE49-F238E27FC236}">
                <a16:creationId xmlns:a16="http://schemas.microsoft.com/office/drawing/2014/main" id="{D9F97468-9397-C60C-4799-30F1E975E33B}"/>
              </a:ext>
            </a:extLst>
          </p:cNvPr>
          <p:cNvSpPr/>
          <p:nvPr/>
        </p:nvSpPr>
        <p:spPr>
          <a:xfrm>
            <a:off x="4482522" y="700084"/>
            <a:ext cx="7709477" cy="581709"/>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2800" b="1" i="1" dirty="0">
                <a:solidFill>
                  <a:schemeClr val="bg1"/>
                </a:solidFill>
                <a:latin typeface="PT Serif" panose="020B0604020202020204" pitchFamily="18" charset="0"/>
              </a:rPr>
              <a:t>Depend on abstractions, not on concretions</a:t>
            </a:r>
            <a:r>
              <a:rPr lang="en-US" sz="2800" i="1" dirty="0">
                <a:solidFill>
                  <a:schemeClr val="bg1"/>
                </a:solidFill>
                <a:latin typeface="PT Serif" panose="020B0604020202020204" pitchFamily="18" charset="0"/>
              </a:rPr>
              <a:t>!</a:t>
            </a:r>
            <a:endParaRPr lang="el-GR" sz="2800" dirty="0">
              <a:solidFill>
                <a:schemeClr val="bg1"/>
              </a:solidFill>
              <a:latin typeface="Tahoma" panose="020B0604030504040204" pitchFamily="34" charset="0"/>
            </a:endParaRPr>
          </a:p>
        </p:txBody>
      </p:sp>
      <p:sp>
        <p:nvSpPr>
          <p:cNvPr id="30" name="TextBox 29">
            <a:extLst>
              <a:ext uri="{FF2B5EF4-FFF2-40B4-BE49-F238E27FC236}">
                <a16:creationId xmlns:a16="http://schemas.microsoft.com/office/drawing/2014/main" id="{02FC49BE-C05D-5D47-9E60-5CAE59B4305D}"/>
              </a:ext>
            </a:extLst>
          </p:cNvPr>
          <p:cNvSpPr txBox="1"/>
          <p:nvPr/>
        </p:nvSpPr>
        <p:spPr>
          <a:xfrm>
            <a:off x="4431087" y="2085059"/>
            <a:ext cx="2719686"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err="1">
                <a:ln>
                  <a:noFill/>
                </a:ln>
                <a:solidFill>
                  <a:srgbClr val="F9853D"/>
                </a:solidFill>
                <a:effectLst/>
                <a:uLnTx/>
                <a:uFillTx/>
                <a:latin typeface="Bahnschrift" panose="020B0502040204020203" pitchFamily="34" charset="0"/>
                <a:ea typeface="+mn-ea"/>
                <a:cs typeface="+mn-cs"/>
              </a:rPr>
              <a:t>CalculatorGui</a:t>
            </a:r>
            <a:r>
              <a:rPr kumimoji="0" lang="en-GB" sz="2800" b="1" i="0" u="none" strike="noStrike" kern="1200" cap="none" spc="0" normalizeH="0" baseline="0" noProof="0" dirty="0">
                <a:ln>
                  <a:noFill/>
                </a:ln>
                <a:solidFill>
                  <a:srgbClr val="F9853D"/>
                </a:solidFill>
                <a:effectLst/>
                <a:uLnTx/>
                <a:uFillTx/>
                <a:latin typeface="Bahnschrift" panose="020B0502040204020203" pitchFamily="34" charset="0"/>
                <a:ea typeface="+mn-ea"/>
                <a:cs typeface="+mn-cs"/>
              </a:rPr>
              <a:t> - Operand Interaction</a:t>
            </a:r>
            <a:endParaRPr kumimoji="0" lang="el-GR" sz="2800" b="1" i="0" u="none" strike="noStrike" kern="1200" cap="none" spc="0" normalizeH="0" baseline="0" noProof="0" dirty="0">
              <a:ln>
                <a:noFill/>
              </a:ln>
              <a:solidFill>
                <a:srgbClr val="F9853D"/>
              </a:solidFill>
              <a:effectLst/>
              <a:uLnTx/>
              <a:uFillTx/>
              <a:latin typeface="Bahnschrift" panose="020B0502040204020203" pitchFamily="34" charset="0"/>
              <a:ea typeface="+mn-ea"/>
              <a:cs typeface="+mn-cs"/>
            </a:endParaRPr>
          </a:p>
        </p:txBody>
      </p:sp>
      <p:sp>
        <p:nvSpPr>
          <p:cNvPr id="31" name="Rectangle 4">
            <a:extLst>
              <a:ext uri="{FF2B5EF4-FFF2-40B4-BE49-F238E27FC236}">
                <a16:creationId xmlns:a16="http://schemas.microsoft.com/office/drawing/2014/main" id="{5151E965-68AE-55BB-878E-4DD41984A400}"/>
              </a:ext>
            </a:extLst>
          </p:cNvPr>
          <p:cNvSpPr txBox="1">
            <a:spLocks noChangeArrowheads="1"/>
          </p:cNvSpPr>
          <p:nvPr/>
        </p:nvSpPr>
        <p:spPr bwMode="auto">
          <a:xfrm>
            <a:off x="7320369" y="1359802"/>
            <a:ext cx="5689004" cy="283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buFont typeface="Wingdings" panose="05000000000000000000" pitchFamily="2" charset="2"/>
              <a:buNone/>
            </a:pPr>
            <a:r>
              <a:rPr lang="en-GB" altLang="el-GR" sz="2800" b="1" kern="0" dirty="0">
                <a:solidFill>
                  <a:srgbClr val="000000"/>
                </a:solidFill>
                <a:latin typeface="Tahoma"/>
              </a:rPr>
              <a:t>Interface </a:t>
            </a:r>
            <a:r>
              <a:rPr lang="en-GB" altLang="el-GR" sz="2800" b="1" kern="0" dirty="0" err="1">
                <a:solidFill>
                  <a:srgbClr val="000000"/>
                </a:solidFill>
                <a:latin typeface="Tahoma"/>
              </a:rPr>
              <a:t>OperandIf</a:t>
            </a:r>
            <a:r>
              <a:rPr lang="en-GB" altLang="el-GR" sz="2800" b="1" kern="0" dirty="0">
                <a:solidFill>
                  <a:srgbClr val="000000"/>
                </a:solidFill>
                <a:latin typeface="Tahoma"/>
              </a:rPr>
              <a:t> </a:t>
            </a:r>
            <a:r>
              <a:rPr lang="en-GB" altLang="el-GR" sz="2800" kern="0" dirty="0">
                <a:solidFill>
                  <a:srgbClr val="000000"/>
                </a:solidFill>
                <a:latin typeface="Tahoma"/>
              </a:rPr>
              <a:t>{</a:t>
            </a:r>
          </a:p>
          <a:p>
            <a:pPr>
              <a:buClr>
                <a:srgbClr val="3333CC"/>
              </a:buClr>
              <a:buFont typeface="Wingdings" panose="05000000000000000000" pitchFamily="2" charset="2"/>
              <a:buNone/>
            </a:pPr>
            <a:r>
              <a:rPr lang="en-GB" altLang="el-GR" sz="2800" kern="0" dirty="0">
                <a:solidFill>
                  <a:srgbClr val="000000"/>
                </a:solidFill>
                <a:latin typeface="Tahoma"/>
              </a:rPr>
              <a:t>	void </a:t>
            </a:r>
            <a:r>
              <a:rPr lang="en-GB" altLang="el-GR" sz="2800" kern="0" dirty="0" err="1">
                <a:solidFill>
                  <a:srgbClr val="000000"/>
                </a:solidFill>
                <a:latin typeface="Tahoma"/>
              </a:rPr>
              <a:t>addDigit</a:t>
            </a:r>
            <a:r>
              <a:rPr lang="en-GB" altLang="el-GR" sz="2800" kern="0" dirty="0">
                <a:solidFill>
                  <a:srgbClr val="000000"/>
                </a:solidFill>
                <a:latin typeface="Tahoma"/>
              </a:rPr>
              <a:t>(char </a:t>
            </a:r>
            <a:r>
              <a:rPr lang="en-GB" altLang="el-GR" sz="2800" kern="0" dirty="0" err="1">
                <a:solidFill>
                  <a:srgbClr val="000000"/>
                </a:solidFill>
                <a:latin typeface="Tahoma"/>
              </a:rPr>
              <a:t>ch</a:t>
            </a:r>
            <a:r>
              <a:rPr lang="en-GB" altLang="el-GR" sz="2800" kern="0" dirty="0">
                <a:solidFill>
                  <a:srgbClr val="000000"/>
                </a:solidFill>
                <a:latin typeface="Tahoma"/>
              </a:rPr>
              <a:t>);</a:t>
            </a:r>
          </a:p>
          <a:p>
            <a:pPr>
              <a:buClr>
                <a:srgbClr val="3333CC"/>
              </a:buClr>
              <a:buFont typeface="Wingdings" panose="05000000000000000000" pitchFamily="2" charset="2"/>
              <a:buNone/>
            </a:pPr>
            <a:r>
              <a:rPr lang="en-GB" altLang="el-GR" sz="2800" kern="0" dirty="0">
                <a:solidFill>
                  <a:srgbClr val="000000"/>
                </a:solidFill>
                <a:latin typeface="Tahoma"/>
              </a:rPr>
              <a:t>	void </a:t>
            </a:r>
            <a:r>
              <a:rPr lang="en-GB" altLang="el-GR" sz="2800" kern="0" dirty="0" err="1">
                <a:solidFill>
                  <a:srgbClr val="000000"/>
                </a:solidFill>
                <a:latin typeface="Tahoma"/>
              </a:rPr>
              <a:t>deleteLastDigit</a:t>
            </a:r>
            <a:r>
              <a:rPr lang="en-GB" altLang="el-GR" sz="2800" kern="0" dirty="0">
                <a:solidFill>
                  <a:srgbClr val="000000"/>
                </a:solidFill>
                <a:latin typeface="Tahoma"/>
              </a:rPr>
              <a:t>();</a:t>
            </a:r>
          </a:p>
          <a:p>
            <a:pPr>
              <a:buClr>
                <a:srgbClr val="3333CC"/>
              </a:buClr>
              <a:buFont typeface="Wingdings" panose="05000000000000000000" pitchFamily="2" charset="2"/>
              <a:buNone/>
            </a:pPr>
            <a:r>
              <a:rPr lang="en-US" altLang="el-GR" sz="2800" kern="0" dirty="0">
                <a:solidFill>
                  <a:srgbClr val="000000"/>
                </a:solidFill>
                <a:latin typeface="Tahoma"/>
              </a:rPr>
              <a:t>	</a:t>
            </a:r>
            <a:r>
              <a:rPr lang="en-GB" altLang="el-GR" sz="2800" kern="0" dirty="0">
                <a:solidFill>
                  <a:srgbClr val="000000"/>
                </a:solidFill>
                <a:latin typeface="Tahoma"/>
              </a:rPr>
              <a:t>void complete();</a:t>
            </a:r>
            <a:endParaRPr lang="en-US" altLang="el-GR" sz="2800" kern="0" dirty="0">
              <a:solidFill>
                <a:srgbClr val="FF0000"/>
              </a:solidFill>
              <a:latin typeface="Tahoma"/>
            </a:endParaRPr>
          </a:p>
          <a:p>
            <a:pPr>
              <a:buClr>
                <a:srgbClr val="3333CC"/>
              </a:buClr>
              <a:buFont typeface="Wingdings" panose="05000000000000000000" pitchFamily="2" charset="2"/>
              <a:buNone/>
            </a:pPr>
            <a:r>
              <a:rPr lang="en-US" altLang="el-GR" sz="2800" kern="0" dirty="0">
                <a:solidFill>
                  <a:srgbClr val="000000"/>
                </a:solidFill>
                <a:latin typeface="Tahoma"/>
              </a:rPr>
              <a:t>	}</a:t>
            </a:r>
            <a:endParaRPr lang="el-GR" altLang="el-GR" sz="2800" kern="0" dirty="0">
              <a:solidFill>
                <a:srgbClr val="000000"/>
              </a:solidFill>
              <a:latin typeface="Tahoma"/>
            </a:endParaRPr>
          </a:p>
        </p:txBody>
      </p:sp>
      <p:sp>
        <p:nvSpPr>
          <p:cNvPr id="32" name="Rectangle 4">
            <a:extLst>
              <a:ext uri="{FF2B5EF4-FFF2-40B4-BE49-F238E27FC236}">
                <a16:creationId xmlns:a16="http://schemas.microsoft.com/office/drawing/2014/main" id="{2A3D1202-34ED-4DB7-C0BD-BA9256E1D598}"/>
              </a:ext>
            </a:extLst>
          </p:cNvPr>
          <p:cNvSpPr txBox="1">
            <a:spLocks noChangeArrowheads="1"/>
          </p:cNvSpPr>
          <p:nvPr/>
        </p:nvSpPr>
        <p:spPr bwMode="auto">
          <a:xfrm>
            <a:off x="7320369" y="4213930"/>
            <a:ext cx="4735214" cy="1138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buFont typeface="Wingdings" panose="05000000000000000000" pitchFamily="2" charset="2"/>
              <a:buNone/>
            </a:pPr>
            <a:r>
              <a:rPr lang="en-GB" altLang="el-GR" sz="1600" b="1" kern="0" dirty="0">
                <a:solidFill>
                  <a:srgbClr val="000000"/>
                </a:solidFill>
                <a:latin typeface="Tahoma"/>
              </a:rPr>
              <a:t>class Operand </a:t>
            </a:r>
            <a:r>
              <a:rPr lang="en-GB" altLang="el-GR" sz="1600" b="1" kern="0" dirty="0">
                <a:solidFill>
                  <a:srgbClr val="FF0000"/>
                </a:solidFill>
                <a:latin typeface="Tahoma"/>
              </a:rPr>
              <a:t>implements</a:t>
            </a:r>
            <a:r>
              <a:rPr lang="en-GB" altLang="el-GR" sz="1600" b="1" kern="0" dirty="0">
                <a:solidFill>
                  <a:srgbClr val="000000"/>
                </a:solidFill>
                <a:latin typeface="Tahoma"/>
              </a:rPr>
              <a:t> </a:t>
            </a:r>
            <a:r>
              <a:rPr lang="en-GB" altLang="el-GR" sz="1600" b="1" kern="0" dirty="0" err="1">
                <a:solidFill>
                  <a:srgbClr val="000000"/>
                </a:solidFill>
                <a:latin typeface="Tahoma"/>
              </a:rPr>
              <a:t>OperandIf</a:t>
            </a:r>
            <a:r>
              <a:rPr lang="en-GB" altLang="el-GR" sz="1600" b="1" kern="0" dirty="0">
                <a:solidFill>
                  <a:srgbClr val="000000"/>
                </a:solidFill>
                <a:latin typeface="Tahoma"/>
              </a:rPr>
              <a:t> </a:t>
            </a:r>
            <a:r>
              <a:rPr lang="en-GB" altLang="el-GR" sz="1600" kern="0" dirty="0">
                <a:solidFill>
                  <a:srgbClr val="000000"/>
                </a:solidFill>
                <a:latin typeface="Tahoma"/>
              </a:rPr>
              <a:t>{</a:t>
            </a:r>
          </a:p>
          <a:p>
            <a:pPr>
              <a:buClr>
                <a:srgbClr val="3333CC"/>
              </a:buClr>
              <a:buFont typeface="Wingdings" panose="05000000000000000000" pitchFamily="2" charset="2"/>
              <a:buNone/>
            </a:pPr>
            <a:r>
              <a:rPr lang="en-GB" altLang="el-GR" sz="1600" kern="0" dirty="0">
                <a:solidFill>
                  <a:srgbClr val="000000"/>
                </a:solidFill>
                <a:latin typeface="Tahoma"/>
              </a:rPr>
              <a:t>	…</a:t>
            </a:r>
          </a:p>
          <a:p>
            <a:pPr>
              <a:buClr>
                <a:srgbClr val="3333CC"/>
              </a:buClr>
              <a:buFont typeface="Wingdings" panose="05000000000000000000" pitchFamily="2" charset="2"/>
              <a:buNone/>
            </a:pPr>
            <a:r>
              <a:rPr lang="en-US" altLang="el-GR" sz="1600" kern="0" dirty="0">
                <a:solidFill>
                  <a:srgbClr val="000000"/>
                </a:solidFill>
                <a:latin typeface="Tahoma"/>
              </a:rPr>
              <a:t>	}</a:t>
            </a:r>
            <a:endParaRPr lang="el-GR" altLang="el-GR" sz="1600" kern="0" dirty="0">
              <a:solidFill>
                <a:srgbClr val="000000"/>
              </a:solidFill>
              <a:latin typeface="Tahoma"/>
            </a:endParaRPr>
          </a:p>
        </p:txBody>
      </p:sp>
      <p:sp>
        <p:nvSpPr>
          <p:cNvPr id="33" name="Rectangle 4">
            <a:extLst>
              <a:ext uri="{FF2B5EF4-FFF2-40B4-BE49-F238E27FC236}">
                <a16:creationId xmlns:a16="http://schemas.microsoft.com/office/drawing/2014/main" id="{D50425CA-B0D7-3E12-1112-4A5141FD713F}"/>
              </a:ext>
            </a:extLst>
          </p:cNvPr>
          <p:cNvSpPr txBox="1">
            <a:spLocks noChangeArrowheads="1"/>
          </p:cNvSpPr>
          <p:nvPr/>
        </p:nvSpPr>
        <p:spPr bwMode="auto">
          <a:xfrm>
            <a:off x="7285517" y="5359269"/>
            <a:ext cx="4735214" cy="1138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buFont typeface="Wingdings" panose="05000000000000000000" pitchFamily="2" charset="2"/>
              <a:buNone/>
            </a:pPr>
            <a:r>
              <a:rPr lang="en-GB" altLang="el-GR" sz="1600" b="1" kern="0" dirty="0">
                <a:solidFill>
                  <a:srgbClr val="000000"/>
                </a:solidFill>
                <a:latin typeface="Tahoma"/>
              </a:rPr>
              <a:t>class </a:t>
            </a:r>
            <a:r>
              <a:rPr lang="en-GB" altLang="el-GR" sz="1600" b="1" kern="0" dirty="0" err="1">
                <a:solidFill>
                  <a:srgbClr val="000000"/>
                </a:solidFill>
                <a:latin typeface="Tahoma"/>
              </a:rPr>
              <a:t>StackOperand</a:t>
            </a:r>
            <a:r>
              <a:rPr lang="en-GB" altLang="el-GR" sz="1600" b="1" kern="0" dirty="0">
                <a:solidFill>
                  <a:srgbClr val="000000"/>
                </a:solidFill>
                <a:latin typeface="Tahoma"/>
              </a:rPr>
              <a:t> </a:t>
            </a:r>
            <a:r>
              <a:rPr lang="en-GB" altLang="el-GR" sz="1600" b="1" kern="0" dirty="0">
                <a:solidFill>
                  <a:srgbClr val="FF0000"/>
                </a:solidFill>
                <a:latin typeface="Tahoma"/>
              </a:rPr>
              <a:t>implements</a:t>
            </a:r>
            <a:r>
              <a:rPr lang="en-GB" altLang="el-GR" sz="1600" b="1" kern="0" dirty="0">
                <a:solidFill>
                  <a:srgbClr val="000000"/>
                </a:solidFill>
                <a:latin typeface="Tahoma"/>
              </a:rPr>
              <a:t> </a:t>
            </a:r>
            <a:r>
              <a:rPr lang="en-GB" altLang="el-GR" sz="1600" b="1" kern="0" dirty="0" err="1">
                <a:solidFill>
                  <a:srgbClr val="000000"/>
                </a:solidFill>
                <a:latin typeface="Tahoma"/>
              </a:rPr>
              <a:t>OperandIf</a:t>
            </a:r>
            <a:r>
              <a:rPr lang="en-GB" altLang="el-GR" sz="1600" b="1" kern="0" dirty="0">
                <a:solidFill>
                  <a:srgbClr val="000000"/>
                </a:solidFill>
                <a:latin typeface="Tahoma"/>
              </a:rPr>
              <a:t> </a:t>
            </a:r>
            <a:r>
              <a:rPr lang="en-GB" altLang="el-GR" sz="1600" kern="0" dirty="0">
                <a:solidFill>
                  <a:srgbClr val="000000"/>
                </a:solidFill>
                <a:latin typeface="Tahoma"/>
              </a:rPr>
              <a:t>{</a:t>
            </a:r>
          </a:p>
          <a:p>
            <a:pPr>
              <a:buClr>
                <a:srgbClr val="3333CC"/>
              </a:buClr>
              <a:buFont typeface="Wingdings" panose="05000000000000000000" pitchFamily="2" charset="2"/>
              <a:buNone/>
            </a:pPr>
            <a:r>
              <a:rPr lang="en-GB" altLang="el-GR" sz="1600" kern="0" dirty="0">
                <a:solidFill>
                  <a:srgbClr val="000000"/>
                </a:solidFill>
                <a:latin typeface="Tahoma"/>
              </a:rPr>
              <a:t>	…</a:t>
            </a:r>
          </a:p>
          <a:p>
            <a:pPr>
              <a:buClr>
                <a:srgbClr val="3333CC"/>
              </a:buClr>
              <a:buFont typeface="Wingdings" panose="05000000000000000000" pitchFamily="2" charset="2"/>
              <a:buNone/>
            </a:pPr>
            <a:r>
              <a:rPr lang="en-US" altLang="el-GR" sz="1600" kern="0" dirty="0">
                <a:solidFill>
                  <a:srgbClr val="000000"/>
                </a:solidFill>
                <a:latin typeface="Tahoma"/>
              </a:rPr>
              <a:t>	}</a:t>
            </a:r>
            <a:endParaRPr lang="el-GR" altLang="el-GR" sz="1600" kern="0" dirty="0">
              <a:solidFill>
                <a:srgbClr val="000000"/>
              </a:solidFill>
              <a:latin typeface="Tahoma"/>
            </a:endParaRPr>
          </a:p>
        </p:txBody>
      </p:sp>
      <p:sp>
        <p:nvSpPr>
          <p:cNvPr id="4" name="Θέση υποσέλιδου 4">
            <a:extLst>
              <a:ext uri="{FF2B5EF4-FFF2-40B4-BE49-F238E27FC236}">
                <a16:creationId xmlns:a16="http://schemas.microsoft.com/office/drawing/2014/main" id="{F65CD1C0-A199-A55E-D38D-601FC98B1636}"/>
              </a:ext>
            </a:extLst>
          </p:cNvPr>
          <p:cNvSpPr txBox="1">
            <a:spLocks/>
          </p:cNvSpPr>
          <p:nvPr/>
        </p:nvSpPr>
        <p:spPr>
          <a:xfrm>
            <a:off x="3426019" y="6585530"/>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231954507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20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animBg="1"/>
      <p:bldP spid="30" grpId="0"/>
      <p:bldP spid="31" grpId="0"/>
      <p:bldP spid="32" grpId="0"/>
      <p:bldP spid="33"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Iteration No </a:t>
            </a:r>
            <a:r>
              <a:rPr lang="el-GR" sz="4000" b="1" dirty="0">
                <a:solidFill>
                  <a:srgbClr val="F9853D"/>
                </a:solidFill>
                <a:latin typeface="Bahnschrift" panose="020B0502040204020203" pitchFamily="34" charset="0"/>
              </a:rPr>
              <a:t>6</a:t>
            </a:r>
            <a:r>
              <a:rPr lang="en-GB" sz="4000" b="1" dirty="0">
                <a:solidFill>
                  <a:srgbClr val="F9853D"/>
                </a:solidFill>
                <a:latin typeface="Bahnschrift" panose="020B0502040204020203" pitchFamily="34" charset="0"/>
              </a:rPr>
              <a:t> –  using Lambda</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pic>
        <p:nvPicPr>
          <p:cNvPr id="4" name="Picture 4">
            <a:extLst>
              <a:ext uri="{FF2B5EF4-FFF2-40B4-BE49-F238E27FC236}">
                <a16:creationId xmlns:a16="http://schemas.microsoft.com/office/drawing/2014/main" id="{915D76B7-EB61-AE95-93EF-B6E236B692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151" y="1127019"/>
            <a:ext cx="3960118" cy="236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rrow: Left-Right 4">
            <a:extLst>
              <a:ext uri="{FF2B5EF4-FFF2-40B4-BE49-F238E27FC236}">
                <a16:creationId xmlns:a16="http://schemas.microsoft.com/office/drawing/2014/main" id="{A7190BE8-EF0B-CF63-48A4-FFF255CFCA73}"/>
              </a:ext>
            </a:extLst>
          </p:cNvPr>
          <p:cNvSpPr/>
          <p:nvPr/>
        </p:nvSpPr>
        <p:spPr bwMode="auto">
          <a:xfrm>
            <a:off x="4889863" y="1543977"/>
            <a:ext cx="1790675" cy="419894"/>
          </a:xfrm>
          <a:prstGeom prst="leftRightArrow">
            <a:avLst/>
          </a:prstGeom>
          <a:solidFill>
            <a:srgbClr val="FFFF00"/>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 name="TextBox 5">
            <a:extLst>
              <a:ext uri="{FF2B5EF4-FFF2-40B4-BE49-F238E27FC236}">
                <a16:creationId xmlns:a16="http://schemas.microsoft.com/office/drawing/2014/main" id="{7A8ABB16-8DE3-C206-1798-675A03E987A2}"/>
              </a:ext>
            </a:extLst>
          </p:cNvPr>
          <p:cNvSpPr txBox="1"/>
          <p:nvPr/>
        </p:nvSpPr>
        <p:spPr>
          <a:xfrm>
            <a:off x="5496822" y="959519"/>
            <a:ext cx="1083212" cy="1323439"/>
          </a:xfrm>
          <a:prstGeom prst="rect">
            <a:avLst/>
          </a:prstGeom>
          <a:noFill/>
        </p:spPr>
        <p:txBody>
          <a:bodyPr wrap="square" rtlCol="0">
            <a:spAutoFit/>
          </a:bodyPr>
          <a:lstStyle/>
          <a:p>
            <a:pPr fontAlgn="base">
              <a:spcBef>
                <a:spcPct val="0"/>
              </a:spcBef>
              <a:spcAft>
                <a:spcPct val="0"/>
              </a:spcAft>
            </a:pPr>
            <a:r>
              <a:rPr lang="en-US" sz="8000" dirty="0">
                <a:solidFill>
                  <a:srgbClr val="FF0000"/>
                </a:solidFill>
                <a:latin typeface="Tahoma" panose="020B0604030504040204" pitchFamily="34" charset="0"/>
              </a:rPr>
              <a:t>?</a:t>
            </a:r>
            <a:endParaRPr lang="el-GR" sz="8000" dirty="0">
              <a:solidFill>
                <a:srgbClr val="FF0000"/>
              </a:solidFill>
              <a:latin typeface="Tahoma" panose="020B0604030504040204" pitchFamily="34" charset="0"/>
            </a:endParaRPr>
          </a:p>
        </p:txBody>
      </p:sp>
      <p:sp>
        <p:nvSpPr>
          <p:cNvPr id="7" name="TextBox 6">
            <a:extLst>
              <a:ext uri="{FF2B5EF4-FFF2-40B4-BE49-F238E27FC236}">
                <a16:creationId xmlns:a16="http://schemas.microsoft.com/office/drawing/2014/main" id="{F563BE93-C884-B2D0-0A11-1D9EF27DFC6F}"/>
              </a:ext>
            </a:extLst>
          </p:cNvPr>
          <p:cNvSpPr txBox="1"/>
          <p:nvPr/>
        </p:nvSpPr>
        <p:spPr>
          <a:xfrm>
            <a:off x="1024909" y="3488763"/>
            <a:ext cx="5555125" cy="369332"/>
          </a:xfrm>
          <a:prstGeom prst="rect">
            <a:avLst/>
          </a:prstGeom>
          <a:noFill/>
        </p:spPr>
        <p:txBody>
          <a:bodyPr wrap="square" rtlCol="0">
            <a:spAutoFit/>
          </a:bodyPr>
          <a:lstStyle/>
          <a:p>
            <a:pPr fontAlgn="base">
              <a:spcBef>
                <a:spcPct val="0"/>
              </a:spcBef>
              <a:spcAft>
                <a:spcPct val="0"/>
              </a:spcAft>
            </a:pPr>
            <a:r>
              <a:rPr lang="en-US" altLang="el-GR" dirty="0" err="1">
                <a:solidFill>
                  <a:srgbClr val="000000"/>
                </a:solidFill>
                <a:latin typeface="Courier New" panose="02070309020205020404" pitchFamily="49" charset="0"/>
                <a:cs typeface="Courier New" panose="02070309020205020404" pitchFamily="49" charset="0"/>
              </a:rPr>
              <a:t>CalculatorGui</a:t>
            </a:r>
            <a:r>
              <a:rPr lang="en-US" altLang="el-GR" dirty="0">
                <a:solidFill>
                  <a:srgbClr val="000000"/>
                </a:solidFill>
                <a:latin typeface="Courier New" panose="02070309020205020404" pitchFamily="49" charset="0"/>
                <a:cs typeface="Courier New" panose="02070309020205020404" pitchFamily="49" charset="0"/>
              </a:rPr>
              <a:t>(Operator op);</a:t>
            </a:r>
            <a:endParaRPr lang="el-GR" dirty="0">
              <a:solidFill>
                <a:srgbClr val="000000"/>
              </a:solidFill>
              <a:latin typeface="Courier New" panose="02070309020205020404" pitchFamily="49" charset="0"/>
              <a:cs typeface="Courier New" panose="02070309020205020404" pitchFamily="49" charset="0"/>
            </a:endParaRPr>
          </a:p>
        </p:txBody>
      </p:sp>
      <p:sp>
        <p:nvSpPr>
          <p:cNvPr id="12" name="Rectangle 3">
            <a:extLst>
              <a:ext uri="{FF2B5EF4-FFF2-40B4-BE49-F238E27FC236}">
                <a16:creationId xmlns:a16="http://schemas.microsoft.com/office/drawing/2014/main" id="{64399B94-9D4C-625B-81AE-8B08588CFE43}"/>
              </a:ext>
            </a:extLst>
          </p:cNvPr>
          <p:cNvSpPr txBox="1">
            <a:spLocks noChangeArrowheads="1"/>
          </p:cNvSpPr>
          <p:nvPr/>
        </p:nvSpPr>
        <p:spPr bwMode="auto">
          <a:xfrm>
            <a:off x="852610" y="4718880"/>
            <a:ext cx="10120189" cy="1715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90000"/>
              </a:lnSpc>
              <a:buClr>
                <a:srgbClr val="3333CC"/>
              </a:buClr>
            </a:pPr>
            <a:r>
              <a:rPr lang="el-GR" sz="2800" dirty="0">
                <a:solidFill>
                  <a:srgbClr val="000000"/>
                </a:solidFill>
                <a:latin typeface="Tahoma"/>
              </a:rPr>
              <a:t>Με βάση τα παραπάνω δώστε μια έκδοση που θα αξιοποιεί </a:t>
            </a:r>
            <a:r>
              <a:rPr lang="en-US" sz="2800" dirty="0">
                <a:solidFill>
                  <a:srgbClr val="000000"/>
                </a:solidFill>
                <a:latin typeface="Tahoma"/>
              </a:rPr>
              <a:t>Lambda expressions</a:t>
            </a:r>
            <a:r>
              <a:rPr lang="el-GR" sz="2800" dirty="0">
                <a:solidFill>
                  <a:srgbClr val="000000"/>
                </a:solidFill>
                <a:latin typeface="Tahoma"/>
              </a:rPr>
              <a:t>.</a:t>
            </a:r>
            <a:endParaRPr lang="en-US" sz="2800" dirty="0">
              <a:solidFill>
                <a:srgbClr val="000000"/>
              </a:solidFill>
              <a:latin typeface="Tahoma"/>
            </a:endParaRPr>
          </a:p>
          <a:p>
            <a:pPr lvl="1" eaLnBrk="1" hangingPunct="1">
              <a:lnSpc>
                <a:spcPct val="90000"/>
              </a:lnSpc>
              <a:buClr>
                <a:srgbClr val="FF0000"/>
              </a:buClr>
            </a:pPr>
            <a:r>
              <a:rPr lang="en-US" sz="2400" b="1" dirty="0">
                <a:solidFill>
                  <a:srgbClr val="000000"/>
                </a:solidFill>
                <a:latin typeface="Tahoma"/>
              </a:rPr>
              <a:t>Lambda expressions enable you to </a:t>
            </a:r>
            <a:r>
              <a:rPr lang="en-US" sz="2400" dirty="0">
                <a:solidFill>
                  <a:srgbClr val="000000"/>
                </a:solidFill>
                <a:latin typeface="Tahoma"/>
              </a:rPr>
              <a:t>treat functionality as method argument, or code as data.</a:t>
            </a:r>
            <a:r>
              <a:rPr lang="el-GR" sz="2400" dirty="0">
                <a:solidFill>
                  <a:srgbClr val="000000"/>
                </a:solidFill>
                <a:latin typeface="Tahoma"/>
              </a:rPr>
              <a:t> </a:t>
            </a:r>
            <a:endParaRPr lang="en-GB" altLang="el-GR" sz="2000" kern="0" dirty="0">
              <a:solidFill>
                <a:srgbClr val="000000"/>
              </a:solidFill>
              <a:latin typeface="Tahoma"/>
            </a:endParaRPr>
          </a:p>
        </p:txBody>
      </p:sp>
      <p:sp>
        <p:nvSpPr>
          <p:cNvPr id="13" name="Rectangle 12">
            <a:extLst>
              <a:ext uri="{FF2B5EF4-FFF2-40B4-BE49-F238E27FC236}">
                <a16:creationId xmlns:a16="http://schemas.microsoft.com/office/drawing/2014/main" id="{C045EC7A-F996-CBDB-69A1-277EF352AA3E}"/>
              </a:ext>
            </a:extLst>
          </p:cNvPr>
          <p:cNvSpPr/>
          <p:nvPr/>
        </p:nvSpPr>
        <p:spPr bwMode="auto">
          <a:xfrm>
            <a:off x="6757891" y="1509322"/>
            <a:ext cx="2965551" cy="836614"/>
          </a:xfrm>
          <a:prstGeom prst="rect">
            <a:avLst/>
          </a:prstGeom>
          <a:solidFill>
            <a:srgbClr val="00E4A8"/>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Tahoma" panose="020B0604030504040204" pitchFamily="34" charset="0"/>
              </a:rPr>
              <a:t>interface </a:t>
            </a:r>
            <a:r>
              <a:rPr kumimoji="0" lang="en-US" sz="1400" b="1" i="0" u="none" strike="noStrike" kern="0" cap="none" spc="0" normalizeH="0" baseline="0" noProof="0" dirty="0" err="1">
                <a:ln>
                  <a:noFill/>
                </a:ln>
                <a:solidFill>
                  <a:srgbClr val="000000"/>
                </a:solidFill>
                <a:effectLst/>
                <a:uLnTx/>
                <a:uFillTx/>
                <a:latin typeface="Tahoma" panose="020B0604030504040204" pitchFamily="34" charset="0"/>
              </a:rPr>
              <a:t>IntegerMath</a:t>
            </a:r>
            <a:r>
              <a:rPr kumimoji="0" lang="en-US" sz="1400" b="1" i="0" u="none" strike="noStrike" kern="0" cap="none" spc="0" normalizeH="0" baseline="0" noProof="0" dirty="0">
                <a:ln>
                  <a:noFill/>
                </a:ln>
                <a:solidFill>
                  <a:srgbClr val="000000"/>
                </a:solidFill>
                <a:effectLst/>
                <a:uLnTx/>
                <a:uFillTx/>
                <a:latin typeface="Tahoma" panose="020B0604030504040204" pitchFamily="34" charset="0"/>
              </a:rPr>
              <a:t> </a:t>
            </a: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        int operation(int a, int b);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    }</a:t>
            </a:r>
            <a:endParaRPr kumimoji="0" lang="el-GR" sz="1400" b="0" i="0" u="none" strike="noStrike" kern="0" cap="none" spc="0" normalizeH="0" baseline="0" noProof="0" dirty="0">
              <a:ln>
                <a:noFill/>
              </a:ln>
              <a:solidFill>
                <a:srgbClr val="000000"/>
              </a:solidFill>
              <a:effectLst/>
              <a:uLnTx/>
              <a:uFillTx/>
              <a:latin typeface="Tahoma" pitchFamily="34" charset="0"/>
            </a:endParaRPr>
          </a:p>
        </p:txBody>
      </p:sp>
      <p:sp>
        <p:nvSpPr>
          <p:cNvPr id="14" name="Rectangle 13">
            <a:extLst>
              <a:ext uri="{FF2B5EF4-FFF2-40B4-BE49-F238E27FC236}">
                <a16:creationId xmlns:a16="http://schemas.microsoft.com/office/drawing/2014/main" id="{C0B932A9-61CD-D002-F708-3A1C5C08D76C}"/>
              </a:ext>
            </a:extLst>
          </p:cNvPr>
          <p:cNvSpPr/>
          <p:nvPr/>
        </p:nvSpPr>
        <p:spPr bwMode="auto">
          <a:xfrm>
            <a:off x="5098615" y="2696925"/>
            <a:ext cx="4624827" cy="1161170"/>
          </a:xfrm>
          <a:prstGeom prst="rect">
            <a:avLst/>
          </a:prstGeom>
          <a:solidFill>
            <a:srgbClr val="00E4A8"/>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Tahoma" panose="020B0604030504040204" pitchFamily="34" charset="0"/>
              </a:rPr>
              <a:t>class  </a:t>
            </a:r>
            <a:r>
              <a:rPr kumimoji="0" lang="en-US" sz="1400" b="1" i="0" u="none" strike="noStrike" kern="0" cap="none" spc="0" normalizeH="0" baseline="0" noProof="0" dirty="0" err="1">
                <a:ln>
                  <a:noFill/>
                </a:ln>
                <a:solidFill>
                  <a:srgbClr val="000000"/>
                </a:solidFill>
                <a:effectLst/>
                <a:uLnTx/>
                <a:uFillTx/>
                <a:latin typeface="Tahoma" panose="020B0604030504040204" pitchFamily="34" charset="0"/>
              </a:rPr>
              <a:t>CalcEngine</a:t>
            </a: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    public int </a:t>
            </a:r>
            <a:r>
              <a:rPr kumimoji="0" lang="en-US" sz="1400" b="0" i="0" u="none" strike="noStrike" kern="0" cap="none" spc="0" normalizeH="0" baseline="0" noProof="0" dirty="0" err="1">
                <a:ln>
                  <a:noFill/>
                </a:ln>
                <a:solidFill>
                  <a:srgbClr val="000000"/>
                </a:solidFill>
                <a:effectLst/>
                <a:uLnTx/>
                <a:uFillTx/>
                <a:latin typeface="Tahoma" panose="020B0604030504040204" pitchFamily="34" charset="0"/>
              </a:rPr>
              <a:t>operateBinary</a:t>
            </a: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(int a, int b, </a:t>
            </a:r>
            <a:r>
              <a:rPr kumimoji="0" lang="en-US" sz="1400" b="0" i="0" u="none" strike="noStrike" kern="0" cap="none" spc="0" normalizeH="0" baseline="0" noProof="0" dirty="0" err="1">
                <a:ln>
                  <a:noFill/>
                </a:ln>
                <a:solidFill>
                  <a:srgbClr val="000000"/>
                </a:solidFill>
                <a:effectLst/>
                <a:uLnTx/>
                <a:uFillTx/>
                <a:latin typeface="Tahoma" panose="020B0604030504040204" pitchFamily="34" charset="0"/>
              </a:rPr>
              <a:t>IntegerMath</a:t>
            </a: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 op)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      return </a:t>
            </a:r>
            <a:r>
              <a:rPr kumimoji="0" lang="en-US" sz="1400" b="0" i="0" u="none" strike="noStrike" kern="0" cap="none" spc="0" normalizeH="0" baseline="0" noProof="0" dirty="0" err="1">
                <a:ln>
                  <a:noFill/>
                </a:ln>
                <a:solidFill>
                  <a:srgbClr val="000000"/>
                </a:solidFill>
                <a:effectLst/>
                <a:uLnTx/>
                <a:uFillTx/>
                <a:latin typeface="Tahoma" panose="020B0604030504040204" pitchFamily="34" charset="0"/>
              </a:rPr>
              <a:t>op.operation</a:t>
            </a: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(a, b);</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panose="020B0604030504040204" pitchFamily="34" charset="0"/>
              </a:rPr>
              <a:t> }</a:t>
            </a:r>
            <a:endParaRPr kumimoji="0" lang="el-GR" sz="1400" b="0" i="0" u="none" strike="noStrike" kern="0" cap="none" spc="0" normalizeH="0" baseline="0" noProof="0" dirty="0">
              <a:ln>
                <a:noFill/>
              </a:ln>
              <a:solidFill>
                <a:srgbClr val="000000"/>
              </a:solidFill>
              <a:effectLst/>
              <a:uLnTx/>
              <a:uFillTx/>
              <a:latin typeface="Tahoma" pitchFamily="34" charset="0"/>
            </a:endParaRPr>
          </a:p>
        </p:txBody>
      </p:sp>
      <p:sp>
        <p:nvSpPr>
          <p:cNvPr id="9" name="Θέση υποσέλιδου 4">
            <a:extLst>
              <a:ext uri="{FF2B5EF4-FFF2-40B4-BE49-F238E27FC236}">
                <a16:creationId xmlns:a16="http://schemas.microsoft.com/office/drawing/2014/main" id="{E9EC84F1-CBF4-1F67-89D6-0B46630CF77D}"/>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144812626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Rectangle 3">
            <a:extLst>
              <a:ext uri="{FF2B5EF4-FFF2-40B4-BE49-F238E27FC236}">
                <a16:creationId xmlns:a16="http://schemas.microsoft.com/office/drawing/2014/main" id="{F569FD65-6C32-4251-AC14-0AD042ADB2C6}"/>
              </a:ext>
            </a:extLst>
          </p:cNvPr>
          <p:cNvSpPr txBox="1">
            <a:spLocks noChangeArrowheads="1"/>
          </p:cNvSpPr>
          <p:nvPr/>
        </p:nvSpPr>
        <p:spPr bwMode="auto">
          <a:xfrm>
            <a:off x="355598" y="1368491"/>
            <a:ext cx="11480801" cy="3901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90000"/>
              </a:lnSpc>
              <a:buClr>
                <a:srgbClr val="3333CC"/>
              </a:buClr>
            </a:pPr>
            <a:r>
              <a:rPr lang="en-US" altLang="el-GR" dirty="0">
                <a:solidFill>
                  <a:srgbClr val="000000"/>
                </a:solidFill>
                <a:latin typeface="Tahoma"/>
              </a:rPr>
              <a:t>RPN Calculator </a:t>
            </a:r>
            <a:r>
              <a:rPr lang="el-GR" altLang="el-GR" dirty="0">
                <a:solidFill>
                  <a:srgbClr val="000000"/>
                </a:solidFill>
                <a:latin typeface="Tahoma"/>
              </a:rPr>
              <a:t>με γραφική </a:t>
            </a:r>
            <a:r>
              <a:rPr lang="el-GR" altLang="el-GR" dirty="0" err="1">
                <a:solidFill>
                  <a:srgbClr val="000000"/>
                </a:solidFill>
                <a:latin typeface="Tahoma"/>
              </a:rPr>
              <a:t>διεπαφή</a:t>
            </a:r>
            <a:endParaRPr lang="el-GR" altLang="el-GR" dirty="0">
              <a:solidFill>
                <a:srgbClr val="000000"/>
              </a:solidFill>
              <a:latin typeface="Tahoma"/>
            </a:endParaRPr>
          </a:p>
          <a:p>
            <a:pPr lvl="1" eaLnBrk="1" hangingPunct="1">
              <a:lnSpc>
                <a:spcPct val="90000"/>
              </a:lnSpc>
              <a:buClr>
                <a:srgbClr val="3333CC"/>
              </a:buClr>
            </a:pPr>
            <a:r>
              <a:rPr lang="el-GR" altLang="el-GR" dirty="0">
                <a:solidFill>
                  <a:srgbClr val="000000"/>
                </a:solidFill>
                <a:latin typeface="Tahoma"/>
              </a:rPr>
              <a:t>δομή εφαρμογής</a:t>
            </a:r>
          </a:p>
          <a:p>
            <a:pPr lvl="1" eaLnBrk="1" hangingPunct="1">
              <a:lnSpc>
                <a:spcPct val="90000"/>
              </a:lnSpc>
              <a:buClr>
                <a:srgbClr val="3333CC"/>
              </a:buClr>
            </a:pPr>
            <a:r>
              <a:rPr lang="el-GR" altLang="el-GR" dirty="0">
                <a:solidFill>
                  <a:srgbClr val="000000"/>
                </a:solidFill>
                <a:latin typeface="Tahoma"/>
              </a:rPr>
              <a:t>αρμοδιότητες (</a:t>
            </a:r>
            <a:r>
              <a:rPr lang="en-GB" altLang="el-GR" dirty="0">
                <a:solidFill>
                  <a:srgbClr val="000000"/>
                </a:solidFill>
                <a:latin typeface="Tahoma"/>
              </a:rPr>
              <a:t>Responsibilities</a:t>
            </a:r>
            <a:r>
              <a:rPr lang="el-GR" altLang="el-GR" dirty="0">
                <a:solidFill>
                  <a:srgbClr val="000000"/>
                </a:solidFill>
                <a:latin typeface="Tahoma"/>
              </a:rPr>
              <a:t>) συνιστωσών</a:t>
            </a:r>
          </a:p>
          <a:p>
            <a:pPr lvl="1" eaLnBrk="1" hangingPunct="1">
              <a:lnSpc>
                <a:spcPct val="90000"/>
              </a:lnSpc>
              <a:buClr>
                <a:srgbClr val="3333CC"/>
              </a:buClr>
            </a:pPr>
            <a:r>
              <a:rPr lang="el-GR" altLang="el-GR" kern="0" dirty="0">
                <a:solidFill>
                  <a:srgbClr val="000000"/>
                </a:solidFill>
                <a:latin typeface="Tahoma"/>
              </a:rPr>
              <a:t>αλληλεπιδράσεις συνιστωσών </a:t>
            </a:r>
            <a:endParaRPr lang="en-GB" altLang="el-GR" kern="0" dirty="0">
              <a:solidFill>
                <a:srgbClr val="000000"/>
              </a:solidFill>
              <a:latin typeface="Tahoma"/>
            </a:endParaRPr>
          </a:p>
          <a:p>
            <a:pPr eaLnBrk="1" hangingPunct="1">
              <a:lnSpc>
                <a:spcPct val="90000"/>
              </a:lnSpc>
              <a:buClr>
                <a:srgbClr val="3333CC"/>
              </a:buClr>
            </a:pPr>
            <a:r>
              <a:rPr lang="en-GB" altLang="el-GR" kern="0" dirty="0">
                <a:solidFill>
                  <a:srgbClr val="000000"/>
                </a:solidFill>
                <a:latin typeface="Tahoma"/>
              </a:rPr>
              <a:t>System integration</a:t>
            </a:r>
            <a:endParaRPr lang="el-GR" altLang="el-GR" kern="0" dirty="0">
              <a:solidFill>
                <a:srgbClr val="000000"/>
              </a:solidFill>
              <a:latin typeface="Tahoma"/>
            </a:endParaRPr>
          </a:p>
          <a:p>
            <a:pPr lvl="1" eaLnBrk="1" hangingPunct="1">
              <a:lnSpc>
                <a:spcPct val="90000"/>
              </a:lnSpc>
              <a:buClr>
                <a:srgbClr val="3333CC"/>
              </a:buClr>
            </a:pPr>
            <a:r>
              <a:rPr lang="el-GR" altLang="el-GR" kern="0" dirty="0">
                <a:solidFill>
                  <a:srgbClr val="000000"/>
                </a:solidFill>
                <a:latin typeface="Tahoma"/>
              </a:rPr>
              <a:t>Χρήση </a:t>
            </a:r>
            <a:r>
              <a:rPr lang="en-GB" altLang="el-GR" kern="0" dirty="0">
                <a:solidFill>
                  <a:srgbClr val="000000"/>
                </a:solidFill>
                <a:latin typeface="Tahoma"/>
              </a:rPr>
              <a:t>third party libraries</a:t>
            </a:r>
          </a:p>
          <a:p>
            <a:pPr lvl="1" eaLnBrk="1" hangingPunct="1">
              <a:lnSpc>
                <a:spcPct val="90000"/>
              </a:lnSpc>
              <a:buClr>
                <a:srgbClr val="3333CC"/>
              </a:buClr>
            </a:pPr>
            <a:r>
              <a:rPr lang="el-GR" altLang="el-GR" kern="0" dirty="0">
                <a:solidFill>
                  <a:srgbClr val="000000"/>
                </a:solidFill>
                <a:latin typeface="Tahoma"/>
              </a:rPr>
              <a:t>Εξαρτήσεις (</a:t>
            </a:r>
            <a:r>
              <a:rPr lang="en-GB" altLang="el-GR" kern="0" dirty="0">
                <a:solidFill>
                  <a:srgbClr val="000000"/>
                </a:solidFill>
                <a:latin typeface="Tahoma"/>
              </a:rPr>
              <a:t>dependencies)</a:t>
            </a:r>
          </a:p>
          <a:p>
            <a:pPr eaLnBrk="1" hangingPunct="1">
              <a:lnSpc>
                <a:spcPct val="90000"/>
              </a:lnSpc>
              <a:buClr>
                <a:srgbClr val="3333CC"/>
              </a:buClr>
            </a:pPr>
            <a:r>
              <a:rPr lang="el-GR" altLang="el-GR" kern="0" dirty="0">
                <a:solidFill>
                  <a:srgbClr val="000000"/>
                </a:solidFill>
                <a:latin typeface="Tahoma"/>
              </a:rPr>
              <a:t>Πλήρως λειτουργική </a:t>
            </a:r>
            <a:r>
              <a:rPr lang="en-US" altLang="el-GR" dirty="0">
                <a:solidFill>
                  <a:srgbClr val="000000"/>
                </a:solidFill>
                <a:latin typeface="Tahoma"/>
              </a:rPr>
              <a:t>RPN Calculator </a:t>
            </a:r>
            <a:endParaRPr lang="en-GB" altLang="el-GR" kern="0" dirty="0">
              <a:solidFill>
                <a:srgbClr val="000000"/>
              </a:solidFill>
              <a:latin typeface="Tahoma"/>
            </a:endParaRPr>
          </a:p>
          <a:p>
            <a:pPr eaLnBrk="1" hangingPunct="1">
              <a:lnSpc>
                <a:spcPct val="90000"/>
              </a:lnSpc>
              <a:buClr>
                <a:srgbClr val="3333CC"/>
              </a:buClr>
            </a:pPr>
            <a:r>
              <a:rPr lang="en-GB" altLang="el-GR" b="1" kern="0" dirty="0">
                <a:solidFill>
                  <a:srgbClr val="000000"/>
                </a:solidFill>
                <a:latin typeface="Tahoma"/>
              </a:rPr>
              <a:t>Object Interactions</a:t>
            </a:r>
          </a:p>
        </p:txBody>
      </p:sp>
      <p:sp>
        <p:nvSpPr>
          <p:cNvPr id="5" name="Θέση υποσέλιδου 4">
            <a:extLst>
              <a:ext uri="{FF2B5EF4-FFF2-40B4-BE49-F238E27FC236}">
                <a16:creationId xmlns:a16="http://schemas.microsoft.com/office/drawing/2014/main" id="{CA4A5C02-4433-0A27-F614-6DE7DCDCA8D1}"/>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212617368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Αποστολή μηνύματος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pic>
        <p:nvPicPr>
          <p:cNvPr id="5" name="Picture 4">
            <a:extLst>
              <a:ext uri="{FF2B5EF4-FFF2-40B4-BE49-F238E27FC236}">
                <a16:creationId xmlns:a16="http://schemas.microsoft.com/office/drawing/2014/main" id="{B19457A0-C726-732D-5E3C-284255FA1594}"/>
              </a:ext>
            </a:extLst>
          </p:cNvPr>
          <p:cNvPicPr>
            <a:picLocks noChangeAspect="1"/>
          </p:cNvPicPr>
          <p:nvPr/>
        </p:nvPicPr>
        <p:blipFill>
          <a:blip r:embed="rId3"/>
          <a:stretch>
            <a:fillRect/>
          </a:stretch>
        </p:blipFill>
        <p:spPr>
          <a:xfrm>
            <a:off x="48597" y="1045428"/>
            <a:ext cx="10276344" cy="2383572"/>
          </a:xfrm>
          <a:prstGeom prst="rect">
            <a:avLst/>
          </a:prstGeom>
        </p:spPr>
      </p:pic>
      <p:pic>
        <p:nvPicPr>
          <p:cNvPr id="14" name="Picture 13">
            <a:extLst>
              <a:ext uri="{FF2B5EF4-FFF2-40B4-BE49-F238E27FC236}">
                <a16:creationId xmlns:a16="http://schemas.microsoft.com/office/drawing/2014/main" id="{57A8D2B0-8C4A-8245-6C8D-E4E2CEA99E33}"/>
              </a:ext>
            </a:extLst>
          </p:cNvPr>
          <p:cNvPicPr>
            <a:picLocks noChangeAspect="1"/>
          </p:cNvPicPr>
          <p:nvPr/>
        </p:nvPicPr>
        <p:blipFill>
          <a:blip r:embed="rId4"/>
          <a:stretch>
            <a:fillRect/>
          </a:stretch>
        </p:blipFill>
        <p:spPr>
          <a:xfrm>
            <a:off x="66072" y="3755098"/>
            <a:ext cx="7465260" cy="1827942"/>
          </a:xfrm>
          <a:prstGeom prst="rect">
            <a:avLst/>
          </a:prstGeom>
        </p:spPr>
      </p:pic>
      <p:pic>
        <p:nvPicPr>
          <p:cNvPr id="18" name="Picture 17">
            <a:extLst>
              <a:ext uri="{FF2B5EF4-FFF2-40B4-BE49-F238E27FC236}">
                <a16:creationId xmlns:a16="http://schemas.microsoft.com/office/drawing/2014/main" id="{888BB1A3-25A7-7F3C-96DB-AA8A3DAA9BC3}"/>
              </a:ext>
            </a:extLst>
          </p:cNvPr>
          <p:cNvPicPr>
            <a:picLocks noChangeAspect="1"/>
          </p:cNvPicPr>
          <p:nvPr/>
        </p:nvPicPr>
        <p:blipFill>
          <a:blip r:embed="rId5"/>
          <a:stretch>
            <a:fillRect/>
          </a:stretch>
        </p:blipFill>
        <p:spPr>
          <a:xfrm>
            <a:off x="7430867" y="3686582"/>
            <a:ext cx="4718250" cy="2383572"/>
          </a:xfrm>
          <a:prstGeom prst="rect">
            <a:avLst/>
          </a:prstGeom>
        </p:spPr>
      </p:pic>
      <p:sp>
        <p:nvSpPr>
          <p:cNvPr id="4" name="Θέση υποσέλιδου 4">
            <a:extLst>
              <a:ext uri="{FF2B5EF4-FFF2-40B4-BE49-F238E27FC236}">
                <a16:creationId xmlns:a16="http://schemas.microsoft.com/office/drawing/2014/main" id="{0C341A64-02B9-8C94-EDE3-E0B7445AA579}"/>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Development Process – System Integration</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134130847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E26DB777-2335-FA66-7A3F-D92F133E0F9D}"/>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C</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220957488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13454</TotalTime>
  <Words>1266</Words>
  <Application>Microsoft Office PowerPoint</Application>
  <PresentationFormat>Widescreen</PresentationFormat>
  <Paragraphs>297</Paragraphs>
  <Slides>22</Slides>
  <Notes>22</Notes>
  <HiddenSlides>2</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22</vt:i4>
      </vt:variant>
    </vt:vector>
  </HeadingPairs>
  <TitlesOfParts>
    <vt:vector size="34" baseType="lpstr">
      <vt:lpstr>Arial</vt:lpstr>
      <vt:lpstr>Bahnschrift</vt:lpstr>
      <vt:lpstr>Bahnschrift Light</vt:lpstr>
      <vt:lpstr>Calibri</vt:lpstr>
      <vt:lpstr>Calibri Light</vt:lpstr>
      <vt:lpstr>Courier New</vt:lpstr>
      <vt:lpstr>PT Serif</vt:lpstr>
      <vt:lpstr>Tahoma</vt:lpstr>
      <vt:lpstr>Times New Roman</vt:lpstr>
      <vt:lpstr>Wingdings</vt:lpstr>
      <vt:lpstr>Προσαρμοσμένη σχεδίαση</vt:lpstr>
      <vt:lpstr>Θέμα του Office</vt:lpstr>
      <vt:lpstr>PowerPoint Presentation</vt:lpstr>
      <vt:lpstr>Οργάνωση Διάλεξης</vt:lpstr>
      <vt:lpstr>Η γραφική διεπαφή (RPN Calculator Gui)</vt:lpstr>
      <vt:lpstr>RPN Calculator – Identify Objects</vt:lpstr>
      <vt:lpstr>RPN Calculator Constituent objects</vt:lpstr>
      <vt:lpstr>Responsibilities and Interaction</vt:lpstr>
      <vt:lpstr>Class Operand</vt:lpstr>
      <vt:lpstr>CalculatorGui - Operand Interaction</vt:lpstr>
      <vt:lpstr>RpnCalc – Structure and Responsibilities</vt:lpstr>
      <vt:lpstr>Iteration No 3 – Adding Operators</vt:lpstr>
      <vt:lpstr>Οργάνωση Διάλεξης</vt:lpstr>
      <vt:lpstr>H Άσκηση – RPN Calculator </vt:lpstr>
      <vt:lpstr>Class RpnCalculator – Structure and Responsibilities?</vt:lpstr>
      <vt:lpstr>RPN Calculator project (BlueJ) </vt:lpstr>
      <vt:lpstr>RPN Calculator project (BlueJ) </vt:lpstr>
      <vt:lpstr>Οργάνωση Διάλεξης</vt:lpstr>
      <vt:lpstr>Iteration No 4 –using inheritance </vt:lpstr>
      <vt:lpstr>Iteration No 5 – using Interfaces </vt:lpstr>
      <vt:lpstr>Iteration No 6 –  using Lambda</vt:lpstr>
      <vt:lpstr>Οργάνωση Διάλεξης</vt:lpstr>
      <vt:lpstr>Αποστολή μηνύματος</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Ch6_DevelopmentProcess&amp;SystemIntegration</dc:title>
  <dc:creator>Kleanthis Thramboulidis</dc:creator>
  <cp:lastModifiedBy>thrambo@ece.upatras.gr</cp:lastModifiedBy>
  <cp:revision>94</cp:revision>
  <cp:lastPrinted>2023-03-29T12:20:15Z</cp:lastPrinted>
  <dcterms:created xsi:type="dcterms:W3CDTF">2020-03-13T12:21:17Z</dcterms:created>
  <dcterms:modified xsi:type="dcterms:W3CDTF">2024-10-09T06:03:20Z</dcterms:modified>
</cp:coreProperties>
</file>