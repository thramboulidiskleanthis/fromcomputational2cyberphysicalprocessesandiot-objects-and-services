
<file path=[Content_Types].xml><?xml version="1.0" encoding="utf-8"?>
<Types xmlns="http://schemas.openxmlformats.org/package/2006/content-types">
  <Default Extension="bin" ContentType="application/vnd.openxmlformats-officedocument.oleObject"/>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892" r:id="rId2"/>
  </p:sldMasterIdLst>
  <p:notesMasterIdLst>
    <p:notesMasterId r:id="rId30"/>
  </p:notesMasterIdLst>
  <p:sldIdLst>
    <p:sldId id="262" r:id="rId3"/>
    <p:sldId id="826" r:id="rId4"/>
    <p:sldId id="760" r:id="rId5"/>
    <p:sldId id="849" r:id="rId6"/>
    <p:sldId id="846" r:id="rId7"/>
    <p:sldId id="827" r:id="rId8"/>
    <p:sldId id="828" r:id="rId9"/>
    <p:sldId id="832" r:id="rId10"/>
    <p:sldId id="830" r:id="rId11"/>
    <p:sldId id="831" r:id="rId12"/>
    <p:sldId id="847" r:id="rId13"/>
    <p:sldId id="811" r:id="rId14"/>
    <p:sldId id="833" r:id="rId15"/>
    <p:sldId id="834" r:id="rId16"/>
    <p:sldId id="817" r:id="rId17"/>
    <p:sldId id="820" r:id="rId18"/>
    <p:sldId id="822" r:id="rId19"/>
    <p:sldId id="836" r:id="rId20"/>
    <p:sldId id="848" r:id="rId21"/>
    <p:sldId id="839" r:id="rId22"/>
    <p:sldId id="840" r:id="rId23"/>
    <p:sldId id="838" r:id="rId24"/>
    <p:sldId id="842" r:id="rId25"/>
    <p:sldId id="841" r:id="rId26"/>
    <p:sldId id="843" r:id="rId27"/>
    <p:sldId id="844" r:id="rId28"/>
    <p:sldId id="845" r:id="rId29"/>
  </p:sldIdLst>
  <p:sldSz cx="12192000" cy="6858000"/>
  <p:notesSz cx="6858000" cy="9144000"/>
  <p:defaultText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3CDBB"/>
    <a:srgbClr val="60D69E"/>
    <a:srgbClr val="869391"/>
    <a:srgbClr val="F9853D"/>
    <a:srgbClr val="FDCBAD"/>
    <a:srgbClr val="FBAD7D"/>
    <a:srgbClr val="61649B"/>
    <a:srgbClr val="E49252"/>
    <a:srgbClr val="FFFFFF"/>
    <a:srgbClr val="2E359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353" autoAdjust="0"/>
    <p:restoredTop sz="84676" autoAdjust="0"/>
  </p:normalViewPr>
  <p:slideViewPr>
    <p:cSldViewPr snapToGrid="0">
      <p:cViewPr varScale="1">
        <p:scale>
          <a:sx n="58" d="100"/>
          <a:sy n="58" d="100"/>
        </p:scale>
        <p:origin x="876" y="66"/>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Θέση κεφαλίδας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l-GR"/>
          </a:p>
        </p:txBody>
      </p:sp>
      <p:sp>
        <p:nvSpPr>
          <p:cNvPr id="3" name="Θέση ημερομηνίας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120127-9FC1-4D44-BFF2-2F77E5433948}" type="datetimeFigureOut">
              <a:rPr lang="el-GR" smtClean="0"/>
              <a:t>9/10/2024</a:t>
            </a:fld>
            <a:endParaRPr lang="el-GR"/>
          </a:p>
        </p:txBody>
      </p:sp>
      <p:sp>
        <p:nvSpPr>
          <p:cNvPr id="4" name="Θέση εικόνας διαφάνειας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l-GR"/>
          </a:p>
        </p:txBody>
      </p:sp>
      <p:sp>
        <p:nvSpPr>
          <p:cNvPr id="5" name="Θέση σημειώσεων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6" name="Θέση υποσέλιδου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l-GR"/>
          </a:p>
        </p:txBody>
      </p:sp>
      <p:sp>
        <p:nvSpPr>
          <p:cNvPr id="7" name="Θέση αριθμού διαφάνειας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D89646-4F35-49C2-BD28-89287C170EC3}" type="slidenum">
              <a:rPr lang="el-GR" smtClean="0"/>
              <a:t>‹#›</a:t>
            </a:fld>
            <a:endParaRPr lang="el-GR"/>
          </a:p>
        </p:txBody>
      </p:sp>
    </p:spTree>
    <p:extLst>
      <p:ext uri="{BB962C8B-B14F-4D97-AF65-F5344CB8AC3E}">
        <p14:creationId xmlns:p14="http://schemas.microsoft.com/office/powerpoint/2010/main" val="5486651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l-GR" dirty="0"/>
          </a:p>
        </p:txBody>
      </p:sp>
      <p:sp>
        <p:nvSpPr>
          <p:cNvPr id="4" name="Θέση αριθμού διαφάνειας 3"/>
          <p:cNvSpPr>
            <a:spLocks noGrp="1"/>
          </p:cNvSpPr>
          <p:nvPr>
            <p:ph type="sldNum" sz="quarter" idx="10"/>
          </p:nvPr>
        </p:nvSpPr>
        <p:spPr/>
        <p:txBody>
          <a:bodyPr/>
          <a:lstStyle/>
          <a:p>
            <a:fld id="{C9D89646-4F35-49C2-BD28-89287C170EC3}" type="slidenum">
              <a:rPr lang="el-GR" smtClean="0"/>
              <a:t>1</a:t>
            </a:fld>
            <a:endParaRPr lang="el-GR"/>
          </a:p>
        </p:txBody>
      </p:sp>
    </p:spTree>
    <p:extLst>
      <p:ext uri="{BB962C8B-B14F-4D97-AF65-F5344CB8AC3E}">
        <p14:creationId xmlns:p14="http://schemas.microsoft.com/office/powerpoint/2010/main" val="3389721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660725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327884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335348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557213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681653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12066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11505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510970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887276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758741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093170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07620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248155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378601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815099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000338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693470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055353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836212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764368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317276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104355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4109012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162467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8846494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D89646-4F35-49C2-BD28-89287C170EC3}" type="slidenum">
              <a:rPr kumimoji="0" lang="el-G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l-G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779959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Διαφάνεια τίτλου">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1720F0C6-20AC-41EB-97A9-F4D49B814E72}"/>
              </a:ext>
            </a:extLst>
          </p:cNvPr>
          <p:cNvSpPr>
            <a:spLocks noGrp="1"/>
          </p:cNvSpPr>
          <p:nvPr>
            <p:ph type="ctrTitle"/>
          </p:nvPr>
        </p:nvSpPr>
        <p:spPr>
          <a:xfrm>
            <a:off x="1524000" y="1122363"/>
            <a:ext cx="9144000" cy="2387600"/>
          </a:xfrm>
        </p:spPr>
        <p:txBody>
          <a:bodyPr anchor="b"/>
          <a:lstStyle>
            <a:lvl1pPr algn="ctr">
              <a:defRPr sz="6000"/>
            </a:lvl1pPr>
          </a:lstStyle>
          <a:p>
            <a:r>
              <a:rPr lang="el-GR"/>
              <a:t>Κάντε κλικ για να επεξεργαστείτε τον τίτλο υποδείγματος</a:t>
            </a:r>
          </a:p>
        </p:txBody>
      </p:sp>
      <p:sp>
        <p:nvSpPr>
          <p:cNvPr id="3" name="Υπότιτλος 2">
            <a:extLst>
              <a:ext uri="{FF2B5EF4-FFF2-40B4-BE49-F238E27FC236}">
                <a16:creationId xmlns:a16="http://schemas.microsoft.com/office/drawing/2014/main" id="{E32E3D7A-E6B7-4F3B-A3A4-4325517390C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l-GR"/>
              <a:t>Κάντε κλικ για να επεξεργαστείτε τον υπότιτλο του υποδείγματος</a:t>
            </a:r>
          </a:p>
        </p:txBody>
      </p:sp>
      <p:sp>
        <p:nvSpPr>
          <p:cNvPr id="4" name="Θέση ημερομηνίας 3">
            <a:extLst>
              <a:ext uri="{FF2B5EF4-FFF2-40B4-BE49-F238E27FC236}">
                <a16:creationId xmlns:a16="http://schemas.microsoft.com/office/drawing/2014/main" id="{5913F9FC-9EB9-4B41-B003-FC4C036B10AF}"/>
              </a:ext>
            </a:extLst>
          </p:cNvPr>
          <p:cNvSpPr>
            <a:spLocks noGrp="1"/>
          </p:cNvSpPr>
          <p:nvPr>
            <p:ph type="dt" sz="half" idx="10"/>
          </p:nvPr>
        </p:nvSpPr>
        <p:spPr/>
        <p:txBody>
          <a:bodyPr/>
          <a:lstStyle/>
          <a:p>
            <a:fld id="{77C47DEE-5753-44EA-A073-053903F4D65C}" type="datetimeFigureOut">
              <a:rPr lang="el-GR" smtClean="0"/>
              <a:t>9/10/2024</a:t>
            </a:fld>
            <a:endParaRPr lang="el-GR"/>
          </a:p>
        </p:txBody>
      </p:sp>
      <p:sp>
        <p:nvSpPr>
          <p:cNvPr id="5" name="Θέση υποσέλιδου 4">
            <a:extLst>
              <a:ext uri="{FF2B5EF4-FFF2-40B4-BE49-F238E27FC236}">
                <a16:creationId xmlns:a16="http://schemas.microsoft.com/office/drawing/2014/main" id="{3FB8E113-6156-4872-81CC-442E8373B36D}"/>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76173B9A-A0EA-47D7-8D18-B6E2BD95D9D4}"/>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299227115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Τίτλος και περιεχόμενο">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AFF7B4CC-9312-4102-9C7A-DD5776C36EC4}"/>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περιεχομένου 2">
            <a:extLst>
              <a:ext uri="{FF2B5EF4-FFF2-40B4-BE49-F238E27FC236}">
                <a16:creationId xmlns:a16="http://schemas.microsoft.com/office/drawing/2014/main" id="{59207E59-B014-409F-8E39-F07CF6FA4572}"/>
              </a:ext>
            </a:extLst>
          </p:cNvPr>
          <p:cNvSpPr>
            <a:spLocks noGrp="1"/>
          </p:cNvSpPr>
          <p:nvPr>
            <p:ph idx="1"/>
          </p:nvPr>
        </p:nvSpPr>
        <p:spPr/>
        <p:txBody>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a:extLst>
              <a:ext uri="{FF2B5EF4-FFF2-40B4-BE49-F238E27FC236}">
                <a16:creationId xmlns:a16="http://schemas.microsoft.com/office/drawing/2014/main" id="{D28C698E-FDE3-406F-AEF7-58C354D6FB0E}"/>
              </a:ext>
            </a:extLst>
          </p:cNvPr>
          <p:cNvSpPr>
            <a:spLocks noGrp="1"/>
          </p:cNvSpPr>
          <p:nvPr>
            <p:ph type="dt" sz="half" idx="10"/>
          </p:nvPr>
        </p:nvSpPr>
        <p:spPr/>
        <p:txBody>
          <a:bodyPr/>
          <a:lstStyle/>
          <a:p>
            <a:fld id="{77C47DEE-5753-44EA-A073-053903F4D65C}" type="datetimeFigureOut">
              <a:rPr lang="el-GR" smtClean="0"/>
              <a:t>9/10/2024</a:t>
            </a:fld>
            <a:endParaRPr lang="el-GR"/>
          </a:p>
        </p:txBody>
      </p:sp>
      <p:sp>
        <p:nvSpPr>
          <p:cNvPr id="5" name="Θέση υποσέλιδου 4">
            <a:extLst>
              <a:ext uri="{FF2B5EF4-FFF2-40B4-BE49-F238E27FC236}">
                <a16:creationId xmlns:a16="http://schemas.microsoft.com/office/drawing/2014/main" id="{1DBB6EE0-1F7E-4C3D-8524-627F4FAB7F04}"/>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115A0C17-4537-4F4D-B727-1C89BF11BF95}"/>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220215051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Κεφαλίδα ενότητας">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0FAD7298-5AF8-4835-97EB-C16ED6D23C12}"/>
              </a:ext>
            </a:extLst>
          </p:cNvPr>
          <p:cNvSpPr>
            <a:spLocks noGrp="1"/>
          </p:cNvSpPr>
          <p:nvPr>
            <p:ph type="title"/>
          </p:nvPr>
        </p:nvSpPr>
        <p:spPr>
          <a:xfrm>
            <a:off x="831850" y="1709738"/>
            <a:ext cx="10515600" cy="2852737"/>
          </a:xfrm>
        </p:spPr>
        <p:txBody>
          <a:bodyPr anchor="b"/>
          <a:lstStyle>
            <a:lvl1pPr>
              <a:defRPr sz="6000"/>
            </a:lvl1pPr>
          </a:lstStyle>
          <a:p>
            <a:r>
              <a:rPr lang="el-GR"/>
              <a:t>Κάντε κλικ για να επεξεργαστείτε τον τίτλο υποδείγματος</a:t>
            </a:r>
          </a:p>
        </p:txBody>
      </p:sp>
      <p:sp>
        <p:nvSpPr>
          <p:cNvPr id="3" name="Θέση κειμένου 2">
            <a:extLst>
              <a:ext uri="{FF2B5EF4-FFF2-40B4-BE49-F238E27FC236}">
                <a16:creationId xmlns:a16="http://schemas.microsoft.com/office/drawing/2014/main" id="{3D2EC4FE-ACD0-4F71-A34B-36ED9050612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l-GR"/>
              <a:t>Επεξεργασία στυλ υποδείγματος κειμένου</a:t>
            </a:r>
          </a:p>
        </p:txBody>
      </p:sp>
      <p:sp>
        <p:nvSpPr>
          <p:cNvPr id="4" name="Θέση ημερομηνίας 3">
            <a:extLst>
              <a:ext uri="{FF2B5EF4-FFF2-40B4-BE49-F238E27FC236}">
                <a16:creationId xmlns:a16="http://schemas.microsoft.com/office/drawing/2014/main" id="{0525369C-E8DA-4A41-A021-C2AFFA6BA4A0}"/>
              </a:ext>
            </a:extLst>
          </p:cNvPr>
          <p:cNvSpPr>
            <a:spLocks noGrp="1"/>
          </p:cNvSpPr>
          <p:nvPr>
            <p:ph type="dt" sz="half" idx="10"/>
          </p:nvPr>
        </p:nvSpPr>
        <p:spPr/>
        <p:txBody>
          <a:bodyPr/>
          <a:lstStyle/>
          <a:p>
            <a:fld id="{77C47DEE-5753-44EA-A073-053903F4D65C}" type="datetimeFigureOut">
              <a:rPr lang="el-GR" smtClean="0"/>
              <a:t>9/10/2024</a:t>
            </a:fld>
            <a:endParaRPr lang="el-GR"/>
          </a:p>
        </p:txBody>
      </p:sp>
      <p:sp>
        <p:nvSpPr>
          <p:cNvPr id="5" name="Θέση υποσέλιδου 4">
            <a:extLst>
              <a:ext uri="{FF2B5EF4-FFF2-40B4-BE49-F238E27FC236}">
                <a16:creationId xmlns:a16="http://schemas.microsoft.com/office/drawing/2014/main" id="{09E6631D-4B2B-42B6-B88C-990FA7605C60}"/>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54B4A319-5C9B-46DF-96B8-F30BC39F7913}"/>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394177447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Δύο περιεχόμεν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8DD86A31-D5EC-46FA-A235-F151422FA948}"/>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περιεχομένου 2">
            <a:extLst>
              <a:ext uri="{FF2B5EF4-FFF2-40B4-BE49-F238E27FC236}">
                <a16:creationId xmlns:a16="http://schemas.microsoft.com/office/drawing/2014/main" id="{052F68FD-8072-4020-B6C4-C8DEF5ACC9D2}"/>
              </a:ext>
            </a:extLst>
          </p:cNvPr>
          <p:cNvSpPr>
            <a:spLocks noGrp="1"/>
          </p:cNvSpPr>
          <p:nvPr>
            <p:ph sz="half" idx="1"/>
          </p:nvPr>
        </p:nvSpPr>
        <p:spPr>
          <a:xfrm>
            <a:off x="838200" y="1825625"/>
            <a:ext cx="5181600" cy="4351338"/>
          </a:xfrm>
        </p:spPr>
        <p:txBody>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περιεχομένου 3">
            <a:extLst>
              <a:ext uri="{FF2B5EF4-FFF2-40B4-BE49-F238E27FC236}">
                <a16:creationId xmlns:a16="http://schemas.microsoft.com/office/drawing/2014/main" id="{CB43AF00-F0E0-4F57-8814-5AB4B0C031DB}"/>
              </a:ext>
            </a:extLst>
          </p:cNvPr>
          <p:cNvSpPr>
            <a:spLocks noGrp="1"/>
          </p:cNvSpPr>
          <p:nvPr>
            <p:ph sz="half" idx="2"/>
          </p:nvPr>
        </p:nvSpPr>
        <p:spPr>
          <a:xfrm>
            <a:off x="6172200" y="1825625"/>
            <a:ext cx="5181600" cy="4351338"/>
          </a:xfrm>
        </p:spPr>
        <p:txBody>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5" name="Θέση ημερομηνίας 4">
            <a:extLst>
              <a:ext uri="{FF2B5EF4-FFF2-40B4-BE49-F238E27FC236}">
                <a16:creationId xmlns:a16="http://schemas.microsoft.com/office/drawing/2014/main" id="{89D9695B-1677-4255-A36B-ADA53963E256}"/>
              </a:ext>
            </a:extLst>
          </p:cNvPr>
          <p:cNvSpPr>
            <a:spLocks noGrp="1"/>
          </p:cNvSpPr>
          <p:nvPr>
            <p:ph type="dt" sz="half" idx="10"/>
          </p:nvPr>
        </p:nvSpPr>
        <p:spPr/>
        <p:txBody>
          <a:bodyPr/>
          <a:lstStyle/>
          <a:p>
            <a:fld id="{77C47DEE-5753-44EA-A073-053903F4D65C}" type="datetimeFigureOut">
              <a:rPr lang="el-GR" smtClean="0"/>
              <a:t>9/10/2024</a:t>
            </a:fld>
            <a:endParaRPr lang="el-GR"/>
          </a:p>
        </p:txBody>
      </p:sp>
      <p:sp>
        <p:nvSpPr>
          <p:cNvPr id="6" name="Θέση υποσέλιδου 5">
            <a:extLst>
              <a:ext uri="{FF2B5EF4-FFF2-40B4-BE49-F238E27FC236}">
                <a16:creationId xmlns:a16="http://schemas.microsoft.com/office/drawing/2014/main" id="{32F05351-67C2-46C6-A91C-414650F2CC4A}"/>
              </a:ext>
            </a:extLst>
          </p:cNvPr>
          <p:cNvSpPr>
            <a:spLocks noGrp="1"/>
          </p:cNvSpPr>
          <p:nvPr>
            <p:ph type="ftr" sz="quarter" idx="11"/>
          </p:nvPr>
        </p:nvSpPr>
        <p:spPr/>
        <p:txBody>
          <a:bodyPr/>
          <a:lstStyle/>
          <a:p>
            <a:endParaRPr lang="el-GR"/>
          </a:p>
        </p:txBody>
      </p:sp>
      <p:sp>
        <p:nvSpPr>
          <p:cNvPr id="7" name="Θέση αριθμού διαφάνειας 6">
            <a:extLst>
              <a:ext uri="{FF2B5EF4-FFF2-40B4-BE49-F238E27FC236}">
                <a16:creationId xmlns:a16="http://schemas.microsoft.com/office/drawing/2014/main" id="{7D2959A3-E6A4-4BB0-BE95-F23CF5F56685}"/>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329874069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Σύγκριση">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41550276-9848-4578-8364-691220AD21E6}"/>
              </a:ext>
            </a:extLst>
          </p:cNvPr>
          <p:cNvSpPr>
            <a:spLocks noGrp="1"/>
          </p:cNvSpPr>
          <p:nvPr>
            <p:ph type="title"/>
          </p:nvPr>
        </p:nvSpPr>
        <p:spPr>
          <a:xfrm>
            <a:off x="839788" y="365125"/>
            <a:ext cx="10515600" cy="1325563"/>
          </a:xfrm>
        </p:spPr>
        <p:txBody>
          <a:bodyPr/>
          <a:lstStyle/>
          <a:p>
            <a:r>
              <a:rPr lang="el-GR"/>
              <a:t>Κάντε κλικ για να επεξεργαστείτε τον τίτλο υποδείγματος</a:t>
            </a:r>
          </a:p>
        </p:txBody>
      </p:sp>
      <p:sp>
        <p:nvSpPr>
          <p:cNvPr id="3" name="Θέση κειμένου 2">
            <a:extLst>
              <a:ext uri="{FF2B5EF4-FFF2-40B4-BE49-F238E27FC236}">
                <a16:creationId xmlns:a16="http://schemas.microsoft.com/office/drawing/2014/main" id="{11C9CFA5-81EF-4418-9CE2-C9EB8CE5F81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Επεξεργασία στυλ υποδείγματος κειμένου</a:t>
            </a:r>
          </a:p>
        </p:txBody>
      </p:sp>
      <p:sp>
        <p:nvSpPr>
          <p:cNvPr id="4" name="Θέση περιεχομένου 3">
            <a:extLst>
              <a:ext uri="{FF2B5EF4-FFF2-40B4-BE49-F238E27FC236}">
                <a16:creationId xmlns:a16="http://schemas.microsoft.com/office/drawing/2014/main" id="{8144BA92-B3F1-426D-9721-D505666C5228}"/>
              </a:ext>
            </a:extLst>
          </p:cNvPr>
          <p:cNvSpPr>
            <a:spLocks noGrp="1"/>
          </p:cNvSpPr>
          <p:nvPr>
            <p:ph sz="half" idx="2"/>
          </p:nvPr>
        </p:nvSpPr>
        <p:spPr>
          <a:xfrm>
            <a:off x="839788" y="2505075"/>
            <a:ext cx="5157787" cy="3684588"/>
          </a:xfrm>
        </p:spPr>
        <p:txBody>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5" name="Θέση κειμένου 4">
            <a:extLst>
              <a:ext uri="{FF2B5EF4-FFF2-40B4-BE49-F238E27FC236}">
                <a16:creationId xmlns:a16="http://schemas.microsoft.com/office/drawing/2014/main" id="{34964523-2FE6-420B-BF7F-3ED5906588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Επεξεργασία στυλ υποδείγματος κειμένου</a:t>
            </a:r>
          </a:p>
        </p:txBody>
      </p:sp>
      <p:sp>
        <p:nvSpPr>
          <p:cNvPr id="6" name="Θέση περιεχομένου 5">
            <a:extLst>
              <a:ext uri="{FF2B5EF4-FFF2-40B4-BE49-F238E27FC236}">
                <a16:creationId xmlns:a16="http://schemas.microsoft.com/office/drawing/2014/main" id="{4EE8D821-AC0B-4F1C-AC1B-68CAEA6E8CA5}"/>
              </a:ext>
            </a:extLst>
          </p:cNvPr>
          <p:cNvSpPr>
            <a:spLocks noGrp="1"/>
          </p:cNvSpPr>
          <p:nvPr>
            <p:ph sz="quarter" idx="4"/>
          </p:nvPr>
        </p:nvSpPr>
        <p:spPr>
          <a:xfrm>
            <a:off x="6172200" y="2505075"/>
            <a:ext cx="5183188" cy="3684588"/>
          </a:xfrm>
        </p:spPr>
        <p:txBody>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7" name="Θέση ημερομηνίας 6">
            <a:extLst>
              <a:ext uri="{FF2B5EF4-FFF2-40B4-BE49-F238E27FC236}">
                <a16:creationId xmlns:a16="http://schemas.microsoft.com/office/drawing/2014/main" id="{0836FDB2-AE28-437A-B450-FC5FA0970633}"/>
              </a:ext>
            </a:extLst>
          </p:cNvPr>
          <p:cNvSpPr>
            <a:spLocks noGrp="1"/>
          </p:cNvSpPr>
          <p:nvPr>
            <p:ph type="dt" sz="half" idx="10"/>
          </p:nvPr>
        </p:nvSpPr>
        <p:spPr/>
        <p:txBody>
          <a:bodyPr/>
          <a:lstStyle/>
          <a:p>
            <a:fld id="{77C47DEE-5753-44EA-A073-053903F4D65C}" type="datetimeFigureOut">
              <a:rPr lang="el-GR" smtClean="0"/>
              <a:t>9/10/2024</a:t>
            </a:fld>
            <a:endParaRPr lang="el-GR"/>
          </a:p>
        </p:txBody>
      </p:sp>
      <p:sp>
        <p:nvSpPr>
          <p:cNvPr id="8" name="Θέση υποσέλιδου 7">
            <a:extLst>
              <a:ext uri="{FF2B5EF4-FFF2-40B4-BE49-F238E27FC236}">
                <a16:creationId xmlns:a16="http://schemas.microsoft.com/office/drawing/2014/main" id="{3CC56F37-5360-4ED6-9EFB-B4959D6A052A}"/>
              </a:ext>
            </a:extLst>
          </p:cNvPr>
          <p:cNvSpPr>
            <a:spLocks noGrp="1"/>
          </p:cNvSpPr>
          <p:nvPr>
            <p:ph type="ftr" sz="quarter" idx="11"/>
          </p:nvPr>
        </p:nvSpPr>
        <p:spPr/>
        <p:txBody>
          <a:bodyPr/>
          <a:lstStyle/>
          <a:p>
            <a:endParaRPr lang="el-GR"/>
          </a:p>
        </p:txBody>
      </p:sp>
      <p:sp>
        <p:nvSpPr>
          <p:cNvPr id="9" name="Θέση αριθμού διαφάνειας 8">
            <a:extLst>
              <a:ext uri="{FF2B5EF4-FFF2-40B4-BE49-F238E27FC236}">
                <a16:creationId xmlns:a16="http://schemas.microsoft.com/office/drawing/2014/main" id="{8423FDBB-6E0A-4AD0-AD73-FB22040EE5F5}"/>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188523971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Μόνο τίτλος">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12BE337C-659B-44A0-815E-1CE7F2FDBE91}"/>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ημερομηνίας 2">
            <a:extLst>
              <a:ext uri="{FF2B5EF4-FFF2-40B4-BE49-F238E27FC236}">
                <a16:creationId xmlns:a16="http://schemas.microsoft.com/office/drawing/2014/main" id="{59D7B6A3-3626-4AD7-97D4-F6210A23721E}"/>
              </a:ext>
            </a:extLst>
          </p:cNvPr>
          <p:cNvSpPr>
            <a:spLocks noGrp="1"/>
          </p:cNvSpPr>
          <p:nvPr>
            <p:ph type="dt" sz="half" idx="10"/>
          </p:nvPr>
        </p:nvSpPr>
        <p:spPr/>
        <p:txBody>
          <a:bodyPr/>
          <a:lstStyle/>
          <a:p>
            <a:fld id="{77C47DEE-5753-44EA-A073-053903F4D65C}" type="datetimeFigureOut">
              <a:rPr lang="el-GR" smtClean="0"/>
              <a:t>9/10/2024</a:t>
            </a:fld>
            <a:endParaRPr lang="el-GR"/>
          </a:p>
        </p:txBody>
      </p:sp>
      <p:sp>
        <p:nvSpPr>
          <p:cNvPr id="4" name="Θέση υποσέλιδου 3">
            <a:extLst>
              <a:ext uri="{FF2B5EF4-FFF2-40B4-BE49-F238E27FC236}">
                <a16:creationId xmlns:a16="http://schemas.microsoft.com/office/drawing/2014/main" id="{D50B290B-CDC6-4F07-927A-EB7F796E2DA3}"/>
              </a:ext>
            </a:extLst>
          </p:cNvPr>
          <p:cNvSpPr>
            <a:spLocks noGrp="1"/>
          </p:cNvSpPr>
          <p:nvPr>
            <p:ph type="ftr" sz="quarter" idx="11"/>
          </p:nvPr>
        </p:nvSpPr>
        <p:spPr/>
        <p:txBody>
          <a:bodyPr/>
          <a:lstStyle/>
          <a:p>
            <a:endParaRPr lang="el-GR"/>
          </a:p>
        </p:txBody>
      </p:sp>
      <p:sp>
        <p:nvSpPr>
          <p:cNvPr id="5" name="Θέση αριθμού διαφάνειας 4">
            <a:extLst>
              <a:ext uri="{FF2B5EF4-FFF2-40B4-BE49-F238E27FC236}">
                <a16:creationId xmlns:a16="http://schemas.microsoft.com/office/drawing/2014/main" id="{5AD0E512-8E7A-4A77-8496-D36864CFC6EE}"/>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322446073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Κενό">
    <p:spTree>
      <p:nvGrpSpPr>
        <p:cNvPr id="1" name=""/>
        <p:cNvGrpSpPr/>
        <p:nvPr/>
      </p:nvGrpSpPr>
      <p:grpSpPr>
        <a:xfrm>
          <a:off x="0" y="0"/>
          <a:ext cx="0" cy="0"/>
          <a:chOff x="0" y="0"/>
          <a:chExt cx="0" cy="0"/>
        </a:xfrm>
      </p:grpSpPr>
      <p:sp>
        <p:nvSpPr>
          <p:cNvPr id="2" name="Θέση ημερομηνίας 1">
            <a:extLst>
              <a:ext uri="{FF2B5EF4-FFF2-40B4-BE49-F238E27FC236}">
                <a16:creationId xmlns:a16="http://schemas.microsoft.com/office/drawing/2014/main" id="{05F803E6-97F1-4D9B-A18A-566A4A16D1A4}"/>
              </a:ext>
            </a:extLst>
          </p:cNvPr>
          <p:cNvSpPr>
            <a:spLocks noGrp="1"/>
          </p:cNvSpPr>
          <p:nvPr>
            <p:ph type="dt" sz="half" idx="10"/>
          </p:nvPr>
        </p:nvSpPr>
        <p:spPr/>
        <p:txBody>
          <a:bodyPr/>
          <a:lstStyle/>
          <a:p>
            <a:fld id="{77C47DEE-5753-44EA-A073-053903F4D65C}" type="datetimeFigureOut">
              <a:rPr lang="el-GR" smtClean="0"/>
              <a:t>9/10/2024</a:t>
            </a:fld>
            <a:endParaRPr lang="el-GR"/>
          </a:p>
        </p:txBody>
      </p:sp>
      <p:sp>
        <p:nvSpPr>
          <p:cNvPr id="3" name="Θέση υποσέλιδου 2">
            <a:extLst>
              <a:ext uri="{FF2B5EF4-FFF2-40B4-BE49-F238E27FC236}">
                <a16:creationId xmlns:a16="http://schemas.microsoft.com/office/drawing/2014/main" id="{D16003C0-6EB6-4C9B-A531-7B4E3CE4C6EF}"/>
              </a:ext>
            </a:extLst>
          </p:cNvPr>
          <p:cNvSpPr>
            <a:spLocks noGrp="1"/>
          </p:cNvSpPr>
          <p:nvPr>
            <p:ph type="ftr" sz="quarter" idx="11"/>
          </p:nvPr>
        </p:nvSpPr>
        <p:spPr/>
        <p:txBody>
          <a:bodyPr/>
          <a:lstStyle/>
          <a:p>
            <a:endParaRPr lang="el-GR"/>
          </a:p>
        </p:txBody>
      </p:sp>
      <p:sp>
        <p:nvSpPr>
          <p:cNvPr id="4" name="Θέση αριθμού διαφάνειας 3">
            <a:extLst>
              <a:ext uri="{FF2B5EF4-FFF2-40B4-BE49-F238E27FC236}">
                <a16:creationId xmlns:a16="http://schemas.microsoft.com/office/drawing/2014/main" id="{2EA301AA-05AA-466A-BB11-E4CEB6F9F9F8}"/>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70658160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Περιεχόμενο με λεζάντ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FEAAEFBB-DCF4-46CF-9FC6-8D65BCEB99F2}"/>
              </a:ext>
            </a:extLst>
          </p:cNvPr>
          <p:cNvSpPr>
            <a:spLocks noGrp="1"/>
          </p:cNvSpPr>
          <p:nvPr>
            <p:ph type="title"/>
          </p:nvPr>
        </p:nvSpPr>
        <p:spPr>
          <a:xfrm>
            <a:off x="839788" y="457200"/>
            <a:ext cx="3932237" cy="1600200"/>
          </a:xfrm>
        </p:spPr>
        <p:txBody>
          <a:bodyPr anchor="b"/>
          <a:lstStyle>
            <a:lvl1pPr>
              <a:defRPr sz="3200"/>
            </a:lvl1pPr>
          </a:lstStyle>
          <a:p>
            <a:r>
              <a:rPr lang="el-GR"/>
              <a:t>Κάντε κλικ για να επεξεργαστείτε τον τίτλο υποδείγματος</a:t>
            </a:r>
          </a:p>
        </p:txBody>
      </p:sp>
      <p:sp>
        <p:nvSpPr>
          <p:cNvPr id="3" name="Θέση περιεχομένου 2">
            <a:extLst>
              <a:ext uri="{FF2B5EF4-FFF2-40B4-BE49-F238E27FC236}">
                <a16:creationId xmlns:a16="http://schemas.microsoft.com/office/drawing/2014/main" id="{DFACB05B-E524-44F7-BF66-694B0E33382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κειμένου 3">
            <a:extLst>
              <a:ext uri="{FF2B5EF4-FFF2-40B4-BE49-F238E27FC236}">
                <a16:creationId xmlns:a16="http://schemas.microsoft.com/office/drawing/2014/main" id="{5473C60C-80C9-4542-852E-B22F6BA607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Επεξεργασία στυλ υποδείγματος κειμένου</a:t>
            </a:r>
          </a:p>
        </p:txBody>
      </p:sp>
      <p:sp>
        <p:nvSpPr>
          <p:cNvPr id="5" name="Θέση ημερομηνίας 4">
            <a:extLst>
              <a:ext uri="{FF2B5EF4-FFF2-40B4-BE49-F238E27FC236}">
                <a16:creationId xmlns:a16="http://schemas.microsoft.com/office/drawing/2014/main" id="{5209058B-2FCA-4D37-A928-B77A09F78313}"/>
              </a:ext>
            </a:extLst>
          </p:cNvPr>
          <p:cNvSpPr>
            <a:spLocks noGrp="1"/>
          </p:cNvSpPr>
          <p:nvPr>
            <p:ph type="dt" sz="half" idx="10"/>
          </p:nvPr>
        </p:nvSpPr>
        <p:spPr/>
        <p:txBody>
          <a:bodyPr/>
          <a:lstStyle/>
          <a:p>
            <a:fld id="{77C47DEE-5753-44EA-A073-053903F4D65C}" type="datetimeFigureOut">
              <a:rPr lang="el-GR" smtClean="0"/>
              <a:t>9/10/2024</a:t>
            </a:fld>
            <a:endParaRPr lang="el-GR"/>
          </a:p>
        </p:txBody>
      </p:sp>
      <p:sp>
        <p:nvSpPr>
          <p:cNvPr id="6" name="Θέση υποσέλιδου 5">
            <a:extLst>
              <a:ext uri="{FF2B5EF4-FFF2-40B4-BE49-F238E27FC236}">
                <a16:creationId xmlns:a16="http://schemas.microsoft.com/office/drawing/2014/main" id="{2F8D9052-7B1B-4DEA-BE59-76E1CA206034}"/>
              </a:ext>
            </a:extLst>
          </p:cNvPr>
          <p:cNvSpPr>
            <a:spLocks noGrp="1"/>
          </p:cNvSpPr>
          <p:nvPr>
            <p:ph type="ftr" sz="quarter" idx="11"/>
          </p:nvPr>
        </p:nvSpPr>
        <p:spPr/>
        <p:txBody>
          <a:bodyPr/>
          <a:lstStyle/>
          <a:p>
            <a:endParaRPr lang="el-GR"/>
          </a:p>
        </p:txBody>
      </p:sp>
      <p:sp>
        <p:nvSpPr>
          <p:cNvPr id="7" name="Θέση αριθμού διαφάνειας 6">
            <a:extLst>
              <a:ext uri="{FF2B5EF4-FFF2-40B4-BE49-F238E27FC236}">
                <a16:creationId xmlns:a16="http://schemas.microsoft.com/office/drawing/2014/main" id="{7F7BFCBB-BB2D-41CB-8EF4-1D6154D0585F}"/>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254644047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Εικόνα με λεζάντ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7AA72A12-B4CE-41C0-824E-4DB22C0C50F5}"/>
              </a:ext>
            </a:extLst>
          </p:cNvPr>
          <p:cNvSpPr>
            <a:spLocks noGrp="1"/>
          </p:cNvSpPr>
          <p:nvPr>
            <p:ph type="title"/>
          </p:nvPr>
        </p:nvSpPr>
        <p:spPr>
          <a:xfrm>
            <a:off x="839788" y="457200"/>
            <a:ext cx="3932237" cy="1600200"/>
          </a:xfrm>
        </p:spPr>
        <p:txBody>
          <a:bodyPr anchor="b"/>
          <a:lstStyle>
            <a:lvl1pPr>
              <a:defRPr sz="3200"/>
            </a:lvl1pPr>
          </a:lstStyle>
          <a:p>
            <a:r>
              <a:rPr lang="el-GR"/>
              <a:t>Κάντε κλικ για να επεξεργαστείτε τον τίτλο υποδείγματος</a:t>
            </a:r>
          </a:p>
        </p:txBody>
      </p:sp>
      <p:sp>
        <p:nvSpPr>
          <p:cNvPr id="3" name="Θέση εικόνας 2">
            <a:extLst>
              <a:ext uri="{FF2B5EF4-FFF2-40B4-BE49-F238E27FC236}">
                <a16:creationId xmlns:a16="http://schemas.microsoft.com/office/drawing/2014/main" id="{4331ABF6-AF41-4DA6-82BC-340BA63822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l-GR"/>
          </a:p>
        </p:txBody>
      </p:sp>
      <p:sp>
        <p:nvSpPr>
          <p:cNvPr id="4" name="Θέση κειμένου 3">
            <a:extLst>
              <a:ext uri="{FF2B5EF4-FFF2-40B4-BE49-F238E27FC236}">
                <a16:creationId xmlns:a16="http://schemas.microsoft.com/office/drawing/2014/main" id="{D4AD854A-F202-4241-AFA5-8F8D5175F3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Επεξεργασία στυλ υποδείγματος κειμένου</a:t>
            </a:r>
          </a:p>
        </p:txBody>
      </p:sp>
      <p:sp>
        <p:nvSpPr>
          <p:cNvPr id="5" name="Θέση ημερομηνίας 4">
            <a:extLst>
              <a:ext uri="{FF2B5EF4-FFF2-40B4-BE49-F238E27FC236}">
                <a16:creationId xmlns:a16="http://schemas.microsoft.com/office/drawing/2014/main" id="{D2D25601-E5C6-4DAA-A438-750D7B0C4393}"/>
              </a:ext>
            </a:extLst>
          </p:cNvPr>
          <p:cNvSpPr>
            <a:spLocks noGrp="1"/>
          </p:cNvSpPr>
          <p:nvPr>
            <p:ph type="dt" sz="half" idx="10"/>
          </p:nvPr>
        </p:nvSpPr>
        <p:spPr/>
        <p:txBody>
          <a:bodyPr/>
          <a:lstStyle/>
          <a:p>
            <a:fld id="{77C47DEE-5753-44EA-A073-053903F4D65C}" type="datetimeFigureOut">
              <a:rPr lang="el-GR" smtClean="0"/>
              <a:t>9/10/2024</a:t>
            </a:fld>
            <a:endParaRPr lang="el-GR"/>
          </a:p>
        </p:txBody>
      </p:sp>
      <p:sp>
        <p:nvSpPr>
          <p:cNvPr id="6" name="Θέση υποσέλιδου 5">
            <a:extLst>
              <a:ext uri="{FF2B5EF4-FFF2-40B4-BE49-F238E27FC236}">
                <a16:creationId xmlns:a16="http://schemas.microsoft.com/office/drawing/2014/main" id="{C1A411BF-7CE1-4136-85D0-CEA759EB38CE}"/>
              </a:ext>
            </a:extLst>
          </p:cNvPr>
          <p:cNvSpPr>
            <a:spLocks noGrp="1"/>
          </p:cNvSpPr>
          <p:nvPr>
            <p:ph type="ftr" sz="quarter" idx="11"/>
          </p:nvPr>
        </p:nvSpPr>
        <p:spPr/>
        <p:txBody>
          <a:bodyPr/>
          <a:lstStyle/>
          <a:p>
            <a:endParaRPr lang="el-GR"/>
          </a:p>
        </p:txBody>
      </p:sp>
      <p:sp>
        <p:nvSpPr>
          <p:cNvPr id="7" name="Θέση αριθμού διαφάνειας 6">
            <a:extLst>
              <a:ext uri="{FF2B5EF4-FFF2-40B4-BE49-F238E27FC236}">
                <a16:creationId xmlns:a16="http://schemas.microsoft.com/office/drawing/2014/main" id="{EBD64BFB-00A3-49A7-B9AF-C93C938A5D40}"/>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30686341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Τίτλος και Κατακόρυφο κείμενο">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7CBF383B-9D9C-4567-A73F-3964FF66D08D}"/>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κατακόρυφου κειμένου 2">
            <a:extLst>
              <a:ext uri="{FF2B5EF4-FFF2-40B4-BE49-F238E27FC236}">
                <a16:creationId xmlns:a16="http://schemas.microsoft.com/office/drawing/2014/main" id="{42568873-5978-4A13-BA12-F77F173EB2AE}"/>
              </a:ext>
            </a:extLst>
          </p:cNvPr>
          <p:cNvSpPr>
            <a:spLocks noGrp="1"/>
          </p:cNvSpPr>
          <p:nvPr>
            <p:ph type="body" orient="vert" idx="1"/>
          </p:nvPr>
        </p:nvSpPr>
        <p:spPr/>
        <p:txBody>
          <a:bodyPr vert="eaVert"/>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a:extLst>
              <a:ext uri="{FF2B5EF4-FFF2-40B4-BE49-F238E27FC236}">
                <a16:creationId xmlns:a16="http://schemas.microsoft.com/office/drawing/2014/main" id="{788EFFCE-A34B-4F95-B3D5-603927E16998}"/>
              </a:ext>
            </a:extLst>
          </p:cNvPr>
          <p:cNvSpPr>
            <a:spLocks noGrp="1"/>
          </p:cNvSpPr>
          <p:nvPr>
            <p:ph type="dt" sz="half" idx="10"/>
          </p:nvPr>
        </p:nvSpPr>
        <p:spPr/>
        <p:txBody>
          <a:bodyPr/>
          <a:lstStyle/>
          <a:p>
            <a:fld id="{77C47DEE-5753-44EA-A073-053903F4D65C}" type="datetimeFigureOut">
              <a:rPr lang="el-GR" smtClean="0"/>
              <a:t>9/10/2024</a:t>
            </a:fld>
            <a:endParaRPr lang="el-GR"/>
          </a:p>
        </p:txBody>
      </p:sp>
      <p:sp>
        <p:nvSpPr>
          <p:cNvPr id="5" name="Θέση υποσέλιδου 4">
            <a:extLst>
              <a:ext uri="{FF2B5EF4-FFF2-40B4-BE49-F238E27FC236}">
                <a16:creationId xmlns:a16="http://schemas.microsoft.com/office/drawing/2014/main" id="{1BE576DF-BE6C-4DE7-BDD8-60E8F026DE82}"/>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74B323CB-AAB1-4C9E-AE28-C6179CB9C315}"/>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9965647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Κατακόρυφος τίτλος και Κείμενο">
    <p:spTree>
      <p:nvGrpSpPr>
        <p:cNvPr id="1" name=""/>
        <p:cNvGrpSpPr/>
        <p:nvPr/>
      </p:nvGrpSpPr>
      <p:grpSpPr>
        <a:xfrm>
          <a:off x="0" y="0"/>
          <a:ext cx="0" cy="0"/>
          <a:chOff x="0" y="0"/>
          <a:chExt cx="0" cy="0"/>
        </a:xfrm>
      </p:grpSpPr>
      <p:sp>
        <p:nvSpPr>
          <p:cNvPr id="2" name="Κατακόρυφος τίτλος 1">
            <a:extLst>
              <a:ext uri="{FF2B5EF4-FFF2-40B4-BE49-F238E27FC236}">
                <a16:creationId xmlns:a16="http://schemas.microsoft.com/office/drawing/2014/main" id="{E176F3CB-2A60-46CD-8CF9-DD053E08C844}"/>
              </a:ext>
            </a:extLst>
          </p:cNvPr>
          <p:cNvSpPr>
            <a:spLocks noGrp="1"/>
          </p:cNvSpPr>
          <p:nvPr>
            <p:ph type="title" orient="vert"/>
          </p:nvPr>
        </p:nvSpPr>
        <p:spPr>
          <a:xfrm>
            <a:off x="8724900" y="365125"/>
            <a:ext cx="2628900" cy="5811838"/>
          </a:xfrm>
        </p:spPr>
        <p:txBody>
          <a:bodyPr vert="eaVert"/>
          <a:lstStyle/>
          <a:p>
            <a:r>
              <a:rPr lang="el-GR"/>
              <a:t>Κάντε κλικ για να επεξεργαστείτε τον τίτλο υποδείγματος</a:t>
            </a:r>
          </a:p>
        </p:txBody>
      </p:sp>
      <p:sp>
        <p:nvSpPr>
          <p:cNvPr id="3" name="Θέση κατακόρυφου κειμένου 2">
            <a:extLst>
              <a:ext uri="{FF2B5EF4-FFF2-40B4-BE49-F238E27FC236}">
                <a16:creationId xmlns:a16="http://schemas.microsoft.com/office/drawing/2014/main" id="{62F4BEC8-6DEB-41E5-B12D-18B14C6B0A04}"/>
              </a:ext>
            </a:extLst>
          </p:cNvPr>
          <p:cNvSpPr>
            <a:spLocks noGrp="1"/>
          </p:cNvSpPr>
          <p:nvPr>
            <p:ph type="body" orient="vert" idx="1"/>
          </p:nvPr>
        </p:nvSpPr>
        <p:spPr>
          <a:xfrm>
            <a:off x="838200" y="365125"/>
            <a:ext cx="7734300" cy="5811838"/>
          </a:xfrm>
        </p:spPr>
        <p:txBody>
          <a:bodyPr vert="eaVert"/>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a:extLst>
              <a:ext uri="{FF2B5EF4-FFF2-40B4-BE49-F238E27FC236}">
                <a16:creationId xmlns:a16="http://schemas.microsoft.com/office/drawing/2014/main" id="{CC7DD041-7F64-4984-A13C-EE7907028650}"/>
              </a:ext>
            </a:extLst>
          </p:cNvPr>
          <p:cNvSpPr>
            <a:spLocks noGrp="1"/>
          </p:cNvSpPr>
          <p:nvPr>
            <p:ph type="dt" sz="half" idx="10"/>
          </p:nvPr>
        </p:nvSpPr>
        <p:spPr/>
        <p:txBody>
          <a:bodyPr/>
          <a:lstStyle/>
          <a:p>
            <a:fld id="{77C47DEE-5753-44EA-A073-053903F4D65C}" type="datetimeFigureOut">
              <a:rPr lang="el-GR" smtClean="0"/>
              <a:t>9/10/2024</a:t>
            </a:fld>
            <a:endParaRPr lang="el-GR"/>
          </a:p>
        </p:txBody>
      </p:sp>
      <p:sp>
        <p:nvSpPr>
          <p:cNvPr id="5" name="Θέση υποσέλιδου 4">
            <a:extLst>
              <a:ext uri="{FF2B5EF4-FFF2-40B4-BE49-F238E27FC236}">
                <a16:creationId xmlns:a16="http://schemas.microsoft.com/office/drawing/2014/main" id="{6502BD5F-24B7-4FDD-BD59-39295F5737B5}"/>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4E0B5687-7B67-47CF-995B-36EF0D417F48}"/>
              </a:ext>
            </a:extLst>
          </p:cNvPr>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399713989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Διαφάνεια τίτλου">
    <p:spTree>
      <p:nvGrpSpPr>
        <p:cNvPr id="1" name=""/>
        <p:cNvGrpSpPr/>
        <p:nvPr/>
      </p:nvGrpSpPr>
      <p:grpSpPr>
        <a:xfrm>
          <a:off x="0" y="0"/>
          <a:ext cx="0" cy="0"/>
          <a:chOff x="0" y="0"/>
          <a:chExt cx="0" cy="0"/>
        </a:xfrm>
      </p:grpSpPr>
      <p:sp>
        <p:nvSpPr>
          <p:cNvPr id="2" name="Τίτλος 1"/>
          <p:cNvSpPr>
            <a:spLocks noGrp="1"/>
          </p:cNvSpPr>
          <p:nvPr>
            <p:ph type="ctrTitle"/>
          </p:nvPr>
        </p:nvSpPr>
        <p:spPr>
          <a:xfrm>
            <a:off x="1524000" y="1122363"/>
            <a:ext cx="9144000" cy="2387600"/>
          </a:xfrm>
        </p:spPr>
        <p:txBody>
          <a:bodyPr anchor="b"/>
          <a:lstStyle>
            <a:lvl1pPr algn="ctr">
              <a:defRPr sz="6000"/>
            </a:lvl1pPr>
          </a:lstStyle>
          <a:p>
            <a:r>
              <a:rPr lang="el-GR"/>
              <a:t>Στυλ κύριου τίτλου</a:t>
            </a:r>
          </a:p>
        </p:txBody>
      </p:sp>
      <p:sp>
        <p:nvSpPr>
          <p:cNvPr id="3" name="Υπότιτλος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l-GR"/>
              <a:t>Στυλ κύριου υπότιτλου</a:t>
            </a:r>
          </a:p>
        </p:txBody>
      </p:sp>
      <p:sp>
        <p:nvSpPr>
          <p:cNvPr id="4" name="Θέση ημερομηνίας 3"/>
          <p:cNvSpPr>
            <a:spLocks noGrp="1"/>
          </p:cNvSpPr>
          <p:nvPr>
            <p:ph type="dt" sz="half" idx="10"/>
          </p:nvPr>
        </p:nvSpPr>
        <p:spPr/>
        <p:txBody>
          <a:bodyPr/>
          <a:lstStyle/>
          <a:p>
            <a:fld id="{C858F2E9-5724-40D7-A084-8A9A9CED4F62}" type="datetimeFigureOut">
              <a:rPr lang="el-GR" smtClean="0"/>
              <a:t>9/10/2024</a:t>
            </a:fld>
            <a:endParaRPr lang="el-GR"/>
          </a:p>
        </p:txBody>
      </p:sp>
      <p:sp>
        <p:nvSpPr>
          <p:cNvPr id="5" name="Θέση υποσέλιδου 4"/>
          <p:cNvSpPr>
            <a:spLocks noGrp="1"/>
          </p:cNvSpPr>
          <p:nvPr>
            <p:ph type="ftr" sz="quarter" idx="11"/>
          </p:nvPr>
        </p:nvSpPr>
        <p:spPr/>
        <p:txBody>
          <a:bodyPr/>
          <a:lstStyle/>
          <a:p>
            <a:endParaRPr lang="el-GR"/>
          </a:p>
        </p:txBody>
      </p:sp>
      <p:sp>
        <p:nvSpPr>
          <p:cNvPr id="6" name="Θέση αριθμού διαφάνειας 5"/>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142421661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Τίτλος και περιεχόμενο">
    <p:spTree>
      <p:nvGrpSpPr>
        <p:cNvPr id="1" name=""/>
        <p:cNvGrpSpPr/>
        <p:nvPr/>
      </p:nvGrpSpPr>
      <p:grpSpPr>
        <a:xfrm>
          <a:off x="0" y="0"/>
          <a:ext cx="0" cy="0"/>
          <a:chOff x="0" y="0"/>
          <a:chExt cx="0" cy="0"/>
        </a:xfrm>
      </p:grpSpPr>
      <p:sp>
        <p:nvSpPr>
          <p:cNvPr id="2" name="Τίτλος 1"/>
          <p:cNvSpPr>
            <a:spLocks noGrp="1"/>
          </p:cNvSpPr>
          <p:nvPr>
            <p:ph type="title"/>
          </p:nvPr>
        </p:nvSpPr>
        <p:spPr/>
        <p:txBody>
          <a:bodyPr/>
          <a:lstStyle/>
          <a:p>
            <a:r>
              <a:rPr lang="el-GR"/>
              <a:t>Στυλ κύριου τίτλου</a:t>
            </a:r>
          </a:p>
        </p:txBody>
      </p:sp>
      <p:sp>
        <p:nvSpPr>
          <p:cNvPr id="3" name="Θέση περιεχομένου 2"/>
          <p:cNvSpPr>
            <a:spLocks noGrp="1"/>
          </p:cNvSpPr>
          <p:nvPr>
            <p:ph idx="1"/>
          </p:nvPr>
        </p:nvSpPr>
        <p:spPr/>
        <p:txBody>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p:cNvSpPr>
            <a:spLocks noGrp="1"/>
          </p:cNvSpPr>
          <p:nvPr>
            <p:ph type="dt" sz="half" idx="10"/>
          </p:nvPr>
        </p:nvSpPr>
        <p:spPr/>
        <p:txBody>
          <a:bodyPr/>
          <a:lstStyle/>
          <a:p>
            <a:fld id="{C858F2E9-5724-40D7-A084-8A9A9CED4F62}" type="datetimeFigureOut">
              <a:rPr lang="el-GR" smtClean="0"/>
              <a:t>9/10/2024</a:t>
            </a:fld>
            <a:endParaRPr lang="el-GR"/>
          </a:p>
        </p:txBody>
      </p:sp>
      <p:sp>
        <p:nvSpPr>
          <p:cNvPr id="5" name="Θέση υποσέλιδου 4"/>
          <p:cNvSpPr>
            <a:spLocks noGrp="1"/>
          </p:cNvSpPr>
          <p:nvPr>
            <p:ph type="ftr" sz="quarter" idx="11"/>
          </p:nvPr>
        </p:nvSpPr>
        <p:spPr/>
        <p:txBody>
          <a:bodyPr/>
          <a:lstStyle/>
          <a:p>
            <a:endParaRPr lang="el-GR"/>
          </a:p>
        </p:txBody>
      </p:sp>
      <p:sp>
        <p:nvSpPr>
          <p:cNvPr id="6" name="Θέση αριθμού διαφάνειας 5"/>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141009571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Κεφαλίδα ενότητας">
    <p:spTree>
      <p:nvGrpSpPr>
        <p:cNvPr id="1" name=""/>
        <p:cNvGrpSpPr/>
        <p:nvPr/>
      </p:nvGrpSpPr>
      <p:grpSpPr>
        <a:xfrm>
          <a:off x="0" y="0"/>
          <a:ext cx="0" cy="0"/>
          <a:chOff x="0" y="0"/>
          <a:chExt cx="0" cy="0"/>
        </a:xfrm>
      </p:grpSpPr>
      <p:sp>
        <p:nvSpPr>
          <p:cNvPr id="2" name="Τίτλος 1"/>
          <p:cNvSpPr>
            <a:spLocks noGrp="1"/>
          </p:cNvSpPr>
          <p:nvPr>
            <p:ph type="title"/>
          </p:nvPr>
        </p:nvSpPr>
        <p:spPr>
          <a:xfrm>
            <a:off x="831850" y="1709738"/>
            <a:ext cx="10515600" cy="2852737"/>
          </a:xfrm>
        </p:spPr>
        <p:txBody>
          <a:bodyPr anchor="b"/>
          <a:lstStyle>
            <a:lvl1pPr>
              <a:defRPr sz="6000"/>
            </a:lvl1pPr>
          </a:lstStyle>
          <a:p>
            <a:r>
              <a:rPr lang="el-GR"/>
              <a:t>Στυλ κύριου τίτλου</a:t>
            </a:r>
          </a:p>
        </p:txBody>
      </p:sp>
      <p:sp>
        <p:nvSpPr>
          <p:cNvPr id="3" name="Θέση κειμένου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l-GR"/>
              <a:t>Στυλ υποδείγματος κειμένου</a:t>
            </a:r>
          </a:p>
        </p:txBody>
      </p:sp>
      <p:sp>
        <p:nvSpPr>
          <p:cNvPr id="4" name="Θέση ημερομηνίας 3"/>
          <p:cNvSpPr>
            <a:spLocks noGrp="1"/>
          </p:cNvSpPr>
          <p:nvPr>
            <p:ph type="dt" sz="half" idx="10"/>
          </p:nvPr>
        </p:nvSpPr>
        <p:spPr/>
        <p:txBody>
          <a:bodyPr/>
          <a:lstStyle/>
          <a:p>
            <a:fld id="{C858F2E9-5724-40D7-A084-8A9A9CED4F62}" type="datetimeFigureOut">
              <a:rPr lang="el-GR" smtClean="0"/>
              <a:t>9/10/2024</a:t>
            </a:fld>
            <a:endParaRPr lang="el-GR"/>
          </a:p>
        </p:txBody>
      </p:sp>
      <p:sp>
        <p:nvSpPr>
          <p:cNvPr id="5" name="Θέση υποσέλιδου 4"/>
          <p:cNvSpPr>
            <a:spLocks noGrp="1"/>
          </p:cNvSpPr>
          <p:nvPr>
            <p:ph type="ftr" sz="quarter" idx="11"/>
          </p:nvPr>
        </p:nvSpPr>
        <p:spPr/>
        <p:txBody>
          <a:bodyPr/>
          <a:lstStyle/>
          <a:p>
            <a:endParaRPr lang="el-GR"/>
          </a:p>
        </p:txBody>
      </p:sp>
      <p:sp>
        <p:nvSpPr>
          <p:cNvPr id="6" name="Θέση αριθμού διαφάνειας 5"/>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5258685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Δύο περιεχόμενα">
    <p:spTree>
      <p:nvGrpSpPr>
        <p:cNvPr id="1" name=""/>
        <p:cNvGrpSpPr/>
        <p:nvPr/>
      </p:nvGrpSpPr>
      <p:grpSpPr>
        <a:xfrm>
          <a:off x="0" y="0"/>
          <a:ext cx="0" cy="0"/>
          <a:chOff x="0" y="0"/>
          <a:chExt cx="0" cy="0"/>
        </a:xfrm>
      </p:grpSpPr>
      <p:sp>
        <p:nvSpPr>
          <p:cNvPr id="2" name="Τίτλος 1"/>
          <p:cNvSpPr>
            <a:spLocks noGrp="1"/>
          </p:cNvSpPr>
          <p:nvPr>
            <p:ph type="title"/>
          </p:nvPr>
        </p:nvSpPr>
        <p:spPr/>
        <p:txBody>
          <a:bodyPr/>
          <a:lstStyle/>
          <a:p>
            <a:r>
              <a:rPr lang="el-GR"/>
              <a:t>Στυλ κύριου τίτλου</a:t>
            </a:r>
          </a:p>
        </p:txBody>
      </p:sp>
      <p:sp>
        <p:nvSpPr>
          <p:cNvPr id="3" name="Θέση περιεχομένου 2"/>
          <p:cNvSpPr>
            <a:spLocks noGrp="1"/>
          </p:cNvSpPr>
          <p:nvPr>
            <p:ph sz="half" idx="1"/>
          </p:nvPr>
        </p:nvSpPr>
        <p:spPr>
          <a:xfrm>
            <a:off x="838200" y="1825625"/>
            <a:ext cx="5181600" cy="4351338"/>
          </a:xfrm>
        </p:spPr>
        <p:txBody>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περιεχομένου 3"/>
          <p:cNvSpPr>
            <a:spLocks noGrp="1"/>
          </p:cNvSpPr>
          <p:nvPr>
            <p:ph sz="half" idx="2"/>
          </p:nvPr>
        </p:nvSpPr>
        <p:spPr>
          <a:xfrm>
            <a:off x="6172200" y="1825625"/>
            <a:ext cx="5181600" cy="4351338"/>
          </a:xfrm>
        </p:spPr>
        <p:txBody>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5" name="Θέση ημερομηνίας 4"/>
          <p:cNvSpPr>
            <a:spLocks noGrp="1"/>
          </p:cNvSpPr>
          <p:nvPr>
            <p:ph type="dt" sz="half" idx="10"/>
          </p:nvPr>
        </p:nvSpPr>
        <p:spPr/>
        <p:txBody>
          <a:bodyPr/>
          <a:lstStyle/>
          <a:p>
            <a:fld id="{C858F2E9-5724-40D7-A084-8A9A9CED4F62}" type="datetimeFigureOut">
              <a:rPr lang="el-GR" smtClean="0"/>
              <a:t>9/10/2024</a:t>
            </a:fld>
            <a:endParaRPr lang="el-GR"/>
          </a:p>
        </p:txBody>
      </p:sp>
      <p:sp>
        <p:nvSpPr>
          <p:cNvPr id="6" name="Θέση υποσέλιδου 5"/>
          <p:cNvSpPr>
            <a:spLocks noGrp="1"/>
          </p:cNvSpPr>
          <p:nvPr>
            <p:ph type="ftr" sz="quarter" idx="11"/>
          </p:nvPr>
        </p:nvSpPr>
        <p:spPr/>
        <p:txBody>
          <a:bodyPr/>
          <a:lstStyle/>
          <a:p>
            <a:endParaRPr lang="el-GR"/>
          </a:p>
        </p:txBody>
      </p:sp>
      <p:sp>
        <p:nvSpPr>
          <p:cNvPr id="7" name="Θέση αριθμού διαφάνειας 6"/>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2414378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Σύγκριση">
    <p:spTree>
      <p:nvGrpSpPr>
        <p:cNvPr id="1" name=""/>
        <p:cNvGrpSpPr/>
        <p:nvPr/>
      </p:nvGrpSpPr>
      <p:grpSpPr>
        <a:xfrm>
          <a:off x="0" y="0"/>
          <a:ext cx="0" cy="0"/>
          <a:chOff x="0" y="0"/>
          <a:chExt cx="0" cy="0"/>
        </a:xfrm>
      </p:grpSpPr>
      <p:sp>
        <p:nvSpPr>
          <p:cNvPr id="2" name="Τίτλος 1"/>
          <p:cNvSpPr>
            <a:spLocks noGrp="1"/>
          </p:cNvSpPr>
          <p:nvPr>
            <p:ph type="title"/>
          </p:nvPr>
        </p:nvSpPr>
        <p:spPr>
          <a:xfrm>
            <a:off x="839788" y="365125"/>
            <a:ext cx="10515600" cy="1325563"/>
          </a:xfrm>
        </p:spPr>
        <p:txBody>
          <a:bodyPr/>
          <a:lstStyle/>
          <a:p>
            <a:r>
              <a:rPr lang="el-GR"/>
              <a:t>Στυλ κύριου τίτλου</a:t>
            </a:r>
          </a:p>
        </p:txBody>
      </p:sp>
      <p:sp>
        <p:nvSpPr>
          <p:cNvPr id="3" name="Θέση κειμένου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υποδείγματος κειμένου</a:t>
            </a:r>
          </a:p>
        </p:txBody>
      </p:sp>
      <p:sp>
        <p:nvSpPr>
          <p:cNvPr id="4" name="Θέση περιεχομένου 3"/>
          <p:cNvSpPr>
            <a:spLocks noGrp="1"/>
          </p:cNvSpPr>
          <p:nvPr>
            <p:ph sz="half" idx="2"/>
          </p:nvPr>
        </p:nvSpPr>
        <p:spPr>
          <a:xfrm>
            <a:off x="839788" y="2505075"/>
            <a:ext cx="5157787" cy="3684588"/>
          </a:xfrm>
        </p:spPr>
        <p:txBody>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5" name="Θέση κειμένου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υποδείγματος κειμένου</a:t>
            </a:r>
          </a:p>
        </p:txBody>
      </p:sp>
      <p:sp>
        <p:nvSpPr>
          <p:cNvPr id="6" name="Θέση περιεχομένου 5"/>
          <p:cNvSpPr>
            <a:spLocks noGrp="1"/>
          </p:cNvSpPr>
          <p:nvPr>
            <p:ph sz="quarter" idx="4"/>
          </p:nvPr>
        </p:nvSpPr>
        <p:spPr>
          <a:xfrm>
            <a:off x="6172200" y="2505075"/>
            <a:ext cx="5183188" cy="3684588"/>
          </a:xfrm>
        </p:spPr>
        <p:txBody>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7" name="Θέση ημερομηνίας 6"/>
          <p:cNvSpPr>
            <a:spLocks noGrp="1"/>
          </p:cNvSpPr>
          <p:nvPr>
            <p:ph type="dt" sz="half" idx="10"/>
          </p:nvPr>
        </p:nvSpPr>
        <p:spPr/>
        <p:txBody>
          <a:bodyPr/>
          <a:lstStyle/>
          <a:p>
            <a:fld id="{C858F2E9-5724-40D7-A084-8A9A9CED4F62}" type="datetimeFigureOut">
              <a:rPr lang="el-GR" smtClean="0"/>
              <a:t>9/10/2024</a:t>
            </a:fld>
            <a:endParaRPr lang="el-GR"/>
          </a:p>
        </p:txBody>
      </p:sp>
      <p:sp>
        <p:nvSpPr>
          <p:cNvPr id="8" name="Θέση υποσέλιδου 7"/>
          <p:cNvSpPr>
            <a:spLocks noGrp="1"/>
          </p:cNvSpPr>
          <p:nvPr>
            <p:ph type="ftr" sz="quarter" idx="11"/>
          </p:nvPr>
        </p:nvSpPr>
        <p:spPr/>
        <p:txBody>
          <a:bodyPr/>
          <a:lstStyle/>
          <a:p>
            <a:endParaRPr lang="el-GR"/>
          </a:p>
        </p:txBody>
      </p:sp>
      <p:sp>
        <p:nvSpPr>
          <p:cNvPr id="9" name="Θέση αριθμού διαφάνειας 8"/>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32613590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Μόνο τίτλος">
    <p:spTree>
      <p:nvGrpSpPr>
        <p:cNvPr id="1" name=""/>
        <p:cNvGrpSpPr/>
        <p:nvPr/>
      </p:nvGrpSpPr>
      <p:grpSpPr>
        <a:xfrm>
          <a:off x="0" y="0"/>
          <a:ext cx="0" cy="0"/>
          <a:chOff x="0" y="0"/>
          <a:chExt cx="0" cy="0"/>
        </a:xfrm>
      </p:grpSpPr>
      <p:sp>
        <p:nvSpPr>
          <p:cNvPr id="2" name="Τίτλος 1"/>
          <p:cNvSpPr>
            <a:spLocks noGrp="1"/>
          </p:cNvSpPr>
          <p:nvPr>
            <p:ph type="title"/>
          </p:nvPr>
        </p:nvSpPr>
        <p:spPr/>
        <p:txBody>
          <a:bodyPr/>
          <a:lstStyle/>
          <a:p>
            <a:r>
              <a:rPr lang="el-GR"/>
              <a:t>Στυλ κύριου τίτλου</a:t>
            </a:r>
          </a:p>
        </p:txBody>
      </p:sp>
      <p:sp>
        <p:nvSpPr>
          <p:cNvPr id="3" name="Θέση ημερομηνίας 2"/>
          <p:cNvSpPr>
            <a:spLocks noGrp="1"/>
          </p:cNvSpPr>
          <p:nvPr>
            <p:ph type="dt" sz="half" idx="10"/>
          </p:nvPr>
        </p:nvSpPr>
        <p:spPr/>
        <p:txBody>
          <a:bodyPr/>
          <a:lstStyle/>
          <a:p>
            <a:fld id="{C858F2E9-5724-40D7-A084-8A9A9CED4F62}" type="datetimeFigureOut">
              <a:rPr lang="el-GR" smtClean="0"/>
              <a:t>9/10/2024</a:t>
            </a:fld>
            <a:endParaRPr lang="el-GR"/>
          </a:p>
        </p:txBody>
      </p:sp>
      <p:sp>
        <p:nvSpPr>
          <p:cNvPr id="4" name="Θέση υποσέλιδου 3"/>
          <p:cNvSpPr>
            <a:spLocks noGrp="1"/>
          </p:cNvSpPr>
          <p:nvPr>
            <p:ph type="ftr" sz="quarter" idx="11"/>
          </p:nvPr>
        </p:nvSpPr>
        <p:spPr/>
        <p:txBody>
          <a:bodyPr/>
          <a:lstStyle/>
          <a:p>
            <a:endParaRPr lang="el-GR"/>
          </a:p>
        </p:txBody>
      </p:sp>
      <p:sp>
        <p:nvSpPr>
          <p:cNvPr id="5" name="Θέση αριθμού διαφάνειας 4"/>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312742299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Κενή">
    <p:spTree>
      <p:nvGrpSpPr>
        <p:cNvPr id="1" name=""/>
        <p:cNvGrpSpPr/>
        <p:nvPr/>
      </p:nvGrpSpPr>
      <p:grpSpPr>
        <a:xfrm>
          <a:off x="0" y="0"/>
          <a:ext cx="0" cy="0"/>
          <a:chOff x="0" y="0"/>
          <a:chExt cx="0" cy="0"/>
        </a:xfrm>
      </p:grpSpPr>
      <p:sp>
        <p:nvSpPr>
          <p:cNvPr id="2" name="Θέση ημερομηνίας 1"/>
          <p:cNvSpPr>
            <a:spLocks noGrp="1"/>
          </p:cNvSpPr>
          <p:nvPr>
            <p:ph type="dt" sz="half" idx="10"/>
          </p:nvPr>
        </p:nvSpPr>
        <p:spPr/>
        <p:txBody>
          <a:bodyPr/>
          <a:lstStyle/>
          <a:p>
            <a:fld id="{77C47DEE-5753-44EA-A073-053903F4D65C}" type="datetimeFigureOut">
              <a:rPr lang="el-GR" smtClean="0"/>
              <a:t>9/10/2024</a:t>
            </a:fld>
            <a:endParaRPr lang="el-GR"/>
          </a:p>
        </p:txBody>
      </p:sp>
      <p:sp>
        <p:nvSpPr>
          <p:cNvPr id="3" name="Θέση υποσέλιδου 2"/>
          <p:cNvSpPr>
            <a:spLocks noGrp="1"/>
          </p:cNvSpPr>
          <p:nvPr>
            <p:ph type="ftr" sz="quarter" idx="11"/>
          </p:nvPr>
        </p:nvSpPr>
        <p:spPr/>
        <p:txBody>
          <a:bodyPr/>
          <a:lstStyle/>
          <a:p>
            <a:endParaRPr lang="el-GR"/>
          </a:p>
        </p:txBody>
      </p:sp>
      <p:sp>
        <p:nvSpPr>
          <p:cNvPr id="4" name="Θέση αριθμού διαφάνειας 3"/>
          <p:cNvSpPr>
            <a:spLocks noGrp="1"/>
          </p:cNvSpPr>
          <p:nvPr>
            <p:ph type="sldNum" sz="quarter" idx="12"/>
          </p:nvPr>
        </p:nvSpPr>
        <p:spPr/>
        <p:txBody>
          <a:bodyPr/>
          <a:lstStyle/>
          <a:p>
            <a:fld id="{61C6C20E-1D6A-4E7C-944C-DE305A6F1CA5}" type="slidenum">
              <a:rPr lang="el-GR" smtClean="0"/>
              <a:t>‹#›</a:t>
            </a:fld>
            <a:endParaRPr lang="el-GR"/>
          </a:p>
        </p:txBody>
      </p:sp>
    </p:spTree>
    <p:extLst>
      <p:ext uri="{BB962C8B-B14F-4D97-AF65-F5344CB8AC3E}">
        <p14:creationId xmlns:p14="http://schemas.microsoft.com/office/powerpoint/2010/main" val="255293900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Περιεχόμενο με λεζάντα">
    <p:spTree>
      <p:nvGrpSpPr>
        <p:cNvPr id="1" name=""/>
        <p:cNvGrpSpPr/>
        <p:nvPr/>
      </p:nvGrpSpPr>
      <p:grpSpPr>
        <a:xfrm>
          <a:off x="0" y="0"/>
          <a:ext cx="0" cy="0"/>
          <a:chOff x="0" y="0"/>
          <a:chExt cx="0" cy="0"/>
        </a:xfrm>
      </p:grpSpPr>
      <p:sp>
        <p:nvSpPr>
          <p:cNvPr id="2" name="Τίτλος 1"/>
          <p:cNvSpPr>
            <a:spLocks noGrp="1"/>
          </p:cNvSpPr>
          <p:nvPr>
            <p:ph type="title"/>
          </p:nvPr>
        </p:nvSpPr>
        <p:spPr>
          <a:xfrm>
            <a:off x="839788" y="457200"/>
            <a:ext cx="3932237" cy="1600200"/>
          </a:xfrm>
        </p:spPr>
        <p:txBody>
          <a:bodyPr anchor="b"/>
          <a:lstStyle>
            <a:lvl1pPr>
              <a:defRPr sz="3200"/>
            </a:lvl1pPr>
          </a:lstStyle>
          <a:p>
            <a:r>
              <a:rPr lang="el-GR"/>
              <a:t>Στυλ κύριου τίτλου</a:t>
            </a:r>
          </a:p>
        </p:txBody>
      </p:sp>
      <p:sp>
        <p:nvSpPr>
          <p:cNvPr id="3" name="Θέση περιεχομένου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κειμένου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Στυλ υποδείγματος κειμένου</a:t>
            </a:r>
          </a:p>
        </p:txBody>
      </p:sp>
      <p:sp>
        <p:nvSpPr>
          <p:cNvPr id="5" name="Θέση ημερομηνίας 4"/>
          <p:cNvSpPr>
            <a:spLocks noGrp="1"/>
          </p:cNvSpPr>
          <p:nvPr>
            <p:ph type="dt" sz="half" idx="10"/>
          </p:nvPr>
        </p:nvSpPr>
        <p:spPr/>
        <p:txBody>
          <a:bodyPr/>
          <a:lstStyle/>
          <a:p>
            <a:fld id="{C858F2E9-5724-40D7-A084-8A9A9CED4F62}" type="datetimeFigureOut">
              <a:rPr lang="el-GR" smtClean="0"/>
              <a:t>9/10/2024</a:t>
            </a:fld>
            <a:endParaRPr lang="el-GR"/>
          </a:p>
        </p:txBody>
      </p:sp>
      <p:sp>
        <p:nvSpPr>
          <p:cNvPr id="6" name="Θέση υποσέλιδου 5"/>
          <p:cNvSpPr>
            <a:spLocks noGrp="1"/>
          </p:cNvSpPr>
          <p:nvPr>
            <p:ph type="ftr" sz="quarter" idx="11"/>
          </p:nvPr>
        </p:nvSpPr>
        <p:spPr/>
        <p:txBody>
          <a:bodyPr/>
          <a:lstStyle/>
          <a:p>
            <a:endParaRPr lang="el-GR"/>
          </a:p>
        </p:txBody>
      </p:sp>
      <p:sp>
        <p:nvSpPr>
          <p:cNvPr id="7" name="Θέση αριθμού διαφάνειας 6"/>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407656930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Εικόνα με λεζάντα">
    <p:spTree>
      <p:nvGrpSpPr>
        <p:cNvPr id="1" name=""/>
        <p:cNvGrpSpPr/>
        <p:nvPr/>
      </p:nvGrpSpPr>
      <p:grpSpPr>
        <a:xfrm>
          <a:off x="0" y="0"/>
          <a:ext cx="0" cy="0"/>
          <a:chOff x="0" y="0"/>
          <a:chExt cx="0" cy="0"/>
        </a:xfrm>
      </p:grpSpPr>
      <p:sp>
        <p:nvSpPr>
          <p:cNvPr id="2" name="Τίτλος 1"/>
          <p:cNvSpPr>
            <a:spLocks noGrp="1"/>
          </p:cNvSpPr>
          <p:nvPr>
            <p:ph type="title"/>
          </p:nvPr>
        </p:nvSpPr>
        <p:spPr>
          <a:xfrm>
            <a:off x="839788" y="457200"/>
            <a:ext cx="3932237" cy="1600200"/>
          </a:xfrm>
        </p:spPr>
        <p:txBody>
          <a:bodyPr anchor="b"/>
          <a:lstStyle>
            <a:lvl1pPr>
              <a:defRPr sz="3200"/>
            </a:lvl1pPr>
          </a:lstStyle>
          <a:p>
            <a:r>
              <a:rPr lang="el-GR"/>
              <a:t>Στυλ κύριου τίτλου</a:t>
            </a:r>
          </a:p>
        </p:txBody>
      </p:sp>
      <p:sp>
        <p:nvSpPr>
          <p:cNvPr id="3" name="Θέση εικόνας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l-GR"/>
          </a:p>
        </p:txBody>
      </p:sp>
      <p:sp>
        <p:nvSpPr>
          <p:cNvPr id="4" name="Θέση κειμένου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Στυλ υποδείγματος κειμένου</a:t>
            </a:r>
          </a:p>
        </p:txBody>
      </p:sp>
      <p:sp>
        <p:nvSpPr>
          <p:cNvPr id="5" name="Θέση ημερομηνίας 4"/>
          <p:cNvSpPr>
            <a:spLocks noGrp="1"/>
          </p:cNvSpPr>
          <p:nvPr>
            <p:ph type="dt" sz="half" idx="10"/>
          </p:nvPr>
        </p:nvSpPr>
        <p:spPr/>
        <p:txBody>
          <a:bodyPr/>
          <a:lstStyle/>
          <a:p>
            <a:fld id="{C858F2E9-5724-40D7-A084-8A9A9CED4F62}" type="datetimeFigureOut">
              <a:rPr lang="el-GR" smtClean="0"/>
              <a:t>9/10/2024</a:t>
            </a:fld>
            <a:endParaRPr lang="el-GR"/>
          </a:p>
        </p:txBody>
      </p:sp>
      <p:sp>
        <p:nvSpPr>
          <p:cNvPr id="6" name="Θέση υποσέλιδου 5"/>
          <p:cNvSpPr>
            <a:spLocks noGrp="1"/>
          </p:cNvSpPr>
          <p:nvPr>
            <p:ph type="ftr" sz="quarter" idx="11"/>
          </p:nvPr>
        </p:nvSpPr>
        <p:spPr/>
        <p:txBody>
          <a:bodyPr/>
          <a:lstStyle/>
          <a:p>
            <a:endParaRPr lang="el-GR"/>
          </a:p>
        </p:txBody>
      </p:sp>
      <p:sp>
        <p:nvSpPr>
          <p:cNvPr id="7" name="Θέση αριθμού διαφάνειας 6"/>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145792381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Τίτλος και Κατακόρυφο κείμενο">
    <p:spTree>
      <p:nvGrpSpPr>
        <p:cNvPr id="1" name=""/>
        <p:cNvGrpSpPr/>
        <p:nvPr/>
      </p:nvGrpSpPr>
      <p:grpSpPr>
        <a:xfrm>
          <a:off x="0" y="0"/>
          <a:ext cx="0" cy="0"/>
          <a:chOff x="0" y="0"/>
          <a:chExt cx="0" cy="0"/>
        </a:xfrm>
      </p:grpSpPr>
      <p:sp>
        <p:nvSpPr>
          <p:cNvPr id="2" name="Τίτλος 1"/>
          <p:cNvSpPr>
            <a:spLocks noGrp="1"/>
          </p:cNvSpPr>
          <p:nvPr>
            <p:ph type="title"/>
          </p:nvPr>
        </p:nvSpPr>
        <p:spPr/>
        <p:txBody>
          <a:bodyPr/>
          <a:lstStyle/>
          <a:p>
            <a:r>
              <a:rPr lang="el-GR"/>
              <a:t>Στυλ κύριου τίτλου</a:t>
            </a:r>
          </a:p>
        </p:txBody>
      </p:sp>
      <p:sp>
        <p:nvSpPr>
          <p:cNvPr id="3" name="Θέση κατακόρυφου κειμένου 2"/>
          <p:cNvSpPr>
            <a:spLocks noGrp="1"/>
          </p:cNvSpPr>
          <p:nvPr>
            <p:ph type="body" orient="vert" idx="1"/>
          </p:nvPr>
        </p:nvSpPr>
        <p:spPr/>
        <p:txBody>
          <a:bodyPr vert="eaVert"/>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p:cNvSpPr>
            <a:spLocks noGrp="1"/>
          </p:cNvSpPr>
          <p:nvPr>
            <p:ph type="dt" sz="half" idx="10"/>
          </p:nvPr>
        </p:nvSpPr>
        <p:spPr/>
        <p:txBody>
          <a:bodyPr/>
          <a:lstStyle/>
          <a:p>
            <a:fld id="{C858F2E9-5724-40D7-A084-8A9A9CED4F62}" type="datetimeFigureOut">
              <a:rPr lang="el-GR" smtClean="0"/>
              <a:t>9/10/2024</a:t>
            </a:fld>
            <a:endParaRPr lang="el-GR"/>
          </a:p>
        </p:txBody>
      </p:sp>
      <p:sp>
        <p:nvSpPr>
          <p:cNvPr id="5" name="Θέση υποσέλιδου 4"/>
          <p:cNvSpPr>
            <a:spLocks noGrp="1"/>
          </p:cNvSpPr>
          <p:nvPr>
            <p:ph type="ftr" sz="quarter" idx="11"/>
          </p:nvPr>
        </p:nvSpPr>
        <p:spPr/>
        <p:txBody>
          <a:bodyPr/>
          <a:lstStyle/>
          <a:p>
            <a:endParaRPr lang="el-GR"/>
          </a:p>
        </p:txBody>
      </p:sp>
      <p:sp>
        <p:nvSpPr>
          <p:cNvPr id="6" name="Θέση αριθμού διαφάνειας 5"/>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172890431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Κατακόρυφος τίτλος και Κείμενο">
    <p:spTree>
      <p:nvGrpSpPr>
        <p:cNvPr id="1" name=""/>
        <p:cNvGrpSpPr/>
        <p:nvPr/>
      </p:nvGrpSpPr>
      <p:grpSpPr>
        <a:xfrm>
          <a:off x="0" y="0"/>
          <a:ext cx="0" cy="0"/>
          <a:chOff x="0" y="0"/>
          <a:chExt cx="0" cy="0"/>
        </a:xfrm>
      </p:grpSpPr>
      <p:sp>
        <p:nvSpPr>
          <p:cNvPr id="2" name="Κατακόρυφος τίτλος 1"/>
          <p:cNvSpPr>
            <a:spLocks noGrp="1"/>
          </p:cNvSpPr>
          <p:nvPr>
            <p:ph type="title" orient="vert"/>
          </p:nvPr>
        </p:nvSpPr>
        <p:spPr>
          <a:xfrm>
            <a:off x="8724900" y="365125"/>
            <a:ext cx="2628900" cy="5811838"/>
          </a:xfrm>
        </p:spPr>
        <p:txBody>
          <a:bodyPr vert="eaVert"/>
          <a:lstStyle/>
          <a:p>
            <a:r>
              <a:rPr lang="el-GR"/>
              <a:t>Στυλ κύριου τίτλου</a:t>
            </a:r>
          </a:p>
        </p:txBody>
      </p:sp>
      <p:sp>
        <p:nvSpPr>
          <p:cNvPr id="3" name="Θέση κατακόρυφου κειμένου 2"/>
          <p:cNvSpPr>
            <a:spLocks noGrp="1"/>
          </p:cNvSpPr>
          <p:nvPr>
            <p:ph type="body" orient="vert" idx="1"/>
          </p:nvPr>
        </p:nvSpPr>
        <p:spPr>
          <a:xfrm>
            <a:off x="838200" y="365125"/>
            <a:ext cx="7734300" cy="5811838"/>
          </a:xfrm>
        </p:spPr>
        <p:txBody>
          <a:bodyPr vert="eaVert"/>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p:cNvSpPr>
            <a:spLocks noGrp="1"/>
          </p:cNvSpPr>
          <p:nvPr>
            <p:ph type="dt" sz="half" idx="10"/>
          </p:nvPr>
        </p:nvSpPr>
        <p:spPr/>
        <p:txBody>
          <a:bodyPr/>
          <a:lstStyle/>
          <a:p>
            <a:fld id="{C858F2E9-5724-40D7-A084-8A9A9CED4F62}" type="datetimeFigureOut">
              <a:rPr lang="el-GR" smtClean="0"/>
              <a:t>9/10/2024</a:t>
            </a:fld>
            <a:endParaRPr lang="el-GR"/>
          </a:p>
        </p:txBody>
      </p:sp>
      <p:sp>
        <p:nvSpPr>
          <p:cNvPr id="5" name="Θέση υποσέλιδου 4"/>
          <p:cNvSpPr>
            <a:spLocks noGrp="1"/>
          </p:cNvSpPr>
          <p:nvPr>
            <p:ph type="ftr" sz="quarter" idx="11"/>
          </p:nvPr>
        </p:nvSpPr>
        <p:spPr/>
        <p:txBody>
          <a:bodyPr/>
          <a:lstStyle/>
          <a:p>
            <a:endParaRPr lang="el-GR"/>
          </a:p>
        </p:txBody>
      </p:sp>
      <p:sp>
        <p:nvSpPr>
          <p:cNvPr id="6" name="Θέση αριθμού διαφάνειας 5"/>
          <p:cNvSpPr>
            <a:spLocks noGrp="1"/>
          </p:cNvSpPr>
          <p:nvPr>
            <p:ph type="sldNum" sz="quarter" idx="12"/>
          </p:nvPr>
        </p:nvSpPr>
        <p:spPr/>
        <p:txBody>
          <a:bodyPr/>
          <a:lstStyle/>
          <a:p>
            <a:fld id="{16848B04-D0CA-4D92-8779-0291FECC15E7}" type="slidenum">
              <a:rPr lang="el-GR" smtClean="0"/>
              <a:t>‹#›</a:t>
            </a:fld>
            <a:endParaRPr lang="el-GR"/>
          </a:p>
        </p:txBody>
      </p:sp>
    </p:spTree>
    <p:extLst>
      <p:ext uri="{BB962C8B-B14F-4D97-AF65-F5344CB8AC3E}">
        <p14:creationId xmlns:p14="http://schemas.microsoft.com/office/powerpoint/2010/main" val="232701990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Θέση τίτλου 1">
            <a:extLst>
              <a:ext uri="{FF2B5EF4-FFF2-40B4-BE49-F238E27FC236}">
                <a16:creationId xmlns:a16="http://schemas.microsoft.com/office/drawing/2014/main" id="{992F1800-E376-4EAC-8DCE-EF767BC9FA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l-GR"/>
              <a:t>Κάντε κλικ για να επεξεργαστείτε τον τίτλο υποδείγματος</a:t>
            </a:r>
          </a:p>
        </p:txBody>
      </p:sp>
      <p:sp>
        <p:nvSpPr>
          <p:cNvPr id="3" name="Θέση κειμένου 2">
            <a:extLst>
              <a:ext uri="{FF2B5EF4-FFF2-40B4-BE49-F238E27FC236}">
                <a16:creationId xmlns:a16="http://schemas.microsoft.com/office/drawing/2014/main" id="{93EDA18A-E08C-433A-8864-CE510E638F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l-GR"/>
              <a:t>Επεξεργασία 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a:extLst>
              <a:ext uri="{FF2B5EF4-FFF2-40B4-BE49-F238E27FC236}">
                <a16:creationId xmlns:a16="http://schemas.microsoft.com/office/drawing/2014/main" id="{F5AF37D2-402E-4529-9EEC-414BB35C59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C47DEE-5753-44EA-A073-053903F4D65C}" type="datetimeFigureOut">
              <a:rPr lang="el-GR" smtClean="0"/>
              <a:t>9/10/2024</a:t>
            </a:fld>
            <a:endParaRPr lang="el-GR"/>
          </a:p>
        </p:txBody>
      </p:sp>
      <p:sp>
        <p:nvSpPr>
          <p:cNvPr id="5" name="Θέση υποσέλιδου 4">
            <a:extLst>
              <a:ext uri="{FF2B5EF4-FFF2-40B4-BE49-F238E27FC236}">
                <a16:creationId xmlns:a16="http://schemas.microsoft.com/office/drawing/2014/main" id="{3CF16FB6-3B9A-47F7-BC11-0CD0D44781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l-GR"/>
          </a:p>
        </p:txBody>
      </p:sp>
      <p:sp>
        <p:nvSpPr>
          <p:cNvPr id="6" name="Θέση αριθμού διαφάνειας 5">
            <a:extLst>
              <a:ext uri="{FF2B5EF4-FFF2-40B4-BE49-F238E27FC236}">
                <a16:creationId xmlns:a16="http://schemas.microsoft.com/office/drawing/2014/main" id="{1A057F2B-A2D8-4FC1-B53F-4487A387567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C6C20E-1D6A-4E7C-944C-DE305A6F1CA5}" type="slidenum">
              <a:rPr lang="el-GR" smtClean="0"/>
              <a:t>‹#›</a:t>
            </a:fld>
            <a:endParaRPr lang="el-GR"/>
          </a:p>
        </p:txBody>
      </p:sp>
    </p:spTree>
    <p:extLst>
      <p:ext uri="{BB962C8B-B14F-4D97-AF65-F5344CB8AC3E}">
        <p14:creationId xmlns:p14="http://schemas.microsoft.com/office/powerpoint/2010/main" val="17776414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Θέση τίτλου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l-GR"/>
              <a:t>Στυλ κύριου τίτλου</a:t>
            </a:r>
          </a:p>
        </p:txBody>
      </p:sp>
      <p:sp>
        <p:nvSpPr>
          <p:cNvPr id="3" name="Θέση κειμένου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l-GR"/>
              <a:t>Στυλ υποδείγματος κειμένου</a:t>
            </a:r>
          </a:p>
          <a:p>
            <a:pPr lvl="1"/>
            <a:r>
              <a:rPr lang="el-GR"/>
              <a:t>Δεύτερου επιπέδου</a:t>
            </a:r>
          </a:p>
          <a:p>
            <a:pPr lvl="2"/>
            <a:r>
              <a:rPr lang="el-GR"/>
              <a:t>Τρίτου επιπέδου</a:t>
            </a:r>
          </a:p>
          <a:p>
            <a:pPr lvl="3"/>
            <a:r>
              <a:rPr lang="el-GR"/>
              <a:t>Τέταρτου επιπέδου</a:t>
            </a:r>
          </a:p>
          <a:p>
            <a:pPr lvl="4"/>
            <a:r>
              <a:rPr lang="el-GR"/>
              <a:t>Πέμπτου επιπέδου</a:t>
            </a:r>
          </a:p>
        </p:txBody>
      </p:sp>
      <p:sp>
        <p:nvSpPr>
          <p:cNvPr id="4" name="Θέση ημερομηνίας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C47DEE-5753-44EA-A073-053903F4D65C}" type="datetimeFigureOut">
              <a:rPr lang="el-GR" smtClean="0"/>
              <a:t>9/10/2024</a:t>
            </a:fld>
            <a:endParaRPr lang="el-GR"/>
          </a:p>
        </p:txBody>
      </p:sp>
      <p:sp>
        <p:nvSpPr>
          <p:cNvPr id="5" name="Θέση υποσέλιδου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l-GR"/>
          </a:p>
        </p:txBody>
      </p:sp>
      <p:sp>
        <p:nvSpPr>
          <p:cNvPr id="6" name="Θέση αριθμού διαφάνειας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C6C20E-1D6A-4E7C-944C-DE305A6F1CA5}" type="slidenum">
              <a:rPr lang="el-GR" smtClean="0"/>
              <a:t>‹#›</a:t>
            </a:fld>
            <a:endParaRPr lang="el-GR"/>
          </a:p>
        </p:txBody>
      </p:sp>
    </p:spTree>
    <p:extLst>
      <p:ext uri="{BB962C8B-B14F-4D97-AF65-F5344CB8AC3E}">
        <p14:creationId xmlns:p14="http://schemas.microsoft.com/office/powerpoint/2010/main" val="2543682789"/>
      </p:ext>
    </p:extLst>
  </p:cSld>
  <p:clrMap bg1="lt1" tx1="dk1" bg2="lt2" tx2="dk2" accent1="accent1" accent2="accent2" accent3="accent3" accent4="accent4" accent5="accent5" accent6="accent6" hlink="hlink" folHlink="folHlink"/>
  <p:sldLayoutIdLst>
    <p:sldLayoutId id="2147483893" r:id="rId1"/>
    <p:sldLayoutId id="2147483894" r:id="rId2"/>
    <p:sldLayoutId id="2147483895" r:id="rId3"/>
    <p:sldLayoutId id="2147483896" r:id="rId4"/>
    <p:sldLayoutId id="2147483897" r:id="rId5"/>
    <p:sldLayoutId id="2147483898" r:id="rId6"/>
    <p:sldLayoutId id="2147483899" r:id="rId7"/>
    <p:sldLayoutId id="2147483900" r:id="rId8"/>
    <p:sldLayoutId id="2147483901" r:id="rId9"/>
    <p:sldLayoutId id="2147483902" r:id="rId10"/>
    <p:sldLayoutId id="2147483903" r:id="rId11"/>
  </p:sldLayoutIdLst>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sites.google.com/site/thramboulidiskleanthis/"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4.xml"/><Relationship Id="rId1" Type="http://schemas.openxmlformats.org/officeDocument/2006/relationships/slideLayout" Target="../slideLayouts/slideLayout13.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3.xml"/><Relationship Id="rId5" Type="http://schemas.openxmlformats.org/officeDocument/2006/relationships/image" Target="../media/image12.png"/><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13.xml"/><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13.xml"/><Relationship Id="rId4" Type="http://schemas.openxmlformats.org/officeDocument/2006/relationships/image" Target="../media/image18.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3" name="Rectangle 62">
            <a:extLst>
              <a:ext uri="{FF2B5EF4-FFF2-40B4-BE49-F238E27FC236}">
                <a16:creationId xmlns:a16="http://schemas.microsoft.com/office/drawing/2014/main" id="{76E192A2-3ED3-4081-8A86-A22B511417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152902" y="-1181101"/>
            <a:ext cx="3886200" cy="1219200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Υπότιτλος 2">
            <a:extLst>
              <a:ext uri="{FF2B5EF4-FFF2-40B4-BE49-F238E27FC236}">
                <a16:creationId xmlns:a16="http://schemas.microsoft.com/office/drawing/2014/main" id="{999AB7B1-2CA7-4F2E-91BE-62A4C3CC57D6}"/>
              </a:ext>
            </a:extLst>
          </p:cNvPr>
          <p:cNvSpPr txBox="1">
            <a:spLocks/>
          </p:cNvSpPr>
          <p:nvPr/>
        </p:nvSpPr>
        <p:spPr>
          <a:xfrm>
            <a:off x="-3" y="48411"/>
            <a:ext cx="12192002" cy="1249811"/>
          </a:xfrm>
          <a:prstGeom prst="rect">
            <a:avLst/>
          </a:prstGeom>
        </p:spPr>
        <p:txBody>
          <a:bodyPr vert="horz" lIns="91440" tIns="45720" rIns="91440" bIns="45720" rtlCol="0" anchor="b">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ct val="0"/>
              </a:spcBef>
              <a:spcAft>
                <a:spcPts val="600"/>
              </a:spcAft>
            </a:pPr>
            <a:r>
              <a:rPr lang="el-GR" sz="4000" b="1" dirty="0">
                <a:solidFill>
                  <a:srgbClr val="F9853D"/>
                </a:solidFill>
                <a:latin typeface="Bahnschrift" panose="020B0502040204020203" pitchFamily="34" charset="0"/>
              </a:rPr>
              <a:t>Αντικειμενοστρεφής Προγραμματισμός </a:t>
            </a:r>
            <a:br>
              <a:rPr lang="el-GR" sz="4000" b="1" dirty="0">
                <a:solidFill>
                  <a:srgbClr val="F9853D"/>
                </a:solidFill>
                <a:latin typeface="Bahnschrift" panose="020B0502040204020203" pitchFamily="34" charset="0"/>
              </a:rPr>
            </a:br>
            <a:r>
              <a:rPr lang="el-GR" sz="4000" b="1" dirty="0">
                <a:solidFill>
                  <a:srgbClr val="F9853D"/>
                </a:solidFill>
                <a:latin typeface="Bahnschrift" panose="020B0502040204020203" pitchFamily="34" charset="0"/>
              </a:rPr>
              <a:t>(</a:t>
            </a:r>
            <a:r>
              <a:rPr lang="el-GR" sz="4000" b="1" dirty="0" err="1">
                <a:solidFill>
                  <a:srgbClr val="F9853D"/>
                </a:solidFill>
                <a:latin typeface="Bahnschrift" panose="020B0502040204020203" pitchFamily="34" charset="0"/>
              </a:rPr>
              <a:t>Object-Oriented</a:t>
            </a:r>
            <a:r>
              <a:rPr lang="el-GR" sz="4000" b="1" dirty="0">
                <a:solidFill>
                  <a:srgbClr val="F9853D"/>
                </a:solidFill>
                <a:latin typeface="Bahnschrift" panose="020B0502040204020203" pitchFamily="34" charset="0"/>
              </a:rPr>
              <a:t> </a:t>
            </a:r>
            <a:r>
              <a:rPr lang="el-GR" sz="4000" b="1" dirty="0" err="1">
                <a:solidFill>
                  <a:srgbClr val="F9853D"/>
                </a:solidFill>
                <a:latin typeface="Bahnschrift" panose="020B0502040204020203" pitchFamily="34" charset="0"/>
              </a:rPr>
              <a:t>Programming</a:t>
            </a:r>
            <a:r>
              <a:rPr lang="el-GR" sz="4000" b="1" dirty="0">
                <a:solidFill>
                  <a:srgbClr val="F9853D"/>
                </a:solidFill>
                <a:latin typeface="Bahnschrift" panose="020B0502040204020203" pitchFamily="34" charset="0"/>
              </a:rPr>
              <a:t>)</a:t>
            </a:r>
            <a:endParaRPr lang="en-US" sz="2800" b="1" dirty="0">
              <a:solidFill>
                <a:srgbClr val="F9853D"/>
              </a:solidFill>
              <a:latin typeface="Bahnschrift" panose="020B0502040204020203" pitchFamily="34" charset="0"/>
            </a:endParaRPr>
          </a:p>
        </p:txBody>
      </p:sp>
      <p:sp>
        <p:nvSpPr>
          <p:cNvPr id="5" name="Rectangle 3">
            <a:extLst>
              <a:ext uri="{FF2B5EF4-FFF2-40B4-BE49-F238E27FC236}">
                <a16:creationId xmlns:a16="http://schemas.microsoft.com/office/drawing/2014/main" id="{850C4F10-C081-CD71-17C8-8DAD4C7DEEF4}"/>
              </a:ext>
            </a:extLst>
          </p:cNvPr>
          <p:cNvSpPr txBox="1">
            <a:spLocks noChangeArrowheads="1"/>
          </p:cNvSpPr>
          <p:nvPr/>
        </p:nvSpPr>
        <p:spPr bwMode="auto">
          <a:xfrm>
            <a:off x="0" y="5773068"/>
            <a:ext cx="8610600" cy="1417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0" indent="0" algn="ctr" rtl="0" eaLnBrk="0" fontAlgn="base" hangingPunct="0">
              <a:spcBef>
                <a:spcPct val="20000"/>
              </a:spcBef>
              <a:spcAft>
                <a:spcPct val="0"/>
              </a:spcAft>
              <a:buFont typeface="Wingdings" pitchFamily="2" charset="2"/>
              <a:buNone/>
              <a:defRPr sz="4000">
                <a:solidFill>
                  <a:schemeClr val="tx1"/>
                </a:solidFill>
                <a:latin typeface="+mn-lt"/>
                <a:ea typeface="+mn-ea"/>
                <a:cs typeface="+mn-cs"/>
              </a:defRPr>
            </a:lvl1pPr>
            <a:lvl2pPr marL="742950" indent="-285750" algn="l" rtl="0" eaLnBrk="0" fontAlgn="base" hangingPunct="0">
              <a:spcBef>
                <a:spcPct val="20000"/>
              </a:spcBef>
              <a:spcAft>
                <a:spcPct val="0"/>
              </a:spcAft>
              <a:buFont typeface="Book Antiqua" panose="02040602050305030304" pitchFamily="18" charset="0"/>
              <a:buChar char="–"/>
              <a:defRPr sz="2800">
                <a:solidFill>
                  <a:schemeClr val="tx1"/>
                </a:solidFill>
                <a:latin typeface="+mn-lt"/>
              </a:defRPr>
            </a:lvl2pPr>
            <a:lvl3pPr marL="1143000" indent="-228600" algn="l" rtl="0" eaLnBrk="0" fontAlgn="base" hangingPunct="0">
              <a:spcBef>
                <a:spcPct val="20000"/>
              </a:spcBef>
              <a:spcAft>
                <a:spcPct val="0"/>
              </a:spcAft>
              <a:buFont typeface="Wingdings" panose="05000000000000000000" pitchFamily="2" charset="2"/>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Arial" charset="0"/>
              </a:defRPr>
            </a:lvl4pPr>
            <a:lvl5pPr marL="2057400" indent="-228600" algn="l" rtl="0" eaLnBrk="0" fontAlgn="base" hangingPunct="0">
              <a:spcBef>
                <a:spcPct val="20000"/>
              </a:spcBef>
              <a:spcAft>
                <a:spcPct val="0"/>
              </a:spcAft>
              <a:buChar char="»"/>
              <a:defRPr sz="2000">
                <a:solidFill>
                  <a:schemeClr val="tx1"/>
                </a:solidFill>
                <a:latin typeface="Arial" charset="0"/>
              </a:defRPr>
            </a:lvl5pPr>
            <a:lvl6pPr marL="2514600" indent="-228600" algn="l" rtl="0" fontAlgn="base">
              <a:spcBef>
                <a:spcPct val="20000"/>
              </a:spcBef>
              <a:spcAft>
                <a:spcPct val="0"/>
              </a:spcAft>
              <a:buChar char="»"/>
              <a:defRPr sz="2000">
                <a:solidFill>
                  <a:schemeClr val="tx1"/>
                </a:solidFill>
                <a:latin typeface="Arial" charset="0"/>
              </a:defRPr>
            </a:lvl6pPr>
            <a:lvl7pPr marL="2971800" indent="-228600" algn="l" rtl="0" fontAlgn="base">
              <a:spcBef>
                <a:spcPct val="20000"/>
              </a:spcBef>
              <a:spcAft>
                <a:spcPct val="0"/>
              </a:spcAft>
              <a:buChar char="»"/>
              <a:defRPr sz="2000">
                <a:solidFill>
                  <a:schemeClr val="tx1"/>
                </a:solidFill>
                <a:latin typeface="Arial" charset="0"/>
              </a:defRPr>
            </a:lvl7pPr>
            <a:lvl8pPr marL="3429000" indent="-228600" algn="l" rtl="0" fontAlgn="base">
              <a:spcBef>
                <a:spcPct val="20000"/>
              </a:spcBef>
              <a:spcAft>
                <a:spcPct val="0"/>
              </a:spcAft>
              <a:buChar char="»"/>
              <a:defRPr sz="2000">
                <a:solidFill>
                  <a:schemeClr val="tx1"/>
                </a:solidFill>
                <a:latin typeface="Arial" charset="0"/>
              </a:defRPr>
            </a:lvl8pPr>
            <a:lvl9pPr marL="3886200" indent="-228600" algn="l" rtl="0" fontAlgn="base">
              <a:spcBef>
                <a:spcPct val="20000"/>
              </a:spcBef>
              <a:spcAft>
                <a:spcPct val="0"/>
              </a:spcAft>
              <a:buChar char="»"/>
              <a:defRPr sz="2000">
                <a:solidFill>
                  <a:schemeClr val="tx1"/>
                </a:solidFill>
                <a:latin typeface="Arial" charset="0"/>
              </a:defRPr>
            </a:lvl9pPr>
          </a:lstStyle>
          <a:p>
            <a:pPr algn="l" eaLnBrk="1" hangingPunct="1">
              <a:spcBef>
                <a:spcPct val="0"/>
              </a:spcBef>
              <a:defRPr/>
            </a:pPr>
            <a:r>
              <a:rPr lang="en-US" altLang="el-GR" sz="1800" b="0" i="0" kern="0" dirty="0">
                <a:solidFill>
                  <a:srgbClr val="800000"/>
                </a:solidFill>
                <a:latin typeface="Times New Roman" panose="02020603050405020304" pitchFamily="18" charset="0"/>
              </a:rPr>
              <a:t>Kleanthis Thramboulidis</a:t>
            </a:r>
          </a:p>
          <a:p>
            <a:pPr algn="l" eaLnBrk="1" hangingPunct="1">
              <a:spcBef>
                <a:spcPct val="0"/>
              </a:spcBef>
              <a:defRPr/>
            </a:pPr>
            <a:r>
              <a:rPr lang="en-US" altLang="el-GR" sz="1600" i="0" kern="0" dirty="0">
                <a:latin typeface="Times New Roman" panose="02020603050405020304" pitchFamily="18" charset="0"/>
              </a:rPr>
              <a:t>Prof. of Software and System Engineering </a:t>
            </a:r>
          </a:p>
          <a:p>
            <a:pPr algn="l" eaLnBrk="1" hangingPunct="1">
              <a:spcBef>
                <a:spcPct val="0"/>
              </a:spcBef>
              <a:defRPr/>
            </a:pPr>
            <a:r>
              <a:rPr lang="en-US" altLang="el-GR" sz="1600" b="0" i="0" kern="0" dirty="0">
                <a:latin typeface="Times New Roman" panose="02020603050405020304" pitchFamily="18" charset="0"/>
              </a:rPr>
              <a:t>University of Patras</a:t>
            </a:r>
            <a:r>
              <a:rPr lang="el-GR" altLang="el-GR" sz="1800" b="0" i="0" kern="0" dirty="0">
                <a:latin typeface="Times New Roman" panose="02020603050405020304" pitchFamily="18" charset="0"/>
              </a:rPr>
              <a:t> </a:t>
            </a:r>
            <a:endParaRPr lang="en-US" altLang="el-GR" sz="1800" b="0" i="0" kern="0" dirty="0">
              <a:latin typeface="Times New Roman" panose="02020603050405020304" pitchFamily="18" charset="0"/>
            </a:endParaRPr>
          </a:p>
          <a:p>
            <a:pPr algn="l" eaLnBrk="1" hangingPunct="1">
              <a:spcBef>
                <a:spcPct val="0"/>
              </a:spcBef>
              <a:defRPr/>
            </a:pPr>
            <a:r>
              <a:rPr lang="en-US" altLang="el-GR" sz="1600" b="0" i="0" dirty="0">
                <a:latin typeface="Times New Roman" panose="02020603050405020304" pitchFamily="18" charset="0"/>
                <a:hlinkClick r:id="rId3"/>
              </a:rPr>
              <a:t>https://sites.google.com/site/thramboulidiskleanthis/</a:t>
            </a:r>
            <a:endParaRPr lang="en-US" altLang="el-GR" sz="1600" b="0" i="0" dirty="0">
              <a:latin typeface="Times New Roman" panose="02020603050405020304" pitchFamily="18" charset="0"/>
            </a:endParaRPr>
          </a:p>
          <a:p>
            <a:pPr algn="l" eaLnBrk="1" hangingPunct="1">
              <a:spcBef>
                <a:spcPct val="0"/>
              </a:spcBef>
              <a:defRPr/>
            </a:pPr>
            <a:endParaRPr lang="el-GR" altLang="el-GR" sz="1800" kern="0" dirty="0">
              <a:latin typeface="Times New Roman" panose="02020603050405020304" pitchFamily="18" charset="0"/>
            </a:endParaRPr>
          </a:p>
          <a:p>
            <a:pPr algn="l" eaLnBrk="1" hangingPunct="1">
              <a:spcBef>
                <a:spcPct val="0"/>
              </a:spcBef>
              <a:defRPr/>
            </a:pPr>
            <a:endParaRPr lang="en-GB" altLang="el-GR" sz="1800" b="1" kern="0" dirty="0">
              <a:latin typeface="Times New Roman" panose="02020603050405020304" pitchFamily="18" charset="0"/>
            </a:endParaRPr>
          </a:p>
        </p:txBody>
      </p:sp>
      <p:sp>
        <p:nvSpPr>
          <p:cNvPr id="16" name="TextBox 15">
            <a:extLst>
              <a:ext uri="{FF2B5EF4-FFF2-40B4-BE49-F238E27FC236}">
                <a16:creationId xmlns:a16="http://schemas.microsoft.com/office/drawing/2014/main" id="{D3036E0A-62C8-F25D-25D5-595B0B27A6B1}"/>
              </a:ext>
            </a:extLst>
          </p:cNvPr>
          <p:cNvSpPr txBox="1"/>
          <p:nvPr/>
        </p:nvSpPr>
        <p:spPr>
          <a:xfrm>
            <a:off x="0" y="1318086"/>
            <a:ext cx="1769534" cy="369332"/>
          </a:xfrm>
          <a:prstGeom prst="rect">
            <a:avLst/>
          </a:prstGeom>
          <a:noFill/>
        </p:spPr>
        <p:txBody>
          <a:bodyPr wrap="square">
            <a:spAutoFit/>
          </a:bodyPr>
          <a:lstStyle/>
          <a:p>
            <a:r>
              <a:rPr lang="en-US" dirty="0">
                <a:solidFill>
                  <a:srgbClr val="F9853D"/>
                </a:solidFill>
                <a:latin typeface="Bahnschrift" panose="020B0502040204020203" pitchFamily="34" charset="0"/>
              </a:rPr>
              <a:t>(CEID_NNY106)</a:t>
            </a:r>
            <a:endParaRPr lang="el-GR" dirty="0">
              <a:solidFill>
                <a:srgbClr val="F9853D"/>
              </a:solidFill>
              <a:latin typeface="Bahnschrift" panose="020B0502040204020203" pitchFamily="34" charset="0"/>
            </a:endParaRPr>
          </a:p>
        </p:txBody>
      </p:sp>
      <p:sp>
        <p:nvSpPr>
          <p:cNvPr id="2" name="TextBox 1">
            <a:extLst>
              <a:ext uri="{FF2B5EF4-FFF2-40B4-BE49-F238E27FC236}">
                <a16:creationId xmlns:a16="http://schemas.microsoft.com/office/drawing/2014/main" id="{515F3EE9-A938-D663-D46A-160783F1F27F}"/>
              </a:ext>
            </a:extLst>
          </p:cNvPr>
          <p:cNvSpPr txBox="1"/>
          <p:nvPr/>
        </p:nvSpPr>
        <p:spPr>
          <a:xfrm>
            <a:off x="560303" y="2462259"/>
            <a:ext cx="1314527" cy="369332"/>
          </a:xfrm>
          <a:prstGeom prst="rect">
            <a:avLst/>
          </a:prstGeom>
          <a:noFill/>
        </p:spPr>
        <p:txBody>
          <a:bodyPr wrap="none" rtlCol="0">
            <a:spAutoFit/>
          </a:bodyPr>
          <a:lstStyle/>
          <a:p>
            <a:r>
              <a:rPr lang="el-GR" dirty="0"/>
              <a:t>Κύρια Πηγή</a:t>
            </a:r>
          </a:p>
        </p:txBody>
      </p:sp>
      <p:pic>
        <p:nvPicPr>
          <p:cNvPr id="6" name="Picture 5">
            <a:extLst>
              <a:ext uri="{FF2B5EF4-FFF2-40B4-BE49-F238E27FC236}">
                <a16:creationId xmlns:a16="http://schemas.microsoft.com/office/drawing/2014/main" id="{06171E6F-8AE9-B75E-1823-7991CADC80F8}"/>
              </a:ext>
            </a:extLst>
          </p:cNvPr>
          <p:cNvPicPr>
            <a:picLocks noChangeAspect="1"/>
          </p:cNvPicPr>
          <p:nvPr/>
        </p:nvPicPr>
        <p:blipFill>
          <a:blip r:embed="rId4"/>
          <a:stretch>
            <a:fillRect/>
          </a:stretch>
        </p:blipFill>
        <p:spPr>
          <a:xfrm>
            <a:off x="242123" y="2741663"/>
            <a:ext cx="1950889" cy="2819644"/>
          </a:xfrm>
          <a:prstGeom prst="rect">
            <a:avLst/>
          </a:prstGeom>
        </p:spPr>
      </p:pic>
      <p:sp>
        <p:nvSpPr>
          <p:cNvPr id="20" name="Rectangle 19">
            <a:extLst>
              <a:ext uri="{FF2B5EF4-FFF2-40B4-BE49-F238E27FC236}">
                <a16:creationId xmlns:a16="http://schemas.microsoft.com/office/drawing/2014/main" id="{71AC6608-7C00-770A-D4FC-06C135BF8CDE}"/>
              </a:ext>
            </a:extLst>
          </p:cNvPr>
          <p:cNvSpPr/>
          <p:nvPr/>
        </p:nvSpPr>
        <p:spPr>
          <a:xfrm>
            <a:off x="239084" y="3913536"/>
            <a:ext cx="1950889" cy="31272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l-GR" sz="1600" dirty="0"/>
              <a:t>Κεφάλαιο: </a:t>
            </a:r>
            <a:r>
              <a:rPr lang="en-US" sz="1600" dirty="0"/>
              <a:t>4</a:t>
            </a:r>
            <a:endParaRPr lang="el-GR" sz="1600" dirty="0"/>
          </a:p>
        </p:txBody>
      </p:sp>
      <p:pic>
        <p:nvPicPr>
          <p:cNvPr id="21" name="Picture 6">
            <a:extLst>
              <a:ext uri="{FF2B5EF4-FFF2-40B4-BE49-F238E27FC236}">
                <a16:creationId xmlns:a16="http://schemas.microsoft.com/office/drawing/2014/main" id="{B2F63C07-2E5A-3DFC-8018-E09F68C8D0A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85312" y="3081938"/>
            <a:ext cx="4906687" cy="3280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TextBox 21">
            <a:extLst>
              <a:ext uri="{FF2B5EF4-FFF2-40B4-BE49-F238E27FC236}">
                <a16:creationId xmlns:a16="http://schemas.microsoft.com/office/drawing/2014/main" id="{BC265853-6E3A-054B-2FAD-552C220A1F2C}"/>
              </a:ext>
            </a:extLst>
          </p:cNvPr>
          <p:cNvSpPr txBox="1"/>
          <p:nvPr/>
        </p:nvSpPr>
        <p:spPr>
          <a:xfrm>
            <a:off x="2551505" y="3081938"/>
            <a:ext cx="5055359" cy="2677656"/>
          </a:xfrm>
          <a:prstGeom prst="rect">
            <a:avLst/>
          </a:prstGeom>
          <a:noFill/>
        </p:spPr>
        <p:txBody>
          <a:bodyPr wrap="square" rtlCol="0">
            <a:spAutoFit/>
          </a:bodyPr>
          <a:lstStyle/>
          <a:p>
            <a:pPr algn="ctr"/>
            <a:r>
              <a:rPr lang="el-GR" sz="2400" dirty="0">
                <a:solidFill>
                  <a:srgbClr val="202122"/>
                </a:solidFill>
                <a:effectLst/>
                <a:latin typeface="Calibri" panose="020F0502020204030204" pitchFamily="34" charset="0"/>
                <a:ea typeface="Calibri" panose="020F0502020204030204" pitchFamily="34" charset="0"/>
                <a:cs typeface="Calibri" panose="020F0502020204030204" pitchFamily="34" charset="0"/>
              </a:rPr>
              <a:t>Μια </a:t>
            </a:r>
            <a:r>
              <a:rPr lang="el-GR" sz="2400" b="1" dirty="0">
                <a:solidFill>
                  <a:srgbClr val="202122"/>
                </a:solidFill>
                <a:effectLst/>
                <a:latin typeface="Calibri" panose="020F0502020204030204" pitchFamily="34" charset="0"/>
                <a:ea typeface="Calibri" panose="020F0502020204030204" pitchFamily="34" charset="0"/>
                <a:cs typeface="Calibri" panose="020F0502020204030204" pitchFamily="34" charset="0"/>
              </a:rPr>
              <a:t>εισαγωγή στις βασικές έννοιες της ανάπτυξης προγράμματος </a:t>
            </a:r>
            <a:r>
              <a:rPr lang="el-GR" sz="2400" dirty="0">
                <a:solidFill>
                  <a:srgbClr val="202122"/>
                </a:solidFill>
                <a:effectLst/>
                <a:latin typeface="Calibri" panose="020F0502020204030204" pitchFamily="34" charset="0"/>
                <a:ea typeface="Calibri" panose="020F0502020204030204" pitchFamily="34" charset="0"/>
                <a:cs typeface="Calibri" panose="020F0502020204030204" pitchFamily="34" charset="0"/>
              </a:rPr>
              <a:t>με βάση το αντικειμενοστρεφές παράδειγμα προγραμματισμού χρησιμοποιώντας την προσέγγιση </a:t>
            </a:r>
            <a:r>
              <a:rPr lang="en-US" sz="2400" dirty="0">
                <a:solidFill>
                  <a:srgbClr val="202122"/>
                </a:solidFill>
                <a:effectLst/>
                <a:latin typeface="Calibri" panose="020F0502020204030204" pitchFamily="34" charset="0"/>
                <a:ea typeface="Calibri" panose="020F0502020204030204" pitchFamily="34" charset="0"/>
                <a:cs typeface="Calibri" panose="020F0502020204030204" pitchFamily="34" charset="0"/>
              </a:rPr>
              <a:t>Lego</a:t>
            </a:r>
            <a:r>
              <a:rPr lang="el-GR" sz="2400" dirty="0">
                <a:solidFill>
                  <a:srgbClr val="202122"/>
                </a:solidFill>
                <a:effectLst/>
                <a:latin typeface="Calibri" panose="020F0502020204030204" pitchFamily="34" charset="0"/>
                <a:ea typeface="Calibri" panose="020F0502020204030204" pitchFamily="34" charset="0"/>
                <a:cs typeface="Calibri" panose="020F0502020204030204" pitchFamily="34" charset="0"/>
              </a:rPr>
              <a:t>.</a:t>
            </a:r>
          </a:p>
          <a:p>
            <a:pPr algn="ctr"/>
            <a:endParaRPr lang="el-GR" sz="2400" dirty="0"/>
          </a:p>
        </p:txBody>
      </p:sp>
      <p:sp>
        <p:nvSpPr>
          <p:cNvPr id="3" name="TextBox 2">
            <a:extLst>
              <a:ext uri="{FF2B5EF4-FFF2-40B4-BE49-F238E27FC236}">
                <a16:creationId xmlns:a16="http://schemas.microsoft.com/office/drawing/2014/main" id="{C0119BA2-9DCE-781A-CDE2-5E13583CECD9}"/>
              </a:ext>
            </a:extLst>
          </p:cNvPr>
          <p:cNvSpPr txBox="1"/>
          <p:nvPr/>
        </p:nvSpPr>
        <p:spPr>
          <a:xfrm>
            <a:off x="214596" y="4236100"/>
            <a:ext cx="1089986" cy="369332"/>
          </a:xfrm>
          <a:prstGeom prst="rect">
            <a:avLst/>
          </a:prstGeom>
          <a:noFill/>
        </p:spPr>
        <p:txBody>
          <a:bodyPr wrap="square" rtlCol="0">
            <a:spAutoFit/>
          </a:bodyPr>
          <a:lstStyle/>
          <a:p>
            <a:r>
              <a:rPr lang="en-US" dirty="0"/>
              <a:t>4.5-4.8</a:t>
            </a:r>
            <a:endParaRPr lang="el-GR" dirty="0"/>
          </a:p>
        </p:txBody>
      </p:sp>
      <p:sp>
        <p:nvSpPr>
          <p:cNvPr id="7" name="Υπότιτλος 2">
            <a:extLst>
              <a:ext uri="{FF2B5EF4-FFF2-40B4-BE49-F238E27FC236}">
                <a16:creationId xmlns:a16="http://schemas.microsoft.com/office/drawing/2014/main" id="{8157F78C-BA44-707B-E449-39E19DBCDA14}"/>
              </a:ext>
            </a:extLst>
          </p:cNvPr>
          <p:cNvSpPr txBox="1">
            <a:spLocks/>
          </p:cNvSpPr>
          <p:nvPr/>
        </p:nvSpPr>
        <p:spPr>
          <a:xfrm>
            <a:off x="3193576" y="1257787"/>
            <a:ext cx="8998424" cy="1463345"/>
          </a:xfrm>
          <a:prstGeom prst="rect">
            <a:avLst/>
          </a:prstGeom>
        </p:spPr>
        <p:txBody>
          <a:bodyPr vert="horz" lIns="91440" tIns="45720" rIns="91440" bIns="45720" rtlCol="0" anchor="b">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lnSpc>
                <a:spcPct val="100000"/>
              </a:lnSpc>
              <a:spcBef>
                <a:spcPct val="0"/>
              </a:spcBef>
              <a:spcAft>
                <a:spcPts val="600"/>
              </a:spcAft>
            </a:pPr>
            <a:r>
              <a:rPr lang="el-GR" sz="4000" b="1" dirty="0">
                <a:solidFill>
                  <a:srgbClr val="60D69E"/>
                </a:solidFill>
                <a:latin typeface="Bahnschrift" panose="020B0502040204020203" pitchFamily="34" charset="0"/>
              </a:rPr>
              <a:t>Η ΠΡΟΣΕΓΓΙΣΗ </a:t>
            </a:r>
            <a:r>
              <a:rPr lang="en-US" sz="4000" b="1" dirty="0">
                <a:solidFill>
                  <a:srgbClr val="60D69E"/>
                </a:solidFill>
                <a:latin typeface="Bahnschrift" panose="020B0502040204020203" pitchFamily="34" charset="0"/>
              </a:rPr>
              <a:t>LEGO </a:t>
            </a:r>
          </a:p>
          <a:p>
            <a:pPr algn="r">
              <a:lnSpc>
                <a:spcPct val="100000"/>
              </a:lnSpc>
              <a:spcBef>
                <a:spcPct val="0"/>
              </a:spcBef>
              <a:spcAft>
                <a:spcPts val="600"/>
              </a:spcAft>
            </a:pPr>
            <a:r>
              <a:rPr lang="el-GR" sz="4000" b="1" dirty="0">
                <a:solidFill>
                  <a:schemeClr val="accent1">
                    <a:lumMod val="60000"/>
                    <a:lumOff val="40000"/>
                  </a:schemeClr>
                </a:solidFill>
                <a:latin typeface="Bahnschrift" panose="020B0502040204020203" pitchFamily="34" charset="0"/>
              </a:rPr>
              <a:t>Παίζοντας με τα “τουβλάκια”</a:t>
            </a:r>
            <a:r>
              <a:rPr lang="en-US" sz="4000" b="1" dirty="0">
                <a:solidFill>
                  <a:schemeClr val="accent1">
                    <a:lumMod val="60000"/>
                    <a:lumOff val="40000"/>
                  </a:schemeClr>
                </a:solidFill>
                <a:latin typeface="Bahnschrift" panose="020B0502040204020203" pitchFamily="34" charset="0"/>
              </a:rPr>
              <a:t> - Part</a:t>
            </a:r>
            <a:r>
              <a:rPr lang="el-GR" sz="4000" b="1" dirty="0">
                <a:solidFill>
                  <a:schemeClr val="accent1">
                    <a:lumMod val="60000"/>
                    <a:lumOff val="40000"/>
                  </a:schemeClr>
                </a:solidFill>
                <a:latin typeface="Bahnschrift" panose="020B0502040204020203" pitchFamily="34" charset="0"/>
              </a:rPr>
              <a:t> </a:t>
            </a:r>
            <a:r>
              <a:rPr lang="en-US" sz="4000" b="1" dirty="0">
                <a:solidFill>
                  <a:schemeClr val="accent1">
                    <a:lumMod val="60000"/>
                    <a:lumOff val="40000"/>
                  </a:schemeClr>
                </a:solidFill>
                <a:latin typeface="Bahnschrift" panose="020B0502040204020203" pitchFamily="34" charset="0"/>
              </a:rPr>
              <a:t>B</a:t>
            </a:r>
          </a:p>
        </p:txBody>
      </p:sp>
    </p:spTree>
    <p:extLst>
      <p:ext uri="{BB962C8B-B14F-4D97-AF65-F5344CB8AC3E}">
        <p14:creationId xmlns:p14="http://schemas.microsoft.com/office/powerpoint/2010/main" val="307325276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n-US" sz="4000" b="1" dirty="0">
                <a:solidFill>
                  <a:srgbClr val="F9853D"/>
                </a:solidFill>
                <a:latin typeface="Bahnschrift" panose="020B0502040204020203" pitchFamily="34" charset="0"/>
              </a:rPr>
              <a:t>H </a:t>
            </a:r>
            <a:r>
              <a:rPr lang="el-GR" sz="4000" b="1" dirty="0">
                <a:solidFill>
                  <a:srgbClr val="F9853D"/>
                </a:solidFill>
                <a:latin typeface="Bahnschrift" panose="020B0502040204020203" pitchFamily="34" charset="0"/>
              </a:rPr>
              <a:t>Άσκηση</a:t>
            </a:r>
            <a:r>
              <a:rPr lang="en-US" sz="4000" b="1" dirty="0">
                <a:solidFill>
                  <a:srgbClr val="F9853D"/>
                </a:solidFill>
                <a:latin typeface="Bahnschrift" panose="020B0502040204020203" pitchFamily="34" charset="0"/>
              </a:rPr>
              <a:t> – To </a:t>
            </a:r>
            <a:r>
              <a:rPr lang="el-GR" sz="4000" b="1" dirty="0">
                <a:solidFill>
                  <a:srgbClr val="F9853D"/>
                </a:solidFill>
                <a:latin typeface="Bahnschrift" panose="020B0502040204020203" pitchFamily="34" charset="0"/>
              </a:rPr>
              <a:t>πρόγραμμα </a:t>
            </a:r>
            <a:r>
              <a:rPr lang="en-US" sz="4000" b="1" dirty="0">
                <a:solidFill>
                  <a:srgbClr val="F9853D"/>
                </a:solidFill>
                <a:latin typeface="Bahnschrift" panose="020B0502040204020203" pitchFamily="34" charset="0"/>
              </a:rPr>
              <a:t>Calc</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3" name="Rectangle 2">
            <a:extLst>
              <a:ext uri="{FF2B5EF4-FFF2-40B4-BE49-F238E27FC236}">
                <a16:creationId xmlns:a16="http://schemas.microsoft.com/office/drawing/2014/main" id="{3484F41C-DD3D-1448-7327-01170DFB9BD2}"/>
              </a:ext>
            </a:extLst>
          </p:cNvPr>
          <p:cNvSpPr/>
          <p:nvPr/>
        </p:nvSpPr>
        <p:spPr>
          <a:xfrm>
            <a:off x="0" y="1326713"/>
            <a:ext cx="6720029" cy="1234630"/>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l-GR" sz="2800" b="1" i="1" dirty="0">
                <a:solidFill>
                  <a:srgbClr val="C00000"/>
                </a:solidFill>
                <a:effectLst/>
                <a:latin typeface="Calibri" panose="020F0502020204030204" pitchFamily="34" charset="0"/>
                <a:ea typeface="Calibri" panose="020F0502020204030204" pitchFamily="34" charset="0"/>
                <a:cs typeface="Calibri" panose="020F0502020204030204" pitchFamily="34" charset="0"/>
              </a:rPr>
              <a:t>Δραστηριότητα 4.</a:t>
            </a:r>
            <a:r>
              <a:rPr lang="en-US" sz="2800" b="1" i="1" dirty="0">
                <a:solidFill>
                  <a:srgbClr val="C00000"/>
                </a:solidFill>
                <a:effectLst/>
                <a:latin typeface="Calibri" panose="020F0502020204030204" pitchFamily="34" charset="0"/>
                <a:ea typeface="Calibri" panose="020F0502020204030204" pitchFamily="34" charset="0"/>
                <a:cs typeface="Calibri" panose="020F0502020204030204" pitchFamily="34" charset="0"/>
              </a:rPr>
              <a:t>3</a:t>
            </a:r>
            <a:r>
              <a:rPr lang="el-GR" sz="2800" b="1" i="1" dirty="0">
                <a:solidFill>
                  <a:srgbClr val="C00000"/>
                </a:solidFill>
                <a:effectLst/>
                <a:latin typeface="Calibri" panose="020F0502020204030204" pitchFamily="34" charset="0"/>
                <a:ea typeface="Calibri" panose="020F0502020204030204" pitchFamily="34" charset="0"/>
                <a:cs typeface="Calibri" panose="020F0502020204030204" pitchFamily="34" charset="0"/>
              </a:rPr>
              <a:t> </a:t>
            </a:r>
            <a:endParaRPr lang="en-US" sz="2800" b="1" i="1" dirty="0">
              <a:solidFill>
                <a:srgbClr val="C00000"/>
              </a:solidFill>
              <a:effectLst/>
              <a:latin typeface="Calibri" panose="020F0502020204030204" pitchFamily="34" charset="0"/>
              <a:ea typeface="Calibri" panose="020F0502020204030204" pitchFamily="34" charset="0"/>
              <a:cs typeface="Calibri" panose="020F0502020204030204" pitchFamily="34" charset="0"/>
            </a:endParaRPr>
          </a:p>
          <a:p>
            <a:pPr algn="just"/>
            <a:r>
              <a:rPr lang="en-US" sz="2800" b="1" i="1" dirty="0">
                <a:solidFill>
                  <a:srgbClr val="C00000"/>
                </a:solidFill>
                <a:latin typeface="Calibri" panose="020F0502020204030204" pitchFamily="34" charset="0"/>
                <a:ea typeface="Calibri" panose="020F0502020204030204" pitchFamily="34" charset="0"/>
                <a:cs typeface="Calibri" panose="020F0502020204030204" pitchFamily="34" charset="0"/>
              </a:rPr>
              <a:t>Calc App</a:t>
            </a:r>
            <a:endParaRPr lang="el-GR" sz="2400" b="1" i="1" dirty="0">
              <a:solidFill>
                <a:srgbClr val="C00000"/>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EC730D82-FE62-6C6D-7040-895EE6527DFF}"/>
              </a:ext>
            </a:extLst>
          </p:cNvPr>
          <p:cNvSpPr txBox="1"/>
          <p:nvPr/>
        </p:nvSpPr>
        <p:spPr>
          <a:xfrm>
            <a:off x="119921" y="3002563"/>
            <a:ext cx="11384507" cy="2554545"/>
          </a:xfrm>
          <a:prstGeom prst="rect">
            <a:avLst/>
          </a:prstGeom>
          <a:noFill/>
        </p:spPr>
        <p:txBody>
          <a:bodyPr wrap="square" rtlCol="0">
            <a:spAutoFit/>
          </a:bodyPr>
          <a:lstStyle/>
          <a:p>
            <a:r>
              <a:rPr lang="el-GR" sz="3200" i="1" dirty="0">
                <a:solidFill>
                  <a:srgbClr val="000000"/>
                </a:solidFill>
                <a:latin typeface="Calibri" panose="020F0502020204030204" pitchFamily="34" charset="0"/>
              </a:rPr>
              <a:t>Γ</a:t>
            </a:r>
            <a:r>
              <a:rPr lang="el-GR" sz="3200" b="0" i="1" u="none" strike="noStrike" baseline="0" dirty="0">
                <a:solidFill>
                  <a:srgbClr val="000000"/>
                </a:solidFill>
                <a:latin typeface="Calibri" panose="020F0502020204030204" pitchFamily="34" charset="0"/>
              </a:rPr>
              <a:t>ράψτε ένα πρόγραμμα σύμφωνα με το οποίο το σύστημα θα</a:t>
            </a:r>
          </a:p>
          <a:p>
            <a:r>
              <a:rPr lang="el-GR" sz="3200" b="0" i="1" u="none" strike="noStrike" baseline="0" dirty="0">
                <a:solidFill>
                  <a:srgbClr val="000000"/>
                </a:solidFill>
                <a:latin typeface="Calibri" panose="020F0502020204030204" pitchFamily="34" charset="0"/>
              </a:rPr>
              <a:t>δημιουργεί δύο στιγμιότυπα </a:t>
            </a:r>
            <a:r>
              <a:rPr lang="el-GR" sz="3200" b="0" i="1" u="none" strike="noStrike" baseline="0" dirty="0" err="1">
                <a:solidFill>
                  <a:srgbClr val="000000"/>
                </a:solidFill>
                <a:latin typeface="Calibri" panose="020F0502020204030204" pitchFamily="34" charset="0"/>
              </a:rPr>
              <a:t>Double</a:t>
            </a:r>
            <a:r>
              <a:rPr lang="el-GR" sz="3200" b="0" i="1" u="none" strike="noStrike" baseline="0" dirty="0">
                <a:solidFill>
                  <a:srgbClr val="000000"/>
                </a:solidFill>
                <a:latin typeface="Calibri" panose="020F0502020204030204" pitchFamily="34" charset="0"/>
              </a:rPr>
              <a:t>, θα τα βάζει στη στοίβα, στη συνέχεια θα τα παίρνει θα τα προσθέτει και το αποτέλεσμα θα το βάζει στη στοίβα. Από εκεί θα το παίρνει και θα το εμφανίζει στον χρήστη.</a:t>
            </a:r>
            <a:endParaRPr lang="el-GR" sz="3200" dirty="0"/>
          </a:p>
        </p:txBody>
      </p:sp>
      <p:sp>
        <p:nvSpPr>
          <p:cNvPr id="6" name="Θέση υποσέλιδου 4">
            <a:extLst>
              <a:ext uri="{FF2B5EF4-FFF2-40B4-BE49-F238E27FC236}">
                <a16:creationId xmlns:a16="http://schemas.microsoft.com/office/drawing/2014/main" id="{42794CCD-7D7B-3457-056E-59A486682C31}"/>
              </a:ext>
            </a:extLst>
          </p:cNvPr>
          <p:cNvSpPr txBox="1">
            <a:spLocks/>
          </p:cNvSpPr>
          <p:nvPr/>
        </p:nvSpPr>
        <p:spPr>
          <a:xfrm>
            <a:off x="3305908" y="6559909"/>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LEGO Approach – Part B</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Tree>
    <p:extLst>
      <p:ext uri="{BB962C8B-B14F-4D97-AF65-F5344CB8AC3E}">
        <p14:creationId xmlns:p14="http://schemas.microsoft.com/office/powerpoint/2010/main" val="412878818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Οργάνωση Διάλεξης</a:t>
            </a: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6" name="Rectangle 3">
            <a:extLst>
              <a:ext uri="{FF2B5EF4-FFF2-40B4-BE49-F238E27FC236}">
                <a16:creationId xmlns:a16="http://schemas.microsoft.com/office/drawing/2014/main" id="{DA6131CC-51AC-7772-5DFB-DAF535789200}"/>
              </a:ext>
            </a:extLst>
          </p:cNvPr>
          <p:cNvSpPr txBox="1">
            <a:spLocks noChangeArrowheads="1"/>
          </p:cNvSpPr>
          <p:nvPr/>
        </p:nvSpPr>
        <p:spPr bwMode="auto">
          <a:xfrm>
            <a:off x="174331" y="758816"/>
            <a:ext cx="10165491" cy="50765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514350" indent="-457200" eaLnBrk="1" hangingPunct="1">
              <a:buClr>
                <a:schemeClr val="hlink"/>
              </a:buClr>
              <a:defRPr/>
            </a:pPr>
            <a:r>
              <a:rPr lang="el-GR" b="1" dirty="0">
                <a:latin typeface="Tahoma" panose="020B0604030504040204" pitchFamily="34" charset="0"/>
                <a:ea typeface="Tahoma" panose="020B0604030504040204" pitchFamily="34" charset="0"/>
                <a:cs typeface="Tahoma" panose="020B0604030504040204" pitchFamily="34" charset="0"/>
              </a:rPr>
              <a:t>Αφαιρετική περιγραφή συμπεριφοράς</a:t>
            </a:r>
          </a:p>
          <a:p>
            <a:pPr marL="914400" lvl="1" indent="-457200" eaLnBrk="1" hangingPunct="1">
              <a:defRPr/>
            </a:pPr>
            <a:r>
              <a:rPr lang="en-US" b="1" dirty="0">
                <a:latin typeface="Tahoma" panose="020B0604030504040204" pitchFamily="34" charset="0"/>
                <a:ea typeface="Tahoma" panose="020B0604030504040204" pitchFamily="34" charset="0"/>
                <a:cs typeface="Tahoma" panose="020B0604030504040204" pitchFamily="34" charset="0"/>
              </a:rPr>
              <a:t>Object Interaction Diagram/Sequence Diagram</a:t>
            </a:r>
            <a:endParaRPr lang="el-GR" b="1" dirty="0">
              <a:latin typeface="Tahoma" panose="020B0604030504040204" pitchFamily="34" charset="0"/>
              <a:ea typeface="Tahoma" panose="020B0604030504040204" pitchFamily="34" charset="0"/>
              <a:cs typeface="Tahoma" panose="020B0604030504040204" pitchFamily="34" charset="0"/>
            </a:endParaRPr>
          </a:p>
          <a:p>
            <a:pPr marL="514350" indent="-457200" eaLnBrk="1" hangingPunct="1">
              <a:buClr>
                <a:schemeClr val="hlink"/>
              </a:buClr>
              <a:defRPr/>
            </a:pPr>
            <a:r>
              <a:rPr lang="el-GR" dirty="0">
                <a:latin typeface="Tahoma" panose="020B0604030504040204" pitchFamily="34" charset="0"/>
                <a:ea typeface="Tahoma" panose="020B0604030504040204" pitchFamily="34" charset="0"/>
                <a:cs typeface="Tahoma" panose="020B0604030504040204" pitchFamily="34" charset="0"/>
              </a:rPr>
              <a:t>Η άσκηση </a:t>
            </a:r>
            <a:r>
              <a:rPr lang="en-US" dirty="0">
                <a:latin typeface="Tahoma" panose="020B0604030504040204" pitchFamily="34" charset="0"/>
                <a:ea typeface="Tahoma" panose="020B0604030504040204" pitchFamily="34" charset="0"/>
                <a:cs typeface="Tahoma" panose="020B0604030504040204" pitchFamily="34" charset="0"/>
              </a:rPr>
              <a:t>Calc</a:t>
            </a:r>
            <a:endParaRPr lang="el-GR" dirty="0">
              <a:latin typeface="Tahoma" panose="020B0604030504040204" pitchFamily="34" charset="0"/>
              <a:ea typeface="Tahoma" panose="020B0604030504040204" pitchFamily="34" charset="0"/>
              <a:cs typeface="Tahoma" panose="020B0604030504040204" pitchFamily="34" charset="0"/>
            </a:endParaRPr>
          </a:p>
          <a:p>
            <a:pPr marL="914400" lvl="1" indent="-457200" eaLnBrk="1" hangingPunct="1">
              <a:defRPr/>
            </a:pPr>
            <a:r>
              <a:rPr lang="el-GR" dirty="0">
                <a:latin typeface="Tahoma" panose="020B0604030504040204" pitchFamily="34" charset="0"/>
                <a:ea typeface="Tahoma" panose="020B0604030504040204" pitchFamily="34" charset="0"/>
                <a:cs typeface="Tahoma" panose="020B0604030504040204" pitchFamily="34" charset="0"/>
              </a:rPr>
              <a:t>Αναγνώριση αντικειμένων (δομή προγράμματος)</a:t>
            </a:r>
            <a:endParaRPr lang="en-US" dirty="0">
              <a:latin typeface="Tahoma" panose="020B0604030504040204" pitchFamily="34" charset="0"/>
              <a:ea typeface="Tahoma" panose="020B0604030504040204" pitchFamily="34" charset="0"/>
              <a:cs typeface="Tahoma" panose="020B0604030504040204" pitchFamily="34" charset="0"/>
            </a:endParaRPr>
          </a:p>
          <a:p>
            <a:pPr marL="514350" indent="-457200" eaLnBrk="1" hangingPunct="1">
              <a:buClr>
                <a:schemeClr val="hlink"/>
              </a:buClr>
              <a:defRPr/>
            </a:pPr>
            <a:r>
              <a:rPr lang="en-US" dirty="0">
                <a:latin typeface="Tahoma" panose="020B0604030504040204" pitchFamily="34" charset="0"/>
                <a:ea typeface="Tahoma" panose="020B0604030504040204" pitchFamily="34" charset="0"/>
                <a:cs typeface="Tahoma" panose="020B0604030504040204" pitchFamily="34" charset="0"/>
              </a:rPr>
              <a:t>To </a:t>
            </a:r>
            <a:r>
              <a:rPr lang="el-GR" dirty="0">
                <a:latin typeface="Tahoma" panose="020B0604030504040204" pitchFamily="34" charset="0"/>
                <a:ea typeface="Tahoma" panose="020B0604030504040204" pitchFamily="34" charset="0"/>
                <a:cs typeface="Tahoma" panose="020B0604030504040204" pitchFamily="34" charset="0"/>
              </a:rPr>
              <a:t>πρόγραμμα </a:t>
            </a:r>
            <a:r>
              <a:rPr lang="en-US" dirty="0">
                <a:latin typeface="Tahoma" panose="020B0604030504040204" pitchFamily="34" charset="0"/>
                <a:ea typeface="Tahoma" panose="020B0604030504040204" pitchFamily="34" charset="0"/>
                <a:cs typeface="Tahoma" panose="020B0604030504040204" pitchFamily="34" charset="0"/>
              </a:rPr>
              <a:t>Calc</a:t>
            </a:r>
            <a:r>
              <a:rPr lang="el-GR" dirty="0">
                <a:latin typeface="Tahoma" panose="020B0604030504040204" pitchFamily="34" charset="0"/>
                <a:ea typeface="Tahoma" panose="020B0604030504040204" pitchFamily="34" charset="0"/>
                <a:cs typeface="Tahoma" panose="020B0604030504040204" pitchFamily="34" charset="0"/>
              </a:rPr>
              <a:t> (1</a:t>
            </a:r>
            <a:r>
              <a:rPr lang="el-GR" baseline="30000" dirty="0">
                <a:latin typeface="Tahoma" panose="020B0604030504040204" pitchFamily="34" charset="0"/>
                <a:ea typeface="Tahoma" panose="020B0604030504040204" pitchFamily="34" charset="0"/>
                <a:cs typeface="Tahoma" panose="020B0604030504040204" pitchFamily="34" charset="0"/>
              </a:rPr>
              <a:t>η</a:t>
            </a:r>
            <a:r>
              <a:rPr lang="el-GR" dirty="0">
                <a:latin typeface="Tahoma" panose="020B0604030504040204" pitchFamily="34" charset="0"/>
                <a:ea typeface="Tahoma" panose="020B0604030504040204" pitchFamily="34" charset="0"/>
                <a:cs typeface="Tahoma" panose="020B0604030504040204" pitchFamily="34" charset="0"/>
              </a:rPr>
              <a:t> έκδοση)</a:t>
            </a:r>
          </a:p>
          <a:p>
            <a:pPr marL="914400" lvl="1" indent="-457200" eaLnBrk="1" hangingPunct="1">
              <a:defRPr/>
            </a:pPr>
            <a:r>
              <a:rPr lang="en-US" dirty="0">
                <a:latin typeface="Tahoma" panose="020B0604030504040204" pitchFamily="34" charset="0"/>
                <a:ea typeface="Tahoma" panose="020B0604030504040204" pitchFamily="34" charset="0"/>
                <a:cs typeface="Tahoma" panose="020B0604030504040204" pitchFamily="34" charset="0"/>
              </a:rPr>
              <a:t>Generics – </a:t>
            </a:r>
            <a:r>
              <a:rPr lang="en-US" dirty="0" err="1">
                <a:latin typeface="Tahoma" panose="020B0604030504040204" pitchFamily="34" charset="0"/>
                <a:ea typeface="Tahoma" panose="020B0604030504040204" pitchFamily="34" charset="0"/>
                <a:cs typeface="Tahoma" panose="020B0604030504040204" pitchFamily="34" charset="0"/>
              </a:rPr>
              <a:t>java.util.Stack</a:t>
            </a:r>
            <a:r>
              <a:rPr lang="en-US" dirty="0">
                <a:latin typeface="Tahoma" panose="020B0604030504040204" pitchFamily="34" charset="0"/>
                <a:ea typeface="Tahoma" panose="020B0604030504040204" pitchFamily="34" charset="0"/>
                <a:cs typeface="Tahoma" panose="020B0604030504040204" pitchFamily="34" charset="0"/>
              </a:rPr>
              <a:t>&lt;E&gt;</a:t>
            </a:r>
          </a:p>
          <a:p>
            <a:pPr marL="914400" lvl="1" indent="-457200" eaLnBrk="1" hangingPunct="1">
              <a:defRPr/>
            </a:pPr>
            <a:r>
              <a:rPr lang="el-GR" dirty="0">
                <a:latin typeface="Tahoma" panose="020B0604030504040204" pitchFamily="34" charset="0"/>
                <a:ea typeface="Tahoma" panose="020B0604030504040204" pitchFamily="34" charset="0"/>
                <a:cs typeface="Tahoma" panose="020B0604030504040204" pitchFamily="34" charset="0"/>
              </a:rPr>
              <a:t>Η μέθοδος </a:t>
            </a:r>
            <a:r>
              <a:rPr lang="en-US" dirty="0" err="1">
                <a:latin typeface="Tahoma" panose="020B0604030504040204" pitchFamily="34" charset="0"/>
                <a:ea typeface="Tahoma" panose="020B0604030504040204" pitchFamily="34" charset="0"/>
                <a:cs typeface="Tahoma" panose="020B0604030504040204" pitchFamily="34" charset="0"/>
              </a:rPr>
              <a:t>toString</a:t>
            </a:r>
            <a:endParaRPr lang="en-US" dirty="0">
              <a:latin typeface="Tahoma" panose="020B0604030504040204" pitchFamily="34" charset="0"/>
              <a:ea typeface="Tahoma" panose="020B0604030504040204" pitchFamily="34" charset="0"/>
              <a:cs typeface="Tahoma" panose="020B0604030504040204" pitchFamily="34" charset="0"/>
            </a:endParaRPr>
          </a:p>
          <a:p>
            <a:pPr marL="914400" lvl="1" indent="-457200" eaLnBrk="1" hangingPunct="1">
              <a:defRPr/>
            </a:pPr>
            <a:r>
              <a:rPr lang="en-US" dirty="0" err="1">
                <a:latin typeface="Tahoma" panose="020B0604030504040204" pitchFamily="34" charset="0"/>
                <a:ea typeface="Tahoma" panose="020B0604030504040204" pitchFamily="34" charset="0"/>
                <a:cs typeface="Tahoma" panose="020B0604030504040204" pitchFamily="34" charset="0"/>
              </a:rPr>
              <a:t>System.out.println</a:t>
            </a:r>
            <a:r>
              <a:rPr lang="en-US" dirty="0">
                <a:latin typeface="Tahoma" panose="020B0604030504040204" pitchFamily="34" charset="0"/>
                <a:ea typeface="Tahoma" panose="020B0604030504040204" pitchFamily="34" charset="0"/>
                <a:cs typeface="Tahoma" panose="020B0604030504040204" pitchFamily="34" charset="0"/>
              </a:rPr>
              <a:t>()</a:t>
            </a:r>
          </a:p>
          <a:p>
            <a:pPr marL="514350" indent="-457200" eaLnBrk="1" hangingPunct="1">
              <a:buClr>
                <a:schemeClr val="hlink"/>
              </a:buClr>
              <a:defRPr/>
            </a:pPr>
            <a:r>
              <a:rPr lang="el-GR" dirty="0">
                <a:latin typeface="Tahoma" panose="020B0604030504040204" pitchFamily="34" charset="0"/>
                <a:ea typeface="Tahoma" panose="020B0604030504040204" pitchFamily="34" charset="0"/>
                <a:cs typeface="Tahoma" panose="020B0604030504040204" pitchFamily="34" charset="0"/>
              </a:rPr>
              <a:t>Αύξηση τμηματοποίησης (</a:t>
            </a:r>
            <a:r>
              <a:rPr lang="en-US" dirty="0">
                <a:latin typeface="Tahoma" panose="020B0604030504040204" pitchFamily="34" charset="0"/>
                <a:ea typeface="Tahoma" panose="020B0604030504040204" pitchFamily="34" charset="0"/>
                <a:cs typeface="Tahoma" panose="020B0604030504040204" pitchFamily="34" charset="0"/>
              </a:rPr>
              <a:t>modularity</a:t>
            </a:r>
            <a:r>
              <a:rPr lang="el-GR" dirty="0">
                <a:latin typeface="Tahoma" panose="020B0604030504040204" pitchFamily="34" charset="0"/>
                <a:ea typeface="Tahoma" panose="020B0604030504040204" pitchFamily="34" charset="0"/>
                <a:cs typeface="Tahoma" panose="020B0604030504040204" pitchFamily="34" charset="0"/>
              </a:rPr>
              <a:t>)</a:t>
            </a:r>
          </a:p>
          <a:p>
            <a:pPr marL="514350" indent="-457200" eaLnBrk="1" hangingPunct="1">
              <a:buClr>
                <a:schemeClr val="hlink"/>
              </a:buClr>
              <a:defRPr/>
            </a:pPr>
            <a:endParaRPr lang="el-GR" dirty="0">
              <a:latin typeface="Tahoma" panose="020B0604030504040204" pitchFamily="34" charset="0"/>
              <a:ea typeface="Tahoma" panose="020B0604030504040204" pitchFamily="34" charset="0"/>
              <a:cs typeface="Tahoma" panose="020B0604030504040204" pitchFamily="34" charset="0"/>
            </a:endParaRPr>
          </a:p>
          <a:p>
            <a:pPr marL="514350" indent="-457200" eaLnBrk="1" hangingPunct="1">
              <a:defRPr/>
            </a:pPr>
            <a:endParaRPr lang="en-US" dirty="0">
              <a:latin typeface="Tahoma" panose="020B0604030504040204" pitchFamily="34" charset="0"/>
              <a:ea typeface="Tahoma" panose="020B0604030504040204" pitchFamily="34" charset="0"/>
              <a:cs typeface="Tahoma" panose="020B0604030504040204" pitchFamily="34" charset="0"/>
            </a:endParaRPr>
          </a:p>
          <a:p>
            <a:pPr marL="514350" indent="-457200" eaLnBrk="1" hangingPunct="1">
              <a:buClr>
                <a:schemeClr val="hlink"/>
              </a:buClr>
              <a:defRPr/>
            </a:pPr>
            <a:endParaRPr lang="el-GR" dirty="0">
              <a:latin typeface="Tahoma" panose="020B0604030504040204" pitchFamily="34" charset="0"/>
              <a:ea typeface="Tahoma" panose="020B0604030504040204" pitchFamily="34" charset="0"/>
              <a:cs typeface="Tahoma" panose="020B0604030504040204" pitchFamily="34" charset="0"/>
            </a:endParaRPr>
          </a:p>
        </p:txBody>
      </p:sp>
      <p:sp>
        <p:nvSpPr>
          <p:cNvPr id="3" name="Θέση υποσέλιδου 4">
            <a:extLst>
              <a:ext uri="{FF2B5EF4-FFF2-40B4-BE49-F238E27FC236}">
                <a16:creationId xmlns:a16="http://schemas.microsoft.com/office/drawing/2014/main" id="{E26DB777-2335-FA66-7A3F-D92F133E0F9D}"/>
              </a:ext>
            </a:extLst>
          </p:cNvPr>
          <p:cNvSpPr txBox="1">
            <a:spLocks/>
          </p:cNvSpPr>
          <p:nvPr/>
        </p:nvSpPr>
        <p:spPr>
          <a:xfrm>
            <a:off x="3305908" y="6559909"/>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LEGO Approach – Part B</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Tree>
    <p:extLst>
      <p:ext uri="{BB962C8B-B14F-4D97-AF65-F5344CB8AC3E}">
        <p14:creationId xmlns:p14="http://schemas.microsoft.com/office/powerpoint/2010/main" val="173361590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n-US" sz="4000" b="1" dirty="0">
                <a:solidFill>
                  <a:srgbClr val="F9853D"/>
                </a:solidFill>
                <a:latin typeface="Bahnschrift" panose="020B0502040204020203" pitchFamily="34" charset="0"/>
              </a:rPr>
              <a:t>Object Interaction Diagram/Sequence Diagram</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3" name="Θέση υποσέλιδου 4">
            <a:extLst>
              <a:ext uri="{FF2B5EF4-FFF2-40B4-BE49-F238E27FC236}">
                <a16:creationId xmlns:a16="http://schemas.microsoft.com/office/drawing/2014/main" id="{C84FEE0A-EC67-F275-4254-C7380CB8525E}"/>
              </a:ext>
            </a:extLst>
          </p:cNvPr>
          <p:cNvSpPr txBox="1">
            <a:spLocks/>
          </p:cNvSpPr>
          <p:nvPr/>
        </p:nvSpPr>
        <p:spPr>
          <a:xfrm>
            <a:off x="3305908" y="6559909"/>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LEGO Approach – Part B</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graphicFrame>
        <p:nvGraphicFramePr>
          <p:cNvPr id="4" name="Object 36">
            <a:extLst>
              <a:ext uri="{FF2B5EF4-FFF2-40B4-BE49-F238E27FC236}">
                <a16:creationId xmlns:a16="http://schemas.microsoft.com/office/drawing/2014/main" id="{B62C54D6-CAD9-6BC5-7EE7-81A8275DDA08}"/>
              </a:ext>
            </a:extLst>
          </p:cNvPr>
          <p:cNvGraphicFramePr>
            <a:graphicFrameLocks noChangeAspect="1"/>
          </p:cNvGraphicFramePr>
          <p:nvPr/>
        </p:nvGraphicFramePr>
        <p:xfrm>
          <a:off x="350875" y="957263"/>
          <a:ext cx="8059738" cy="4632325"/>
        </p:xfrm>
        <a:graphic>
          <a:graphicData uri="http://schemas.openxmlformats.org/presentationml/2006/ole">
            <mc:AlternateContent xmlns:mc="http://schemas.openxmlformats.org/markup-compatibility/2006">
              <mc:Choice xmlns:v="urn:schemas-microsoft-com:vml" Requires="v">
                <p:oleObj name="Bitmap Image" r:id="rId3" imgW="5982535" imgH="3438095" progId="Paint.Picture">
                  <p:embed/>
                </p:oleObj>
              </mc:Choice>
              <mc:Fallback>
                <p:oleObj name="Bitmap Image" r:id="rId3" imgW="5982535" imgH="3438095" progId="Paint.Picture">
                  <p:embed/>
                  <p:pic>
                    <p:nvPicPr>
                      <p:cNvPr id="4" name="Object 36">
                        <a:extLst>
                          <a:ext uri="{FF2B5EF4-FFF2-40B4-BE49-F238E27FC236}">
                            <a16:creationId xmlns:a16="http://schemas.microsoft.com/office/drawing/2014/main" id="{B62C54D6-CAD9-6BC5-7EE7-81A8275DDA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0875" y="957263"/>
                        <a:ext cx="8059738" cy="4632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 name="Rectangle 4">
            <a:extLst>
              <a:ext uri="{FF2B5EF4-FFF2-40B4-BE49-F238E27FC236}">
                <a16:creationId xmlns:a16="http://schemas.microsoft.com/office/drawing/2014/main" id="{8CE58617-0898-94A3-BA9F-7ED07A2B061F}"/>
              </a:ext>
            </a:extLst>
          </p:cNvPr>
          <p:cNvSpPr>
            <a:spLocks noChangeArrowheads="1"/>
          </p:cNvSpPr>
          <p:nvPr/>
        </p:nvSpPr>
        <p:spPr bwMode="auto">
          <a:xfrm>
            <a:off x="7357731" y="5690161"/>
            <a:ext cx="45720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1" i="1" u="none" strike="noStrike" kern="0" cap="none" spc="0" normalizeH="0" baseline="0" noProof="0" dirty="0">
                <a:ln>
                  <a:noFill/>
                </a:ln>
                <a:solidFill>
                  <a:srgbClr val="000000"/>
                </a:solidFill>
                <a:effectLst/>
                <a:uLnTx/>
                <a:uFillTx/>
                <a:latin typeface="Tahoma" panose="020B0604030504040204" pitchFamily="34" charset="0"/>
              </a:rPr>
              <a:t>“</a:t>
            </a:r>
            <a:r>
              <a:rPr kumimoji="0" lang="en-US" altLang="el-GR" sz="2400" b="1" i="1" u="none" strike="noStrike" kern="0" cap="none" spc="0" normalizeH="0" baseline="0" noProof="0" dirty="0">
                <a:ln>
                  <a:noFill/>
                </a:ln>
                <a:solidFill>
                  <a:srgbClr val="C00000"/>
                </a:solidFill>
                <a:effectLst/>
                <a:uLnTx/>
                <a:uFillTx/>
                <a:latin typeface="Tahoma" panose="020B0604030504040204" pitchFamily="34" charset="0"/>
              </a:rPr>
              <a:t>The whole is more than the sum of its parts</a:t>
            </a:r>
            <a:r>
              <a:rPr kumimoji="0" lang="en-US" altLang="el-GR" sz="2400" b="1" i="1" u="none" strike="noStrike" kern="0" cap="none" spc="0" normalizeH="0" baseline="0" noProof="0" dirty="0">
                <a:ln>
                  <a:noFill/>
                </a:ln>
                <a:solidFill>
                  <a:srgbClr val="000000"/>
                </a:solidFill>
                <a:effectLst/>
                <a:uLnTx/>
                <a:uFillTx/>
                <a:latin typeface="Tahoma" panose="020B0604030504040204" pitchFamily="34" charset="0"/>
              </a:rPr>
              <a:t>” – Aristotle. </a:t>
            </a:r>
            <a:endParaRPr kumimoji="0" lang="el-GR" altLang="el-GR" sz="2400" b="0" i="0" u="none" strike="noStrike" kern="0" cap="none" spc="0" normalizeH="0" baseline="0" noProof="0" dirty="0">
              <a:ln>
                <a:noFill/>
              </a:ln>
              <a:solidFill>
                <a:srgbClr val="000000"/>
              </a:solidFill>
              <a:effectLst/>
              <a:uLnTx/>
              <a:uFillTx/>
              <a:latin typeface="Tahoma" panose="020B0604030504040204" pitchFamily="34" charset="0"/>
            </a:endParaRPr>
          </a:p>
        </p:txBody>
      </p:sp>
      <p:sp>
        <p:nvSpPr>
          <p:cNvPr id="9" name="Rectangle 8">
            <a:extLst>
              <a:ext uri="{FF2B5EF4-FFF2-40B4-BE49-F238E27FC236}">
                <a16:creationId xmlns:a16="http://schemas.microsoft.com/office/drawing/2014/main" id="{01F7E97D-4C0D-37D5-78DF-0FD1B13D0D89}"/>
              </a:ext>
            </a:extLst>
          </p:cNvPr>
          <p:cNvSpPr/>
          <p:nvPr/>
        </p:nvSpPr>
        <p:spPr>
          <a:xfrm>
            <a:off x="8927804" y="4069377"/>
            <a:ext cx="2913321" cy="1323753"/>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l-GR" sz="2400" b="1" dirty="0"/>
              <a:t>Περιγράφει συμπεριφορά συστήματος</a:t>
            </a:r>
          </a:p>
        </p:txBody>
      </p:sp>
      <p:pic>
        <p:nvPicPr>
          <p:cNvPr id="6" name="Picture 6" descr="PAGoodys001">
            <a:extLst>
              <a:ext uri="{FF2B5EF4-FFF2-40B4-BE49-F238E27FC236}">
                <a16:creationId xmlns:a16="http://schemas.microsoft.com/office/drawing/2014/main" id="{642D948C-44C9-D3F7-EFE5-1D73A763A56E}"/>
              </a:ext>
            </a:extLst>
          </p:cNvPr>
          <p:cNvPicPr>
            <a:picLocks noChangeAspect="1" noChangeArrowheads="1"/>
          </p:cNvPicPr>
          <p:nvPr/>
        </p:nvPicPr>
        <p:blipFill>
          <a:blip r:embed="rId5" cstate="print"/>
          <a:srcRect/>
          <a:stretch>
            <a:fillRect/>
          </a:stretch>
        </p:blipFill>
        <p:spPr bwMode="auto">
          <a:xfrm>
            <a:off x="8579785" y="719331"/>
            <a:ext cx="3612214" cy="2709669"/>
          </a:xfrm>
          <a:prstGeom prst="rect">
            <a:avLst/>
          </a:prstGeom>
          <a:noFill/>
          <a:ln w="9525">
            <a:noFill/>
            <a:miter lim="800000"/>
            <a:headEnd/>
            <a:tailEnd/>
          </a:ln>
        </p:spPr>
      </p:pic>
      <p:sp>
        <p:nvSpPr>
          <p:cNvPr id="7" name="Speech Bubble: Rectangle with Corners Rounded 6">
            <a:extLst>
              <a:ext uri="{FF2B5EF4-FFF2-40B4-BE49-F238E27FC236}">
                <a16:creationId xmlns:a16="http://schemas.microsoft.com/office/drawing/2014/main" id="{610B1139-4FB9-08D6-89DC-8D3B18CEA143}"/>
              </a:ext>
            </a:extLst>
          </p:cNvPr>
          <p:cNvSpPr/>
          <p:nvPr/>
        </p:nvSpPr>
        <p:spPr>
          <a:xfrm>
            <a:off x="9425353" y="719331"/>
            <a:ext cx="2262342" cy="719331"/>
          </a:xfrm>
          <a:prstGeom prst="wedgeRoundRectCallout">
            <a:avLst>
              <a:gd name="adj1" fmla="val -39205"/>
              <a:gd name="adj2" fmla="val 101791"/>
              <a:gd name="adj3" fmla="val 16667"/>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l-GR" b="1" dirty="0"/>
              <a:t>Ένα </a:t>
            </a:r>
            <a:r>
              <a:rPr lang="en-US" b="1" dirty="0"/>
              <a:t>burger </a:t>
            </a:r>
            <a:r>
              <a:rPr lang="el-GR" b="1" dirty="0"/>
              <a:t>και μια τυρόπιτα παρακαλώ</a:t>
            </a:r>
            <a:endParaRPr lang="en-GB" b="1" dirty="0"/>
          </a:p>
        </p:txBody>
      </p:sp>
    </p:spTree>
    <p:extLst>
      <p:ext uri="{BB962C8B-B14F-4D97-AF65-F5344CB8AC3E}">
        <p14:creationId xmlns:p14="http://schemas.microsoft.com/office/powerpoint/2010/main" val="290509055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1" presetClass="entr" presetSubtype="1"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wheel(1)">
                                      <p:cBhvr>
                                        <p:cTn id="24"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animBg="1"/>
      <p:bldP spid="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Οργάνωση Διάλεξης</a:t>
            </a: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6" name="Rectangle 3">
            <a:extLst>
              <a:ext uri="{FF2B5EF4-FFF2-40B4-BE49-F238E27FC236}">
                <a16:creationId xmlns:a16="http://schemas.microsoft.com/office/drawing/2014/main" id="{DA6131CC-51AC-7772-5DFB-DAF535789200}"/>
              </a:ext>
            </a:extLst>
          </p:cNvPr>
          <p:cNvSpPr txBox="1">
            <a:spLocks noChangeArrowheads="1"/>
          </p:cNvSpPr>
          <p:nvPr/>
        </p:nvSpPr>
        <p:spPr bwMode="auto">
          <a:xfrm>
            <a:off x="224208" y="1081628"/>
            <a:ext cx="10165491" cy="50765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514350" indent="-457200" eaLnBrk="1" hangingPunct="1">
              <a:buClr>
                <a:schemeClr val="hlink"/>
              </a:buClr>
              <a:defRPr/>
            </a:pPr>
            <a:r>
              <a:rPr lang="el-GR" dirty="0">
                <a:latin typeface="Tahoma" panose="020B0604030504040204" pitchFamily="34" charset="0"/>
                <a:ea typeface="Tahoma" panose="020B0604030504040204" pitchFamily="34" charset="0"/>
                <a:cs typeface="Tahoma" panose="020B0604030504040204" pitchFamily="34" charset="0"/>
              </a:rPr>
              <a:t>Αφαιρετική περιγραφή συμπεριφοράς</a:t>
            </a:r>
          </a:p>
          <a:p>
            <a:pPr marL="914400" lvl="1" indent="-457200" eaLnBrk="1" hangingPunct="1">
              <a:defRPr/>
            </a:pPr>
            <a:r>
              <a:rPr lang="en-US" dirty="0">
                <a:latin typeface="Tahoma" panose="020B0604030504040204" pitchFamily="34" charset="0"/>
                <a:ea typeface="Tahoma" panose="020B0604030504040204" pitchFamily="34" charset="0"/>
                <a:cs typeface="Tahoma" panose="020B0604030504040204" pitchFamily="34" charset="0"/>
              </a:rPr>
              <a:t>Object Interaction Diagram/Sequence Diagram</a:t>
            </a:r>
            <a:endParaRPr lang="el-GR" dirty="0">
              <a:latin typeface="Tahoma" panose="020B0604030504040204" pitchFamily="34" charset="0"/>
              <a:ea typeface="Tahoma" panose="020B0604030504040204" pitchFamily="34" charset="0"/>
              <a:cs typeface="Tahoma" panose="020B0604030504040204" pitchFamily="34" charset="0"/>
            </a:endParaRPr>
          </a:p>
          <a:p>
            <a:pPr marL="514350" indent="-457200" eaLnBrk="1" hangingPunct="1">
              <a:buClr>
                <a:schemeClr val="hlink"/>
              </a:buClr>
              <a:defRPr/>
            </a:pPr>
            <a:r>
              <a:rPr lang="el-GR" b="1" dirty="0">
                <a:latin typeface="Tahoma" panose="020B0604030504040204" pitchFamily="34" charset="0"/>
                <a:ea typeface="Tahoma" panose="020B0604030504040204" pitchFamily="34" charset="0"/>
                <a:cs typeface="Tahoma" panose="020B0604030504040204" pitchFamily="34" charset="0"/>
              </a:rPr>
              <a:t>Η άσκηση </a:t>
            </a:r>
            <a:r>
              <a:rPr lang="en-US" b="1" dirty="0">
                <a:latin typeface="Tahoma" panose="020B0604030504040204" pitchFamily="34" charset="0"/>
                <a:ea typeface="Tahoma" panose="020B0604030504040204" pitchFamily="34" charset="0"/>
                <a:cs typeface="Tahoma" panose="020B0604030504040204" pitchFamily="34" charset="0"/>
              </a:rPr>
              <a:t>Calc</a:t>
            </a:r>
            <a:endParaRPr lang="el-GR" b="1" dirty="0">
              <a:latin typeface="Tahoma" panose="020B0604030504040204" pitchFamily="34" charset="0"/>
              <a:ea typeface="Tahoma" panose="020B0604030504040204" pitchFamily="34" charset="0"/>
              <a:cs typeface="Tahoma" panose="020B0604030504040204" pitchFamily="34" charset="0"/>
            </a:endParaRPr>
          </a:p>
          <a:p>
            <a:pPr marL="914400" lvl="1" indent="-457200" eaLnBrk="1" hangingPunct="1">
              <a:defRPr/>
            </a:pPr>
            <a:r>
              <a:rPr lang="el-GR" b="1" dirty="0">
                <a:latin typeface="Tahoma" panose="020B0604030504040204" pitchFamily="34" charset="0"/>
                <a:ea typeface="Tahoma" panose="020B0604030504040204" pitchFamily="34" charset="0"/>
                <a:cs typeface="Tahoma" panose="020B0604030504040204" pitchFamily="34" charset="0"/>
              </a:rPr>
              <a:t>Αναγνώριση αντικειμένων (δομή προγράμματος)</a:t>
            </a:r>
            <a:endParaRPr lang="en-US" b="1" dirty="0">
              <a:latin typeface="Tahoma" panose="020B0604030504040204" pitchFamily="34" charset="0"/>
              <a:ea typeface="Tahoma" panose="020B0604030504040204" pitchFamily="34" charset="0"/>
              <a:cs typeface="Tahoma" panose="020B0604030504040204" pitchFamily="34" charset="0"/>
            </a:endParaRPr>
          </a:p>
          <a:p>
            <a:pPr marL="514350" indent="-457200" eaLnBrk="1" hangingPunct="1">
              <a:buClr>
                <a:schemeClr val="hlink"/>
              </a:buClr>
              <a:defRPr/>
            </a:pPr>
            <a:r>
              <a:rPr lang="en-US" dirty="0">
                <a:latin typeface="Tahoma" panose="020B0604030504040204" pitchFamily="34" charset="0"/>
                <a:ea typeface="Tahoma" panose="020B0604030504040204" pitchFamily="34" charset="0"/>
                <a:cs typeface="Tahoma" panose="020B0604030504040204" pitchFamily="34" charset="0"/>
              </a:rPr>
              <a:t>To </a:t>
            </a:r>
            <a:r>
              <a:rPr lang="el-GR" dirty="0">
                <a:latin typeface="Tahoma" panose="020B0604030504040204" pitchFamily="34" charset="0"/>
                <a:ea typeface="Tahoma" panose="020B0604030504040204" pitchFamily="34" charset="0"/>
                <a:cs typeface="Tahoma" panose="020B0604030504040204" pitchFamily="34" charset="0"/>
              </a:rPr>
              <a:t>πρόγραμμα </a:t>
            </a:r>
            <a:r>
              <a:rPr lang="en-US" dirty="0">
                <a:latin typeface="Tahoma" panose="020B0604030504040204" pitchFamily="34" charset="0"/>
                <a:ea typeface="Tahoma" panose="020B0604030504040204" pitchFamily="34" charset="0"/>
                <a:cs typeface="Tahoma" panose="020B0604030504040204" pitchFamily="34" charset="0"/>
              </a:rPr>
              <a:t>Calc</a:t>
            </a:r>
            <a:r>
              <a:rPr lang="el-GR" dirty="0">
                <a:latin typeface="Tahoma" panose="020B0604030504040204" pitchFamily="34" charset="0"/>
                <a:ea typeface="Tahoma" panose="020B0604030504040204" pitchFamily="34" charset="0"/>
                <a:cs typeface="Tahoma" panose="020B0604030504040204" pitchFamily="34" charset="0"/>
              </a:rPr>
              <a:t> (1</a:t>
            </a:r>
            <a:r>
              <a:rPr lang="el-GR" baseline="30000" dirty="0">
                <a:latin typeface="Tahoma" panose="020B0604030504040204" pitchFamily="34" charset="0"/>
                <a:ea typeface="Tahoma" panose="020B0604030504040204" pitchFamily="34" charset="0"/>
                <a:cs typeface="Tahoma" panose="020B0604030504040204" pitchFamily="34" charset="0"/>
              </a:rPr>
              <a:t>η</a:t>
            </a:r>
            <a:r>
              <a:rPr lang="el-GR" dirty="0">
                <a:latin typeface="Tahoma" panose="020B0604030504040204" pitchFamily="34" charset="0"/>
                <a:ea typeface="Tahoma" panose="020B0604030504040204" pitchFamily="34" charset="0"/>
                <a:cs typeface="Tahoma" panose="020B0604030504040204" pitchFamily="34" charset="0"/>
              </a:rPr>
              <a:t> έκδοση)</a:t>
            </a:r>
          </a:p>
          <a:p>
            <a:pPr marL="914400" lvl="1" indent="-457200" eaLnBrk="1" hangingPunct="1">
              <a:defRPr/>
            </a:pPr>
            <a:r>
              <a:rPr lang="en-US" dirty="0">
                <a:latin typeface="Tahoma" panose="020B0604030504040204" pitchFamily="34" charset="0"/>
                <a:ea typeface="Tahoma" panose="020B0604030504040204" pitchFamily="34" charset="0"/>
                <a:cs typeface="Tahoma" panose="020B0604030504040204" pitchFamily="34" charset="0"/>
              </a:rPr>
              <a:t>Generics – </a:t>
            </a:r>
            <a:r>
              <a:rPr lang="en-US" dirty="0" err="1">
                <a:latin typeface="Tahoma" panose="020B0604030504040204" pitchFamily="34" charset="0"/>
                <a:ea typeface="Tahoma" panose="020B0604030504040204" pitchFamily="34" charset="0"/>
                <a:cs typeface="Tahoma" panose="020B0604030504040204" pitchFamily="34" charset="0"/>
              </a:rPr>
              <a:t>java.util.Stack</a:t>
            </a:r>
            <a:r>
              <a:rPr lang="en-US" dirty="0">
                <a:latin typeface="Tahoma" panose="020B0604030504040204" pitchFamily="34" charset="0"/>
                <a:ea typeface="Tahoma" panose="020B0604030504040204" pitchFamily="34" charset="0"/>
                <a:cs typeface="Tahoma" panose="020B0604030504040204" pitchFamily="34" charset="0"/>
              </a:rPr>
              <a:t>&lt;E&gt;</a:t>
            </a:r>
          </a:p>
          <a:p>
            <a:pPr marL="914400" lvl="1" indent="-457200" eaLnBrk="1" hangingPunct="1">
              <a:defRPr/>
            </a:pPr>
            <a:r>
              <a:rPr lang="el-GR" dirty="0">
                <a:latin typeface="Tahoma" panose="020B0604030504040204" pitchFamily="34" charset="0"/>
                <a:ea typeface="Tahoma" panose="020B0604030504040204" pitchFamily="34" charset="0"/>
                <a:cs typeface="Tahoma" panose="020B0604030504040204" pitchFamily="34" charset="0"/>
              </a:rPr>
              <a:t>Η μέθοδος </a:t>
            </a:r>
            <a:r>
              <a:rPr lang="en-US" dirty="0" err="1">
                <a:latin typeface="Tahoma" panose="020B0604030504040204" pitchFamily="34" charset="0"/>
                <a:ea typeface="Tahoma" panose="020B0604030504040204" pitchFamily="34" charset="0"/>
                <a:cs typeface="Tahoma" panose="020B0604030504040204" pitchFamily="34" charset="0"/>
              </a:rPr>
              <a:t>toString</a:t>
            </a:r>
            <a:endParaRPr lang="en-US" dirty="0">
              <a:latin typeface="Tahoma" panose="020B0604030504040204" pitchFamily="34" charset="0"/>
              <a:ea typeface="Tahoma" panose="020B0604030504040204" pitchFamily="34" charset="0"/>
              <a:cs typeface="Tahoma" panose="020B0604030504040204" pitchFamily="34" charset="0"/>
            </a:endParaRPr>
          </a:p>
          <a:p>
            <a:pPr marL="914400" lvl="1" indent="-457200" eaLnBrk="1" hangingPunct="1">
              <a:defRPr/>
            </a:pPr>
            <a:r>
              <a:rPr lang="en-US" dirty="0" err="1">
                <a:latin typeface="Tahoma" panose="020B0604030504040204" pitchFamily="34" charset="0"/>
                <a:ea typeface="Tahoma" panose="020B0604030504040204" pitchFamily="34" charset="0"/>
                <a:cs typeface="Tahoma" panose="020B0604030504040204" pitchFamily="34" charset="0"/>
              </a:rPr>
              <a:t>System.out.println</a:t>
            </a:r>
            <a:r>
              <a:rPr lang="en-US" dirty="0">
                <a:latin typeface="Tahoma" panose="020B0604030504040204" pitchFamily="34" charset="0"/>
                <a:ea typeface="Tahoma" panose="020B0604030504040204" pitchFamily="34" charset="0"/>
                <a:cs typeface="Tahoma" panose="020B0604030504040204" pitchFamily="34" charset="0"/>
              </a:rPr>
              <a:t>()</a:t>
            </a:r>
          </a:p>
          <a:p>
            <a:pPr marL="514350" indent="-457200" eaLnBrk="1" hangingPunct="1">
              <a:buClr>
                <a:schemeClr val="hlink"/>
              </a:buClr>
              <a:defRPr/>
            </a:pPr>
            <a:r>
              <a:rPr lang="el-GR" dirty="0">
                <a:latin typeface="Tahoma" panose="020B0604030504040204" pitchFamily="34" charset="0"/>
                <a:ea typeface="Tahoma" panose="020B0604030504040204" pitchFamily="34" charset="0"/>
                <a:cs typeface="Tahoma" panose="020B0604030504040204" pitchFamily="34" charset="0"/>
              </a:rPr>
              <a:t>Αύξηση τμηματοποίησης (</a:t>
            </a:r>
            <a:r>
              <a:rPr lang="en-US" dirty="0">
                <a:latin typeface="Tahoma" panose="020B0604030504040204" pitchFamily="34" charset="0"/>
                <a:ea typeface="Tahoma" panose="020B0604030504040204" pitchFamily="34" charset="0"/>
                <a:cs typeface="Tahoma" panose="020B0604030504040204" pitchFamily="34" charset="0"/>
              </a:rPr>
              <a:t>modularity</a:t>
            </a:r>
            <a:r>
              <a:rPr lang="el-GR" dirty="0">
                <a:latin typeface="Tahoma" panose="020B0604030504040204" pitchFamily="34" charset="0"/>
                <a:ea typeface="Tahoma" panose="020B0604030504040204" pitchFamily="34" charset="0"/>
                <a:cs typeface="Tahoma" panose="020B0604030504040204" pitchFamily="34" charset="0"/>
              </a:rPr>
              <a:t>)</a:t>
            </a:r>
          </a:p>
          <a:p>
            <a:pPr marL="514350" indent="-457200" eaLnBrk="1" hangingPunct="1">
              <a:buClr>
                <a:schemeClr val="hlink"/>
              </a:buClr>
              <a:defRPr/>
            </a:pPr>
            <a:endParaRPr lang="el-GR" dirty="0">
              <a:latin typeface="Tahoma" panose="020B0604030504040204" pitchFamily="34" charset="0"/>
              <a:ea typeface="Tahoma" panose="020B0604030504040204" pitchFamily="34" charset="0"/>
              <a:cs typeface="Tahoma" panose="020B0604030504040204" pitchFamily="34" charset="0"/>
            </a:endParaRPr>
          </a:p>
          <a:p>
            <a:pPr marL="514350" indent="-457200" eaLnBrk="1" hangingPunct="1">
              <a:defRPr/>
            </a:pPr>
            <a:endParaRPr lang="en-US" dirty="0">
              <a:latin typeface="Tahoma" panose="020B0604030504040204" pitchFamily="34" charset="0"/>
              <a:ea typeface="Tahoma" panose="020B0604030504040204" pitchFamily="34" charset="0"/>
              <a:cs typeface="Tahoma" panose="020B0604030504040204" pitchFamily="34" charset="0"/>
            </a:endParaRPr>
          </a:p>
          <a:p>
            <a:pPr marL="514350" indent="-457200" eaLnBrk="1" hangingPunct="1">
              <a:buClr>
                <a:schemeClr val="hlink"/>
              </a:buClr>
              <a:defRPr/>
            </a:pPr>
            <a:endParaRPr lang="el-GR" dirty="0">
              <a:latin typeface="Tahoma" panose="020B0604030504040204" pitchFamily="34" charset="0"/>
              <a:ea typeface="Tahoma" panose="020B0604030504040204" pitchFamily="34" charset="0"/>
              <a:cs typeface="Tahoma" panose="020B0604030504040204" pitchFamily="34" charset="0"/>
            </a:endParaRPr>
          </a:p>
        </p:txBody>
      </p:sp>
      <p:sp>
        <p:nvSpPr>
          <p:cNvPr id="3" name="Θέση υποσέλιδου 4">
            <a:extLst>
              <a:ext uri="{FF2B5EF4-FFF2-40B4-BE49-F238E27FC236}">
                <a16:creationId xmlns:a16="http://schemas.microsoft.com/office/drawing/2014/main" id="{E26DB777-2335-FA66-7A3F-D92F133E0F9D}"/>
              </a:ext>
            </a:extLst>
          </p:cNvPr>
          <p:cNvSpPr txBox="1">
            <a:spLocks/>
          </p:cNvSpPr>
          <p:nvPr/>
        </p:nvSpPr>
        <p:spPr>
          <a:xfrm>
            <a:off x="3305908" y="6559909"/>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LEGO Approach – Part B</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Tree>
    <p:extLst>
      <p:ext uri="{BB962C8B-B14F-4D97-AF65-F5344CB8AC3E}">
        <p14:creationId xmlns:p14="http://schemas.microsoft.com/office/powerpoint/2010/main" val="335494116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n-US" sz="4000" b="1" dirty="0">
                <a:solidFill>
                  <a:srgbClr val="F9853D"/>
                </a:solidFill>
                <a:latin typeface="Bahnschrift" panose="020B0502040204020203" pitchFamily="34" charset="0"/>
              </a:rPr>
              <a:t>Calc - The constituent components</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3" name="Θέση υποσέλιδου 4">
            <a:extLst>
              <a:ext uri="{FF2B5EF4-FFF2-40B4-BE49-F238E27FC236}">
                <a16:creationId xmlns:a16="http://schemas.microsoft.com/office/drawing/2014/main" id="{C84FEE0A-EC67-F275-4254-C7380CB8525E}"/>
              </a:ext>
            </a:extLst>
          </p:cNvPr>
          <p:cNvSpPr txBox="1">
            <a:spLocks/>
          </p:cNvSpPr>
          <p:nvPr/>
        </p:nvSpPr>
        <p:spPr>
          <a:xfrm>
            <a:off x="3305908" y="6559909"/>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LEGO Approach – Part B</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grpSp>
        <p:nvGrpSpPr>
          <p:cNvPr id="4" name="Group 3">
            <a:extLst>
              <a:ext uri="{FF2B5EF4-FFF2-40B4-BE49-F238E27FC236}">
                <a16:creationId xmlns:a16="http://schemas.microsoft.com/office/drawing/2014/main" id="{59301D3E-CC7B-DCB2-F7BE-070CBA072003}"/>
              </a:ext>
            </a:extLst>
          </p:cNvPr>
          <p:cNvGrpSpPr>
            <a:grpSpLocks/>
          </p:cNvGrpSpPr>
          <p:nvPr/>
        </p:nvGrpSpPr>
        <p:grpSpPr bwMode="auto">
          <a:xfrm>
            <a:off x="4615194" y="1624909"/>
            <a:ext cx="2089150" cy="1368425"/>
            <a:chOff x="748" y="1434"/>
            <a:chExt cx="1316" cy="862"/>
          </a:xfrm>
        </p:grpSpPr>
        <p:sp>
          <p:nvSpPr>
            <p:cNvPr id="5" name="Rectangle 4">
              <a:extLst>
                <a:ext uri="{FF2B5EF4-FFF2-40B4-BE49-F238E27FC236}">
                  <a16:creationId xmlns:a16="http://schemas.microsoft.com/office/drawing/2014/main" id="{D535A486-1B0F-1DBD-13C2-E7E0A1E04108}"/>
                </a:ext>
              </a:extLst>
            </p:cNvPr>
            <p:cNvSpPr>
              <a:spLocks noChangeArrowheads="1"/>
            </p:cNvSpPr>
            <p:nvPr/>
          </p:nvSpPr>
          <p:spPr bwMode="auto">
            <a:xfrm>
              <a:off x="884" y="1570"/>
              <a:ext cx="907" cy="590"/>
            </a:xfrm>
            <a:prstGeom prst="rect">
              <a:avLst/>
            </a:prstGeom>
            <a:solidFill>
              <a:srgbClr val="00E4A8"/>
            </a:solid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Double</a:t>
              </a:r>
            </a:p>
          </p:txBody>
        </p:sp>
        <p:sp>
          <p:nvSpPr>
            <p:cNvPr id="6" name="Rectangle 5">
              <a:extLst>
                <a:ext uri="{FF2B5EF4-FFF2-40B4-BE49-F238E27FC236}">
                  <a16:creationId xmlns:a16="http://schemas.microsoft.com/office/drawing/2014/main" id="{EF09C259-ACB3-C129-A5C6-4F980EE5EA66}"/>
                </a:ext>
              </a:extLst>
            </p:cNvPr>
            <p:cNvSpPr>
              <a:spLocks noChangeArrowheads="1"/>
            </p:cNvSpPr>
            <p:nvPr/>
          </p:nvSpPr>
          <p:spPr bwMode="auto">
            <a:xfrm>
              <a:off x="1791" y="1979"/>
              <a:ext cx="273" cy="181"/>
            </a:xfrm>
            <a:prstGeom prst="rect">
              <a:avLst/>
            </a:prstGeom>
            <a:solidFill>
              <a:srgbClr val="00E4A8"/>
            </a:solid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7" name="Rectangle 6">
              <a:extLst>
                <a:ext uri="{FF2B5EF4-FFF2-40B4-BE49-F238E27FC236}">
                  <a16:creationId xmlns:a16="http://schemas.microsoft.com/office/drawing/2014/main" id="{D35BCF65-B049-2E49-8E96-D5F8E1CD714F}"/>
                </a:ext>
              </a:extLst>
            </p:cNvPr>
            <p:cNvSpPr>
              <a:spLocks noChangeArrowheads="1"/>
            </p:cNvSpPr>
            <p:nvPr/>
          </p:nvSpPr>
          <p:spPr bwMode="auto">
            <a:xfrm>
              <a:off x="1791" y="1570"/>
              <a:ext cx="273" cy="181"/>
            </a:xfrm>
            <a:prstGeom prst="rect">
              <a:avLst/>
            </a:prstGeom>
            <a:solidFill>
              <a:srgbClr val="00E4A8"/>
            </a:solid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9" name="Rectangle 7">
              <a:extLst>
                <a:ext uri="{FF2B5EF4-FFF2-40B4-BE49-F238E27FC236}">
                  <a16:creationId xmlns:a16="http://schemas.microsoft.com/office/drawing/2014/main" id="{1F3208C3-DB42-D050-C3E2-87B7D30C3085}"/>
                </a:ext>
              </a:extLst>
            </p:cNvPr>
            <p:cNvSpPr>
              <a:spLocks noChangeArrowheads="1"/>
            </p:cNvSpPr>
            <p:nvPr/>
          </p:nvSpPr>
          <p:spPr bwMode="auto">
            <a:xfrm>
              <a:off x="975" y="2160"/>
              <a:ext cx="272" cy="136"/>
            </a:xfrm>
            <a:prstGeom prst="rect">
              <a:avLst/>
            </a:prstGeom>
            <a:solidFill>
              <a:srgbClr val="00E4A8"/>
            </a:solid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2" name="Rectangle 8">
              <a:extLst>
                <a:ext uri="{FF2B5EF4-FFF2-40B4-BE49-F238E27FC236}">
                  <a16:creationId xmlns:a16="http://schemas.microsoft.com/office/drawing/2014/main" id="{528D1682-AD72-7D79-3AB8-EC6A1340E08E}"/>
                </a:ext>
              </a:extLst>
            </p:cNvPr>
            <p:cNvSpPr>
              <a:spLocks noChangeArrowheads="1"/>
            </p:cNvSpPr>
            <p:nvPr/>
          </p:nvSpPr>
          <p:spPr bwMode="auto">
            <a:xfrm>
              <a:off x="1429" y="2160"/>
              <a:ext cx="272" cy="136"/>
            </a:xfrm>
            <a:prstGeom prst="rect">
              <a:avLst/>
            </a:prstGeom>
            <a:solidFill>
              <a:srgbClr val="00E4A8"/>
            </a:solid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3" name="Rectangle 9">
              <a:extLst>
                <a:ext uri="{FF2B5EF4-FFF2-40B4-BE49-F238E27FC236}">
                  <a16:creationId xmlns:a16="http://schemas.microsoft.com/office/drawing/2014/main" id="{5E06A2CA-3456-FA08-F8F5-F9974744D8C8}"/>
                </a:ext>
              </a:extLst>
            </p:cNvPr>
            <p:cNvSpPr>
              <a:spLocks noChangeArrowheads="1"/>
            </p:cNvSpPr>
            <p:nvPr/>
          </p:nvSpPr>
          <p:spPr bwMode="auto">
            <a:xfrm>
              <a:off x="1111" y="1434"/>
              <a:ext cx="272" cy="136"/>
            </a:xfrm>
            <a:prstGeom prst="rect">
              <a:avLst/>
            </a:prstGeom>
            <a:solidFill>
              <a:srgbClr val="00E4A8"/>
            </a:solid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4" name="Rectangle 10">
              <a:extLst>
                <a:ext uri="{FF2B5EF4-FFF2-40B4-BE49-F238E27FC236}">
                  <a16:creationId xmlns:a16="http://schemas.microsoft.com/office/drawing/2014/main" id="{62310130-77A1-DDC9-C4F4-350B3231BF19}"/>
                </a:ext>
              </a:extLst>
            </p:cNvPr>
            <p:cNvSpPr>
              <a:spLocks noChangeArrowheads="1"/>
            </p:cNvSpPr>
            <p:nvPr/>
          </p:nvSpPr>
          <p:spPr bwMode="auto">
            <a:xfrm>
              <a:off x="748" y="1706"/>
              <a:ext cx="136" cy="318"/>
            </a:xfrm>
            <a:prstGeom prst="rect">
              <a:avLst/>
            </a:prstGeom>
            <a:solidFill>
              <a:srgbClr val="00E4A8"/>
            </a:solid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grpSp>
      <p:grpSp>
        <p:nvGrpSpPr>
          <p:cNvPr id="15" name="Group 11">
            <a:extLst>
              <a:ext uri="{FF2B5EF4-FFF2-40B4-BE49-F238E27FC236}">
                <a16:creationId xmlns:a16="http://schemas.microsoft.com/office/drawing/2014/main" id="{446B5785-F7EB-0BD1-D47F-34277E46EA92}"/>
              </a:ext>
            </a:extLst>
          </p:cNvPr>
          <p:cNvGrpSpPr>
            <a:grpSpLocks/>
          </p:cNvGrpSpPr>
          <p:nvPr/>
        </p:nvGrpSpPr>
        <p:grpSpPr bwMode="auto">
          <a:xfrm>
            <a:off x="5668765" y="4341203"/>
            <a:ext cx="2089150" cy="1368425"/>
            <a:chOff x="748" y="1434"/>
            <a:chExt cx="1316" cy="862"/>
          </a:xfrm>
        </p:grpSpPr>
        <p:sp>
          <p:nvSpPr>
            <p:cNvPr id="16" name="Rectangle 12">
              <a:extLst>
                <a:ext uri="{FF2B5EF4-FFF2-40B4-BE49-F238E27FC236}">
                  <a16:creationId xmlns:a16="http://schemas.microsoft.com/office/drawing/2014/main" id="{B69B237F-5F71-0E8D-AAEF-49FFB930BC0D}"/>
                </a:ext>
              </a:extLst>
            </p:cNvPr>
            <p:cNvSpPr>
              <a:spLocks noChangeArrowheads="1"/>
            </p:cNvSpPr>
            <p:nvPr/>
          </p:nvSpPr>
          <p:spPr bwMode="auto">
            <a:xfrm>
              <a:off x="884" y="1570"/>
              <a:ext cx="907" cy="590"/>
            </a:xfrm>
            <a:prstGeom prst="rect">
              <a:avLst/>
            </a:prstGeom>
            <a:solidFill>
              <a:srgbClr val="11C1D3"/>
            </a:solid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a:ln>
                    <a:noFill/>
                  </a:ln>
                  <a:solidFill>
                    <a:srgbClr val="000000"/>
                  </a:solidFill>
                  <a:effectLst/>
                  <a:uLnTx/>
                  <a:uFillTx/>
                  <a:latin typeface="Tahoma" panose="020B0604030504040204" pitchFamily="34" charset="0"/>
                </a:rPr>
                <a:t>Stack</a:t>
              </a:r>
            </a:p>
          </p:txBody>
        </p:sp>
        <p:sp>
          <p:nvSpPr>
            <p:cNvPr id="17" name="Rectangle 13">
              <a:extLst>
                <a:ext uri="{FF2B5EF4-FFF2-40B4-BE49-F238E27FC236}">
                  <a16:creationId xmlns:a16="http://schemas.microsoft.com/office/drawing/2014/main" id="{A2B9404E-04FD-C40B-83D6-65178059F6F8}"/>
                </a:ext>
              </a:extLst>
            </p:cNvPr>
            <p:cNvSpPr>
              <a:spLocks noChangeArrowheads="1"/>
            </p:cNvSpPr>
            <p:nvPr/>
          </p:nvSpPr>
          <p:spPr bwMode="auto">
            <a:xfrm>
              <a:off x="1791" y="1979"/>
              <a:ext cx="273" cy="181"/>
            </a:xfrm>
            <a:prstGeom prst="rect">
              <a:avLst/>
            </a:prstGeom>
            <a:solidFill>
              <a:srgbClr val="11C1D3"/>
            </a:solid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8" name="Rectangle 14">
              <a:extLst>
                <a:ext uri="{FF2B5EF4-FFF2-40B4-BE49-F238E27FC236}">
                  <a16:creationId xmlns:a16="http://schemas.microsoft.com/office/drawing/2014/main" id="{379A4BA4-D802-5C3C-C071-C7C10076E0E3}"/>
                </a:ext>
              </a:extLst>
            </p:cNvPr>
            <p:cNvSpPr>
              <a:spLocks noChangeArrowheads="1"/>
            </p:cNvSpPr>
            <p:nvPr/>
          </p:nvSpPr>
          <p:spPr bwMode="auto">
            <a:xfrm>
              <a:off x="1791" y="1570"/>
              <a:ext cx="273" cy="181"/>
            </a:xfrm>
            <a:prstGeom prst="rect">
              <a:avLst/>
            </a:prstGeom>
            <a:solidFill>
              <a:srgbClr val="11C1D3"/>
            </a:solid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9" name="Rectangle 15">
              <a:extLst>
                <a:ext uri="{FF2B5EF4-FFF2-40B4-BE49-F238E27FC236}">
                  <a16:creationId xmlns:a16="http://schemas.microsoft.com/office/drawing/2014/main" id="{A1EB9645-B46F-9642-EAE6-0A2B185FD90C}"/>
                </a:ext>
              </a:extLst>
            </p:cNvPr>
            <p:cNvSpPr>
              <a:spLocks noChangeArrowheads="1"/>
            </p:cNvSpPr>
            <p:nvPr/>
          </p:nvSpPr>
          <p:spPr bwMode="auto">
            <a:xfrm>
              <a:off x="975" y="2160"/>
              <a:ext cx="272" cy="136"/>
            </a:xfrm>
            <a:prstGeom prst="rect">
              <a:avLst/>
            </a:prstGeom>
            <a:solidFill>
              <a:srgbClr val="11C1D3"/>
            </a:solid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0" name="Rectangle 16">
              <a:extLst>
                <a:ext uri="{FF2B5EF4-FFF2-40B4-BE49-F238E27FC236}">
                  <a16:creationId xmlns:a16="http://schemas.microsoft.com/office/drawing/2014/main" id="{CF2F743A-8ACF-7FD9-11DF-A221E5E04BBC}"/>
                </a:ext>
              </a:extLst>
            </p:cNvPr>
            <p:cNvSpPr>
              <a:spLocks noChangeArrowheads="1"/>
            </p:cNvSpPr>
            <p:nvPr/>
          </p:nvSpPr>
          <p:spPr bwMode="auto">
            <a:xfrm>
              <a:off x="1429" y="2160"/>
              <a:ext cx="272" cy="136"/>
            </a:xfrm>
            <a:prstGeom prst="rect">
              <a:avLst/>
            </a:prstGeom>
            <a:solidFill>
              <a:srgbClr val="11C1D3"/>
            </a:solid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1" name="Rectangle 17">
              <a:extLst>
                <a:ext uri="{FF2B5EF4-FFF2-40B4-BE49-F238E27FC236}">
                  <a16:creationId xmlns:a16="http://schemas.microsoft.com/office/drawing/2014/main" id="{7C6F53B0-0901-94D7-1F1A-143057991DDA}"/>
                </a:ext>
              </a:extLst>
            </p:cNvPr>
            <p:cNvSpPr>
              <a:spLocks noChangeArrowheads="1"/>
            </p:cNvSpPr>
            <p:nvPr/>
          </p:nvSpPr>
          <p:spPr bwMode="auto">
            <a:xfrm>
              <a:off x="1111" y="1434"/>
              <a:ext cx="272" cy="136"/>
            </a:xfrm>
            <a:prstGeom prst="rect">
              <a:avLst/>
            </a:prstGeom>
            <a:solidFill>
              <a:srgbClr val="11C1D3"/>
            </a:solid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2" name="Rectangle 18">
              <a:extLst>
                <a:ext uri="{FF2B5EF4-FFF2-40B4-BE49-F238E27FC236}">
                  <a16:creationId xmlns:a16="http://schemas.microsoft.com/office/drawing/2014/main" id="{AFD3D9EF-BA98-43A9-03E1-7A683FE5F92E}"/>
                </a:ext>
              </a:extLst>
            </p:cNvPr>
            <p:cNvSpPr>
              <a:spLocks noChangeArrowheads="1"/>
            </p:cNvSpPr>
            <p:nvPr/>
          </p:nvSpPr>
          <p:spPr bwMode="auto">
            <a:xfrm>
              <a:off x="748" y="1706"/>
              <a:ext cx="136" cy="318"/>
            </a:xfrm>
            <a:prstGeom prst="rect">
              <a:avLst/>
            </a:prstGeom>
            <a:solidFill>
              <a:srgbClr val="11C1D3"/>
            </a:solid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grpSp>
      <p:grpSp>
        <p:nvGrpSpPr>
          <p:cNvPr id="23" name="Group 19">
            <a:extLst>
              <a:ext uri="{FF2B5EF4-FFF2-40B4-BE49-F238E27FC236}">
                <a16:creationId xmlns:a16="http://schemas.microsoft.com/office/drawing/2014/main" id="{357DC80E-8E70-3240-31CE-BC05527DDF50}"/>
              </a:ext>
            </a:extLst>
          </p:cNvPr>
          <p:cNvGrpSpPr>
            <a:grpSpLocks/>
          </p:cNvGrpSpPr>
          <p:nvPr/>
        </p:nvGrpSpPr>
        <p:grpSpPr bwMode="auto">
          <a:xfrm>
            <a:off x="8790223" y="3022642"/>
            <a:ext cx="2089150" cy="1368425"/>
            <a:chOff x="748" y="1434"/>
            <a:chExt cx="1316" cy="862"/>
          </a:xfrm>
        </p:grpSpPr>
        <p:sp>
          <p:nvSpPr>
            <p:cNvPr id="24" name="Rectangle 20">
              <a:extLst>
                <a:ext uri="{FF2B5EF4-FFF2-40B4-BE49-F238E27FC236}">
                  <a16:creationId xmlns:a16="http://schemas.microsoft.com/office/drawing/2014/main" id="{DBF8BDFF-6187-2076-913E-CB44435C64F6}"/>
                </a:ext>
              </a:extLst>
            </p:cNvPr>
            <p:cNvSpPr>
              <a:spLocks noChangeArrowheads="1"/>
            </p:cNvSpPr>
            <p:nvPr/>
          </p:nvSpPr>
          <p:spPr bwMode="auto">
            <a:xfrm>
              <a:off x="884" y="1570"/>
              <a:ext cx="907" cy="590"/>
            </a:xfrm>
            <a:prstGeom prst="rect">
              <a:avLst/>
            </a:prstGeom>
            <a:solidFill>
              <a:srgbClr val="FFCF01"/>
            </a:solid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System</a:t>
              </a:r>
            </a:p>
          </p:txBody>
        </p:sp>
        <p:sp>
          <p:nvSpPr>
            <p:cNvPr id="25" name="Rectangle 21">
              <a:extLst>
                <a:ext uri="{FF2B5EF4-FFF2-40B4-BE49-F238E27FC236}">
                  <a16:creationId xmlns:a16="http://schemas.microsoft.com/office/drawing/2014/main" id="{0D3C96B6-2705-5609-5D9D-04BAD307F8B2}"/>
                </a:ext>
              </a:extLst>
            </p:cNvPr>
            <p:cNvSpPr>
              <a:spLocks noChangeArrowheads="1"/>
            </p:cNvSpPr>
            <p:nvPr/>
          </p:nvSpPr>
          <p:spPr bwMode="auto">
            <a:xfrm>
              <a:off x="1791" y="1979"/>
              <a:ext cx="273" cy="181"/>
            </a:xfrm>
            <a:prstGeom prst="rect">
              <a:avLst/>
            </a:prstGeom>
            <a:solidFill>
              <a:srgbClr val="FFCF01"/>
            </a:solid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6" name="Rectangle 22">
              <a:extLst>
                <a:ext uri="{FF2B5EF4-FFF2-40B4-BE49-F238E27FC236}">
                  <a16:creationId xmlns:a16="http://schemas.microsoft.com/office/drawing/2014/main" id="{F6228BAE-B469-9114-4FA2-1ACF9171F82D}"/>
                </a:ext>
              </a:extLst>
            </p:cNvPr>
            <p:cNvSpPr>
              <a:spLocks noChangeArrowheads="1"/>
            </p:cNvSpPr>
            <p:nvPr/>
          </p:nvSpPr>
          <p:spPr bwMode="auto">
            <a:xfrm>
              <a:off x="1791" y="1570"/>
              <a:ext cx="273" cy="181"/>
            </a:xfrm>
            <a:prstGeom prst="rect">
              <a:avLst/>
            </a:prstGeom>
            <a:solidFill>
              <a:srgbClr val="FFCF01"/>
            </a:solid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7" name="Rectangle 23">
              <a:extLst>
                <a:ext uri="{FF2B5EF4-FFF2-40B4-BE49-F238E27FC236}">
                  <a16:creationId xmlns:a16="http://schemas.microsoft.com/office/drawing/2014/main" id="{7519734F-7E34-A927-FD56-4AED99CDAD9B}"/>
                </a:ext>
              </a:extLst>
            </p:cNvPr>
            <p:cNvSpPr>
              <a:spLocks noChangeArrowheads="1"/>
            </p:cNvSpPr>
            <p:nvPr/>
          </p:nvSpPr>
          <p:spPr bwMode="auto">
            <a:xfrm>
              <a:off x="975" y="2160"/>
              <a:ext cx="272" cy="136"/>
            </a:xfrm>
            <a:prstGeom prst="rect">
              <a:avLst/>
            </a:prstGeom>
            <a:solidFill>
              <a:srgbClr val="FFCF01"/>
            </a:solid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8" name="Rectangle 24">
              <a:extLst>
                <a:ext uri="{FF2B5EF4-FFF2-40B4-BE49-F238E27FC236}">
                  <a16:creationId xmlns:a16="http://schemas.microsoft.com/office/drawing/2014/main" id="{2872261B-94B3-5572-F33E-1432CCFE5F78}"/>
                </a:ext>
              </a:extLst>
            </p:cNvPr>
            <p:cNvSpPr>
              <a:spLocks noChangeArrowheads="1"/>
            </p:cNvSpPr>
            <p:nvPr/>
          </p:nvSpPr>
          <p:spPr bwMode="auto">
            <a:xfrm>
              <a:off x="1429" y="2160"/>
              <a:ext cx="272" cy="136"/>
            </a:xfrm>
            <a:prstGeom prst="rect">
              <a:avLst/>
            </a:prstGeom>
            <a:solidFill>
              <a:srgbClr val="FFCF01"/>
            </a:solid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9" name="Rectangle 25">
              <a:extLst>
                <a:ext uri="{FF2B5EF4-FFF2-40B4-BE49-F238E27FC236}">
                  <a16:creationId xmlns:a16="http://schemas.microsoft.com/office/drawing/2014/main" id="{64C1FDB4-1335-9FB8-97BA-3F63A53F16EF}"/>
                </a:ext>
              </a:extLst>
            </p:cNvPr>
            <p:cNvSpPr>
              <a:spLocks noChangeArrowheads="1"/>
            </p:cNvSpPr>
            <p:nvPr/>
          </p:nvSpPr>
          <p:spPr bwMode="auto">
            <a:xfrm>
              <a:off x="1111" y="1434"/>
              <a:ext cx="272" cy="136"/>
            </a:xfrm>
            <a:prstGeom prst="rect">
              <a:avLst/>
            </a:prstGeom>
            <a:solidFill>
              <a:srgbClr val="FFCF01"/>
            </a:solid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30" name="Rectangle 26">
              <a:extLst>
                <a:ext uri="{FF2B5EF4-FFF2-40B4-BE49-F238E27FC236}">
                  <a16:creationId xmlns:a16="http://schemas.microsoft.com/office/drawing/2014/main" id="{4E4BE366-A6D9-E4F7-C9C4-A001FBA84260}"/>
                </a:ext>
              </a:extLst>
            </p:cNvPr>
            <p:cNvSpPr>
              <a:spLocks noChangeArrowheads="1"/>
            </p:cNvSpPr>
            <p:nvPr/>
          </p:nvSpPr>
          <p:spPr bwMode="auto">
            <a:xfrm>
              <a:off x="748" y="1706"/>
              <a:ext cx="136" cy="318"/>
            </a:xfrm>
            <a:prstGeom prst="rect">
              <a:avLst/>
            </a:prstGeom>
            <a:solidFill>
              <a:srgbClr val="FFCF01"/>
            </a:solid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grpSp>
      <p:sp>
        <p:nvSpPr>
          <p:cNvPr id="31" name="TextBox 35">
            <a:extLst>
              <a:ext uri="{FF2B5EF4-FFF2-40B4-BE49-F238E27FC236}">
                <a16:creationId xmlns:a16="http://schemas.microsoft.com/office/drawing/2014/main" id="{6157D9B7-B12F-50E2-D7CD-8EF42653A8E7}"/>
              </a:ext>
            </a:extLst>
          </p:cNvPr>
          <p:cNvSpPr txBox="1">
            <a:spLocks noChangeArrowheads="1"/>
          </p:cNvSpPr>
          <p:nvPr/>
        </p:nvSpPr>
        <p:spPr bwMode="auto">
          <a:xfrm>
            <a:off x="6586368" y="863162"/>
            <a:ext cx="31210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C00000"/>
                </a:solidFill>
                <a:effectLst/>
                <a:uLnTx/>
                <a:uFillTx/>
                <a:latin typeface="Tahoma" panose="020B0604030504040204" pitchFamily="34" charset="0"/>
              </a:rPr>
              <a:t>Edit-time vs. run-time</a:t>
            </a:r>
            <a:endParaRPr kumimoji="0" lang="el-GR" altLang="el-GR" sz="2400" b="0" i="0" u="none" strike="noStrike" kern="0" cap="none" spc="0" normalizeH="0" baseline="0" noProof="0" dirty="0">
              <a:ln>
                <a:noFill/>
              </a:ln>
              <a:solidFill>
                <a:srgbClr val="C00000"/>
              </a:solidFill>
              <a:effectLst/>
              <a:uLnTx/>
              <a:uFillTx/>
              <a:latin typeface="Tahoma" panose="020B0604030504040204" pitchFamily="34" charset="0"/>
            </a:endParaRPr>
          </a:p>
        </p:txBody>
      </p:sp>
      <p:sp>
        <p:nvSpPr>
          <p:cNvPr id="32" name="TextBox 31">
            <a:extLst>
              <a:ext uri="{FF2B5EF4-FFF2-40B4-BE49-F238E27FC236}">
                <a16:creationId xmlns:a16="http://schemas.microsoft.com/office/drawing/2014/main" id="{8D93552F-7155-4952-82B1-654D63D45E7D}"/>
              </a:ext>
            </a:extLst>
          </p:cNvPr>
          <p:cNvSpPr txBox="1"/>
          <p:nvPr/>
        </p:nvSpPr>
        <p:spPr>
          <a:xfrm>
            <a:off x="4855088" y="3231603"/>
            <a:ext cx="1407821" cy="461665"/>
          </a:xfrm>
          <a:prstGeom prst="rect">
            <a:avLst/>
          </a:prstGeom>
          <a:noFill/>
        </p:spPr>
        <p:txBody>
          <a:bodyPr wrap="none" rtlCol="0">
            <a:spAutoFit/>
          </a:bodyPr>
          <a:lstStyle/>
          <a:p>
            <a:pPr fontAlgn="base">
              <a:spcBef>
                <a:spcPct val="0"/>
              </a:spcBef>
              <a:spcAft>
                <a:spcPct val="0"/>
              </a:spcAft>
            </a:pPr>
            <a:r>
              <a:rPr lang="en-US" sz="2400" dirty="0" err="1">
                <a:solidFill>
                  <a:srgbClr val="000000"/>
                </a:solidFill>
                <a:latin typeface="Tahoma" panose="020B0604030504040204" pitchFamily="34" charset="0"/>
              </a:rPr>
              <a:t>java.lang</a:t>
            </a:r>
            <a:endParaRPr lang="el-GR" sz="2400" dirty="0">
              <a:solidFill>
                <a:srgbClr val="000000"/>
              </a:solidFill>
              <a:latin typeface="Tahoma" panose="020B0604030504040204" pitchFamily="34" charset="0"/>
            </a:endParaRPr>
          </a:p>
        </p:txBody>
      </p:sp>
      <p:sp>
        <p:nvSpPr>
          <p:cNvPr id="33" name="TextBox 32">
            <a:extLst>
              <a:ext uri="{FF2B5EF4-FFF2-40B4-BE49-F238E27FC236}">
                <a16:creationId xmlns:a16="http://schemas.microsoft.com/office/drawing/2014/main" id="{10193606-F0E1-9EBD-5EEB-7FFFD91D1470}"/>
              </a:ext>
            </a:extLst>
          </p:cNvPr>
          <p:cNvSpPr txBox="1"/>
          <p:nvPr/>
        </p:nvSpPr>
        <p:spPr>
          <a:xfrm>
            <a:off x="9150586" y="4537117"/>
            <a:ext cx="1407821" cy="461665"/>
          </a:xfrm>
          <a:prstGeom prst="rect">
            <a:avLst/>
          </a:prstGeom>
          <a:noFill/>
        </p:spPr>
        <p:txBody>
          <a:bodyPr wrap="none" rtlCol="0">
            <a:spAutoFit/>
          </a:bodyPr>
          <a:lstStyle/>
          <a:p>
            <a:pPr fontAlgn="base">
              <a:spcBef>
                <a:spcPct val="0"/>
              </a:spcBef>
              <a:spcAft>
                <a:spcPct val="0"/>
              </a:spcAft>
            </a:pPr>
            <a:r>
              <a:rPr lang="en-US" sz="2400" dirty="0" err="1">
                <a:solidFill>
                  <a:srgbClr val="000000"/>
                </a:solidFill>
                <a:latin typeface="Tahoma" panose="020B0604030504040204" pitchFamily="34" charset="0"/>
              </a:rPr>
              <a:t>java.lang</a:t>
            </a:r>
            <a:endParaRPr lang="el-GR" sz="2400" dirty="0">
              <a:solidFill>
                <a:srgbClr val="000000"/>
              </a:solidFill>
              <a:latin typeface="Tahoma" panose="020B0604030504040204" pitchFamily="34" charset="0"/>
            </a:endParaRPr>
          </a:p>
        </p:txBody>
      </p:sp>
      <p:sp>
        <p:nvSpPr>
          <p:cNvPr id="34" name="TextBox 33">
            <a:extLst>
              <a:ext uri="{FF2B5EF4-FFF2-40B4-BE49-F238E27FC236}">
                <a16:creationId xmlns:a16="http://schemas.microsoft.com/office/drawing/2014/main" id="{D24BAB84-68D8-BDE2-8CB2-9907C109E783}"/>
              </a:ext>
            </a:extLst>
          </p:cNvPr>
          <p:cNvSpPr txBox="1"/>
          <p:nvPr/>
        </p:nvSpPr>
        <p:spPr>
          <a:xfrm>
            <a:off x="6032234" y="5875106"/>
            <a:ext cx="2584588" cy="461665"/>
          </a:xfrm>
          <a:prstGeom prst="rect">
            <a:avLst/>
          </a:prstGeom>
          <a:noFill/>
        </p:spPr>
        <p:txBody>
          <a:bodyPr wrap="square" rtlCol="0">
            <a:spAutoFit/>
          </a:bodyPr>
          <a:lstStyle/>
          <a:p>
            <a:pPr fontAlgn="base">
              <a:spcBef>
                <a:spcPct val="0"/>
              </a:spcBef>
              <a:spcAft>
                <a:spcPct val="0"/>
              </a:spcAft>
            </a:pPr>
            <a:r>
              <a:rPr lang="en-US" sz="2400" dirty="0" err="1">
                <a:solidFill>
                  <a:srgbClr val="000000"/>
                </a:solidFill>
                <a:latin typeface="Tahoma" panose="020B0604030504040204" pitchFamily="34" charset="0"/>
              </a:rPr>
              <a:t>Java.util</a:t>
            </a:r>
            <a:endParaRPr lang="el-GR" sz="2400" dirty="0">
              <a:solidFill>
                <a:srgbClr val="000000"/>
              </a:solidFill>
              <a:latin typeface="Tahoma" panose="020B0604030504040204" pitchFamily="34" charset="0"/>
            </a:endParaRPr>
          </a:p>
        </p:txBody>
      </p:sp>
      <p:sp>
        <p:nvSpPr>
          <p:cNvPr id="35" name="TextBox 34">
            <a:extLst>
              <a:ext uri="{FF2B5EF4-FFF2-40B4-BE49-F238E27FC236}">
                <a16:creationId xmlns:a16="http://schemas.microsoft.com/office/drawing/2014/main" id="{A479EB12-356D-E8F5-EE52-3E50F337C407}"/>
              </a:ext>
            </a:extLst>
          </p:cNvPr>
          <p:cNvSpPr txBox="1"/>
          <p:nvPr/>
        </p:nvSpPr>
        <p:spPr>
          <a:xfrm>
            <a:off x="130406" y="993911"/>
            <a:ext cx="4183238" cy="4524315"/>
          </a:xfrm>
          <a:prstGeom prst="rect">
            <a:avLst/>
          </a:prstGeom>
          <a:noFill/>
        </p:spPr>
        <p:txBody>
          <a:bodyPr wrap="square" rtlCol="0">
            <a:spAutoFit/>
          </a:bodyPr>
          <a:lstStyle/>
          <a:p>
            <a:r>
              <a:rPr lang="el-GR" sz="2400" i="1" dirty="0">
                <a:solidFill>
                  <a:srgbClr val="000000"/>
                </a:solidFill>
                <a:latin typeface="Calibri" panose="020F0502020204030204" pitchFamily="34" charset="0"/>
              </a:rPr>
              <a:t>Γ</a:t>
            </a:r>
            <a:r>
              <a:rPr lang="el-GR" sz="2400" b="0" i="1" u="none" strike="noStrike" baseline="0" dirty="0">
                <a:solidFill>
                  <a:srgbClr val="000000"/>
                </a:solidFill>
                <a:latin typeface="Calibri" panose="020F0502020204030204" pitchFamily="34" charset="0"/>
              </a:rPr>
              <a:t>ράψτε ένα πρόγραμμα σύμφωνα με το οποίο το σύστημα θα</a:t>
            </a:r>
            <a:r>
              <a:rPr lang="en-US" sz="2400" b="0" i="1" u="none" strike="noStrike" baseline="0" dirty="0">
                <a:solidFill>
                  <a:srgbClr val="000000"/>
                </a:solidFill>
                <a:latin typeface="Calibri" panose="020F0502020204030204" pitchFamily="34" charset="0"/>
              </a:rPr>
              <a:t> </a:t>
            </a:r>
            <a:r>
              <a:rPr lang="el-GR" sz="2400" b="0" i="1" u="none" strike="noStrike" baseline="0" dirty="0">
                <a:solidFill>
                  <a:srgbClr val="000000"/>
                </a:solidFill>
                <a:latin typeface="Calibri" panose="020F0502020204030204" pitchFamily="34" charset="0"/>
              </a:rPr>
              <a:t>δημιουργεί δύο στιγμιότυπα </a:t>
            </a:r>
            <a:r>
              <a:rPr lang="el-GR" sz="2400" b="1" i="1" u="none" strike="noStrike" baseline="0" dirty="0" err="1">
                <a:solidFill>
                  <a:srgbClr val="C00000"/>
                </a:solidFill>
                <a:latin typeface="Calibri" panose="020F0502020204030204" pitchFamily="34" charset="0"/>
              </a:rPr>
              <a:t>Double</a:t>
            </a:r>
            <a:r>
              <a:rPr lang="el-GR" sz="2400" b="0" i="1" u="none" strike="noStrike" baseline="0" dirty="0">
                <a:solidFill>
                  <a:srgbClr val="000000"/>
                </a:solidFill>
                <a:latin typeface="Calibri" panose="020F0502020204030204" pitchFamily="34" charset="0"/>
              </a:rPr>
              <a:t>, θα τα βάζει στη στοίβα</a:t>
            </a:r>
            <a:r>
              <a:rPr lang="en-US" sz="2400" b="0" i="1" u="none" strike="noStrike" baseline="0" dirty="0">
                <a:solidFill>
                  <a:srgbClr val="000000"/>
                </a:solidFill>
                <a:latin typeface="Calibri" panose="020F0502020204030204" pitchFamily="34" charset="0"/>
              </a:rPr>
              <a:t> (</a:t>
            </a:r>
            <a:r>
              <a:rPr lang="en-US" sz="2400" b="1" i="1" u="none" strike="noStrike" baseline="0" dirty="0">
                <a:solidFill>
                  <a:srgbClr val="C00000"/>
                </a:solidFill>
                <a:latin typeface="Calibri" panose="020F0502020204030204" pitchFamily="34" charset="0"/>
              </a:rPr>
              <a:t>Stack</a:t>
            </a:r>
            <a:r>
              <a:rPr lang="en-US" sz="2400" b="0" i="1" u="none" strike="noStrike" baseline="0" dirty="0">
                <a:solidFill>
                  <a:srgbClr val="000000"/>
                </a:solidFill>
                <a:latin typeface="Calibri" panose="020F0502020204030204" pitchFamily="34" charset="0"/>
              </a:rPr>
              <a:t>)</a:t>
            </a:r>
            <a:r>
              <a:rPr lang="el-GR" sz="2400" b="0" i="1" u="none" strike="noStrike" baseline="0" dirty="0">
                <a:solidFill>
                  <a:srgbClr val="000000"/>
                </a:solidFill>
                <a:latin typeface="Calibri" panose="020F0502020204030204" pitchFamily="34" charset="0"/>
              </a:rPr>
              <a:t>, στη συνέχεια θα τα παίρνει θα τα προσθέτει και το αποτέλεσμα θα το βάζει στη στοίβα. Από εκεί θα το παίρνει και θα το εμφανίζει στον χρήστη</a:t>
            </a:r>
            <a:r>
              <a:rPr lang="en-US" sz="2400" b="0" i="1" u="none" strike="noStrike" baseline="0" dirty="0">
                <a:solidFill>
                  <a:srgbClr val="000000"/>
                </a:solidFill>
                <a:latin typeface="Calibri" panose="020F0502020204030204" pitchFamily="34" charset="0"/>
              </a:rPr>
              <a:t> (</a:t>
            </a:r>
            <a:r>
              <a:rPr lang="en-US" sz="2400" b="1" i="1" u="none" strike="noStrike" baseline="0" dirty="0" err="1">
                <a:solidFill>
                  <a:srgbClr val="C00000"/>
                </a:solidFill>
                <a:latin typeface="Calibri" panose="020F0502020204030204" pitchFamily="34" charset="0"/>
              </a:rPr>
              <a:t>System</a:t>
            </a:r>
            <a:r>
              <a:rPr lang="en-US" sz="2400" b="0" i="1" u="none" strike="noStrike" baseline="0" dirty="0" err="1">
                <a:solidFill>
                  <a:srgbClr val="000000"/>
                </a:solidFill>
                <a:latin typeface="Calibri" panose="020F0502020204030204" pitchFamily="34" charset="0"/>
              </a:rPr>
              <a:t>.out.println</a:t>
            </a:r>
            <a:r>
              <a:rPr lang="en-US" sz="2400" b="0" i="1" u="none" strike="noStrike" baseline="0" dirty="0">
                <a:solidFill>
                  <a:srgbClr val="000000"/>
                </a:solidFill>
                <a:latin typeface="Calibri" panose="020F0502020204030204" pitchFamily="34" charset="0"/>
              </a:rPr>
              <a:t>())</a:t>
            </a:r>
            <a:r>
              <a:rPr lang="el-GR" sz="2400" b="0" i="1" u="none" strike="noStrike" baseline="0" dirty="0">
                <a:solidFill>
                  <a:srgbClr val="000000"/>
                </a:solidFill>
                <a:latin typeface="Calibri" panose="020F0502020204030204" pitchFamily="34" charset="0"/>
              </a:rPr>
              <a:t>.</a:t>
            </a:r>
            <a:endParaRPr lang="el-GR" sz="2400" dirty="0"/>
          </a:p>
          <a:p>
            <a:endParaRPr lang="el-GR" sz="2400" dirty="0"/>
          </a:p>
        </p:txBody>
      </p:sp>
      <p:sp>
        <p:nvSpPr>
          <p:cNvPr id="36" name="Speech Bubble: Rectangle with Corners Rounded 35">
            <a:extLst>
              <a:ext uri="{FF2B5EF4-FFF2-40B4-BE49-F238E27FC236}">
                <a16:creationId xmlns:a16="http://schemas.microsoft.com/office/drawing/2014/main" id="{763E62CB-C44F-C0FE-7F74-B089A7C3FAF3}"/>
              </a:ext>
            </a:extLst>
          </p:cNvPr>
          <p:cNvSpPr/>
          <p:nvPr/>
        </p:nvSpPr>
        <p:spPr>
          <a:xfrm>
            <a:off x="1271915" y="5537969"/>
            <a:ext cx="3583173" cy="797122"/>
          </a:xfrm>
          <a:prstGeom prst="wedgeRoundRectCallout">
            <a:avLst>
              <a:gd name="adj1" fmla="val -57332"/>
              <a:gd name="adj2" fmla="val 79840"/>
              <a:gd name="adj3" fmla="val 16667"/>
            </a:avLst>
          </a:prstGeom>
          <a:solidFill>
            <a:srgbClr val="FFFF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l-GR" dirty="0">
                <a:solidFill>
                  <a:schemeClr val="tx1"/>
                </a:solidFill>
              </a:rPr>
              <a:t>Την διεργασία εκτελέσαμε στο </a:t>
            </a:r>
            <a:r>
              <a:rPr lang="en-US" dirty="0" err="1">
                <a:solidFill>
                  <a:schemeClr val="tx1"/>
                </a:solidFill>
              </a:rPr>
              <a:t>BlueJ</a:t>
            </a:r>
            <a:r>
              <a:rPr lang="en-US" dirty="0">
                <a:solidFill>
                  <a:schemeClr val="tx1"/>
                </a:solidFill>
              </a:rPr>
              <a:t> (Ch4 </a:t>
            </a:r>
            <a:r>
              <a:rPr lang="en-US" dirty="0" err="1">
                <a:solidFill>
                  <a:schemeClr val="tx1"/>
                </a:solidFill>
              </a:rPr>
              <a:t>PartA</a:t>
            </a:r>
            <a:r>
              <a:rPr lang="en-US" dirty="0">
                <a:solidFill>
                  <a:schemeClr val="tx1"/>
                </a:solidFill>
              </a:rPr>
              <a:t>)</a:t>
            </a:r>
            <a:endParaRPr lang="el-GR" dirty="0">
              <a:solidFill>
                <a:schemeClr val="tx1"/>
              </a:solidFill>
            </a:endParaRPr>
          </a:p>
        </p:txBody>
      </p:sp>
    </p:spTree>
    <p:extLst>
      <p:ext uri="{BB962C8B-B14F-4D97-AF65-F5344CB8AC3E}">
        <p14:creationId xmlns:p14="http://schemas.microsoft.com/office/powerpoint/2010/main" val="45371668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blinds(horizontal)">
                                      <p:cBhvr>
                                        <p:cTn id="15" dur="500"/>
                                        <p:tgtEl>
                                          <p:spTgt spid="15"/>
                                        </p:tgtEl>
                                      </p:cBhvr>
                                    </p:animEffect>
                                  </p:childTnLst>
                                </p:cTn>
                              </p:par>
                            </p:childTnLst>
                          </p:cTn>
                        </p:par>
                        <p:par>
                          <p:cTn id="16" fill="hold">
                            <p:stCondLst>
                              <p:cond delay="500"/>
                            </p:stCondLst>
                            <p:childTnLst>
                              <p:par>
                                <p:cTn id="17" presetID="1" presetClass="entr" presetSubtype="0" fill="hold" grpId="0" nodeType="after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blinds(horizontal)">
                                      <p:cBhvr>
                                        <p:cTn id="23" dur="500"/>
                                        <p:tgtEl>
                                          <p:spTgt spid="23"/>
                                        </p:tgtEl>
                                      </p:cBhvr>
                                    </p:animEffect>
                                  </p:childTnLst>
                                </p:cTn>
                              </p:par>
                            </p:childTnLst>
                          </p:cTn>
                        </p:par>
                        <p:par>
                          <p:cTn id="24" fill="hold">
                            <p:stCondLst>
                              <p:cond delay="500"/>
                            </p:stCondLst>
                            <p:childTnLst>
                              <p:par>
                                <p:cTn id="25" presetID="1" presetClass="entr" presetSubtype="0" fill="hold" grpId="0" nodeType="afterEffect">
                                  <p:stCondLst>
                                    <p:cond delay="0"/>
                                  </p:stCondLst>
                                  <p:childTnLst>
                                    <p:set>
                                      <p:cBhvr>
                                        <p:cTn id="26" dur="1" fill="hold">
                                          <p:stCondLst>
                                            <p:cond delay="0"/>
                                          </p:stCondLst>
                                        </p:cTn>
                                        <p:tgtEl>
                                          <p:spTgt spid="3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2" grpId="0"/>
      <p:bldP spid="33" grpId="0"/>
      <p:bldP spid="34" grpId="0"/>
      <p:bldP spid="3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n-US" sz="4000" b="1" dirty="0">
                <a:solidFill>
                  <a:srgbClr val="F9853D"/>
                </a:solidFill>
                <a:latin typeface="Bahnschrift" panose="020B0502040204020203" pitchFamily="34" charset="0"/>
              </a:rPr>
              <a:t>Calc-</a:t>
            </a:r>
            <a:r>
              <a:rPr lang="el-GR" sz="4000" b="1" dirty="0">
                <a:solidFill>
                  <a:srgbClr val="F9853D"/>
                </a:solidFill>
                <a:latin typeface="Bahnschrift" panose="020B0502040204020203" pitchFamily="34" charset="0"/>
              </a:rPr>
              <a:t>Διάγραμμα Αλληλεπίδρασης Αντικειμένων</a:t>
            </a: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3" name="Θέση υποσέλιδου 4">
            <a:extLst>
              <a:ext uri="{FF2B5EF4-FFF2-40B4-BE49-F238E27FC236}">
                <a16:creationId xmlns:a16="http://schemas.microsoft.com/office/drawing/2014/main" id="{C84FEE0A-EC67-F275-4254-C7380CB8525E}"/>
              </a:ext>
            </a:extLst>
          </p:cNvPr>
          <p:cNvSpPr txBox="1">
            <a:spLocks/>
          </p:cNvSpPr>
          <p:nvPr/>
        </p:nvSpPr>
        <p:spPr>
          <a:xfrm>
            <a:off x="3305908" y="6559909"/>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LEGO Approach – Part B</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38" name="Line 6">
            <a:extLst>
              <a:ext uri="{FF2B5EF4-FFF2-40B4-BE49-F238E27FC236}">
                <a16:creationId xmlns:a16="http://schemas.microsoft.com/office/drawing/2014/main" id="{08CE4003-C7C4-56FE-A2FF-8F41B13138C2}"/>
              </a:ext>
            </a:extLst>
          </p:cNvPr>
          <p:cNvSpPr>
            <a:spLocks noChangeShapeType="1"/>
          </p:cNvSpPr>
          <p:nvPr/>
        </p:nvSpPr>
        <p:spPr bwMode="auto">
          <a:xfrm>
            <a:off x="5015460" y="2107790"/>
            <a:ext cx="0" cy="373380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39" name="Line 7">
            <a:extLst>
              <a:ext uri="{FF2B5EF4-FFF2-40B4-BE49-F238E27FC236}">
                <a16:creationId xmlns:a16="http://schemas.microsoft.com/office/drawing/2014/main" id="{69751ADC-F3DE-8341-EC24-0466B71DA56F}"/>
              </a:ext>
            </a:extLst>
          </p:cNvPr>
          <p:cNvSpPr>
            <a:spLocks noChangeShapeType="1"/>
          </p:cNvSpPr>
          <p:nvPr/>
        </p:nvSpPr>
        <p:spPr bwMode="auto">
          <a:xfrm>
            <a:off x="6234660" y="2793590"/>
            <a:ext cx="0" cy="3047999"/>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40" name="Line 8">
            <a:extLst>
              <a:ext uri="{FF2B5EF4-FFF2-40B4-BE49-F238E27FC236}">
                <a16:creationId xmlns:a16="http://schemas.microsoft.com/office/drawing/2014/main" id="{4D136DDA-2223-9647-687C-B06E39DCA6EB}"/>
              </a:ext>
            </a:extLst>
          </p:cNvPr>
          <p:cNvSpPr>
            <a:spLocks noChangeShapeType="1"/>
          </p:cNvSpPr>
          <p:nvPr/>
        </p:nvSpPr>
        <p:spPr bwMode="auto">
          <a:xfrm>
            <a:off x="7530059" y="3379248"/>
            <a:ext cx="1" cy="2462342"/>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41" name="Line 9">
            <a:extLst>
              <a:ext uri="{FF2B5EF4-FFF2-40B4-BE49-F238E27FC236}">
                <a16:creationId xmlns:a16="http://schemas.microsoft.com/office/drawing/2014/main" id="{7C9910AB-ED31-2A2C-8E7B-1FDB33C16869}"/>
              </a:ext>
            </a:extLst>
          </p:cNvPr>
          <p:cNvSpPr>
            <a:spLocks noChangeShapeType="1"/>
          </p:cNvSpPr>
          <p:nvPr/>
        </p:nvSpPr>
        <p:spPr bwMode="auto">
          <a:xfrm>
            <a:off x="8901660" y="2107790"/>
            <a:ext cx="0" cy="373380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42" name="Text Box 10">
            <a:extLst>
              <a:ext uri="{FF2B5EF4-FFF2-40B4-BE49-F238E27FC236}">
                <a16:creationId xmlns:a16="http://schemas.microsoft.com/office/drawing/2014/main" id="{183BB956-7974-CC8B-B0FC-8070EBE53626}"/>
              </a:ext>
            </a:extLst>
          </p:cNvPr>
          <p:cNvSpPr txBox="1">
            <a:spLocks noChangeArrowheads="1"/>
          </p:cNvSpPr>
          <p:nvPr/>
        </p:nvSpPr>
        <p:spPr bwMode="auto">
          <a:xfrm>
            <a:off x="4542385" y="1607728"/>
            <a:ext cx="1123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a:ln>
                  <a:noFill/>
                </a:ln>
                <a:solidFill>
                  <a:srgbClr val="000000"/>
                </a:solidFill>
                <a:effectLst/>
                <a:uLnTx/>
                <a:uFillTx/>
                <a:latin typeface="Tahoma" panose="020B0604030504040204" pitchFamily="34" charset="0"/>
              </a:rPr>
              <a:t>Double</a:t>
            </a:r>
            <a:endParaRPr kumimoji="0" lang="en-GB"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43" name="Text Box 11">
            <a:extLst>
              <a:ext uri="{FF2B5EF4-FFF2-40B4-BE49-F238E27FC236}">
                <a16:creationId xmlns:a16="http://schemas.microsoft.com/office/drawing/2014/main" id="{D596C3B4-417E-13D8-95F0-A7A28C7D3FCA}"/>
              </a:ext>
            </a:extLst>
          </p:cNvPr>
          <p:cNvSpPr txBox="1">
            <a:spLocks noChangeArrowheads="1"/>
          </p:cNvSpPr>
          <p:nvPr/>
        </p:nvSpPr>
        <p:spPr bwMode="auto">
          <a:xfrm>
            <a:off x="5537735" y="2347990"/>
            <a:ext cx="158088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d1</a:t>
            </a:r>
            <a:r>
              <a:rPr kumimoji="0" lang="el-GR" altLang="el-GR" sz="2400" b="0" i="0" u="none" strike="noStrike" kern="0" cap="none" spc="0" normalizeH="0" baseline="0" noProof="0" dirty="0">
                <a:ln>
                  <a:noFill/>
                </a:ln>
                <a:solidFill>
                  <a:srgbClr val="000000"/>
                </a:solidFill>
                <a:effectLst/>
                <a:uLnTx/>
                <a:uFillTx/>
                <a:latin typeface="Tahoma" panose="020B0604030504040204" pitchFamily="34" charset="0"/>
              </a:rPr>
              <a:t>:</a:t>
            </a: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Double</a:t>
            </a:r>
            <a:endParaRPr kumimoji="0" lang="en-GB" altLang="el-GR" sz="2400" b="0" i="0" u="none" strike="noStrike" kern="0" cap="none" spc="0" normalizeH="0" baseline="0" noProof="0" dirty="0">
              <a:ln>
                <a:noFill/>
              </a:ln>
              <a:solidFill>
                <a:srgbClr val="000000"/>
              </a:solidFill>
              <a:effectLst/>
              <a:uLnTx/>
              <a:uFillTx/>
              <a:latin typeface="Tahoma" panose="020B0604030504040204" pitchFamily="34" charset="0"/>
            </a:endParaRPr>
          </a:p>
        </p:txBody>
      </p:sp>
      <p:sp>
        <p:nvSpPr>
          <p:cNvPr id="45" name="Text Box 13">
            <a:extLst>
              <a:ext uri="{FF2B5EF4-FFF2-40B4-BE49-F238E27FC236}">
                <a16:creationId xmlns:a16="http://schemas.microsoft.com/office/drawing/2014/main" id="{3BF6D346-2053-8D86-79D0-B55ED20E9094}"/>
              </a:ext>
            </a:extLst>
          </p:cNvPr>
          <p:cNvSpPr txBox="1">
            <a:spLocks noChangeArrowheads="1"/>
          </p:cNvSpPr>
          <p:nvPr/>
        </p:nvSpPr>
        <p:spPr bwMode="auto">
          <a:xfrm>
            <a:off x="9359173" y="3558940"/>
            <a:ext cx="283282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st1:Stack&lt;Double&gt;</a:t>
            </a:r>
            <a:endParaRPr kumimoji="0" lang="en-GB" altLang="el-GR" sz="2400" b="0" i="0" u="none" strike="noStrike" kern="0" cap="none" spc="0" normalizeH="0" baseline="0" noProof="0" dirty="0">
              <a:ln>
                <a:noFill/>
              </a:ln>
              <a:solidFill>
                <a:srgbClr val="000000"/>
              </a:solidFill>
              <a:effectLst/>
              <a:uLnTx/>
              <a:uFillTx/>
              <a:latin typeface="Tahoma" panose="020B0604030504040204" pitchFamily="34" charset="0"/>
            </a:endParaRPr>
          </a:p>
        </p:txBody>
      </p:sp>
      <p:sp>
        <p:nvSpPr>
          <p:cNvPr id="46" name="Line 14">
            <a:extLst>
              <a:ext uri="{FF2B5EF4-FFF2-40B4-BE49-F238E27FC236}">
                <a16:creationId xmlns:a16="http://schemas.microsoft.com/office/drawing/2014/main" id="{7BD260D5-FDFB-2088-8BCC-EF73172A3003}"/>
              </a:ext>
            </a:extLst>
          </p:cNvPr>
          <p:cNvSpPr>
            <a:spLocks noChangeShapeType="1"/>
          </p:cNvSpPr>
          <p:nvPr/>
        </p:nvSpPr>
        <p:spPr bwMode="auto">
          <a:xfrm>
            <a:off x="10349460" y="3974690"/>
            <a:ext cx="0" cy="194310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grpSp>
        <p:nvGrpSpPr>
          <p:cNvPr id="47" name="Group 18">
            <a:extLst>
              <a:ext uri="{FF2B5EF4-FFF2-40B4-BE49-F238E27FC236}">
                <a16:creationId xmlns:a16="http://schemas.microsoft.com/office/drawing/2014/main" id="{5B0434AA-AF74-8AD1-262A-986BF9D605E7}"/>
              </a:ext>
            </a:extLst>
          </p:cNvPr>
          <p:cNvGrpSpPr>
            <a:grpSpLocks/>
          </p:cNvGrpSpPr>
          <p:nvPr/>
        </p:nvGrpSpPr>
        <p:grpSpPr bwMode="auto">
          <a:xfrm>
            <a:off x="3551785" y="2114140"/>
            <a:ext cx="1463675" cy="396875"/>
            <a:chOff x="854" y="1492"/>
            <a:chExt cx="922" cy="250"/>
          </a:xfrm>
        </p:grpSpPr>
        <p:sp>
          <p:nvSpPr>
            <p:cNvPr id="48" name="Line 16">
              <a:extLst>
                <a:ext uri="{FF2B5EF4-FFF2-40B4-BE49-F238E27FC236}">
                  <a16:creationId xmlns:a16="http://schemas.microsoft.com/office/drawing/2014/main" id="{97648F80-16E1-9E67-CB98-11B68F6CBC16}"/>
                </a:ext>
              </a:extLst>
            </p:cNvPr>
            <p:cNvSpPr>
              <a:spLocks noChangeShapeType="1"/>
            </p:cNvSpPr>
            <p:nvPr/>
          </p:nvSpPr>
          <p:spPr bwMode="auto">
            <a:xfrm>
              <a:off x="864" y="1728"/>
              <a:ext cx="912" cy="0"/>
            </a:xfrm>
            <a:prstGeom prst="line">
              <a:avLst/>
            </a:prstGeom>
            <a:noFill/>
            <a:ln w="9525">
              <a:solidFill>
                <a:srgbClr val="00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49" name="Text Box 17">
              <a:extLst>
                <a:ext uri="{FF2B5EF4-FFF2-40B4-BE49-F238E27FC236}">
                  <a16:creationId xmlns:a16="http://schemas.microsoft.com/office/drawing/2014/main" id="{457FA4C5-2961-5217-AC91-19CC2812D9F8}"/>
                </a:ext>
              </a:extLst>
            </p:cNvPr>
            <p:cNvSpPr txBox="1">
              <a:spLocks noChangeArrowheads="1"/>
            </p:cNvSpPr>
            <p:nvPr/>
          </p:nvSpPr>
          <p:spPr bwMode="auto">
            <a:xfrm>
              <a:off x="854" y="1492"/>
              <a:ext cx="83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000" b="0" i="0" u="none" strike="noStrike" kern="0" cap="none" spc="0" normalizeH="0" baseline="0" noProof="0">
                  <a:ln>
                    <a:noFill/>
                  </a:ln>
                  <a:solidFill>
                    <a:srgbClr val="000000"/>
                  </a:solidFill>
                  <a:effectLst/>
                  <a:uLnTx/>
                  <a:uFillTx/>
                  <a:latin typeface="Tahoma" panose="020B0604030504040204" pitchFamily="34" charset="0"/>
                </a:rPr>
                <a:t>new(12.0)</a:t>
              </a:r>
              <a:endParaRPr kumimoji="0" lang="en-GB" altLang="el-GR" sz="2000" b="0" i="0" u="none" strike="noStrike" kern="0" cap="none" spc="0" normalizeH="0" baseline="0" noProof="0">
                <a:ln>
                  <a:noFill/>
                </a:ln>
                <a:solidFill>
                  <a:srgbClr val="000000"/>
                </a:solidFill>
                <a:effectLst/>
                <a:uLnTx/>
                <a:uFillTx/>
                <a:latin typeface="Tahoma" panose="020B0604030504040204" pitchFamily="34" charset="0"/>
              </a:endParaRPr>
            </a:p>
          </p:txBody>
        </p:sp>
      </p:grpSp>
      <p:grpSp>
        <p:nvGrpSpPr>
          <p:cNvPr id="50" name="Group 21">
            <a:extLst>
              <a:ext uri="{FF2B5EF4-FFF2-40B4-BE49-F238E27FC236}">
                <a16:creationId xmlns:a16="http://schemas.microsoft.com/office/drawing/2014/main" id="{C62FA936-6A24-F528-4183-58F27BF43A14}"/>
              </a:ext>
            </a:extLst>
          </p:cNvPr>
          <p:cNvGrpSpPr>
            <a:grpSpLocks/>
          </p:cNvGrpSpPr>
          <p:nvPr/>
        </p:nvGrpSpPr>
        <p:grpSpPr bwMode="auto">
          <a:xfrm>
            <a:off x="3567660" y="2793590"/>
            <a:ext cx="1463675" cy="396875"/>
            <a:chOff x="854" y="1492"/>
            <a:chExt cx="922" cy="250"/>
          </a:xfrm>
        </p:grpSpPr>
        <p:sp>
          <p:nvSpPr>
            <p:cNvPr id="51" name="Line 22">
              <a:extLst>
                <a:ext uri="{FF2B5EF4-FFF2-40B4-BE49-F238E27FC236}">
                  <a16:creationId xmlns:a16="http://schemas.microsoft.com/office/drawing/2014/main" id="{026EF3C4-E93A-4D7D-4E29-303AC58A3672}"/>
                </a:ext>
              </a:extLst>
            </p:cNvPr>
            <p:cNvSpPr>
              <a:spLocks noChangeShapeType="1"/>
            </p:cNvSpPr>
            <p:nvPr/>
          </p:nvSpPr>
          <p:spPr bwMode="auto">
            <a:xfrm>
              <a:off x="864" y="1728"/>
              <a:ext cx="912" cy="0"/>
            </a:xfrm>
            <a:prstGeom prst="line">
              <a:avLst/>
            </a:prstGeom>
            <a:noFill/>
            <a:ln w="9525">
              <a:solidFill>
                <a:srgbClr val="00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52" name="Text Box 23">
              <a:extLst>
                <a:ext uri="{FF2B5EF4-FFF2-40B4-BE49-F238E27FC236}">
                  <a16:creationId xmlns:a16="http://schemas.microsoft.com/office/drawing/2014/main" id="{8958D7DF-8A39-55B1-3ED3-7BE110F4868E}"/>
                </a:ext>
              </a:extLst>
            </p:cNvPr>
            <p:cNvSpPr txBox="1">
              <a:spLocks noChangeArrowheads="1"/>
            </p:cNvSpPr>
            <p:nvPr/>
          </p:nvSpPr>
          <p:spPr bwMode="auto">
            <a:xfrm>
              <a:off x="854" y="1492"/>
              <a:ext cx="83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000" b="0" i="0" u="none" strike="noStrike" kern="0" cap="none" spc="0" normalizeH="0" baseline="0" noProof="0" dirty="0">
                  <a:ln>
                    <a:noFill/>
                  </a:ln>
                  <a:solidFill>
                    <a:srgbClr val="000000"/>
                  </a:solidFill>
                  <a:effectLst/>
                  <a:uLnTx/>
                  <a:uFillTx/>
                  <a:latin typeface="Tahoma" panose="020B0604030504040204" pitchFamily="34" charset="0"/>
                </a:rPr>
                <a:t>new(24.0)</a:t>
              </a:r>
              <a:endParaRPr kumimoji="0" lang="en-GB" altLang="el-GR" sz="2000" b="0" i="0" u="none" strike="noStrike" kern="0" cap="none" spc="0" normalizeH="0" baseline="0" noProof="0" dirty="0">
                <a:ln>
                  <a:noFill/>
                </a:ln>
                <a:solidFill>
                  <a:srgbClr val="000000"/>
                </a:solidFill>
                <a:effectLst/>
                <a:uLnTx/>
                <a:uFillTx/>
                <a:latin typeface="Tahoma" panose="020B0604030504040204" pitchFamily="34" charset="0"/>
              </a:endParaRPr>
            </a:p>
          </p:txBody>
        </p:sp>
      </p:grpSp>
      <p:sp>
        <p:nvSpPr>
          <p:cNvPr id="53" name="Line 24">
            <a:extLst>
              <a:ext uri="{FF2B5EF4-FFF2-40B4-BE49-F238E27FC236}">
                <a16:creationId xmlns:a16="http://schemas.microsoft.com/office/drawing/2014/main" id="{6F2560E5-F225-E04A-646B-499D1725FADB}"/>
              </a:ext>
            </a:extLst>
          </p:cNvPr>
          <p:cNvSpPr>
            <a:spLocks noChangeShapeType="1"/>
          </p:cNvSpPr>
          <p:nvPr/>
        </p:nvSpPr>
        <p:spPr bwMode="auto">
          <a:xfrm>
            <a:off x="5015460" y="2793590"/>
            <a:ext cx="1219200" cy="0"/>
          </a:xfrm>
          <a:prstGeom prst="line">
            <a:avLst/>
          </a:prstGeom>
          <a:noFill/>
          <a:ln w="9525">
            <a:solidFill>
              <a:srgbClr val="000000"/>
            </a:solidFill>
            <a:prstDash val="dash"/>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54" name="Line 25">
            <a:extLst>
              <a:ext uri="{FF2B5EF4-FFF2-40B4-BE49-F238E27FC236}">
                <a16:creationId xmlns:a16="http://schemas.microsoft.com/office/drawing/2014/main" id="{06E375BE-5F8C-3DB7-5F96-9A6C3DAB9FC0}"/>
              </a:ext>
            </a:extLst>
          </p:cNvPr>
          <p:cNvSpPr>
            <a:spLocks noChangeShapeType="1"/>
          </p:cNvSpPr>
          <p:nvPr/>
        </p:nvSpPr>
        <p:spPr bwMode="auto">
          <a:xfrm>
            <a:off x="5015460" y="3403190"/>
            <a:ext cx="2514600" cy="0"/>
          </a:xfrm>
          <a:prstGeom prst="line">
            <a:avLst/>
          </a:prstGeom>
          <a:noFill/>
          <a:ln w="9525">
            <a:solidFill>
              <a:srgbClr val="000000"/>
            </a:solidFill>
            <a:prstDash val="dash"/>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55" name="Line 26">
            <a:extLst>
              <a:ext uri="{FF2B5EF4-FFF2-40B4-BE49-F238E27FC236}">
                <a16:creationId xmlns:a16="http://schemas.microsoft.com/office/drawing/2014/main" id="{CB836BD8-5EC9-4BC7-DDF0-ADF38ACA7524}"/>
              </a:ext>
            </a:extLst>
          </p:cNvPr>
          <p:cNvSpPr>
            <a:spLocks noChangeShapeType="1"/>
          </p:cNvSpPr>
          <p:nvPr/>
        </p:nvSpPr>
        <p:spPr bwMode="auto">
          <a:xfrm flipV="1">
            <a:off x="3643859" y="3838166"/>
            <a:ext cx="5257799" cy="22224"/>
          </a:xfrm>
          <a:prstGeom prst="line">
            <a:avLst/>
          </a:prstGeom>
          <a:noFill/>
          <a:ln w="9525">
            <a:solidFill>
              <a:srgbClr val="00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56" name="Text Box 27">
            <a:extLst>
              <a:ext uri="{FF2B5EF4-FFF2-40B4-BE49-F238E27FC236}">
                <a16:creationId xmlns:a16="http://schemas.microsoft.com/office/drawing/2014/main" id="{AD9B0474-91B0-7E8C-98A0-412B376F4CB5}"/>
              </a:ext>
            </a:extLst>
          </p:cNvPr>
          <p:cNvSpPr txBox="1">
            <a:spLocks noChangeArrowheads="1"/>
          </p:cNvSpPr>
          <p:nvPr/>
        </p:nvSpPr>
        <p:spPr bwMode="auto">
          <a:xfrm>
            <a:off x="3535637" y="3555104"/>
            <a:ext cx="190468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1800" b="0" i="0" u="none" strike="noStrike" kern="0" cap="none" spc="0" normalizeH="0" baseline="0" noProof="0" dirty="0">
                <a:ln>
                  <a:noFill/>
                </a:ln>
                <a:solidFill>
                  <a:srgbClr val="000000"/>
                </a:solidFill>
                <a:effectLst/>
                <a:uLnTx/>
                <a:uFillTx/>
                <a:latin typeface="Tahoma" panose="020B0604030504040204" pitchFamily="34" charset="0"/>
              </a:rPr>
              <a:t>new &lt;Double&gt;()</a:t>
            </a:r>
            <a:endParaRPr kumimoji="0" lang="en-GB" altLang="el-GR" sz="1800" b="0" i="0" u="none" strike="noStrike" kern="0" cap="none" spc="0" normalizeH="0" baseline="0" noProof="0" dirty="0">
              <a:ln>
                <a:noFill/>
              </a:ln>
              <a:solidFill>
                <a:srgbClr val="000000"/>
              </a:solidFill>
              <a:effectLst/>
              <a:uLnTx/>
              <a:uFillTx/>
              <a:latin typeface="Tahoma" panose="020B0604030504040204" pitchFamily="34" charset="0"/>
            </a:endParaRPr>
          </a:p>
        </p:txBody>
      </p:sp>
      <p:sp>
        <p:nvSpPr>
          <p:cNvPr id="57" name="Line 29">
            <a:extLst>
              <a:ext uri="{FF2B5EF4-FFF2-40B4-BE49-F238E27FC236}">
                <a16:creationId xmlns:a16="http://schemas.microsoft.com/office/drawing/2014/main" id="{93D11463-7259-5FD5-8910-E2B8753FFA49}"/>
              </a:ext>
            </a:extLst>
          </p:cNvPr>
          <p:cNvSpPr>
            <a:spLocks noChangeShapeType="1"/>
          </p:cNvSpPr>
          <p:nvPr/>
        </p:nvSpPr>
        <p:spPr bwMode="auto">
          <a:xfrm>
            <a:off x="3643859" y="4469989"/>
            <a:ext cx="6705600" cy="8993"/>
          </a:xfrm>
          <a:prstGeom prst="line">
            <a:avLst/>
          </a:prstGeom>
          <a:noFill/>
          <a:ln w="9525">
            <a:solidFill>
              <a:srgbClr val="00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58" name="Line 34">
            <a:extLst>
              <a:ext uri="{FF2B5EF4-FFF2-40B4-BE49-F238E27FC236}">
                <a16:creationId xmlns:a16="http://schemas.microsoft.com/office/drawing/2014/main" id="{9E4B3E48-36F6-9800-FDBA-39C73AD8D771}"/>
              </a:ext>
            </a:extLst>
          </p:cNvPr>
          <p:cNvSpPr>
            <a:spLocks noChangeShapeType="1"/>
          </p:cNvSpPr>
          <p:nvPr/>
        </p:nvSpPr>
        <p:spPr bwMode="auto">
          <a:xfrm>
            <a:off x="3651675" y="5470145"/>
            <a:ext cx="6705600" cy="0"/>
          </a:xfrm>
          <a:prstGeom prst="line">
            <a:avLst/>
          </a:prstGeom>
          <a:noFill/>
          <a:ln w="9525">
            <a:solidFill>
              <a:srgbClr val="00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0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59" name="Text Box 35">
            <a:extLst>
              <a:ext uri="{FF2B5EF4-FFF2-40B4-BE49-F238E27FC236}">
                <a16:creationId xmlns:a16="http://schemas.microsoft.com/office/drawing/2014/main" id="{B9A411F2-3F9C-DDDA-1875-5B922A41AC32}"/>
              </a:ext>
            </a:extLst>
          </p:cNvPr>
          <p:cNvSpPr txBox="1">
            <a:spLocks noChangeArrowheads="1"/>
          </p:cNvSpPr>
          <p:nvPr/>
        </p:nvSpPr>
        <p:spPr bwMode="auto">
          <a:xfrm>
            <a:off x="3575475" y="5089145"/>
            <a:ext cx="80182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000" b="0" i="0" u="none" strike="noStrike" kern="0" cap="none" spc="0" normalizeH="0" baseline="0" noProof="0" dirty="0">
                <a:ln>
                  <a:noFill/>
                </a:ln>
                <a:solidFill>
                  <a:srgbClr val="000000"/>
                </a:solidFill>
                <a:effectLst/>
                <a:uLnTx/>
                <a:uFillTx/>
                <a:latin typeface="Tahoma" panose="020B0604030504040204" pitchFamily="34" charset="0"/>
              </a:rPr>
              <a:t>pop()</a:t>
            </a:r>
            <a:endParaRPr kumimoji="0" lang="en-GB" altLang="el-GR" sz="2000" b="0" i="0" u="none" strike="noStrike" kern="0" cap="none" spc="0" normalizeH="0" baseline="0" noProof="0" dirty="0">
              <a:ln>
                <a:noFill/>
              </a:ln>
              <a:solidFill>
                <a:srgbClr val="000000"/>
              </a:solidFill>
              <a:effectLst/>
              <a:uLnTx/>
              <a:uFillTx/>
              <a:latin typeface="Tahoma" panose="020B0604030504040204" pitchFamily="34" charset="0"/>
            </a:endParaRPr>
          </a:p>
        </p:txBody>
      </p:sp>
      <p:sp>
        <p:nvSpPr>
          <p:cNvPr id="60" name="Line 36">
            <a:extLst>
              <a:ext uri="{FF2B5EF4-FFF2-40B4-BE49-F238E27FC236}">
                <a16:creationId xmlns:a16="http://schemas.microsoft.com/office/drawing/2014/main" id="{C62BF600-CBF6-7595-C7B8-E5B510EB1E3F}"/>
              </a:ext>
            </a:extLst>
          </p:cNvPr>
          <p:cNvSpPr>
            <a:spLocks noChangeShapeType="1"/>
          </p:cNvSpPr>
          <p:nvPr/>
        </p:nvSpPr>
        <p:spPr bwMode="auto">
          <a:xfrm>
            <a:off x="3167610" y="2237965"/>
            <a:ext cx="0" cy="3457575"/>
          </a:xfrm>
          <a:prstGeom prst="line">
            <a:avLst/>
          </a:prstGeom>
          <a:noFill/>
          <a:ln w="76200">
            <a:solidFill>
              <a:srgbClr val="128F05"/>
            </a:solidFill>
            <a:miter lim="800000"/>
            <a:headEnd/>
            <a:tailEnd/>
          </a:ln>
          <a:extLst>
            <a:ext uri="{909E8E84-426E-40DD-AFC4-6F175D3DCCD1}">
              <a14:hiddenFill xmlns:a14="http://schemas.microsoft.com/office/drawing/2010/main">
                <a:noFill/>
              </a14:hiddenFill>
            </a:ext>
          </a:extLst>
        </p:spPr>
        <p:txBody>
          <a:bodyPr wrap="none"/>
          <a:lstStyle/>
          <a:p>
            <a:pPr fontAlgn="base">
              <a:spcBef>
                <a:spcPct val="0"/>
              </a:spcBef>
              <a:spcAft>
                <a:spcPct val="0"/>
              </a:spcAft>
            </a:pPr>
            <a:endParaRPr lang="el-GR" sz="2400">
              <a:solidFill>
                <a:srgbClr val="000000"/>
              </a:solidFill>
              <a:latin typeface="Tahoma" panose="020B0604030504040204" pitchFamily="34" charset="0"/>
            </a:endParaRPr>
          </a:p>
        </p:txBody>
      </p:sp>
      <p:sp>
        <p:nvSpPr>
          <p:cNvPr id="61" name="Text Box 37">
            <a:extLst>
              <a:ext uri="{FF2B5EF4-FFF2-40B4-BE49-F238E27FC236}">
                <a16:creationId xmlns:a16="http://schemas.microsoft.com/office/drawing/2014/main" id="{A10E2A94-8D7A-2709-22A9-FEC63F48C9B4}"/>
              </a:ext>
            </a:extLst>
          </p:cNvPr>
          <p:cNvSpPr txBox="1">
            <a:spLocks noChangeArrowheads="1"/>
          </p:cNvSpPr>
          <p:nvPr/>
        </p:nvSpPr>
        <p:spPr bwMode="auto">
          <a:xfrm>
            <a:off x="3004098" y="1593440"/>
            <a:ext cx="442912"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l-GR" altLang="el-GR" sz="3600" b="1" i="0" u="none" strike="noStrike" kern="0" cap="none" spc="0" normalizeH="0" baseline="0" noProof="0">
                <a:ln>
                  <a:noFill/>
                </a:ln>
                <a:solidFill>
                  <a:srgbClr val="FF0000"/>
                </a:solidFill>
                <a:effectLst/>
                <a:uLnTx/>
                <a:uFillTx/>
                <a:latin typeface="Tahoma" panose="020B0604030504040204" pitchFamily="34" charset="0"/>
              </a:rPr>
              <a:t>?</a:t>
            </a:r>
            <a:endParaRPr kumimoji="0" lang="en-US" altLang="el-GR" sz="3600" b="1" i="0" u="none" strike="noStrike" kern="0" cap="none" spc="0" normalizeH="0" baseline="0" noProof="0">
              <a:ln>
                <a:noFill/>
              </a:ln>
              <a:solidFill>
                <a:srgbClr val="FF0000"/>
              </a:solidFill>
              <a:effectLst/>
              <a:uLnTx/>
              <a:uFillTx/>
              <a:latin typeface="Tahoma" panose="020B0604030504040204" pitchFamily="34" charset="0"/>
            </a:endParaRPr>
          </a:p>
        </p:txBody>
      </p:sp>
      <p:sp>
        <p:nvSpPr>
          <p:cNvPr id="62" name="AutoShape 25">
            <a:extLst>
              <a:ext uri="{FF2B5EF4-FFF2-40B4-BE49-F238E27FC236}">
                <a16:creationId xmlns:a16="http://schemas.microsoft.com/office/drawing/2014/main" id="{6C331538-3018-1473-1EF5-848CD46772BE}"/>
              </a:ext>
            </a:extLst>
          </p:cNvPr>
          <p:cNvSpPr>
            <a:spLocks noChangeArrowheads="1"/>
          </p:cNvSpPr>
          <p:nvPr/>
        </p:nvSpPr>
        <p:spPr bwMode="auto">
          <a:xfrm>
            <a:off x="2734733" y="5998712"/>
            <a:ext cx="6953907" cy="443560"/>
          </a:xfrm>
          <a:prstGeom prst="wedgeRectCallout">
            <a:avLst>
              <a:gd name="adj1" fmla="val -57166"/>
              <a:gd name="adj2" fmla="val 100831"/>
            </a:avLst>
          </a:prstGeom>
          <a:solidFill>
            <a:srgbClr val="FFFF00"/>
          </a:solidFill>
          <a:ln w="9525">
            <a:solidFill>
              <a:schemeClr val="bg1"/>
            </a:solidFill>
            <a:miter lim="800000"/>
            <a:headEnd/>
            <a:tailEnd/>
          </a:ln>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l-GR" altLang="el-GR" sz="2400" i="0" u="none" strike="noStrike" kern="0" cap="none" spc="0" normalizeH="0" baseline="0" noProof="0">
                <a:ln>
                  <a:noFill/>
                </a:ln>
                <a:effectLst/>
                <a:uLnTx/>
                <a:uFillTx/>
                <a:latin typeface="Tahoma" panose="020B0604030504040204" pitchFamily="34" charset="0"/>
              </a:rPr>
              <a:t>Ανάγκη για δημιουργία νέου αντικειμένου</a:t>
            </a:r>
          </a:p>
        </p:txBody>
      </p:sp>
      <p:sp>
        <p:nvSpPr>
          <p:cNvPr id="63" name="TextBox 62">
            <a:extLst>
              <a:ext uri="{FF2B5EF4-FFF2-40B4-BE49-F238E27FC236}">
                <a16:creationId xmlns:a16="http://schemas.microsoft.com/office/drawing/2014/main" id="{3C466420-1E16-EEDA-680E-14E2619D973C}"/>
              </a:ext>
            </a:extLst>
          </p:cNvPr>
          <p:cNvSpPr txBox="1"/>
          <p:nvPr/>
        </p:nvSpPr>
        <p:spPr>
          <a:xfrm>
            <a:off x="54795" y="814808"/>
            <a:ext cx="5019489" cy="523220"/>
          </a:xfrm>
          <a:prstGeom prst="rect">
            <a:avLst/>
          </a:prstGeom>
          <a:noFill/>
        </p:spPr>
        <p:txBody>
          <a:bodyPr wrap="square" rtlCol="0">
            <a:spAutoFit/>
          </a:bodyPr>
          <a:lstStyle/>
          <a:p>
            <a:pPr fontAlgn="base">
              <a:spcBef>
                <a:spcPct val="0"/>
              </a:spcBef>
              <a:spcAft>
                <a:spcPct val="0"/>
              </a:spcAft>
            </a:pPr>
            <a:r>
              <a:rPr lang="en-US" sz="2800" b="1" dirty="0">
                <a:solidFill>
                  <a:srgbClr val="000000"/>
                </a:solidFill>
                <a:latin typeface="Tahoma" panose="020B0604030504040204" pitchFamily="34" charset="0"/>
              </a:rPr>
              <a:t>UML sequence diagram</a:t>
            </a:r>
            <a:endParaRPr lang="el-GR" sz="2800" b="1" dirty="0">
              <a:solidFill>
                <a:srgbClr val="000000"/>
              </a:solidFill>
              <a:latin typeface="Tahoma" panose="020B0604030504040204" pitchFamily="34" charset="0"/>
            </a:endParaRPr>
          </a:p>
        </p:txBody>
      </p:sp>
      <p:sp>
        <p:nvSpPr>
          <p:cNvPr id="64" name="TextBox 63">
            <a:extLst>
              <a:ext uri="{FF2B5EF4-FFF2-40B4-BE49-F238E27FC236}">
                <a16:creationId xmlns:a16="http://schemas.microsoft.com/office/drawing/2014/main" id="{100DAFA9-567C-B3DA-594A-B551E3CC9375}"/>
              </a:ext>
            </a:extLst>
          </p:cNvPr>
          <p:cNvSpPr txBox="1"/>
          <p:nvPr/>
        </p:nvSpPr>
        <p:spPr>
          <a:xfrm>
            <a:off x="8504541" y="1619661"/>
            <a:ext cx="1519159" cy="461665"/>
          </a:xfrm>
          <a:prstGeom prst="rect">
            <a:avLst/>
          </a:prstGeom>
          <a:noFill/>
        </p:spPr>
        <p:txBody>
          <a:bodyPr wrap="square" rtlCol="0">
            <a:spAutoFit/>
          </a:bodyPr>
          <a:lstStyle/>
          <a:p>
            <a:pPr fontAlgn="base">
              <a:spcBef>
                <a:spcPct val="0"/>
              </a:spcBef>
              <a:spcAft>
                <a:spcPct val="0"/>
              </a:spcAft>
            </a:pPr>
            <a:r>
              <a:rPr lang="en-US" sz="2400" dirty="0">
                <a:solidFill>
                  <a:srgbClr val="000000"/>
                </a:solidFill>
                <a:latin typeface="Tahoma" panose="020B0604030504040204" pitchFamily="34" charset="0"/>
              </a:rPr>
              <a:t>Stack</a:t>
            </a:r>
            <a:endParaRPr lang="el-GR" sz="2400" dirty="0">
              <a:solidFill>
                <a:srgbClr val="000000"/>
              </a:solidFill>
              <a:latin typeface="Tahoma" panose="020B0604030504040204" pitchFamily="34" charset="0"/>
            </a:endParaRPr>
          </a:p>
        </p:txBody>
      </p:sp>
      <p:sp>
        <p:nvSpPr>
          <p:cNvPr id="65" name="Line 25">
            <a:extLst>
              <a:ext uri="{FF2B5EF4-FFF2-40B4-BE49-F238E27FC236}">
                <a16:creationId xmlns:a16="http://schemas.microsoft.com/office/drawing/2014/main" id="{0FF72C1C-9E41-73F7-A041-98D46D6E6053}"/>
              </a:ext>
            </a:extLst>
          </p:cNvPr>
          <p:cNvSpPr>
            <a:spLocks noChangeShapeType="1"/>
          </p:cNvSpPr>
          <p:nvPr/>
        </p:nvSpPr>
        <p:spPr bwMode="auto">
          <a:xfrm>
            <a:off x="8901658" y="4103746"/>
            <a:ext cx="1447802" cy="6948"/>
          </a:xfrm>
          <a:prstGeom prst="line">
            <a:avLst/>
          </a:prstGeom>
          <a:noFill/>
          <a:ln w="9525">
            <a:solidFill>
              <a:srgbClr val="000000"/>
            </a:solidFill>
            <a:prstDash val="dash"/>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66" name="Text Box 27">
            <a:extLst>
              <a:ext uri="{FF2B5EF4-FFF2-40B4-BE49-F238E27FC236}">
                <a16:creationId xmlns:a16="http://schemas.microsoft.com/office/drawing/2014/main" id="{F61372D0-3530-B14A-ADCC-560D75460F3D}"/>
              </a:ext>
            </a:extLst>
          </p:cNvPr>
          <p:cNvSpPr txBox="1">
            <a:spLocks noChangeArrowheads="1"/>
          </p:cNvSpPr>
          <p:nvPr/>
        </p:nvSpPr>
        <p:spPr bwMode="auto">
          <a:xfrm>
            <a:off x="3648439" y="4083189"/>
            <a:ext cx="11031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1800" b="0" i="0" u="none" strike="noStrike" kern="0" cap="none" spc="0" normalizeH="0" baseline="0" noProof="0" dirty="0">
                <a:ln>
                  <a:noFill/>
                </a:ln>
                <a:solidFill>
                  <a:srgbClr val="000000"/>
                </a:solidFill>
                <a:effectLst/>
                <a:uLnTx/>
                <a:uFillTx/>
                <a:latin typeface="Tahoma" panose="020B0604030504040204" pitchFamily="34" charset="0"/>
              </a:rPr>
              <a:t>push(d1)</a:t>
            </a:r>
            <a:endParaRPr kumimoji="0" lang="en-GB" altLang="el-GR" sz="1800" b="0" i="0" u="none" strike="noStrike" kern="0" cap="none" spc="0" normalizeH="0" baseline="0" noProof="0" dirty="0">
              <a:ln>
                <a:noFill/>
              </a:ln>
              <a:solidFill>
                <a:srgbClr val="000000"/>
              </a:solidFill>
              <a:effectLst/>
              <a:uLnTx/>
              <a:uFillTx/>
              <a:latin typeface="Tahoma" panose="020B0604030504040204" pitchFamily="34" charset="0"/>
            </a:endParaRPr>
          </a:p>
        </p:txBody>
      </p:sp>
      <p:sp>
        <p:nvSpPr>
          <p:cNvPr id="67" name="Line 29">
            <a:extLst>
              <a:ext uri="{FF2B5EF4-FFF2-40B4-BE49-F238E27FC236}">
                <a16:creationId xmlns:a16="http://schemas.microsoft.com/office/drawing/2014/main" id="{3FA176AC-5B5C-3BE1-E346-E3BB99C529D5}"/>
              </a:ext>
            </a:extLst>
          </p:cNvPr>
          <p:cNvSpPr>
            <a:spLocks noChangeShapeType="1"/>
          </p:cNvSpPr>
          <p:nvPr/>
        </p:nvSpPr>
        <p:spPr bwMode="auto">
          <a:xfrm>
            <a:off x="3639279" y="4916085"/>
            <a:ext cx="6705599" cy="21397"/>
          </a:xfrm>
          <a:prstGeom prst="line">
            <a:avLst/>
          </a:prstGeom>
          <a:noFill/>
          <a:ln w="9525">
            <a:solidFill>
              <a:srgbClr val="00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68" name="Text Box 27">
            <a:extLst>
              <a:ext uri="{FF2B5EF4-FFF2-40B4-BE49-F238E27FC236}">
                <a16:creationId xmlns:a16="http://schemas.microsoft.com/office/drawing/2014/main" id="{079B1F11-7262-89B0-42D4-574B5F793337}"/>
              </a:ext>
            </a:extLst>
          </p:cNvPr>
          <p:cNvSpPr txBox="1">
            <a:spLocks noChangeArrowheads="1"/>
          </p:cNvSpPr>
          <p:nvPr/>
        </p:nvSpPr>
        <p:spPr bwMode="auto">
          <a:xfrm>
            <a:off x="3643859" y="4529285"/>
            <a:ext cx="11031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1800" b="0" i="0" u="none" strike="noStrike" kern="0" cap="none" spc="0" normalizeH="0" baseline="0" noProof="0" dirty="0">
                <a:ln>
                  <a:noFill/>
                </a:ln>
                <a:solidFill>
                  <a:srgbClr val="000000"/>
                </a:solidFill>
                <a:effectLst/>
                <a:uLnTx/>
                <a:uFillTx/>
                <a:latin typeface="Tahoma" panose="020B0604030504040204" pitchFamily="34" charset="0"/>
              </a:rPr>
              <a:t>push(d2)</a:t>
            </a:r>
            <a:endParaRPr kumimoji="0" lang="en-GB" altLang="el-GR" sz="1800" b="0" i="0" u="none" strike="noStrike" kern="0" cap="none" spc="0" normalizeH="0" baseline="0" noProof="0" dirty="0">
              <a:ln>
                <a:noFill/>
              </a:ln>
              <a:solidFill>
                <a:srgbClr val="000000"/>
              </a:solidFill>
              <a:effectLst/>
              <a:uLnTx/>
              <a:uFillTx/>
              <a:latin typeface="Tahoma" panose="020B0604030504040204" pitchFamily="34" charset="0"/>
            </a:endParaRPr>
          </a:p>
        </p:txBody>
      </p:sp>
      <p:sp>
        <p:nvSpPr>
          <p:cNvPr id="69" name="Text Box 11">
            <a:extLst>
              <a:ext uri="{FF2B5EF4-FFF2-40B4-BE49-F238E27FC236}">
                <a16:creationId xmlns:a16="http://schemas.microsoft.com/office/drawing/2014/main" id="{62021409-0C9A-916E-D685-8F0A96E98D64}"/>
              </a:ext>
            </a:extLst>
          </p:cNvPr>
          <p:cNvSpPr txBox="1">
            <a:spLocks noChangeArrowheads="1"/>
          </p:cNvSpPr>
          <p:nvPr/>
        </p:nvSpPr>
        <p:spPr bwMode="auto">
          <a:xfrm>
            <a:off x="6747422" y="2840869"/>
            <a:ext cx="158088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d2</a:t>
            </a:r>
            <a:r>
              <a:rPr kumimoji="0" lang="el-GR" altLang="el-GR" sz="2400" b="0" i="0" u="none" strike="noStrike" kern="0" cap="none" spc="0" normalizeH="0" baseline="0" noProof="0" dirty="0">
                <a:ln>
                  <a:noFill/>
                </a:ln>
                <a:solidFill>
                  <a:srgbClr val="000000"/>
                </a:solidFill>
                <a:effectLst/>
                <a:uLnTx/>
                <a:uFillTx/>
                <a:latin typeface="Tahoma" panose="020B0604030504040204" pitchFamily="34" charset="0"/>
              </a:rPr>
              <a:t>:</a:t>
            </a: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Double</a:t>
            </a:r>
            <a:endParaRPr kumimoji="0" lang="en-GB" altLang="el-GR" sz="2400" b="0" i="0" u="none" strike="noStrike" kern="0" cap="none" spc="0" normalizeH="0" baseline="0" noProof="0" dirty="0">
              <a:ln>
                <a:noFill/>
              </a:ln>
              <a:solidFill>
                <a:srgbClr val="000000"/>
              </a:solidFill>
              <a:effectLst/>
              <a:uLnTx/>
              <a:uFillTx/>
              <a:latin typeface="Tahoma" panose="020B0604030504040204" pitchFamily="34" charset="0"/>
            </a:endParaRPr>
          </a:p>
        </p:txBody>
      </p:sp>
      <p:sp>
        <p:nvSpPr>
          <p:cNvPr id="7" name="TextBox 6">
            <a:extLst>
              <a:ext uri="{FF2B5EF4-FFF2-40B4-BE49-F238E27FC236}">
                <a16:creationId xmlns:a16="http://schemas.microsoft.com/office/drawing/2014/main" id="{3EA5B74B-46C5-E5E3-6C2D-6B6D7E5C9932}"/>
              </a:ext>
            </a:extLst>
          </p:cNvPr>
          <p:cNvSpPr txBox="1"/>
          <p:nvPr/>
        </p:nvSpPr>
        <p:spPr>
          <a:xfrm>
            <a:off x="97909" y="1569945"/>
            <a:ext cx="2719568" cy="4093428"/>
          </a:xfrm>
          <a:prstGeom prst="rect">
            <a:avLst/>
          </a:prstGeom>
          <a:noFill/>
        </p:spPr>
        <p:txBody>
          <a:bodyPr wrap="square" rtlCol="0">
            <a:spAutoFit/>
          </a:bodyPr>
          <a:lstStyle/>
          <a:p>
            <a:r>
              <a:rPr lang="en-US" sz="2000" i="1" dirty="0">
                <a:solidFill>
                  <a:srgbClr val="000000"/>
                </a:solidFill>
                <a:latin typeface="Calibri" panose="020F0502020204030204" pitchFamily="34" charset="0"/>
              </a:rPr>
              <a:t>To </a:t>
            </a:r>
            <a:r>
              <a:rPr lang="el-GR" sz="2000" b="0" i="1" u="none" strike="noStrike" baseline="0" dirty="0">
                <a:solidFill>
                  <a:srgbClr val="000000"/>
                </a:solidFill>
                <a:latin typeface="Calibri" panose="020F0502020204030204" pitchFamily="34" charset="0"/>
              </a:rPr>
              <a:t>πρόγραμμα</a:t>
            </a:r>
            <a:r>
              <a:rPr lang="en-US" sz="2000" b="0" i="1" u="none" strike="noStrike" baseline="0" dirty="0">
                <a:solidFill>
                  <a:srgbClr val="000000"/>
                </a:solidFill>
                <a:latin typeface="Calibri" panose="020F0502020204030204" pitchFamily="34" charset="0"/>
              </a:rPr>
              <a:t> …</a:t>
            </a:r>
            <a:r>
              <a:rPr lang="el-GR" sz="2000" b="0" i="1" u="none" strike="noStrike" baseline="0" dirty="0">
                <a:solidFill>
                  <a:srgbClr val="000000"/>
                </a:solidFill>
                <a:latin typeface="Calibri" panose="020F0502020204030204" pitchFamily="34" charset="0"/>
              </a:rPr>
              <a:t> </a:t>
            </a:r>
            <a:endParaRPr lang="en-GB" sz="2000" b="0" i="1" u="none" strike="noStrike" baseline="0" dirty="0">
              <a:solidFill>
                <a:srgbClr val="000000"/>
              </a:solidFill>
              <a:latin typeface="Calibri" panose="020F0502020204030204" pitchFamily="34" charset="0"/>
            </a:endParaRPr>
          </a:p>
          <a:p>
            <a:r>
              <a:rPr lang="el-GR" sz="2000" b="0" i="1" u="none" strike="noStrike" baseline="0" dirty="0">
                <a:solidFill>
                  <a:srgbClr val="000000"/>
                </a:solidFill>
                <a:latin typeface="Calibri" panose="020F0502020204030204" pitchFamily="34" charset="0"/>
              </a:rPr>
              <a:t>θα</a:t>
            </a:r>
            <a:r>
              <a:rPr lang="en-US" sz="2000" b="0" i="1" u="none" strike="noStrike" baseline="0" dirty="0">
                <a:solidFill>
                  <a:srgbClr val="000000"/>
                </a:solidFill>
                <a:latin typeface="Calibri" panose="020F0502020204030204" pitchFamily="34" charset="0"/>
              </a:rPr>
              <a:t> </a:t>
            </a:r>
            <a:r>
              <a:rPr lang="el-GR" sz="2000" b="0" i="1" u="none" strike="noStrike" baseline="0" dirty="0">
                <a:solidFill>
                  <a:srgbClr val="000000"/>
                </a:solidFill>
                <a:latin typeface="Calibri" panose="020F0502020204030204" pitchFamily="34" charset="0"/>
              </a:rPr>
              <a:t>δημιουργεί δύο στιγμιότυπα </a:t>
            </a:r>
            <a:r>
              <a:rPr lang="el-GR" sz="2000" b="1" i="1" u="none" strike="noStrike" baseline="0" dirty="0" err="1">
                <a:solidFill>
                  <a:srgbClr val="C00000"/>
                </a:solidFill>
                <a:latin typeface="Calibri" panose="020F0502020204030204" pitchFamily="34" charset="0"/>
              </a:rPr>
              <a:t>Double</a:t>
            </a:r>
            <a:r>
              <a:rPr lang="el-GR" sz="2000" b="0" i="1" u="none" strike="noStrike" baseline="0" dirty="0">
                <a:solidFill>
                  <a:srgbClr val="000000"/>
                </a:solidFill>
                <a:latin typeface="Calibri" panose="020F0502020204030204" pitchFamily="34" charset="0"/>
              </a:rPr>
              <a:t>, θα τα βάζει στη στοίβα</a:t>
            </a:r>
            <a:r>
              <a:rPr lang="en-US" sz="2000" b="0" i="1" u="none" strike="noStrike" baseline="0" dirty="0">
                <a:solidFill>
                  <a:srgbClr val="000000"/>
                </a:solidFill>
                <a:latin typeface="Calibri" panose="020F0502020204030204" pitchFamily="34" charset="0"/>
              </a:rPr>
              <a:t> (</a:t>
            </a:r>
            <a:r>
              <a:rPr lang="en-US" sz="2000" b="1" i="1" u="none" strike="noStrike" baseline="0" dirty="0">
                <a:solidFill>
                  <a:srgbClr val="C00000"/>
                </a:solidFill>
                <a:latin typeface="Calibri" panose="020F0502020204030204" pitchFamily="34" charset="0"/>
              </a:rPr>
              <a:t>Stack</a:t>
            </a:r>
            <a:r>
              <a:rPr lang="en-US" sz="2000" b="0" i="1" u="none" strike="noStrike" baseline="0" dirty="0">
                <a:solidFill>
                  <a:srgbClr val="000000"/>
                </a:solidFill>
                <a:latin typeface="Calibri" panose="020F0502020204030204" pitchFamily="34" charset="0"/>
              </a:rPr>
              <a:t>)</a:t>
            </a:r>
            <a:r>
              <a:rPr lang="el-GR" sz="2000" b="0" i="1" u="none" strike="noStrike" baseline="0" dirty="0">
                <a:solidFill>
                  <a:srgbClr val="000000"/>
                </a:solidFill>
                <a:latin typeface="Calibri" panose="020F0502020204030204" pitchFamily="34" charset="0"/>
              </a:rPr>
              <a:t>, στη συνέχεια θα τα παίρνει θα τα προσθέτει και το αποτέλεσμα θα το βάζει στη στοίβα. Από εκεί θα το παίρνει και θα το εμφανίζει στον χρήστη</a:t>
            </a:r>
            <a:r>
              <a:rPr lang="en-US" sz="2000" b="0" i="1" u="none" strike="noStrike" baseline="0" dirty="0">
                <a:solidFill>
                  <a:srgbClr val="000000"/>
                </a:solidFill>
                <a:latin typeface="Calibri" panose="020F0502020204030204" pitchFamily="34" charset="0"/>
              </a:rPr>
              <a:t> (</a:t>
            </a:r>
            <a:r>
              <a:rPr lang="en-US" sz="2000" b="1" i="1" u="none" strike="noStrike" baseline="0" dirty="0" err="1">
                <a:solidFill>
                  <a:srgbClr val="C00000"/>
                </a:solidFill>
                <a:latin typeface="Calibri" panose="020F0502020204030204" pitchFamily="34" charset="0"/>
              </a:rPr>
              <a:t>System</a:t>
            </a:r>
            <a:r>
              <a:rPr lang="en-US" sz="2000" b="0" i="1" u="none" strike="noStrike" baseline="0" dirty="0" err="1">
                <a:solidFill>
                  <a:srgbClr val="000000"/>
                </a:solidFill>
                <a:latin typeface="Calibri" panose="020F0502020204030204" pitchFamily="34" charset="0"/>
              </a:rPr>
              <a:t>.out.println</a:t>
            </a:r>
            <a:r>
              <a:rPr lang="en-US" sz="2000" b="0" i="1" u="none" strike="noStrike" baseline="0" dirty="0">
                <a:solidFill>
                  <a:srgbClr val="000000"/>
                </a:solidFill>
                <a:latin typeface="Calibri" panose="020F0502020204030204" pitchFamily="34" charset="0"/>
              </a:rPr>
              <a:t>())</a:t>
            </a:r>
            <a:r>
              <a:rPr lang="el-GR" sz="2000" b="0" i="1" u="none" strike="noStrike" baseline="0" dirty="0">
                <a:solidFill>
                  <a:srgbClr val="000000"/>
                </a:solidFill>
                <a:latin typeface="Calibri" panose="020F0502020204030204" pitchFamily="34" charset="0"/>
              </a:rPr>
              <a:t>.</a:t>
            </a:r>
            <a:endParaRPr lang="el-GR" sz="2000" dirty="0"/>
          </a:p>
          <a:p>
            <a:endParaRPr lang="el-GR" sz="2000" dirty="0"/>
          </a:p>
        </p:txBody>
      </p:sp>
    </p:spTree>
    <p:extLst>
      <p:ext uri="{BB962C8B-B14F-4D97-AF65-F5344CB8AC3E}">
        <p14:creationId xmlns:p14="http://schemas.microsoft.com/office/powerpoint/2010/main" val="37906116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dissolve">
                                      <p:cBhvr>
                                        <p:cTn id="7" dur="500"/>
                                        <p:tgtEl>
                                          <p:spTgt spid="60"/>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0" fill="hold" grpId="0" nodeType="clickEffect">
                                  <p:stCondLst>
                                    <p:cond delay="0"/>
                                  </p:stCondLst>
                                  <p:childTnLst>
                                    <p:set>
                                      <p:cBhvr>
                                        <p:cTn id="11" dur="1" fill="hold">
                                          <p:stCondLst>
                                            <p:cond delay="0"/>
                                          </p:stCondLst>
                                        </p:cTn>
                                        <p:tgtEl>
                                          <p:spTgt spid="61"/>
                                        </p:tgtEl>
                                        <p:attrNameLst>
                                          <p:attrName>style.visibility</p:attrName>
                                        </p:attrNameLst>
                                      </p:cBhvr>
                                      <p:to>
                                        <p:strVal val="visible"/>
                                      </p:to>
                                    </p:set>
                                    <p:anim calcmode="lin" valueType="num">
                                      <p:cBhvr>
                                        <p:cTn id="12" dur="500" fill="hold"/>
                                        <p:tgtEl>
                                          <p:spTgt spid="61"/>
                                        </p:tgtEl>
                                        <p:attrNameLst>
                                          <p:attrName>ppt_w</p:attrName>
                                        </p:attrNameLst>
                                      </p:cBhvr>
                                      <p:tavLst>
                                        <p:tav tm="0">
                                          <p:val>
                                            <p:fltVal val="0"/>
                                          </p:val>
                                        </p:tav>
                                        <p:tav tm="100000">
                                          <p:val>
                                            <p:strVal val="#ppt_w"/>
                                          </p:val>
                                        </p:tav>
                                      </p:tavLst>
                                    </p:anim>
                                    <p:anim calcmode="lin" valueType="num">
                                      <p:cBhvr>
                                        <p:cTn id="13" dur="500" fill="hold"/>
                                        <p:tgtEl>
                                          <p:spTgt spid="61"/>
                                        </p:tgtEl>
                                        <p:attrNameLst>
                                          <p:attrName>ppt_h</p:attrName>
                                        </p:attrNameLst>
                                      </p:cBhvr>
                                      <p:tavLst>
                                        <p:tav tm="0">
                                          <p:val>
                                            <p:fltVal val="0"/>
                                          </p:val>
                                        </p:tav>
                                        <p:tav tm="100000">
                                          <p:val>
                                            <p:strVal val="#ppt_h"/>
                                          </p:val>
                                        </p:tav>
                                      </p:tavLst>
                                    </p:anim>
                                    <p:animEffect transition="in" filter="fade">
                                      <p:cBhvr>
                                        <p:cTn id="14" dur="500"/>
                                        <p:tgtEl>
                                          <p:spTgt spid="61"/>
                                        </p:tgtEl>
                                      </p:cBhvr>
                                    </p:animEffect>
                                  </p:childTnLst>
                                </p:cTn>
                              </p:par>
                            </p:childTnLst>
                          </p:cTn>
                        </p:par>
                        <p:par>
                          <p:cTn id="15" fill="hold">
                            <p:stCondLst>
                              <p:cond delay="500"/>
                            </p:stCondLst>
                            <p:childTnLst>
                              <p:par>
                                <p:cTn id="16" presetID="3" presetClass="entr" presetSubtype="10" fill="hold" grpId="0" nodeType="afterEffect">
                                  <p:stCondLst>
                                    <p:cond delay="0"/>
                                  </p:stCondLst>
                                  <p:childTnLst>
                                    <p:set>
                                      <p:cBhvr>
                                        <p:cTn id="17" dur="1" fill="hold">
                                          <p:stCondLst>
                                            <p:cond delay="0"/>
                                          </p:stCondLst>
                                        </p:cTn>
                                        <p:tgtEl>
                                          <p:spTgt spid="62"/>
                                        </p:tgtEl>
                                        <p:attrNameLst>
                                          <p:attrName>style.visibility</p:attrName>
                                        </p:attrNameLst>
                                      </p:cBhvr>
                                      <p:to>
                                        <p:strVal val="visible"/>
                                      </p:to>
                                    </p:set>
                                    <p:animEffect transition="in" filter="blinds(horizontal)">
                                      <p:cBhvr>
                                        <p:cTn id="18"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P spid="6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n-US" sz="4000" b="1" dirty="0">
                <a:solidFill>
                  <a:srgbClr val="F9853D"/>
                </a:solidFill>
                <a:latin typeface="Bahnschrift" panose="020B0502040204020203" pitchFamily="34" charset="0"/>
              </a:rPr>
              <a:t>Calc - The constituent components</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3" name="Θέση υποσέλιδου 4">
            <a:extLst>
              <a:ext uri="{FF2B5EF4-FFF2-40B4-BE49-F238E27FC236}">
                <a16:creationId xmlns:a16="http://schemas.microsoft.com/office/drawing/2014/main" id="{C84FEE0A-EC67-F275-4254-C7380CB8525E}"/>
              </a:ext>
            </a:extLst>
          </p:cNvPr>
          <p:cNvSpPr txBox="1">
            <a:spLocks/>
          </p:cNvSpPr>
          <p:nvPr/>
        </p:nvSpPr>
        <p:spPr>
          <a:xfrm>
            <a:off x="3305908" y="6559909"/>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LEGO Approach – Part B</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grpSp>
        <p:nvGrpSpPr>
          <p:cNvPr id="4" name="Group 3">
            <a:extLst>
              <a:ext uri="{FF2B5EF4-FFF2-40B4-BE49-F238E27FC236}">
                <a16:creationId xmlns:a16="http://schemas.microsoft.com/office/drawing/2014/main" id="{59301D3E-CC7B-DCB2-F7BE-070CBA072003}"/>
              </a:ext>
            </a:extLst>
          </p:cNvPr>
          <p:cNvGrpSpPr>
            <a:grpSpLocks/>
          </p:cNvGrpSpPr>
          <p:nvPr/>
        </p:nvGrpSpPr>
        <p:grpSpPr bwMode="auto">
          <a:xfrm>
            <a:off x="4615194" y="1624909"/>
            <a:ext cx="2089150" cy="1368425"/>
            <a:chOff x="748" y="1434"/>
            <a:chExt cx="1316" cy="862"/>
          </a:xfrm>
        </p:grpSpPr>
        <p:sp>
          <p:nvSpPr>
            <p:cNvPr id="5" name="Rectangle 4">
              <a:extLst>
                <a:ext uri="{FF2B5EF4-FFF2-40B4-BE49-F238E27FC236}">
                  <a16:creationId xmlns:a16="http://schemas.microsoft.com/office/drawing/2014/main" id="{D535A486-1B0F-1DBD-13C2-E7E0A1E04108}"/>
                </a:ext>
              </a:extLst>
            </p:cNvPr>
            <p:cNvSpPr>
              <a:spLocks noChangeArrowheads="1"/>
            </p:cNvSpPr>
            <p:nvPr/>
          </p:nvSpPr>
          <p:spPr bwMode="auto">
            <a:xfrm>
              <a:off x="884" y="1570"/>
              <a:ext cx="907" cy="590"/>
            </a:xfrm>
            <a:prstGeom prst="rect">
              <a:avLst/>
            </a:prstGeom>
            <a:solidFill>
              <a:srgbClr val="00E4A8"/>
            </a:solid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Double</a:t>
              </a:r>
            </a:p>
          </p:txBody>
        </p:sp>
        <p:sp>
          <p:nvSpPr>
            <p:cNvPr id="6" name="Rectangle 5">
              <a:extLst>
                <a:ext uri="{FF2B5EF4-FFF2-40B4-BE49-F238E27FC236}">
                  <a16:creationId xmlns:a16="http://schemas.microsoft.com/office/drawing/2014/main" id="{EF09C259-ACB3-C129-A5C6-4F980EE5EA66}"/>
                </a:ext>
              </a:extLst>
            </p:cNvPr>
            <p:cNvSpPr>
              <a:spLocks noChangeArrowheads="1"/>
            </p:cNvSpPr>
            <p:nvPr/>
          </p:nvSpPr>
          <p:spPr bwMode="auto">
            <a:xfrm>
              <a:off x="1791" y="1979"/>
              <a:ext cx="273" cy="181"/>
            </a:xfrm>
            <a:prstGeom prst="rect">
              <a:avLst/>
            </a:prstGeom>
            <a:solidFill>
              <a:srgbClr val="00E4A8"/>
            </a:solid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7" name="Rectangle 6">
              <a:extLst>
                <a:ext uri="{FF2B5EF4-FFF2-40B4-BE49-F238E27FC236}">
                  <a16:creationId xmlns:a16="http://schemas.microsoft.com/office/drawing/2014/main" id="{D35BCF65-B049-2E49-8E96-D5F8E1CD714F}"/>
                </a:ext>
              </a:extLst>
            </p:cNvPr>
            <p:cNvSpPr>
              <a:spLocks noChangeArrowheads="1"/>
            </p:cNvSpPr>
            <p:nvPr/>
          </p:nvSpPr>
          <p:spPr bwMode="auto">
            <a:xfrm>
              <a:off x="1791" y="1570"/>
              <a:ext cx="273" cy="181"/>
            </a:xfrm>
            <a:prstGeom prst="rect">
              <a:avLst/>
            </a:prstGeom>
            <a:solidFill>
              <a:srgbClr val="00E4A8"/>
            </a:solid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9" name="Rectangle 7">
              <a:extLst>
                <a:ext uri="{FF2B5EF4-FFF2-40B4-BE49-F238E27FC236}">
                  <a16:creationId xmlns:a16="http://schemas.microsoft.com/office/drawing/2014/main" id="{1F3208C3-DB42-D050-C3E2-87B7D30C3085}"/>
                </a:ext>
              </a:extLst>
            </p:cNvPr>
            <p:cNvSpPr>
              <a:spLocks noChangeArrowheads="1"/>
            </p:cNvSpPr>
            <p:nvPr/>
          </p:nvSpPr>
          <p:spPr bwMode="auto">
            <a:xfrm>
              <a:off x="975" y="2160"/>
              <a:ext cx="272" cy="136"/>
            </a:xfrm>
            <a:prstGeom prst="rect">
              <a:avLst/>
            </a:prstGeom>
            <a:solidFill>
              <a:srgbClr val="00E4A8"/>
            </a:solid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2" name="Rectangle 8">
              <a:extLst>
                <a:ext uri="{FF2B5EF4-FFF2-40B4-BE49-F238E27FC236}">
                  <a16:creationId xmlns:a16="http://schemas.microsoft.com/office/drawing/2014/main" id="{528D1682-AD72-7D79-3AB8-EC6A1340E08E}"/>
                </a:ext>
              </a:extLst>
            </p:cNvPr>
            <p:cNvSpPr>
              <a:spLocks noChangeArrowheads="1"/>
            </p:cNvSpPr>
            <p:nvPr/>
          </p:nvSpPr>
          <p:spPr bwMode="auto">
            <a:xfrm>
              <a:off x="1429" y="2160"/>
              <a:ext cx="272" cy="136"/>
            </a:xfrm>
            <a:prstGeom prst="rect">
              <a:avLst/>
            </a:prstGeom>
            <a:solidFill>
              <a:srgbClr val="00E4A8"/>
            </a:solid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3" name="Rectangle 9">
              <a:extLst>
                <a:ext uri="{FF2B5EF4-FFF2-40B4-BE49-F238E27FC236}">
                  <a16:creationId xmlns:a16="http://schemas.microsoft.com/office/drawing/2014/main" id="{5E06A2CA-3456-FA08-F8F5-F9974744D8C8}"/>
                </a:ext>
              </a:extLst>
            </p:cNvPr>
            <p:cNvSpPr>
              <a:spLocks noChangeArrowheads="1"/>
            </p:cNvSpPr>
            <p:nvPr/>
          </p:nvSpPr>
          <p:spPr bwMode="auto">
            <a:xfrm>
              <a:off x="1111" y="1434"/>
              <a:ext cx="272" cy="136"/>
            </a:xfrm>
            <a:prstGeom prst="rect">
              <a:avLst/>
            </a:prstGeom>
            <a:solidFill>
              <a:srgbClr val="00E4A8"/>
            </a:solid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4" name="Rectangle 10">
              <a:extLst>
                <a:ext uri="{FF2B5EF4-FFF2-40B4-BE49-F238E27FC236}">
                  <a16:creationId xmlns:a16="http://schemas.microsoft.com/office/drawing/2014/main" id="{62310130-77A1-DDC9-C4F4-350B3231BF19}"/>
                </a:ext>
              </a:extLst>
            </p:cNvPr>
            <p:cNvSpPr>
              <a:spLocks noChangeArrowheads="1"/>
            </p:cNvSpPr>
            <p:nvPr/>
          </p:nvSpPr>
          <p:spPr bwMode="auto">
            <a:xfrm>
              <a:off x="748" y="1706"/>
              <a:ext cx="136" cy="318"/>
            </a:xfrm>
            <a:prstGeom prst="rect">
              <a:avLst/>
            </a:prstGeom>
            <a:solidFill>
              <a:srgbClr val="00E4A8"/>
            </a:solid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grpSp>
      <p:grpSp>
        <p:nvGrpSpPr>
          <p:cNvPr id="15" name="Group 11">
            <a:extLst>
              <a:ext uri="{FF2B5EF4-FFF2-40B4-BE49-F238E27FC236}">
                <a16:creationId xmlns:a16="http://schemas.microsoft.com/office/drawing/2014/main" id="{446B5785-F7EB-0BD1-D47F-34277E46EA92}"/>
              </a:ext>
            </a:extLst>
          </p:cNvPr>
          <p:cNvGrpSpPr>
            <a:grpSpLocks/>
          </p:cNvGrpSpPr>
          <p:nvPr/>
        </p:nvGrpSpPr>
        <p:grpSpPr bwMode="auto">
          <a:xfrm>
            <a:off x="4884589" y="4162344"/>
            <a:ext cx="2089150" cy="1368425"/>
            <a:chOff x="748" y="1434"/>
            <a:chExt cx="1316" cy="862"/>
          </a:xfrm>
        </p:grpSpPr>
        <p:sp>
          <p:nvSpPr>
            <p:cNvPr id="16" name="Rectangle 12">
              <a:extLst>
                <a:ext uri="{FF2B5EF4-FFF2-40B4-BE49-F238E27FC236}">
                  <a16:creationId xmlns:a16="http://schemas.microsoft.com/office/drawing/2014/main" id="{B69B237F-5F71-0E8D-AAEF-49FFB930BC0D}"/>
                </a:ext>
              </a:extLst>
            </p:cNvPr>
            <p:cNvSpPr>
              <a:spLocks noChangeArrowheads="1"/>
            </p:cNvSpPr>
            <p:nvPr/>
          </p:nvSpPr>
          <p:spPr bwMode="auto">
            <a:xfrm>
              <a:off x="884" y="1570"/>
              <a:ext cx="907" cy="590"/>
            </a:xfrm>
            <a:prstGeom prst="rect">
              <a:avLst/>
            </a:prstGeom>
            <a:solidFill>
              <a:srgbClr val="11C1D3"/>
            </a:solid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a:ln>
                    <a:noFill/>
                  </a:ln>
                  <a:solidFill>
                    <a:srgbClr val="000000"/>
                  </a:solidFill>
                  <a:effectLst/>
                  <a:uLnTx/>
                  <a:uFillTx/>
                  <a:latin typeface="Tahoma" panose="020B0604030504040204" pitchFamily="34" charset="0"/>
                </a:rPr>
                <a:t>Stack</a:t>
              </a:r>
            </a:p>
          </p:txBody>
        </p:sp>
        <p:sp>
          <p:nvSpPr>
            <p:cNvPr id="17" name="Rectangle 13">
              <a:extLst>
                <a:ext uri="{FF2B5EF4-FFF2-40B4-BE49-F238E27FC236}">
                  <a16:creationId xmlns:a16="http://schemas.microsoft.com/office/drawing/2014/main" id="{A2B9404E-04FD-C40B-83D6-65178059F6F8}"/>
                </a:ext>
              </a:extLst>
            </p:cNvPr>
            <p:cNvSpPr>
              <a:spLocks noChangeArrowheads="1"/>
            </p:cNvSpPr>
            <p:nvPr/>
          </p:nvSpPr>
          <p:spPr bwMode="auto">
            <a:xfrm>
              <a:off x="1791" y="1979"/>
              <a:ext cx="273" cy="181"/>
            </a:xfrm>
            <a:prstGeom prst="rect">
              <a:avLst/>
            </a:prstGeom>
            <a:solidFill>
              <a:srgbClr val="11C1D3"/>
            </a:solid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8" name="Rectangle 14">
              <a:extLst>
                <a:ext uri="{FF2B5EF4-FFF2-40B4-BE49-F238E27FC236}">
                  <a16:creationId xmlns:a16="http://schemas.microsoft.com/office/drawing/2014/main" id="{379A4BA4-D802-5C3C-C071-C7C10076E0E3}"/>
                </a:ext>
              </a:extLst>
            </p:cNvPr>
            <p:cNvSpPr>
              <a:spLocks noChangeArrowheads="1"/>
            </p:cNvSpPr>
            <p:nvPr/>
          </p:nvSpPr>
          <p:spPr bwMode="auto">
            <a:xfrm>
              <a:off x="1791" y="1570"/>
              <a:ext cx="273" cy="181"/>
            </a:xfrm>
            <a:prstGeom prst="rect">
              <a:avLst/>
            </a:prstGeom>
            <a:solidFill>
              <a:srgbClr val="11C1D3"/>
            </a:solid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9" name="Rectangle 15">
              <a:extLst>
                <a:ext uri="{FF2B5EF4-FFF2-40B4-BE49-F238E27FC236}">
                  <a16:creationId xmlns:a16="http://schemas.microsoft.com/office/drawing/2014/main" id="{A1EB9645-B46F-9642-EAE6-0A2B185FD90C}"/>
                </a:ext>
              </a:extLst>
            </p:cNvPr>
            <p:cNvSpPr>
              <a:spLocks noChangeArrowheads="1"/>
            </p:cNvSpPr>
            <p:nvPr/>
          </p:nvSpPr>
          <p:spPr bwMode="auto">
            <a:xfrm>
              <a:off x="975" y="2160"/>
              <a:ext cx="272" cy="136"/>
            </a:xfrm>
            <a:prstGeom prst="rect">
              <a:avLst/>
            </a:prstGeom>
            <a:solidFill>
              <a:srgbClr val="11C1D3"/>
            </a:solid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0" name="Rectangle 16">
              <a:extLst>
                <a:ext uri="{FF2B5EF4-FFF2-40B4-BE49-F238E27FC236}">
                  <a16:creationId xmlns:a16="http://schemas.microsoft.com/office/drawing/2014/main" id="{CF2F743A-8ACF-7FD9-11DF-A221E5E04BBC}"/>
                </a:ext>
              </a:extLst>
            </p:cNvPr>
            <p:cNvSpPr>
              <a:spLocks noChangeArrowheads="1"/>
            </p:cNvSpPr>
            <p:nvPr/>
          </p:nvSpPr>
          <p:spPr bwMode="auto">
            <a:xfrm>
              <a:off x="1429" y="2160"/>
              <a:ext cx="272" cy="136"/>
            </a:xfrm>
            <a:prstGeom prst="rect">
              <a:avLst/>
            </a:prstGeom>
            <a:solidFill>
              <a:srgbClr val="11C1D3"/>
            </a:solid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1" name="Rectangle 17">
              <a:extLst>
                <a:ext uri="{FF2B5EF4-FFF2-40B4-BE49-F238E27FC236}">
                  <a16:creationId xmlns:a16="http://schemas.microsoft.com/office/drawing/2014/main" id="{7C6F53B0-0901-94D7-1F1A-143057991DDA}"/>
                </a:ext>
              </a:extLst>
            </p:cNvPr>
            <p:cNvSpPr>
              <a:spLocks noChangeArrowheads="1"/>
            </p:cNvSpPr>
            <p:nvPr/>
          </p:nvSpPr>
          <p:spPr bwMode="auto">
            <a:xfrm>
              <a:off x="1111" y="1434"/>
              <a:ext cx="272" cy="136"/>
            </a:xfrm>
            <a:prstGeom prst="rect">
              <a:avLst/>
            </a:prstGeom>
            <a:solidFill>
              <a:srgbClr val="11C1D3"/>
            </a:solid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2" name="Rectangle 18">
              <a:extLst>
                <a:ext uri="{FF2B5EF4-FFF2-40B4-BE49-F238E27FC236}">
                  <a16:creationId xmlns:a16="http://schemas.microsoft.com/office/drawing/2014/main" id="{AFD3D9EF-BA98-43A9-03E1-7A683FE5F92E}"/>
                </a:ext>
              </a:extLst>
            </p:cNvPr>
            <p:cNvSpPr>
              <a:spLocks noChangeArrowheads="1"/>
            </p:cNvSpPr>
            <p:nvPr/>
          </p:nvSpPr>
          <p:spPr bwMode="auto">
            <a:xfrm>
              <a:off x="748" y="1706"/>
              <a:ext cx="136" cy="318"/>
            </a:xfrm>
            <a:prstGeom prst="rect">
              <a:avLst/>
            </a:prstGeom>
            <a:solidFill>
              <a:srgbClr val="11C1D3"/>
            </a:solid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grpSp>
      <p:grpSp>
        <p:nvGrpSpPr>
          <p:cNvPr id="23" name="Group 19">
            <a:extLst>
              <a:ext uri="{FF2B5EF4-FFF2-40B4-BE49-F238E27FC236}">
                <a16:creationId xmlns:a16="http://schemas.microsoft.com/office/drawing/2014/main" id="{357DC80E-8E70-3240-31CE-BC05527DDF50}"/>
              </a:ext>
            </a:extLst>
          </p:cNvPr>
          <p:cNvGrpSpPr>
            <a:grpSpLocks/>
          </p:cNvGrpSpPr>
          <p:nvPr/>
        </p:nvGrpSpPr>
        <p:grpSpPr bwMode="auto">
          <a:xfrm>
            <a:off x="7188052" y="2807449"/>
            <a:ext cx="2089150" cy="1368425"/>
            <a:chOff x="748" y="1434"/>
            <a:chExt cx="1316" cy="862"/>
          </a:xfrm>
        </p:grpSpPr>
        <p:sp>
          <p:nvSpPr>
            <p:cNvPr id="24" name="Rectangle 20">
              <a:extLst>
                <a:ext uri="{FF2B5EF4-FFF2-40B4-BE49-F238E27FC236}">
                  <a16:creationId xmlns:a16="http://schemas.microsoft.com/office/drawing/2014/main" id="{DBF8BDFF-6187-2076-913E-CB44435C64F6}"/>
                </a:ext>
              </a:extLst>
            </p:cNvPr>
            <p:cNvSpPr>
              <a:spLocks noChangeArrowheads="1"/>
            </p:cNvSpPr>
            <p:nvPr/>
          </p:nvSpPr>
          <p:spPr bwMode="auto">
            <a:xfrm>
              <a:off x="884" y="1570"/>
              <a:ext cx="907" cy="590"/>
            </a:xfrm>
            <a:prstGeom prst="rect">
              <a:avLst/>
            </a:prstGeom>
            <a:solidFill>
              <a:srgbClr val="FFCF01"/>
            </a:solid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System</a:t>
              </a:r>
            </a:p>
          </p:txBody>
        </p:sp>
        <p:sp>
          <p:nvSpPr>
            <p:cNvPr id="25" name="Rectangle 21">
              <a:extLst>
                <a:ext uri="{FF2B5EF4-FFF2-40B4-BE49-F238E27FC236}">
                  <a16:creationId xmlns:a16="http://schemas.microsoft.com/office/drawing/2014/main" id="{0D3C96B6-2705-5609-5D9D-04BAD307F8B2}"/>
                </a:ext>
              </a:extLst>
            </p:cNvPr>
            <p:cNvSpPr>
              <a:spLocks noChangeArrowheads="1"/>
            </p:cNvSpPr>
            <p:nvPr/>
          </p:nvSpPr>
          <p:spPr bwMode="auto">
            <a:xfrm>
              <a:off x="1791" y="1979"/>
              <a:ext cx="273" cy="181"/>
            </a:xfrm>
            <a:prstGeom prst="rect">
              <a:avLst/>
            </a:prstGeom>
            <a:solidFill>
              <a:srgbClr val="FFCF01"/>
            </a:solid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6" name="Rectangle 22">
              <a:extLst>
                <a:ext uri="{FF2B5EF4-FFF2-40B4-BE49-F238E27FC236}">
                  <a16:creationId xmlns:a16="http://schemas.microsoft.com/office/drawing/2014/main" id="{F6228BAE-B469-9114-4FA2-1ACF9171F82D}"/>
                </a:ext>
              </a:extLst>
            </p:cNvPr>
            <p:cNvSpPr>
              <a:spLocks noChangeArrowheads="1"/>
            </p:cNvSpPr>
            <p:nvPr/>
          </p:nvSpPr>
          <p:spPr bwMode="auto">
            <a:xfrm>
              <a:off x="1791" y="1570"/>
              <a:ext cx="273" cy="181"/>
            </a:xfrm>
            <a:prstGeom prst="rect">
              <a:avLst/>
            </a:prstGeom>
            <a:solidFill>
              <a:srgbClr val="FFCF01"/>
            </a:solid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7" name="Rectangle 23">
              <a:extLst>
                <a:ext uri="{FF2B5EF4-FFF2-40B4-BE49-F238E27FC236}">
                  <a16:creationId xmlns:a16="http://schemas.microsoft.com/office/drawing/2014/main" id="{7519734F-7E34-A927-FD56-4AED99CDAD9B}"/>
                </a:ext>
              </a:extLst>
            </p:cNvPr>
            <p:cNvSpPr>
              <a:spLocks noChangeArrowheads="1"/>
            </p:cNvSpPr>
            <p:nvPr/>
          </p:nvSpPr>
          <p:spPr bwMode="auto">
            <a:xfrm>
              <a:off x="975" y="2160"/>
              <a:ext cx="272" cy="136"/>
            </a:xfrm>
            <a:prstGeom prst="rect">
              <a:avLst/>
            </a:prstGeom>
            <a:solidFill>
              <a:srgbClr val="FFCF01"/>
            </a:solid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8" name="Rectangle 24">
              <a:extLst>
                <a:ext uri="{FF2B5EF4-FFF2-40B4-BE49-F238E27FC236}">
                  <a16:creationId xmlns:a16="http://schemas.microsoft.com/office/drawing/2014/main" id="{2872261B-94B3-5572-F33E-1432CCFE5F78}"/>
                </a:ext>
              </a:extLst>
            </p:cNvPr>
            <p:cNvSpPr>
              <a:spLocks noChangeArrowheads="1"/>
            </p:cNvSpPr>
            <p:nvPr/>
          </p:nvSpPr>
          <p:spPr bwMode="auto">
            <a:xfrm>
              <a:off x="1429" y="2160"/>
              <a:ext cx="272" cy="136"/>
            </a:xfrm>
            <a:prstGeom prst="rect">
              <a:avLst/>
            </a:prstGeom>
            <a:solidFill>
              <a:srgbClr val="FFCF01"/>
            </a:solid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9" name="Rectangle 25">
              <a:extLst>
                <a:ext uri="{FF2B5EF4-FFF2-40B4-BE49-F238E27FC236}">
                  <a16:creationId xmlns:a16="http://schemas.microsoft.com/office/drawing/2014/main" id="{64C1FDB4-1335-9FB8-97BA-3F63A53F16EF}"/>
                </a:ext>
              </a:extLst>
            </p:cNvPr>
            <p:cNvSpPr>
              <a:spLocks noChangeArrowheads="1"/>
            </p:cNvSpPr>
            <p:nvPr/>
          </p:nvSpPr>
          <p:spPr bwMode="auto">
            <a:xfrm>
              <a:off x="1111" y="1434"/>
              <a:ext cx="272" cy="136"/>
            </a:xfrm>
            <a:prstGeom prst="rect">
              <a:avLst/>
            </a:prstGeom>
            <a:solidFill>
              <a:srgbClr val="FFCF01"/>
            </a:solid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30" name="Rectangle 26">
              <a:extLst>
                <a:ext uri="{FF2B5EF4-FFF2-40B4-BE49-F238E27FC236}">
                  <a16:creationId xmlns:a16="http://schemas.microsoft.com/office/drawing/2014/main" id="{4E4BE366-A6D9-E4F7-C9C4-A001FBA84260}"/>
                </a:ext>
              </a:extLst>
            </p:cNvPr>
            <p:cNvSpPr>
              <a:spLocks noChangeArrowheads="1"/>
            </p:cNvSpPr>
            <p:nvPr/>
          </p:nvSpPr>
          <p:spPr bwMode="auto">
            <a:xfrm>
              <a:off x="748" y="1706"/>
              <a:ext cx="136" cy="318"/>
            </a:xfrm>
            <a:prstGeom prst="rect">
              <a:avLst/>
            </a:prstGeom>
            <a:solidFill>
              <a:srgbClr val="FFCF01"/>
            </a:solidFill>
            <a:ln w="9525">
              <a:solidFill>
                <a:srgbClr val="128F05"/>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grpSp>
      <p:sp>
        <p:nvSpPr>
          <p:cNvPr id="31" name="TextBox 35">
            <a:extLst>
              <a:ext uri="{FF2B5EF4-FFF2-40B4-BE49-F238E27FC236}">
                <a16:creationId xmlns:a16="http://schemas.microsoft.com/office/drawing/2014/main" id="{6157D9B7-B12F-50E2-D7CD-8EF42653A8E7}"/>
              </a:ext>
            </a:extLst>
          </p:cNvPr>
          <p:cNvSpPr txBox="1">
            <a:spLocks noChangeArrowheads="1"/>
          </p:cNvSpPr>
          <p:nvPr/>
        </p:nvSpPr>
        <p:spPr bwMode="auto">
          <a:xfrm>
            <a:off x="6586368" y="863162"/>
            <a:ext cx="31210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C00000"/>
                </a:solidFill>
                <a:effectLst/>
                <a:uLnTx/>
                <a:uFillTx/>
                <a:latin typeface="Tahoma" panose="020B0604030504040204" pitchFamily="34" charset="0"/>
              </a:rPr>
              <a:t>Edit-time vs. run-time</a:t>
            </a:r>
            <a:endParaRPr kumimoji="0" lang="el-GR" altLang="el-GR" sz="2400" b="0" i="0" u="none" strike="noStrike" kern="0" cap="none" spc="0" normalizeH="0" baseline="0" noProof="0" dirty="0">
              <a:ln>
                <a:noFill/>
              </a:ln>
              <a:solidFill>
                <a:srgbClr val="C00000"/>
              </a:solidFill>
              <a:effectLst/>
              <a:uLnTx/>
              <a:uFillTx/>
              <a:latin typeface="Tahoma" panose="020B0604030504040204" pitchFamily="34" charset="0"/>
            </a:endParaRPr>
          </a:p>
        </p:txBody>
      </p:sp>
      <p:sp>
        <p:nvSpPr>
          <p:cNvPr id="32" name="TextBox 31">
            <a:extLst>
              <a:ext uri="{FF2B5EF4-FFF2-40B4-BE49-F238E27FC236}">
                <a16:creationId xmlns:a16="http://schemas.microsoft.com/office/drawing/2014/main" id="{8D93552F-7155-4952-82B1-654D63D45E7D}"/>
              </a:ext>
            </a:extLst>
          </p:cNvPr>
          <p:cNvSpPr txBox="1"/>
          <p:nvPr/>
        </p:nvSpPr>
        <p:spPr>
          <a:xfrm>
            <a:off x="4855088" y="3231603"/>
            <a:ext cx="1407821" cy="461665"/>
          </a:xfrm>
          <a:prstGeom prst="rect">
            <a:avLst/>
          </a:prstGeom>
          <a:noFill/>
        </p:spPr>
        <p:txBody>
          <a:bodyPr wrap="none" rtlCol="0">
            <a:spAutoFit/>
          </a:bodyPr>
          <a:lstStyle/>
          <a:p>
            <a:pPr fontAlgn="base">
              <a:spcBef>
                <a:spcPct val="0"/>
              </a:spcBef>
              <a:spcAft>
                <a:spcPct val="0"/>
              </a:spcAft>
            </a:pPr>
            <a:r>
              <a:rPr lang="en-US" sz="2400" dirty="0" err="1">
                <a:solidFill>
                  <a:srgbClr val="000000"/>
                </a:solidFill>
                <a:latin typeface="Tahoma" panose="020B0604030504040204" pitchFamily="34" charset="0"/>
              </a:rPr>
              <a:t>java.lang</a:t>
            </a:r>
            <a:endParaRPr lang="el-GR" sz="2400" dirty="0">
              <a:solidFill>
                <a:srgbClr val="000000"/>
              </a:solidFill>
              <a:latin typeface="Tahoma" panose="020B0604030504040204" pitchFamily="34" charset="0"/>
            </a:endParaRPr>
          </a:p>
        </p:txBody>
      </p:sp>
      <p:sp>
        <p:nvSpPr>
          <p:cNvPr id="33" name="TextBox 32">
            <a:extLst>
              <a:ext uri="{FF2B5EF4-FFF2-40B4-BE49-F238E27FC236}">
                <a16:creationId xmlns:a16="http://schemas.microsoft.com/office/drawing/2014/main" id="{10193606-F0E1-9EBD-5EEB-7FFFD91D1470}"/>
              </a:ext>
            </a:extLst>
          </p:cNvPr>
          <p:cNvSpPr txBox="1"/>
          <p:nvPr/>
        </p:nvSpPr>
        <p:spPr>
          <a:xfrm>
            <a:off x="7548415" y="4321924"/>
            <a:ext cx="1407821" cy="461665"/>
          </a:xfrm>
          <a:prstGeom prst="rect">
            <a:avLst/>
          </a:prstGeom>
          <a:noFill/>
        </p:spPr>
        <p:txBody>
          <a:bodyPr wrap="none" rtlCol="0">
            <a:spAutoFit/>
          </a:bodyPr>
          <a:lstStyle/>
          <a:p>
            <a:pPr fontAlgn="base">
              <a:spcBef>
                <a:spcPct val="0"/>
              </a:spcBef>
              <a:spcAft>
                <a:spcPct val="0"/>
              </a:spcAft>
            </a:pPr>
            <a:r>
              <a:rPr lang="en-US" sz="2400" dirty="0" err="1">
                <a:solidFill>
                  <a:srgbClr val="000000"/>
                </a:solidFill>
                <a:latin typeface="Tahoma" panose="020B0604030504040204" pitchFamily="34" charset="0"/>
              </a:rPr>
              <a:t>java.lang</a:t>
            </a:r>
            <a:endParaRPr lang="el-GR" sz="2400" dirty="0">
              <a:solidFill>
                <a:srgbClr val="000000"/>
              </a:solidFill>
              <a:latin typeface="Tahoma" panose="020B0604030504040204" pitchFamily="34" charset="0"/>
            </a:endParaRPr>
          </a:p>
        </p:txBody>
      </p:sp>
      <p:sp>
        <p:nvSpPr>
          <p:cNvPr id="34" name="TextBox 33">
            <a:extLst>
              <a:ext uri="{FF2B5EF4-FFF2-40B4-BE49-F238E27FC236}">
                <a16:creationId xmlns:a16="http://schemas.microsoft.com/office/drawing/2014/main" id="{D24BAB84-68D8-BDE2-8CB2-9907C109E783}"/>
              </a:ext>
            </a:extLst>
          </p:cNvPr>
          <p:cNvSpPr txBox="1"/>
          <p:nvPr/>
        </p:nvSpPr>
        <p:spPr>
          <a:xfrm>
            <a:off x="5248058" y="5696247"/>
            <a:ext cx="2584588" cy="461665"/>
          </a:xfrm>
          <a:prstGeom prst="rect">
            <a:avLst/>
          </a:prstGeom>
          <a:noFill/>
        </p:spPr>
        <p:txBody>
          <a:bodyPr wrap="square" rtlCol="0">
            <a:spAutoFit/>
          </a:bodyPr>
          <a:lstStyle/>
          <a:p>
            <a:pPr fontAlgn="base">
              <a:spcBef>
                <a:spcPct val="0"/>
              </a:spcBef>
              <a:spcAft>
                <a:spcPct val="0"/>
              </a:spcAft>
            </a:pPr>
            <a:r>
              <a:rPr lang="en-US" sz="2400" dirty="0" err="1">
                <a:solidFill>
                  <a:srgbClr val="000000"/>
                </a:solidFill>
                <a:latin typeface="Tahoma" panose="020B0604030504040204" pitchFamily="34" charset="0"/>
              </a:rPr>
              <a:t>Java.util</a:t>
            </a:r>
            <a:endParaRPr lang="el-GR" sz="2400" dirty="0">
              <a:solidFill>
                <a:srgbClr val="000000"/>
              </a:solidFill>
              <a:latin typeface="Tahoma" panose="020B0604030504040204" pitchFamily="34" charset="0"/>
            </a:endParaRPr>
          </a:p>
        </p:txBody>
      </p:sp>
      <p:sp>
        <p:nvSpPr>
          <p:cNvPr id="35" name="TextBox 34">
            <a:extLst>
              <a:ext uri="{FF2B5EF4-FFF2-40B4-BE49-F238E27FC236}">
                <a16:creationId xmlns:a16="http://schemas.microsoft.com/office/drawing/2014/main" id="{A479EB12-356D-E8F5-EE52-3E50F337C407}"/>
              </a:ext>
            </a:extLst>
          </p:cNvPr>
          <p:cNvSpPr txBox="1"/>
          <p:nvPr/>
        </p:nvSpPr>
        <p:spPr>
          <a:xfrm>
            <a:off x="80016" y="2054570"/>
            <a:ext cx="4183238" cy="3293209"/>
          </a:xfrm>
          <a:prstGeom prst="rect">
            <a:avLst/>
          </a:prstGeom>
          <a:noFill/>
        </p:spPr>
        <p:txBody>
          <a:bodyPr wrap="square" rtlCol="0">
            <a:spAutoFit/>
          </a:bodyPr>
          <a:lstStyle/>
          <a:p>
            <a:r>
              <a:rPr lang="el-GR" sz="2000" i="1" dirty="0">
                <a:solidFill>
                  <a:srgbClr val="000000"/>
                </a:solidFill>
                <a:latin typeface="Calibri" panose="020F0502020204030204" pitchFamily="34" charset="0"/>
              </a:rPr>
              <a:t>Γ</a:t>
            </a:r>
            <a:r>
              <a:rPr lang="el-GR" sz="2000" b="0" i="1" u="none" strike="noStrike" baseline="0" dirty="0">
                <a:solidFill>
                  <a:srgbClr val="000000"/>
                </a:solidFill>
                <a:latin typeface="Calibri" panose="020F0502020204030204" pitchFamily="34" charset="0"/>
              </a:rPr>
              <a:t>ράψτε ένα </a:t>
            </a:r>
            <a:r>
              <a:rPr lang="el-GR" sz="2400" b="1" i="1" u="none" strike="noStrike" baseline="0" dirty="0">
                <a:solidFill>
                  <a:srgbClr val="C00000"/>
                </a:solidFill>
                <a:latin typeface="Calibri" panose="020F0502020204030204" pitchFamily="34" charset="0"/>
              </a:rPr>
              <a:t>πρόγραμμα</a:t>
            </a:r>
            <a:r>
              <a:rPr lang="el-GR" sz="2000" b="0" i="1" u="none" strike="noStrike" baseline="0" dirty="0">
                <a:solidFill>
                  <a:srgbClr val="000000"/>
                </a:solidFill>
                <a:latin typeface="Calibri" panose="020F0502020204030204" pitchFamily="34" charset="0"/>
              </a:rPr>
              <a:t> σύμφωνα με το οποίο το σύστημα θα</a:t>
            </a:r>
            <a:r>
              <a:rPr lang="en-US" sz="2000" b="0" i="1" u="none" strike="noStrike" baseline="0" dirty="0">
                <a:solidFill>
                  <a:srgbClr val="000000"/>
                </a:solidFill>
                <a:latin typeface="Calibri" panose="020F0502020204030204" pitchFamily="34" charset="0"/>
              </a:rPr>
              <a:t> </a:t>
            </a:r>
            <a:r>
              <a:rPr lang="el-GR" sz="2000" b="0" i="1" u="none" strike="noStrike" baseline="0" dirty="0">
                <a:solidFill>
                  <a:srgbClr val="000000"/>
                </a:solidFill>
                <a:latin typeface="Calibri" panose="020F0502020204030204" pitchFamily="34" charset="0"/>
              </a:rPr>
              <a:t>δημιουργεί δύο στιγμιότυπα </a:t>
            </a:r>
            <a:r>
              <a:rPr lang="el-GR" sz="2000" b="1" i="1" u="none" strike="noStrike" baseline="0" dirty="0" err="1">
                <a:solidFill>
                  <a:srgbClr val="C00000"/>
                </a:solidFill>
                <a:latin typeface="Calibri" panose="020F0502020204030204" pitchFamily="34" charset="0"/>
              </a:rPr>
              <a:t>Double</a:t>
            </a:r>
            <a:r>
              <a:rPr lang="el-GR" sz="2000" b="0" i="1" u="none" strike="noStrike" baseline="0" dirty="0">
                <a:solidFill>
                  <a:srgbClr val="000000"/>
                </a:solidFill>
                <a:latin typeface="Calibri" panose="020F0502020204030204" pitchFamily="34" charset="0"/>
              </a:rPr>
              <a:t>, θα τα βάζει στη στοίβα</a:t>
            </a:r>
            <a:r>
              <a:rPr lang="en-US" sz="2000" b="0" i="1" u="none" strike="noStrike" baseline="0" dirty="0">
                <a:solidFill>
                  <a:srgbClr val="000000"/>
                </a:solidFill>
                <a:latin typeface="Calibri" panose="020F0502020204030204" pitchFamily="34" charset="0"/>
              </a:rPr>
              <a:t> (</a:t>
            </a:r>
            <a:r>
              <a:rPr lang="en-US" sz="2000" b="1" i="1" u="none" strike="noStrike" baseline="0" dirty="0">
                <a:solidFill>
                  <a:srgbClr val="C00000"/>
                </a:solidFill>
                <a:latin typeface="Calibri" panose="020F0502020204030204" pitchFamily="34" charset="0"/>
              </a:rPr>
              <a:t>Stack</a:t>
            </a:r>
            <a:r>
              <a:rPr lang="en-US" sz="2000" b="0" i="1" u="none" strike="noStrike" baseline="0" dirty="0">
                <a:solidFill>
                  <a:srgbClr val="000000"/>
                </a:solidFill>
                <a:latin typeface="Calibri" panose="020F0502020204030204" pitchFamily="34" charset="0"/>
              </a:rPr>
              <a:t>)</a:t>
            </a:r>
            <a:r>
              <a:rPr lang="el-GR" sz="2000" b="0" i="1" u="none" strike="noStrike" baseline="0" dirty="0">
                <a:solidFill>
                  <a:srgbClr val="000000"/>
                </a:solidFill>
                <a:latin typeface="Calibri" panose="020F0502020204030204" pitchFamily="34" charset="0"/>
              </a:rPr>
              <a:t>, στη συνέχεια θα τα παίρνει θα τα προσθέτει και το αποτέλεσμα θα το βάζει στη στοίβα. Από εκεί θα το παίρνει και θα το εμφανίζει στον χρήστη</a:t>
            </a:r>
            <a:r>
              <a:rPr lang="en-US" sz="2000" b="0" i="1" u="none" strike="noStrike" baseline="0" dirty="0">
                <a:solidFill>
                  <a:srgbClr val="000000"/>
                </a:solidFill>
                <a:latin typeface="Calibri" panose="020F0502020204030204" pitchFamily="34" charset="0"/>
              </a:rPr>
              <a:t> (</a:t>
            </a:r>
            <a:r>
              <a:rPr lang="en-US" sz="2000" b="1" i="1" u="none" strike="noStrike" baseline="0" dirty="0" err="1">
                <a:solidFill>
                  <a:srgbClr val="C00000"/>
                </a:solidFill>
                <a:latin typeface="Calibri" panose="020F0502020204030204" pitchFamily="34" charset="0"/>
              </a:rPr>
              <a:t>System</a:t>
            </a:r>
            <a:r>
              <a:rPr lang="en-US" sz="2000" b="0" i="1" u="none" strike="noStrike" baseline="0" dirty="0" err="1">
                <a:solidFill>
                  <a:srgbClr val="000000"/>
                </a:solidFill>
                <a:latin typeface="Calibri" panose="020F0502020204030204" pitchFamily="34" charset="0"/>
              </a:rPr>
              <a:t>.out.println</a:t>
            </a:r>
            <a:r>
              <a:rPr lang="en-US" sz="2000" b="0" i="1" u="none" strike="noStrike" baseline="0" dirty="0">
                <a:solidFill>
                  <a:srgbClr val="000000"/>
                </a:solidFill>
                <a:latin typeface="Calibri" panose="020F0502020204030204" pitchFamily="34" charset="0"/>
              </a:rPr>
              <a:t>())</a:t>
            </a:r>
            <a:r>
              <a:rPr lang="el-GR" sz="2000" b="0" i="1" u="none" strike="noStrike" baseline="0" dirty="0">
                <a:solidFill>
                  <a:srgbClr val="000000"/>
                </a:solidFill>
                <a:latin typeface="Calibri" panose="020F0502020204030204" pitchFamily="34" charset="0"/>
              </a:rPr>
              <a:t>.</a:t>
            </a:r>
            <a:endParaRPr lang="el-GR" sz="2000" dirty="0"/>
          </a:p>
          <a:p>
            <a:endParaRPr lang="el-GR" sz="2000" dirty="0"/>
          </a:p>
        </p:txBody>
      </p:sp>
      <p:sp>
        <p:nvSpPr>
          <p:cNvPr id="37" name="Text Box 28">
            <a:extLst>
              <a:ext uri="{FF2B5EF4-FFF2-40B4-BE49-F238E27FC236}">
                <a16:creationId xmlns:a16="http://schemas.microsoft.com/office/drawing/2014/main" id="{4E52990F-E7DA-2276-56B6-CDF54643A06F}"/>
              </a:ext>
            </a:extLst>
          </p:cNvPr>
          <p:cNvSpPr txBox="1">
            <a:spLocks noChangeArrowheads="1"/>
          </p:cNvSpPr>
          <p:nvPr/>
        </p:nvSpPr>
        <p:spPr bwMode="auto">
          <a:xfrm>
            <a:off x="9707393" y="1637624"/>
            <a:ext cx="243047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New Component</a:t>
            </a:r>
          </a:p>
        </p:txBody>
      </p:sp>
      <p:pic>
        <p:nvPicPr>
          <p:cNvPr id="46" name="Picture 45">
            <a:extLst>
              <a:ext uri="{FF2B5EF4-FFF2-40B4-BE49-F238E27FC236}">
                <a16:creationId xmlns:a16="http://schemas.microsoft.com/office/drawing/2014/main" id="{C8A3A2BE-E4DC-FF2A-BD1E-02FA3BF40929}"/>
              </a:ext>
            </a:extLst>
          </p:cNvPr>
          <p:cNvPicPr>
            <a:picLocks noChangeAspect="1"/>
          </p:cNvPicPr>
          <p:nvPr/>
        </p:nvPicPr>
        <p:blipFill>
          <a:blip r:embed="rId3"/>
          <a:stretch>
            <a:fillRect/>
          </a:stretch>
        </p:blipFill>
        <p:spPr>
          <a:xfrm>
            <a:off x="10011620" y="2175681"/>
            <a:ext cx="1886460" cy="1568393"/>
          </a:xfrm>
          <a:prstGeom prst="rect">
            <a:avLst/>
          </a:prstGeom>
        </p:spPr>
      </p:pic>
    </p:spTree>
    <p:extLst>
      <p:ext uri="{BB962C8B-B14F-4D97-AF65-F5344CB8AC3E}">
        <p14:creationId xmlns:p14="http://schemas.microsoft.com/office/powerpoint/2010/main" val="217487438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Διάγραμμα Αλληλεπίδρασης Αντικειμένων</a:t>
            </a: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3" name="Θέση υποσέλιδου 4">
            <a:extLst>
              <a:ext uri="{FF2B5EF4-FFF2-40B4-BE49-F238E27FC236}">
                <a16:creationId xmlns:a16="http://schemas.microsoft.com/office/drawing/2014/main" id="{C84FEE0A-EC67-F275-4254-C7380CB8525E}"/>
              </a:ext>
            </a:extLst>
          </p:cNvPr>
          <p:cNvSpPr txBox="1">
            <a:spLocks/>
          </p:cNvSpPr>
          <p:nvPr/>
        </p:nvSpPr>
        <p:spPr>
          <a:xfrm>
            <a:off x="3305908" y="6559909"/>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LEGO Approach – Part B</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4" name="Line 6">
            <a:extLst>
              <a:ext uri="{FF2B5EF4-FFF2-40B4-BE49-F238E27FC236}">
                <a16:creationId xmlns:a16="http://schemas.microsoft.com/office/drawing/2014/main" id="{4FCB6290-BE1C-1C08-000D-80D45D9A9A0C}"/>
              </a:ext>
            </a:extLst>
          </p:cNvPr>
          <p:cNvSpPr>
            <a:spLocks noChangeShapeType="1"/>
          </p:cNvSpPr>
          <p:nvPr/>
        </p:nvSpPr>
        <p:spPr bwMode="auto">
          <a:xfrm>
            <a:off x="4680098" y="2053856"/>
            <a:ext cx="0" cy="373380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5" name="Line 7">
            <a:extLst>
              <a:ext uri="{FF2B5EF4-FFF2-40B4-BE49-F238E27FC236}">
                <a16:creationId xmlns:a16="http://schemas.microsoft.com/office/drawing/2014/main" id="{4F98D207-7F93-DB18-DC12-BD44C2943CA7}"/>
              </a:ext>
            </a:extLst>
          </p:cNvPr>
          <p:cNvSpPr>
            <a:spLocks noChangeShapeType="1"/>
          </p:cNvSpPr>
          <p:nvPr/>
        </p:nvSpPr>
        <p:spPr bwMode="auto">
          <a:xfrm>
            <a:off x="5899298" y="2739656"/>
            <a:ext cx="0" cy="3047999"/>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6" name="Line 8">
            <a:extLst>
              <a:ext uri="{FF2B5EF4-FFF2-40B4-BE49-F238E27FC236}">
                <a16:creationId xmlns:a16="http://schemas.microsoft.com/office/drawing/2014/main" id="{28F8D6D9-43DE-45BB-DD1A-2990C67CC0C9}"/>
              </a:ext>
            </a:extLst>
          </p:cNvPr>
          <p:cNvSpPr>
            <a:spLocks noChangeShapeType="1"/>
          </p:cNvSpPr>
          <p:nvPr/>
        </p:nvSpPr>
        <p:spPr bwMode="auto">
          <a:xfrm>
            <a:off x="7194697" y="3325314"/>
            <a:ext cx="1" cy="2462342"/>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7" name="Line 9">
            <a:extLst>
              <a:ext uri="{FF2B5EF4-FFF2-40B4-BE49-F238E27FC236}">
                <a16:creationId xmlns:a16="http://schemas.microsoft.com/office/drawing/2014/main" id="{B276D768-A105-FAB5-27B6-DFE9A8B8BA11}"/>
              </a:ext>
            </a:extLst>
          </p:cNvPr>
          <p:cNvSpPr>
            <a:spLocks noChangeShapeType="1"/>
          </p:cNvSpPr>
          <p:nvPr/>
        </p:nvSpPr>
        <p:spPr bwMode="auto">
          <a:xfrm>
            <a:off x="8566298" y="2053856"/>
            <a:ext cx="0" cy="373380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9" name="Text Box 10">
            <a:extLst>
              <a:ext uri="{FF2B5EF4-FFF2-40B4-BE49-F238E27FC236}">
                <a16:creationId xmlns:a16="http://schemas.microsoft.com/office/drawing/2014/main" id="{ACD27C03-61A1-EF38-6EE9-5CE059370368}"/>
              </a:ext>
            </a:extLst>
          </p:cNvPr>
          <p:cNvSpPr txBox="1">
            <a:spLocks noChangeArrowheads="1"/>
          </p:cNvSpPr>
          <p:nvPr/>
        </p:nvSpPr>
        <p:spPr bwMode="auto">
          <a:xfrm>
            <a:off x="4207023" y="1553794"/>
            <a:ext cx="1123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a:ln>
                  <a:noFill/>
                </a:ln>
                <a:solidFill>
                  <a:srgbClr val="000000"/>
                </a:solidFill>
                <a:effectLst/>
                <a:uLnTx/>
                <a:uFillTx/>
                <a:latin typeface="Tahoma" panose="020B0604030504040204" pitchFamily="34" charset="0"/>
              </a:rPr>
              <a:t>Double</a:t>
            </a:r>
            <a:endParaRPr kumimoji="0" lang="en-GB"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5" name="Line 14">
            <a:extLst>
              <a:ext uri="{FF2B5EF4-FFF2-40B4-BE49-F238E27FC236}">
                <a16:creationId xmlns:a16="http://schemas.microsoft.com/office/drawing/2014/main" id="{CC97642C-17F8-3263-98A8-AB0BFA8660EA}"/>
              </a:ext>
            </a:extLst>
          </p:cNvPr>
          <p:cNvSpPr>
            <a:spLocks noChangeShapeType="1"/>
          </p:cNvSpPr>
          <p:nvPr/>
        </p:nvSpPr>
        <p:spPr bwMode="auto">
          <a:xfrm>
            <a:off x="10014098" y="3920756"/>
            <a:ext cx="0" cy="194310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grpSp>
        <p:nvGrpSpPr>
          <p:cNvPr id="16" name="Group 18">
            <a:extLst>
              <a:ext uri="{FF2B5EF4-FFF2-40B4-BE49-F238E27FC236}">
                <a16:creationId xmlns:a16="http://schemas.microsoft.com/office/drawing/2014/main" id="{E38A8455-4AA0-D661-F43B-40EBBCDF5504}"/>
              </a:ext>
            </a:extLst>
          </p:cNvPr>
          <p:cNvGrpSpPr>
            <a:grpSpLocks/>
          </p:cNvGrpSpPr>
          <p:nvPr/>
        </p:nvGrpSpPr>
        <p:grpSpPr bwMode="auto">
          <a:xfrm>
            <a:off x="3216423" y="2060206"/>
            <a:ext cx="1463675" cy="396875"/>
            <a:chOff x="854" y="1492"/>
            <a:chExt cx="922" cy="250"/>
          </a:xfrm>
        </p:grpSpPr>
        <p:sp>
          <p:nvSpPr>
            <p:cNvPr id="17" name="Line 16">
              <a:extLst>
                <a:ext uri="{FF2B5EF4-FFF2-40B4-BE49-F238E27FC236}">
                  <a16:creationId xmlns:a16="http://schemas.microsoft.com/office/drawing/2014/main" id="{5C8E759A-754E-AC0C-3F0B-6E64E56BE57A}"/>
                </a:ext>
              </a:extLst>
            </p:cNvPr>
            <p:cNvSpPr>
              <a:spLocks noChangeShapeType="1"/>
            </p:cNvSpPr>
            <p:nvPr/>
          </p:nvSpPr>
          <p:spPr bwMode="auto">
            <a:xfrm>
              <a:off x="864" y="1728"/>
              <a:ext cx="912" cy="0"/>
            </a:xfrm>
            <a:prstGeom prst="line">
              <a:avLst/>
            </a:prstGeom>
            <a:noFill/>
            <a:ln w="9525">
              <a:solidFill>
                <a:srgbClr val="00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8" name="Text Box 17">
              <a:extLst>
                <a:ext uri="{FF2B5EF4-FFF2-40B4-BE49-F238E27FC236}">
                  <a16:creationId xmlns:a16="http://schemas.microsoft.com/office/drawing/2014/main" id="{E2673D87-AA10-D4EA-F950-3B3EA3934CDC}"/>
                </a:ext>
              </a:extLst>
            </p:cNvPr>
            <p:cNvSpPr txBox="1">
              <a:spLocks noChangeArrowheads="1"/>
            </p:cNvSpPr>
            <p:nvPr/>
          </p:nvSpPr>
          <p:spPr bwMode="auto">
            <a:xfrm>
              <a:off x="854" y="1492"/>
              <a:ext cx="83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000" b="0" i="0" u="none" strike="noStrike" kern="0" cap="none" spc="0" normalizeH="0" baseline="0" noProof="0">
                  <a:ln>
                    <a:noFill/>
                  </a:ln>
                  <a:solidFill>
                    <a:srgbClr val="000000"/>
                  </a:solidFill>
                  <a:effectLst/>
                  <a:uLnTx/>
                  <a:uFillTx/>
                  <a:latin typeface="Tahoma" panose="020B0604030504040204" pitchFamily="34" charset="0"/>
                </a:rPr>
                <a:t>new(12.0)</a:t>
              </a:r>
              <a:endParaRPr kumimoji="0" lang="en-GB" altLang="el-GR" sz="2000" b="0" i="0" u="none" strike="noStrike" kern="0" cap="none" spc="0" normalizeH="0" baseline="0" noProof="0">
                <a:ln>
                  <a:noFill/>
                </a:ln>
                <a:solidFill>
                  <a:srgbClr val="000000"/>
                </a:solidFill>
                <a:effectLst/>
                <a:uLnTx/>
                <a:uFillTx/>
                <a:latin typeface="Tahoma" panose="020B0604030504040204" pitchFamily="34" charset="0"/>
              </a:endParaRPr>
            </a:p>
          </p:txBody>
        </p:sp>
      </p:grpSp>
      <p:grpSp>
        <p:nvGrpSpPr>
          <p:cNvPr id="19" name="Group 21">
            <a:extLst>
              <a:ext uri="{FF2B5EF4-FFF2-40B4-BE49-F238E27FC236}">
                <a16:creationId xmlns:a16="http://schemas.microsoft.com/office/drawing/2014/main" id="{F31307D8-E183-AB98-9D7C-C7231FE30DAB}"/>
              </a:ext>
            </a:extLst>
          </p:cNvPr>
          <p:cNvGrpSpPr>
            <a:grpSpLocks/>
          </p:cNvGrpSpPr>
          <p:nvPr/>
        </p:nvGrpSpPr>
        <p:grpSpPr bwMode="auto">
          <a:xfrm>
            <a:off x="3232298" y="2739656"/>
            <a:ext cx="1463675" cy="396875"/>
            <a:chOff x="854" y="1492"/>
            <a:chExt cx="922" cy="250"/>
          </a:xfrm>
        </p:grpSpPr>
        <p:sp>
          <p:nvSpPr>
            <p:cNvPr id="20" name="Line 22">
              <a:extLst>
                <a:ext uri="{FF2B5EF4-FFF2-40B4-BE49-F238E27FC236}">
                  <a16:creationId xmlns:a16="http://schemas.microsoft.com/office/drawing/2014/main" id="{A6EF07DF-E0FD-83F1-76A2-F40C341A835F}"/>
                </a:ext>
              </a:extLst>
            </p:cNvPr>
            <p:cNvSpPr>
              <a:spLocks noChangeShapeType="1"/>
            </p:cNvSpPr>
            <p:nvPr/>
          </p:nvSpPr>
          <p:spPr bwMode="auto">
            <a:xfrm>
              <a:off x="864" y="1728"/>
              <a:ext cx="912" cy="0"/>
            </a:xfrm>
            <a:prstGeom prst="line">
              <a:avLst/>
            </a:prstGeom>
            <a:noFill/>
            <a:ln w="9525">
              <a:solidFill>
                <a:srgbClr val="00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1" name="Text Box 23">
              <a:extLst>
                <a:ext uri="{FF2B5EF4-FFF2-40B4-BE49-F238E27FC236}">
                  <a16:creationId xmlns:a16="http://schemas.microsoft.com/office/drawing/2014/main" id="{5F058E9D-0A4E-3934-C29C-7F9E6D4C4AD6}"/>
                </a:ext>
              </a:extLst>
            </p:cNvPr>
            <p:cNvSpPr txBox="1">
              <a:spLocks noChangeArrowheads="1"/>
            </p:cNvSpPr>
            <p:nvPr/>
          </p:nvSpPr>
          <p:spPr bwMode="auto">
            <a:xfrm>
              <a:off x="854" y="1492"/>
              <a:ext cx="83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000" b="0" i="0" u="none" strike="noStrike" kern="0" cap="none" spc="0" normalizeH="0" baseline="0" noProof="0">
                  <a:ln>
                    <a:noFill/>
                  </a:ln>
                  <a:solidFill>
                    <a:srgbClr val="000000"/>
                  </a:solidFill>
                  <a:effectLst/>
                  <a:uLnTx/>
                  <a:uFillTx/>
                  <a:latin typeface="Tahoma" panose="020B0604030504040204" pitchFamily="34" charset="0"/>
                </a:rPr>
                <a:t>new(24.0)</a:t>
              </a:r>
              <a:endParaRPr kumimoji="0" lang="en-GB" altLang="el-GR" sz="2000" b="0" i="0" u="none" strike="noStrike" kern="0" cap="none" spc="0" normalizeH="0" baseline="0" noProof="0">
                <a:ln>
                  <a:noFill/>
                </a:ln>
                <a:solidFill>
                  <a:srgbClr val="000000"/>
                </a:solidFill>
                <a:effectLst/>
                <a:uLnTx/>
                <a:uFillTx/>
                <a:latin typeface="Tahoma" panose="020B0604030504040204" pitchFamily="34" charset="0"/>
              </a:endParaRPr>
            </a:p>
          </p:txBody>
        </p:sp>
      </p:grpSp>
      <p:sp>
        <p:nvSpPr>
          <p:cNvPr id="22" name="Line 24">
            <a:extLst>
              <a:ext uri="{FF2B5EF4-FFF2-40B4-BE49-F238E27FC236}">
                <a16:creationId xmlns:a16="http://schemas.microsoft.com/office/drawing/2014/main" id="{F622B2A4-EB50-9599-C240-6AB3139FCF62}"/>
              </a:ext>
            </a:extLst>
          </p:cNvPr>
          <p:cNvSpPr>
            <a:spLocks noChangeShapeType="1"/>
          </p:cNvSpPr>
          <p:nvPr/>
        </p:nvSpPr>
        <p:spPr bwMode="auto">
          <a:xfrm>
            <a:off x="4680098" y="2739656"/>
            <a:ext cx="1219200" cy="0"/>
          </a:xfrm>
          <a:prstGeom prst="line">
            <a:avLst/>
          </a:prstGeom>
          <a:noFill/>
          <a:ln w="9525">
            <a:solidFill>
              <a:srgbClr val="000000"/>
            </a:solidFill>
            <a:prstDash val="dash"/>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3" name="Line 25">
            <a:extLst>
              <a:ext uri="{FF2B5EF4-FFF2-40B4-BE49-F238E27FC236}">
                <a16:creationId xmlns:a16="http://schemas.microsoft.com/office/drawing/2014/main" id="{8126F337-B406-ADD2-46BB-11636E4D7F1E}"/>
              </a:ext>
            </a:extLst>
          </p:cNvPr>
          <p:cNvSpPr>
            <a:spLocks noChangeShapeType="1"/>
          </p:cNvSpPr>
          <p:nvPr/>
        </p:nvSpPr>
        <p:spPr bwMode="auto">
          <a:xfrm>
            <a:off x="4680098" y="3349256"/>
            <a:ext cx="2514600" cy="0"/>
          </a:xfrm>
          <a:prstGeom prst="line">
            <a:avLst/>
          </a:prstGeom>
          <a:noFill/>
          <a:ln w="9525">
            <a:solidFill>
              <a:srgbClr val="000000"/>
            </a:solidFill>
            <a:prstDash val="dash"/>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4" name="Line 26">
            <a:extLst>
              <a:ext uri="{FF2B5EF4-FFF2-40B4-BE49-F238E27FC236}">
                <a16:creationId xmlns:a16="http://schemas.microsoft.com/office/drawing/2014/main" id="{28BB1E5F-CC23-045F-95CD-B846D083DB7E}"/>
              </a:ext>
            </a:extLst>
          </p:cNvPr>
          <p:cNvSpPr>
            <a:spLocks noChangeShapeType="1"/>
          </p:cNvSpPr>
          <p:nvPr/>
        </p:nvSpPr>
        <p:spPr bwMode="auto">
          <a:xfrm flipV="1">
            <a:off x="3308497" y="3784232"/>
            <a:ext cx="5257799" cy="22224"/>
          </a:xfrm>
          <a:prstGeom prst="line">
            <a:avLst/>
          </a:prstGeom>
          <a:noFill/>
          <a:ln w="9525">
            <a:solidFill>
              <a:srgbClr val="00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5" name="Text Box 27">
            <a:extLst>
              <a:ext uri="{FF2B5EF4-FFF2-40B4-BE49-F238E27FC236}">
                <a16:creationId xmlns:a16="http://schemas.microsoft.com/office/drawing/2014/main" id="{1FEF6CED-85C0-C694-E669-795055BEE5D3}"/>
              </a:ext>
            </a:extLst>
          </p:cNvPr>
          <p:cNvSpPr txBox="1">
            <a:spLocks noChangeArrowheads="1"/>
          </p:cNvSpPr>
          <p:nvPr/>
        </p:nvSpPr>
        <p:spPr bwMode="auto">
          <a:xfrm>
            <a:off x="3200275" y="3501170"/>
            <a:ext cx="172835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1800" b="0" i="0" u="none" strike="noStrike" kern="0" cap="none" spc="0" normalizeH="0" baseline="0" noProof="0" dirty="0">
                <a:ln>
                  <a:noFill/>
                </a:ln>
                <a:solidFill>
                  <a:srgbClr val="000000"/>
                </a:solidFill>
                <a:effectLst/>
                <a:uLnTx/>
                <a:uFillTx/>
                <a:latin typeface="Tahoma" panose="020B0604030504040204" pitchFamily="34" charset="0"/>
              </a:rPr>
              <a:t>new &lt;Double&gt;</a:t>
            </a:r>
            <a:endParaRPr kumimoji="0" lang="en-GB" altLang="el-GR" sz="1800" b="0" i="0" u="none" strike="noStrike" kern="0" cap="none" spc="0" normalizeH="0" baseline="0" noProof="0" dirty="0">
              <a:ln>
                <a:noFill/>
              </a:ln>
              <a:solidFill>
                <a:srgbClr val="000000"/>
              </a:solidFill>
              <a:effectLst/>
              <a:uLnTx/>
              <a:uFillTx/>
              <a:latin typeface="Tahoma" panose="020B0604030504040204" pitchFamily="34" charset="0"/>
            </a:endParaRPr>
          </a:p>
        </p:txBody>
      </p:sp>
      <p:sp>
        <p:nvSpPr>
          <p:cNvPr id="26" name="Line 29">
            <a:extLst>
              <a:ext uri="{FF2B5EF4-FFF2-40B4-BE49-F238E27FC236}">
                <a16:creationId xmlns:a16="http://schemas.microsoft.com/office/drawing/2014/main" id="{EEA30398-F0E7-84AB-4FD4-3C0B2CCDB162}"/>
              </a:ext>
            </a:extLst>
          </p:cNvPr>
          <p:cNvSpPr>
            <a:spLocks noChangeShapeType="1"/>
          </p:cNvSpPr>
          <p:nvPr/>
        </p:nvSpPr>
        <p:spPr bwMode="auto">
          <a:xfrm>
            <a:off x="3308497" y="4416055"/>
            <a:ext cx="6705600" cy="8993"/>
          </a:xfrm>
          <a:prstGeom prst="line">
            <a:avLst/>
          </a:prstGeom>
          <a:noFill/>
          <a:ln w="9525">
            <a:solidFill>
              <a:srgbClr val="00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7" name="Line 34">
            <a:extLst>
              <a:ext uri="{FF2B5EF4-FFF2-40B4-BE49-F238E27FC236}">
                <a16:creationId xmlns:a16="http://schemas.microsoft.com/office/drawing/2014/main" id="{12418448-59D6-DCC6-0404-C2C2E68C1C66}"/>
              </a:ext>
            </a:extLst>
          </p:cNvPr>
          <p:cNvSpPr>
            <a:spLocks noChangeShapeType="1"/>
          </p:cNvSpPr>
          <p:nvPr/>
        </p:nvSpPr>
        <p:spPr bwMode="auto">
          <a:xfrm>
            <a:off x="3316313" y="5416211"/>
            <a:ext cx="6705600" cy="0"/>
          </a:xfrm>
          <a:prstGeom prst="line">
            <a:avLst/>
          </a:prstGeom>
          <a:noFill/>
          <a:ln w="9525">
            <a:solidFill>
              <a:srgbClr val="00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0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8" name="Text Box 35">
            <a:extLst>
              <a:ext uri="{FF2B5EF4-FFF2-40B4-BE49-F238E27FC236}">
                <a16:creationId xmlns:a16="http://schemas.microsoft.com/office/drawing/2014/main" id="{8DAB0918-9FBE-F37B-970F-04F3E023C0AC}"/>
              </a:ext>
            </a:extLst>
          </p:cNvPr>
          <p:cNvSpPr txBox="1">
            <a:spLocks noChangeArrowheads="1"/>
          </p:cNvSpPr>
          <p:nvPr/>
        </p:nvSpPr>
        <p:spPr bwMode="auto">
          <a:xfrm>
            <a:off x="3240113" y="5035211"/>
            <a:ext cx="80182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000" b="0" i="0" u="none" strike="noStrike" kern="0" cap="none" spc="0" normalizeH="0" baseline="0" noProof="0" dirty="0">
                <a:ln>
                  <a:noFill/>
                </a:ln>
                <a:solidFill>
                  <a:srgbClr val="000000"/>
                </a:solidFill>
                <a:effectLst/>
                <a:uLnTx/>
                <a:uFillTx/>
                <a:latin typeface="Tahoma" panose="020B0604030504040204" pitchFamily="34" charset="0"/>
              </a:rPr>
              <a:t>pop()</a:t>
            </a:r>
            <a:endParaRPr kumimoji="0" lang="en-GB" altLang="el-GR" sz="2000" b="0" i="0" u="none" strike="noStrike" kern="0" cap="none" spc="0" normalizeH="0" baseline="0" noProof="0" dirty="0">
              <a:ln>
                <a:noFill/>
              </a:ln>
              <a:solidFill>
                <a:srgbClr val="000000"/>
              </a:solidFill>
              <a:effectLst/>
              <a:uLnTx/>
              <a:uFillTx/>
              <a:latin typeface="Tahoma" panose="020B0604030504040204" pitchFamily="34" charset="0"/>
            </a:endParaRPr>
          </a:p>
        </p:txBody>
      </p:sp>
      <p:sp>
        <p:nvSpPr>
          <p:cNvPr id="29" name="Line 36">
            <a:extLst>
              <a:ext uri="{FF2B5EF4-FFF2-40B4-BE49-F238E27FC236}">
                <a16:creationId xmlns:a16="http://schemas.microsoft.com/office/drawing/2014/main" id="{605C6118-387A-5478-C86E-90F12299B433}"/>
              </a:ext>
            </a:extLst>
          </p:cNvPr>
          <p:cNvSpPr>
            <a:spLocks noChangeShapeType="1"/>
          </p:cNvSpPr>
          <p:nvPr/>
        </p:nvSpPr>
        <p:spPr bwMode="auto">
          <a:xfrm flipH="1">
            <a:off x="3113488" y="1658562"/>
            <a:ext cx="11233" cy="3910668"/>
          </a:xfrm>
          <a:prstGeom prst="line">
            <a:avLst/>
          </a:prstGeom>
          <a:noFill/>
          <a:ln w="76200">
            <a:solidFill>
              <a:srgbClr val="128F05"/>
            </a:solidFill>
            <a:miter lim="800000"/>
            <a:headEnd/>
            <a:tailEnd/>
          </a:ln>
          <a:extLst>
            <a:ext uri="{909E8E84-426E-40DD-AFC4-6F175D3DCCD1}">
              <a14:hiddenFill xmlns:a14="http://schemas.microsoft.com/office/drawing/2010/main">
                <a:noFill/>
              </a14:hiddenFill>
            </a:ext>
          </a:extLst>
        </p:spPr>
        <p:txBody>
          <a:bodyPr wrap="none"/>
          <a:lstStyle/>
          <a:p>
            <a:pPr fontAlgn="base">
              <a:spcBef>
                <a:spcPct val="0"/>
              </a:spcBef>
              <a:spcAft>
                <a:spcPct val="0"/>
              </a:spcAft>
            </a:pPr>
            <a:endParaRPr lang="el-GR" sz="2400">
              <a:solidFill>
                <a:srgbClr val="000000"/>
              </a:solidFill>
              <a:latin typeface="Tahoma" panose="020B0604030504040204" pitchFamily="34" charset="0"/>
            </a:endParaRPr>
          </a:p>
        </p:txBody>
      </p:sp>
      <p:sp>
        <p:nvSpPr>
          <p:cNvPr id="30" name="TextBox 29">
            <a:extLst>
              <a:ext uri="{FF2B5EF4-FFF2-40B4-BE49-F238E27FC236}">
                <a16:creationId xmlns:a16="http://schemas.microsoft.com/office/drawing/2014/main" id="{20116D05-9479-8ED4-B87A-39EF1E61133C}"/>
              </a:ext>
            </a:extLst>
          </p:cNvPr>
          <p:cNvSpPr txBox="1"/>
          <p:nvPr/>
        </p:nvSpPr>
        <p:spPr>
          <a:xfrm>
            <a:off x="8169179" y="1565727"/>
            <a:ext cx="1519159" cy="461665"/>
          </a:xfrm>
          <a:prstGeom prst="rect">
            <a:avLst/>
          </a:prstGeom>
          <a:noFill/>
        </p:spPr>
        <p:txBody>
          <a:bodyPr wrap="square" rtlCol="0">
            <a:spAutoFit/>
          </a:bodyPr>
          <a:lstStyle/>
          <a:p>
            <a:pPr fontAlgn="base">
              <a:spcBef>
                <a:spcPct val="0"/>
              </a:spcBef>
              <a:spcAft>
                <a:spcPct val="0"/>
              </a:spcAft>
            </a:pPr>
            <a:r>
              <a:rPr lang="en-US" sz="2400" dirty="0">
                <a:solidFill>
                  <a:srgbClr val="000000"/>
                </a:solidFill>
                <a:latin typeface="Tahoma" panose="020B0604030504040204" pitchFamily="34" charset="0"/>
              </a:rPr>
              <a:t>Stack</a:t>
            </a:r>
            <a:endParaRPr lang="el-GR" sz="2400" dirty="0">
              <a:solidFill>
                <a:srgbClr val="000000"/>
              </a:solidFill>
              <a:latin typeface="Tahoma" panose="020B0604030504040204" pitchFamily="34" charset="0"/>
            </a:endParaRPr>
          </a:p>
        </p:txBody>
      </p:sp>
      <p:sp>
        <p:nvSpPr>
          <p:cNvPr id="31" name="Line 25">
            <a:extLst>
              <a:ext uri="{FF2B5EF4-FFF2-40B4-BE49-F238E27FC236}">
                <a16:creationId xmlns:a16="http://schemas.microsoft.com/office/drawing/2014/main" id="{20B62639-474E-B538-92F8-97704390850E}"/>
              </a:ext>
            </a:extLst>
          </p:cNvPr>
          <p:cNvSpPr>
            <a:spLocks noChangeShapeType="1"/>
          </p:cNvSpPr>
          <p:nvPr/>
        </p:nvSpPr>
        <p:spPr bwMode="auto">
          <a:xfrm>
            <a:off x="8566296" y="4049812"/>
            <a:ext cx="1447802" cy="6948"/>
          </a:xfrm>
          <a:prstGeom prst="line">
            <a:avLst/>
          </a:prstGeom>
          <a:noFill/>
          <a:ln w="9525">
            <a:solidFill>
              <a:srgbClr val="000000"/>
            </a:solidFill>
            <a:prstDash val="dash"/>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32" name="Text Box 27">
            <a:extLst>
              <a:ext uri="{FF2B5EF4-FFF2-40B4-BE49-F238E27FC236}">
                <a16:creationId xmlns:a16="http://schemas.microsoft.com/office/drawing/2014/main" id="{A9C8BE9C-301E-F300-BAF2-2205D7BE4676}"/>
              </a:ext>
            </a:extLst>
          </p:cNvPr>
          <p:cNvSpPr txBox="1">
            <a:spLocks noChangeArrowheads="1"/>
          </p:cNvSpPr>
          <p:nvPr/>
        </p:nvSpPr>
        <p:spPr bwMode="auto">
          <a:xfrm>
            <a:off x="3313077" y="4029255"/>
            <a:ext cx="11031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1800" b="0" i="0" u="none" strike="noStrike" kern="0" cap="none" spc="0" normalizeH="0" baseline="0" noProof="0" dirty="0">
                <a:ln>
                  <a:noFill/>
                </a:ln>
                <a:solidFill>
                  <a:srgbClr val="000000"/>
                </a:solidFill>
                <a:effectLst/>
                <a:uLnTx/>
                <a:uFillTx/>
                <a:latin typeface="Tahoma" panose="020B0604030504040204" pitchFamily="34" charset="0"/>
              </a:rPr>
              <a:t>push(d1)</a:t>
            </a:r>
            <a:endParaRPr kumimoji="0" lang="en-GB" altLang="el-GR" sz="1800" b="0" i="0" u="none" strike="noStrike" kern="0" cap="none" spc="0" normalizeH="0" baseline="0" noProof="0" dirty="0">
              <a:ln>
                <a:noFill/>
              </a:ln>
              <a:solidFill>
                <a:srgbClr val="000000"/>
              </a:solidFill>
              <a:effectLst/>
              <a:uLnTx/>
              <a:uFillTx/>
              <a:latin typeface="Tahoma" panose="020B0604030504040204" pitchFamily="34" charset="0"/>
            </a:endParaRPr>
          </a:p>
        </p:txBody>
      </p:sp>
      <p:sp>
        <p:nvSpPr>
          <p:cNvPr id="33" name="Line 29">
            <a:extLst>
              <a:ext uri="{FF2B5EF4-FFF2-40B4-BE49-F238E27FC236}">
                <a16:creationId xmlns:a16="http://schemas.microsoft.com/office/drawing/2014/main" id="{D8164CF4-4EC2-D91E-2EAC-7F10415F4B84}"/>
              </a:ext>
            </a:extLst>
          </p:cNvPr>
          <p:cNvSpPr>
            <a:spLocks noChangeShapeType="1"/>
          </p:cNvSpPr>
          <p:nvPr/>
        </p:nvSpPr>
        <p:spPr bwMode="auto">
          <a:xfrm>
            <a:off x="3303917" y="4862151"/>
            <a:ext cx="6705599" cy="21397"/>
          </a:xfrm>
          <a:prstGeom prst="line">
            <a:avLst/>
          </a:prstGeom>
          <a:noFill/>
          <a:ln w="9525">
            <a:solidFill>
              <a:srgbClr val="00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34" name="Text Box 27">
            <a:extLst>
              <a:ext uri="{FF2B5EF4-FFF2-40B4-BE49-F238E27FC236}">
                <a16:creationId xmlns:a16="http://schemas.microsoft.com/office/drawing/2014/main" id="{75714C13-9058-DE2B-3851-5F16192263AD}"/>
              </a:ext>
            </a:extLst>
          </p:cNvPr>
          <p:cNvSpPr txBox="1">
            <a:spLocks noChangeArrowheads="1"/>
          </p:cNvSpPr>
          <p:nvPr/>
        </p:nvSpPr>
        <p:spPr bwMode="auto">
          <a:xfrm>
            <a:off x="3308497" y="4475351"/>
            <a:ext cx="11031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1800" b="0" i="0" u="none" strike="noStrike" kern="0" cap="none" spc="0" normalizeH="0" baseline="0" noProof="0" dirty="0">
                <a:ln>
                  <a:noFill/>
                </a:ln>
                <a:solidFill>
                  <a:srgbClr val="000000"/>
                </a:solidFill>
                <a:effectLst/>
                <a:uLnTx/>
                <a:uFillTx/>
                <a:latin typeface="Tahoma" panose="020B0604030504040204" pitchFamily="34" charset="0"/>
              </a:rPr>
              <a:t>push(d2)</a:t>
            </a:r>
            <a:endParaRPr kumimoji="0" lang="en-GB" altLang="el-GR" sz="1800" b="0" i="0" u="none" strike="noStrike" kern="0" cap="none" spc="0" normalizeH="0" baseline="0" noProof="0" dirty="0">
              <a:ln>
                <a:noFill/>
              </a:ln>
              <a:solidFill>
                <a:srgbClr val="000000"/>
              </a:solidFill>
              <a:effectLst/>
              <a:uLnTx/>
              <a:uFillTx/>
              <a:latin typeface="Tahoma" panose="020B0604030504040204" pitchFamily="34" charset="0"/>
            </a:endParaRPr>
          </a:p>
        </p:txBody>
      </p:sp>
      <p:sp>
        <p:nvSpPr>
          <p:cNvPr id="35" name="Text Box 33">
            <a:extLst>
              <a:ext uri="{FF2B5EF4-FFF2-40B4-BE49-F238E27FC236}">
                <a16:creationId xmlns:a16="http://schemas.microsoft.com/office/drawing/2014/main" id="{F5B639D0-2094-69E2-F6C4-069B84F959D2}"/>
              </a:ext>
            </a:extLst>
          </p:cNvPr>
          <p:cNvSpPr txBox="1">
            <a:spLocks noChangeArrowheads="1"/>
          </p:cNvSpPr>
          <p:nvPr/>
        </p:nvSpPr>
        <p:spPr bwMode="auto">
          <a:xfrm>
            <a:off x="2785738" y="1231988"/>
            <a:ext cx="82907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1" i="0" u="none" strike="noStrike" kern="0" cap="none" spc="0" normalizeH="0" baseline="0" noProof="0" dirty="0">
                <a:ln>
                  <a:noFill/>
                </a:ln>
                <a:solidFill>
                  <a:srgbClr val="FF0000"/>
                </a:solidFill>
                <a:effectLst/>
                <a:uLnTx/>
                <a:uFillTx/>
                <a:latin typeface="Tahoma" panose="020B0604030504040204" pitchFamily="34" charset="0"/>
              </a:rPr>
              <a:t>Calc</a:t>
            </a:r>
            <a:endParaRPr kumimoji="0" lang="en-GB" altLang="el-GR" sz="2400" b="1" i="0" u="none" strike="noStrike" kern="0" cap="none" spc="0" normalizeH="0" baseline="0" noProof="0" dirty="0">
              <a:ln>
                <a:noFill/>
              </a:ln>
              <a:solidFill>
                <a:srgbClr val="FF0000"/>
              </a:solidFill>
              <a:effectLst/>
              <a:uLnTx/>
              <a:uFillTx/>
              <a:latin typeface="Tahoma" panose="020B0604030504040204" pitchFamily="34" charset="0"/>
            </a:endParaRPr>
          </a:p>
        </p:txBody>
      </p:sp>
      <p:sp>
        <p:nvSpPr>
          <p:cNvPr id="36" name="Line 34">
            <a:extLst>
              <a:ext uri="{FF2B5EF4-FFF2-40B4-BE49-F238E27FC236}">
                <a16:creationId xmlns:a16="http://schemas.microsoft.com/office/drawing/2014/main" id="{101330E3-F3D8-6472-EC9C-1F922317C030}"/>
              </a:ext>
            </a:extLst>
          </p:cNvPr>
          <p:cNvSpPr>
            <a:spLocks noChangeShapeType="1"/>
          </p:cNvSpPr>
          <p:nvPr/>
        </p:nvSpPr>
        <p:spPr bwMode="auto">
          <a:xfrm>
            <a:off x="2202631" y="1701521"/>
            <a:ext cx="0" cy="3733800"/>
          </a:xfrm>
          <a:prstGeom prst="line">
            <a:avLst/>
          </a:prstGeom>
          <a:noFill/>
          <a:ln w="38100">
            <a:solidFill>
              <a:srgbClr val="1BDD07"/>
            </a:solidFill>
            <a:miter lim="800000"/>
            <a:headEnd/>
            <a:tailEnd/>
          </a:ln>
          <a:extLst>
            <a:ext uri="{909E8E84-426E-40DD-AFC4-6F175D3DCCD1}">
              <a14:hiddenFill xmlns:a14="http://schemas.microsoft.com/office/drawing/2010/main">
                <a:noFill/>
              </a14:hiddenFill>
            </a:ext>
          </a:extLst>
        </p:spPr>
        <p:txBody>
          <a:bodyPr wrap="none"/>
          <a:lstStyle/>
          <a:p>
            <a:pPr fontAlgn="base">
              <a:spcBef>
                <a:spcPct val="0"/>
              </a:spcBef>
              <a:spcAft>
                <a:spcPct val="0"/>
              </a:spcAft>
            </a:pPr>
            <a:endParaRPr lang="el-GR" sz="2400">
              <a:solidFill>
                <a:srgbClr val="000000"/>
              </a:solidFill>
              <a:latin typeface="Tahoma" panose="020B0604030504040204" pitchFamily="34" charset="0"/>
            </a:endParaRPr>
          </a:p>
        </p:txBody>
      </p:sp>
      <p:sp>
        <p:nvSpPr>
          <p:cNvPr id="37" name="Line 36">
            <a:extLst>
              <a:ext uri="{FF2B5EF4-FFF2-40B4-BE49-F238E27FC236}">
                <a16:creationId xmlns:a16="http://schemas.microsoft.com/office/drawing/2014/main" id="{E519ACAE-A55B-E7AA-EE75-58D8BD5BEB1B}"/>
              </a:ext>
            </a:extLst>
          </p:cNvPr>
          <p:cNvSpPr>
            <a:spLocks noChangeShapeType="1"/>
          </p:cNvSpPr>
          <p:nvPr/>
        </p:nvSpPr>
        <p:spPr bwMode="auto">
          <a:xfrm>
            <a:off x="2202631" y="2194983"/>
            <a:ext cx="910857" cy="22225"/>
          </a:xfrm>
          <a:prstGeom prst="line">
            <a:avLst/>
          </a:prstGeom>
          <a:noFill/>
          <a:ln w="9525">
            <a:solidFill>
              <a:srgbClr val="00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38" name="Text Box 37">
            <a:extLst>
              <a:ext uri="{FF2B5EF4-FFF2-40B4-BE49-F238E27FC236}">
                <a16:creationId xmlns:a16="http://schemas.microsoft.com/office/drawing/2014/main" id="{A95ACE86-2EFE-8053-0EE8-40F0EC631115}"/>
              </a:ext>
            </a:extLst>
          </p:cNvPr>
          <p:cNvSpPr txBox="1">
            <a:spLocks noChangeArrowheads="1"/>
          </p:cNvSpPr>
          <p:nvPr/>
        </p:nvSpPr>
        <p:spPr bwMode="auto">
          <a:xfrm>
            <a:off x="2302489" y="1782394"/>
            <a:ext cx="6334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run</a:t>
            </a:r>
            <a:endParaRPr kumimoji="0" lang="en-GB" altLang="el-GR" sz="2400" b="0" i="0" u="none" strike="noStrike" kern="0" cap="none" spc="0" normalizeH="0" baseline="0" noProof="0" dirty="0">
              <a:ln>
                <a:noFill/>
              </a:ln>
              <a:solidFill>
                <a:srgbClr val="000000"/>
              </a:solidFill>
              <a:effectLst/>
              <a:uLnTx/>
              <a:uFillTx/>
              <a:latin typeface="Tahoma" panose="020B0604030504040204" pitchFamily="34" charset="0"/>
            </a:endParaRPr>
          </a:p>
        </p:txBody>
      </p:sp>
      <p:sp>
        <p:nvSpPr>
          <p:cNvPr id="39" name="Text Box 35">
            <a:extLst>
              <a:ext uri="{FF2B5EF4-FFF2-40B4-BE49-F238E27FC236}">
                <a16:creationId xmlns:a16="http://schemas.microsoft.com/office/drawing/2014/main" id="{66C189C9-10B4-AF6C-5512-B541EB70D9DC}"/>
              </a:ext>
            </a:extLst>
          </p:cNvPr>
          <p:cNvSpPr txBox="1">
            <a:spLocks noChangeArrowheads="1"/>
          </p:cNvSpPr>
          <p:nvPr/>
        </p:nvSpPr>
        <p:spPr bwMode="auto">
          <a:xfrm>
            <a:off x="1849300" y="1195037"/>
            <a:ext cx="790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E4A8"/>
                </a:solidFill>
                <a:effectLst/>
                <a:uLnTx/>
                <a:uFillTx/>
                <a:latin typeface="Tahoma" panose="020B0604030504040204" pitchFamily="34" charset="0"/>
              </a:rPr>
              <a:t>User</a:t>
            </a:r>
            <a:endParaRPr kumimoji="0" lang="en-GB" altLang="el-GR" sz="2400" b="0" i="0" u="none" strike="noStrike" kern="0" cap="none" spc="0" normalizeH="0" baseline="0" noProof="0" dirty="0">
              <a:ln>
                <a:noFill/>
              </a:ln>
              <a:solidFill>
                <a:srgbClr val="00E4A8"/>
              </a:solidFill>
              <a:effectLst/>
              <a:uLnTx/>
              <a:uFillTx/>
              <a:latin typeface="Tahoma" panose="020B0604030504040204" pitchFamily="34" charset="0"/>
            </a:endParaRPr>
          </a:p>
        </p:txBody>
      </p:sp>
      <p:sp>
        <p:nvSpPr>
          <p:cNvPr id="40" name="Text Box 11">
            <a:extLst>
              <a:ext uri="{FF2B5EF4-FFF2-40B4-BE49-F238E27FC236}">
                <a16:creationId xmlns:a16="http://schemas.microsoft.com/office/drawing/2014/main" id="{3D4626FB-1D73-86AD-A89A-27ABE445E4C5}"/>
              </a:ext>
            </a:extLst>
          </p:cNvPr>
          <p:cNvSpPr txBox="1">
            <a:spLocks noChangeArrowheads="1"/>
          </p:cNvSpPr>
          <p:nvPr/>
        </p:nvSpPr>
        <p:spPr bwMode="auto">
          <a:xfrm>
            <a:off x="5108857" y="2305554"/>
            <a:ext cx="158088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d1</a:t>
            </a:r>
            <a:r>
              <a:rPr kumimoji="0" lang="el-GR" altLang="el-GR" sz="2400" b="0" i="0" u="none" strike="noStrike" kern="0" cap="none" spc="0" normalizeH="0" baseline="0" noProof="0" dirty="0">
                <a:ln>
                  <a:noFill/>
                </a:ln>
                <a:solidFill>
                  <a:srgbClr val="000000"/>
                </a:solidFill>
                <a:effectLst/>
                <a:uLnTx/>
                <a:uFillTx/>
                <a:latin typeface="Tahoma" panose="020B0604030504040204" pitchFamily="34" charset="0"/>
              </a:rPr>
              <a:t>:</a:t>
            </a: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Double</a:t>
            </a:r>
            <a:endParaRPr kumimoji="0" lang="en-GB" altLang="el-GR" sz="2400" b="0" i="0" u="none" strike="noStrike" kern="0" cap="none" spc="0" normalizeH="0" baseline="0" noProof="0" dirty="0">
              <a:ln>
                <a:noFill/>
              </a:ln>
              <a:solidFill>
                <a:srgbClr val="000000"/>
              </a:solidFill>
              <a:effectLst/>
              <a:uLnTx/>
              <a:uFillTx/>
              <a:latin typeface="Tahoma" panose="020B0604030504040204" pitchFamily="34" charset="0"/>
            </a:endParaRPr>
          </a:p>
        </p:txBody>
      </p:sp>
      <p:sp>
        <p:nvSpPr>
          <p:cNvPr id="41" name="Text Box 13">
            <a:extLst>
              <a:ext uri="{FF2B5EF4-FFF2-40B4-BE49-F238E27FC236}">
                <a16:creationId xmlns:a16="http://schemas.microsoft.com/office/drawing/2014/main" id="{3D915EFA-B87D-A9D1-8BFD-042C06A24787}"/>
              </a:ext>
            </a:extLst>
          </p:cNvPr>
          <p:cNvSpPr txBox="1">
            <a:spLocks noChangeArrowheads="1"/>
          </p:cNvSpPr>
          <p:nvPr/>
        </p:nvSpPr>
        <p:spPr bwMode="auto">
          <a:xfrm>
            <a:off x="9271865" y="3483179"/>
            <a:ext cx="143500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st1:Stack</a:t>
            </a:r>
            <a:endParaRPr kumimoji="0" lang="en-GB" altLang="el-GR" sz="2400" b="0" i="0" u="none" strike="noStrike" kern="0" cap="none" spc="0" normalizeH="0" baseline="0" noProof="0" dirty="0">
              <a:ln>
                <a:noFill/>
              </a:ln>
              <a:solidFill>
                <a:srgbClr val="000000"/>
              </a:solidFill>
              <a:effectLst/>
              <a:uLnTx/>
              <a:uFillTx/>
              <a:latin typeface="Tahoma" panose="020B0604030504040204" pitchFamily="34" charset="0"/>
            </a:endParaRPr>
          </a:p>
        </p:txBody>
      </p:sp>
      <p:sp>
        <p:nvSpPr>
          <p:cNvPr id="42" name="Text Box 11">
            <a:extLst>
              <a:ext uri="{FF2B5EF4-FFF2-40B4-BE49-F238E27FC236}">
                <a16:creationId xmlns:a16="http://schemas.microsoft.com/office/drawing/2014/main" id="{F0E2858E-D2DD-5984-FB74-58A655615402}"/>
              </a:ext>
            </a:extLst>
          </p:cNvPr>
          <p:cNvSpPr txBox="1">
            <a:spLocks noChangeArrowheads="1"/>
          </p:cNvSpPr>
          <p:nvPr/>
        </p:nvSpPr>
        <p:spPr bwMode="auto">
          <a:xfrm>
            <a:off x="6404256" y="2837288"/>
            <a:ext cx="158088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d2</a:t>
            </a:r>
            <a:r>
              <a:rPr kumimoji="0" lang="el-GR" altLang="el-GR" sz="2400" b="0" i="0" u="none" strike="noStrike" kern="0" cap="none" spc="0" normalizeH="0" baseline="0" noProof="0" dirty="0">
                <a:ln>
                  <a:noFill/>
                </a:ln>
                <a:solidFill>
                  <a:srgbClr val="000000"/>
                </a:solidFill>
                <a:effectLst/>
                <a:uLnTx/>
                <a:uFillTx/>
                <a:latin typeface="Tahoma" panose="020B0604030504040204" pitchFamily="34" charset="0"/>
              </a:rPr>
              <a:t>:</a:t>
            </a: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Double</a:t>
            </a:r>
            <a:endParaRPr kumimoji="0" lang="en-GB" altLang="el-GR" sz="2400" b="0" i="0" u="none" strike="noStrike" kern="0" cap="none" spc="0" normalizeH="0" baseline="0" noProof="0" dirty="0">
              <a:ln>
                <a:noFill/>
              </a:ln>
              <a:solidFill>
                <a:srgbClr val="000000"/>
              </a:solidFill>
              <a:effectLst/>
              <a:uLnTx/>
              <a:uFillTx/>
              <a:latin typeface="Tahoma" panose="020B0604030504040204" pitchFamily="34" charset="0"/>
            </a:endParaRPr>
          </a:p>
        </p:txBody>
      </p:sp>
    </p:spTree>
    <p:extLst>
      <p:ext uri="{BB962C8B-B14F-4D97-AF65-F5344CB8AC3E}">
        <p14:creationId xmlns:p14="http://schemas.microsoft.com/office/powerpoint/2010/main" val="266675795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dissolve">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37"/>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7" grpId="0" animBg="1"/>
      <p:bldP spid="3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Ορισμός της κλάσης </a:t>
            </a:r>
            <a:r>
              <a:rPr lang="en-US" sz="4000" b="1" dirty="0">
                <a:solidFill>
                  <a:srgbClr val="F9853D"/>
                </a:solidFill>
                <a:latin typeface="Bahnschrift" panose="020B0502040204020203" pitchFamily="34" charset="0"/>
              </a:rPr>
              <a:t>Calc</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3" name="Θέση υποσέλιδου 4">
            <a:extLst>
              <a:ext uri="{FF2B5EF4-FFF2-40B4-BE49-F238E27FC236}">
                <a16:creationId xmlns:a16="http://schemas.microsoft.com/office/drawing/2014/main" id="{C84FEE0A-EC67-F275-4254-C7380CB8525E}"/>
              </a:ext>
            </a:extLst>
          </p:cNvPr>
          <p:cNvSpPr txBox="1">
            <a:spLocks/>
          </p:cNvSpPr>
          <p:nvPr/>
        </p:nvSpPr>
        <p:spPr>
          <a:xfrm>
            <a:off x="3305908" y="6559909"/>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LEGO Approach – Part B</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4" name="Rectangle 62">
            <a:extLst>
              <a:ext uri="{FF2B5EF4-FFF2-40B4-BE49-F238E27FC236}">
                <a16:creationId xmlns:a16="http://schemas.microsoft.com/office/drawing/2014/main" id="{58BCCDD1-3E01-1A1A-445D-AF3A45B8F626}"/>
              </a:ext>
            </a:extLst>
          </p:cNvPr>
          <p:cNvSpPr txBox="1">
            <a:spLocks noChangeArrowheads="1"/>
          </p:cNvSpPr>
          <p:nvPr/>
        </p:nvSpPr>
        <p:spPr>
          <a:xfrm>
            <a:off x="2189489" y="2401186"/>
            <a:ext cx="4796102" cy="2388902"/>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el-GR" altLang="el-GR" sz="3200" b="1" dirty="0" err="1"/>
              <a:t>class</a:t>
            </a:r>
            <a:r>
              <a:rPr lang="el-GR" altLang="el-GR" sz="3200" b="1" dirty="0"/>
              <a:t> </a:t>
            </a:r>
            <a:r>
              <a:rPr lang="en-US" altLang="el-GR" sz="3200" b="1" dirty="0">
                <a:solidFill>
                  <a:schemeClr val="hlink"/>
                </a:solidFill>
              </a:rPr>
              <a:t>Calc</a:t>
            </a:r>
            <a:r>
              <a:rPr lang="el-GR" altLang="el-GR" sz="3200" b="1" dirty="0"/>
              <a:t> {</a:t>
            </a:r>
            <a:endParaRPr lang="en-US" altLang="el-GR" sz="3200" b="1" dirty="0"/>
          </a:p>
          <a:p>
            <a:pPr>
              <a:buFont typeface="Wingdings" panose="05000000000000000000" pitchFamily="2" charset="2"/>
              <a:buNone/>
            </a:pPr>
            <a:r>
              <a:rPr lang="en-US" altLang="el-GR" sz="3200" b="1" dirty="0"/>
              <a:t>	  </a:t>
            </a:r>
            <a:r>
              <a:rPr lang="en-US" altLang="el-GR" sz="3200" dirty="0"/>
              <a:t>//data members</a:t>
            </a:r>
            <a:r>
              <a:rPr lang="en-US" altLang="el-GR" sz="3200" b="1" dirty="0"/>
              <a:t> ?</a:t>
            </a:r>
          </a:p>
          <a:p>
            <a:pPr>
              <a:buFont typeface="Wingdings" panose="05000000000000000000" pitchFamily="2" charset="2"/>
              <a:buNone/>
            </a:pPr>
            <a:r>
              <a:rPr lang="en-US" altLang="el-GR" sz="3200" b="1" dirty="0"/>
              <a:t>	  </a:t>
            </a:r>
            <a:r>
              <a:rPr lang="en-US" altLang="el-GR" sz="3200" dirty="0"/>
              <a:t>// methods</a:t>
            </a:r>
            <a:r>
              <a:rPr lang="en-US" altLang="el-GR" sz="3200" b="1" dirty="0"/>
              <a:t> ?</a:t>
            </a:r>
          </a:p>
          <a:p>
            <a:pPr>
              <a:buFont typeface="Wingdings" panose="05000000000000000000" pitchFamily="2" charset="2"/>
              <a:buNone/>
            </a:pPr>
            <a:r>
              <a:rPr lang="en-US" altLang="el-GR" sz="3200" b="1" dirty="0"/>
              <a:t>	  </a:t>
            </a:r>
            <a:r>
              <a:rPr lang="el-GR" altLang="el-GR" sz="3200" b="1" dirty="0"/>
              <a:t>}</a:t>
            </a:r>
            <a:endParaRPr lang="en-US" altLang="el-GR" sz="3200" b="1" dirty="0"/>
          </a:p>
        </p:txBody>
      </p:sp>
      <p:sp>
        <p:nvSpPr>
          <p:cNvPr id="5" name="Text Box 4">
            <a:extLst>
              <a:ext uri="{FF2B5EF4-FFF2-40B4-BE49-F238E27FC236}">
                <a16:creationId xmlns:a16="http://schemas.microsoft.com/office/drawing/2014/main" id="{5BC9CF81-86C6-0444-2AF1-6810A532EAE6}"/>
              </a:ext>
            </a:extLst>
          </p:cNvPr>
          <p:cNvSpPr txBox="1">
            <a:spLocks noChangeArrowheads="1"/>
          </p:cNvSpPr>
          <p:nvPr/>
        </p:nvSpPr>
        <p:spPr bwMode="auto">
          <a:xfrm>
            <a:off x="697386" y="2401186"/>
            <a:ext cx="874713"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l-GR" altLang="el-GR" sz="9600" b="1" dirty="0">
                <a:solidFill>
                  <a:srgbClr val="FF0000"/>
                </a:solidFill>
              </a:rPr>
              <a:t>?</a:t>
            </a:r>
            <a:endParaRPr lang="en-GB" altLang="el-GR" sz="9600" b="1" dirty="0">
              <a:solidFill>
                <a:srgbClr val="FF0000"/>
              </a:solidFill>
            </a:endParaRPr>
          </a:p>
        </p:txBody>
      </p:sp>
      <p:sp>
        <p:nvSpPr>
          <p:cNvPr id="6" name="Rectangle 62">
            <a:extLst>
              <a:ext uri="{FF2B5EF4-FFF2-40B4-BE49-F238E27FC236}">
                <a16:creationId xmlns:a16="http://schemas.microsoft.com/office/drawing/2014/main" id="{E2E2D78C-EEA1-2306-1A9B-08E3B074FD88}"/>
              </a:ext>
            </a:extLst>
          </p:cNvPr>
          <p:cNvSpPr txBox="1">
            <a:spLocks noChangeArrowheads="1"/>
          </p:cNvSpPr>
          <p:nvPr/>
        </p:nvSpPr>
        <p:spPr>
          <a:xfrm>
            <a:off x="6985590" y="1543793"/>
            <a:ext cx="5206409" cy="4103687"/>
          </a:xfrm>
          <a:prstGeom prst="rect">
            <a:avLst/>
          </a:prstGeom>
          <a:noFill/>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el-GR" altLang="el-GR" sz="3200" b="1" dirty="0" err="1"/>
              <a:t>class</a:t>
            </a:r>
            <a:r>
              <a:rPr lang="el-GR" altLang="el-GR" sz="3200" b="1" dirty="0"/>
              <a:t> </a:t>
            </a:r>
            <a:r>
              <a:rPr lang="en-US" altLang="el-GR" sz="3200" b="1" dirty="0">
                <a:solidFill>
                  <a:schemeClr val="hlink"/>
                </a:solidFill>
              </a:rPr>
              <a:t>Calc</a:t>
            </a:r>
            <a:r>
              <a:rPr lang="el-GR" altLang="el-GR" sz="3200" b="1" dirty="0"/>
              <a:t> {</a:t>
            </a:r>
            <a:endParaRPr lang="en-US" altLang="el-GR" sz="3200" b="1" dirty="0"/>
          </a:p>
          <a:p>
            <a:pPr>
              <a:buFont typeface="Wingdings" panose="05000000000000000000" pitchFamily="2" charset="2"/>
              <a:buNone/>
            </a:pPr>
            <a:r>
              <a:rPr lang="en-US" altLang="el-GR" sz="3200" b="1" dirty="0"/>
              <a:t>	</a:t>
            </a:r>
            <a:r>
              <a:rPr lang="en-US" altLang="el-GR" sz="3200" dirty="0"/>
              <a:t>   static Double d1, d2;</a:t>
            </a:r>
          </a:p>
          <a:p>
            <a:pPr>
              <a:buFont typeface="Wingdings" panose="05000000000000000000" pitchFamily="2" charset="2"/>
              <a:buNone/>
            </a:pPr>
            <a:r>
              <a:rPr lang="en-US" altLang="el-GR" sz="3200" b="1" dirty="0"/>
              <a:t>	   </a:t>
            </a:r>
            <a:r>
              <a:rPr lang="en-US" altLang="el-GR" sz="3200" dirty="0"/>
              <a:t>static</a:t>
            </a:r>
            <a:r>
              <a:rPr lang="en-US" altLang="el-GR" sz="3200" b="1" dirty="0"/>
              <a:t> </a:t>
            </a:r>
            <a:r>
              <a:rPr lang="en-US" altLang="el-GR" sz="3200" dirty="0"/>
              <a:t>Stack&lt;Double&gt; st1;</a:t>
            </a:r>
          </a:p>
          <a:p>
            <a:pPr>
              <a:buFont typeface="Wingdings" panose="05000000000000000000" pitchFamily="2" charset="2"/>
              <a:buNone/>
            </a:pPr>
            <a:r>
              <a:rPr lang="en-US" altLang="el-GR" sz="3200" b="1" dirty="0"/>
              <a:t>	</a:t>
            </a:r>
          </a:p>
          <a:p>
            <a:pPr>
              <a:buFont typeface="Wingdings" panose="05000000000000000000" pitchFamily="2" charset="2"/>
              <a:buNone/>
            </a:pPr>
            <a:r>
              <a:rPr lang="en-US" altLang="el-GR" sz="3200" b="1" dirty="0"/>
              <a:t>	   public static void </a:t>
            </a:r>
            <a:r>
              <a:rPr lang="en-US" altLang="el-GR" sz="3200" b="1" dirty="0">
                <a:solidFill>
                  <a:srgbClr val="800000"/>
                </a:solidFill>
              </a:rPr>
              <a:t>main</a:t>
            </a:r>
            <a:r>
              <a:rPr lang="en-US" altLang="el-GR" sz="3200" b="1" dirty="0"/>
              <a:t>() {</a:t>
            </a:r>
          </a:p>
          <a:p>
            <a:pPr>
              <a:buFont typeface="Wingdings" panose="05000000000000000000" pitchFamily="2" charset="2"/>
              <a:buNone/>
            </a:pPr>
            <a:r>
              <a:rPr lang="en-US" altLang="el-GR" sz="3200" b="1" dirty="0"/>
              <a:t>		</a:t>
            </a:r>
            <a:r>
              <a:rPr lang="en-US" altLang="el-GR" sz="4800" b="1" dirty="0">
                <a:solidFill>
                  <a:srgbClr val="FF0000"/>
                </a:solidFill>
              </a:rPr>
              <a:t>?</a:t>
            </a:r>
            <a:endParaRPr lang="en-US" altLang="el-GR" sz="3200" b="1" dirty="0">
              <a:solidFill>
                <a:srgbClr val="FF0000"/>
              </a:solidFill>
            </a:endParaRPr>
          </a:p>
          <a:p>
            <a:pPr>
              <a:buFont typeface="Wingdings" panose="05000000000000000000" pitchFamily="2" charset="2"/>
              <a:buNone/>
            </a:pPr>
            <a:r>
              <a:rPr lang="en-US" altLang="el-GR" sz="3200" b="1" dirty="0"/>
              <a:t>	  	}</a:t>
            </a:r>
          </a:p>
          <a:p>
            <a:pPr>
              <a:buFont typeface="Wingdings" panose="05000000000000000000" pitchFamily="2" charset="2"/>
              <a:buNone/>
            </a:pPr>
            <a:r>
              <a:rPr lang="en-US" altLang="el-GR" sz="3200" b="1" dirty="0"/>
              <a:t>	   </a:t>
            </a:r>
            <a:r>
              <a:rPr lang="el-GR" altLang="el-GR" sz="3200" b="1" dirty="0"/>
              <a:t>}</a:t>
            </a:r>
            <a:endParaRPr lang="en-US" altLang="el-GR" sz="3200" b="1" dirty="0"/>
          </a:p>
        </p:txBody>
      </p:sp>
    </p:spTree>
    <p:extLst>
      <p:ext uri="{BB962C8B-B14F-4D97-AF65-F5344CB8AC3E}">
        <p14:creationId xmlns:p14="http://schemas.microsoft.com/office/powerpoint/2010/main" val="189111616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dissolve">
                                      <p:cBhvr>
                                        <p:cTn id="7" dur="500"/>
                                        <p:tgtEl>
                                          <p:spTgt spid="4">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dissolve">
                                      <p:cBhvr>
                                        <p:cTn id="10" dur="500"/>
                                        <p:tgtEl>
                                          <p:spTgt spid="4">
                                            <p:txEl>
                                              <p:pRg st="1" end="1"/>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dissolve">
                                      <p:cBhvr>
                                        <p:cTn id="13" dur="500"/>
                                        <p:tgtEl>
                                          <p:spTgt spid="4">
                                            <p:txEl>
                                              <p:pRg st="2" end="2"/>
                                            </p:txEl>
                                          </p:spTgt>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4">
                                            <p:txEl>
                                              <p:pRg st="3" end="3"/>
                                            </p:txEl>
                                          </p:spTgt>
                                        </p:tgtEl>
                                        <p:attrNameLst>
                                          <p:attrName>style.visibility</p:attrName>
                                        </p:attrNameLst>
                                      </p:cBhvr>
                                      <p:to>
                                        <p:strVal val="visible"/>
                                      </p:to>
                                    </p:set>
                                    <p:animEffect transition="in" filter="dissolve">
                                      <p:cBhvr>
                                        <p:cTn id="16" dur="500"/>
                                        <p:tgtEl>
                                          <p:spTgt spid="4">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6">
                                            <p:txEl>
                                              <p:pRg st="0" end="0"/>
                                            </p:txEl>
                                          </p:spTgt>
                                        </p:tgtEl>
                                        <p:attrNameLst>
                                          <p:attrName>style.visibility</p:attrName>
                                        </p:attrNameLst>
                                      </p:cBhvr>
                                      <p:to>
                                        <p:strVal val="visible"/>
                                      </p:to>
                                    </p:set>
                                    <p:animEffect transition="in" filter="dissolve">
                                      <p:cBhvr>
                                        <p:cTn id="21" dur="500"/>
                                        <p:tgtEl>
                                          <p:spTgt spid="6">
                                            <p:txEl>
                                              <p:pRg st="0" end="0"/>
                                            </p:txEl>
                                          </p:spTgt>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6">
                                            <p:txEl>
                                              <p:pRg st="1" end="1"/>
                                            </p:txEl>
                                          </p:spTgt>
                                        </p:tgtEl>
                                        <p:attrNameLst>
                                          <p:attrName>style.visibility</p:attrName>
                                        </p:attrNameLst>
                                      </p:cBhvr>
                                      <p:to>
                                        <p:strVal val="visible"/>
                                      </p:to>
                                    </p:set>
                                    <p:animEffect transition="in" filter="dissolve">
                                      <p:cBhvr>
                                        <p:cTn id="24" dur="500"/>
                                        <p:tgtEl>
                                          <p:spTgt spid="6">
                                            <p:txEl>
                                              <p:pRg st="1" end="1"/>
                                            </p:txEl>
                                          </p:spTgt>
                                        </p:tgtEl>
                                      </p:cBhvr>
                                    </p:animEffect>
                                  </p:childTnLst>
                                </p:cTn>
                              </p:par>
                              <p:par>
                                <p:cTn id="25" presetID="9" presetClass="entr" presetSubtype="0" fill="hold" grpId="0" nodeType="withEffect">
                                  <p:stCondLst>
                                    <p:cond delay="0"/>
                                  </p:stCondLst>
                                  <p:childTnLst>
                                    <p:set>
                                      <p:cBhvr>
                                        <p:cTn id="26" dur="1" fill="hold">
                                          <p:stCondLst>
                                            <p:cond delay="0"/>
                                          </p:stCondLst>
                                        </p:cTn>
                                        <p:tgtEl>
                                          <p:spTgt spid="6">
                                            <p:txEl>
                                              <p:pRg st="2" end="2"/>
                                            </p:txEl>
                                          </p:spTgt>
                                        </p:tgtEl>
                                        <p:attrNameLst>
                                          <p:attrName>style.visibility</p:attrName>
                                        </p:attrNameLst>
                                      </p:cBhvr>
                                      <p:to>
                                        <p:strVal val="visible"/>
                                      </p:to>
                                    </p:set>
                                    <p:animEffect transition="in" filter="dissolve">
                                      <p:cBhvr>
                                        <p:cTn id="27" dur="500"/>
                                        <p:tgtEl>
                                          <p:spTgt spid="6">
                                            <p:txEl>
                                              <p:pRg st="2" end="2"/>
                                            </p:txEl>
                                          </p:spTgt>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6">
                                            <p:txEl>
                                              <p:pRg st="3" end="3"/>
                                            </p:txEl>
                                          </p:spTgt>
                                        </p:tgtEl>
                                        <p:attrNameLst>
                                          <p:attrName>style.visibility</p:attrName>
                                        </p:attrNameLst>
                                      </p:cBhvr>
                                      <p:to>
                                        <p:strVal val="visible"/>
                                      </p:to>
                                    </p:set>
                                    <p:animEffect transition="in" filter="dissolve">
                                      <p:cBhvr>
                                        <p:cTn id="30" dur="500"/>
                                        <p:tgtEl>
                                          <p:spTgt spid="6">
                                            <p:txEl>
                                              <p:pRg st="3" end="3"/>
                                            </p:txEl>
                                          </p:spTgt>
                                        </p:tgtEl>
                                      </p:cBhvr>
                                    </p:animEffect>
                                  </p:childTnLst>
                                </p:cTn>
                              </p:par>
                              <p:par>
                                <p:cTn id="31" presetID="9" presetClass="entr" presetSubtype="0" fill="hold" grpId="0" nodeType="withEffect">
                                  <p:stCondLst>
                                    <p:cond delay="0"/>
                                  </p:stCondLst>
                                  <p:childTnLst>
                                    <p:set>
                                      <p:cBhvr>
                                        <p:cTn id="32" dur="1" fill="hold">
                                          <p:stCondLst>
                                            <p:cond delay="0"/>
                                          </p:stCondLst>
                                        </p:cTn>
                                        <p:tgtEl>
                                          <p:spTgt spid="6">
                                            <p:txEl>
                                              <p:pRg st="4" end="4"/>
                                            </p:txEl>
                                          </p:spTgt>
                                        </p:tgtEl>
                                        <p:attrNameLst>
                                          <p:attrName>style.visibility</p:attrName>
                                        </p:attrNameLst>
                                      </p:cBhvr>
                                      <p:to>
                                        <p:strVal val="visible"/>
                                      </p:to>
                                    </p:set>
                                    <p:animEffect transition="in" filter="dissolve">
                                      <p:cBhvr>
                                        <p:cTn id="33" dur="500"/>
                                        <p:tgtEl>
                                          <p:spTgt spid="6">
                                            <p:txEl>
                                              <p:pRg st="4" end="4"/>
                                            </p:txEl>
                                          </p:spTgt>
                                        </p:tgtEl>
                                      </p:cBhvr>
                                    </p:animEffect>
                                  </p:childTnLst>
                                </p:cTn>
                              </p:par>
                              <p:par>
                                <p:cTn id="34" presetID="9" presetClass="entr" presetSubtype="0" fill="hold" grpId="0" nodeType="withEffect">
                                  <p:stCondLst>
                                    <p:cond delay="0"/>
                                  </p:stCondLst>
                                  <p:childTnLst>
                                    <p:set>
                                      <p:cBhvr>
                                        <p:cTn id="35" dur="1" fill="hold">
                                          <p:stCondLst>
                                            <p:cond delay="0"/>
                                          </p:stCondLst>
                                        </p:cTn>
                                        <p:tgtEl>
                                          <p:spTgt spid="6">
                                            <p:txEl>
                                              <p:pRg st="5" end="5"/>
                                            </p:txEl>
                                          </p:spTgt>
                                        </p:tgtEl>
                                        <p:attrNameLst>
                                          <p:attrName>style.visibility</p:attrName>
                                        </p:attrNameLst>
                                      </p:cBhvr>
                                      <p:to>
                                        <p:strVal val="visible"/>
                                      </p:to>
                                    </p:set>
                                    <p:animEffect transition="in" filter="dissolve">
                                      <p:cBhvr>
                                        <p:cTn id="36" dur="500"/>
                                        <p:tgtEl>
                                          <p:spTgt spid="6">
                                            <p:txEl>
                                              <p:pRg st="5" end="5"/>
                                            </p:txEl>
                                          </p:spTgt>
                                        </p:tgtEl>
                                      </p:cBhvr>
                                    </p:animEffect>
                                  </p:childTnLst>
                                </p:cTn>
                              </p:par>
                              <p:par>
                                <p:cTn id="37" presetID="9" presetClass="entr" presetSubtype="0" fill="hold" grpId="0" nodeType="withEffect">
                                  <p:stCondLst>
                                    <p:cond delay="0"/>
                                  </p:stCondLst>
                                  <p:childTnLst>
                                    <p:set>
                                      <p:cBhvr>
                                        <p:cTn id="38" dur="1" fill="hold">
                                          <p:stCondLst>
                                            <p:cond delay="0"/>
                                          </p:stCondLst>
                                        </p:cTn>
                                        <p:tgtEl>
                                          <p:spTgt spid="6">
                                            <p:txEl>
                                              <p:pRg st="6" end="6"/>
                                            </p:txEl>
                                          </p:spTgt>
                                        </p:tgtEl>
                                        <p:attrNameLst>
                                          <p:attrName>style.visibility</p:attrName>
                                        </p:attrNameLst>
                                      </p:cBhvr>
                                      <p:to>
                                        <p:strVal val="visible"/>
                                      </p:to>
                                    </p:set>
                                    <p:animEffect transition="in" filter="dissolve">
                                      <p:cBhvr>
                                        <p:cTn id="39" dur="500"/>
                                        <p:tgtEl>
                                          <p:spTgt spid="6">
                                            <p:txEl>
                                              <p:pRg st="6" end="6"/>
                                            </p:txEl>
                                          </p:spTgt>
                                        </p:tgtEl>
                                      </p:cBhvr>
                                    </p:animEffect>
                                  </p:childTnLst>
                                </p:cTn>
                              </p:par>
                              <p:par>
                                <p:cTn id="40" presetID="9" presetClass="entr" presetSubtype="0" fill="hold" grpId="0" nodeType="withEffect">
                                  <p:stCondLst>
                                    <p:cond delay="0"/>
                                  </p:stCondLst>
                                  <p:childTnLst>
                                    <p:set>
                                      <p:cBhvr>
                                        <p:cTn id="41" dur="1" fill="hold">
                                          <p:stCondLst>
                                            <p:cond delay="0"/>
                                          </p:stCondLst>
                                        </p:cTn>
                                        <p:tgtEl>
                                          <p:spTgt spid="6">
                                            <p:txEl>
                                              <p:pRg st="7" end="7"/>
                                            </p:txEl>
                                          </p:spTgt>
                                        </p:tgtEl>
                                        <p:attrNameLst>
                                          <p:attrName>style.visibility</p:attrName>
                                        </p:attrNameLst>
                                      </p:cBhvr>
                                      <p:to>
                                        <p:strVal val="visible"/>
                                      </p:to>
                                    </p:set>
                                    <p:animEffect transition="in" filter="dissolve">
                                      <p:cBhvr>
                                        <p:cTn id="42" dur="500"/>
                                        <p:tgtEl>
                                          <p:spTgt spid="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P spid="6" grpId="0" build="allAtOnce"/>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Οργάνωση Διάλεξης</a:t>
            </a: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6" name="Rectangle 3">
            <a:extLst>
              <a:ext uri="{FF2B5EF4-FFF2-40B4-BE49-F238E27FC236}">
                <a16:creationId xmlns:a16="http://schemas.microsoft.com/office/drawing/2014/main" id="{DA6131CC-51AC-7772-5DFB-DAF535789200}"/>
              </a:ext>
            </a:extLst>
          </p:cNvPr>
          <p:cNvSpPr txBox="1">
            <a:spLocks noChangeArrowheads="1"/>
          </p:cNvSpPr>
          <p:nvPr/>
        </p:nvSpPr>
        <p:spPr bwMode="auto">
          <a:xfrm>
            <a:off x="224208" y="1081628"/>
            <a:ext cx="10165491" cy="50765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514350" indent="-457200" eaLnBrk="1" hangingPunct="1">
              <a:buClr>
                <a:schemeClr val="hlink"/>
              </a:buClr>
              <a:defRPr/>
            </a:pPr>
            <a:r>
              <a:rPr lang="el-GR" dirty="0">
                <a:latin typeface="Tahoma" panose="020B0604030504040204" pitchFamily="34" charset="0"/>
                <a:ea typeface="Tahoma" panose="020B0604030504040204" pitchFamily="34" charset="0"/>
                <a:cs typeface="Tahoma" panose="020B0604030504040204" pitchFamily="34" charset="0"/>
              </a:rPr>
              <a:t>Αφαιρετική περιγραφή συμπεριφοράς</a:t>
            </a:r>
          </a:p>
          <a:p>
            <a:pPr marL="914400" lvl="1" indent="-457200" eaLnBrk="1" hangingPunct="1">
              <a:defRPr/>
            </a:pPr>
            <a:r>
              <a:rPr lang="en-US" dirty="0">
                <a:latin typeface="Tahoma" panose="020B0604030504040204" pitchFamily="34" charset="0"/>
                <a:ea typeface="Tahoma" panose="020B0604030504040204" pitchFamily="34" charset="0"/>
                <a:cs typeface="Tahoma" panose="020B0604030504040204" pitchFamily="34" charset="0"/>
              </a:rPr>
              <a:t>Object Interaction Diagram/Sequence Diagram</a:t>
            </a:r>
            <a:endParaRPr lang="el-GR" dirty="0">
              <a:latin typeface="Tahoma" panose="020B0604030504040204" pitchFamily="34" charset="0"/>
              <a:ea typeface="Tahoma" panose="020B0604030504040204" pitchFamily="34" charset="0"/>
              <a:cs typeface="Tahoma" panose="020B0604030504040204" pitchFamily="34" charset="0"/>
            </a:endParaRPr>
          </a:p>
          <a:p>
            <a:pPr marL="514350" indent="-457200" eaLnBrk="1" hangingPunct="1">
              <a:buClr>
                <a:schemeClr val="hlink"/>
              </a:buClr>
              <a:defRPr/>
            </a:pPr>
            <a:r>
              <a:rPr lang="el-GR" dirty="0">
                <a:latin typeface="Tahoma" panose="020B0604030504040204" pitchFamily="34" charset="0"/>
                <a:ea typeface="Tahoma" panose="020B0604030504040204" pitchFamily="34" charset="0"/>
                <a:cs typeface="Tahoma" panose="020B0604030504040204" pitchFamily="34" charset="0"/>
              </a:rPr>
              <a:t>Η άσκηση </a:t>
            </a:r>
            <a:r>
              <a:rPr lang="en-US" dirty="0">
                <a:latin typeface="Tahoma" panose="020B0604030504040204" pitchFamily="34" charset="0"/>
                <a:ea typeface="Tahoma" panose="020B0604030504040204" pitchFamily="34" charset="0"/>
                <a:cs typeface="Tahoma" panose="020B0604030504040204" pitchFamily="34" charset="0"/>
              </a:rPr>
              <a:t>Calc</a:t>
            </a:r>
            <a:endParaRPr lang="el-GR" dirty="0">
              <a:latin typeface="Tahoma" panose="020B0604030504040204" pitchFamily="34" charset="0"/>
              <a:ea typeface="Tahoma" panose="020B0604030504040204" pitchFamily="34" charset="0"/>
              <a:cs typeface="Tahoma" panose="020B0604030504040204" pitchFamily="34" charset="0"/>
            </a:endParaRPr>
          </a:p>
          <a:p>
            <a:pPr marL="914400" lvl="1" indent="-457200" eaLnBrk="1" hangingPunct="1">
              <a:defRPr/>
            </a:pPr>
            <a:r>
              <a:rPr lang="el-GR" dirty="0">
                <a:latin typeface="Tahoma" panose="020B0604030504040204" pitchFamily="34" charset="0"/>
                <a:ea typeface="Tahoma" panose="020B0604030504040204" pitchFamily="34" charset="0"/>
                <a:cs typeface="Tahoma" panose="020B0604030504040204" pitchFamily="34" charset="0"/>
              </a:rPr>
              <a:t>Αναγνώριση αντικειμένων (δομή προγράμματος)</a:t>
            </a:r>
            <a:endParaRPr lang="en-US" dirty="0">
              <a:latin typeface="Tahoma" panose="020B0604030504040204" pitchFamily="34" charset="0"/>
              <a:ea typeface="Tahoma" panose="020B0604030504040204" pitchFamily="34" charset="0"/>
              <a:cs typeface="Tahoma" panose="020B0604030504040204" pitchFamily="34" charset="0"/>
            </a:endParaRPr>
          </a:p>
          <a:p>
            <a:pPr marL="514350" indent="-457200" eaLnBrk="1" hangingPunct="1">
              <a:buClr>
                <a:schemeClr val="hlink"/>
              </a:buClr>
              <a:defRPr/>
            </a:pPr>
            <a:r>
              <a:rPr lang="en-US" b="1" dirty="0">
                <a:latin typeface="Tahoma" panose="020B0604030504040204" pitchFamily="34" charset="0"/>
                <a:ea typeface="Tahoma" panose="020B0604030504040204" pitchFamily="34" charset="0"/>
                <a:cs typeface="Tahoma" panose="020B0604030504040204" pitchFamily="34" charset="0"/>
              </a:rPr>
              <a:t>To </a:t>
            </a:r>
            <a:r>
              <a:rPr lang="el-GR" b="1" dirty="0">
                <a:latin typeface="Tahoma" panose="020B0604030504040204" pitchFamily="34" charset="0"/>
                <a:ea typeface="Tahoma" panose="020B0604030504040204" pitchFamily="34" charset="0"/>
                <a:cs typeface="Tahoma" panose="020B0604030504040204" pitchFamily="34" charset="0"/>
              </a:rPr>
              <a:t>πρόγραμμα </a:t>
            </a:r>
            <a:r>
              <a:rPr lang="en-US" b="1" dirty="0">
                <a:latin typeface="Tahoma" panose="020B0604030504040204" pitchFamily="34" charset="0"/>
                <a:ea typeface="Tahoma" panose="020B0604030504040204" pitchFamily="34" charset="0"/>
                <a:cs typeface="Tahoma" panose="020B0604030504040204" pitchFamily="34" charset="0"/>
              </a:rPr>
              <a:t>Calc</a:t>
            </a:r>
            <a:r>
              <a:rPr lang="el-GR" b="1" dirty="0">
                <a:latin typeface="Tahoma" panose="020B0604030504040204" pitchFamily="34" charset="0"/>
                <a:ea typeface="Tahoma" panose="020B0604030504040204" pitchFamily="34" charset="0"/>
                <a:cs typeface="Tahoma" panose="020B0604030504040204" pitchFamily="34" charset="0"/>
              </a:rPr>
              <a:t> (1</a:t>
            </a:r>
            <a:r>
              <a:rPr lang="el-GR" b="1" baseline="30000" dirty="0">
                <a:latin typeface="Tahoma" panose="020B0604030504040204" pitchFamily="34" charset="0"/>
                <a:ea typeface="Tahoma" panose="020B0604030504040204" pitchFamily="34" charset="0"/>
                <a:cs typeface="Tahoma" panose="020B0604030504040204" pitchFamily="34" charset="0"/>
              </a:rPr>
              <a:t>η</a:t>
            </a:r>
            <a:r>
              <a:rPr lang="el-GR" b="1" dirty="0">
                <a:latin typeface="Tahoma" panose="020B0604030504040204" pitchFamily="34" charset="0"/>
                <a:ea typeface="Tahoma" panose="020B0604030504040204" pitchFamily="34" charset="0"/>
                <a:cs typeface="Tahoma" panose="020B0604030504040204" pitchFamily="34" charset="0"/>
              </a:rPr>
              <a:t> έκδοση)</a:t>
            </a:r>
          </a:p>
          <a:p>
            <a:pPr marL="914400" lvl="1" indent="-457200" eaLnBrk="1" hangingPunct="1">
              <a:defRPr/>
            </a:pPr>
            <a:r>
              <a:rPr lang="en-US" b="1" dirty="0">
                <a:latin typeface="Tahoma" panose="020B0604030504040204" pitchFamily="34" charset="0"/>
                <a:ea typeface="Tahoma" panose="020B0604030504040204" pitchFamily="34" charset="0"/>
                <a:cs typeface="Tahoma" panose="020B0604030504040204" pitchFamily="34" charset="0"/>
              </a:rPr>
              <a:t>Generics – </a:t>
            </a:r>
            <a:r>
              <a:rPr lang="en-US" b="1" dirty="0" err="1">
                <a:latin typeface="Tahoma" panose="020B0604030504040204" pitchFamily="34" charset="0"/>
                <a:ea typeface="Tahoma" panose="020B0604030504040204" pitchFamily="34" charset="0"/>
                <a:cs typeface="Tahoma" panose="020B0604030504040204" pitchFamily="34" charset="0"/>
              </a:rPr>
              <a:t>java.util.Stack</a:t>
            </a:r>
            <a:r>
              <a:rPr lang="en-US" b="1" dirty="0">
                <a:latin typeface="Tahoma" panose="020B0604030504040204" pitchFamily="34" charset="0"/>
                <a:ea typeface="Tahoma" panose="020B0604030504040204" pitchFamily="34" charset="0"/>
                <a:cs typeface="Tahoma" panose="020B0604030504040204" pitchFamily="34" charset="0"/>
              </a:rPr>
              <a:t>&lt;E&gt;</a:t>
            </a:r>
          </a:p>
          <a:p>
            <a:pPr marL="914400" lvl="1" indent="-457200" eaLnBrk="1" hangingPunct="1">
              <a:defRPr/>
            </a:pPr>
            <a:r>
              <a:rPr lang="el-GR" b="1" dirty="0">
                <a:latin typeface="Tahoma" panose="020B0604030504040204" pitchFamily="34" charset="0"/>
                <a:ea typeface="Tahoma" panose="020B0604030504040204" pitchFamily="34" charset="0"/>
                <a:cs typeface="Tahoma" panose="020B0604030504040204" pitchFamily="34" charset="0"/>
              </a:rPr>
              <a:t>Η μέθοδος </a:t>
            </a:r>
            <a:r>
              <a:rPr lang="en-US" b="1" dirty="0" err="1">
                <a:latin typeface="Tahoma" panose="020B0604030504040204" pitchFamily="34" charset="0"/>
                <a:ea typeface="Tahoma" panose="020B0604030504040204" pitchFamily="34" charset="0"/>
                <a:cs typeface="Tahoma" panose="020B0604030504040204" pitchFamily="34" charset="0"/>
              </a:rPr>
              <a:t>toString</a:t>
            </a:r>
            <a:endParaRPr lang="en-US" b="1" dirty="0">
              <a:latin typeface="Tahoma" panose="020B0604030504040204" pitchFamily="34" charset="0"/>
              <a:ea typeface="Tahoma" panose="020B0604030504040204" pitchFamily="34" charset="0"/>
              <a:cs typeface="Tahoma" panose="020B0604030504040204" pitchFamily="34" charset="0"/>
            </a:endParaRPr>
          </a:p>
          <a:p>
            <a:pPr marL="914400" lvl="1" indent="-457200" eaLnBrk="1" hangingPunct="1">
              <a:defRPr/>
            </a:pPr>
            <a:r>
              <a:rPr lang="en-US" b="1" dirty="0" err="1">
                <a:latin typeface="Tahoma" panose="020B0604030504040204" pitchFamily="34" charset="0"/>
                <a:ea typeface="Tahoma" panose="020B0604030504040204" pitchFamily="34" charset="0"/>
                <a:cs typeface="Tahoma" panose="020B0604030504040204" pitchFamily="34" charset="0"/>
              </a:rPr>
              <a:t>System.out.println</a:t>
            </a:r>
            <a:r>
              <a:rPr lang="en-US" b="1" dirty="0">
                <a:latin typeface="Tahoma" panose="020B0604030504040204" pitchFamily="34" charset="0"/>
                <a:ea typeface="Tahoma" panose="020B0604030504040204" pitchFamily="34" charset="0"/>
                <a:cs typeface="Tahoma" panose="020B0604030504040204" pitchFamily="34" charset="0"/>
              </a:rPr>
              <a:t>()</a:t>
            </a:r>
          </a:p>
          <a:p>
            <a:pPr marL="514350" indent="-457200" eaLnBrk="1" hangingPunct="1">
              <a:buClr>
                <a:schemeClr val="hlink"/>
              </a:buClr>
              <a:defRPr/>
            </a:pPr>
            <a:r>
              <a:rPr lang="el-GR" dirty="0">
                <a:latin typeface="Tahoma" panose="020B0604030504040204" pitchFamily="34" charset="0"/>
                <a:ea typeface="Tahoma" panose="020B0604030504040204" pitchFamily="34" charset="0"/>
                <a:cs typeface="Tahoma" panose="020B0604030504040204" pitchFamily="34" charset="0"/>
              </a:rPr>
              <a:t>Αύξηση τμηματοποίησης (</a:t>
            </a:r>
            <a:r>
              <a:rPr lang="en-US" dirty="0">
                <a:latin typeface="Tahoma" panose="020B0604030504040204" pitchFamily="34" charset="0"/>
                <a:ea typeface="Tahoma" panose="020B0604030504040204" pitchFamily="34" charset="0"/>
                <a:cs typeface="Tahoma" panose="020B0604030504040204" pitchFamily="34" charset="0"/>
              </a:rPr>
              <a:t>modularity</a:t>
            </a:r>
            <a:r>
              <a:rPr lang="el-GR" dirty="0">
                <a:latin typeface="Tahoma" panose="020B0604030504040204" pitchFamily="34" charset="0"/>
                <a:ea typeface="Tahoma" panose="020B0604030504040204" pitchFamily="34" charset="0"/>
                <a:cs typeface="Tahoma" panose="020B0604030504040204" pitchFamily="34" charset="0"/>
              </a:rPr>
              <a:t>)</a:t>
            </a:r>
          </a:p>
          <a:p>
            <a:pPr marL="514350" indent="-457200" eaLnBrk="1" hangingPunct="1">
              <a:buClr>
                <a:schemeClr val="hlink"/>
              </a:buClr>
              <a:defRPr/>
            </a:pPr>
            <a:endParaRPr lang="el-GR" dirty="0">
              <a:latin typeface="Tahoma" panose="020B0604030504040204" pitchFamily="34" charset="0"/>
              <a:ea typeface="Tahoma" panose="020B0604030504040204" pitchFamily="34" charset="0"/>
              <a:cs typeface="Tahoma" panose="020B0604030504040204" pitchFamily="34" charset="0"/>
            </a:endParaRPr>
          </a:p>
          <a:p>
            <a:pPr marL="514350" indent="-457200" eaLnBrk="1" hangingPunct="1">
              <a:defRPr/>
            </a:pPr>
            <a:endParaRPr lang="en-US" dirty="0">
              <a:latin typeface="Tahoma" panose="020B0604030504040204" pitchFamily="34" charset="0"/>
              <a:ea typeface="Tahoma" panose="020B0604030504040204" pitchFamily="34" charset="0"/>
              <a:cs typeface="Tahoma" panose="020B0604030504040204" pitchFamily="34" charset="0"/>
            </a:endParaRPr>
          </a:p>
          <a:p>
            <a:pPr marL="514350" indent="-457200" eaLnBrk="1" hangingPunct="1">
              <a:buClr>
                <a:schemeClr val="hlink"/>
              </a:buClr>
              <a:defRPr/>
            </a:pPr>
            <a:endParaRPr lang="el-GR" dirty="0">
              <a:latin typeface="Tahoma" panose="020B0604030504040204" pitchFamily="34" charset="0"/>
              <a:ea typeface="Tahoma" panose="020B0604030504040204" pitchFamily="34" charset="0"/>
              <a:cs typeface="Tahoma" panose="020B0604030504040204" pitchFamily="34" charset="0"/>
            </a:endParaRPr>
          </a:p>
        </p:txBody>
      </p:sp>
      <p:sp>
        <p:nvSpPr>
          <p:cNvPr id="3" name="Θέση υποσέλιδου 4">
            <a:extLst>
              <a:ext uri="{FF2B5EF4-FFF2-40B4-BE49-F238E27FC236}">
                <a16:creationId xmlns:a16="http://schemas.microsoft.com/office/drawing/2014/main" id="{E26DB777-2335-FA66-7A3F-D92F133E0F9D}"/>
              </a:ext>
            </a:extLst>
          </p:cNvPr>
          <p:cNvSpPr txBox="1">
            <a:spLocks/>
          </p:cNvSpPr>
          <p:nvPr/>
        </p:nvSpPr>
        <p:spPr>
          <a:xfrm>
            <a:off x="3305908" y="6559909"/>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LEGO Approach – Part B</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Tree>
    <p:extLst>
      <p:ext uri="{BB962C8B-B14F-4D97-AF65-F5344CB8AC3E}">
        <p14:creationId xmlns:p14="http://schemas.microsoft.com/office/powerpoint/2010/main" val="4156801981"/>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Δημιουργία στιγμιότυπων της </a:t>
            </a:r>
            <a:r>
              <a:rPr lang="en-US" sz="4000" b="1" dirty="0">
                <a:solidFill>
                  <a:srgbClr val="F9853D"/>
                </a:solidFill>
                <a:latin typeface="Bahnschrift" panose="020B0502040204020203" pitchFamily="34" charset="0"/>
              </a:rPr>
              <a:t>Double</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3" name="Θέση υποσέλιδου 4">
            <a:extLst>
              <a:ext uri="{FF2B5EF4-FFF2-40B4-BE49-F238E27FC236}">
                <a16:creationId xmlns:a16="http://schemas.microsoft.com/office/drawing/2014/main" id="{C84FEE0A-EC67-F275-4254-C7380CB8525E}"/>
              </a:ext>
            </a:extLst>
          </p:cNvPr>
          <p:cNvSpPr txBox="1">
            <a:spLocks/>
          </p:cNvSpPr>
          <p:nvPr/>
        </p:nvSpPr>
        <p:spPr>
          <a:xfrm>
            <a:off x="3305908" y="6559909"/>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LEGO Approach – Part B</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5" name="Oval 34">
            <a:extLst>
              <a:ext uri="{FF2B5EF4-FFF2-40B4-BE49-F238E27FC236}">
                <a16:creationId xmlns:a16="http://schemas.microsoft.com/office/drawing/2014/main" id="{DAD180A6-03AD-D91E-43B7-00400C92D073}"/>
              </a:ext>
            </a:extLst>
          </p:cNvPr>
          <p:cNvSpPr>
            <a:spLocks noChangeArrowheads="1"/>
          </p:cNvSpPr>
          <p:nvPr/>
        </p:nvSpPr>
        <p:spPr bwMode="auto">
          <a:xfrm>
            <a:off x="8277590" y="3501586"/>
            <a:ext cx="2447925" cy="936625"/>
          </a:xfrm>
          <a:prstGeom prst="ellipse">
            <a:avLst/>
          </a:prstGeom>
          <a:solidFill>
            <a:srgbClr val="F8FF69"/>
          </a:solidFill>
          <a:ln w="9525">
            <a:solidFill>
              <a:srgbClr val="000000"/>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6" name="Line 4">
            <a:extLst>
              <a:ext uri="{FF2B5EF4-FFF2-40B4-BE49-F238E27FC236}">
                <a16:creationId xmlns:a16="http://schemas.microsoft.com/office/drawing/2014/main" id="{B7D68028-150F-69EE-9ADF-C2414BF35DF1}"/>
              </a:ext>
            </a:extLst>
          </p:cNvPr>
          <p:cNvSpPr>
            <a:spLocks noChangeShapeType="1"/>
          </p:cNvSpPr>
          <p:nvPr/>
        </p:nvSpPr>
        <p:spPr bwMode="auto">
          <a:xfrm>
            <a:off x="9120553" y="1085411"/>
            <a:ext cx="0" cy="434340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7" name="Line 5">
            <a:extLst>
              <a:ext uri="{FF2B5EF4-FFF2-40B4-BE49-F238E27FC236}">
                <a16:creationId xmlns:a16="http://schemas.microsoft.com/office/drawing/2014/main" id="{BADD72E9-AA7F-B4A4-F0A7-A4C8225DA712}"/>
              </a:ext>
            </a:extLst>
          </p:cNvPr>
          <p:cNvSpPr>
            <a:spLocks noChangeShapeType="1"/>
          </p:cNvSpPr>
          <p:nvPr/>
        </p:nvSpPr>
        <p:spPr bwMode="auto">
          <a:xfrm>
            <a:off x="10263553" y="1085411"/>
            <a:ext cx="0" cy="434340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9" name="Line 9">
            <a:extLst>
              <a:ext uri="{FF2B5EF4-FFF2-40B4-BE49-F238E27FC236}">
                <a16:creationId xmlns:a16="http://schemas.microsoft.com/office/drawing/2014/main" id="{125BD8CC-E9D2-5F51-30CE-CC0AC4F0EB53}"/>
              </a:ext>
            </a:extLst>
          </p:cNvPr>
          <p:cNvSpPr>
            <a:spLocks noChangeShapeType="1"/>
          </p:cNvSpPr>
          <p:nvPr/>
        </p:nvSpPr>
        <p:spPr bwMode="auto">
          <a:xfrm>
            <a:off x="9120553" y="2838011"/>
            <a:ext cx="1143000" cy="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2" name="Rectangle 14">
            <a:extLst>
              <a:ext uri="{FF2B5EF4-FFF2-40B4-BE49-F238E27FC236}">
                <a16:creationId xmlns:a16="http://schemas.microsoft.com/office/drawing/2014/main" id="{5E3973BA-A759-BA6E-B274-ED4AD033F80B}"/>
              </a:ext>
            </a:extLst>
          </p:cNvPr>
          <p:cNvSpPr>
            <a:spLocks noChangeArrowheads="1"/>
          </p:cNvSpPr>
          <p:nvPr/>
        </p:nvSpPr>
        <p:spPr bwMode="auto">
          <a:xfrm>
            <a:off x="9120553" y="3066611"/>
            <a:ext cx="1143000" cy="381000"/>
          </a:xfrm>
          <a:prstGeom prst="rect">
            <a:avLst/>
          </a:prstGeom>
          <a:solidFill>
            <a:srgbClr val="00E4A8"/>
          </a:solidFill>
          <a:ln w="9525">
            <a:solidFill>
              <a:srgbClr val="000000"/>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a:ln>
                  <a:noFill/>
                </a:ln>
                <a:solidFill>
                  <a:srgbClr val="000000"/>
                </a:solidFill>
                <a:effectLst/>
                <a:uLnTx/>
                <a:uFillTx/>
                <a:latin typeface="Tahoma" panose="020B0604030504040204" pitchFamily="34" charset="0"/>
              </a:rPr>
              <a:t>24.0</a:t>
            </a:r>
            <a:endParaRPr kumimoji="0" lang="en-GB"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grpSp>
        <p:nvGrpSpPr>
          <p:cNvPr id="13" name="Group 26">
            <a:extLst>
              <a:ext uri="{FF2B5EF4-FFF2-40B4-BE49-F238E27FC236}">
                <a16:creationId xmlns:a16="http://schemas.microsoft.com/office/drawing/2014/main" id="{FEABF144-E87C-03EF-DF72-8335C3C22898}"/>
              </a:ext>
            </a:extLst>
          </p:cNvPr>
          <p:cNvGrpSpPr>
            <a:grpSpLocks/>
          </p:cNvGrpSpPr>
          <p:nvPr/>
        </p:nvGrpSpPr>
        <p:grpSpPr bwMode="auto">
          <a:xfrm>
            <a:off x="8587153" y="1237811"/>
            <a:ext cx="1676400" cy="1066800"/>
            <a:chOff x="4128" y="1392"/>
            <a:chExt cx="1056" cy="672"/>
          </a:xfrm>
        </p:grpSpPr>
        <p:sp>
          <p:nvSpPr>
            <p:cNvPr id="14" name="Line 6">
              <a:extLst>
                <a:ext uri="{FF2B5EF4-FFF2-40B4-BE49-F238E27FC236}">
                  <a16:creationId xmlns:a16="http://schemas.microsoft.com/office/drawing/2014/main" id="{D2FC98AC-27C8-149D-37CC-1FDAB46AF904}"/>
                </a:ext>
              </a:extLst>
            </p:cNvPr>
            <p:cNvSpPr>
              <a:spLocks noChangeShapeType="1"/>
            </p:cNvSpPr>
            <p:nvPr/>
          </p:nvSpPr>
          <p:spPr bwMode="auto">
            <a:xfrm>
              <a:off x="4464" y="1440"/>
              <a:ext cx="720" cy="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5" name="Line 7">
              <a:extLst>
                <a:ext uri="{FF2B5EF4-FFF2-40B4-BE49-F238E27FC236}">
                  <a16:creationId xmlns:a16="http://schemas.microsoft.com/office/drawing/2014/main" id="{39209399-E532-01EC-E9AE-F93D11DA0B54}"/>
                </a:ext>
              </a:extLst>
            </p:cNvPr>
            <p:cNvSpPr>
              <a:spLocks noChangeShapeType="1"/>
            </p:cNvSpPr>
            <p:nvPr/>
          </p:nvSpPr>
          <p:spPr bwMode="auto">
            <a:xfrm>
              <a:off x="4464" y="1632"/>
              <a:ext cx="720" cy="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6" name="Rectangle 13">
              <a:extLst>
                <a:ext uri="{FF2B5EF4-FFF2-40B4-BE49-F238E27FC236}">
                  <a16:creationId xmlns:a16="http://schemas.microsoft.com/office/drawing/2014/main" id="{B142775A-DF3C-EB1E-197B-8C1A094901FB}"/>
                </a:ext>
              </a:extLst>
            </p:cNvPr>
            <p:cNvSpPr>
              <a:spLocks noChangeArrowheads="1"/>
            </p:cNvSpPr>
            <p:nvPr/>
          </p:nvSpPr>
          <p:spPr bwMode="auto">
            <a:xfrm>
              <a:off x="4464" y="1824"/>
              <a:ext cx="720" cy="240"/>
            </a:xfrm>
            <a:prstGeom prst="rect">
              <a:avLst/>
            </a:prstGeom>
            <a:solidFill>
              <a:srgbClr val="00E4A8"/>
            </a:solidFill>
            <a:ln w="9525">
              <a:solidFill>
                <a:srgbClr val="000000"/>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a:ln>
                    <a:noFill/>
                  </a:ln>
                  <a:solidFill>
                    <a:srgbClr val="000000"/>
                  </a:solidFill>
                  <a:effectLst/>
                  <a:uLnTx/>
                  <a:uFillTx/>
                  <a:latin typeface="Tahoma" panose="020B0604030504040204" pitchFamily="34" charset="0"/>
                </a:rPr>
                <a:t>12.0</a:t>
              </a:r>
              <a:endParaRPr kumimoji="0" lang="en-GB"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7" name="Text Box 15">
              <a:extLst>
                <a:ext uri="{FF2B5EF4-FFF2-40B4-BE49-F238E27FC236}">
                  <a16:creationId xmlns:a16="http://schemas.microsoft.com/office/drawing/2014/main" id="{8587FC48-B88A-B31A-6236-0F92C84AC905}"/>
                </a:ext>
              </a:extLst>
            </p:cNvPr>
            <p:cNvSpPr txBox="1">
              <a:spLocks noChangeArrowheads="1"/>
            </p:cNvSpPr>
            <p:nvPr/>
          </p:nvSpPr>
          <p:spPr bwMode="auto">
            <a:xfrm>
              <a:off x="4128" y="1392"/>
              <a:ext cx="35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1" i="0" u="none" strike="noStrike" kern="0" cap="none" spc="0" normalizeH="0" baseline="0" noProof="0">
                  <a:ln>
                    <a:noFill/>
                  </a:ln>
                  <a:solidFill>
                    <a:srgbClr val="FF0000"/>
                  </a:solidFill>
                  <a:effectLst/>
                  <a:uLnTx/>
                  <a:uFillTx/>
                  <a:latin typeface="Tahoma" panose="020B0604030504040204" pitchFamily="34" charset="0"/>
                </a:rPr>
                <a:t>d1</a:t>
              </a:r>
              <a:endParaRPr kumimoji="0" lang="en-GB" altLang="el-GR" sz="2400" b="1" i="0" u="none" strike="noStrike" kern="0" cap="none" spc="0" normalizeH="0" baseline="0" noProof="0">
                <a:ln>
                  <a:noFill/>
                </a:ln>
                <a:solidFill>
                  <a:srgbClr val="FF0000"/>
                </a:solidFill>
                <a:effectLst/>
                <a:uLnTx/>
                <a:uFillTx/>
                <a:latin typeface="Tahoma" panose="020B0604030504040204" pitchFamily="34" charset="0"/>
              </a:endParaRPr>
            </a:p>
          </p:txBody>
        </p:sp>
        <p:sp>
          <p:nvSpPr>
            <p:cNvPr id="18" name="Freeform 16">
              <a:extLst>
                <a:ext uri="{FF2B5EF4-FFF2-40B4-BE49-F238E27FC236}">
                  <a16:creationId xmlns:a16="http://schemas.microsoft.com/office/drawing/2014/main" id="{584043F5-5199-B43A-C5E9-A60FA906948D}"/>
                </a:ext>
              </a:extLst>
            </p:cNvPr>
            <p:cNvSpPr>
              <a:spLocks/>
            </p:cNvSpPr>
            <p:nvPr/>
          </p:nvSpPr>
          <p:spPr bwMode="auto">
            <a:xfrm>
              <a:off x="4136" y="1536"/>
              <a:ext cx="568" cy="336"/>
            </a:xfrm>
            <a:custGeom>
              <a:avLst/>
              <a:gdLst>
                <a:gd name="T0" fmla="*/ 568 w 568"/>
                <a:gd name="T1" fmla="*/ 0 h 336"/>
                <a:gd name="T2" fmla="*/ 40 w 568"/>
                <a:gd name="T3" fmla="*/ 192 h 336"/>
                <a:gd name="T4" fmla="*/ 328 w 568"/>
                <a:gd name="T5" fmla="*/ 336 h 336"/>
                <a:gd name="T6" fmla="*/ 0 60000 65536"/>
                <a:gd name="T7" fmla="*/ 0 60000 65536"/>
                <a:gd name="T8" fmla="*/ 0 60000 65536"/>
                <a:gd name="T9" fmla="*/ 0 w 568"/>
                <a:gd name="T10" fmla="*/ 0 h 336"/>
                <a:gd name="T11" fmla="*/ 568 w 568"/>
                <a:gd name="T12" fmla="*/ 336 h 336"/>
              </a:gdLst>
              <a:ahLst/>
              <a:cxnLst>
                <a:cxn ang="T6">
                  <a:pos x="T0" y="T1"/>
                </a:cxn>
                <a:cxn ang="T7">
                  <a:pos x="T2" y="T3"/>
                </a:cxn>
                <a:cxn ang="T8">
                  <a:pos x="T4" y="T5"/>
                </a:cxn>
              </a:cxnLst>
              <a:rect l="T9" t="T10" r="T11" b="T12"/>
              <a:pathLst>
                <a:path w="568" h="336">
                  <a:moveTo>
                    <a:pt x="568" y="0"/>
                  </a:moveTo>
                  <a:cubicBezTo>
                    <a:pt x="324" y="68"/>
                    <a:pt x="80" y="136"/>
                    <a:pt x="40" y="192"/>
                  </a:cubicBezTo>
                  <a:cubicBezTo>
                    <a:pt x="0" y="248"/>
                    <a:pt x="164" y="292"/>
                    <a:pt x="328" y="336"/>
                  </a:cubicBezTo>
                </a:path>
              </a:pathLst>
            </a:custGeom>
            <a:noFill/>
            <a:ln w="9525">
              <a:solidFill>
                <a:srgbClr val="000000"/>
              </a:solidFill>
              <a:miter lim="800000"/>
              <a:headEnd/>
              <a:tailEnd type="triangle" w="med" len="med"/>
            </a:ln>
            <a:extLst>
              <a:ext uri="{909E8E84-426E-40DD-AFC4-6F175D3DCCD1}">
                <a14:hiddenFill xmlns:a14="http://schemas.microsoft.com/office/drawing/2010/main">
                  <a:solidFill>
                    <a:srgbClr val="FFFFFF"/>
                  </a:solid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grpSp>
      <p:sp>
        <p:nvSpPr>
          <p:cNvPr id="19" name="Text Box 17">
            <a:extLst>
              <a:ext uri="{FF2B5EF4-FFF2-40B4-BE49-F238E27FC236}">
                <a16:creationId xmlns:a16="http://schemas.microsoft.com/office/drawing/2014/main" id="{B7EC18AB-C7DB-0DAF-D69A-6C18BBFD2166}"/>
              </a:ext>
            </a:extLst>
          </p:cNvPr>
          <p:cNvSpPr txBox="1">
            <a:spLocks noChangeArrowheads="1"/>
          </p:cNvSpPr>
          <p:nvPr/>
        </p:nvSpPr>
        <p:spPr bwMode="auto">
          <a:xfrm>
            <a:off x="8587153" y="2457011"/>
            <a:ext cx="5699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1" i="0" u="none" strike="noStrike" kern="0" cap="none" spc="0" normalizeH="0" baseline="0" noProof="0">
                <a:ln>
                  <a:noFill/>
                </a:ln>
                <a:solidFill>
                  <a:srgbClr val="FF0000"/>
                </a:solidFill>
                <a:effectLst/>
                <a:uLnTx/>
                <a:uFillTx/>
                <a:latin typeface="Tahoma" panose="020B0604030504040204" pitchFamily="34" charset="0"/>
              </a:rPr>
              <a:t>d2</a:t>
            </a:r>
            <a:endParaRPr kumimoji="0" lang="en-GB" altLang="el-GR" sz="2400" b="1" i="0" u="none" strike="noStrike" kern="0" cap="none" spc="0" normalizeH="0" baseline="0" noProof="0">
              <a:ln>
                <a:noFill/>
              </a:ln>
              <a:solidFill>
                <a:srgbClr val="FF0000"/>
              </a:solidFill>
              <a:effectLst/>
              <a:uLnTx/>
              <a:uFillTx/>
              <a:latin typeface="Tahoma" panose="020B0604030504040204" pitchFamily="34" charset="0"/>
            </a:endParaRPr>
          </a:p>
        </p:txBody>
      </p:sp>
      <p:sp>
        <p:nvSpPr>
          <p:cNvPr id="20" name="Line 18">
            <a:extLst>
              <a:ext uri="{FF2B5EF4-FFF2-40B4-BE49-F238E27FC236}">
                <a16:creationId xmlns:a16="http://schemas.microsoft.com/office/drawing/2014/main" id="{0113324A-5423-4537-FE75-369D2A74F2D9}"/>
              </a:ext>
            </a:extLst>
          </p:cNvPr>
          <p:cNvSpPr>
            <a:spLocks noChangeShapeType="1"/>
          </p:cNvSpPr>
          <p:nvPr/>
        </p:nvSpPr>
        <p:spPr bwMode="auto">
          <a:xfrm>
            <a:off x="9120553" y="2533211"/>
            <a:ext cx="1143000" cy="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1" name="Freeform 19">
            <a:extLst>
              <a:ext uri="{FF2B5EF4-FFF2-40B4-BE49-F238E27FC236}">
                <a16:creationId xmlns:a16="http://schemas.microsoft.com/office/drawing/2014/main" id="{F56E35FF-83FE-36A4-5423-7D82560FB425}"/>
              </a:ext>
            </a:extLst>
          </p:cNvPr>
          <p:cNvSpPr>
            <a:spLocks/>
          </p:cNvSpPr>
          <p:nvPr/>
        </p:nvSpPr>
        <p:spPr bwMode="auto">
          <a:xfrm>
            <a:off x="8587153" y="2609411"/>
            <a:ext cx="901700" cy="533400"/>
          </a:xfrm>
          <a:custGeom>
            <a:avLst/>
            <a:gdLst>
              <a:gd name="T0" fmla="*/ 2147483647 w 568"/>
              <a:gd name="T1" fmla="*/ 0 h 336"/>
              <a:gd name="T2" fmla="*/ 2147483647 w 568"/>
              <a:gd name="T3" fmla="*/ 2147483647 h 336"/>
              <a:gd name="T4" fmla="*/ 2147483647 w 568"/>
              <a:gd name="T5" fmla="*/ 2147483647 h 336"/>
              <a:gd name="T6" fmla="*/ 0 60000 65536"/>
              <a:gd name="T7" fmla="*/ 0 60000 65536"/>
              <a:gd name="T8" fmla="*/ 0 60000 65536"/>
              <a:gd name="T9" fmla="*/ 0 w 568"/>
              <a:gd name="T10" fmla="*/ 0 h 336"/>
              <a:gd name="T11" fmla="*/ 568 w 568"/>
              <a:gd name="T12" fmla="*/ 336 h 336"/>
            </a:gdLst>
            <a:ahLst/>
            <a:cxnLst>
              <a:cxn ang="T6">
                <a:pos x="T0" y="T1"/>
              </a:cxn>
              <a:cxn ang="T7">
                <a:pos x="T2" y="T3"/>
              </a:cxn>
              <a:cxn ang="T8">
                <a:pos x="T4" y="T5"/>
              </a:cxn>
            </a:cxnLst>
            <a:rect l="T9" t="T10" r="T11" b="T12"/>
            <a:pathLst>
              <a:path w="568" h="336">
                <a:moveTo>
                  <a:pt x="568" y="0"/>
                </a:moveTo>
                <a:cubicBezTo>
                  <a:pt x="324" y="68"/>
                  <a:pt x="80" y="136"/>
                  <a:pt x="40" y="192"/>
                </a:cubicBezTo>
                <a:cubicBezTo>
                  <a:pt x="0" y="248"/>
                  <a:pt x="164" y="292"/>
                  <a:pt x="328" y="336"/>
                </a:cubicBezTo>
              </a:path>
            </a:pathLst>
          </a:custGeom>
          <a:noFill/>
          <a:ln w="9525">
            <a:solidFill>
              <a:srgbClr val="000000"/>
            </a:solidFill>
            <a:miter lim="800000"/>
            <a:headEnd/>
            <a:tailEnd type="triangle" w="med" len="med"/>
          </a:ln>
          <a:extLst>
            <a:ext uri="{909E8E84-426E-40DD-AFC4-6F175D3DCCD1}">
              <a14:hiddenFill xmlns:a14="http://schemas.microsoft.com/office/drawing/2010/main">
                <a:solidFill>
                  <a:srgbClr val="FFFFFF"/>
                </a:solid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grpSp>
        <p:nvGrpSpPr>
          <p:cNvPr id="22" name="Group 22">
            <a:extLst>
              <a:ext uri="{FF2B5EF4-FFF2-40B4-BE49-F238E27FC236}">
                <a16:creationId xmlns:a16="http://schemas.microsoft.com/office/drawing/2014/main" id="{69D06FFB-699E-297D-720A-C3C9D09D1A00}"/>
              </a:ext>
            </a:extLst>
          </p:cNvPr>
          <p:cNvGrpSpPr>
            <a:grpSpLocks/>
          </p:cNvGrpSpPr>
          <p:nvPr/>
        </p:nvGrpSpPr>
        <p:grpSpPr bwMode="auto">
          <a:xfrm>
            <a:off x="8587153" y="3523811"/>
            <a:ext cx="1676400" cy="457200"/>
            <a:chOff x="4128" y="2832"/>
            <a:chExt cx="1056" cy="288"/>
          </a:xfrm>
        </p:grpSpPr>
        <p:sp>
          <p:nvSpPr>
            <p:cNvPr id="23" name="Text Box 20">
              <a:extLst>
                <a:ext uri="{FF2B5EF4-FFF2-40B4-BE49-F238E27FC236}">
                  <a16:creationId xmlns:a16="http://schemas.microsoft.com/office/drawing/2014/main" id="{5E7E53A8-3D16-CE1B-5D6D-ABA860358D00}"/>
                </a:ext>
              </a:extLst>
            </p:cNvPr>
            <p:cNvSpPr txBox="1">
              <a:spLocks noChangeArrowheads="1"/>
            </p:cNvSpPr>
            <p:nvPr/>
          </p:nvSpPr>
          <p:spPr bwMode="auto">
            <a:xfrm>
              <a:off x="4128" y="2832"/>
              <a:ext cx="35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1" i="0" u="none" strike="noStrike" kern="0" cap="none" spc="0" normalizeH="0" baseline="0" noProof="0">
                  <a:ln>
                    <a:noFill/>
                  </a:ln>
                  <a:solidFill>
                    <a:srgbClr val="0000FF"/>
                  </a:solidFill>
                  <a:effectLst/>
                  <a:uLnTx/>
                  <a:uFillTx/>
                  <a:latin typeface="Tahoma" panose="020B0604030504040204" pitchFamily="34" charset="0"/>
                </a:rPr>
                <a:t>d3</a:t>
              </a:r>
              <a:endParaRPr kumimoji="0" lang="en-GB" altLang="el-GR" sz="2400" b="1" i="0" u="none" strike="noStrike" kern="0" cap="none" spc="0" normalizeH="0" baseline="0" noProof="0">
                <a:ln>
                  <a:noFill/>
                </a:ln>
                <a:solidFill>
                  <a:srgbClr val="0000FF"/>
                </a:solidFill>
                <a:effectLst/>
                <a:uLnTx/>
                <a:uFillTx/>
                <a:latin typeface="Tahoma" panose="020B0604030504040204" pitchFamily="34" charset="0"/>
              </a:endParaRPr>
            </a:p>
          </p:txBody>
        </p:sp>
        <p:sp>
          <p:nvSpPr>
            <p:cNvPr id="24" name="Rectangle 21">
              <a:extLst>
                <a:ext uri="{FF2B5EF4-FFF2-40B4-BE49-F238E27FC236}">
                  <a16:creationId xmlns:a16="http://schemas.microsoft.com/office/drawing/2014/main" id="{44DE9542-5134-03B8-BF5E-055FF1A89FC4}"/>
                </a:ext>
              </a:extLst>
            </p:cNvPr>
            <p:cNvSpPr>
              <a:spLocks noChangeArrowheads="1"/>
            </p:cNvSpPr>
            <p:nvPr/>
          </p:nvSpPr>
          <p:spPr bwMode="auto">
            <a:xfrm>
              <a:off x="4464" y="2880"/>
              <a:ext cx="720" cy="192"/>
            </a:xfrm>
            <a:prstGeom prst="rect">
              <a:avLst/>
            </a:prstGeom>
            <a:solidFill>
              <a:srgbClr val="11C1D3"/>
            </a:solidFill>
            <a:ln w="9525">
              <a:solidFill>
                <a:srgbClr val="000000"/>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a:ln>
                    <a:noFill/>
                  </a:ln>
                  <a:solidFill>
                    <a:srgbClr val="000000"/>
                  </a:solidFill>
                  <a:effectLst/>
                  <a:uLnTx/>
                  <a:uFillTx/>
                  <a:latin typeface="Tahoma" panose="020B0604030504040204" pitchFamily="34" charset="0"/>
                </a:rPr>
                <a:t>12.0</a:t>
              </a:r>
              <a:endParaRPr kumimoji="0" lang="en-GB"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grpSp>
      <p:grpSp>
        <p:nvGrpSpPr>
          <p:cNvPr id="25" name="Group 23">
            <a:extLst>
              <a:ext uri="{FF2B5EF4-FFF2-40B4-BE49-F238E27FC236}">
                <a16:creationId xmlns:a16="http://schemas.microsoft.com/office/drawing/2014/main" id="{2331FC54-2C3F-5256-A5A7-B2AAA1D72446}"/>
              </a:ext>
            </a:extLst>
          </p:cNvPr>
          <p:cNvGrpSpPr>
            <a:grpSpLocks/>
          </p:cNvGrpSpPr>
          <p:nvPr/>
        </p:nvGrpSpPr>
        <p:grpSpPr bwMode="auto">
          <a:xfrm>
            <a:off x="8587153" y="3981011"/>
            <a:ext cx="1676400" cy="457200"/>
            <a:chOff x="4128" y="2832"/>
            <a:chExt cx="1056" cy="288"/>
          </a:xfrm>
        </p:grpSpPr>
        <p:sp>
          <p:nvSpPr>
            <p:cNvPr id="26" name="Text Box 24">
              <a:extLst>
                <a:ext uri="{FF2B5EF4-FFF2-40B4-BE49-F238E27FC236}">
                  <a16:creationId xmlns:a16="http://schemas.microsoft.com/office/drawing/2014/main" id="{2E44DA79-A53E-CFB4-2CF6-B162BC6B9D2D}"/>
                </a:ext>
              </a:extLst>
            </p:cNvPr>
            <p:cNvSpPr txBox="1">
              <a:spLocks noChangeArrowheads="1"/>
            </p:cNvSpPr>
            <p:nvPr/>
          </p:nvSpPr>
          <p:spPr bwMode="auto">
            <a:xfrm>
              <a:off x="4128" y="2832"/>
              <a:ext cx="35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1" i="0" u="none" strike="noStrike" kern="0" cap="none" spc="0" normalizeH="0" baseline="0" noProof="0">
                  <a:ln>
                    <a:noFill/>
                  </a:ln>
                  <a:solidFill>
                    <a:srgbClr val="0000FF"/>
                  </a:solidFill>
                  <a:effectLst/>
                  <a:uLnTx/>
                  <a:uFillTx/>
                  <a:latin typeface="Tahoma" panose="020B0604030504040204" pitchFamily="34" charset="0"/>
                </a:rPr>
                <a:t>d4</a:t>
              </a:r>
              <a:endParaRPr kumimoji="0" lang="en-GB" altLang="el-GR" sz="2400" b="1" i="0" u="none" strike="noStrike" kern="0" cap="none" spc="0" normalizeH="0" baseline="0" noProof="0">
                <a:ln>
                  <a:noFill/>
                </a:ln>
                <a:solidFill>
                  <a:srgbClr val="0000FF"/>
                </a:solidFill>
                <a:effectLst/>
                <a:uLnTx/>
                <a:uFillTx/>
                <a:latin typeface="Tahoma" panose="020B0604030504040204" pitchFamily="34" charset="0"/>
              </a:endParaRPr>
            </a:p>
          </p:txBody>
        </p:sp>
        <p:sp>
          <p:nvSpPr>
            <p:cNvPr id="27" name="Rectangle 25">
              <a:extLst>
                <a:ext uri="{FF2B5EF4-FFF2-40B4-BE49-F238E27FC236}">
                  <a16:creationId xmlns:a16="http://schemas.microsoft.com/office/drawing/2014/main" id="{0740EEA5-91AE-5E8A-79AA-3CB6AD8B13CE}"/>
                </a:ext>
              </a:extLst>
            </p:cNvPr>
            <p:cNvSpPr>
              <a:spLocks noChangeArrowheads="1"/>
            </p:cNvSpPr>
            <p:nvPr/>
          </p:nvSpPr>
          <p:spPr bwMode="auto">
            <a:xfrm>
              <a:off x="4464" y="2880"/>
              <a:ext cx="720" cy="192"/>
            </a:xfrm>
            <a:prstGeom prst="rect">
              <a:avLst/>
            </a:prstGeom>
            <a:solidFill>
              <a:srgbClr val="11C1D3"/>
            </a:solidFill>
            <a:ln w="9525">
              <a:solidFill>
                <a:srgbClr val="000000"/>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a:ln>
                    <a:noFill/>
                  </a:ln>
                  <a:solidFill>
                    <a:srgbClr val="000000"/>
                  </a:solidFill>
                  <a:effectLst/>
                  <a:uLnTx/>
                  <a:uFillTx/>
                  <a:latin typeface="Tahoma" panose="020B0604030504040204" pitchFamily="34" charset="0"/>
                </a:rPr>
                <a:t>24.0</a:t>
              </a:r>
              <a:endParaRPr kumimoji="0" lang="en-GB"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grpSp>
      <p:grpSp>
        <p:nvGrpSpPr>
          <p:cNvPr id="28" name="Group 27">
            <a:extLst>
              <a:ext uri="{FF2B5EF4-FFF2-40B4-BE49-F238E27FC236}">
                <a16:creationId xmlns:a16="http://schemas.microsoft.com/office/drawing/2014/main" id="{B003DA15-3876-40E3-BE2B-73A0A37AF676}"/>
              </a:ext>
            </a:extLst>
          </p:cNvPr>
          <p:cNvGrpSpPr>
            <a:grpSpLocks/>
          </p:cNvGrpSpPr>
          <p:nvPr/>
        </p:nvGrpSpPr>
        <p:grpSpPr bwMode="auto">
          <a:xfrm>
            <a:off x="8587153" y="4438211"/>
            <a:ext cx="1676400" cy="1066800"/>
            <a:chOff x="4128" y="1392"/>
            <a:chExt cx="1056" cy="672"/>
          </a:xfrm>
        </p:grpSpPr>
        <p:sp>
          <p:nvSpPr>
            <p:cNvPr id="29" name="Line 28">
              <a:extLst>
                <a:ext uri="{FF2B5EF4-FFF2-40B4-BE49-F238E27FC236}">
                  <a16:creationId xmlns:a16="http://schemas.microsoft.com/office/drawing/2014/main" id="{0A8E145D-30DE-5C37-1269-C8F1405F452E}"/>
                </a:ext>
              </a:extLst>
            </p:cNvPr>
            <p:cNvSpPr>
              <a:spLocks noChangeShapeType="1"/>
            </p:cNvSpPr>
            <p:nvPr/>
          </p:nvSpPr>
          <p:spPr bwMode="auto">
            <a:xfrm>
              <a:off x="4464" y="1440"/>
              <a:ext cx="720" cy="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30" name="Line 29">
              <a:extLst>
                <a:ext uri="{FF2B5EF4-FFF2-40B4-BE49-F238E27FC236}">
                  <a16:creationId xmlns:a16="http://schemas.microsoft.com/office/drawing/2014/main" id="{CFBCF895-ECCB-2A49-077B-2EF2E3F0AE08}"/>
                </a:ext>
              </a:extLst>
            </p:cNvPr>
            <p:cNvSpPr>
              <a:spLocks noChangeShapeType="1"/>
            </p:cNvSpPr>
            <p:nvPr/>
          </p:nvSpPr>
          <p:spPr bwMode="auto">
            <a:xfrm>
              <a:off x="4464" y="1632"/>
              <a:ext cx="720" cy="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31" name="Rectangle 30">
              <a:extLst>
                <a:ext uri="{FF2B5EF4-FFF2-40B4-BE49-F238E27FC236}">
                  <a16:creationId xmlns:a16="http://schemas.microsoft.com/office/drawing/2014/main" id="{3851EEA4-8A39-D940-411E-4645D6BC92D4}"/>
                </a:ext>
              </a:extLst>
            </p:cNvPr>
            <p:cNvSpPr>
              <a:spLocks noChangeArrowheads="1"/>
            </p:cNvSpPr>
            <p:nvPr/>
          </p:nvSpPr>
          <p:spPr bwMode="auto">
            <a:xfrm>
              <a:off x="4464" y="1824"/>
              <a:ext cx="720" cy="240"/>
            </a:xfrm>
            <a:prstGeom prst="rect">
              <a:avLst/>
            </a:prstGeom>
            <a:solidFill>
              <a:srgbClr val="00E4A8"/>
            </a:solidFill>
            <a:ln w="9525">
              <a:solidFill>
                <a:srgbClr val="000000"/>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a:ln>
                    <a:noFill/>
                  </a:ln>
                  <a:solidFill>
                    <a:srgbClr val="000000"/>
                  </a:solidFill>
                  <a:effectLst/>
                  <a:uLnTx/>
                  <a:uFillTx/>
                  <a:latin typeface="Tahoma" panose="020B0604030504040204" pitchFamily="34" charset="0"/>
                </a:rPr>
                <a:t>36.0</a:t>
              </a:r>
              <a:endParaRPr kumimoji="0" lang="en-GB"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32" name="Text Box 31">
              <a:extLst>
                <a:ext uri="{FF2B5EF4-FFF2-40B4-BE49-F238E27FC236}">
                  <a16:creationId xmlns:a16="http://schemas.microsoft.com/office/drawing/2014/main" id="{EE870929-8CB5-C4CB-EF73-923C399400D9}"/>
                </a:ext>
              </a:extLst>
            </p:cNvPr>
            <p:cNvSpPr txBox="1">
              <a:spLocks noChangeArrowheads="1"/>
            </p:cNvSpPr>
            <p:nvPr/>
          </p:nvSpPr>
          <p:spPr bwMode="auto">
            <a:xfrm>
              <a:off x="4128" y="1392"/>
              <a:ext cx="35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1" i="0" u="none" strike="noStrike" kern="0" cap="none" spc="0" normalizeH="0" baseline="0" noProof="0">
                  <a:ln>
                    <a:noFill/>
                  </a:ln>
                  <a:solidFill>
                    <a:srgbClr val="FF0000"/>
                  </a:solidFill>
                  <a:effectLst/>
                  <a:uLnTx/>
                  <a:uFillTx/>
                  <a:latin typeface="Tahoma" panose="020B0604030504040204" pitchFamily="34" charset="0"/>
                </a:rPr>
                <a:t>d5</a:t>
              </a:r>
              <a:endParaRPr kumimoji="0" lang="en-GB" altLang="el-GR" sz="2400" b="1" i="0" u="none" strike="noStrike" kern="0" cap="none" spc="0" normalizeH="0" baseline="0" noProof="0">
                <a:ln>
                  <a:noFill/>
                </a:ln>
                <a:solidFill>
                  <a:srgbClr val="FF0000"/>
                </a:solidFill>
                <a:effectLst/>
                <a:uLnTx/>
                <a:uFillTx/>
                <a:latin typeface="Tahoma" panose="020B0604030504040204" pitchFamily="34" charset="0"/>
              </a:endParaRPr>
            </a:p>
          </p:txBody>
        </p:sp>
        <p:sp>
          <p:nvSpPr>
            <p:cNvPr id="33" name="Freeform 32">
              <a:extLst>
                <a:ext uri="{FF2B5EF4-FFF2-40B4-BE49-F238E27FC236}">
                  <a16:creationId xmlns:a16="http://schemas.microsoft.com/office/drawing/2014/main" id="{03DAB951-FA76-93C7-0A8C-FF8B9DA9BD22}"/>
                </a:ext>
              </a:extLst>
            </p:cNvPr>
            <p:cNvSpPr>
              <a:spLocks/>
            </p:cNvSpPr>
            <p:nvPr/>
          </p:nvSpPr>
          <p:spPr bwMode="auto">
            <a:xfrm>
              <a:off x="4136" y="1536"/>
              <a:ext cx="568" cy="336"/>
            </a:xfrm>
            <a:custGeom>
              <a:avLst/>
              <a:gdLst>
                <a:gd name="T0" fmla="*/ 568 w 568"/>
                <a:gd name="T1" fmla="*/ 0 h 336"/>
                <a:gd name="T2" fmla="*/ 40 w 568"/>
                <a:gd name="T3" fmla="*/ 192 h 336"/>
                <a:gd name="T4" fmla="*/ 328 w 568"/>
                <a:gd name="T5" fmla="*/ 336 h 336"/>
                <a:gd name="T6" fmla="*/ 0 60000 65536"/>
                <a:gd name="T7" fmla="*/ 0 60000 65536"/>
                <a:gd name="T8" fmla="*/ 0 60000 65536"/>
                <a:gd name="T9" fmla="*/ 0 w 568"/>
                <a:gd name="T10" fmla="*/ 0 h 336"/>
                <a:gd name="T11" fmla="*/ 568 w 568"/>
                <a:gd name="T12" fmla="*/ 336 h 336"/>
              </a:gdLst>
              <a:ahLst/>
              <a:cxnLst>
                <a:cxn ang="T6">
                  <a:pos x="T0" y="T1"/>
                </a:cxn>
                <a:cxn ang="T7">
                  <a:pos x="T2" y="T3"/>
                </a:cxn>
                <a:cxn ang="T8">
                  <a:pos x="T4" y="T5"/>
                </a:cxn>
              </a:cxnLst>
              <a:rect l="T9" t="T10" r="T11" b="T12"/>
              <a:pathLst>
                <a:path w="568" h="336">
                  <a:moveTo>
                    <a:pt x="568" y="0"/>
                  </a:moveTo>
                  <a:cubicBezTo>
                    <a:pt x="324" y="68"/>
                    <a:pt x="80" y="136"/>
                    <a:pt x="40" y="192"/>
                  </a:cubicBezTo>
                  <a:cubicBezTo>
                    <a:pt x="0" y="248"/>
                    <a:pt x="164" y="292"/>
                    <a:pt x="328" y="336"/>
                  </a:cubicBezTo>
                </a:path>
              </a:pathLst>
            </a:custGeom>
            <a:noFill/>
            <a:ln w="9525">
              <a:solidFill>
                <a:srgbClr val="000000"/>
              </a:solidFill>
              <a:miter lim="800000"/>
              <a:headEnd/>
              <a:tailEnd type="triangle" w="med" len="med"/>
            </a:ln>
            <a:extLst>
              <a:ext uri="{909E8E84-426E-40DD-AFC4-6F175D3DCCD1}">
                <a14:hiddenFill xmlns:a14="http://schemas.microsoft.com/office/drawing/2010/main">
                  <a:solidFill>
                    <a:srgbClr val="FFFFFF"/>
                  </a:solid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grpSp>
      <p:sp>
        <p:nvSpPr>
          <p:cNvPr id="34" name="Text Box 35">
            <a:extLst>
              <a:ext uri="{FF2B5EF4-FFF2-40B4-BE49-F238E27FC236}">
                <a16:creationId xmlns:a16="http://schemas.microsoft.com/office/drawing/2014/main" id="{4E6F418E-DF4E-2352-4971-A3C25119B6E6}"/>
              </a:ext>
            </a:extLst>
          </p:cNvPr>
          <p:cNvSpPr txBox="1">
            <a:spLocks noChangeArrowheads="1"/>
          </p:cNvSpPr>
          <p:nvPr/>
        </p:nvSpPr>
        <p:spPr bwMode="auto">
          <a:xfrm>
            <a:off x="292100" y="2757008"/>
            <a:ext cx="51609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20000"/>
              </a:spcBef>
              <a:spcAft>
                <a:spcPct val="0"/>
              </a:spcAft>
              <a:buClr>
                <a:srgbClr val="3333CC"/>
              </a:buClr>
              <a:buSzPct val="60000"/>
              <a:buFont typeface="Wingdings" panose="05000000000000000000" pitchFamily="2" charset="2"/>
              <a:buNone/>
              <a:tabLst/>
              <a:defRPr/>
            </a:pPr>
            <a:r>
              <a:rPr kumimoji="0" lang="en-US" altLang="el-GR" sz="2800" b="0" i="0" u="none" strike="noStrike" kern="0" cap="none" spc="0" normalizeH="0" baseline="0" noProof="0" dirty="0">
                <a:ln>
                  <a:noFill/>
                </a:ln>
                <a:solidFill>
                  <a:srgbClr val="000000"/>
                </a:solidFill>
                <a:effectLst/>
                <a:uLnTx/>
                <a:uFillTx/>
                <a:latin typeface="Tahoma" panose="020B0604030504040204" pitchFamily="34" charset="0"/>
              </a:rPr>
              <a:t>Double </a:t>
            </a:r>
            <a:r>
              <a:rPr kumimoji="0" lang="en-US" altLang="el-GR" sz="2800" b="1" i="0" u="none" strike="noStrike" kern="0" cap="none" spc="0" normalizeH="0" baseline="0" noProof="0" dirty="0">
                <a:ln>
                  <a:noFill/>
                </a:ln>
                <a:solidFill>
                  <a:srgbClr val="FF0000"/>
                </a:solidFill>
                <a:effectLst/>
                <a:uLnTx/>
                <a:uFillTx/>
                <a:latin typeface="Tahoma" panose="020B0604030504040204" pitchFamily="34" charset="0"/>
              </a:rPr>
              <a:t>d1</a:t>
            </a:r>
            <a:r>
              <a:rPr kumimoji="0" lang="en-US" altLang="el-GR" sz="2800" b="0" i="0" u="none" strike="noStrike" kern="0" cap="none" spc="0" normalizeH="0" baseline="0" noProof="0" dirty="0">
                <a:ln>
                  <a:noFill/>
                </a:ln>
                <a:solidFill>
                  <a:srgbClr val="000000"/>
                </a:solidFill>
                <a:effectLst/>
                <a:uLnTx/>
                <a:uFillTx/>
                <a:latin typeface="Tahoma" panose="020B0604030504040204" pitchFamily="34" charset="0"/>
              </a:rPr>
              <a:t>= </a:t>
            </a:r>
            <a:r>
              <a:rPr kumimoji="0" lang="en-US" altLang="el-GR" sz="2800" b="0" i="0" u="none" strike="noStrike" kern="0" cap="none" spc="0" normalizeH="0" baseline="0" noProof="0" dirty="0">
                <a:ln>
                  <a:noFill/>
                </a:ln>
                <a:solidFill>
                  <a:srgbClr val="1BDD07"/>
                </a:solidFill>
                <a:effectLst/>
                <a:uLnTx/>
                <a:uFillTx/>
                <a:latin typeface="Tahoma" panose="020B0604030504040204" pitchFamily="34" charset="0"/>
              </a:rPr>
              <a:t>new Double</a:t>
            </a:r>
            <a:r>
              <a:rPr kumimoji="0" lang="en-US" altLang="el-GR" sz="2800" b="0" i="0" u="none" strike="noStrike" kern="0" cap="none" spc="0" normalizeH="0" baseline="0" noProof="0" dirty="0">
                <a:ln>
                  <a:noFill/>
                </a:ln>
                <a:solidFill>
                  <a:srgbClr val="000000"/>
                </a:solidFill>
                <a:effectLst/>
                <a:uLnTx/>
                <a:uFillTx/>
                <a:latin typeface="Tahoma" panose="020B0604030504040204" pitchFamily="34" charset="0"/>
              </a:rPr>
              <a:t>(12.0);</a:t>
            </a:r>
          </a:p>
        </p:txBody>
      </p:sp>
      <p:sp>
        <p:nvSpPr>
          <p:cNvPr id="35" name="Text Box 36">
            <a:extLst>
              <a:ext uri="{FF2B5EF4-FFF2-40B4-BE49-F238E27FC236}">
                <a16:creationId xmlns:a16="http://schemas.microsoft.com/office/drawing/2014/main" id="{9385829F-FF3F-C01D-F85E-C90DE89BB9F8}"/>
              </a:ext>
            </a:extLst>
          </p:cNvPr>
          <p:cNvSpPr txBox="1">
            <a:spLocks noChangeArrowheads="1"/>
          </p:cNvSpPr>
          <p:nvPr/>
        </p:nvSpPr>
        <p:spPr bwMode="auto">
          <a:xfrm>
            <a:off x="273050" y="3293583"/>
            <a:ext cx="561083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20000"/>
              </a:spcBef>
              <a:spcAft>
                <a:spcPct val="0"/>
              </a:spcAft>
              <a:buClr>
                <a:srgbClr val="3333CC"/>
              </a:buClr>
              <a:buSzPct val="60000"/>
              <a:buFont typeface="Wingdings" panose="05000000000000000000" pitchFamily="2" charset="2"/>
              <a:buNone/>
              <a:tabLst/>
              <a:defRPr/>
            </a:pPr>
            <a:r>
              <a:rPr kumimoji="0" lang="en-US" altLang="el-GR" sz="2800" b="0" i="0" u="none" strike="noStrike" kern="0" cap="none" spc="0" normalizeH="0" baseline="0" noProof="0" dirty="0">
                <a:ln>
                  <a:noFill/>
                </a:ln>
                <a:solidFill>
                  <a:srgbClr val="000000"/>
                </a:solidFill>
                <a:effectLst/>
                <a:uLnTx/>
                <a:uFillTx/>
                <a:latin typeface="Tahoma" panose="020B0604030504040204" pitchFamily="34" charset="0"/>
              </a:rPr>
              <a:t>Double </a:t>
            </a:r>
            <a:r>
              <a:rPr kumimoji="0" lang="en-US" altLang="el-GR" sz="2800" b="1" i="0" u="none" strike="noStrike" kern="0" cap="none" spc="0" normalizeH="0" baseline="0" noProof="0" dirty="0">
                <a:ln>
                  <a:noFill/>
                </a:ln>
                <a:solidFill>
                  <a:srgbClr val="FF0000"/>
                </a:solidFill>
                <a:effectLst/>
                <a:uLnTx/>
                <a:uFillTx/>
                <a:latin typeface="Tahoma" panose="020B0604030504040204" pitchFamily="34" charset="0"/>
              </a:rPr>
              <a:t>d2</a:t>
            </a:r>
            <a:r>
              <a:rPr kumimoji="0" lang="en-US" altLang="el-GR" sz="2800" b="0" i="0" u="none" strike="noStrike" kern="0" cap="none" spc="0" normalizeH="0" baseline="0" noProof="0" dirty="0">
                <a:ln>
                  <a:noFill/>
                </a:ln>
                <a:solidFill>
                  <a:srgbClr val="000000"/>
                </a:solidFill>
                <a:effectLst/>
                <a:uLnTx/>
                <a:uFillTx/>
                <a:latin typeface="Tahoma" panose="020B0604030504040204" pitchFamily="34" charset="0"/>
              </a:rPr>
              <a:t> = </a:t>
            </a:r>
            <a:r>
              <a:rPr kumimoji="0" lang="en-US" altLang="el-GR" sz="2800" b="0" i="0" u="none" strike="noStrike" kern="0" cap="none" spc="0" normalizeH="0" baseline="0" noProof="0" dirty="0">
                <a:ln>
                  <a:noFill/>
                </a:ln>
                <a:solidFill>
                  <a:srgbClr val="1BDD07"/>
                </a:solidFill>
                <a:effectLst/>
                <a:uLnTx/>
                <a:uFillTx/>
                <a:latin typeface="Tahoma" panose="020B0604030504040204" pitchFamily="34" charset="0"/>
              </a:rPr>
              <a:t>new Double</a:t>
            </a:r>
            <a:r>
              <a:rPr kumimoji="0" lang="en-US" altLang="el-GR" sz="2800" b="0" i="0" u="none" strike="noStrike" kern="0" cap="none" spc="0" normalizeH="0" baseline="0" noProof="0" dirty="0">
                <a:ln>
                  <a:noFill/>
                </a:ln>
                <a:solidFill>
                  <a:srgbClr val="000000"/>
                </a:solidFill>
                <a:effectLst/>
                <a:uLnTx/>
                <a:uFillTx/>
                <a:latin typeface="Tahoma" panose="020B0604030504040204" pitchFamily="34" charset="0"/>
              </a:rPr>
              <a:t>(</a:t>
            </a:r>
            <a:r>
              <a:rPr lang="en-US" altLang="el-GR" sz="2800" kern="0" dirty="0">
                <a:solidFill>
                  <a:srgbClr val="000000"/>
                </a:solidFill>
              </a:rPr>
              <a:t>“</a:t>
            </a:r>
            <a:r>
              <a:rPr kumimoji="0" lang="en-US" altLang="el-GR" sz="2800" b="0" i="0" u="none" strike="noStrike" kern="0" cap="none" spc="0" normalizeH="0" baseline="0" noProof="0" dirty="0">
                <a:ln>
                  <a:noFill/>
                </a:ln>
                <a:solidFill>
                  <a:srgbClr val="000000"/>
                </a:solidFill>
                <a:effectLst/>
                <a:uLnTx/>
                <a:uFillTx/>
                <a:latin typeface="Tahoma" panose="020B0604030504040204" pitchFamily="34" charset="0"/>
              </a:rPr>
              <a:t>24.0”);</a:t>
            </a:r>
          </a:p>
        </p:txBody>
      </p:sp>
      <p:sp>
        <p:nvSpPr>
          <p:cNvPr id="36" name="Text Box 37">
            <a:extLst>
              <a:ext uri="{FF2B5EF4-FFF2-40B4-BE49-F238E27FC236}">
                <a16:creationId xmlns:a16="http://schemas.microsoft.com/office/drawing/2014/main" id="{9563BE7A-A56E-6625-2B48-602C31578443}"/>
              </a:ext>
            </a:extLst>
          </p:cNvPr>
          <p:cNvSpPr txBox="1">
            <a:spLocks noChangeArrowheads="1"/>
          </p:cNvSpPr>
          <p:nvPr/>
        </p:nvSpPr>
        <p:spPr bwMode="auto">
          <a:xfrm>
            <a:off x="292100" y="3838095"/>
            <a:ext cx="514756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20000"/>
              </a:spcBef>
              <a:spcAft>
                <a:spcPct val="0"/>
              </a:spcAft>
              <a:buClr>
                <a:srgbClr val="3333CC"/>
              </a:buClr>
              <a:buSzPct val="60000"/>
              <a:buFont typeface="Wingdings" panose="05000000000000000000" pitchFamily="2" charset="2"/>
              <a:buNone/>
              <a:tabLst/>
              <a:defRPr/>
            </a:pPr>
            <a:r>
              <a:rPr kumimoji="0" lang="en-US" altLang="el-GR" sz="2800" b="0" i="0" u="none" strike="noStrike" kern="0" cap="none" spc="0" normalizeH="0" baseline="0" noProof="0" dirty="0">
                <a:ln>
                  <a:noFill/>
                </a:ln>
                <a:solidFill>
                  <a:srgbClr val="000000"/>
                </a:solidFill>
                <a:effectLst/>
                <a:uLnTx/>
                <a:uFillTx/>
                <a:latin typeface="Tahoma" panose="020B0604030504040204" pitchFamily="34" charset="0"/>
              </a:rPr>
              <a:t>double </a:t>
            </a:r>
            <a:r>
              <a:rPr kumimoji="0" lang="en-US" altLang="el-GR" sz="2800" b="1" i="0" u="none" strike="noStrike" kern="0" cap="none" spc="0" normalizeH="0" baseline="0" noProof="0" dirty="0">
                <a:ln>
                  <a:noFill/>
                </a:ln>
                <a:solidFill>
                  <a:srgbClr val="3333CC"/>
                </a:solidFill>
                <a:effectLst/>
                <a:uLnTx/>
                <a:uFillTx/>
                <a:latin typeface="Tahoma" panose="020B0604030504040204" pitchFamily="34" charset="0"/>
              </a:rPr>
              <a:t>d3</a:t>
            </a:r>
            <a:r>
              <a:rPr kumimoji="0" lang="en-US" altLang="el-GR" sz="2800" b="0" i="0" u="none" strike="noStrike" kern="0" cap="none" spc="0" normalizeH="0" baseline="0" noProof="0" dirty="0">
                <a:ln>
                  <a:noFill/>
                </a:ln>
                <a:solidFill>
                  <a:srgbClr val="000000"/>
                </a:solidFill>
                <a:effectLst/>
                <a:uLnTx/>
                <a:uFillTx/>
                <a:latin typeface="Tahoma" panose="020B0604030504040204" pitchFamily="34" charset="0"/>
              </a:rPr>
              <a:t> = d1.doubleValue();</a:t>
            </a:r>
          </a:p>
        </p:txBody>
      </p:sp>
      <p:sp>
        <p:nvSpPr>
          <p:cNvPr id="37" name="Text Box 38">
            <a:extLst>
              <a:ext uri="{FF2B5EF4-FFF2-40B4-BE49-F238E27FC236}">
                <a16:creationId xmlns:a16="http://schemas.microsoft.com/office/drawing/2014/main" id="{870FD139-0BA4-A640-DEED-A059D3810F87}"/>
              </a:ext>
            </a:extLst>
          </p:cNvPr>
          <p:cNvSpPr txBox="1">
            <a:spLocks noChangeArrowheads="1"/>
          </p:cNvSpPr>
          <p:nvPr/>
        </p:nvSpPr>
        <p:spPr bwMode="auto">
          <a:xfrm>
            <a:off x="292100" y="4485795"/>
            <a:ext cx="514115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20000"/>
              </a:spcBef>
              <a:spcAft>
                <a:spcPct val="0"/>
              </a:spcAft>
              <a:buClr>
                <a:srgbClr val="3333CC"/>
              </a:buClr>
              <a:buSzPct val="60000"/>
              <a:buFont typeface="Wingdings" panose="05000000000000000000" pitchFamily="2" charset="2"/>
              <a:buNone/>
              <a:tabLst/>
              <a:defRPr/>
            </a:pPr>
            <a:r>
              <a:rPr kumimoji="0" lang="en-US" altLang="el-GR" sz="2800" b="0" i="0" u="none" strike="noStrike" kern="0" cap="none" spc="0" normalizeH="0" baseline="0" noProof="0" dirty="0">
                <a:ln>
                  <a:noFill/>
                </a:ln>
                <a:solidFill>
                  <a:srgbClr val="000000"/>
                </a:solidFill>
                <a:effectLst/>
                <a:uLnTx/>
                <a:uFillTx/>
                <a:latin typeface="Tahoma" panose="020B0604030504040204" pitchFamily="34" charset="0"/>
              </a:rPr>
              <a:t>double </a:t>
            </a:r>
            <a:r>
              <a:rPr kumimoji="0" lang="en-US" altLang="el-GR" sz="2800" b="1" i="0" u="none" strike="noStrike" kern="0" cap="none" spc="0" normalizeH="0" baseline="0" noProof="0" dirty="0">
                <a:ln>
                  <a:noFill/>
                </a:ln>
                <a:solidFill>
                  <a:srgbClr val="3333CC"/>
                </a:solidFill>
                <a:effectLst/>
                <a:uLnTx/>
                <a:uFillTx/>
                <a:latin typeface="Tahoma" panose="020B0604030504040204" pitchFamily="34" charset="0"/>
              </a:rPr>
              <a:t>d4 </a:t>
            </a:r>
            <a:r>
              <a:rPr kumimoji="0" lang="en-US" altLang="el-GR" sz="2800" b="0" i="0" u="none" strike="noStrike" kern="0" cap="none" spc="0" normalizeH="0" baseline="0" noProof="0" dirty="0">
                <a:ln>
                  <a:noFill/>
                </a:ln>
                <a:solidFill>
                  <a:srgbClr val="000000"/>
                </a:solidFill>
                <a:effectLst/>
                <a:uLnTx/>
                <a:uFillTx/>
                <a:latin typeface="Tahoma" panose="020B0604030504040204" pitchFamily="34" charset="0"/>
              </a:rPr>
              <a:t>= d2.doubleValue();</a:t>
            </a:r>
          </a:p>
        </p:txBody>
      </p:sp>
      <p:sp>
        <p:nvSpPr>
          <p:cNvPr id="38" name="Text Box 39">
            <a:extLst>
              <a:ext uri="{FF2B5EF4-FFF2-40B4-BE49-F238E27FC236}">
                <a16:creationId xmlns:a16="http://schemas.microsoft.com/office/drawing/2014/main" id="{D278ECB4-969C-B5E4-5752-0BEB8D82B4DC}"/>
              </a:ext>
            </a:extLst>
          </p:cNvPr>
          <p:cNvSpPr txBox="1">
            <a:spLocks noChangeArrowheads="1"/>
          </p:cNvSpPr>
          <p:nvPr/>
        </p:nvSpPr>
        <p:spPr bwMode="auto">
          <a:xfrm>
            <a:off x="292100" y="5133495"/>
            <a:ext cx="56229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20000"/>
              </a:spcBef>
              <a:spcAft>
                <a:spcPct val="0"/>
              </a:spcAft>
              <a:buClr>
                <a:srgbClr val="3333CC"/>
              </a:buClr>
              <a:buSzPct val="60000"/>
              <a:buFont typeface="Wingdings" panose="05000000000000000000" pitchFamily="2" charset="2"/>
              <a:buNone/>
              <a:tabLst/>
              <a:defRPr/>
            </a:pPr>
            <a:r>
              <a:rPr kumimoji="0" lang="en-US" altLang="el-GR" sz="2800" b="0" i="0" u="none" strike="noStrike" kern="0" cap="none" spc="0" normalizeH="0" baseline="0" noProof="0" dirty="0">
                <a:ln>
                  <a:noFill/>
                </a:ln>
                <a:solidFill>
                  <a:srgbClr val="000000"/>
                </a:solidFill>
                <a:effectLst/>
                <a:uLnTx/>
                <a:uFillTx/>
                <a:latin typeface="Tahoma" panose="020B0604030504040204" pitchFamily="34" charset="0"/>
              </a:rPr>
              <a:t>Double </a:t>
            </a:r>
            <a:r>
              <a:rPr kumimoji="0" lang="en-US" altLang="el-GR" sz="2800" b="1" i="0" u="none" strike="noStrike" kern="0" cap="none" spc="0" normalizeH="0" baseline="0" noProof="0" dirty="0">
                <a:ln>
                  <a:noFill/>
                </a:ln>
                <a:solidFill>
                  <a:srgbClr val="FF0000"/>
                </a:solidFill>
                <a:effectLst/>
                <a:uLnTx/>
                <a:uFillTx/>
                <a:latin typeface="Tahoma" panose="020B0604030504040204" pitchFamily="34" charset="0"/>
              </a:rPr>
              <a:t>d5</a:t>
            </a:r>
            <a:r>
              <a:rPr kumimoji="0" lang="en-US" altLang="el-GR" sz="2800" b="0" i="0" u="none" strike="noStrike" kern="0" cap="none" spc="0" normalizeH="0" baseline="0" noProof="0" dirty="0">
                <a:ln>
                  <a:noFill/>
                </a:ln>
                <a:solidFill>
                  <a:srgbClr val="000000"/>
                </a:solidFill>
                <a:effectLst/>
                <a:uLnTx/>
                <a:uFillTx/>
                <a:latin typeface="Tahoma" panose="020B0604030504040204" pitchFamily="34" charset="0"/>
              </a:rPr>
              <a:t> = </a:t>
            </a:r>
            <a:r>
              <a:rPr kumimoji="0" lang="en-US" altLang="el-GR" sz="2800" b="0" i="0" u="none" strike="noStrike" kern="0" cap="none" spc="0" normalizeH="0" baseline="0" noProof="0" dirty="0">
                <a:ln>
                  <a:noFill/>
                </a:ln>
                <a:solidFill>
                  <a:srgbClr val="1BDD07"/>
                </a:solidFill>
                <a:effectLst/>
                <a:uLnTx/>
                <a:uFillTx/>
                <a:latin typeface="Tahoma" panose="020B0604030504040204" pitchFamily="34" charset="0"/>
              </a:rPr>
              <a:t>new Double</a:t>
            </a:r>
            <a:r>
              <a:rPr kumimoji="0" lang="en-US" altLang="el-GR" sz="2800" b="0" i="0" u="none" strike="noStrike" kern="0" cap="none" spc="0" normalizeH="0" baseline="0" noProof="0" dirty="0">
                <a:ln>
                  <a:noFill/>
                </a:ln>
                <a:solidFill>
                  <a:srgbClr val="000000"/>
                </a:solidFill>
                <a:effectLst/>
                <a:uLnTx/>
                <a:uFillTx/>
                <a:latin typeface="Tahoma" panose="020B0604030504040204" pitchFamily="34" charset="0"/>
              </a:rPr>
              <a:t>(d3+d4);</a:t>
            </a:r>
          </a:p>
        </p:txBody>
      </p:sp>
      <p:pic>
        <p:nvPicPr>
          <p:cNvPr id="40" name="Picture 39">
            <a:extLst>
              <a:ext uri="{FF2B5EF4-FFF2-40B4-BE49-F238E27FC236}">
                <a16:creationId xmlns:a16="http://schemas.microsoft.com/office/drawing/2014/main" id="{C9FCD4EF-73FB-614C-8A4F-E4464624FD7B}"/>
              </a:ext>
            </a:extLst>
          </p:cNvPr>
          <p:cNvPicPr>
            <a:picLocks noChangeAspect="1"/>
          </p:cNvPicPr>
          <p:nvPr/>
        </p:nvPicPr>
        <p:blipFill>
          <a:blip r:embed="rId3"/>
          <a:stretch>
            <a:fillRect/>
          </a:stretch>
        </p:blipFill>
        <p:spPr>
          <a:xfrm>
            <a:off x="35267" y="5745389"/>
            <a:ext cx="9267874" cy="803215"/>
          </a:xfrm>
          <a:prstGeom prst="rect">
            <a:avLst/>
          </a:prstGeom>
        </p:spPr>
      </p:pic>
      <p:pic>
        <p:nvPicPr>
          <p:cNvPr id="42" name="Picture 41">
            <a:extLst>
              <a:ext uri="{FF2B5EF4-FFF2-40B4-BE49-F238E27FC236}">
                <a16:creationId xmlns:a16="http://schemas.microsoft.com/office/drawing/2014/main" id="{88F2EE17-C856-4DD4-BCDD-ECB91EF4D381}"/>
              </a:ext>
            </a:extLst>
          </p:cNvPr>
          <p:cNvPicPr>
            <a:picLocks noChangeAspect="1"/>
          </p:cNvPicPr>
          <p:nvPr/>
        </p:nvPicPr>
        <p:blipFill>
          <a:blip r:embed="rId4"/>
          <a:stretch>
            <a:fillRect/>
          </a:stretch>
        </p:blipFill>
        <p:spPr>
          <a:xfrm>
            <a:off x="0" y="752894"/>
            <a:ext cx="8321157" cy="1953323"/>
          </a:xfrm>
          <a:prstGeom prst="rect">
            <a:avLst/>
          </a:prstGeom>
        </p:spPr>
      </p:pic>
    </p:spTree>
    <p:extLst>
      <p:ext uri="{BB962C8B-B14F-4D97-AF65-F5344CB8AC3E}">
        <p14:creationId xmlns:p14="http://schemas.microsoft.com/office/powerpoint/2010/main" val="174062614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box(in)">
                                      <p:cBhvr>
                                        <p:cTn id="7" dur="500"/>
                                        <p:tgtEl>
                                          <p:spTgt spid="34"/>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blinds(horizontal)">
                                      <p:cBhvr>
                                        <p:cTn id="11" dur="500"/>
                                        <p:tgtEl>
                                          <p:spTgt spid="13"/>
                                        </p:tgtEl>
                                      </p:cBhvr>
                                    </p:animEffect>
                                  </p:childTnLst>
                                </p:cTn>
                              </p:par>
                            </p:childTnLst>
                          </p:cTn>
                        </p:par>
                      </p:childTnLst>
                    </p:cTn>
                  </p:par>
                  <p:par>
                    <p:cTn id="12" fill="hold">
                      <p:stCondLst>
                        <p:cond delay="indefinite"/>
                      </p:stCondLst>
                      <p:childTnLst>
                        <p:par>
                          <p:cTn id="13" fill="hold">
                            <p:stCondLst>
                              <p:cond delay="0"/>
                            </p:stCondLst>
                            <p:childTnLst>
                              <p:par>
                                <p:cTn id="14" presetID="4" presetClass="entr" presetSubtype="16" fill="hold" nodeType="clickEffect">
                                  <p:stCondLst>
                                    <p:cond delay="0"/>
                                  </p:stCondLst>
                                  <p:childTnLst>
                                    <p:set>
                                      <p:cBhvr>
                                        <p:cTn id="15" dur="1" fill="hold">
                                          <p:stCondLst>
                                            <p:cond delay="0"/>
                                          </p:stCondLst>
                                        </p:cTn>
                                        <p:tgtEl>
                                          <p:spTgt spid="35">
                                            <p:txEl>
                                              <p:pRg st="0" end="0"/>
                                            </p:txEl>
                                          </p:spTgt>
                                        </p:tgtEl>
                                        <p:attrNameLst>
                                          <p:attrName>style.visibility</p:attrName>
                                        </p:attrNameLst>
                                      </p:cBhvr>
                                      <p:to>
                                        <p:strVal val="visible"/>
                                      </p:to>
                                    </p:set>
                                    <p:animEffect transition="in" filter="box(in)">
                                      <p:cBhvr>
                                        <p:cTn id="16" dur="500"/>
                                        <p:tgtEl>
                                          <p:spTgt spid="35">
                                            <p:txEl>
                                              <p:pRg st="0" end="0"/>
                                            </p:txEl>
                                          </p:spTgt>
                                        </p:tgtEl>
                                      </p:cBhvr>
                                    </p:animEffect>
                                  </p:childTnLst>
                                </p:cTn>
                              </p:par>
                            </p:childTnLst>
                          </p:cTn>
                        </p:par>
                        <p:par>
                          <p:cTn id="17" fill="hold">
                            <p:stCondLst>
                              <p:cond delay="500"/>
                            </p:stCondLst>
                            <p:childTnLst>
                              <p:par>
                                <p:cTn id="18" presetID="3" presetClass="entr" presetSubtype="10" fill="hold" nodeType="after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blinds(horizontal)">
                                      <p:cBhvr>
                                        <p:cTn id="20" dur="500"/>
                                        <p:tgtEl>
                                          <p:spTgt spid="20"/>
                                        </p:tgtEl>
                                      </p:cBhvr>
                                    </p:animEffect>
                                  </p:childTnLst>
                                </p:cTn>
                              </p:par>
                              <p:par>
                                <p:cTn id="21" presetID="3" presetClass="entr" presetSubtype="1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blinds(horizontal)">
                                      <p:cBhvr>
                                        <p:cTn id="23" dur="500"/>
                                        <p:tgtEl>
                                          <p:spTgt spid="9"/>
                                        </p:tgtEl>
                                      </p:cBhvr>
                                    </p:animEffect>
                                  </p:childTnLst>
                                </p:cTn>
                              </p:par>
                              <p:par>
                                <p:cTn id="24" presetID="5" presetClass="entr" presetSubtype="10" fill="hold" grpId="0" nodeType="with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checkerboard(across)">
                                      <p:cBhvr>
                                        <p:cTn id="26" dur="500"/>
                                        <p:tgtEl>
                                          <p:spTgt spid="19"/>
                                        </p:tgtEl>
                                      </p:cBhvr>
                                    </p:animEffect>
                                  </p:childTnLst>
                                </p:cTn>
                              </p:par>
                              <p:par>
                                <p:cTn id="27" presetID="5" presetClass="entr" presetSubtype="10" fill="hold" nodeType="withEffect">
                                  <p:stCondLst>
                                    <p:cond delay="0"/>
                                  </p:stCondLst>
                                  <p:childTnLst>
                                    <p:set>
                                      <p:cBhvr>
                                        <p:cTn id="28" dur="1" fill="hold">
                                          <p:stCondLst>
                                            <p:cond delay="0"/>
                                          </p:stCondLst>
                                        </p:cTn>
                                        <p:tgtEl>
                                          <p:spTgt spid="21"/>
                                        </p:tgtEl>
                                        <p:attrNameLst>
                                          <p:attrName>style.visibility</p:attrName>
                                        </p:attrNameLst>
                                      </p:cBhvr>
                                      <p:to>
                                        <p:strVal val="visible"/>
                                      </p:to>
                                    </p:set>
                                    <p:animEffect transition="in" filter="checkerboard(across)">
                                      <p:cBhvr>
                                        <p:cTn id="29" dur="500"/>
                                        <p:tgtEl>
                                          <p:spTgt spid="21"/>
                                        </p:tgtEl>
                                      </p:cBhvr>
                                    </p:animEffect>
                                  </p:childTnLst>
                                </p:cTn>
                              </p:par>
                              <p:par>
                                <p:cTn id="30" presetID="5" presetClass="entr" presetSubtype="1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checkerboard(across)">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36"/>
                                        </p:tgtEl>
                                        <p:attrNameLst>
                                          <p:attrName>style.visibility</p:attrName>
                                        </p:attrNameLst>
                                      </p:cBhvr>
                                      <p:to>
                                        <p:strVal val="visible"/>
                                      </p:to>
                                    </p:set>
                                    <p:animEffect transition="in" filter="box(in)">
                                      <p:cBhvr>
                                        <p:cTn id="37" dur="500"/>
                                        <p:tgtEl>
                                          <p:spTgt spid="36"/>
                                        </p:tgtEl>
                                      </p:cBhvr>
                                    </p:animEffect>
                                  </p:childTnLst>
                                </p:cTn>
                              </p:par>
                            </p:childTnLst>
                          </p:cTn>
                        </p:par>
                        <p:par>
                          <p:cTn id="38" fill="hold">
                            <p:stCondLst>
                              <p:cond delay="500"/>
                            </p:stCondLst>
                            <p:childTnLst>
                              <p:par>
                                <p:cTn id="39" presetID="5" presetClass="entr" presetSubtype="10" fill="hold" nodeType="after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checkerboard(across)">
                                      <p:cBhvr>
                                        <p:cTn id="41" dur="500"/>
                                        <p:tgtEl>
                                          <p:spTgt spid="22"/>
                                        </p:tgtEl>
                                      </p:cBhvr>
                                    </p:animEffect>
                                  </p:childTnLst>
                                </p:cTn>
                              </p:par>
                              <p:par>
                                <p:cTn id="42" presetID="1" presetClass="entr" presetSubtype="0" fill="hold" nodeType="withEffect">
                                  <p:stCondLst>
                                    <p:cond delay="0"/>
                                  </p:stCondLst>
                                  <p:childTnLst>
                                    <p:set>
                                      <p:cBhvr>
                                        <p:cTn id="43" dur="1" fill="hold">
                                          <p:stCondLst>
                                            <p:cond delay="0"/>
                                          </p:stCondLst>
                                        </p:cTn>
                                        <p:tgtEl>
                                          <p:spTgt spid="40"/>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4" presetClass="entr" presetSubtype="16" fill="hold" grpId="0" nodeType="clickEffect">
                                  <p:stCondLst>
                                    <p:cond delay="0"/>
                                  </p:stCondLst>
                                  <p:childTnLst>
                                    <p:set>
                                      <p:cBhvr>
                                        <p:cTn id="47" dur="1" fill="hold">
                                          <p:stCondLst>
                                            <p:cond delay="0"/>
                                          </p:stCondLst>
                                        </p:cTn>
                                        <p:tgtEl>
                                          <p:spTgt spid="37"/>
                                        </p:tgtEl>
                                        <p:attrNameLst>
                                          <p:attrName>style.visibility</p:attrName>
                                        </p:attrNameLst>
                                      </p:cBhvr>
                                      <p:to>
                                        <p:strVal val="visible"/>
                                      </p:to>
                                    </p:set>
                                    <p:animEffect transition="in" filter="box(in)">
                                      <p:cBhvr>
                                        <p:cTn id="48" dur="500"/>
                                        <p:tgtEl>
                                          <p:spTgt spid="37"/>
                                        </p:tgtEl>
                                      </p:cBhvr>
                                    </p:animEffect>
                                  </p:childTnLst>
                                </p:cTn>
                              </p:par>
                            </p:childTnLst>
                          </p:cTn>
                        </p:par>
                        <p:par>
                          <p:cTn id="49" fill="hold">
                            <p:stCondLst>
                              <p:cond delay="500"/>
                            </p:stCondLst>
                            <p:childTnLst>
                              <p:par>
                                <p:cTn id="50" presetID="5" presetClass="entr" presetSubtype="10" fill="hold" nodeType="after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checkerboard(across)">
                                      <p:cBhvr>
                                        <p:cTn id="52" dur="500"/>
                                        <p:tgtEl>
                                          <p:spTgt spid="25"/>
                                        </p:tgtEl>
                                      </p:cBhvr>
                                    </p:animEffect>
                                  </p:childTnLst>
                                </p:cTn>
                              </p:par>
                            </p:childTnLst>
                          </p:cTn>
                        </p:par>
                        <p:par>
                          <p:cTn id="53" fill="hold">
                            <p:stCondLst>
                              <p:cond delay="1000"/>
                            </p:stCondLst>
                            <p:childTnLst>
                              <p:par>
                                <p:cTn id="54" presetID="3" presetClass="entr" presetSubtype="10" fill="hold" grpId="0" nodeType="afterEffect">
                                  <p:stCondLst>
                                    <p:cond delay="0"/>
                                  </p:stCondLst>
                                  <p:childTnLst>
                                    <p:set>
                                      <p:cBhvr>
                                        <p:cTn id="55" dur="1" fill="hold">
                                          <p:stCondLst>
                                            <p:cond delay="0"/>
                                          </p:stCondLst>
                                        </p:cTn>
                                        <p:tgtEl>
                                          <p:spTgt spid="5"/>
                                        </p:tgtEl>
                                        <p:attrNameLst>
                                          <p:attrName>style.visibility</p:attrName>
                                        </p:attrNameLst>
                                      </p:cBhvr>
                                      <p:to>
                                        <p:strVal val="visible"/>
                                      </p:to>
                                    </p:set>
                                    <p:animEffect transition="in" filter="blinds(horizontal)">
                                      <p:cBhvr>
                                        <p:cTn id="56" dur="500"/>
                                        <p:tgtEl>
                                          <p:spTgt spid="5"/>
                                        </p:tgtEl>
                                      </p:cBhvr>
                                    </p:animEffect>
                                  </p:childTnLst>
                                </p:cTn>
                              </p:par>
                            </p:childTnLst>
                          </p:cTn>
                        </p:par>
                      </p:childTnLst>
                    </p:cTn>
                  </p:par>
                  <p:par>
                    <p:cTn id="57" fill="hold">
                      <p:stCondLst>
                        <p:cond delay="indefinite"/>
                      </p:stCondLst>
                      <p:childTnLst>
                        <p:par>
                          <p:cTn id="58" fill="hold">
                            <p:stCondLst>
                              <p:cond delay="0"/>
                            </p:stCondLst>
                            <p:childTnLst>
                              <p:par>
                                <p:cTn id="59" presetID="4" presetClass="entr" presetSubtype="16" fill="hold" grpId="0" nodeType="clickEffect">
                                  <p:stCondLst>
                                    <p:cond delay="0"/>
                                  </p:stCondLst>
                                  <p:childTnLst>
                                    <p:set>
                                      <p:cBhvr>
                                        <p:cTn id="60" dur="1" fill="hold">
                                          <p:stCondLst>
                                            <p:cond delay="0"/>
                                          </p:stCondLst>
                                        </p:cTn>
                                        <p:tgtEl>
                                          <p:spTgt spid="38"/>
                                        </p:tgtEl>
                                        <p:attrNameLst>
                                          <p:attrName>style.visibility</p:attrName>
                                        </p:attrNameLst>
                                      </p:cBhvr>
                                      <p:to>
                                        <p:strVal val="visible"/>
                                      </p:to>
                                    </p:set>
                                    <p:animEffect transition="in" filter="box(in)">
                                      <p:cBhvr>
                                        <p:cTn id="61" dur="500"/>
                                        <p:tgtEl>
                                          <p:spTgt spid="38"/>
                                        </p:tgtEl>
                                      </p:cBhvr>
                                    </p:animEffect>
                                  </p:childTnLst>
                                </p:cTn>
                              </p:par>
                            </p:childTnLst>
                          </p:cTn>
                        </p:par>
                        <p:par>
                          <p:cTn id="62" fill="hold">
                            <p:stCondLst>
                              <p:cond delay="500"/>
                            </p:stCondLst>
                            <p:childTnLst>
                              <p:par>
                                <p:cTn id="63" presetID="5" presetClass="entr" presetSubtype="10" fill="hold" nodeType="afterEffect">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checkerboard(across)">
                                      <p:cBhvr>
                                        <p:cTn id="65"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2" grpId="0" animBg="1"/>
      <p:bldP spid="19" grpId="0"/>
      <p:bldP spid="34" grpId="0"/>
      <p:bldP spid="36" grpId="0"/>
      <p:bldP spid="37" grpId="0"/>
      <p:bldP spid="3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n-US" sz="4000" b="1" dirty="0">
                <a:solidFill>
                  <a:srgbClr val="F9853D"/>
                </a:solidFill>
                <a:latin typeface="Bahnschrift" panose="020B0502040204020203" pitchFamily="34" charset="0"/>
              </a:rPr>
              <a:t>class Calc (1st version)</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3" name="Θέση υποσέλιδου 4">
            <a:extLst>
              <a:ext uri="{FF2B5EF4-FFF2-40B4-BE49-F238E27FC236}">
                <a16:creationId xmlns:a16="http://schemas.microsoft.com/office/drawing/2014/main" id="{C84FEE0A-EC67-F275-4254-C7380CB8525E}"/>
              </a:ext>
            </a:extLst>
          </p:cNvPr>
          <p:cNvSpPr txBox="1">
            <a:spLocks/>
          </p:cNvSpPr>
          <p:nvPr/>
        </p:nvSpPr>
        <p:spPr>
          <a:xfrm>
            <a:off x="3305908" y="6559909"/>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LEGO Approach – Part B</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4" name="Text Box 38">
            <a:extLst>
              <a:ext uri="{FF2B5EF4-FFF2-40B4-BE49-F238E27FC236}">
                <a16:creationId xmlns:a16="http://schemas.microsoft.com/office/drawing/2014/main" id="{580FA1B3-3F46-00B6-23A1-090370E938D8}"/>
              </a:ext>
            </a:extLst>
          </p:cNvPr>
          <p:cNvSpPr txBox="1">
            <a:spLocks noChangeArrowheads="1"/>
          </p:cNvSpPr>
          <p:nvPr/>
        </p:nvSpPr>
        <p:spPr bwMode="auto">
          <a:xfrm>
            <a:off x="179388" y="908050"/>
            <a:ext cx="7488237" cy="5632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public class </a:t>
            </a:r>
            <a:r>
              <a:rPr kumimoji="0" lang="en-US" altLang="el-GR" sz="2400" b="1" i="0" u="none" strike="noStrike" kern="0" cap="none" spc="0" normalizeH="0" baseline="0" noProof="0" dirty="0">
                <a:ln>
                  <a:noFill/>
                </a:ln>
                <a:solidFill>
                  <a:srgbClr val="FF0000"/>
                </a:solidFill>
                <a:effectLst/>
                <a:uLnTx/>
                <a:uFillTx/>
                <a:latin typeface="Tahoma" panose="020B0604030504040204" pitchFamily="34" charset="0"/>
              </a:rPr>
              <a:t>Calc</a:t>
            </a: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static Double d1,d2;</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static  Stack&lt;Double</a:t>
            </a:r>
            <a:r>
              <a:rPr kumimoji="0" lang="el-GR" altLang="el-GR" sz="2400" b="0" i="0" u="none" strike="noStrike" kern="0" cap="none" spc="0" normalizeH="0" baseline="0" noProof="0" dirty="0">
                <a:ln>
                  <a:noFill/>
                </a:ln>
                <a:solidFill>
                  <a:srgbClr val="000000"/>
                </a:solidFill>
                <a:effectLst/>
                <a:uLnTx/>
                <a:uFillTx/>
                <a:latin typeface="Tahoma" panose="020B0604030504040204" pitchFamily="34" charset="0"/>
              </a:rPr>
              <a:t>&gt;</a:t>
            </a: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a:t>
            </a:r>
            <a:r>
              <a:rPr kumimoji="0" lang="en-US" altLang="el-GR" sz="2400" b="0" i="0" u="none" strike="noStrike" kern="0" cap="none" spc="0" normalizeH="0" baseline="0" noProof="0" dirty="0" err="1">
                <a:ln>
                  <a:noFill/>
                </a:ln>
                <a:solidFill>
                  <a:srgbClr val="000000"/>
                </a:solidFill>
                <a:effectLst/>
                <a:uLnTx/>
                <a:uFillTx/>
                <a:latin typeface="Tahoma" panose="020B0604030504040204" pitchFamily="34" charset="0"/>
              </a:rPr>
              <a:t>st</a:t>
            </a: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public static void </a:t>
            </a:r>
            <a:r>
              <a:rPr kumimoji="0" lang="en-US" altLang="el-GR" sz="2400" b="1" i="0" u="none" strike="noStrike" kern="0" cap="none" spc="0" normalizeH="0" baseline="0" noProof="0" dirty="0">
                <a:ln>
                  <a:noFill/>
                </a:ln>
                <a:solidFill>
                  <a:srgbClr val="FF0000"/>
                </a:solidFill>
                <a:effectLst/>
                <a:uLnTx/>
                <a:uFillTx/>
                <a:latin typeface="Tahoma" panose="020B0604030504040204" pitchFamily="34" charset="0"/>
              </a:rPr>
              <a:t>main</a:t>
            </a: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d1 = new Double(20);</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d2 = new Double(40);</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a:t>
            </a:r>
            <a:r>
              <a:rPr kumimoji="0" lang="en-US" altLang="el-GR" sz="2400" b="0" i="0" u="none" strike="noStrike" kern="0" cap="none" spc="0" normalizeH="0" baseline="0" noProof="0" dirty="0" err="1">
                <a:ln>
                  <a:noFill/>
                </a:ln>
                <a:solidFill>
                  <a:srgbClr val="000000"/>
                </a:solidFill>
                <a:effectLst/>
                <a:uLnTx/>
                <a:uFillTx/>
                <a:latin typeface="Tahoma" panose="020B0604030504040204" pitchFamily="34" charset="0"/>
              </a:rPr>
              <a:t>st</a:t>
            </a: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 new Stack&lt;Double&gt;();</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a:t>
            </a:r>
            <a:r>
              <a:rPr kumimoji="0" lang="en-US" altLang="el-GR" sz="2400" b="0" i="0" u="none" strike="noStrike" kern="0" cap="none" spc="0" normalizeH="0" baseline="0" noProof="0" dirty="0" err="1">
                <a:ln>
                  <a:noFill/>
                </a:ln>
                <a:solidFill>
                  <a:srgbClr val="000000"/>
                </a:solidFill>
                <a:effectLst/>
                <a:uLnTx/>
                <a:uFillTx/>
                <a:latin typeface="Tahoma" panose="020B0604030504040204" pitchFamily="34" charset="0"/>
              </a:rPr>
              <a:t>st.push</a:t>
            </a: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(d1);</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a:t>
            </a:r>
            <a:r>
              <a:rPr kumimoji="0" lang="en-US" altLang="el-GR" sz="2400" b="0" i="0" u="none" strike="noStrike" kern="0" cap="none" spc="0" normalizeH="0" baseline="0" noProof="0" dirty="0" err="1">
                <a:ln>
                  <a:noFill/>
                </a:ln>
                <a:solidFill>
                  <a:srgbClr val="000000"/>
                </a:solidFill>
                <a:effectLst/>
                <a:uLnTx/>
                <a:uFillTx/>
                <a:latin typeface="Tahoma" panose="020B0604030504040204" pitchFamily="34" charset="0"/>
              </a:rPr>
              <a:t>st.push</a:t>
            </a: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(d2);</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Double d3 = </a:t>
            </a:r>
            <a:r>
              <a:rPr kumimoji="0" lang="en-US" altLang="el-GR" sz="2400" b="0" i="0" u="none" strike="noStrike" kern="0" cap="none" spc="0" normalizeH="0" baseline="0" noProof="0" dirty="0" err="1">
                <a:ln>
                  <a:noFill/>
                </a:ln>
                <a:solidFill>
                  <a:srgbClr val="000000"/>
                </a:solidFill>
                <a:effectLst/>
                <a:uLnTx/>
                <a:uFillTx/>
                <a:latin typeface="Tahoma" panose="020B0604030504040204" pitchFamily="34" charset="0"/>
              </a:rPr>
              <a:t>st.pop</a:t>
            </a: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Double d4 = </a:t>
            </a:r>
            <a:r>
              <a:rPr kumimoji="0" lang="en-US" altLang="el-GR" sz="2400" b="0" i="0" u="none" strike="noStrike" kern="0" cap="none" spc="0" normalizeH="0" baseline="0" noProof="0" dirty="0" err="1">
                <a:ln>
                  <a:noFill/>
                </a:ln>
                <a:solidFill>
                  <a:srgbClr val="000000"/>
                </a:solidFill>
                <a:effectLst/>
                <a:uLnTx/>
                <a:uFillTx/>
                <a:latin typeface="Tahoma" panose="020B0604030504040204" pitchFamily="34" charset="0"/>
              </a:rPr>
              <a:t>st.pop</a:t>
            </a: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a:t>
            </a:r>
            <a:r>
              <a:rPr kumimoji="0" lang="en-US" altLang="el-GR" sz="2400" b="0" i="0" u="none" strike="noStrike" kern="0" cap="none" spc="0" normalizeH="0" baseline="0" noProof="0" dirty="0" err="1">
                <a:ln>
                  <a:noFill/>
                </a:ln>
                <a:solidFill>
                  <a:srgbClr val="000000"/>
                </a:solidFill>
                <a:effectLst/>
                <a:uLnTx/>
                <a:uFillTx/>
                <a:latin typeface="Tahoma" panose="020B0604030504040204" pitchFamily="34" charset="0"/>
              </a:rPr>
              <a:t>st.push</a:t>
            </a: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(d3+d4);</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a:t>
            </a:r>
            <a:r>
              <a:rPr kumimoji="0" lang="en-US" altLang="el-GR" sz="2400" b="0" i="0" u="none" strike="noStrike" kern="0" cap="none" spc="0" normalizeH="0" baseline="0" noProof="0" dirty="0" err="1">
                <a:ln>
                  <a:noFill/>
                </a:ln>
                <a:solidFill>
                  <a:srgbClr val="000000"/>
                </a:solidFill>
                <a:effectLst/>
                <a:uLnTx/>
                <a:uFillTx/>
                <a:latin typeface="Tahoma" panose="020B0604030504040204" pitchFamily="34" charset="0"/>
              </a:rPr>
              <a:t>System.out.println</a:t>
            </a: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("sum is="+ </a:t>
            </a:r>
            <a:r>
              <a:rPr kumimoji="0" lang="en-US" altLang="el-GR" sz="2400" b="0" i="0" u="none" strike="noStrike" kern="0" cap="none" spc="0" normalizeH="0" baseline="0" noProof="0" dirty="0" err="1">
                <a:ln>
                  <a:noFill/>
                </a:ln>
                <a:solidFill>
                  <a:srgbClr val="000000"/>
                </a:solidFill>
                <a:effectLst/>
                <a:uLnTx/>
                <a:uFillTx/>
                <a:latin typeface="Tahoma" panose="020B0604030504040204" pitchFamily="34" charset="0"/>
              </a:rPr>
              <a:t>st.pop</a:t>
            </a: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a:t>
            </a:r>
          </a:p>
        </p:txBody>
      </p:sp>
      <p:sp>
        <p:nvSpPr>
          <p:cNvPr id="5" name="AutoShape 39">
            <a:extLst>
              <a:ext uri="{FF2B5EF4-FFF2-40B4-BE49-F238E27FC236}">
                <a16:creationId xmlns:a16="http://schemas.microsoft.com/office/drawing/2014/main" id="{9EC0096C-744D-FA78-5C9E-414917380B78}"/>
              </a:ext>
            </a:extLst>
          </p:cNvPr>
          <p:cNvSpPr>
            <a:spLocks noChangeArrowheads="1"/>
          </p:cNvSpPr>
          <p:nvPr/>
        </p:nvSpPr>
        <p:spPr bwMode="auto">
          <a:xfrm>
            <a:off x="7208875" y="5059696"/>
            <a:ext cx="4090651" cy="1013304"/>
          </a:xfrm>
          <a:prstGeom prst="wedgeRoundRectCallout">
            <a:avLst>
              <a:gd name="adj1" fmla="val -49463"/>
              <a:gd name="adj2" fmla="val 90130"/>
              <a:gd name="adj3" fmla="val 16667"/>
            </a:avLst>
          </a:prstGeom>
          <a:solidFill>
            <a:srgbClr val="FFFF00"/>
          </a:solidFill>
          <a:ln w="9525">
            <a:solidFill>
              <a:schemeClr val="bg1"/>
            </a:solidFill>
            <a:miter lim="800000"/>
            <a:headEnd/>
            <a:tailEnd/>
          </a:ln>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Compare it with the object interaction diagram</a:t>
            </a:r>
          </a:p>
        </p:txBody>
      </p:sp>
      <p:pic>
        <p:nvPicPr>
          <p:cNvPr id="7" name="Picture 6">
            <a:extLst>
              <a:ext uri="{FF2B5EF4-FFF2-40B4-BE49-F238E27FC236}">
                <a16:creationId xmlns:a16="http://schemas.microsoft.com/office/drawing/2014/main" id="{E4DAEAC9-B454-5798-BF98-55DE83FA2514}"/>
              </a:ext>
            </a:extLst>
          </p:cNvPr>
          <p:cNvPicPr>
            <a:picLocks noChangeAspect="1"/>
          </p:cNvPicPr>
          <p:nvPr/>
        </p:nvPicPr>
        <p:blipFill>
          <a:blip r:embed="rId3"/>
          <a:stretch>
            <a:fillRect/>
          </a:stretch>
        </p:blipFill>
        <p:spPr>
          <a:xfrm>
            <a:off x="5680459" y="868564"/>
            <a:ext cx="6370872" cy="3452159"/>
          </a:xfrm>
          <a:prstGeom prst="rect">
            <a:avLst/>
          </a:prstGeom>
        </p:spPr>
      </p:pic>
    </p:spTree>
    <p:extLst>
      <p:ext uri="{BB962C8B-B14F-4D97-AF65-F5344CB8AC3E}">
        <p14:creationId xmlns:p14="http://schemas.microsoft.com/office/powerpoint/2010/main" val="230813526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n-US" sz="4000" b="1" dirty="0">
                <a:solidFill>
                  <a:srgbClr val="F9853D"/>
                </a:solidFill>
                <a:latin typeface="Bahnschrift" panose="020B0502040204020203" pitchFamily="34" charset="0"/>
              </a:rPr>
              <a:t>Generics</a:t>
            </a:r>
            <a:r>
              <a:rPr lang="el-GR" sz="4000" b="1" dirty="0">
                <a:solidFill>
                  <a:srgbClr val="F9853D"/>
                </a:solidFill>
                <a:latin typeface="Bahnschrift" panose="020B0502040204020203" pitchFamily="34" charset="0"/>
              </a:rPr>
              <a:t> …. </a:t>
            </a:r>
            <a:r>
              <a:rPr lang="en-US" sz="4000" b="1" dirty="0">
                <a:solidFill>
                  <a:srgbClr val="F9853D"/>
                </a:solidFill>
                <a:latin typeface="Bahnschrift" panose="020B0502040204020203" pitchFamily="34" charset="0"/>
              </a:rPr>
              <a:t>Stack&lt;E&gt;</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3" name="Θέση υποσέλιδου 4">
            <a:extLst>
              <a:ext uri="{FF2B5EF4-FFF2-40B4-BE49-F238E27FC236}">
                <a16:creationId xmlns:a16="http://schemas.microsoft.com/office/drawing/2014/main" id="{C84FEE0A-EC67-F275-4254-C7380CB8525E}"/>
              </a:ext>
            </a:extLst>
          </p:cNvPr>
          <p:cNvSpPr txBox="1">
            <a:spLocks/>
          </p:cNvSpPr>
          <p:nvPr/>
        </p:nvSpPr>
        <p:spPr>
          <a:xfrm>
            <a:off x="3305908" y="6559909"/>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LEGO Approach – Part B</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4" name="Content Placeholder 2">
            <a:extLst>
              <a:ext uri="{FF2B5EF4-FFF2-40B4-BE49-F238E27FC236}">
                <a16:creationId xmlns:a16="http://schemas.microsoft.com/office/drawing/2014/main" id="{3E7F216B-399A-0190-B825-2E797A47DD3B}"/>
              </a:ext>
            </a:extLst>
          </p:cNvPr>
          <p:cNvSpPr txBox="1">
            <a:spLocks/>
          </p:cNvSpPr>
          <p:nvPr/>
        </p:nvSpPr>
        <p:spPr bwMode="auto">
          <a:xfrm>
            <a:off x="180752" y="883970"/>
            <a:ext cx="11621387" cy="3619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lvl="0">
              <a:buClr>
                <a:srgbClr val="3333CC"/>
              </a:buClr>
              <a:defRPr/>
            </a:pPr>
            <a:r>
              <a:rPr lang="en-US" altLang="el-GR" sz="2400" kern="0" dirty="0">
                <a:solidFill>
                  <a:srgbClr val="000000"/>
                </a:solidFill>
                <a:latin typeface="Tahoma"/>
              </a:rPr>
              <a:t>enable types (classes and interfaces) to be parameters when defining classes, interfaces and methods. </a:t>
            </a:r>
          </a:p>
          <a:p>
            <a:pPr lvl="0">
              <a:buClr>
                <a:srgbClr val="3333CC"/>
              </a:buClr>
              <a:defRPr/>
            </a:pPr>
            <a:r>
              <a:rPr lang="en-US" altLang="el-GR" sz="2400" kern="0" dirty="0">
                <a:solidFill>
                  <a:srgbClr val="000000"/>
                </a:solidFill>
                <a:latin typeface="Tahoma"/>
              </a:rPr>
              <a:t>Much like the more familiar formal parameters used in method declarations, </a:t>
            </a:r>
            <a:r>
              <a:rPr lang="en-US" altLang="el-GR" sz="2400" b="1" kern="0" dirty="0">
                <a:solidFill>
                  <a:srgbClr val="000000"/>
                </a:solidFill>
                <a:latin typeface="Tahoma"/>
              </a:rPr>
              <a:t>type parameters </a:t>
            </a:r>
            <a:r>
              <a:rPr lang="en-US" altLang="el-GR" sz="2400" kern="0" dirty="0">
                <a:solidFill>
                  <a:srgbClr val="000000"/>
                </a:solidFill>
                <a:latin typeface="Tahoma"/>
              </a:rPr>
              <a:t>provide a way for you to re-use the same code with different inputs. The difference is that the inputs to formal parameters are values, while the inputs to type parameters are types.</a:t>
            </a:r>
            <a:endParaRPr lang="el-GR" altLang="el-GR" sz="2400" kern="0" dirty="0">
              <a:solidFill>
                <a:srgbClr val="000000"/>
              </a:solidFill>
              <a:latin typeface="Tahoma"/>
            </a:endParaRPr>
          </a:p>
          <a:p>
            <a:pPr lvl="0">
              <a:buClr>
                <a:srgbClr val="3333CC"/>
              </a:buClr>
              <a:defRPr/>
            </a:pPr>
            <a:r>
              <a:rPr lang="en-US" altLang="el-GR" sz="2400" kern="0" dirty="0">
                <a:solidFill>
                  <a:srgbClr val="000000"/>
                </a:solidFill>
                <a:latin typeface="Tahoma"/>
              </a:rPr>
              <a:t>Code that uses generics has many benefits over non-generic code:</a:t>
            </a:r>
          </a:p>
          <a:p>
            <a:pPr lvl="1">
              <a:buClr>
                <a:srgbClr val="3333CC"/>
              </a:buClr>
              <a:defRPr/>
            </a:pPr>
            <a:r>
              <a:rPr lang="en-US" altLang="el-GR" sz="2000" kern="0" dirty="0">
                <a:solidFill>
                  <a:srgbClr val="000000"/>
                </a:solidFill>
                <a:latin typeface="Tahoma"/>
              </a:rPr>
              <a:t>Stronger type checks at compile time.</a:t>
            </a:r>
            <a:br>
              <a:rPr lang="en-US" altLang="el-GR" sz="2000" kern="0" dirty="0">
                <a:solidFill>
                  <a:srgbClr val="000000"/>
                </a:solidFill>
                <a:latin typeface="Tahoma"/>
              </a:rPr>
            </a:br>
            <a:r>
              <a:rPr lang="en-US" altLang="el-GR" sz="2000" kern="0" dirty="0">
                <a:solidFill>
                  <a:srgbClr val="000000"/>
                </a:solidFill>
                <a:latin typeface="Tahoma"/>
              </a:rPr>
              <a:t>A Java compiler applies strong type checking to generic code and issues errors if the code violates type safety. Fixing compile-time errors is easier than fixing runtime errors, which can be difficult to find.</a:t>
            </a:r>
            <a:endParaRPr lang="el-GR" altLang="el-GR" sz="2000" kern="0" dirty="0">
              <a:solidFill>
                <a:srgbClr val="000000"/>
              </a:solidFill>
              <a:latin typeface="Tahoma"/>
            </a:endParaRPr>
          </a:p>
          <a:p>
            <a:pPr>
              <a:buClr>
                <a:srgbClr val="3333CC"/>
              </a:buClr>
              <a:defRPr/>
            </a:pPr>
            <a:r>
              <a:rPr lang="en-US" altLang="el-GR" sz="2800" kern="0" dirty="0">
                <a:solidFill>
                  <a:srgbClr val="000000"/>
                </a:solidFill>
                <a:latin typeface="Tahoma"/>
              </a:rPr>
              <a:t>Elimination of casts.</a:t>
            </a:r>
          </a:p>
          <a:p>
            <a:pPr lvl="1">
              <a:buClr>
                <a:srgbClr val="3333CC"/>
              </a:buClr>
              <a:defRPr/>
            </a:pPr>
            <a:r>
              <a:rPr lang="en-US" altLang="el-GR" sz="2000" kern="0" dirty="0">
                <a:solidFill>
                  <a:srgbClr val="000000"/>
                </a:solidFill>
                <a:latin typeface="Tahoma"/>
              </a:rPr>
              <a:t>Enabling programmers to implement generic algorithms.</a:t>
            </a:r>
            <a:br>
              <a:rPr lang="en-US" altLang="el-GR" sz="2000" kern="0" dirty="0">
                <a:solidFill>
                  <a:srgbClr val="000000"/>
                </a:solidFill>
                <a:latin typeface="Tahoma"/>
              </a:rPr>
            </a:br>
            <a:r>
              <a:rPr lang="en-US" altLang="el-GR" sz="2000" kern="0" dirty="0">
                <a:solidFill>
                  <a:srgbClr val="000000"/>
                </a:solidFill>
                <a:latin typeface="Tahoma"/>
              </a:rPr>
              <a:t>By using generics, programmers can implement generic algorithms that work on collections of different types, can be customized, and are type safe and easier to read. </a:t>
            </a:r>
          </a:p>
          <a:p>
            <a:pPr lvl="0">
              <a:buClr>
                <a:srgbClr val="3333CC"/>
              </a:buClr>
              <a:defRPr/>
            </a:pPr>
            <a:endParaRPr lang="en-US" altLang="el-GR" sz="2400" kern="0" dirty="0">
              <a:solidFill>
                <a:srgbClr val="000000"/>
              </a:solidFill>
              <a:latin typeface="Tahoma"/>
            </a:endParaRPr>
          </a:p>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Char char="n"/>
              <a:tabLst/>
              <a:defRPr/>
            </a:pPr>
            <a:endParaRPr kumimoji="0" lang="el-GR" altLang="el-GR" sz="2800" b="0" i="0" u="none" strike="noStrike" kern="0" cap="none" spc="0" normalizeH="0" baseline="0" noProof="0" dirty="0">
              <a:ln>
                <a:noFill/>
              </a:ln>
              <a:solidFill>
                <a:srgbClr val="000000"/>
              </a:solidFill>
              <a:effectLst/>
              <a:uLnTx/>
              <a:uFillTx/>
              <a:latin typeface="Tahoma"/>
              <a:ea typeface="+mn-ea"/>
              <a:cs typeface="+mn-cs"/>
            </a:endParaRPr>
          </a:p>
        </p:txBody>
      </p:sp>
      <p:pic>
        <p:nvPicPr>
          <p:cNvPr id="6" name="Picture 5">
            <a:extLst>
              <a:ext uri="{FF2B5EF4-FFF2-40B4-BE49-F238E27FC236}">
                <a16:creationId xmlns:a16="http://schemas.microsoft.com/office/drawing/2014/main" id="{517BE521-AEC4-6AB6-CF32-30D4E707D8E1}"/>
              </a:ext>
            </a:extLst>
          </p:cNvPr>
          <p:cNvPicPr>
            <a:picLocks noChangeAspect="1"/>
          </p:cNvPicPr>
          <p:nvPr/>
        </p:nvPicPr>
        <p:blipFill>
          <a:blip r:embed="rId3"/>
          <a:stretch>
            <a:fillRect/>
          </a:stretch>
        </p:blipFill>
        <p:spPr>
          <a:xfrm>
            <a:off x="8186217" y="6462"/>
            <a:ext cx="4005783" cy="752354"/>
          </a:xfrm>
          <a:prstGeom prst="rect">
            <a:avLst/>
          </a:prstGeom>
        </p:spPr>
      </p:pic>
    </p:spTree>
    <p:extLst>
      <p:ext uri="{BB962C8B-B14F-4D97-AF65-F5344CB8AC3E}">
        <p14:creationId xmlns:p14="http://schemas.microsoft.com/office/powerpoint/2010/main" val="272029678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n-US" sz="4000" b="1" dirty="0">
                <a:solidFill>
                  <a:srgbClr val="F9853D"/>
                </a:solidFill>
                <a:latin typeface="Bahnschrift" panose="020B0502040204020203" pitchFamily="34" charset="0"/>
              </a:rPr>
              <a:t>The first program in Java – </a:t>
            </a:r>
            <a:r>
              <a:rPr lang="en-US" sz="4000" b="1" dirty="0" err="1">
                <a:solidFill>
                  <a:srgbClr val="F9853D"/>
                </a:solidFill>
                <a:latin typeface="Bahnschrift" panose="020B0502040204020203" pitchFamily="34" charset="0"/>
              </a:rPr>
              <a:t>System.out.println</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4" name="Θέση υποσέλιδου 4">
            <a:extLst>
              <a:ext uri="{FF2B5EF4-FFF2-40B4-BE49-F238E27FC236}">
                <a16:creationId xmlns:a16="http://schemas.microsoft.com/office/drawing/2014/main" id="{4AF5A81B-6532-38B1-1CE2-17076041F59F}"/>
              </a:ext>
            </a:extLst>
          </p:cNvPr>
          <p:cNvSpPr txBox="1">
            <a:spLocks/>
          </p:cNvSpPr>
          <p:nvPr/>
        </p:nvSpPr>
        <p:spPr>
          <a:xfrm>
            <a:off x="3305908" y="6559909"/>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Java as an OOP language Part 1</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6" name="Content Placeholder 2">
            <a:extLst>
              <a:ext uri="{FF2B5EF4-FFF2-40B4-BE49-F238E27FC236}">
                <a16:creationId xmlns:a16="http://schemas.microsoft.com/office/drawing/2014/main" id="{F70A21D9-E25C-2250-C488-062679BF9BD7}"/>
              </a:ext>
            </a:extLst>
          </p:cNvPr>
          <p:cNvSpPr txBox="1">
            <a:spLocks noChangeArrowheads="1"/>
          </p:cNvSpPr>
          <p:nvPr/>
        </p:nvSpPr>
        <p:spPr bwMode="auto">
          <a:xfrm>
            <a:off x="179388" y="836613"/>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None/>
              <a:tabLst/>
              <a:defRPr/>
            </a:pPr>
            <a:r>
              <a:rPr kumimoji="0" lang="en-US" altLang="el-GR" sz="1600" b="0" i="0" u="none" strike="noStrike" kern="0" cap="none" spc="0" normalizeH="0" baseline="0" noProof="0" dirty="0">
                <a:ln>
                  <a:noFill/>
                </a:ln>
                <a:solidFill>
                  <a:srgbClr val="000000"/>
                </a:solidFill>
                <a:effectLst/>
                <a:uLnTx/>
                <a:uFillTx/>
                <a:latin typeface="Tahoma"/>
                <a:ea typeface="+mn-ea"/>
                <a:cs typeface="+mn-cs"/>
              </a:rPr>
              <a:t>/****************************************************************</a:t>
            </a:r>
          </a:p>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None/>
              <a:tabLst/>
              <a:defRPr/>
            </a:pPr>
            <a:r>
              <a:rPr kumimoji="0" lang="en-US" altLang="el-GR" sz="1600" b="0" i="0" u="none" strike="noStrike" kern="0" cap="none" spc="0" normalizeH="0" baseline="0" noProof="0" dirty="0">
                <a:ln>
                  <a:noFill/>
                </a:ln>
                <a:solidFill>
                  <a:srgbClr val="000000"/>
                </a:solidFill>
                <a:effectLst/>
                <a:uLnTx/>
                <a:uFillTx/>
                <a:latin typeface="Tahoma"/>
                <a:ea typeface="+mn-ea"/>
                <a:cs typeface="+mn-cs"/>
              </a:rPr>
              <a:t>* File name : </a:t>
            </a:r>
            <a:r>
              <a:rPr kumimoji="0" lang="en-US" altLang="el-GR" sz="1600" b="1" i="0" u="none" strike="noStrike" kern="0" cap="none" spc="0" normalizeH="0" baseline="0" noProof="0" dirty="0">
                <a:ln>
                  <a:noFill/>
                </a:ln>
                <a:solidFill>
                  <a:srgbClr val="000000"/>
                </a:solidFill>
                <a:effectLst/>
                <a:uLnTx/>
                <a:uFillTx/>
                <a:latin typeface="Tahoma"/>
                <a:ea typeface="+mn-ea"/>
                <a:cs typeface="+mn-cs"/>
              </a:rPr>
              <a:t>HelloWorld.java</a:t>
            </a:r>
          </a:p>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None/>
              <a:tabLst/>
              <a:defRPr/>
            </a:pPr>
            <a:r>
              <a:rPr kumimoji="0" lang="en-US" altLang="el-GR" sz="1600" b="0" i="0" u="none" strike="noStrike" kern="0" cap="none" spc="0" normalizeH="0" baseline="0" noProof="0" dirty="0">
                <a:ln>
                  <a:noFill/>
                </a:ln>
                <a:solidFill>
                  <a:srgbClr val="000000"/>
                </a:solidFill>
                <a:effectLst/>
                <a:uLnTx/>
                <a:uFillTx/>
                <a:latin typeface="Tahoma"/>
                <a:ea typeface="+mn-ea"/>
                <a:cs typeface="+mn-cs"/>
              </a:rPr>
              <a:t>* Compile with </a:t>
            </a:r>
            <a:r>
              <a:rPr kumimoji="0" lang="en-US" altLang="el-GR" sz="1600" b="0" i="0" u="none" strike="noStrike" kern="0" cap="none" spc="0" normalizeH="0" baseline="0" noProof="0" dirty="0" err="1">
                <a:ln>
                  <a:noFill/>
                </a:ln>
                <a:solidFill>
                  <a:srgbClr val="000000"/>
                </a:solidFill>
                <a:effectLst/>
                <a:uLnTx/>
                <a:uFillTx/>
                <a:latin typeface="Tahoma"/>
                <a:ea typeface="+mn-ea"/>
                <a:cs typeface="+mn-cs"/>
              </a:rPr>
              <a:t>javac</a:t>
            </a:r>
            <a:r>
              <a:rPr kumimoji="0" lang="en-US" altLang="el-GR" sz="1600" b="0" i="0" u="none" strike="noStrike" kern="0" cap="none" spc="0" normalizeH="0" baseline="0" noProof="0" dirty="0">
                <a:ln>
                  <a:noFill/>
                </a:ln>
                <a:solidFill>
                  <a:srgbClr val="000000"/>
                </a:solidFill>
                <a:effectLst/>
                <a:uLnTx/>
                <a:uFillTx/>
                <a:latin typeface="Tahoma"/>
                <a:ea typeface="+mn-ea"/>
                <a:cs typeface="+mn-cs"/>
              </a:rPr>
              <a:t>: 	</a:t>
            </a:r>
            <a:r>
              <a:rPr kumimoji="0" lang="en-US" altLang="el-GR" sz="1600" b="0" i="0" u="none" strike="noStrike" kern="0" cap="none" spc="0" normalizeH="0" baseline="0" noProof="0" dirty="0" err="1">
                <a:ln>
                  <a:noFill/>
                </a:ln>
                <a:solidFill>
                  <a:srgbClr val="000000"/>
                </a:solidFill>
                <a:effectLst/>
                <a:uLnTx/>
                <a:uFillTx/>
                <a:latin typeface="Tahoma"/>
                <a:ea typeface="+mn-ea"/>
                <a:cs typeface="+mn-cs"/>
              </a:rPr>
              <a:t>javac</a:t>
            </a:r>
            <a:r>
              <a:rPr kumimoji="0" lang="en-US" altLang="el-GR" sz="1600" b="0" i="0" u="none" strike="noStrike" kern="0" cap="none" spc="0" normalizeH="0" baseline="0" noProof="0" dirty="0">
                <a:ln>
                  <a:noFill/>
                </a:ln>
                <a:solidFill>
                  <a:srgbClr val="000000"/>
                </a:solidFill>
                <a:effectLst/>
                <a:uLnTx/>
                <a:uFillTx/>
                <a:latin typeface="Tahoma"/>
                <a:ea typeface="+mn-ea"/>
                <a:cs typeface="+mn-cs"/>
              </a:rPr>
              <a:t> HelloWorld.java </a:t>
            </a:r>
          </a:p>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None/>
              <a:tabLst/>
              <a:defRPr/>
            </a:pPr>
            <a:r>
              <a:rPr kumimoji="0" lang="en-US" altLang="el-GR" sz="1600" b="0" i="0" u="none" strike="noStrike" kern="0" cap="none" spc="0" normalizeH="0" baseline="0" noProof="0" dirty="0">
                <a:ln>
                  <a:noFill/>
                </a:ln>
                <a:solidFill>
                  <a:srgbClr val="000000"/>
                </a:solidFill>
                <a:effectLst/>
                <a:uLnTx/>
                <a:uFillTx/>
                <a:latin typeface="Tahoma"/>
                <a:ea typeface="+mn-ea"/>
                <a:cs typeface="+mn-cs"/>
              </a:rPr>
              <a:t>* Execute with java: 	java HelloWorld </a:t>
            </a:r>
          </a:p>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None/>
              <a:tabLst/>
              <a:defRPr/>
            </a:pPr>
            <a:r>
              <a:rPr kumimoji="0" lang="en-US" altLang="el-GR" sz="1600" b="0" i="0" u="none" strike="noStrike" kern="0" cap="none" spc="0" normalizeH="0" baseline="0" noProof="0" dirty="0">
                <a:ln>
                  <a:noFill/>
                </a:ln>
                <a:solidFill>
                  <a:srgbClr val="000000"/>
                </a:solidFill>
                <a:effectLst/>
                <a:uLnTx/>
                <a:uFillTx/>
                <a:latin typeface="Tahoma"/>
                <a:ea typeface="+mn-ea"/>
                <a:cs typeface="+mn-cs"/>
              </a:rPr>
              <a:t>* </a:t>
            </a:r>
          </a:p>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None/>
              <a:tabLst/>
              <a:defRPr/>
            </a:pPr>
            <a:r>
              <a:rPr kumimoji="0" lang="en-US" altLang="el-GR" sz="1600" b="0" i="0" u="none" strike="noStrike" kern="0" cap="none" spc="0" normalizeH="0" baseline="0" noProof="0" dirty="0">
                <a:ln>
                  <a:noFill/>
                </a:ln>
                <a:solidFill>
                  <a:srgbClr val="000000"/>
                </a:solidFill>
                <a:effectLst/>
                <a:uLnTx/>
                <a:uFillTx/>
                <a:latin typeface="Tahoma"/>
                <a:ea typeface="+mn-ea"/>
                <a:cs typeface="+mn-cs"/>
              </a:rPr>
              <a:t>* </a:t>
            </a:r>
            <a:r>
              <a:rPr kumimoji="0" lang="en-US" altLang="el-GR" sz="1600" b="0" i="1" u="none" strike="noStrike" kern="0" cap="none" spc="0" normalizeH="0" baseline="0" noProof="0" dirty="0">
                <a:ln>
                  <a:noFill/>
                </a:ln>
                <a:solidFill>
                  <a:srgbClr val="000000"/>
                </a:solidFill>
                <a:effectLst/>
                <a:uLnTx/>
                <a:uFillTx/>
                <a:latin typeface="Tahoma"/>
                <a:ea typeface="+mn-ea"/>
                <a:cs typeface="+mn-cs"/>
              </a:rPr>
              <a:t>Developer’s Comments</a:t>
            </a:r>
          </a:p>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None/>
              <a:tabLst/>
              <a:defRPr/>
            </a:pPr>
            <a:r>
              <a:rPr kumimoji="0" lang="en-US" altLang="el-GR" sz="1600" b="0" i="0" u="none" strike="noStrike" kern="0" cap="none" spc="0" normalizeH="0" baseline="0" noProof="0" dirty="0">
                <a:ln>
                  <a:noFill/>
                </a:ln>
                <a:solidFill>
                  <a:srgbClr val="000000"/>
                </a:solidFill>
                <a:effectLst/>
                <a:uLnTx/>
                <a:uFillTx/>
                <a:latin typeface="Tahoma"/>
                <a:ea typeface="+mn-ea"/>
                <a:cs typeface="+mn-cs"/>
              </a:rPr>
              <a:t>* The HelloWorld class implements an application that simply </a:t>
            </a:r>
          </a:p>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None/>
              <a:tabLst/>
              <a:defRPr/>
            </a:pPr>
            <a:r>
              <a:rPr kumimoji="0" lang="en-US" altLang="el-GR" sz="1600" b="0" i="0" u="none" strike="noStrike" kern="0" cap="none" spc="0" normalizeH="0" baseline="0" noProof="0" dirty="0">
                <a:ln>
                  <a:noFill/>
                </a:ln>
                <a:solidFill>
                  <a:srgbClr val="000000"/>
                </a:solidFill>
                <a:effectLst/>
                <a:uLnTx/>
                <a:uFillTx/>
                <a:latin typeface="Tahoma"/>
                <a:ea typeface="+mn-ea"/>
                <a:cs typeface="+mn-cs"/>
              </a:rPr>
              <a:t>* displays "Hello World!" to the standard output.</a:t>
            </a:r>
          </a:p>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None/>
              <a:tabLst/>
              <a:defRPr/>
            </a:pPr>
            <a:r>
              <a:rPr kumimoji="0" lang="en-US" altLang="el-GR" sz="1600" b="0" i="0" u="none" strike="noStrike" kern="0" cap="none" spc="0" normalizeH="0" baseline="0" noProof="0" dirty="0">
                <a:ln>
                  <a:noFill/>
                </a:ln>
                <a:solidFill>
                  <a:srgbClr val="000000"/>
                </a:solidFill>
                <a:effectLst/>
                <a:uLnTx/>
                <a:uFillTx/>
                <a:latin typeface="Tahoma"/>
                <a:ea typeface="+mn-ea"/>
                <a:cs typeface="+mn-cs"/>
              </a:rPr>
              <a:t>****************************************************************/ </a:t>
            </a:r>
          </a:p>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None/>
              <a:tabLst/>
              <a:defRPr/>
            </a:pPr>
            <a:endParaRPr kumimoji="0" lang="en-US" altLang="el-GR" sz="2000" b="0" i="0" u="none" strike="noStrike" kern="0" cap="none" spc="0" normalizeH="0" baseline="0" noProof="0" dirty="0">
              <a:ln>
                <a:noFill/>
              </a:ln>
              <a:solidFill>
                <a:srgbClr val="C00000"/>
              </a:solidFill>
              <a:effectLst/>
              <a:uLnTx/>
              <a:uFillTx/>
              <a:latin typeface="Tahoma"/>
              <a:ea typeface="+mn-ea"/>
              <a:cs typeface="+mn-cs"/>
            </a:endParaRPr>
          </a:p>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None/>
              <a:tabLst/>
              <a:defRPr/>
            </a:pPr>
            <a:r>
              <a:rPr kumimoji="0" lang="en-US" altLang="el-GR" sz="2000" b="0" i="0" u="none" strike="noStrike" kern="0" cap="none" spc="0" normalizeH="0" baseline="0" noProof="0" dirty="0">
                <a:ln>
                  <a:noFill/>
                </a:ln>
                <a:solidFill>
                  <a:srgbClr val="C00000"/>
                </a:solidFill>
                <a:effectLst/>
                <a:uLnTx/>
                <a:uFillTx/>
                <a:latin typeface="Tahoma"/>
                <a:ea typeface="+mn-ea"/>
                <a:cs typeface="+mn-cs"/>
              </a:rPr>
              <a:t>public class </a:t>
            </a:r>
            <a:r>
              <a:rPr kumimoji="0" lang="en-US" altLang="el-GR" sz="2000" b="0" i="0" u="none" strike="noStrike" kern="0" cap="none" spc="0" normalizeH="0" baseline="0" noProof="0" dirty="0">
                <a:ln>
                  <a:noFill/>
                </a:ln>
                <a:solidFill>
                  <a:srgbClr val="000000"/>
                </a:solidFill>
                <a:effectLst/>
                <a:uLnTx/>
                <a:uFillTx/>
                <a:latin typeface="Tahoma"/>
                <a:ea typeface="+mn-ea"/>
                <a:cs typeface="+mn-cs"/>
              </a:rPr>
              <a:t>HelloWorld { </a:t>
            </a:r>
          </a:p>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None/>
              <a:tabLst/>
              <a:defRPr/>
            </a:pPr>
            <a:endParaRPr kumimoji="0" lang="en-US" altLang="el-GR" sz="2000" b="0" i="0" u="none" strike="noStrike" kern="0" cap="none" spc="0" normalizeH="0" baseline="0" noProof="0" dirty="0">
              <a:ln>
                <a:noFill/>
              </a:ln>
              <a:solidFill>
                <a:srgbClr val="000000"/>
              </a:solidFill>
              <a:effectLst/>
              <a:uLnTx/>
              <a:uFillTx/>
              <a:latin typeface="Tahoma"/>
              <a:ea typeface="+mn-ea"/>
              <a:cs typeface="+mn-cs"/>
            </a:endParaRPr>
          </a:p>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None/>
              <a:tabLst/>
              <a:defRPr/>
            </a:pPr>
            <a:r>
              <a:rPr kumimoji="0" lang="en-US" altLang="el-GR" sz="2000" b="0" i="0" u="none" strike="noStrike" kern="0" cap="none" spc="0" normalizeH="0" baseline="0" noProof="0" dirty="0">
                <a:ln>
                  <a:noFill/>
                </a:ln>
                <a:solidFill>
                  <a:srgbClr val="000000"/>
                </a:solidFill>
                <a:effectLst/>
                <a:uLnTx/>
                <a:uFillTx/>
                <a:latin typeface="Tahoma"/>
                <a:ea typeface="+mn-ea"/>
                <a:cs typeface="+mn-cs"/>
              </a:rPr>
              <a:t>	</a:t>
            </a:r>
            <a:r>
              <a:rPr kumimoji="0" lang="en-US" altLang="el-GR" sz="2000" b="0" i="0" u="none" strike="noStrike" kern="0" cap="none" spc="0" normalizeH="0" baseline="0" noProof="0" dirty="0">
                <a:ln>
                  <a:noFill/>
                </a:ln>
                <a:solidFill>
                  <a:srgbClr val="C00000"/>
                </a:solidFill>
                <a:effectLst/>
                <a:uLnTx/>
                <a:uFillTx/>
                <a:latin typeface="Tahoma"/>
                <a:ea typeface="+mn-ea"/>
                <a:cs typeface="+mn-cs"/>
              </a:rPr>
              <a:t>public static void </a:t>
            </a:r>
            <a:r>
              <a:rPr kumimoji="0" lang="en-US" altLang="el-GR" sz="2000" b="1" i="0" u="none" strike="noStrike" kern="0" cap="none" spc="0" normalizeH="0" baseline="0" noProof="0" dirty="0">
                <a:ln>
                  <a:noFill/>
                </a:ln>
                <a:solidFill>
                  <a:srgbClr val="000000"/>
                </a:solidFill>
                <a:effectLst/>
                <a:uLnTx/>
                <a:uFillTx/>
                <a:latin typeface="Tahoma"/>
                <a:ea typeface="+mn-ea"/>
                <a:cs typeface="+mn-cs"/>
              </a:rPr>
              <a:t>main</a:t>
            </a:r>
            <a:r>
              <a:rPr kumimoji="0" lang="en-US" altLang="el-GR" sz="2000" b="0" i="0" u="none" strike="noStrike" kern="0" cap="none" spc="0" normalizeH="0" baseline="0" noProof="0" dirty="0">
                <a:ln>
                  <a:noFill/>
                </a:ln>
                <a:solidFill>
                  <a:srgbClr val="000000"/>
                </a:solidFill>
                <a:effectLst/>
                <a:uLnTx/>
                <a:uFillTx/>
                <a:latin typeface="Tahoma"/>
                <a:ea typeface="+mn-ea"/>
                <a:cs typeface="+mn-cs"/>
              </a:rPr>
              <a:t>(String[] </a:t>
            </a:r>
            <a:r>
              <a:rPr kumimoji="0" lang="en-US" altLang="el-GR" sz="2000" b="0" i="0" u="none" strike="noStrike" kern="0" cap="none" spc="0" normalizeH="0" baseline="0" noProof="0" dirty="0" err="1">
                <a:ln>
                  <a:noFill/>
                </a:ln>
                <a:solidFill>
                  <a:srgbClr val="000000"/>
                </a:solidFill>
                <a:effectLst/>
                <a:uLnTx/>
                <a:uFillTx/>
                <a:latin typeface="Tahoma"/>
                <a:ea typeface="+mn-ea"/>
                <a:cs typeface="+mn-cs"/>
              </a:rPr>
              <a:t>args</a:t>
            </a:r>
            <a:r>
              <a:rPr kumimoji="0" lang="en-US" altLang="el-GR" sz="2000" b="0" i="0" u="none" strike="noStrike" kern="0" cap="none" spc="0" normalizeH="0" baseline="0" noProof="0" dirty="0">
                <a:ln>
                  <a:noFill/>
                </a:ln>
                <a:solidFill>
                  <a:srgbClr val="000000"/>
                </a:solidFill>
                <a:effectLst/>
                <a:uLnTx/>
                <a:uFillTx/>
                <a:latin typeface="Tahoma"/>
                <a:ea typeface="+mn-ea"/>
                <a:cs typeface="+mn-cs"/>
              </a:rPr>
              <a:t>) { </a:t>
            </a:r>
          </a:p>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None/>
              <a:tabLst/>
              <a:defRPr/>
            </a:pPr>
            <a:r>
              <a:rPr kumimoji="0" lang="en-US" altLang="el-GR" sz="2000" b="0" i="0" u="none" strike="noStrike" kern="0" cap="none" spc="0" normalizeH="0" baseline="0" noProof="0" dirty="0">
                <a:ln>
                  <a:noFill/>
                </a:ln>
                <a:solidFill>
                  <a:srgbClr val="000000"/>
                </a:solidFill>
                <a:effectLst/>
                <a:uLnTx/>
                <a:uFillTx/>
                <a:latin typeface="Tahoma"/>
                <a:ea typeface="+mn-ea"/>
                <a:cs typeface="+mn-cs"/>
              </a:rPr>
              <a:t>		</a:t>
            </a:r>
            <a:r>
              <a:rPr kumimoji="0" lang="en-US" altLang="el-GR" sz="2000" b="0" i="0" u="none" strike="noStrike" kern="0" cap="none" spc="0" normalizeH="0" baseline="0" noProof="0" dirty="0" err="1">
                <a:ln>
                  <a:noFill/>
                </a:ln>
                <a:solidFill>
                  <a:srgbClr val="000000"/>
                </a:solidFill>
                <a:effectLst/>
                <a:uLnTx/>
                <a:uFillTx/>
                <a:latin typeface="Tahoma"/>
                <a:ea typeface="+mn-ea"/>
                <a:cs typeface="+mn-cs"/>
              </a:rPr>
              <a:t>System.out.println</a:t>
            </a:r>
            <a:r>
              <a:rPr kumimoji="0" lang="en-US" altLang="el-GR" sz="2000" b="0" i="0" u="none" strike="noStrike" kern="0" cap="none" spc="0" normalizeH="0" baseline="0" noProof="0" dirty="0">
                <a:ln>
                  <a:noFill/>
                </a:ln>
                <a:solidFill>
                  <a:srgbClr val="000000"/>
                </a:solidFill>
                <a:effectLst/>
                <a:uLnTx/>
                <a:uFillTx/>
                <a:latin typeface="Tahoma"/>
                <a:ea typeface="+mn-ea"/>
                <a:cs typeface="+mn-cs"/>
              </a:rPr>
              <a:t>("</a:t>
            </a:r>
            <a:r>
              <a:rPr kumimoji="0" lang="en-US" altLang="el-GR" sz="2000" b="0" i="0" u="none" strike="noStrike" kern="0" cap="none" spc="0" normalizeH="0" baseline="0" noProof="0" dirty="0">
                <a:ln>
                  <a:noFill/>
                </a:ln>
                <a:solidFill>
                  <a:srgbClr val="0070C0"/>
                </a:solidFill>
                <a:effectLst/>
                <a:uLnTx/>
                <a:uFillTx/>
                <a:latin typeface="Tahoma"/>
                <a:ea typeface="+mn-ea"/>
                <a:cs typeface="+mn-cs"/>
              </a:rPr>
              <a:t>Hello, World!</a:t>
            </a:r>
            <a:r>
              <a:rPr kumimoji="0" lang="en-US" altLang="el-GR" sz="2000" b="0" i="0" u="none" strike="noStrike" kern="0" cap="none" spc="0" normalizeH="0" baseline="0" noProof="0" dirty="0">
                <a:ln>
                  <a:noFill/>
                </a:ln>
                <a:solidFill>
                  <a:srgbClr val="000000"/>
                </a:solidFill>
                <a:effectLst/>
                <a:uLnTx/>
                <a:uFillTx/>
                <a:latin typeface="Tahoma"/>
                <a:ea typeface="+mn-ea"/>
                <a:cs typeface="+mn-cs"/>
              </a:rPr>
              <a:t>"); </a:t>
            </a:r>
          </a:p>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None/>
              <a:tabLst/>
              <a:defRPr/>
            </a:pPr>
            <a:r>
              <a:rPr kumimoji="0" lang="en-US" altLang="el-GR" sz="2000" b="0" i="0" u="none" strike="noStrike" kern="0" cap="none" spc="0" normalizeH="0" baseline="0" noProof="0" dirty="0">
                <a:ln>
                  <a:noFill/>
                </a:ln>
                <a:solidFill>
                  <a:srgbClr val="000000"/>
                </a:solidFill>
                <a:effectLst/>
                <a:uLnTx/>
                <a:uFillTx/>
                <a:latin typeface="Tahoma"/>
                <a:ea typeface="+mn-ea"/>
                <a:cs typeface="+mn-cs"/>
              </a:rPr>
              <a:t>		} </a:t>
            </a:r>
          </a:p>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None/>
              <a:tabLst/>
              <a:defRPr/>
            </a:pPr>
            <a:endParaRPr kumimoji="0" lang="en-US" altLang="el-GR" sz="2000" b="0" i="0" u="none" strike="noStrike" kern="0" cap="none" spc="0" normalizeH="0" baseline="0" noProof="0" dirty="0">
              <a:ln>
                <a:noFill/>
              </a:ln>
              <a:solidFill>
                <a:srgbClr val="000000"/>
              </a:solidFill>
              <a:effectLst/>
              <a:uLnTx/>
              <a:uFillTx/>
              <a:latin typeface="Tahoma"/>
              <a:ea typeface="+mn-ea"/>
              <a:cs typeface="+mn-cs"/>
            </a:endParaRPr>
          </a:p>
          <a:p>
            <a:pPr marL="342900" marR="0" lvl="0" indent="-342900" algn="l" defTabSz="914400" rtl="0" eaLnBrk="0" fontAlgn="base" latinLnBrk="0" hangingPunct="0">
              <a:lnSpc>
                <a:spcPct val="100000"/>
              </a:lnSpc>
              <a:spcBef>
                <a:spcPct val="20000"/>
              </a:spcBef>
              <a:spcAft>
                <a:spcPct val="0"/>
              </a:spcAft>
              <a:buClr>
                <a:srgbClr val="3333CC"/>
              </a:buClr>
              <a:buSzPct val="60000"/>
              <a:buFont typeface="Wingdings" panose="05000000000000000000" pitchFamily="2" charset="2"/>
              <a:buNone/>
              <a:tabLst/>
              <a:defRPr/>
            </a:pPr>
            <a:r>
              <a:rPr kumimoji="0" lang="en-US" altLang="el-GR" sz="2000" b="0" i="0" u="none" strike="noStrike" kern="0" cap="none" spc="0" normalizeH="0" baseline="0" noProof="0" dirty="0">
                <a:ln>
                  <a:noFill/>
                </a:ln>
                <a:solidFill>
                  <a:srgbClr val="000000"/>
                </a:solidFill>
                <a:effectLst/>
                <a:uLnTx/>
                <a:uFillTx/>
                <a:latin typeface="Tahoma"/>
                <a:ea typeface="+mn-ea"/>
                <a:cs typeface="+mn-cs"/>
              </a:rPr>
              <a:t>	}</a:t>
            </a:r>
            <a:endParaRPr kumimoji="0" lang="el-GR" altLang="el-GR" sz="1800" b="0" i="0" u="none" strike="noStrike" kern="0" cap="none" spc="0" normalizeH="0" baseline="0" noProof="0" dirty="0">
              <a:ln>
                <a:noFill/>
              </a:ln>
              <a:solidFill>
                <a:srgbClr val="000000"/>
              </a:solidFill>
              <a:effectLst/>
              <a:uLnTx/>
              <a:uFillTx/>
              <a:latin typeface="Tahoma"/>
              <a:ea typeface="+mn-ea"/>
              <a:cs typeface="+mn-cs"/>
            </a:endParaRPr>
          </a:p>
        </p:txBody>
      </p:sp>
      <p:sp>
        <p:nvSpPr>
          <p:cNvPr id="9" name="Explosion: 8 Points 8">
            <a:extLst>
              <a:ext uri="{FF2B5EF4-FFF2-40B4-BE49-F238E27FC236}">
                <a16:creationId xmlns:a16="http://schemas.microsoft.com/office/drawing/2014/main" id="{C67E680E-4CE7-8B5E-93F5-4B577F6BF8B1}"/>
              </a:ext>
            </a:extLst>
          </p:cNvPr>
          <p:cNvSpPr/>
          <p:nvPr/>
        </p:nvSpPr>
        <p:spPr bwMode="auto">
          <a:xfrm rot="19576148">
            <a:off x="6539547" y="3007238"/>
            <a:ext cx="5472608" cy="1800200"/>
          </a:xfrm>
          <a:prstGeom prst="irregularSeal1">
            <a:avLst/>
          </a:prstGeom>
          <a:solidFill>
            <a:srgbClr val="FFFF00"/>
          </a:solidFill>
          <a:ln w="9525" cap="flat" cmpd="sng" algn="ctr">
            <a:solidFill>
              <a:srgbClr val="00000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l-GR" sz="2400" b="0" i="0" u="none" strike="noStrike" kern="0" cap="none" spc="0" normalizeH="0" baseline="0" noProof="0" dirty="0">
                <a:ln>
                  <a:noFill/>
                </a:ln>
                <a:solidFill>
                  <a:srgbClr val="000000"/>
                </a:solidFill>
                <a:effectLst/>
                <a:uLnTx/>
                <a:uFillTx/>
                <a:latin typeface="Tahoma" panose="020B0604030504040204" pitchFamily="34" charset="0"/>
              </a:rPr>
              <a:t>Τι σημαίνει?</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2400" b="1" i="0" u="none" strike="noStrike" kern="0" cap="none" spc="0" normalizeH="0" baseline="0" noProof="0" dirty="0" err="1">
                <a:ln>
                  <a:noFill/>
                </a:ln>
                <a:solidFill>
                  <a:srgbClr val="FF0000"/>
                </a:solidFill>
                <a:effectLst/>
                <a:uLnTx/>
                <a:uFillTx/>
                <a:latin typeface="Tahoma" pitchFamily="34" charset="0"/>
              </a:rPr>
              <a:t>System.out.println</a:t>
            </a:r>
            <a:endParaRPr kumimoji="0" lang="el-GR" sz="2400" b="1" i="0" u="none" strike="noStrike" kern="0" cap="none" spc="0" normalizeH="0" baseline="0" noProof="0" dirty="0">
              <a:ln>
                <a:noFill/>
              </a:ln>
              <a:solidFill>
                <a:srgbClr val="FF0000"/>
              </a:solidFill>
              <a:effectLst/>
              <a:uLnTx/>
              <a:uFillTx/>
              <a:latin typeface="Tahoma" pitchFamily="34" charset="0"/>
            </a:endParaRPr>
          </a:p>
        </p:txBody>
      </p:sp>
      <p:sp>
        <p:nvSpPr>
          <p:cNvPr id="3" name="Rectangle 2">
            <a:extLst>
              <a:ext uri="{FF2B5EF4-FFF2-40B4-BE49-F238E27FC236}">
                <a16:creationId xmlns:a16="http://schemas.microsoft.com/office/drawing/2014/main" id="{F85EBEE3-8AEC-A93B-1720-D41796ACE1D7}"/>
              </a:ext>
            </a:extLst>
          </p:cNvPr>
          <p:cNvSpPr/>
          <p:nvPr/>
        </p:nvSpPr>
        <p:spPr>
          <a:xfrm>
            <a:off x="10164871" y="6313391"/>
            <a:ext cx="2034116" cy="278393"/>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l-GR" sz="1600" dirty="0" err="1"/>
              <a:t>Βοοκ</a:t>
            </a:r>
            <a:r>
              <a:rPr lang="el-GR" sz="1600" dirty="0"/>
              <a:t>: Ενότητα 4.6</a:t>
            </a:r>
          </a:p>
        </p:txBody>
      </p:sp>
    </p:spTree>
    <p:extLst>
      <p:ext uri="{BB962C8B-B14F-4D97-AF65-F5344CB8AC3E}">
        <p14:creationId xmlns:p14="http://schemas.microsoft.com/office/powerpoint/2010/main" val="311326981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Η κλάση </a:t>
            </a:r>
            <a:r>
              <a:rPr lang="en-US" sz="4000" b="1" dirty="0">
                <a:solidFill>
                  <a:srgbClr val="F9853D"/>
                </a:solidFill>
                <a:latin typeface="Bahnschrift" panose="020B0502040204020203" pitchFamily="34" charset="0"/>
              </a:rPr>
              <a:t>System</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4" name="Θέση υποσέλιδου 4">
            <a:extLst>
              <a:ext uri="{FF2B5EF4-FFF2-40B4-BE49-F238E27FC236}">
                <a16:creationId xmlns:a16="http://schemas.microsoft.com/office/drawing/2014/main" id="{4AF5A81B-6532-38B1-1CE2-17076041F59F}"/>
              </a:ext>
            </a:extLst>
          </p:cNvPr>
          <p:cNvSpPr txBox="1">
            <a:spLocks/>
          </p:cNvSpPr>
          <p:nvPr/>
        </p:nvSpPr>
        <p:spPr>
          <a:xfrm>
            <a:off x="3305908" y="6559909"/>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Java as an OOP language Part 1</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3" name="Rectangle 3">
            <a:extLst>
              <a:ext uri="{FF2B5EF4-FFF2-40B4-BE49-F238E27FC236}">
                <a16:creationId xmlns:a16="http://schemas.microsoft.com/office/drawing/2014/main" id="{9458285C-F850-E803-F020-16F44CB2E712}"/>
              </a:ext>
            </a:extLst>
          </p:cNvPr>
          <p:cNvSpPr txBox="1">
            <a:spLocks noChangeArrowheads="1"/>
          </p:cNvSpPr>
          <p:nvPr/>
        </p:nvSpPr>
        <p:spPr bwMode="auto">
          <a:xfrm>
            <a:off x="309123" y="1089693"/>
            <a:ext cx="8574088"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tabLst/>
              <a:defRPr/>
            </a:pPr>
            <a:r>
              <a:rPr kumimoji="0" lang="en-US" altLang="el-GR" sz="3200" b="0" i="0" u="none" strike="noStrike" kern="0" cap="none" spc="0" normalizeH="0" baseline="0" noProof="0">
                <a:ln>
                  <a:noFill/>
                </a:ln>
                <a:solidFill>
                  <a:srgbClr val="000000"/>
                </a:solidFill>
                <a:effectLst/>
                <a:uLnTx/>
                <a:uFillTx/>
                <a:latin typeface="Courier New" panose="02070309020205020404" pitchFamily="49" charset="0"/>
                <a:ea typeface="+mn-ea"/>
                <a:cs typeface="Courier New" panose="02070309020205020404" pitchFamily="49" charset="0"/>
              </a:rPr>
              <a:t>public final class java.lang.</a:t>
            </a:r>
            <a:r>
              <a:rPr kumimoji="0" lang="en-US" altLang="el-GR" sz="3200" b="1" i="0" u="none" strike="noStrike" kern="0" cap="none" spc="0" normalizeH="0" baseline="0" noProof="0">
                <a:ln>
                  <a:noFill/>
                </a:ln>
                <a:solidFill>
                  <a:srgbClr val="FF0000"/>
                </a:solidFill>
                <a:effectLst/>
                <a:uLnTx/>
                <a:uFillTx/>
                <a:latin typeface="Tahoma"/>
                <a:ea typeface="+mn-ea"/>
                <a:cs typeface="Courier New" panose="02070309020205020404" pitchFamily="49" charset="0"/>
              </a:rPr>
              <a:t>System</a:t>
            </a:r>
            <a:r>
              <a:rPr kumimoji="0" lang="en-US" altLang="el-GR" sz="3200" b="1" i="0" u="none" strike="noStrike" kern="0" cap="none" spc="0" normalizeH="0" baseline="0" noProof="0">
                <a:ln>
                  <a:noFill/>
                </a:ln>
                <a:solidFill>
                  <a:srgbClr val="000000"/>
                </a:solidFill>
                <a:effectLst/>
                <a:uLnTx/>
                <a:uFillTx/>
                <a:latin typeface="Courier New" panose="02070309020205020404" pitchFamily="49" charset="0"/>
                <a:ea typeface="+mn-ea"/>
                <a:cs typeface="Courier New" panose="02070309020205020404" pitchFamily="49" charset="0"/>
              </a:rPr>
              <a:t> </a:t>
            </a:r>
            <a:r>
              <a:rPr kumimoji="0" lang="en-US" altLang="el-GR" sz="3200" b="0" i="0" u="none" strike="noStrike" kern="0" cap="none" spc="0" normalizeH="0" baseline="0" noProof="0">
                <a:ln>
                  <a:noFill/>
                </a:ln>
                <a:solidFill>
                  <a:srgbClr val="000000"/>
                </a:solidFill>
                <a:effectLst/>
                <a:uLnTx/>
                <a:uFillTx/>
                <a:latin typeface="Courier New" panose="02070309020205020404" pitchFamily="49" charset="0"/>
                <a:ea typeface="+mn-ea"/>
                <a:cs typeface="Courier New" panose="02070309020205020404" pitchFamily="49" charset="0"/>
              </a:rPr>
              <a:t>extends  java.lang.</a:t>
            </a:r>
            <a:r>
              <a:rPr kumimoji="0" lang="en-US" altLang="el-GR" sz="3200" b="1" i="0" u="none" strike="noStrike" kern="0" cap="none" spc="0" normalizeH="0" baseline="0" noProof="0">
                <a:ln>
                  <a:noFill/>
                </a:ln>
                <a:solidFill>
                  <a:srgbClr val="000000"/>
                </a:solidFill>
                <a:effectLst/>
                <a:uLnTx/>
                <a:uFillTx/>
                <a:latin typeface="Courier New" panose="02070309020205020404" pitchFamily="49" charset="0"/>
                <a:ea typeface="+mn-ea"/>
                <a:cs typeface="Courier New" panose="02070309020205020404" pitchFamily="49" charset="0"/>
              </a:rPr>
              <a:t>Object</a:t>
            </a:r>
            <a:r>
              <a:rPr kumimoji="0" lang="en-US" altLang="el-GR" sz="3200" b="0" i="0" u="none" strike="noStrike" kern="0" cap="none" spc="0" normalizeH="0" baseline="0" noProof="0">
                <a:ln>
                  <a:noFill/>
                </a:ln>
                <a:solidFill>
                  <a:srgbClr val="000000"/>
                </a:solidFill>
                <a:effectLst/>
                <a:uLnTx/>
                <a:uFillTx/>
                <a:latin typeface="Courier New" panose="02070309020205020404" pitchFamily="49" charset="0"/>
                <a:ea typeface="+mn-ea"/>
                <a:cs typeface="Courier New" panose="02070309020205020404" pitchFamily="49" charset="0"/>
              </a:rPr>
              <a:t>  {</a:t>
            </a:r>
            <a:br>
              <a:rPr kumimoji="0" lang="en-US" altLang="el-GR" sz="3200" b="0" i="0" u="none" strike="noStrike" kern="0" cap="none" spc="0" normalizeH="0" baseline="0" noProof="0">
                <a:ln>
                  <a:noFill/>
                </a:ln>
                <a:solidFill>
                  <a:srgbClr val="000000"/>
                </a:solidFill>
                <a:effectLst/>
                <a:uLnTx/>
                <a:uFillTx/>
                <a:latin typeface=" " charset="0"/>
                <a:ea typeface="+mn-ea"/>
                <a:cs typeface="Times New Roman" panose="02020603050405020304" pitchFamily="18" charset="0"/>
              </a:rPr>
            </a:br>
            <a:r>
              <a:rPr kumimoji="0" lang="en-US" altLang="el-GR" sz="3200" b="0" i="0" u="none" strike="noStrike" kern="0" cap="none" spc="0" normalizeH="0" baseline="0" noProof="0">
                <a:ln>
                  <a:noFill/>
                </a:ln>
                <a:solidFill>
                  <a:srgbClr val="000000"/>
                </a:solidFill>
                <a:effectLst/>
                <a:uLnTx/>
                <a:uFillTx/>
                <a:latin typeface="Courier New" panose="02070309020205020404" pitchFamily="49" charset="0"/>
                <a:ea typeface="+mn-ea"/>
                <a:cs typeface="Courier New" panose="02070309020205020404" pitchFamily="49" charset="0"/>
              </a:rPr>
              <a:t>    // </a:t>
            </a:r>
            <a:r>
              <a:rPr kumimoji="0" lang="en-US" altLang="el-GR" sz="3200" b="1" i="0" u="none" strike="noStrike" kern="0" cap="none" spc="0" normalizeH="0" baseline="0" noProof="0">
                <a:ln>
                  <a:noFill/>
                </a:ln>
                <a:solidFill>
                  <a:srgbClr val="C00000"/>
                </a:solidFill>
                <a:effectLst/>
                <a:uLnTx/>
                <a:uFillTx/>
                <a:latin typeface="Courier New" panose="02070309020205020404" pitchFamily="49" charset="0"/>
                <a:ea typeface="+mn-ea"/>
                <a:cs typeface="Courier New" panose="02070309020205020404" pitchFamily="49" charset="0"/>
              </a:rPr>
              <a:t>Fields</a:t>
            </a:r>
            <a:br>
              <a:rPr kumimoji="0" lang="en-US" altLang="el-GR" sz="3200" b="0" i="0" u="none" strike="noStrike" kern="0" cap="none" spc="0" normalizeH="0" baseline="0" noProof="0">
                <a:ln>
                  <a:noFill/>
                </a:ln>
                <a:solidFill>
                  <a:srgbClr val="000000"/>
                </a:solidFill>
                <a:effectLst/>
                <a:uLnTx/>
                <a:uFillTx/>
                <a:latin typeface=" " charset="0"/>
                <a:ea typeface="+mn-ea"/>
                <a:cs typeface="Times New Roman" panose="02020603050405020304" pitchFamily="18" charset="0"/>
              </a:rPr>
            </a:br>
            <a:r>
              <a:rPr kumimoji="0" lang="en-US" altLang="el-GR" sz="3200" b="0" i="0" u="none" strike="noStrike" kern="0" cap="none" spc="0" normalizeH="0" baseline="0" noProof="0">
                <a:ln>
                  <a:noFill/>
                </a:ln>
                <a:solidFill>
                  <a:srgbClr val="000000"/>
                </a:solidFill>
                <a:effectLst/>
                <a:uLnTx/>
                <a:uFillTx/>
                <a:latin typeface="Courier New" panose="02070309020205020404" pitchFamily="49" charset="0"/>
                <a:ea typeface="+mn-ea"/>
                <a:cs typeface="Courier New" panose="02070309020205020404" pitchFamily="49" charset="0"/>
              </a:rPr>
              <a:t>public static PrintStream </a:t>
            </a:r>
            <a:r>
              <a:rPr kumimoji="0" lang="en-US" altLang="el-GR" sz="3200" b="1" i="0" u="none" strike="noStrike" kern="0" cap="none" spc="0" normalizeH="0" baseline="0" noProof="0">
                <a:ln>
                  <a:noFill/>
                </a:ln>
                <a:solidFill>
                  <a:srgbClr val="000000"/>
                </a:solidFill>
                <a:effectLst/>
                <a:uLnTx/>
                <a:uFillTx/>
                <a:latin typeface="Courier New" panose="02070309020205020404" pitchFamily="49" charset="0"/>
                <a:ea typeface="+mn-ea"/>
                <a:cs typeface="Courier New" panose="02070309020205020404" pitchFamily="49" charset="0"/>
              </a:rPr>
              <a:t>err</a:t>
            </a:r>
            <a:r>
              <a:rPr kumimoji="0" lang="en-US" altLang="el-GR" sz="3200" b="0" i="0" u="none" strike="noStrike" kern="0" cap="none" spc="0" normalizeH="0" baseline="0" noProof="0">
                <a:ln>
                  <a:noFill/>
                </a:ln>
                <a:solidFill>
                  <a:srgbClr val="000000"/>
                </a:solidFill>
                <a:effectLst/>
                <a:uLnTx/>
                <a:uFillTx/>
                <a:latin typeface="Courier New" panose="02070309020205020404" pitchFamily="49" charset="0"/>
                <a:ea typeface="+mn-ea"/>
                <a:cs typeface="Courier New" panose="02070309020205020404" pitchFamily="49" charset="0"/>
              </a:rPr>
              <a:t>;</a:t>
            </a:r>
            <a:r>
              <a:rPr kumimoji="0" lang="en-US" altLang="el-GR" sz="3200" b="0" i="0" u="none" strike="noStrike" kern="0" cap="none" spc="0" normalizeH="0" baseline="0" noProof="0">
                <a:ln>
                  <a:noFill/>
                </a:ln>
                <a:solidFill>
                  <a:srgbClr val="000000"/>
                </a:solidFill>
                <a:effectLst/>
                <a:uLnTx/>
                <a:uFillTx/>
                <a:latin typeface=" " charset="0"/>
                <a:ea typeface="+mn-ea"/>
                <a:cs typeface="Times New Roman" panose="02020603050405020304" pitchFamily="18" charset="0"/>
              </a:rPr>
              <a:t>	</a:t>
            </a:r>
            <a:br>
              <a:rPr kumimoji="0" lang="en-US" altLang="el-GR" sz="3200" b="0" i="0" u="none" strike="noStrike" kern="0" cap="none" spc="0" normalizeH="0" baseline="0" noProof="0">
                <a:ln>
                  <a:noFill/>
                </a:ln>
                <a:solidFill>
                  <a:srgbClr val="000000"/>
                </a:solidFill>
                <a:effectLst/>
                <a:uLnTx/>
                <a:uFillTx/>
                <a:latin typeface=" " charset="0"/>
                <a:ea typeface="+mn-ea"/>
                <a:cs typeface="Times New Roman" panose="02020603050405020304" pitchFamily="18" charset="0"/>
              </a:rPr>
            </a:br>
            <a:r>
              <a:rPr kumimoji="0" lang="en-US" altLang="el-GR" sz="3200" b="0" i="0" u="none" strike="noStrike" kern="0" cap="none" spc="0" normalizeH="0" baseline="0" noProof="0">
                <a:ln>
                  <a:noFill/>
                </a:ln>
                <a:solidFill>
                  <a:srgbClr val="000000"/>
                </a:solidFill>
                <a:effectLst/>
                <a:uLnTx/>
                <a:uFillTx/>
                <a:latin typeface="Courier New" panose="02070309020205020404" pitchFamily="49" charset="0"/>
                <a:ea typeface="+mn-ea"/>
                <a:cs typeface="Courier New" panose="02070309020205020404" pitchFamily="49" charset="0"/>
              </a:rPr>
              <a:t>public static InputStream </a:t>
            </a:r>
            <a:r>
              <a:rPr kumimoji="0" lang="en-US" altLang="el-GR" sz="3200" b="1" i="0" u="none" strike="noStrike" kern="0" cap="none" spc="0" normalizeH="0" baseline="0" noProof="0">
                <a:ln>
                  <a:noFill/>
                </a:ln>
                <a:solidFill>
                  <a:srgbClr val="000000"/>
                </a:solidFill>
                <a:effectLst/>
                <a:uLnTx/>
                <a:uFillTx/>
                <a:latin typeface="Courier New" panose="02070309020205020404" pitchFamily="49" charset="0"/>
                <a:ea typeface="+mn-ea"/>
                <a:cs typeface="Courier New" panose="02070309020205020404" pitchFamily="49" charset="0"/>
              </a:rPr>
              <a:t>in</a:t>
            </a:r>
            <a:r>
              <a:rPr kumimoji="0" lang="en-US" altLang="el-GR" sz="3200" b="0" i="0" u="none" strike="noStrike" kern="0" cap="none" spc="0" normalizeH="0" baseline="0" noProof="0">
                <a:ln>
                  <a:noFill/>
                </a:ln>
                <a:solidFill>
                  <a:srgbClr val="000000"/>
                </a:solidFill>
                <a:effectLst/>
                <a:uLnTx/>
                <a:uFillTx/>
                <a:latin typeface="Courier New" panose="02070309020205020404" pitchFamily="49" charset="0"/>
                <a:ea typeface="+mn-ea"/>
                <a:cs typeface="Courier New" panose="02070309020205020404" pitchFamily="49" charset="0"/>
              </a:rPr>
              <a:t>;</a:t>
            </a:r>
            <a:r>
              <a:rPr kumimoji="0" lang="en-US" altLang="el-GR" sz="3200" b="0" i="0" u="none" strike="noStrike" kern="0" cap="none" spc="0" normalizeH="0" baseline="0" noProof="0">
                <a:ln>
                  <a:noFill/>
                </a:ln>
                <a:solidFill>
                  <a:srgbClr val="000000"/>
                </a:solidFill>
                <a:effectLst/>
                <a:uLnTx/>
                <a:uFillTx/>
                <a:latin typeface=" " charset="0"/>
                <a:ea typeface="+mn-ea"/>
                <a:cs typeface="Times New Roman" panose="02020603050405020304" pitchFamily="18" charset="0"/>
              </a:rPr>
              <a:t>	</a:t>
            </a:r>
            <a:endParaRPr kumimoji="0" lang="en-US" altLang="el-GR" sz="3200" b="0" i="0" u="none" strike="noStrike" kern="0" cap="none" spc="0" normalizeH="0" baseline="0" noProof="0">
              <a:ln>
                <a:noFill/>
              </a:ln>
              <a:solidFill>
                <a:srgbClr val="000000"/>
              </a:solidFill>
              <a:effectLst/>
              <a:uLnTx/>
              <a:uFillTx/>
              <a:latin typeface="Tahoma"/>
              <a:ea typeface="+mn-ea"/>
              <a:cs typeface="Times New Roman" panose="02020603050405020304" pitchFamily="18" charset="0"/>
            </a:endParaRP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None/>
              <a:tabLst/>
              <a:defRPr/>
            </a:pPr>
            <a:r>
              <a:rPr kumimoji="0" lang="en-US" altLang="el-GR" sz="3200" b="0" i="0" u="none" strike="noStrike" kern="0" cap="none" spc="0" normalizeH="0" baseline="0" noProof="0">
                <a:ln>
                  <a:noFill/>
                </a:ln>
                <a:solidFill>
                  <a:srgbClr val="000000"/>
                </a:solidFill>
                <a:effectLst/>
                <a:uLnTx/>
                <a:uFillTx/>
                <a:latin typeface="Courier New" panose="02070309020205020404" pitchFamily="49" charset="0"/>
                <a:ea typeface="+mn-ea"/>
                <a:cs typeface="Courier New" panose="02070309020205020404" pitchFamily="49" charset="0"/>
              </a:rPr>
              <a:t>	</a:t>
            </a:r>
            <a:r>
              <a:rPr kumimoji="0" lang="en-US" altLang="el-GR" sz="3200" b="1" i="0" u="none" strike="noStrike" kern="0" cap="none" spc="0" normalizeH="0" baseline="0" noProof="0">
                <a:ln>
                  <a:noFill/>
                </a:ln>
                <a:solidFill>
                  <a:srgbClr val="3333CC"/>
                </a:solidFill>
                <a:effectLst/>
                <a:uLnTx/>
                <a:uFillTx/>
                <a:latin typeface="Courier New" panose="02070309020205020404" pitchFamily="49" charset="0"/>
                <a:ea typeface="+mn-ea"/>
                <a:cs typeface="Courier New" panose="02070309020205020404" pitchFamily="49" charset="0"/>
              </a:rPr>
              <a:t>public static </a:t>
            </a:r>
            <a:r>
              <a:rPr kumimoji="0" lang="en-US" altLang="el-GR" sz="3200" b="1" i="0" u="none" strike="noStrike" kern="0" cap="none" spc="0" normalizeH="0" baseline="0" noProof="0">
                <a:ln>
                  <a:noFill/>
                </a:ln>
                <a:solidFill>
                  <a:srgbClr val="FF0000"/>
                </a:solidFill>
                <a:effectLst/>
                <a:uLnTx/>
                <a:uFillTx/>
                <a:latin typeface="Courier New" panose="02070309020205020404" pitchFamily="49" charset="0"/>
                <a:ea typeface="+mn-ea"/>
                <a:cs typeface="Courier New" panose="02070309020205020404" pitchFamily="49" charset="0"/>
              </a:rPr>
              <a:t>PrintStream</a:t>
            </a:r>
            <a:r>
              <a:rPr kumimoji="0" lang="en-US" altLang="el-GR" sz="3200" b="1" i="0" u="none" strike="noStrike" kern="0" cap="none" spc="0" normalizeH="0" baseline="0" noProof="0">
                <a:ln>
                  <a:noFill/>
                </a:ln>
                <a:solidFill>
                  <a:srgbClr val="3333CC"/>
                </a:solidFill>
                <a:effectLst/>
                <a:uLnTx/>
                <a:uFillTx/>
                <a:latin typeface="Courier New" panose="02070309020205020404" pitchFamily="49" charset="0"/>
                <a:ea typeface="+mn-ea"/>
                <a:cs typeface="Courier New" panose="02070309020205020404" pitchFamily="49" charset="0"/>
              </a:rPr>
              <a:t> out;</a:t>
            </a:r>
            <a:endParaRPr kumimoji="0" lang="en-US" altLang="el-GR" sz="3200" b="1" i="0" u="none" strike="noStrike" kern="0" cap="none" spc="0" normalizeH="0" baseline="0" noProof="0">
              <a:ln>
                <a:noFill/>
              </a:ln>
              <a:solidFill>
                <a:srgbClr val="3333CC"/>
              </a:solidFill>
              <a:effectLst/>
              <a:uLnTx/>
              <a:uFillTx/>
              <a:latin typeface="Tahoma"/>
              <a:ea typeface="+mn-ea"/>
              <a:cs typeface="Times New Roman" panose="02020603050405020304" pitchFamily="18" charset="0"/>
            </a:endParaRPr>
          </a:p>
          <a:p>
            <a:pPr marL="342900" marR="0" lvl="0" indent="-342900"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Char char="n"/>
              <a:tabLst/>
              <a:defRPr/>
            </a:pPr>
            <a:endParaRPr kumimoji="0" lang="en-GB" altLang="el-GR" sz="3200" b="0" i="0" u="none" strike="noStrike" kern="0" cap="none" spc="0" normalizeH="0" baseline="0" noProof="0" dirty="0">
              <a:ln>
                <a:noFill/>
              </a:ln>
              <a:solidFill>
                <a:srgbClr val="000000"/>
              </a:solidFill>
              <a:effectLst/>
              <a:uLnTx/>
              <a:uFillTx/>
              <a:latin typeface="Tahoma"/>
              <a:ea typeface="+mn-ea"/>
              <a:cs typeface="+mn-cs"/>
            </a:endParaRPr>
          </a:p>
        </p:txBody>
      </p:sp>
      <p:sp>
        <p:nvSpPr>
          <p:cNvPr id="5" name="AutoShape 4">
            <a:extLst>
              <a:ext uri="{FF2B5EF4-FFF2-40B4-BE49-F238E27FC236}">
                <a16:creationId xmlns:a16="http://schemas.microsoft.com/office/drawing/2014/main" id="{F7533495-1783-034B-CFCC-3E52880C6E55}"/>
              </a:ext>
            </a:extLst>
          </p:cNvPr>
          <p:cNvSpPr>
            <a:spLocks noChangeArrowheads="1"/>
          </p:cNvSpPr>
          <p:nvPr/>
        </p:nvSpPr>
        <p:spPr bwMode="auto">
          <a:xfrm>
            <a:off x="9098581" y="888218"/>
            <a:ext cx="2952750" cy="1152525"/>
          </a:xfrm>
          <a:prstGeom prst="wedgeRoundRectCallout">
            <a:avLst>
              <a:gd name="adj1" fmla="val -66091"/>
              <a:gd name="adj2" fmla="val 85029"/>
              <a:gd name="adj3" fmla="val 16667"/>
            </a:avLst>
          </a:prstGeom>
          <a:solidFill>
            <a:srgbClr val="F8FF69"/>
          </a:solidFill>
          <a:ln w="9525">
            <a:solidFill>
              <a:srgbClr val="000000"/>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l-GR" altLang="el-GR" sz="2400" b="0" i="0" u="none" strike="noStrike" kern="0" cap="none" spc="0" normalizeH="0" baseline="0" noProof="0">
                <a:ln>
                  <a:noFill/>
                </a:ln>
                <a:solidFill>
                  <a:srgbClr val="000000"/>
                </a:solidFill>
                <a:effectLst/>
                <a:uLnTx/>
                <a:uFillTx/>
                <a:latin typeface="Tahoma" panose="020B0604030504040204" pitchFamily="34" charset="0"/>
              </a:rPr>
              <a:t>Δες Βασική βιβλιοθήκη της </a:t>
            </a:r>
            <a:r>
              <a:rPr kumimoji="0" lang="en-US" altLang="el-GR" sz="2400" b="0" i="0" u="none" strike="noStrike" kern="0" cap="none" spc="0" normalizeH="0" baseline="0" noProof="0">
                <a:ln>
                  <a:noFill/>
                </a:ln>
                <a:solidFill>
                  <a:srgbClr val="000000"/>
                </a:solidFill>
                <a:effectLst/>
                <a:uLnTx/>
                <a:uFillTx/>
                <a:latin typeface="Tahoma" panose="020B0604030504040204" pitchFamily="34" charset="0"/>
              </a:rPr>
              <a:t>Java</a:t>
            </a: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grpSp>
        <p:nvGrpSpPr>
          <p:cNvPr id="6" name="Group 5">
            <a:extLst>
              <a:ext uri="{FF2B5EF4-FFF2-40B4-BE49-F238E27FC236}">
                <a16:creationId xmlns:a16="http://schemas.microsoft.com/office/drawing/2014/main" id="{9538E697-AB7C-B8A4-D985-7099F7CB69B0}"/>
              </a:ext>
            </a:extLst>
          </p:cNvPr>
          <p:cNvGrpSpPr/>
          <p:nvPr/>
        </p:nvGrpSpPr>
        <p:grpSpPr>
          <a:xfrm>
            <a:off x="303939" y="4817257"/>
            <a:ext cx="11747392" cy="1323439"/>
            <a:chOff x="0" y="5057889"/>
            <a:chExt cx="9121414" cy="1323439"/>
          </a:xfrm>
        </p:grpSpPr>
        <p:sp>
          <p:nvSpPr>
            <p:cNvPr id="7" name="Rectangle 6">
              <a:extLst>
                <a:ext uri="{FF2B5EF4-FFF2-40B4-BE49-F238E27FC236}">
                  <a16:creationId xmlns:a16="http://schemas.microsoft.com/office/drawing/2014/main" id="{BFB802E2-A7F8-E04C-2A20-7966F180F2D3}"/>
                </a:ext>
              </a:extLst>
            </p:cNvPr>
            <p:cNvSpPr/>
            <p:nvPr/>
          </p:nvSpPr>
          <p:spPr bwMode="auto">
            <a:xfrm>
              <a:off x="0" y="5085184"/>
              <a:ext cx="9121414" cy="1296144"/>
            </a:xfrm>
            <a:prstGeom prst="rect">
              <a:avLst/>
            </a:prstGeom>
            <a:solidFill>
              <a:srgbClr val="FFCF01">
                <a:lumMod val="20000"/>
                <a:lumOff val="80000"/>
              </a:srgb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itchFamily="34" charset="0"/>
              </a:endParaRPr>
            </a:p>
          </p:txBody>
        </p:sp>
        <p:sp>
          <p:nvSpPr>
            <p:cNvPr id="9" name="TextBox 8">
              <a:extLst>
                <a:ext uri="{FF2B5EF4-FFF2-40B4-BE49-F238E27FC236}">
                  <a16:creationId xmlns:a16="http://schemas.microsoft.com/office/drawing/2014/main" id="{179F0138-DBAA-0F58-D2E3-B45B9849EA45}"/>
                </a:ext>
              </a:extLst>
            </p:cNvPr>
            <p:cNvSpPr txBox="1"/>
            <p:nvPr/>
          </p:nvSpPr>
          <p:spPr>
            <a:xfrm>
              <a:off x="145572" y="5057889"/>
              <a:ext cx="8964488" cy="1323439"/>
            </a:xfrm>
            <a:prstGeom prst="rect">
              <a:avLst/>
            </a:prstGeom>
            <a:noFill/>
            <a:ln>
              <a:solidFill>
                <a:schemeClr val="bg1"/>
              </a:solidFill>
            </a:ln>
          </p:spPr>
          <p:txBody>
            <a:bodyPr wrap="square" rtlCol="0">
              <a:spAutoFit/>
            </a:body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sz="2000" b="1" i="0" u="none" strike="noStrike" kern="0" cap="none" spc="0" normalizeH="0" baseline="0" noProof="0" dirty="0">
                  <a:ln>
                    <a:noFill/>
                  </a:ln>
                  <a:solidFill>
                    <a:srgbClr val="000000"/>
                  </a:solidFill>
                  <a:effectLst/>
                  <a:uLnTx/>
                  <a:uFillTx/>
                  <a:latin typeface="Tahoma" panose="020B0604030504040204" pitchFamily="34" charset="0"/>
                </a:rPr>
                <a:t>out</a:t>
              </a:r>
            </a:p>
            <a:p>
              <a:pPr marL="0" marR="0" lvl="0" indent="0" defTabSz="914400" eaLnBrk="0" fontAlgn="base" latinLnBrk="0" hangingPunct="0">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Tahoma" panose="020B0604030504040204" pitchFamily="34" charset="0"/>
                </a:rPr>
                <a:t>The "standard" output stream. This stream is already open and ready to accept output data. Typically this stream corresponds to display output or another output destination specified by the host environment or user.</a:t>
              </a:r>
              <a:endParaRPr kumimoji="0" lang="el-GR" sz="2000" b="0" i="0" u="none" strike="noStrike" kern="0" cap="none" spc="0" normalizeH="0" baseline="0" noProof="0" dirty="0">
                <a:ln>
                  <a:noFill/>
                </a:ln>
                <a:solidFill>
                  <a:srgbClr val="000000"/>
                </a:solidFill>
                <a:effectLst/>
                <a:uLnTx/>
                <a:uFillTx/>
                <a:latin typeface="Tahoma" panose="020B0604030504040204" pitchFamily="34" charset="0"/>
              </a:endParaRPr>
            </a:p>
          </p:txBody>
        </p:sp>
      </p:grpSp>
    </p:spTree>
    <p:extLst>
      <p:ext uri="{BB962C8B-B14F-4D97-AF65-F5344CB8AC3E}">
        <p14:creationId xmlns:p14="http://schemas.microsoft.com/office/powerpoint/2010/main" val="67718568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Η κλάση </a:t>
            </a:r>
            <a:r>
              <a:rPr lang="en-US" sz="4000" b="1" dirty="0" err="1">
                <a:solidFill>
                  <a:srgbClr val="F9853D"/>
                </a:solidFill>
                <a:latin typeface="Bahnschrift" panose="020B0502040204020203" pitchFamily="34" charset="0"/>
              </a:rPr>
              <a:t>PrintStream</a:t>
            </a:r>
            <a:r>
              <a:rPr lang="en-US" sz="4000" b="1" dirty="0">
                <a:solidFill>
                  <a:srgbClr val="F9853D"/>
                </a:solidFill>
                <a:latin typeface="Bahnschrift" panose="020B0502040204020203" pitchFamily="34" charset="0"/>
              </a:rPr>
              <a:t> – method overloading</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4" name="Θέση υποσέλιδου 4">
            <a:extLst>
              <a:ext uri="{FF2B5EF4-FFF2-40B4-BE49-F238E27FC236}">
                <a16:creationId xmlns:a16="http://schemas.microsoft.com/office/drawing/2014/main" id="{4AF5A81B-6532-38B1-1CE2-17076041F59F}"/>
              </a:ext>
            </a:extLst>
          </p:cNvPr>
          <p:cNvSpPr txBox="1">
            <a:spLocks/>
          </p:cNvSpPr>
          <p:nvPr/>
        </p:nvSpPr>
        <p:spPr>
          <a:xfrm>
            <a:off x="3305908" y="6559909"/>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Java as an OOP language Part 1</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3" name="Rectangle 3">
            <a:extLst>
              <a:ext uri="{FF2B5EF4-FFF2-40B4-BE49-F238E27FC236}">
                <a16:creationId xmlns:a16="http://schemas.microsoft.com/office/drawing/2014/main" id="{7471FBB0-3ACB-B801-B47D-3681C6C4CCAD}"/>
              </a:ext>
            </a:extLst>
          </p:cNvPr>
          <p:cNvSpPr txBox="1">
            <a:spLocks noChangeArrowheads="1"/>
          </p:cNvSpPr>
          <p:nvPr/>
        </p:nvSpPr>
        <p:spPr bwMode="auto">
          <a:xfrm>
            <a:off x="171639" y="758816"/>
            <a:ext cx="8497887"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342900" marR="0" lvl="0" indent="-342900" algn="l" defTabSz="914400" rtl="0" eaLnBrk="1" fontAlgn="base" latinLnBrk="0" hangingPunct="1">
              <a:lnSpc>
                <a:spcPct val="90000"/>
              </a:lnSpc>
              <a:spcBef>
                <a:spcPct val="20000"/>
              </a:spcBef>
              <a:spcAft>
                <a:spcPct val="0"/>
              </a:spcAft>
              <a:buClr>
                <a:srgbClr val="3333CC"/>
              </a:buClr>
              <a:buSzPct val="60000"/>
              <a:buFont typeface="Wingdings" panose="05000000000000000000" pitchFamily="2" charset="2"/>
              <a:buNone/>
              <a:tabLst/>
              <a:defRPr/>
            </a:pPr>
            <a:r>
              <a:rPr kumimoji="0" lang="en-US" altLang="el-GR" sz="2400" b="0" i="0" u="none" strike="noStrike" kern="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public  class  </a:t>
            </a:r>
            <a:r>
              <a:rPr kumimoji="0" lang="en-US" altLang="el-GR" sz="2400" b="0" i="0" u="none" strike="noStrike" kern="0" cap="none" spc="0" normalizeH="0" baseline="0" noProof="0" dirty="0" err="1">
                <a:ln>
                  <a:noFill/>
                </a:ln>
                <a:solidFill>
                  <a:srgbClr val="000000"/>
                </a:solidFill>
                <a:effectLst/>
                <a:uLnTx/>
                <a:uFillTx/>
                <a:latin typeface="Courier New" panose="02070309020205020404" pitchFamily="49" charset="0"/>
                <a:ea typeface="+mn-ea"/>
                <a:cs typeface="Courier New" panose="02070309020205020404" pitchFamily="49" charset="0"/>
              </a:rPr>
              <a:t>java.io.</a:t>
            </a:r>
            <a:r>
              <a:rPr kumimoji="0" lang="en-US" altLang="el-GR" sz="2800" b="1" i="0" u="none" strike="noStrike" kern="0" cap="none" spc="0" normalizeH="0" baseline="0" noProof="0" dirty="0" err="1">
                <a:ln>
                  <a:noFill/>
                </a:ln>
                <a:solidFill>
                  <a:srgbClr val="FF0000"/>
                </a:solidFill>
                <a:effectLst/>
                <a:uLnTx/>
                <a:uFillTx/>
                <a:latin typeface="Courier New" panose="02070309020205020404" pitchFamily="49" charset="0"/>
                <a:ea typeface="+mn-ea"/>
                <a:cs typeface="Courier New" panose="02070309020205020404" pitchFamily="49" charset="0"/>
              </a:rPr>
              <a:t>PrintStream</a:t>
            </a:r>
            <a:br>
              <a:rPr kumimoji="0" lang="en-US" altLang="el-GR" sz="2400" b="1" i="0" u="none" strike="noStrike" kern="0" cap="none" spc="0" normalizeH="0" baseline="0" noProof="0" dirty="0">
                <a:ln>
                  <a:noFill/>
                </a:ln>
                <a:solidFill>
                  <a:srgbClr val="3333CC"/>
                </a:solidFill>
                <a:effectLst/>
                <a:uLnTx/>
                <a:uFillTx/>
                <a:latin typeface=" " charset="0"/>
                <a:ea typeface="+mn-ea"/>
                <a:cs typeface="Times New Roman" panose="02020603050405020304" pitchFamily="18" charset="0"/>
              </a:rPr>
            </a:br>
            <a:r>
              <a:rPr kumimoji="0" lang="en-US" altLang="el-GR" sz="2400" b="0" i="0" u="none" strike="noStrike" kern="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extends  </a:t>
            </a:r>
            <a:r>
              <a:rPr kumimoji="0" lang="en-US" altLang="el-GR" sz="2400" b="0" i="0" u="none" strike="noStrike" kern="0" cap="none" spc="0" normalizeH="0" baseline="0" noProof="0" dirty="0" err="1">
                <a:ln>
                  <a:noFill/>
                </a:ln>
                <a:solidFill>
                  <a:srgbClr val="000000"/>
                </a:solidFill>
                <a:effectLst/>
                <a:uLnTx/>
                <a:uFillTx/>
                <a:latin typeface="Courier New" panose="02070309020205020404" pitchFamily="49" charset="0"/>
                <a:ea typeface="+mn-ea"/>
                <a:cs typeface="Courier New" panose="02070309020205020404" pitchFamily="49" charset="0"/>
              </a:rPr>
              <a:t>java.io.</a:t>
            </a:r>
            <a:r>
              <a:rPr kumimoji="0" lang="en-US" altLang="el-GR" sz="2400" b="1" i="0" u="none" strike="noStrike" kern="0" cap="none" spc="0" normalizeH="0" baseline="0" noProof="0" dirty="0" err="1">
                <a:ln>
                  <a:noFill/>
                </a:ln>
                <a:solidFill>
                  <a:srgbClr val="000000"/>
                </a:solidFill>
                <a:effectLst/>
                <a:uLnTx/>
                <a:uFillTx/>
                <a:latin typeface="Courier New" panose="02070309020205020404" pitchFamily="49" charset="0"/>
                <a:ea typeface="+mn-ea"/>
                <a:cs typeface="Courier New" panose="02070309020205020404" pitchFamily="49" charset="0"/>
              </a:rPr>
              <a:t>FilterOutputStream</a:t>
            </a:r>
            <a:r>
              <a:rPr kumimoji="0" lang="en-US" altLang="el-GR" sz="2400" b="0" i="0" u="none" strike="noStrike" kern="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a:t>
            </a:r>
            <a:br>
              <a:rPr kumimoji="0" lang="en-US" altLang="el-GR" sz="2400" b="0" i="0" u="none" strike="noStrike" kern="0" cap="none" spc="0" normalizeH="0" baseline="0" noProof="0" dirty="0">
                <a:ln>
                  <a:noFill/>
                </a:ln>
                <a:solidFill>
                  <a:srgbClr val="000000"/>
                </a:solidFill>
                <a:effectLst/>
                <a:uLnTx/>
                <a:uFillTx/>
                <a:latin typeface=" " charset="0"/>
                <a:ea typeface="+mn-ea"/>
                <a:cs typeface="Times New Roman" panose="02020603050405020304" pitchFamily="18" charset="0"/>
              </a:rPr>
            </a:br>
            <a:r>
              <a:rPr kumimoji="0" lang="en-US" altLang="el-GR" sz="2400" b="0" i="0" u="none" strike="noStrike" kern="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 </a:t>
            </a:r>
            <a:r>
              <a:rPr kumimoji="0" lang="en-US" altLang="el-GR" sz="2800" b="1" i="0" u="none" strike="noStrike" kern="0" cap="none" spc="0" normalizeH="0" baseline="0" noProof="0" dirty="0">
                <a:ln>
                  <a:noFill/>
                </a:ln>
                <a:solidFill>
                  <a:srgbClr val="800000"/>
                </a:solidFill>
                <a:effectLst/>
                <a:uLnTx/>
                <a:uFillTx/>
                <a:latin typeface="Courier New" panose="02070309020205020404" pitchFamily="49" charset="0"/>
                <a:ea typeface="+mn-ea"/>
                <a:cs typeface="Courier New" panose="02070309020205020404" pitchFamily="49" charset="0"/>
              </a:rPr>
              <a:t>Methods</a:t>
            </a:r>
            <a:br>
              <a:rPr kumimoji="0" lang="en-US" altLang="el-GR" sz="2400" b="0" i="0" u="none" strike="noStrike" kern="0" cap="none" spc="0" normalizeH="0" baseline="0" noProof="0" dirty="0">
                <a:ln>
                  <a:noFill/>
                </a:ln>
                <a:solidFill>
                  <a:srgbClr val="000000"/>
                </a:solidFill>
                <a:effectLst/>
                <a:uLnTx/>
                <a:uFillTx/>
                <a:latin typeface=" " charset="0"/>
                <a:ea typeface="+mn-ea"/>
                <a:cs typeface="Times New Roman" panose="02020603050405020304" pitchFamily="18" charset="0"/>
              </a:rPr>
            </a:br>
            <a:r>
              <a:rPr kumimoji="0" lang="en-US" altLang="el-GR" sz="2400" b="0" i="0" u="none" strike="noStrike" kern="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public void </a:t>
            </a:r>
            <a:r>
              <a:rPr kumimoji="0" lang="en-US" altLang="el-GR" sz="2400" b="1" i="0" u="none" strike="noStrike" kern="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print</a:t>
            </a:r>
            <a:r>
              <a:rPr kumimoji="0" lang="en-US" altLang="el-GR" sz="2400" b="0" i="0" u="none" strike="noStrike" kern="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a:t>
            </a:r>
            <a:r>
              <a:rPr kumimoji="0" lang="en-US" altLang="el-GR" sz="2400" b="0" i="0" u="none" strike="noStrike" kern="0" cap="none" spc="0" normalizeH="0" baseline="0" noProof="0" dirty="0" err="1">
                <a:ln>
                  <a:noFill/>
                </a:ln>
                <a:solidFill>
                  <a:srgbClr val="000000"/>
                </a:solidFill>
                <a:effectLst/>
                <a:uLnTx/>
                <a:uFillTx/>
                <a:latin typeface="Courier New" panose="02070309020205020404" pitchFamily="49" charset="0"/>
                <a:ea typeface="+mn-ea"/>
                <a:cs typeface="Courier New" panose="02070309020205020404" pitchFamily="49" charset="0"/>
              </a:rPr>
              <a:t>boolean</a:t>
            </a:r>
            <a:r>
              <a:rPr kumimoji="0" lang="en-US" altLang="el-GR" sz="2400" b="0" i="0" u="none" strike="noStrike" kern="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b);</a:t>
            </a:r>
            <a:r>
              <a:rPr kumimoji="0" lang="en-US" altLang="el-GR" sz="2400" b="0" i="0" u="none" strike="noStrike" kern="0" cap="none" spc="0" normalizeH="0" baseline="0" noProof="0" dirty="0">
                <a:ln>
                  <a:noFill/>
                </a:ln>
                <a:solidFill>
                  <a:srgbClr val="000000"/>
                </a:solidFill>
                <a:effectLst/>
                <a:uLnTx/>
                <a:uFillTx/>
                <a:latin typeface=" " charset="0"/>
                <a:ea typeface="+mn-ea"/>
                <a:cs typeface="Times New Roman" panose="02020603050405020304" pitchFamily="18" charset="0"/>
              </a:rPr>
              <a:t>	</a:t>
            </a:r>
            <a:br>
              <a:rPr kumimoji="0" lang="en-US" altLang="el-GR" sz="2400" b="0" i="0" u="none" strike="noStrike" kern="0" cap="none" spc="0" normalizeH="0" baseline="0" noProof="0" dirty="0">
                <a:ln>
                  <a:noFill/>
                </a:ln>
                <a:solidFill>
                  <a:srgbClr val="000000"/>
                </a:solidFill>
                <a:effectLst/>
                <a:uLnTx/>
                <a:uFillTx/>
                <a:latin typeface=" " charset="0"/>
                <a:ea typeface="+mn-ea"/>
                <a:cs typeface="Times New Roman" panose="02020603050405020304" pitchFamily="18" charset="0"/>
              </a:rPr>
            </a:br>
            <a:r>
              <a:rPr kumimoji="0" lang="en-US" altLang="el-GR" sz="2400" b="0" i="0" u="none" strike="noStrike" kern="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a:t>
            </a:r>
            <a:br>
              <a:rPr kumimoji="0" lang="en-US" altLang="el-GR" sz="2400" b="0" i="0" u="none" strike="noStrike" kern="0" cap="none" spc="0" normalizeH="0" baseline="0" noProof="0" dirty="0">
                <a:ln>
                  <a:noFill/>
                </a:ln>
                <a:solidFill>
                  <a:srgbClr val="000000"/>
                </a:solidFill>
                <a:effectLst/>
                <a:uLnTx/>
                <a:uFillTx/>
                <a:latin typeface=" " charset="0"/>
                <a:ea typeface="+mn-ea"/>
                <a:cs typeface="Times New Roman" panose="02020603050405020304" pitchFamily="18" charset="0"/>
              </a:rPr>
            </a:br>
            <a:r>
              <a:rPr kumimoji="0" lang="en-US" altLang="el-GR" sz="2400" b="0" i="0" u="none" strike="noStrike" kern="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public void </a:t>
            </a:r>
            <a:r>
              <a:rPr kumimoji="0" lang="en-US" altLang="el-GR" sz="2400" b="1" i="0" u="none" strike="noStrike" kern="0" cap="none" spc="0" normalizeH="0" baseline="0" noProof="0" dirty="0" err="1">
                <a:ln>
                  <a:noFill/>
                </a:ln>
                <a:solidFill>
                  <a:srgbClr val="FF0000"/>
                </a:solidFill>
                <a:effectLst/>
                <a:uLnTx/>
                <a:uFillTx/>
                <a:latin typeface="Courier New" panose="02070309020205020404" pitchFamily="49" charset="0"/>
                <a:ea typeface="+mn-ea"/>
                <a:cs typeface="Courier New" panose="02070309020205020404" pitchFamily="49" charset="0"/>
              </a:rPr>
              <a:t>println</a:t>
            </a:r>
            <a:r>
              <a:rPr kumimoji="0" lang="en-US" altLang="el-GR" sz="2400" b="0" i="0" u="none" strike="noStrike" kern="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a:t>
            </a:r>
            <a:r>
              <a:rPr kumimoji="0" lang="en-US" altLang="el-GR" sz="2400" b="0" i="0" u="none" strike="noStrike" kern="0" cap="none" spc="0" normalizeH="0" baseline="0" noProof="0" dirty="0">
                <a:ln>
                  <a:noFill/>
                </a:ln>
                <a:solidFill>
                  <a:srgbClr val="000000"/>
                </a:solidFill>
                <a:effectLst/>
                <a:uLnTx/>
                <a:uFillTx/>
                <a:latin typeface=" " charset="0"/>
                <a:ea typeface="+mn-ea"/>
                <a:cs typeface="Times New Roman" panose="02020603050405020304" pitchFamily="18" charset="0"/>
              </a:rPr>
              <a:t>	</a:t>
            </a:r>
            <a:br>
              <a:rPr kumimoji="0" lang="en-US" altLang="el-GR" sz="2400" b="0" i="0" u="none" strike="noStrike" kern="0" cap="none" spc="0" normalizeH="0" baseline="0" noProof="0" dirty="0">
                <a:ln>
                  <a:noFill/>
                </a:ln>
                <a:solidFill>
                  <a:srgbClr val="000000"/>
                </a:solidFill>
                <a:effectLst/>
                <a:uLnTx/>
                <a:uFillTx/>
                <a:latin typeface=" " charset="0"/>
                <a:ea typeface="+mn-ea"/>
                <a:cs typeface="Times New Roman" panose="02020603050405020304" pitchFamily="18" charset="0"/>
              </a:rPr>
            </a:br>
            <a:r>
              <a:rPr kumimoji="0" lang="en-US" altLang="el-GR" sz="2400" b="0" i="0" u="none" strike="noStrike" kern="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public void </a:t>
            </a:r>
            <a:r>
              <a:rPr kumimoji="0" lang="en-US" altLang="el-GR" sz="2400" b="1" i="0" u="none" strike="noStrike" kern="0" cap="none" spc="0" normalizeH="0" baseline="0" noProof="0" dirty="0" err="1">
                <a:ln>
                  <a:noFill/>
                </a:ln>
                <a:solidFill>
                  <a:srgbClr val="FF0000"/>
                </a:solidFill>
                <a:effectLst/>
                <a:uLnTx/>
                <a:uFillTx/>
                <a:latin typeface="Courier New" panose="02070309020205020404" pitchFamily="49" charset="0"/>
                <a:ea typeface="+mn-ea"/>
                <a:cs typeface="Courier New" panose="02070309020205020404" pitchFamily="49" charset="0"/>
              </a:rPr>
              <a:t>println</a:t>
            </a:r>
            <a:r>
              <a:rPr kumimoji="0" lang="en-US" altLang="el-GR" sz="2400" b="0" i="0" u="none" strike="noStrike" kern="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a:t>
            </a:r>
            <a:r>
              <a:rPr kumimoji="0" lang="en-US" altLang="el-GR" sz="2400" b="0" i="0" u="none" strike="noStrike" kern="0" cap="none" spc="0" normalizeH="0" baseline="0" noProof="0" dirty="0" err="1">
                <a:ln>
                  <a:noFill/>
                </a:ln>
                <a:solidFill>
                  <a:srgbClr val="000000"/>
                </a:solidFill>
                <a:effectLst/>
                <a:uLnTx/>
                <a:uFillTx/>
                <a:latin typeface="Courier New" panose="02070309020205020404" pitchFamily="49" charset="0"/>
                <a:ea typeface="+mn-ea"/>
                <a:cs typeface="Courier New" panose="02070309020205020404" pitchFamily="49" charset="0"/>
              </a:rPr>
              <a:t>boolean</a:t>
            </a:r>
            <a:r>
              <a:rPr kumimoji="0" lang="en-US" altLang="el-GR" sz="2400" b="0" i="0" u="none" strike="noStrike" kern="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b);</a:t>
            </a:r>
            <a:r>
              <a:rPr kumimoji="0" lang="en-US" altLang="el-GR" sz="2400" b="0" i="0" u="none" strike="noStrike" kern="0" cap="none" spc="0" normalizeH="0" baseline="0" noProof="0" dirty="0">
                <a:ln>
                  <a:noFill/>
                </a:ln>
                <a:solidFill>
                  <a:srgbClr val="000000"/>
                </a:solidFill>
                <a:effectLst/>
                <a:uLnTx/>
                <a:uFillTx/>
                <a:latin typeface=" " charset="0"/>
                <a:ea typeface="+mn-ea"/>
                <a:cs typeface="Times New Roman" panose="02020603050405020304" pitchFamily="18" charset="0"/>
              </a:rPr>
              <a:t>	</a:t>
            </a:r>
            <a:br>
              <a:rPr kumimoji="0" lang="en-US" altLang="el-GR" sz="2400" b="0" i="0" u="none" strike="noStrike" kern="0" cap="none" spc="0" normalizeH="0" baseline="0" noProof="0" dirty="0">
                <a:ln>
                  <a:noFill/>
                </a:ln>
                <a:solidFill>
                  <a:srgbClr val="000000"/>
                </a:solidFill>
                <a:effectLst/>
                <a:uLnTx/>
                <a:uFillTx/>
                <a:latin typeface=" " charset="0"/>
                <a:ea typeface="+mn-ea"/>
                <a:cs typeface="Times New Roman" panose="02020603050405020304" pitchFamily="18" charset="0"/>
              </a:rPr>
            </a:br>
            <a:r>
              <a:rPr kumimoji="0" lang="en-US" altLang="el-GR" sz="2400" b="0" i="0" u="none" strike="noStrike" kern="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public void </a:t>
            </a:r>
            <a:r>
              <a:rPr kumimoji="0" lang="en-US" altLang="el-GR" sz="2400" b="1" i="0" u="none" strike="noStrike" kern="0" cap="none" spc="0" normalizeH="0" baseline="0" noProof="0" dirty="0" err="1">
                <a:ln>
                  <a:noFill/>
                </a:ln>
                <a:solidFill>
                  <a:srgbClr val="FF0000"/>
                </a:solidFill>
                <a:effectLst/>
                <a:uLnTx/>
                <a:uFillTx/>
                <a:latin typeface="Courier New" panose="02070309020205020404" pitchFamily="49" charset="0"/>
                <a:ea typeface="+mn-ea"/>
                <a:cs typeface="Courier New" panose="02070309020205020404" pitchFamily="49" charset="0"/>
              </a:rPr>
              <a:t>println</a:t>
            </a:r>
            <a:r>
              <a:rPr kumimoji="0" lang="en-US" altLang="el-GR" sz="2400" b="0" i="0" u="none" strike="noStrike" kern="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(char  c);</a:t>
            </a:r>
            <a:r>
              <a:rPr kumimoji="0" lang="en-US" altLang="el-GR" sz="2400" b="0" i="0" u="none" strike="noStrike" kern="0" cap="none" spc="0" normalizeH="0" baseline="0" noProof="0" dirty="0">
                <a:ln>
                  <a:noFill/>
                </a:ln>
                <a:solidFill>
                  <a:srgbClr val="000000"/>
                </a:solidFill>
                <a:effectLst/>
                <a:uLnTx/>
                <a:uFillTx/>
                <a:latin typeface=" " charset="0"/>
                <a:ea typeface="+mn-ea"/>
                <a:cs typeface="Times New Roman" panose="02020603050405020304" pitchFamily="18" charset="0"/>
              </a:rPr>
              <a:t>	</a:t>
            </a:r>
            <a:br>
              <a:rPr kumimoji="0" lang="en-US" altLang="el-GR" sz="2400" b="0" i="0" u="none" strike="noStrike" kern="0" cap="none" spc="0" normalizeH="0" baseline="0" noProof="0" dirty="0">
                <a:ln>
                  <a:noFill/>
                </a:ln>
                <a:solidFill>
                  <a:srgbClr val="000000"/>
                </a:solidFill>
                <a:effectLst/>
                <a:uLnTx/>
                <a:uFillTx/>
                <a:latin typeface=" " charset="0"/>
                <a:ea typeface="+mn-ea"/>
                <a:cs typeface="Times New Roman" panose="02020603050405020304" pitchFamily="18" charset="0"/>
              </a:rPr>
            </a:br>
            <a:r>
              <a:rPr kumimoji="0" lang="en-US" altLang="el-GR" sz="2400" b="0" i="0" u="none" strike="noStrike" kern="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public void </a:t>
            </a:r>
            <a:r>
              <a:rPr kumimoji="0" lang="en-US" altLang="el-GR" sz="2400" b="1" i="0" u="none" strike="noStrike" kern="0" cap="none" spc="0" normalizeH="0" baseline="0" noProof="0" dirty="0" err="1">
                <a:ln>
                  <a:noFill/>
                </a:ln>
                <a:solidFill>
                  <a:srgbClr val="FF0000"/>
                </a:solidFill>
                <a:effectLst/>
                <a:uLnTx/>
                <a:uFillTx/>
                <a:latin typeface="Courier New" panose="02070309020205020404" pitchFamily="49" charset="0"/>
                <a:ea typeface="+mn-ea"/>
                <a:cs typeface="Courier New" panose="02070309020205020404" pitchFamily="49" charset="0"/>
              </a:rPr>
              <a:t>println</a:t>
            </a:r>
            <a:r>
              <a:rPr kumimoji="0" lang="en-US" altLang="el-GR" sz="2400" b="0" i="0" u="none" strike="noStrike" kern="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(char  s[]);</a:t>
            </a:r>
            <a:r>
              <a:rPr kumimoji="0" lang="en-US" altLang="el-GR" sz="2400" b="0" i="0" u="none" strike="noStrike" kern="0" cap="none" spc="0" normalizeH="0" baseline="0" noProof="0" dirty="0">
                <a:ln>
                  <a:noFill/>
                </a:ln>
                <a:solidFill>
                  <a:srgbClr val="000000"/>
                </a:solidFill>
                <a:effectLst/>
                <a:uLnTx/>
                <a:uFillTx/>
                <a:latin typeface=" " charset="0"/>
                <a:ea typeface="+mn-ea"/>
                <a:cs typeface="Times New Roman" panose="02020603050405020304" pitchFamily="18" charset="0"/>
              </a:rPr>
              <a:t>	</a:t>
            </a:r>
            <a:br>
              <a:rPr kumimoji="0" lang="en-US" altLang="el-GR" sz="2400" b="0" i="0" u="none" strike="noStrike" kern="0" cap="none" spc="0" normalizeH="0" baseline="0" noProof="0" dirty="0">
                <a:ln>
                  <a:noFill/>
                </a:ln>
                <a:solidFill>
                  <a:srgbClr val="000000"/>
                </a:solidFill>
                <a:effectLst/>
                <a:uLnTx/>
                <a:uFillTx/>
                <a:latin typeface=" " charset="0"/>
                <a:ea typeface="+mn-ea"/>
                <a:cs typeface="Times New Roman" panose="02020603050405020304" pitchFamily="18" charset="0"/>
              </a:rPr>
            </a:br>
            <a:r>
              <a:rPr kumimoji="0" lang="en-US" altLang="el-GR" sz="2400" b="0" i="0" u="none" strike="noStrike" kern="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public void </a:t>
            </a:r>
            <a:r>
              <a:rPr kumimoji="0" lang="en-US" altLang="el-GR" sz="2400" b="1" i="0" u="none" strike="noStrike" kern="0" cap="none" spc="0" normalizeH="0" baseline="0" noProof="0" dirty="0" err="1">
                <a:ln>
                  <a:noFill/>
                </a:ln>
                <a:solidFill>
                  <a:srgbClr val="000000"/>
                </a:solidFill>
                <a:effectLst/>
                <a:uLnTx/>
                <a:uFillTx/>
                <a:latin typeface="Courier New" panose="02070309020205020404" pitchFamily="49" charset="0"/>
                <a:ea typeface="+mn-ea"/>
                <a:cs typeface="Courier New" panose="02070309020205020404" pitchFamily="49" charset="0"/>
              </a:rPr>
              <a:t>println</a:t>
            </a:r>
            <a:r>
              <a:rPr kumimoji="0" lang="en-US" altLang="el-GR" sz="2400" b="0" i="0" u="none" strike="noStrike" kern="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(double  d);</a:t>
            </a:r>
            <a:r>
              <a:rPr kumimoji="0" lang="en-US" altLang="el-GR" sz="2400" b="0" i="0" u="none" strike="noStrike" kern="0" cap="none" spc="0" normalizeH="0" baseline="0" noProof="0" dirty="0">
                <a:ln>
                  <a:noFill/>
                </a:ln>
                <a:solidFill>
                  <a:srgbClr val="000000"/>
                </a:solidFill>
                <a:effectLst/>
                <a:uLnTx/>
                <a:uFillTx/>
                <a:latin typeface=" " charset="0"/>
                <a:ea typeface="+mn-ea"/>
                <a:cs typeface="Times New Roman" panose="02020603050405020304" pitchFamily="18" charset="0"/>
              </a:rPr>
              <a:t>	</a:t>
            </a:r>
            <a:br>
              <a:rPr kumimoji="0" lang="en-US" altLang="el-GR" sz="2400" b="0" i="0" u="none" strike="noStrike" kern="0" cap="none" spc="0" normalizeH="0" baseline="0" noProof="0" dirty="0">
                <a:ln>
                  <a:noFill/>
                </a:ln>
                <a:solidFill>
                  <a:srgbClr val="000000"/>
                </a:solidFill>
                <a:effectLst/>
                <a:uLnTx/>
                <a:uFillTx/>
                <a:latin typeface=" " charset="0"/>
                <a:ea typeface="+mn-ea"/>
                <a:cs typeface="Times New Roman" panose="02020603050405020304" pitchFamily="18" charset="0"/>
              </a:rPr>
            </a:br>
            <a:r>
              <a:rPr kumimoji="0" lang="en-US" altLang="el-GR" sz="2400" b="0" i="0" u="none" strike="noStrike" kern="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public void </a:t>
            </a:r>
            <a:r>
              <a:rPr kumimoji="0" lang="en-US" altLang="el-GR" sz="2400" b="1" i="0" u="none" strike="noStrike" kern="0" cap="none" spc="0" normalizeH="0" baseline="0" noProof="0" dirty="0" err="1">
                <a:ln>
                  <a:noFill/>
                </a:ln>
                <a:solidFill>
                  <a:srgbClr val="000000"/>
                </a:solidFill>
                <a:effectLst/>
                <a:uLnTx/>
                <a:uFillTx/>
                <a:latin typeface="Courier New" panose="02070309020205020404" pitchFamily="49" charset="0"/>
                <a:ea typeface="+mn-ea"/>
                <a:cs typeface="Courier New" panose="02070309020205020404" pitchFamily="49" charset="0"/>
              </a:rPr>
              <a:t>println</a:t>
            </a:r>
            <a:r>
              <a:rPr kumimoji="0" lang="en-US" altLang="el-GR" sz="2400" b="0" i="0" u="none" strike="noStrike" kern="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(float  f);</a:t>
            </a:r>
            <a:r>
              <a:rPr kumimoji="0" lang="en-US" altLang="el-GR" sz="2400" b="0" i="0" u="none" strike="noStrike" kern="0" cap="none" spc="0" normalizeH="0" baseline="0" noProof="0" dirty="0">
                <a:ln>
                  <a:noFill/>
                </a:ln>
                <a:solidFill>
                  <a:srgbClr val="000000"/>
                </a:solidFill>
                <a:effectLst/>
                <a:uLnTx/>
                <a:uFillTx/>
                <a:latin typeface=" " charset="0"/>
                <a:ea typeface="+mn-ea"/>
                <a:cs typeface="Times New Roman" panose="02020603050405020304" pitchFamily="18" charset="0"/>
              </a:rPr>
              <a:t>	</a:t>
            </a:r>
            <a:br>
              <a:rPr kumimoji="0" lang="en-US" altLang="el-GR" sz="2400" b="0" i="0" u="none" strike="noStrike" kern="0" cap="none" spc="0" normalizeH="0" baseline="0" noProof="0" dirty="0">
                <a:ln>
                  <a:noFill/>
                </a:ln>
                <a:solidFill>
                  <a:srgbClr val="000000"/>
                </a:solidFill>
                <a:effectLst/>
                <a:uLnTx/>
                <a:uFillTx/>
                <a:latin typeface=" " charset="0"/>
                <a:ea typeface="+mn-ea"/>
                <a:cs typeface="Times New Roman" panose="02020603050405020304" pitchFamily="18" charset="0"/>
              </a:rPr>
            </a:br>
            <a:r>
              <a:rPr kumimoji="0" lang="en-US" altLang="el-GR" sz="2400" b="0" i="0" u="none" strike="noStrike" kern="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public void </a:t>
            </a:r>
            <a:r>
              <a:rPr kumimoji="0" lang="en-US" altLang="el-GR" sz="2400" b="1" i="0" u="none" strike="noStrike" kern="0" cap="none" spc="0" normalizeH="0" baseline="0" noProof="0" dirty="0" err="1">
                <a:ln>
                  <a:noFill/>
                </a:ln>
                <a:solidFill>
                  <a:srgbClr val="000000"/>
                </a:solidFill>
                <a:effectLst/>
                <a:uLnTx/>
                <a:uFillTx/>
                <a:latin typeface="Courier New" panose="02070309020205020404" pitchFamily="49" charset="0"/>
                <a:ea typeface="+mn-ea"/>
                <a:cs typeface="Courier New" panose="02070309020205020404" pitchFamily="49" charset="0"/>
              </a:rPr>
              <a:t>println</a:t>
            </a:r>
            <a:r>
              <a:rPr kumimoji="0" lang="en-US" altLang="el-GR" sz="2400" b="0" i="0" u="none" strike="noStrike" kern="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(int  </a:t>
            </a:r>
            <a:r>
              <a:rPr kumimoji="0" lang="en-US" altLang="el-GR" sz="2400" b="0" i="0" u="none" strike="noStrike" kern="0" cap="none" spc="0" normalizeH="0" baseline="0" noProof="0" dirty="0" err="1">
                <a:ln>
                  <a:noFill/>
                </a:ln>
                <a:solidFill>
                  <a:srgbClr val="000000"/>
                </a:solidFill>
                <a:effectLst/>
                <a:uLnTx/>
                <a:uFillTx/>
                <a:latin typeface="Courier New" panose="02070309020205020404" pitchFamily="49" charset="0"/>
                <a:ea typeface="+mn-ea"/>
                <a:cs typeface="Courier New" panose="02070309020205020404" pitchFamily="49" charset="0"/>
              </a:rPr>
              <a:t>i</a:t>
            </a:r>
            <a:r>
              <a:rPr kumimoji="0" lang="en-US" altLang="el-GR" sz="2400" b="0" i="0" u="none" strike="noStrike" kern="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a:t>
            </a:r>
            <a:r>
              <a:rPr kumimoji="0" lang="en-US" altLang="el-GR" sz="2400" b="0" i="0" u="none" strike="noStrike" kern="0" cap="none" spc="0" normalizeH="0" baseline="0" noProof="0" dirty="0">
                <a:ln>
                  <a:noFill/>
                </a:ln>
                <a:solidFill>
                  <a:srgbClr val="000000"/>
                </a:solidFill>
                <a:effectLst/>
                <a:uLnTx/>
                <a:uFillTx/>
                <a:latin typeface=" " charset="0"/>
                <a:ea typeface="+mn-ea"/>
                <a:cs typeface="Times New Roman" panose="02020603050405020304" pitchFamily="18" charset="0"/>
              </a:rPr>
              <a:t>	</a:t>
            </a:r>
            <a:br>
              <a:rPr kumimoji="0" lang="en-US" altLang="el-GR" sz="2400" b="0" i="0" u="none" strike="noStrike" kern="0" cap="none" spc="0" normalizeH="0" baseline="0" noProof="0" dirty="0">
                <a:ln>
                  <a:noFill/>
                </a:ln>
                <a:solidFill>
                  <a:srgbClr val="000000"/>
                </a:solidFill>
                <a:effectLst/>
                <a:uLnTx/>
                <a:uFillTx/>
                <a:latin typeface=" " charset="0"/>
                <a:ea typeface="+mn-ea"/>
                <a:cs typeface="Times New Roman" panose="02020603050405020304" pitchFamily="18" charset="0"/>
              </a:rPr>
            </a:br>
            <a:r>
              <a:rPr kumimoji="0" lang="en-US" altLang="el-GR" sz="2400" b="0" i="0" u="none" strike="noStrike" kern="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public void </a:t>
            </a:r>
            <a:r>
              <a:rPr kumimoji="0" lang="en-US" altLang="el-GR" sz="2400" b="1" i="0" u="none" strike="noStrike" kern="0" cap="none" spc="0" normalizeH="0" baseline="0" noProof="0" dirty="0" err="1">
                <a:ln>
                  <a:noFill/>
                </a:ln>
                <a:solidFill>
                  <a:srgbClr val="000000"/>
                </a:solidFill>
                <a:effectLst/>
                <a:uLnTx/>
                <a:uFillTx/>
                <a:latin typeface="Courier New" panose="02070309020205020404" pitchFamily="49" charset="0"/>
                <a:ea typeface="+mn-ea"/>
                <a:cs typeface="Courier New" panose="02070309020205020404" pitchFamily="49" charset="0"/>
              </a:rPr>
              <a:t>println</a:t>
            </a:r>
            <a:r>
              <a:rPr kumimoji="0" lang="en-US" altLang="el-GR" sz="2400" b="0" i="0" u="none" strike="noStrike" kern="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(long  l);</a:t>
            </a:r>
            <a:r>
              <a:rPr kumimoji="0" lang="en-US" altLang="el-GR" sz="2400" b="0" i="0" u="none" strike="noStrike" kern="0" cap="none" spc="0" normalizeH="0" baseline="0" noProof="0" dirty="0">
                <a:ln>
                  <a:noFill/>
                </a:ln>
                <a:solidFill>
                  <a:srgbClr val="000000"/>
                </a:solidFill>
                <a:effectLst/>
                <a:uLnTx/>
                <a:uFillTx/>
                <a:latin typeface=" " charset="0"/>
                <a:ea typeface="+mn-ea"/>
                <a:cs typeface="Times New Roman" panose="02020603050405020304" pitchFamily="18" charset="0"/>
              </a:rPr>
              <a:t>	</a:t>
            </a:r>
            <a:br>
              <a:rPr kumimoji="0" lang="en-US" altLang="el-GR" sz="2400" b="0" i="0" u="none" strike="noStrike" kern="0" cap="none" spc="0" normalizeH="0" baseline="0" noProof="0" dirty="0">
                <a:ln>
                  <a:noFill/>
                </a:ln>
                <a:solidFill>
                  <a:srgbClr val="000000"/>
                </a:solidFill>
                <a:effectLst/>
                <a:uLnTx/>
                <a:uFillTx/>
                <a:latin typeface=" " charset="0"/>
                <a:ea typeface="+mn-ea"/>
                <a:cs typeface="Times New Roman" panose="02020603050405020304" pitchFamily="18" charset="0"/>
              </a:rPr>
            </a:br>
            <a:r>
              <a:rPr kumimoji="0" lang="en-US" altLang="el-GR" sz="2400" b="0" i="0" u="none" strike="noStrike" kern="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public void </a:t>
            </a:r>
            <a:r>
              <a:rPr kumimoji="0" lang="en-US" altLang="el-GR" sz="2400" b="1" i="0" u="none" strike="noStrike" kern="0" cap="none" spc="0" normalizeH="0" baseline="0" noProof="0" dirty="0" err="1">
                <a:ln>
                  <a:noFill/>
                </a:ln>
                <a:solidFill>
                  <a:srgbClr val="000000"/>
                </a:solidFill>
                <a:effectLst/>
                <a:uLnTx/>
                <a:uFillTx/>
                <a:latin typeface="Courier New" panose="02070309020205020404" pitchFamily="49" charset="0"/>
                <a:ea typeface="+mn-ea"/>
                <a:cs typeface="Courier New" panose="02070309020205020404" pitchFamily="49" charset="0"/>
              </a:rPr>
              <a:t>println</a:t>
            </a:r>
            <a:r>
              <a:rPr kumimoji="0" lang="en-US" altLang="el-GR" sz="2400" b="0" i="0" u="none" strike="noStrike" kern="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(Object  obj);</a:t>
            </a:r>
            <a:r>
              <a:rPr kumimoji="0" lang="en-US" altLang="el-GR" sz="2400" b="0" i="0" u="none" strike="noStrike" kern="0" cap="none" spc="0" normalizeH="0" baseline="0" noProof="0" dirty="0">
                <a:ln>
                  <a:noFill/>
                </a:ln>
                <a:solidFill>
                  <a:srgbClr val="000000"/>
                </a:solidFill>
                <a:effectLst/>
                <a:uLnTx/>
                <a:uFillTx/>
                <a:latin typeface=" " charset="0"/>
                <a:ea typeface="+mn-ea"/>
                <a:cs typeface="Times New Roman" panose="02020603050405020304" pitchFamily="18" charset="0"/>
              </a:rPr>
              <a:t>	</a:t>
            </a:r>
            <a:br>
              <a:rPr kumimoji="0" lang="en-US" altLang="el-GR" sz="2400" b="0" i="0" u="none" strike="noStrike" kern="0" cap="none" spc="0" normalizeH="0" baseline="0" noProof="0" dirty="0">
                <a:ln>
                  <a:noFill/>
                </a:ln>
                <a:solidFill>
                  <a:srgbClr val="000000"/>
                </a:solidFill>
                <a:effectLst/>
                <a:uLnTx/>
                <a:uFillTx/>
                <a:latin typeface=" " charset="0"/>
                <a:ea typeface="+mn-ea"/>
                <a:cs typeface="Times New Roman" panose="02020603050405020304" pitchFamily="18" charset="0"/>
              </a:rPr>
            </a:br>
            <a:r>
              <a:rPr kumimoji="0" lang="en-US" altLang="el-GR" sz="2400" b="0" i="0" u="none" strike="noStrike" kern="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public void </a:t>
            </a:r>
            <a:r>
              <a:rPr kumimoji="0" lang="en-US" altLang="el-GR" sz="2400" b="1" i="0" u="none" strike="noStrike" kern="0" cap="none" spc="0" normalizeH="0" baseline="0" noProof="0" dirty="0" err="1">
                <a:ln>
                  <a:noFill/>
                </a:ln>
                <a:solidFill>
                  <a:srgbClr val="000000"/>
                </a:solidFill>
                <a:effectLst/>
                <a:uLnTx/>
                <a:uFillTx/>
                <a:latin typeface="Courier New" panose="02070309020205020404" pitchFamily="49" charset="0"/>
                <a:ea typeface="+mn-ea"/>
                <a:cs typeface="Courier New" panose="02070309020205020404" pitchFamily="49" charset="0"/>
              </a:rPr>
              <a:t>println</a:t>
            </a:r>
            <a:r>
              <a:rPr kumimoji="0" lang="en-US" altLang="el-GR" sz="2400" b="0" i="0" u="none" strike="noStrike" kern="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(String  s);</a:t>
            </a:r>
            <a:r>
              <a:rPr kumimoji="0" lang="en-US" altLang="el-GR" sz="2400" b="0" i="0" u="none" strike="noStrike" kern="0" cap="none" spc="0" normalizeH="0" baseline="0" noProof="0" dirty="0">
                <a:ln>
                  <a:noFill/>
                </a:ln>
                <a:solidFill>
                  <a:srgbClr val="000000"/>
                </a:solidFill>
                <a:effectLst/>
                <a:uLnTx/>
                <a:uFillTx/>
                <a:latin typeface=" " charset="0"/>
                <a:ea typeface="+mn-ea"/>
                <a:cs typeface="Times New Roman" panose="02020603050405020304" pitchFamily="18" charset="0"/>
              </a:rPr>
              <a:t>	</a:t>
            </a:r>
            <a:br>
              <a:rPr kumimoji="0" lang="en-US" altLang="el-GR" sz="2400" b="0" i="0" u="none" strike="noStrike" kern="0" cap="none" spc="0" normalizeH="0" baseline="0" noProof="0" dirty="0">
                <a:ln>
                  <a:noFill/>
                </a:ln>
                <a:solidFill>
                  <a:srgbClr val="000000"/>
                </a:solidFill>
                <a:effectLst/>
                <a:uLnTx/>
                <a:uFillTx/>
                <a:latin typeface=" " charset="0"/>
                <a:ea typeface="+mn-ea"/>
                <a:cs typeface="Times New Roman" panose="02020603050405020304" pitchFamily="18" charset="0"/>
              </a:rPr>
            </a:br>
            <a:r>
              <a:rPr kumimoji="0" lang="en-US" altLang="el-GR" sz="2400" b="0" i="0" u="none" strike="noStrike" kern="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 …</a:t>
            </a:r>
            <a:r>
              <a:rPr kumimoji="0" lang="en-US" altLang="el-GR" sz="2400" b="0" i="0" u="none" strike="noStrike" kern="0" cap="none" spc="0" normalizeH="0" baseline="0" noProof="0" dirty="0">
                <a:ln>
                  <a:noFill/>
                </a:ln>
                <a:solidFill>
                  <a:srgbClr val="000000"/>
                </a:solidFill>
                <a:effectLst/>
                <a:uLnTx/>
                <a:uFillTx/>
                <a:latin typeface=" " charset="0"/>
                <a:ea typeface="+mn-ea"/>
                <a:cs typeface="Times New Roman" panose="02020603050405020304" pitchFamily="18" charset="0"/>
              </a:rPr>
              <a:t>	</a:t>
            </a:r>
            <a:br>
              <a:rPr kumimoji="0" lang="en-US" altLang="el-GR" sz="2400" b="0" i="0" u="none" strike="noStrike" kern="0" cap="none" spc="0" normalizeH="0" baseline="0" noProof="0" dirty="0">
                <a:ln>
                  <a:noFill/>
                </a:ln>
                <a:solidFill>
                  <a:srgbClr val="000000"/>
                </a:solidFill>
                <a:effectLst/>
                <a:uLnTx/>
                <a:uFillTx/>
                <a:latin typeface=" " charset="0"/>
                <a:ea typeface="+mn-ea"/>
                <a:cs typeface="Times New Roman" panose="02020603050405020304" pitchFamily="18" charset="0"/>
              </a:rPr>
            </a:br>
            <a:r>
              <a:rPr kumimoji="0" lang="en-US" altLang="el-GR" sz="2400" b="0" i="0" u="none" strike="noStrike" kern="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rPr>
              <a:t>}</a:t>
            </a:r>
            <a:br>
              <a:rPr kumimoji="0" lang="en-US" altLang="el-GR" b="0" i="0" u="none" strike="noStrike" kern="0" cap="none" spc="0" normalizeH="0" baseline="0" noProof="0" dirty="0">
                <a:ln>
                  <a:noFill/>
                </a:ln>
                <a:solidFill>
                  <a:srgbClr val="000000"/>
                </a:solidFill>
                <a:effectLst/>
                <a:uLnTx/>
                <a:uFillTx/>
                <a:latin typeface=" " charset="0"/>
                <a:ea typeface="+mn-ea"/>
                <a:cs typeface="Times New Roman" panose="02020603050405020304" pitchFamily="18" charset="0"/>
              </a:rPr>
            </a:br>
            <a:br>
              <a:rPr kumimoji="0" lang="en-US" altLang="el-GR" b="0" i="0" u="none" strike="noStrike" kern="0" cap="none" spc="0" normalizeH="0" baseline="0" noProof="0" dirty="0">
                <a:ln>
                  <a:noFill/>
                </a:ln>
                <a:solidFill>
                  <a:srgbClr val="000000"/>
                </a:solidFill>
                <a:effectLst/>
                <a:uLnTx/>
                <a:uFillTx/>
                <a:latin typeface=" " charset="0"/>
                <a:ea typeface="+mn-ea"/>
                <a:cs typeface="Times New Roman" panose="02020603050405020304" pitchFamily="18" charset="0"/>
              </a:rPr>
            </a:br>
            <a:endParaRPr kumimoji="0" lang="en-GB" altLang="el-GR" b="0" i="0" u="none" strike="noStrike" kern="0" cap="none" spc="0" normalizeH="0" baseline="0" noProof="0" dirty="0">
              <a:ln>
                <a:noFill/>
              </a:ln>
              <a:solidFill>
                <a:srgbClr val="000000"/>
              </a:solidFill>
              <a:effectLst/>
              <a:uLnTx/>
              <a:uFillTx/>
              <a:latin typeface=" " charset="0"/>
              <a:ea typeface="+mn-ea"/>
              <a:cs typeface="Times New Roman" panose="02020603050405020304" pitchFamily="18" charset="0"/>
            </a:endParaRPr>
          </a:p>
        </p:txBody>
      </p:sp>
      <p:sp>
        <p:nvSpPr>
          <p:cNvPr id="5" name="AutoShape 6">
            <a:extLst>
              <a:ext uri="{FF2B5EF4-FFF2-40B4-BE49-F238E27FC236}">
                <a16:creationId xmlns:a16="http://schemas.microsoft.com/office/drawing/2014/main" id="{8434F513-4D6C-89D9-30A1-D9449118442F}"/>
              </a:ext>
            </a:extLst>
          </p:cNvPr>
          <p:cNvSpPr>
            <a:spLocks noChangeArrowheads="1"/>
          </p:cNvSpPr>
          <p:nvPr/>
        </p:nvSpPr>
        <p:spPr bwMode="auto">
          <a:xfrm rot="19788051">
            <a:off x="8136303" y="2621648"/>
            <a:ext cx="2578100" cy="1206500"/>
          </a:xfrm>
          <a:prstGeom prst="star16">
            <a:avLst>
              <a:gd name="adj" fmla="val 37500"/>
            </a:avLst>
          </a:prstGeom>
          <a:solidFill>
            <a:srgbClr val="FF0000"/>
          </a:solidFill>
          <a:ln w="12700">
            <a:solidFill>
              <a:srgbClr val="000000"/>
            </a:solidFill>
            <a:miter lim="800000"/>
            <a:headEnd/>
            <a:tailEnd/>
          </a:ln>
        </p:spPr>
        <p:txBody>
          <a:bodyPr wrap="none" lIns="92075" tIns="46038" rIns="92075" bIns="46038"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GB" altLang="el-GR" sz="2400" b="1" i="0" u="none" strike="noStrike" kern="0" cap="none" spc="0" normalizeH="0" baseline="0" noProof="0" dirty="0">
                <a:ln>
                  <a:noFill/>
                </a:ln>
                <a:solidFill>
                  <a:srgbClr val="FFFFFF"/>
                </a:solidFill>
                <a:effectLst/>
                <a:uLnTx/>
                <a:uFillTx/>
                <a:latin typeface="Times New Roman" panose="02020603050405020304" pitchFamily="18" charset="0"/>
              </a:rPr>
              <a:t>method </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GB" altLang="el-GR" sz="2400" b="1" i="0" u="none" strike="noStrike" kern="0" cap="none" spc="0" normalizeH="0" baseline="0" noProof="0" dirty="0">
                <a:ln>
                  <a:noFill/>
                </a:ln>
                <a:solidFill>
                  <a:srgbClr val="FFFFFF"/>
                </a:solidFill>
                <a:effectLst/>
                <a:uLnTx/>
                <a:uFillTx/>
                <a:latin typeface="Times New Roman" panose="02020603050405020304" pitchFamily="18" charset="0"/>
              </a:rPr>
              <a:t>overloading</a:t>
            </a:r>
          </a:p>
        </p:txBody>
      </p:sp>
    </p:spTree>
    <p:extLst>
      <p:ext uri="{BB962C8B-B14F-4D97-AF65-F5344CB8AC3E}">
        <p14:creationId xmlns:p14="http://schemas.microsoft.com/office/powerpoint/2010/main" val="239159520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4)">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n-US" sz="4000" b="1" dirty="0">
                <a:solidFill>
                  <a:srgbClr val="F9853D"/>
                </a:solidFill>
                <a:latin typeface="Bahnschrift" panose="020B0502040204020203" pitchFamily="34" charset="0"/>
              </a:rPr>
              <a:t>H </a:t>
            </a:r>
            <a:r>
              <a:rPr lang="el-GR" sz="4000" b="1" dirty="0">
                <a:solidFill>
                  <a:srgbClr val="F9853D"/>
                </a:solidFill>
                <a:latin typeface="Bahnschrift" panose="020B0502040204020203" pitchFamily="34" charset="0"/>
              </a:rPr>
              <a:t>μέθοδος </a:t>
            </a:r>
            <a:r>
              <a:rPr lang="en-US" sz="4000" b="1" dirty="0" err="1">
                <a:solidFill>
                  <a:srgbClr val="F9853D"/>
                </a:solidFill>
                <a:latin typeface="Bahnschrift" panose="020B0502040204020203" pitchFamily="34" charset="0"/>
              </a:rPr>
              <a:t>toString</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3" name="Rectangle 2">
            <a:extLst>
              <a:ext uri="{FF2B5EF4-FFF2-40B4-BE49-F238E27FC236}">
                <a16:creationId xmlns:a16="http://schemas.microsoft.com/office/drawing/2014/main" id="{3484F41C-DD3D-1448-7327-01170DFB9BD2}"/>
              </a:ext>
            </a:extLst>
          </p:cNvPr>
          <p:cNvSpPr/>
          <p:nvPr/>
        </p:nvSpPr>
        <p:spPr>
          <a:xfrm>
            <a:off x="0" y="712616"/>
            <a:ext cx="9425353" cy="1234630"/>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l-GR" sz="3200" b="1" i="1" dirty="0">
                <a:solidFill>
                  <a:srgbClr val="C00000"/>
                </a:solidFill>
                <a:effectLst/>
                <a:latin typeface="Calibri" panose="020F0502020204030204" pitchFamily="34" charset="0"/>
                <a:ea typeface="Calibri" panose="020F0502020204030204" pitchFamily="34" charset="0"/>
                <a:cs typeface="Calibri" panose="020F0502020204030204" pitchFamily="34" charset="0"/>
              </a:rPr>
              <a:t>Δραστηριότητα 4.</a:t>
            </a:r>
            <a:r>
              <a:rPr lang="en-US" sz="3200" b="1" i="1" dirty="0">
                <a:solidFill>
                  <a:srgbClr val="C00000"/>
                </a:solidFill>
                <a:effectLst/>
                <a:latin typeface="Calibri" panose="020F0502020204030204" pitchFamily="34" charset="0"/>
                <a:ea typeface="Calibri" panose="020F0502020204030204" pitchFamily="34" charset="0"/>
                <a:cs typeface="Calibri" panose="020F0502020204030204" pitchFamily="34" charset="0"/>
              </a:rPr>
              <a:t>4</a:t>
            </a:r>
            <a:r>
              <a:rPr lang="el-GR" sz="3200" b="1" i="1" dirty="0">
                <a:solidFill>
                  <a:srgbClr val="C00000"/>
                </a:solidFill>
                <a:effectLst/>
                <a:latin typeface="Calibri" panose="020F0502020204030204" pitchFamily="34" charset="0"/>
                <a:ea typeface="Calibri" panose="020F0502020204030204" pitchFamily="34" charset="0"/>
                <a:cs typeface="Calibri" panose="020F0502020204030204" pitchFamily="34" charset="0"/>
              </a:rPr>
              <a:t> </a:t>
            </a:r>
            <a:endParaRPr lang="en-US" sz="3200" b="1" i="1" dirty="0">
              <a:solidFill>
                <a:srgbClr val="C00000"/>
              </a:solidFill>
              <a:effectLst/>
              <a:latin typeface="Calibri" panose="020F0502020204030204" pitchFamily="34" charset="0"/>
              <a:ea typeface="Calibri" panose="020F0502020204030204" pitchFamily="34" charset="0"/>
              <a:cs typeface="Calibri" panose="020F0502020204030204" pitchFamily="34" charset="0"/>
            </a:endParaRPr>
          </a:p>
          <a:p>
            <a:pPr algn="just"/>
            <a:r>
              <a:rPr lang="en-US" sz="3200" b="1" i="1" dirty="0" err="1">
                <a:solidFill>
                  <a:srgbClr val="C00000"/>
                </a:solidFill>
                <a:latin typeface="Calibri" panose="020F0502020204030204" pitchFamily="34" charset="0"/>
                <a:ea typeface="Calibri" panose="020F0502020204030204" pitchFamily="34" charset="0"/>
                <a:cs typeface="Calibri" panose="020F0502020204030204" pitchFamily="34" charset="0"/>
              </a:rPr>
              <a:t>System.out.println</a:t>
            </a:r>
            <a:r>
              <a:rPr lang="en-US" sz="3200" b="1" i="1" dirty="0">
                <a:solidFill>
                  <a:srgbClr val="C00000"/>
                </a:solidFill>
                <a:latin typeface="Calibri" panose="020F0502020204030204" pitchFamily="34" charset="0"/>
                <a:ea typeface="Calibri" panose="020F0502020204030204" pitchFamily="34" charset="0"/>
                <a:cs typeface="Calibri" panose="020F0502020204030204" pitchFamily="34" charset="0"/>
              </a:rPr>
              <a:t>("Stack status: " + </a:t>
            </a:r>
            <a:r>
              <a:rPr lang="en-US" sz="3200" b="1" i="1" dirty="0" err="1">
                <a:solidFill>
                  <a:srgbClr val="C00000"/>
                </a:solidFill>
                <a:latin typeface="Calibri" panose="020F0502020204030204" pitchFamily="34" charset="0"/>
                <a:ea typeface="Calibri" panose="020F0502020204030204" pitchFamily="34" charset="0"/>
                <a:cs typeface="Calibri" panose="020F0502020204030204" pitchFamily="34" charset="0"/>
              </a:rPr>
              <a:t>st</a:t>
            </a:r>
            <a:r>
              <a:rPr lang="en-US" sz="3200" b="1" i="1" dirty="0">
                <a:solidFill>
                  <a:srgbClr val="C00000"/>
                </a:solidFill>
                <a:latin typeface="Calibri" panose="020F0502020204030204" pitchFamily="34" charset="0"/>
                <a:ea typeface="Calibri" panose="020F0502020204030204" pitchFamily="34" charset="0"/>
                <a:cs typeface="Calibri" panose="020F0502020204030204" pitchFamily="34" charset="0"/>
              </a:rPr>
              <a:t>)</a:t>
            </a:r>
            <a:endParaRPr lang="el-GR" sz="2800" b="1" i="1" dirty="0">
              <a:solidFill>
                <a:srgbClr val="C00000"/>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EC730D82-FE62-6C6D-7040-895EE6527DFF}"/>
              </a:ext>
            </a:extLst>
          </p:cNvPr>
          <p:cNvSpPr txBox="1"/>
          <p:nvPr/>
        </p:nvSpPr>
        <p:spPr>
          <a:xfrm>
            <a:off x="0" y="2286169"/>
            <a:ext cx="7194568" cy="2062103"/>
          </a:xfrm>
          <a:prstGeom prst="rect">
            <a:avLst/>
          </a:prstGeom>
          <a:noFill/>
        </p:spPr>
        <p:txBody>
          <a:bodyPr wrap="square" rtlCol="0">
            <a:spAutoFit/>
          </a:bodyPr>
          <a:lstStyle/>
          <a:p>
            <a:r>
              <a:rPr lang="el-GR" sz="3200" i="1" dirty="0">
                <a:solidFill>
                  <a:srgbClr val="000000"/>
                </a:solidFill>
                <a:latin typeface="Calibri" panose="020F0502020204030204" pitchFamily="34" charset="0"/>
              </a:rPr>
              <a:t>Κάντε μια προσπάθεια να αναγνωρίσετε ποια από τις </a:t>
            </a:r>
            <a:r>
              <a:rPr lang="el-GR" sz="3200" i="1" dirty="0" err="1">
                <a:solidFill>
                  <a:srgbClr val="000000"/>
                </a:solidFill>
                <a:latin typeface="Calibri" panose="020F0502020204030204" pitchFamily="34" charset="0"/>
              </a:rPr>
              <a:t>println</a:t>
            </a:r>
            <a:r>
              <a:rPr lang="el-GR" sz="3200" i="1" dirty="0">
                <a:solidFill>
                  <a:srgbClr val="000000"/>
                </a:solidFill>
                <a:latin typeface="Calibri" panose="020F0502020204030204" pitchFamily="34" charset="0"/>
              </a:rPr>
              <a:t>() της</a:t>
            </a:r>
            <a:r>
              <a:rPr lang="en-US" sz="3200" i="1" dirty="0">
                <a:solidFill>
                  <a:srgbClr val="000000"/>
                </a:solidFill>
                <a:latin typeface="Calibri" panose="020F0502020204030204" pitchFamily="34" charset="0"/>
              </a:rPr>
              <a:t> </a:t>
            </a:r>
            <a:r>
              <a:rPr lang="el-GR" sz="3200" i="1" dirty="0" err="1">
                <a:solidFill>
                  <a:srgbClr val="000000"/>
                </a:solidFill>
                <a:latin typeface="Calibri" panose="020F0502020204030204" pitchFamily="34" charset="0"/>
              </a:rPr>
              <a:t>PrintStream</a:t>
            </a:r>
            <a:r>
              <a:rPr lang="el-GR" sz="3200" i="1" dirty="0">
                <a:solidFill>
                  <a:srgbClr val="000000"/>
                </a:solidFill>
                <a:latin typeface="Calibri" panose="020F0502020204030204" pitchFamily="34" charset="0"/>
              </a:rPr>
              <a:t> καλεί το σύστημα με βάση την παρακάτω πρόταση της </a:t>
            </a:r>
            <a:r>
              <a:rPr lang="el-GR" sz="3200" i="1" dirty="0" err="1">
                <a:solidFill>
                  <a:srgbClr val="000000"/>
                </a:solidFill>
                <a:latin typeface="Calibri" panose="020F0502020204030204" pitchFamily="34" charset="0"/>
              </a:rPr>
              <a:t>main</a:t>
            </a:r>
            <a:r>
              <a:rPr lang="el-GR" sz="3200" i="1" dirty="0">
                <a:solidFill>
                  <a:srgbClr val="000000"/>
                </a:solidFill>
                <a:latin typeface="Calibri" panose="020F0502020204030204" pitchFamily="34" charset="0"/>
              </a:rPr>
              <a:t>()</a:t>
            </a:r>
          </a:p>
        </p:txBody>
      </p:sp>
      <p:sp>
        <p:nvSpPr>
          <p:cNvPr id="6" name="Θέση υποσέλιδου 4">
            <a:extLst>
              <a:ext uri="{FF2B5EF4-FFF2-40B4-BE49-F238E27FC236}">
                <a16:creationId xmlns:a16="http://schemas.microsoft.com/office/drawing/2014/main" id="{42794CCD-7D7B-3457-056E-59A486682C31}"/>
              </a:ext>
            </a:extLst>
          </p:cNvPr>
          <p:cNvSpPr txBox="1">
            <a:spLocks/>
          </p:cNvSpPr>
          <p:nvPr/>
        </p:nvSpPr>
        <p:spPr>
          <a:xfrm>
            <a:off x="3305908" y="6559909"/>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LEGO Approach – Part B</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pic>
        <p:nvPicPr>
          <p:cNvPr id="7" name="Picture 6">
            <a:extLst>
              <a:ext uri="{FF2B5EF4-FFF2-40B4-BE49-F238E27FC236}">
                <a16:creationId xmlns:a16="http://schemas.microsoft.com/office/drawing/2014/main" id="{E99D636B-9BD9-FC1F-A9C3-E18479E7C90B}"/>
              </a:ext>
            </a:extLst>
          </p:cNvPr>
          <p:cNvPicPr>
            <a:picLocks noChangeAspect="1"/>
          </p:cNvPicPr>
          <p:nvPr/>
        </p:nvPicPr>
        <p:blipFill>
          <a:blip r:embed="rId3"/>
          <a:stretch>
            <a:fillRect/>
          </a:stretch>
        </p:blipFill>
        <p:spPr>
          <a:xfrm>
            <a:off x="6923382" y="692362"/>
            <a:ext cx="5268618" cy="2401711"/>
          </a:xfrm>
          <a:prstGeom prst="rect">
            <a:avLst/>
          </a:prstGeom>
        </p:spPr>
      </p:pic>
      <p:sp>
        <p:nvSpPr>
          <p:cNvPr id="9" name="TextBox 8">
            <a:extLst>
              <a:ext uri="{FF2B5EF4-FFF2-40B4-BE49-F238E27FC236}">
                <a16:creationId xmlns:a16="http://schemas.microsoft.com/office/drawing/2014/main" id="{AED406A0-FE1F-F5FD-C448-9A6A9A1D4655}"/>
              </a:ext>
            </a:extLst>
          </p:cNvPr>
          <p:cNvSpPr txBox="1"/>
          <p:nvPr/>
        </p:nvSpPr>
        <p:spPr>
          <a:xfrm>
            <a:off x="170121" y="4518837"/>
            <a:ext cx="8310616" cy="830997"/>
          </a:xfrm>
          <a:prstGeom prst="rect">
            <a:avLst/>
          </a:prstGeom>
          <a:noFill/>
        </p:spPr>
        <p:txBody>
          <a:bodyPr wrap="square" rtlCol="0">
            <a:spAutoFit/>
          </a:bodyPr>
          <a:lstStyle/>
          <a:p>
            <a:r>
              <a:rPr lang="el-GR" sz="2400" b="1" i="1" dirty="0" err="1">
                <a:solidFill>
                  <a:srgbClr val="000000"/>
                </a:solidFill>
                <a:latin typeface="Courier New" panose="02070309020205020404" pitchFamily="49" charset="0"/>
                <a:cs typeface="Courier New" panose="02070309020205020404" pitchFamily="49" charset="0"/>
              </a:rPr>
              <a:t>System.out.println</a:t>
            </a:r>
            <a:r>
              <a:rPr lang="el-GR" sz="2400" b="1" i="1" dirty="0">
                <a:solidFill>
                  <a:srgbClr val="000000"/>
                </a:solidFill>
                <a:latin typeface="Courier New" panose="02070309020205020404" pitchFamily="49" charset="0"/>
                <a:cs typeface="Courier New" panose="02070309020205020404" pitchFamily="49" charset="0"/>
              </a:rPr>
              <a:t>("</a:t>
            </a:r>
            <a:r>
              <a:rPr lang="el-GR" sz="2400" b="1" i="1" dirty="0" err="1">
                <a:solidFill>
                  <a:srgbClr val="000000"/>
                </a:solidFill>
                <a:latin typeface="Courier New" panose="02070309020205020404" pitchFamily="49" charset="0"/>
                <a:cs typeface="Courier New" panose="02070309020205020404" pitchFamily="49" charset="0"/>
              </a:rPr>
              <a:t>Stack</a:t>
            </a:r>
            <a:r>
              <a:rPr lang="el-GR" sz="2400" b="1" i="1" dirty="0">
                <a:solidFill>
                  <a:srgbClr val="000000"/>
                </a:solidFill>
                <a:latin typeface="Courier New" panose="02070309020205020404" pitchFamily="49" charset="0"/>
                <a:cs typeface="Courier New" panose="02070309020205020404" pitchFamily="49" charset="0"/>
              </a:rPr>
              <a:t> status: " + </a:t>
            </a:r>
            <a:r>
              <a:rPr lang="el-GR" sz="2400" b="1" i="1" dirty="0" err="1">
                <a:solidFill>
                  <a:srgbClr val="000000"/>
                </a:solidFill>
                <a:latin typeface="Courier New" panose="02070309020205020404" pitchFamily="49" charset="0"/>
                <a:cs typeface="Courier New" panose="02070309020205020404" pitchFamily="49" charset="0"/>
              </a:rPr>
              <a:t>st</a:t>
            </a:r>
            <a:r>
              <a:rPr lang="el-GR" sz="2400" b="1" i="1" dirty="0">
                <a:solidFill>
                  <a:srgbClr val="000000"/>
                </a:solidFill>
                <a:latin typeface="Courier New" panose="02070309020205020404" pitchFamily="49" charset="0"/>
                <a:cs typeface="Courier New" panose="02070309020205020404" pitchFamily="49" charset="0"/>
              </a:rPr>
              <a:t>); </a:t>
            </a:r>
            <a:endParaRPr lang="el-GR" sz="2400" b="1" dirty="0">
              <a:latin typeface="Courier New" panose="02070309020205020404" pitchFamily="49" charset="0"/>
              <a:cs typeface="Courier New" panose="02070309020205020404" pitchFamily="49" charset="0"/>
            </a:endParaRPr>
          </a:p>
          <a:p>
            <a:endParaRPr lang="el-GR" sz="2400" dirty="0"/>
          </a:p>
        </p:txBody>
      </p:sp>
      <p:pic>
        <p:nvPicPr>
          <p:cNvPr id="13" name="Picture 12">
            <a:extLst>
              <a:ext uri="{FF2B5EF4-FFF2-40B4-BE49-F238E27FC236}">
                <a16:creationId xmlns:a16="http://schemas.microsoft.com/office/drawing/2014/main" id="{C3DC4427-762B-6BBB-FEC3-4D6BBED878CC}"/>
              </a:ext>
            </a:extLst>
          </p:cNvPr>
          <p:cNvPicPr>
            <a:picLocks noChangeAspect="1"/>
          </p:cNvPicPr>
          <p:nvPr/>
        </p:nvPicPr>
        <p:blipFill>
          <a:blip r:embed="rId4"/>
          <a:stretch>
            <a:fillRect/>
          </a:stretch>
        </p:blipFill>
        <p:spPr>
          <a:xfrm>
            <a:off x="7989832" y="4825599"/>
            <a:ext cx="4202167" cy="1726709"/>
          </a:xfrm>
          <a:prstGeom prst="rect">
            <a:avLst/>
          </a:prstGeom>
        </p:spPr>
      </p:pic>
      <p:pic>
        <p:nvPicPr>
          <p:cNvPr id="15" name="Picture 14">
            <a:extLst>
              <a:ext uri="{FF2B5EF4-FFF2-40B4-BE49-F238E27FC236}">
                <a16:creationId xmlns:a16="http://schemas.microsoft.com/office/drawing/2014/main" id="{DA378DD0-FE6C-9990-B32D-C31F7AF14218}"/>
              </a:ext>
            </a:extLst>
          </p:cNvPr>
          <p:cNvPicPr>
            <a:picLocks noChangeAspect="1"/>
          </p:cNvPicPr>
          <p:nvPr/>
        </p:nvPicPr>
        <p:blipFill>
          <a:blip r:embed="rId5"/>
          <a:stretch>
            <a:fillRect/>
          </a:stretch>
        </p:blipFill>
        <p:spPr>
          <a:xfrm>
            <a:off x="-1" y="5389319"/>
            <a:ext cx="7809835" cy="1149499"/>
          </a:xfrm>
          <a:prstGeom prst="rect">
            <a:avLst/>
          </a:prstGeom>
        </p:spPr>
      </p:pic>
    </p:spTree>
    <p:extLst>
      <p:ext uri="{BB962C8B-B14F-4D97-AF65-F5344CB8AC3E}">
        <p14:creationId xmlns:p14="http://schemas.microsoft.com/office/powerpoint/2010/main" val="324317155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Οργάνωση Διάλεξης</a:t>
            </a: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6" name="Rectangle 3">
            <a:extLst>
              <a:ext uri="{FF2B5EF4-FFF2-40B4-BE49-F238E27FC236}">
                <a16:creationId xmlns:a16="http://schemas.microsoft.com/office/drawing/2014/main" id="{DA6131CC-51AC-7772-5DFB-DAF535789200}"/>
              </a:ext>
            </a:extLst>
          </p:cNvPr>
          <p:cNvSpPr txBox="1">
            <a:spLocks noChangeArrowheads="1"/>
          </p:cNvSpPr>
          <p:nvPr/>
        </p:nvSpPr>
        <p:spPr bwMode="auto">
          <a:xfrm>
            <a:off x="224208" y="1081628"/>
            <a:ext cx="10165491" cy="50765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a:lstStyle>
          <a:p>
            <a:pPr marL="514350" indent="-457200" eaLnBrk="1" hangingPunct="1">
              <a:buClr>
                <a:schemeClr val="hlink"/>
              </a:buClr>
              <a:defRPr/>
            </a:pPr>
            <a:r>
              <a:rPr lang="el-GR" dirty="0">
                <a:latin typeface="Tahoma" panose="020B0604030504040204" pitchFamily="34" charset="0"/>
                <a:ea typeface="Tahoma" panose="020B0604030504040204" pitchFamily="34" charset="0"/>
                <a:cs typeface="Tahoma" panose="020B0604030504040204" pitchFamily="34" charset="0"/>
              </a:rPr>
              <a:t>Αφαιρετική περιγραφή συμπεριφοράς</a:t>
            </a:r>
          </a:p>
          <a:p>
            <a:pPr marL="914400" lvl="1" indent="-457200" eaLnBrk="1" hangingPunct="1">
              <a:defRPr/>
            </a:pPr>
            <a:r>
              <a:rPr lang="en-US" dirty="0">
                <a:latin typeface="Tahoma" panose="020B0604030504040204" pitchFamily="34" charset="0"/>
                <a:ea typeface="Tahoma" panose="020B0604030504040204" pitchFamily="34" charset="0"/>
                <a:cs typeface="Tahoma" panose="020B0604030504040204" pitchFamily="34" charset="0"/>
              </a:rPr>
              <a:t>Object Interaction Diagram/Sequence Diagram</a:t>
            </a:r>
            <a:endParaRPr lang="el-GR" dirty="0">
              <a:latin typeface="Tahoma" panose="020B0604030504040204" pitchFamily="34" charset="0"/>
              <a:ea typeface="Tahoma" panose="020B0604030504040204" pitchFamily="34" charset="0"/>
              <a:cs typeface="Tahoma" panose="020B0604030504040204" pitchFamily="34" charset="0"/>
            </a:endParaRPr>
          </a:p>
          <a:p>
            <a:pPr marL="514350" indent="-457200" eaLnBrk="1" hangingPunct="1">
              <a:buClr>
                <a:schemeClr val="hlink"/>
              </a:buClr>
              <a:defRPr/>
            </a:pPr>
            <a:r>
              <a:rPr lang="el-GR" dirty="0">
                <a:latin typeface="Tahoma" panose="020B0604030504040204" pitchFamily="34" charset="0"/>
                <a:ea typeface="Tahoma" panose="020B0604030504040204" pitchFamily="34" charset="0"/>
                <a:cs typeface="Tahoma" panose="020B0604030504040204" pitchFamily="34" charset="0"/>
              </a:rPr>
              <a:t>Η άσκηση </a:t>
            </a:r>
            <a:r>
              <a:rPr lang="en-US" dirty="0">
                <a:latin typeface="Tahoma" panose="020B0604030504040204" pitchFamily="34" charset="0"/>
                <a:ea typeface="Tahoma" panose="020B0604030504040204" pitchFamily="34" charset="0"/>
                <a:cs typeface="Tahoma" panose="020B0604030504040204" pitchFamily="34" charset="0"/>
              </a:rPr>
              <a:t>Calc</a:t>
            </a:r>
            <a:endParaRPr lang="el-GR" dirty="0">
              <a:latin typeface="Tahoma" panose="020B0604030504040204" pitchFamily="34" charset="0"/>
              <a:ea typeface="Tahoma" panose="020B0604030504040204" pitchFamily="34" charset="0"/>
              <a:cs typeface="Tahoma" panose="020B0604030504040204" pitchFamily="34" charset="0"/>
            </a:endParaRPr>
          </a:p>
          <a:p>
            <a:pPr marL="914400" lvl="1" indent="-457200" eaLnBrk="1" hangingPunct="1">
              <a:defRPr/>
            </a:pPr>
            <a:r>
              <a:rPr lang="el-GR" dirty="0">
                <a:latin typeface="Tahoma" panose="020B0604030504040204" pitchFamily="34" charset="0"/>
                <a:ea typeface="Tahoma" panose="020B0604030504040204" pitchFamily="34" charset="0"/>
                <a:cs typeface="Tahoma" panose="020B0604030504040204" pitchFamily="34" charset="0"/>
              </a:rPr>
              <a:t>Αναγνώριση αντικειμένων (δομή προγράμματος)</a:t>
            </a:r>
            <a:endParaRPr lang="en-US" dirty="0">
              <a:latin typeface="Tahoma" panose="020B0604030504040204" pitchFamily="34" charset="0"/>
              <a:ea typeface="Tahoma" panose="020B0604030504040204" pitchFamily="34" charset="0"/>
              <a:cs typeface="Tahoma" panose="020B0604030504040204" pitchFamily="34" charset="0"/>
            </a:endParaRPr>
          </a:p>
          <a:p>
            <a:pPr marL="514350" indent="-457200" eaLnBrk="1" hangingPunct="1">
              <a:buClr>
                <a:schemeClr val="hlink"/>
              </a:buClr>
              <a:defRPr/>
            </a:pPr>
            <a:r>
              <a:rPr lang="en-US" dirty="0">
                <a:latin typeface="Tahoma" panose="020B0604030504040204" pitchFamily="34" charset="0"/>
                <a:ea typeface="Tahoma" panose="020B0604030504040204" pitchFamily="34" charset="0"/>
                <a:cs typeface="Tahoma" panose="020B0604030504040204" pitchFamily="34" charset="0"/>
              </a:rPr>
              <a:t>To </a:t>
            </a:r>
            <a:r>
              <a:rPr lang="el-GR" dirty="0">
                <a:latin typeface="Tahoma" panose="020B0604030504040204" pitchFamily="34" charset="0"/>
                <a:ea typeface="Tahoma" panose="020B0604030504040204" pitchFamily="34" charset="0"/>
                <a:cs typeface="Tahoma" panose="020B0604030504040204" pitchFamily="34" charset="0"/>
              </a:rPr>
              <a:t>πρόγραμμα </a:t>
            </a:r>
            <a:r>
              <a:rPr lang="en-US" dirty="0">
                <a:latin typeface="Tahoma" panose="020B0604030504040204" pitchFamily="34" charset="0"/>
                <a:ea typeface="Tahoma" panose="020B0604030504040204" pitchFamily="34" charset="0"/>
                <a:cs typeface="Tahoma" panose="020B0604030504040204" pitchFamily="34" charset="0"/>
              </a:rPr>
              <a:t>Calc</a:t>
            </a:r>
            <a:r>
              <a:rPr lang="el-GR" dirty="0">
                <a:latin typeface="Tahoma" panose="020B0604030504040204" pitchFamily="34" charset="0"/>
                <a:ea typeface="Tahoma" panose="020B0604030504040204" pitchFamily="34" charset="0"/>
                <a:cs typeface="Tahoma" panose="020B0604030504040204" pitchFamily="34" charset="0"/>
              </a:rPr>
              <a:t> (1</a:t>
            </a:r>
            <a:r>
              <a:rPr lang="el-GR" baseline="30000" dirty="0">
                <a:latin typeface="Tahoma" panose="020B0604030504040204" pitchFamily="34" charset="0"/>
                <a:ea typeface="Tahoma" panose="020B0604030504040204" pitchFamily="34" charset="0"/>
                <a:cs typeface="Tahoma" panose="020B0604030504040204" pitchFamily="34" charset="0"/>
              </a:rPr>
              <a:t>η</a:t>
            </a:r>
            <a:r>
              <a:rPr lang="el-GR" dirty="0">
                <a:latin typeface="Tahoma" panose="020B0604030504040204" pitchFamily="34" charset="0"/>
                <a:ea typeface="Tahoma" panose="020B0604030504040204" pitchFamily="34" charset="0"/>
                <a:cs typeface="Tahoma" panose="020B0604030504040204" pitchFamily="34" charset="0"/>
              </a:rPr>
              <a:t> έκδοση)</a:t>
            </a:r>
          </a:p>
          <a:p>
            <a:pPr marL="914400" lvl="1" indent="-457200" eaLnBrk="1" hangingPunct="1">
              <a:defRPr/>
            </a:pPr>
            <a:r>
              <a:rPr lang="en-US" dirty="0">
                <a:latin typeface="Tahoma" panose="020B0604030504040204" pitchFamily="34" charset="0"/>
                <a:ea typeface="Tahoma" panose="020B0604030504040204" pitchFamily="34" charset="0"/>
                <a:cs typeface="Tahoma" panose="020B0604030504040204" pitchFamily="34" charset="0"/>
              </a:rPr>
              <a:t>Generics – </a:t>
            </a:r>
            <a:r>
              <a:rPr lang="en-US" dirty="0" err="1">
                <a:latin typeface="Tahoma" panose="020B0604030504040204" pitchFamily="34" charset="0"/>
                <a:ea typeface="Tahoma" panose="020B0604030504040204" pitchFamily="34" charset="0"/>
                <a:cs typeface="Tahoma" panose="020B0604030504040204" pitchFamily="34" charset="0"/>
              </a:rPr>
              <a:t>java.util.Stack</a:t>
            </a:r>
            <a:r>
              <a:rPr lang="en-US" dirty="0">
                <a:latin typeface="Tahoma" panose="020B0604030504040204" pitchFamily="34" charset="0"/>
                <a:ea typeface="Tahoma" panose="020B0604030504040204" pitchFamily="34" charset="0"/>
                <a:cs typeface="Tahoma" panose="020B0604030504040204" pitchFamily="34" charset="0"/>
              </a:rPr>
              <a:t>&lt;E&gt;</a:t>
            </a:r>
          </a:p>
          <a:p>
            <a:pPr marL="914400" lvl="1" indent="-457200" eaLnBrk="1" hangingPunct="1">
              <a:defRPr/>
            </a:pPr>
            <a:r>
              <a:rPr lang="el-GR" dirty="0">
                <a:latin typeface="Tahoma" panose="020B0604030504040204" pitchFamily="34" charset="0"/>
                <a:ea typeface="Tahoma" panose="020B0604030504040204" pitchFamily="34" charset="0"/>
                <a:cs typeface="Tahoma" panose="020B0604030504040204" pitchFamily="34" charset="0"/>
              </a:rPr>
              <a:t>Η μέθοδος </a:t>
            </a:r>
            <a:r>
              <a:rPr lang="en-US" dirty="0" err="1">
                <a:latin typeface="Tahoma" panose="020B0604030504040204" pitchFamily="34" charset="0"/>
                <a:ea typeface="Tahoma" panose="020B0604030504040204" pitchFamily="34" charset="0"/>
                <a:cs typeface="Tahoma" panose="020B0604030504040204" pitchFamily="34" charset="0"/>
              </a:rPr>
              <a:t>toString</a:t>
            </a:r>
            <a:endParaRPr lang="en-US" dirty="0">
              <a:latin typeface="Tahoma" panose="020B0604030504040204" pitchFamily="34" charset="0"/>
              <a:ea typeface="Tahoma" panose="020B0604030504040204" pitchFamily="34" charset="0"/>
              <a:cs typeface="Tahoma" panose="020B0604030504040204" pitchFamily="34" charset="0"/>
            </a:endParaRPr>
          </a:p>
          <a:p>
            <a:pPr marL="914400" lvl="1" indent="-457200" eaLnBrk="1" hangingPunct="1">
              <a:defRPr/>
            </a:pPr>
            <a:r>
              <a:rPr lang="en-US" dirty="0" err="1">
                <a:latin typeface="Tahoma" panose="020B0604030504040204" pitchFamily="34" charset="0"/>
                <a:ea typeface="Tahoma" panose="020B0604030504040204" pitchFamily="34" charset="0"/>
                <a:cs typeface="Tahoma" panose="020B0604030504040204" pitchFamily="34" charset="0"/>
              </a:rPr>
              <a:t>System.out.println</a:t>
            </a:r>
            <a:r>
              <a:rPr lang="en-US" dirty="0">
                <a:latin typeface="Tahoma" panose="020B0604030504040204" pitchFamily="34" charset="0"/>
                <a:ea typeface="Tahoma" panose="020B0604030504040204" pitchFamily="34" charset="0"/>
                <a:cs typeface="Tahoma" panose="020B0604030504040204" pitchFamily="34" charset="0"/>
              </a:rPr>
              <a:t>()</a:t>
            </a:r>
          </a:p>
          <a:p>
            <a:pPr marL="514350" indent="-457200" eaLnBrk="1" hangingPunct="1">
              <a:buClr>
                <a:schemeClr val="hlink"/>
              </a:buClr>
              <a:defRPr/>
            </a:pPr>
            <a:r>
              <a:rPr lang="el-GR" b="1" dirty="0">
                <a:latin typeface="Tahoma" panose="020B0604030504040204" pitchFamily="34" charset="0"/>
                <a:ea typeface="Tahoma" panose="020B0604030504040204" pitchFamily="34" charset="0"/>
                <a:cs typeface="Tahoma" panose="020B0604030504040204" pitchFamily="34" charset="0"/>
              </a:rPr>
              <a:t>Αύξηση τμηματοποίησης (</a:t>
            </a:r>
            <a:r>
              <a:rPr lang="en-US" b="1" dirty="0">
                <a:latin typeface="Tahoma" panose="020B0604030504040204" pitchFamily="34" charset="0"/>
                <a:ea typeface="Tahoma" panose="020B0604030504040204" pitchFamily="34" charset="0"/>
                <a:cs typeface="Tahoma" panose="020B0604030504040204" pitchFamily="34" charset="0"/>
              </a:rPr>
              <a:t>modularity</a:t>
            </a:r>
            <a:r>
              <a:rPr lang="el-GR" b="1" dirty="0">
                <a:latin typeface="Tahoma" panose="020B0604030504040204" pitchFamily="34" charset="0"/>
                <a:ea typeface="Tahoma" panose="020B0604030504040204" pitchFamily="34" charset="0"/>
                <a:cs typeface="Tahoma" panose="020B0604030504040204" pitchFamily="34" charset="0"/>
              </a:rPr>
              <a:t>)</a:t>
            </a:r>
          </a:p>
          <a:p>
            <a:pPr marL="514350" indent="-457200" eaLnBrk="1" hangingPunct="1">
              <a:buClr>
                <a:schemeClr val="hlink"/>
              </a:buClr>
              <a:defRPr/>
            </a:pPr>
            <a:endParaRPr lang="el-GR" dirty="0">
              <a:latin typeface="Tahoma" panose="020B0604030504040204" pitchFamily="34" charset="0"/>
              <a:ea typeface="Tahoma" panose="020B0604030504040204" pitchFamily="34" charset="0"/>
              <a:cs typeface="Tahoma" panose="020B0604030504040204" pitchFamily="34" charset="0"/>
            </a:endParaRPr>
          </a:p>
          <a:p>
            <a:pPr marL="514350" indent="-457200" eaLnBrk="1" hangingPunct="1">
              <a:defRPr/>
            </a:pPr>
            <a:endParaRPr lang="en-US" dirty="0">
              <a:latin typeface="Tahoma" panose="020B0604030504040204" pitchFamily="34" charset="0"/>
              <a:ea typeface="Tahoma" panose="020B0604030504040204" pitchFamily="34" charset="0"/>
              <a:cs typeface="Tahoma" panose="020B0604030504040204" pitchFamily="34" charset="0"/>
            </a:endParaRPr>
          </a:p>
          <a:p>
            <a:pPr marL="514350" indent="-457200" eaLnBrk="1" hangingPunct="1">
              <a:buClr>
                <a:schemeClr val="hlink"/>
              </a:buClr>
              <a:defRPr/>
            </a:pPr>
            <a:endParaRPr lang="el-GR" dirty="0">
              <a:latin typeface="Tahoma" panose="020B0604030504040204" pitchFamily="34" charset="0"/>
              <a:ea typeface="Tahoma" panose="020B0604030504040204" pitchFamily="34" charset="0"/>
              <a:cs typeface="Tahoma" panose="020B0604030504040204" pitchFamily="34" charset="0"/>
            </a:endParaRPr>
          </a:p>
        </p:txBody>
      </p:sp>
      <p:sp>
        <p:nvSpPr>
          <p:cNvPr id="3" name="Θέση υποσέλιδου 4">
            <a:extLst>
              <a:ext uri="{FF2B5EF4-FFF2-40B4-BE49-F238E27FC236}">
                <a16:creationId xmlns:a16="http://schemas.microsoft.com/office/drawing/2014/main" id="{E26DB777-2335-FA66-7A3F-D92F133E0F9D}"/>
              </a:ext>
            </a:extLst>
          </p:cNvPr>
          <p:cNvSpPr txBox="1">
            <a:spLocks/>
          </p:cNvSpPr>
          <p:nvPr/>
        </p:nvSpPr>
        <p:spPr>
          <a:xfrm>
            <a:off x="3305908" y="6559909"/>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LEGO Approach – Part B</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Tree>
    <p:extLst>
      <p:ext uri="{BB962C8B-B14F-4D97-AF65-F5344CB8AC3E}">
        <p14:creationId xmlns:p14="http://schemas.microsoft.com/office/powerpoint/2010/main" val="209802671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n-US" sz="4000" b="1" dirty="0">
                <a:solidFill>
                  <a:srgbClr val="F9853D"/>
                </a:solidFill>
                <a:latin typeface="Bahnschrift" panose="020B0502040204020203" pitchFamily="34" charset="0"/>
              </a:rPr>
              <a:t>2nd iteration - Increase reusability </a:t>
            </a:r>
            <a:r>
              <a:rPr lang="el-GR" sz="4000" b="1" dirty="0">
                <a:solidFill>
                  <a:srgbClr val="F9853D"/>
                </a:solidFill>
                <a:latin typeface="Bahnschrift" panose="020B0502040204020203" pitchFamily="34" charset="0"/>
              </a:rPr>
              <a:t>(Χρήση μεθόδου)</a:t>
            </a: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3" name="Θέση υποσέλιδου 4">
            <a:extLst>
              <a:ext uri="{FF2B5EF4-FFF2-40B4-BE49-F238E27FC236}">
                <a16:creationId xmlns:a16="http://schemas.microsoft.com/office/drawing/2014/main" id="{C84FEE0A-EC67-F275-4254-C7380CB8525E}"/>
              </a:ext>
            </a:extLst>
          </p:cNvPr>
          <p:cNvSpPr txBox="1">
            <a:spLocks/>
          </p:cNvSpPr>
          <p:nvPr/>
        </p:nvSpPr>
        <p:spPr>
          <a:xfrm>
            <a:off x="3305908" y="6559909"/>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LEGO Approach – Part B</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pic>
        <p:nvPicPr>
          <p:cNvPr id="52" name="Picture 51">
            <a:extLst>
              <a:ext uri="{FF2B5EF4-FFF2-40B4-BE49-F238E27FC236}">
                <a16:creationId xmlns:a16="http://schemas.microsoft.com/office/drawing/2014/main" id="{13B55B2A-F396-AB94-4E28-EE0FC3B4A664}"/>
              </a:ext>
            </a:extLst>
          </p:cNvPr>
          <p:cNvPicPr>
            <a:picLocks noChangeAspect="1"/>
          </p:cNvPicPr>
          <p:nvPr/>
        </p:nvPicPr>
        <p:blipFill>
          <a:blip r:embed="rId3"/>
          <a:stretch>
            <a:fillRect/>
          </a:stretch>
        </p:blipFill>
        <p:spPr>
          <a:xfrm>
            <a:off x="6318433" y="881353"/>
            <a:ext cx="5504972" cy="3321786"/>
          </a:xfrm>
          <a:prstGeom prst="rect">
            <a:avLst/>
          </a:prstGeom>
        </p:spPr>
      </p:pic>
      <p:sp>
        <p:nvSpPr>
          <p:cNvPr id="12" name="Text Box 3">
            <a:extLst>
              <a:ext uri="{FF2B5EF4-FFF2-40B4-BE49-F238E27FC236}">
                <a16:creationId xmlns:a16="http://schemas.microsoft.com/office/drawing/2014/main" id="{8A20CA49-3E2D-773E-F87C-5511578E45A0}"/>
              </a:ext>
            </a:extLst>
          </p:cNvPr>
          <p:cNvSpPr txBox="1">
            <a:spLocks noChangeArrowheads="1"/>
          </p:cNvSpPr>
          <p:nvPr/>
        </p:nvSpPr>
        <p:spPr bwMode="auto">
          <a:xfrm>
            <a:off x="0" y="823464"/>
            <a:ext cx="7488237" cy="5632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public class </a:t>
            </a:r>
            <a:r>
              <a:rPr kumimoji="0" lang="en-US" altLang="el-GR" sz="2400" b="1" i="0" u="none" strike="noStrike" kern="0" cap="none" spc="0" normalizeH="0" baseline="0" noProof="0" dirty="0">
                <a:ln>
                  <a:noFill/>
                </a:ln>
                <a:solidFill>
                  <a:srgbClr val="FF0000"/>
                </a:solidFill>
                <a:effectLst/>
                <a:uLnTx/>
                <a:uFillTx/>
                <a:latin typeface="Tahoma" panose="020B0604030504040204" pitchFamily="34" charset="0"/>
              </a:rPr>
              <a:t>Calc</a:t>
            </a: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public static void </a:t>
            </a:r>
            <a:r>
              <a:rPr kumimoji="0" lang="en-US" altLang="el-GR" sz="2400" b="1" i="0" u="none" strike="noStrike" kern="0" cap="none" spc="0" normalizeH="0" baseline="0" noProof="0" dirty="0">
                <a:ln>
                  <a:noFill/>
                </a:ln>
                <a:solidFill>
                  <a:srgbClr val="FF0000"/>
                </a:solidFill>
                <a:effectLst/>
                <a:uLnTx/>
                <a:uFillTx/>
                <a:latin typeface="Tahoma" panose="020B0604030504040204" pitchFamily="34" charset="0"/>
              </a:rPr>
              <a:t>main</a:t>
            </a: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d1 = new Double(20);</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d2 = new Double(40);</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a:t>
            </a:r>
            <a:r>
              <a:rPr kumimoji="0" lang="en-US" altLang="el-GR" sz="2400" b="0" i="0" u="none" strike="noStrike" kern="0" cap="none" spc="0" normalizeH="0" baseline="0" noProof="0" dirty="0" err="1">
                <a:ln>
                  <a:noFill/>
                </a:ln>
                <a:solidFill>
                  <a:srgbClr val="000000"/>
                </a:solidFill>
                <a:effectLst/>
                <a:uLnTx/>
                <a:uFillTx/>
                <a:latin typeface="Tahoma" panose="020B0604030504040204" pitchFamily="34" charset="0"/>
              </a:rPr>
              <a:t>st</a:t>
            </a: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 new Stack&lt;Double&gt;();</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a:t>
            </a:r>
            <a:r>
              <a:rPr kumimoji="0" lang="en-US" altLang="el-GR" sz="2400" b="0" i="0" u="none" strike="noStrike" kern="0" cap="none" spc="0" normalizeH="0" baseline="0" noProof="0" dirty="0" err="1">
                <a:ln>
                  <a:noFill/>
                </a:ln>
                <a:solidFill>
                  <a:srgbClr val="000000"/>
                </a:solidFill>
                <a:effectLst/>
                <a:uLnTx/>
                <a:uFillTx/>
                <a:latin typeface="Tahoma" panose="020B0604030504040204" pitchFamily="34" charset="0"/>
              </a:rPr>
              <a:t>st.push</a:t>
            </a: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(d1);</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a:t>
            </a:r>
            <a:r>
              <a:rPr kumimoji="0" lang="en-US" altLang="el-GR" sz="2400" b="0" i="0" u="none" strike="noStrike" kern="0" cap="none" spc="0" normalizeH="0" baseline="0" noProof="0" dirty="0" err="1">
                <a:ln>
                  <a:noFill/>
                </a:ln>
                <a:solidFill>
                  <a:srgbClr val="000000"/>
                </a:solidFill>
                <a:effectLst/>
                <a:uLnTx/>
                <a:uFillTx/>
                <a:latin typeface="Tahoma" panose="020B0604030504040204" pitchFamily="34" charset="0"/>
              </a:rPr>
              <a:t>st.push</a:t>
            </a: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(d2);</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Double d3 = </a:t>
            </a:r>
            <a:r>
              <a:rPr kumimoji="0" lang="en-US" altLang="el-GR" sz="2400" b="0" i="0" u="none" strike="noStrike" kern="0" cap="none" spc="0" normalizeH="0" baseline="0" noProof="0" dirty="0" err="1">
                <a:ln>
                  <a:noFill/>
                </a:ln>
                <a:solidFill>
                  <a:srgbClr val="000000"/>
                </a:solidFill>
                <a:effectLst/>
                <a:uLnTx/>
                <a:uFillTx/>
                <a:latin typeface="Tahoma" panose="020B0604030504040204" pitchFamily="34" charset="0"/>
              </a:rPr>
              <a:t>st.pop</a:t>
            </a: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Double d4 = </a:t>
            </a:r>
            <a:r>
              <a:rPr kumimoji="0" lang="en-US" altLang="el-GR" sz="2400" b="0" i="0" u="none" strike="noStrike" kern="0" cap="none" spc="0" normalizeH="0" baseline="0" noProof="0" dirty="0" err="1">
                <a:ln>
                  <a:noFill/>
                </a:ln>
                <a:solidFill>
                  <a:srgbClr val="000000"/>
                </a:solidFill>
                <a:effectLst/>
                <a:uLnTx/>
                <a:uFillTx/>
                <a:latin typeface="Tahoma" panose="020B0604030504040204" pitchFamily="34" charset="0"/>
              </a:rPr>
              <a:t>st.pop</a:t>
            </a: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a:t>
            </a:r>
            <a:r>
              <a:rPr kumimoji="0" lang="en-US" altLang="el-GR" sz="2400" b="0" i="0" u="none" strike="noStrike" kern="0" cap="none" spc="0" normalizeH="0" baseline="0" noProof="0" dirty="0" err="1">
                <a:ln>
                  <a:noFill/>
                </a:ln>
                <a:solidFill>
                  <a:srgbClr val="000000"/>
                </a:solidFill>
                <a:effectLst/>
                <a:uLnTx/>
                <a:uFillTx/>
                <a:latin typeface="Tahoma" panose="020B0604030504040204" pitchFamily="34" charset="0"/>
              </a:rPr>
              <a:t>st.push</a:t>
            </a: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(d3+d4);</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a:t>
            </a:r>
            <a:r>
              <a:rPr kumimoji="0" lang="en-US" altLang="el-GR" sz="2400" b="0" i="0" u="none" strike="noStrike" kern="0" cap="none" spc="0" normalizeH="0" baseline="0" noProof="0" dirty="0" err="1">
                <a:ln>
                  <a:noFill/>
                </a:ln>
                <a:solidFill>
                  <a:srgbClr val="000000"/>
                </a:solidFill>
                <a:effectLst/>
                <a:uLnTx/>
                <a:uFillTx/>
                <a:latin typeface="Tahoma" panose="020B0604030504040204" pitchFamily="34" charset="0"/>
              </a:rPr>
              <a:t>System.out.println</a:t>
            </a: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("sum is="+</a:t>
            </a:r>
            <a:r>
              <a:rPr kumimoji="0" lang="en-US" altLang="el-GR" sz="2400" b="0" i="0" u="none" strike="noStrike" kern="0" cap="none" spc="0" normalizeH="0" baseline="0" noProof="0" dirty="0" err="1">
                <a:ln>
                  <a:noFill/>
                </a:ln>
                <a:solidFill>
                  <a:srgbClr val="000000"/>
                </a:solidFill>
                <a:effectLst/>
                <a:uLnTx/>
                <a:uFillTx/>
                <a:latin typeface="Tahoma" panose="020B0604030504040204" pitchFamily="34" charset="0"/>
              </a:rPr>
              <a:t>st.pop</a:t>
            </a: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a:t>
            </a:r>
          </a:p>
        </p:txBody>
      </p:sp>
      <p:sp>
        <p:nvSpPr>
          <p:cNvPr id="13" name="Rectangle 4">
            <a:extLst>
              <a:ext uri="{FF2B5EF4-FFF2-40B4-BE49-F238E27FC236}">
                <a16:creationId xmlns:a16="http://schemas.microsoft.com/office/drawing/2014/main" id="{A6B79D42-37FB-65C6-9C7F-34991923277A}"/>
              </a:ext>
            </a:extLst>
          </p:cNvPr>
          <p:cNvSpPr>
            <a:spLocks noChangeArrowheads="1"/>
          </p:cNvSpPr>
          <p:nvPr/>
        </p:nvSpPr>
        <p:spPr bwMode="auto">
          <a:xfrm>
            <a:off x="774883" y="4488356"/>
            <a:ext cx="5321117" cy="1152525"/>
          </a:xfrm>
          <a:prstGeom prst="rect">
            <a:avLst/>
          </a:prstGeom>
          <a:solidFill>
            <a:srgbClr val="F8FF69">
              <a:alpha val="48000"/>
            </a:srgbClr>
          </a:solidFill>
          <a:ln w="9525">
            <a:solidFill>
              <a:srgbClr val="000000"/>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grpSp>
        <p:nvGrpSpPr>
          <p:cNvPr id="16" name="Group 15">
            <a:extLst>
              <a:ext uri="{FF2B5EF4-FFF2-40B4-BE49-F238E27FC236}">
                <a16:creationId xmlns:a16="http://schemas.microsoft.com/office/drawing/2014/main" id="{E01CD75D-E1CB-9D39-2B10-E99ACBB38BBF}"/>
              </a:ext>
            </a:extLst>
          </p:cNvPr>
          <p:cNvGrpSpPr/>
          <p:nvPr/>
        </p:nvGrpSpPr>
        <p:grpSpPr>
          <a:xfrm>
            <a:off x="6488875" y="4898395"/>
            <a:ext cx="4619226" cy="523220"/>
            <a:chOff x="6488875" y="4898395"/>
            <a:chExt cx="4619226" cy="523220"/>
          </a:xfrm>
        </p:grpSpPr>
        <p:sp>
          <p:nvSpPr>
            <p:cNvPr id="14" name="Arrow: Right 13">
              <a:extLst>
                <a:ext uri="{FF2B5EF4-FFF2-40B4-BE49-F238E27FC236}">
                  <a16:creationId xmlns:a16="http://schemas.microsoft.com/office/drawing/2014/main" id="{B93C6210-5D10-9FB1-D8AF-4FAAA4AB6F72}"/>
                </a:ext>
              </a:extLst>
            </p:cNvPr>
            <p:cNvSpPr/>
            <p:nvPr/>
          </p:nvSpPr>
          <p:spPr>
            <a:xfrm>
              <a:off x="6488875" y="4939318"/>
              <a:ext cx="1774245" cy="390292"/>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15" name="TextBox 14">
              <a:extLst>
                <a:ext uri="{FF2B5EF4-FFF2-40B4-BE49-F238E27FC236}">
                  <a16:creationId xmlns:a16="http://schemas.microsoft.com/office/drawing/2014/main" id="{7E268476-3E9B-E516-EDA2-B169B09DA4C9}"/>
                </a:ext>
              </a:extLst>
            </p:cNvPr>
            <p:cNvSpPr txBox="1"/>
            <p:nvPr/>
          </p:nvSpPr>
          <p:spPr>
            <a:xfrm>
              <a:off x="8859600" y="4898395"/>
              <a:ext cx="2248501" cy="523220"/>
            </a:xfrm>
            <a:prstGeom prst="rect">
              <a:avLst/>
            </a:prstGeom>
            <a:noFill/>
          </p:spPr>
          <p:txBody>
            <a:bodyPr wrap="none" rtlCol="0">
              <a:spAutoFit/>
            </a:bodyPr>
            <a:lstStyle/>
            <a:p>
              <a:r>
                <a:rPr lang="en-US" sz="2800" b="1" dirty="0"/>
                <a:t>Method add()</a:t>
              </a:r>
              <a:endParaRPr lang="el-GR" sz="2800" b="1" dirty="0"/>
            </a:p>
          </p:txBody>
        </p:sp>
      </p:grpSp>
    </p:spTree>
    <p:extLst>
      <p:ext uri="{BB962C8B-B14F-4D97-AF65-F5344CB8AC3E}">
        <p14:creationId xmlns:p14="http://schemas.microsoft.com/office/powerpoint/2010/main" val="413664170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linds(horizontal)">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fontScale="90000"/>
          </a:bodyPr>
          <a:lstStyle/>
          <a:p>
            <a:r>
              <a:rPr lang="en-US" sz="4000" b="1" dirty="0">
                <a:solidFill>
                  <a:srgbClr val="F9853D"/>
                </a:solidFill>
                <a:latin typeface="Bahnschrift" panose="020B0502040204020203" pitchFamily="34" charset="0"/>
              </a:rPr>
              <a:t>2nd iteration - Increase reusability</a:t>
            </a:r>
            <a:r>
              <a:rPr lang="el-GR" sz="4000" b="1" dirty="0">
                <a:solidFill>
                  <a:srgbClr val="F9853D"/>
                </a:solidFill>
                <a:latin typeface="Bahnschrift" panose="020B0502040204020203" pitchFamily="34" charset="0"/>
              </a:rPr>
              <a:t> (Χρήση </a:t>
            </a:r>
            <a:r>
              <a:rPr lang="el-GR" sz="4000" b="1" dirty="0" err="1">
                <a:solidFill>
                  <a:srgbClr val="F9853D"/>
                </a:solidFill>
                <a:latin typeface="Bahnschrift" panose="020B0502040204020203" pitchFamily="34" charset="0"/>
              </a:rPr>
              <a:t>αντικειμενου</a:t>
            </a:r>
            <a:r>
              <a:rPr lang="el-GR" sz="4000" b="1" dirty="0">
                <a:solidFill>
                  <a:srgbClr val="F9853D"/>
                </a:solidFill>
                <a:latin typeface="Bahnschrift" panose="020B0502040204020203" pitchFamily="34" charset="0"/>
              </a:rPr>
              <a:t>)</a:t>
            </a: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3" name="Θέση υποσέλιδου 4">
            <a:extLst>
              <a:ext uri="{FF2B5EF4-FFF2-40B4-BE49-F238E27FC236}">
                <a16:creationId xmlns:a16="http://schemas.microsoft.com/office/drawing/2014/main" id="{C84FEE0A-EC67-F275-4254-C7380CB8525E}"/>
              </a:ext>
            </a:extLst>
          </p:cNvPr>
          <p:cNvSpPr txBox="1">
            <a:spLocks/>
          </p:cNvSpPr>
          <p:nvPr/>
        </p:nvSpPr>
        <p:spPr>
          <a:xfrm>
            <a:off x="3305908" y="6559909"/>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LEGO Approach – Part B</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pic>
        <p:nvPicPr>
          <p:cNvPr id="52" name="Picture 51">
            <a:extLst>
              <a:ext uri="{FF2B5EF4-FFF2-40B4-BE49-F238E27FC236}">
                <a16:creationId xmlns:a16="http://schemas.microsoft.com/office/drawing/2014/main" id="{13B55B2A-F396-AB94-4E28-EE0FC3B4A664}"/>
              </a:ext>
            </a:extLst>
          </p:cNvPr>
          <p:cNvPicPr>
            <a:picLocks noChangeAspect="1"/>
          </p:cNvPicPr>
          <p:nvPr/>
        </p:nvPicPr>
        <p:blipFill>
          <a:blip r:embed="rId3"/>
          <a:stretch>
            <a:fillRect/>
          </a:stretch>
        </p:blipFill>
        <p:spPr>
          <a:xfrm>
            <a:off x="6318433" y="881353"/>
            <a:ext cx="5504972" cy="3321786"/>
          </a:xfrm>
          <a:prstGeom prst="rect">
            <a:avLst/>
          </a:prstGeom>
        </p:spPr>
      </p:pic>
      <p:sp>
        <p:nvSpPr>
          <p:cNvPr id="12" name="Text Box 3">
            <a:extLst>
              <a:ext uri="{FF2B5EF4-FFF2-40B4-BE49-F238E27FC236}">
                <a16:creationId xmlns:a16="http://schemas.microsoft.com/office/drawing/2014/main" id="{8A20CA49-3E2D-773E-F87C-5511578E45A0}"/>
              </a:ext>
            </a:extLst>
          </p:cNvPr>
          <p:cNvSpPr txBox="1">
            <a:spLocks noChangeArrowheads="1"/>
          </p:cNvSpPr>
          <p:nvPr/>
        </p:nvSpPr>
        <p:spPr bwMode="auto">
          <a:xfrm>
            <a:off x="0" y="823464"/>
            <a:ext cx="7488237" cy="5632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public class </a:t>
            </a:r>
            <a:r>
              <a:rPr kumimoji="0" lang="en-US" altLang="el-GR" sz="2400" b="1" i="0" u="none" strike="noStrike" kern="0" cap="none" spc="0" normalizeH="0" baseline="0" noProof="0" dirty="0">
                <a:ln>
                  <a:noFill/>
                </a:ln>
                <a:solidFill>
                  <a:srgbClr val="FF0000"/>
                </a:solidFill>
                <a:effectLst/>
                <a:uLnTx/>
                <a:uFillTx/>
                <a:latin typeface="Tahoma" panose="020B0604030504040204" pitchFamily="34" charset="0"/>
              </a:rPr>
              <a:t>Calc</a:t>
            </a: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public static void </a:t>
            </a:r>
            <a:r>
              <a:rPr kumimoji="0" lang="en-US" altLang="el-GR" sz="2400" b="1" i="0" u="none" strike="noStrike" kern="0" cap="none" spc="0" normalizeH="0" baseline="0" noProof="0" dirty="0">
                <a:ln>
                  <a:noFill/>
                </a:ln>
                <a:solidFill>
                  <a:srgbClr val="FF0000"/>
                </a:solidFill>
                <a:effectLst/>
                <a:uLnTx/>
                <a:uFillTx/>
                <a:latin typeface="Tahoma" panose="020B0604030504040204" pitchFamily="34" charset="0"/>
              </a:rPr>
              <a:t>main</a:t>
            </a: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d1 = new Double(20);</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d2 = new Double(40);</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a:t>
            </a:r>
            <a:r>
              <a:rPr kumimoji="0" lang="en-US" altLang="el-GR" sz="2400" b="0" i="0" u="none" strike="noStrike" kern="0" cap="none" spc="0" normalizeH="0" baseline="0" noProof="0" dirty="0" err="1">
                <a:ln>
                  <a:noFill/>
                </a:ln>
                <a:solidFill>
                  <a:srgbClr val="000000"/>
                </a:solidFill>
                <a:effectLst/>
                <a:uLnTx/>
                <a:uFillTx/>
                <a:latin typeface="Tahoma" panose="020B0604030504040204" pitchFamily="34" charset="0"/>
              </a:rPr>
              <a:t>st</a:t>
            </a: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 new Stack&lt;Double&gt;();</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a:t>
            </a:r>
            <a:r>
              <a:rPr kumimoji="0" lang="en-US" altLang="el-GR" sz="2400" b="0" i="0" u="none" strike="noStrike" kern="0" cap="none" spc="0" normalizeH="0" baseline="0" noProof="0" dirty="0" err="1">
                <a:ln>
                  <a:noFill/>
                </a:ln>
                <a:solidFill>
                  <a:srgbClr val="000000"/>
                </a:solidFill>
                <a:effectLst/>
                <a:uLnTx/>
                <a:uFillTx/>
                <a:latin typeface="Tahoma" panose="020B0604030504040204" pitchFamily="34" charset="0"/>
              </a:rPr>
              <a:t>st.push</a:t>
            </a: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(d1);</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a:t>
            </a:r>
            <a:r>
              <a:rPr kumimoji="0" lang="en-US" altLang="el-GR" sz="2400" b="0" i="0" u="none" strike="noStrike" kern="0" cap="none" spc="0" normalizeH="0" baseline="0" noProof="0" dirty="0" err="1">
                <a:ln>
                  <a:noFill/>
                </a:ln>
                <a:solidFill>
                  <a:srgbClr val="000000"/>
                </a:solidFill>
                <a:effectLst/>
                <a:uLnTx/>
                <a:uFillTx/>
                <a:latin typeface="Tahoma" panose="020B0604030504040204" pitchFamily="34" charset="0"/>
              </a:rPr>
              <a:t>st.push</a:t>
            </a: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(d2);</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Double d3 = </a:t>
            </a:r>
            <a:r>
              <a:rPr kumimoji="0" lang="en-US" altLang="el-GR" sz="2400" b="0" i="0" u="none" strike="noStrike" kern="0" cap="none" spc="0" normalizeH="0" baseline="0" noProof="0" dirty="0" err="1">
                <a:ln>
                  <a:noFill/>
                </a:ln>
                <a:solidFill>
                  <a:srgbClr val="000000"/>
                </a:solidFill>
                <a:effectLst/>
                <a:uLnTx/>
                <a:uFillTx/>
                <a:latin typeface="Tahoma" panose="020B0604030504040204" pitchFamily="34" charset="0"/>
              </a:rPr>
              <a:t>st.pop</a:t>
            </a: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Double d4 = </a:t>
            </a:r>
            <a:r>
              <a:rPr kumimoji="0" lang="en-US" altLang="el-GR" sz="2400" b="0" i="0" u="none" strike="noStrike" kern="0" cap="none" spc="0" normalizeH="0" baseline="0" noProof="0" dirty="0" err="1">
                <a:ln>
                  <a:noFill/>
                </a:ln>
                <a:solidFill>
                  <a:srgbClr val="000000"/>
                </a:solidFill>
                <a:effectLst/>
                <a:uLnTx/>
                <a:uFillTx/>
                <a:latin typeface="Tahoma" panose="020B0604030504040204" pitchFamily="34" charset="0"/>
              </a:rPr>
              <a:t>st.pop</a:t>
            </a: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a:t>
            </a:r>
            <a:r>
              <a:rPr kumimoji="0" lang="en-US" altLang="el-GR" sz="2400" b="0" i="0" u="none" strike="noStrike" kern="0" cap="none" spc="0" normalizeH="0" baseline="0" noProof="0" dirty="0" err="1">
                <a:ln>
                  <a:noFill/>
                </a:ln>
                <a:solidFill>
                  <a:srgbClr val="000000"/>
                </a:solidFill>
                <a:effectLst/>
                <a:uLnTx/>
                <a:uFillTx/>
                <a:latin typeface="Tahoma" panose="020B0604030504040204" pitchFamily="34" charset="0"/>
              </a:rPr>
              <a:t>st.push</a:t>
            </a: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(d3+d4);</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a:t>
            </a:r>
            <a:r>
              <a:rPr kumimoji="0" lang="en-US" altLang="el-GR" sz="2400" b="0" i="0" u="none" strike="noStrike" kern="0" cap="none" spc="0" normalizeH="0" baseline="0" noProof="0" dirty="0" err="1">
                <a:ln>
                  <a:noFill/>
                </a:ln>
                <a:solidFill>
                  <a:srgbClr val="000000"/>
                </a:solidFill>
                <a:effectLst/>
                <a:uLnTx/>
                <a:uFillTx/>
                <a:latin typeface="Tahoma" panose="020B0604030504040204" pitchFamily="34" charset="0"/>
              </a:rPr>
              <a:t>System.out.println</a:t>
            </a: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("sum is="+</a:t>
            </a:r>
            <a:r>
              <a:rPr kumimoji="0" lang="en-US" altLang="el-GR" sz="2400" b="0" i="0" u="none" strike="noStrike" kern="0" cap="none" spc="0" normalizeH="0" baseline="0" noProof="0" dirty="0" err="1">
                <a:ln>
                  <a:noFill/>
                </a:ln>
                <a:solidFill>
                  <a:srgbClr val="000000"/>
                </a:solidFill>
                <a:effectLst/>
                <a:uLnTx/>
                <a:uFillTx/>
                <a:latin typeface="Tahoma" panose="020B0604030504040204" pitchFamily="34" charset="0"/>
              </a:rPr>
              <a:t>st.pop</a:t>
            </a: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a:t>
            </a:r>
          </a:p>
        </p:txBody>
      </p:sp>
      <p:sp>
        <p:nvSpPr>
          <p:cNvPr id="13" name="Rectangle 4">
            <a:extLst>
              <a:ext uri="{FF2B5EF4-FFF2-40B4-BE49-F238E27FC236}">
                <a16:creationId xmlns:a16="http://schemas.microsoft.com/office/drawing/2014/main" id="{A6B79D42-37FB-65C6-9C7F-34991923277A}"/>
              </a:ext>
            </a:extLst>
          </p:cNvPr>
          <p:cNvSpPr>
            <a:spLocks noChangeArrowheads="1"/>
          </p:cNvSpPr>
          <p:nvPr/>
        </p:nvSpPr>
        <p:spPr bwMode="auto">
          <a:xfrm>
            <a:off x="774883" y="4488356"/>
            <a:ext cx="5321117" cy="1152525"/>
          </a:xfrm>
          <a:prstGeom prst="rect">
            <a:avLst/>
          </a:prstGeom>
          <a:solidFill>
            <a:srgbClr val="F8FF69">
              <a:alpha val="48000"/>
            </a:srgbClr>
          </a:solidFill>
          <a:ln w="9525">
            <a:solidFill>
              <a:srgbClr val="000000"/>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grpSp>
        <p:nvGrpSpPr>
          <p:cNvPr id="5" name="Group 4">
            <a:extLst>
              <a:ext uri="{FF2B5EF4-FFF2-40B4-BE49-F238E27FC236}">
                <a16:creationId xmlns:a16="http://schemas.microsoft.com/office/drawing/2014/main" id="{47115718-272E-9854-4A57-BE2E508D6737}"/>
              </a:ext>
            </a:extLst>
          </p:cNvPr>
          <p:cNvGrpSpPr/>
          <p:nvPr/>
        </p:nvGrpSpPr>
        <p:grpSpPr>
          <a:xfrm>
            <a:off x="6488875" y="4471379"/>
            <a:ext cx="5703125" cy="1442483"/>
            <a:chOff x="6488875" y="4471379"/>
            <a:chExt cx="5703125" cy="1442483"/>
          </a:xfrm>
        </p:grpSpPr>
        <p:pic>
          <p:nvPicPr>
            <p:cNvPr id="6" name="Picture 5">
              <a:extLst>
                <a:ext uri="{FF2B5EF4-FFF2-40B4-BE49-F238E27FC236}">
                  <a16:creationId xmlns:a16="http://schemas.microsoft.com/office/drawing/2014/main" id="{10CB41B7-26A3-D641-36FD-87C5D02BDDC3}"/>
                </a:ext>
              </a:extLst>
            </p:cNvPr>
            <p:cNvPicPr>
              <a:picLocks noChangeAspect="1"/>
            </p:cNvPicPr>
            <p:nvPr/>
          </p:nvPicPr>
          <p:blipFill>
            <a:blip r:embed="rId4"/>
            <a:stretch>
              <a:fillRect/>
            </a:stretch>
          </p:blipFill>
          <p:spPr>
            <a:xfrm>
              <a:off x="9884029" y="4471379"/>
              <a:ext cx="2307971" cy="1442483"/>
            </a:xfrm>
            <a:prstGeom prst="rect">
              <a:avLst/>
            </a:prstGeom>
          </p:spPr>
        </p:pic>
        <p:sp>
          <p:nvSpPr>
            <p:cNvPr id="14" name="Arrow: Right 13">
              <a:extLst>
                <a:ext uri="{FF2B5EF4-FFF2-40B4-BE49-F238E27FC236}">
                  <a16:creationId xmlns:a16="http://schemas.microsoft.com/office/drawing/2014/main" id="{B93C6210-5D10-9FB1-D8AF-4FAAA4AB6F72}"/>
                </a:ext>
              </a:extLst>
            </p:cNvPr>
            <p:cNvSpPr/>
            <p:nvPr/>
          </p:nvSpPr>
          <p:spPr>
            <a:xfrm>
              <a:off x="6488875" y="4939318"/>
              <a:ext cx="3166946" cy="390292"/>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a:p>
          </p:txBody>
        </p:sp>
      </p:grpSp>
      <p:sp>
        <p:nvSpPr>
          <p:cNvPr id="4" name="AutoShape 45">
            <a:extLst>
              <a:ext uri="{FF2B5EF4-FFF2-40B4-BE49-F238E27FC236}">
                <a16:creationId xmlns:a16="http://schemas.microsoft.com/office/drawing/2014/main" id="{D4D8E729-1F2B-C6EC-4E33-5A961E63D1BE}"/>
              </a:ext>
            </a:extLst>
          </p:cNvPr>
          <p:cNvSpPr>
            <a:spLocks noChangeArrowheads="1"/>
          </p:cNvSpPr>
          <p:nvPr/>
        </p:nvSpPr>
        <p:spPr bwMode="auto">
          <a:xfrm>
            <a:off x="6400800" y="5908855"/>
            <a:ext cx="5791199" cy="672157"/>
          </a:xfrm>
          <a:prstGeom prst="wedgeRectCallout">
            <a:avLst>
              <a:gd name="adj1" fmla="val -117222"/>
              <a:gd name="adj2" fmla="val 58657"/>
            </a:avLst>
          </a:prstGeom>
          <a:solidFill>
            <a:srgbClr val="F8FF69"/>
          </a:solidFill>
          <a:ln w="9525">
            <a:solidFill>
              <a:schemeClr val="bg1"/>
            </a:solidFill>
            <a:miter lim="800000"/>
            <a:headEnd/>
            <a:tailEnd/>
          </a:ln>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l-GR" sz="1800" b="0" i="0" u="none" strike="noStrike" kern="0" cap="none" spc="0" normalizeH="0" baseline="0" noProof="0" dirty="0">
                <a:ln>
                  <a:noFill/>
                </a:ln>
                <a:solidFill>
                  <a:srgbClr val="000000"/>
                </a:solidFill>
                <a:effectLst/>
                <a:uLnTx/>
                <a:uFillTx/>
                <a:latin typeface="Tahoma" panose="020B0604030504040204" pitchFamily="34" charset="0"/>
              </a:rPr>
              <a:t>How do they communicate for the program to provide the plus functionality?</a:t>
            </a:r>
          </a:p>
        </p:txBody>
      </p:sp>
    </p:spTree>
    <p:extLst>
      <p:ext uri="{BB962C8B-B14F-4D97-AF65-F5344CB8AC3E}">
        <p14:creationId xmlns:p14="http://schemas.microsoft.com/office/powerpoint/2010/main" val="164807581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linds(horizontal)">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n-US" sz="4000" b="1" dirty="0">
                <a:solidFill>
                  <a:srgbClr val="F9853D"/>
                </a:solidFill>
                <a:latin typeface="Bahnschrift" panose="020B0502040204020203" pitchFamily="34" charset="0"/>
              </a:rPr>
              <a:t>Build new Component – </a:t>
            </a:r>
            <a:r>
              <a:rPr lang="el-GR" sz="4000" b="1" dirty="0">
                <a:solidFill>
                  <a:srgbClr val="F9853D"/>
                </a:solidFill>
                <a:latin typeface="Bahnschrift" panose="020B0502040204020203" pitchFamily="34" charset="0"/>
              </a:rPr>
              <a:t>Μέθοδος κλάσης</a:t>
            </a: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3" name="Θέση υποσέλιδου 4">
            <a:extLst>
              <a:ext uri="{FF2B5EF4-FFF2-40B4-BE49-F238E27FC236}">
                <a16:creationId xmlns:a16="http://schemas.microsoft.com/office/drawing/2014/main" id="{C84FEE0A-EC67-F275-4254-C7380CB8525E}"/>
              </a:ext>
            </a:extLst>
          </p:cNvPr>
          <p:cNvSpPr txBox="1">
            <a:spLocks/>
          </p:cNvSpPr>
          <p:nvPr/>
        </p:nvSpPr>
        <p:spPr>
          <a:xfrm>
            <a:off x="3305908" y="6559909"/>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LEGO Approach – Part B</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4" name="Rectangle 45">
            <a:extLst>
              <a:ext uri="{FF2B5EF4-FFF2-40B4-BE49-F238E27FC236}">
                <a16:creationId xmlns:a16="http://schemas.microsoft.com/office/drawing/2014/main" id="{DC425DE6-85EA-C459-034B-C9FB32BD2BBC}"/>
              </a:ext>
            </a:extLst>
          </p:cNvPr>
          <p:cNvSpPr>
            <a:spLocks noChangeArrowheads="1"/>
          </p:cNvSpPr>
          <p:nvPr/>
        </p:nvSpPr>
        <p:spPr bwMode="auto">
          <a:xfrm>
            <a:off x="1086586" y="3276484"/>
            <a:ext cx="5616575" cy="1512887"/>
          </a:xfrm>
          <a:prstGeom prst="rect">
            <a:avLst/>
          </a:prstGeom>
          <a:solidFill>
            <a:srgbClr val="F8FF69"/>
          </a:solidFill>
          <a:ln w="9525">
            <a:solidFill>
              <a:srgbClr val="000000"/>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grpSp>
        <p:nvGrpSpPr>
          <p:cNvPr id="5" name="Group 36">
            <a:extLst>
              <a:ext uri="{FF2B5EF4-FFF2-40B4-BE49-F238E27FC236}">
                <a16:creationId xmlns:a16="http://schemas.microsoft.com/office/drawing/2014/main" id="{361FC3CD-A612-54BA-80B1-38C609DBB375}"/>
              </a:ext>
            </a:extLst>
          </p:cNvPr>
          <p:cNvGrpSpPr>
            <a:grpSpLocks/>
          </p:cNvGrpSpPr>
          <p:nvPr/>
        </p:nvGrpSpPr>
        <p:grpSpPr bwMode="auto">
          <a:xfrm>
            <a:off x="5839561" y="899996"/>
            <a:ext cx="1952625" cy="1101725"/>
            <a:chOff x="3606" y="2886"/>
            <a:chExt cx="1230" cy="694"/>
          </a:xfrm>
        </p:grpSpPr>
        <p:sp>
          <p:nvSpPr>
            <p:cNvPr id="6" name="Rectangle 37">
              <a:extLst>
                <a:ext uri="{FF2B5EF4-FFF2-40B4-BE49-F238E27FC236}">
                  <a16:creationId xmlns:a16="http://schemas.microsoft.com/office/drawing/2014/main" id="{DB183480-2BAC-659E-EEDB-15A20C681716}"/>
                </a:ext>
              </a:extLst>
            </p:cNvPr>
            <p:cNvSpPr>
              <a:spLocks noChangeArrowheads="1"/>
            </p:cNvSpPr>
            <p:nvPr/>
          </p:nvSpPr>
          <p:spPr bwMode="auto">
            <a:xfrm>
              <a:off x="3742" y="2976"/>
              <a:ext cx="952" cy="499"/>
            </a:xfrm>
            <a:prstGeom prst="rect">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a:ln>
                    <a:noFill/>
                  </a:ln>
                  <a:solidFill>
                    <a:srgbClr val="000000"/>
                  </a:solidFill>
                  <a:effectLst/>
                  <a:uLnTx/>
                  <a:uFillTx/>
                  <a:latin typeface="Tahoma" panose="020B0604030504040204" pitchFamily="34" charset="0"/>
                </a:rPr>
                <a:t>Adder</a:t>
              </a:r>
            </a:p>
          </p:txBody>
        </p:sp>
        <p:sp>
          <p:nvSpPr>
            <p:cNvPr id="7" name="Rectangle 38">
              <a:extLst>
                <a:ext uri="{FF2B5EF4-FFF2-40B4-BE49-F238E27FC236}">
                  <a16:creationId xmlns:a16="http://schemas.microsoft.com/office/drawing/2014/main" id="{BFDC5955-9227-D7BD-EBBB-D9C0562936D0}"/>
                </a:ext>
              </a:extLst>
            </p:cNvPr>
            <p:cNvSpPr>
              <a:spLocks noChangeArrowheads="1"/>
            </p:cNvSpPr>
            <p:nvPr/>
          </p:nvSpPr>
          <p:spPr bwMode="auto">
            <a:xfrm>
              <a:off x="3742" y="3475"/>
              <a:ext cx="317" cy="105"/>
            </a:xfrm>
            <a:prstGeom prst="rect">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9" name="Rectangle 39">
              <a:extLst>
                <a:ext uri="{FF2B5EF4-FFF2-40B4-BE49-F238E27FC236}">
                  <a16:creationId xmlns:a16="http://schemas.microsoft.com/office/drawing/2014/main" id="{94E861F3-CB16-C9E4-2F62-F679F3198BAC}"/>
                </a:ext>
              </a:extLst>
            </p:cNvPr>
            <p:cNvSpPr>
              <a:spLocks noChangeArrowheads="1"/>
            </p:cNvSpPr>
            <p:nvPr/>
          </p:nvSpPr>
          <p:spPr bwMode="auto">
            <a:xfrm>
              <a:off x="4286" y="3475"/>
              <a:ext cx="317" cy="105"/>
            </a:xfrm>
            <a:prstGeom prst="rect">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2" name="Rectangle 40">
              <a:extLst>
                <a:ext uri="{FF2B5EF4-FFF2-40B4-BE49-F238E27FC236}">
                  <a16:creationId xmlns:a16="http://schemas.microsoft.com/office/drawing/2014/main" id="{20BDADE3-628C-BE96-A7EF-F4FC99BA1D85}"/>
                </a:ext>
              </a:extLst>
            </p:cNvPr>
            <p:cNvSpPr>
              <a:spLocks noChangeArrowheads="1"/>
            </p:cNvSpPr>
            <p:nvPr/>
          </p:nvSpPr>
          <p:spPr bwMode="auto">
            <a:xfrm>
              <a:off x="3606" y="3203"/>
              <a:ext cx="142" cy="210"/>
            </a:xfrm>
            <a:prstGeom prst="rect">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3" name="Rectangle 41">
              <a:extLst>
                <a:ext uri="{FF2B5EF4-FFF2-40B4-BE49-F238E27FC236}">
                  <a16:creationId xmlns:a16="http://schemas.microsoft.com/office/drawing/2014/main" id="{996C619D-ECDB-42A5-84AD-3F0B0A991AD0}"/>
                </a:ext>
              </a:extLst>
            </p:cNvPr>
            <p:cNvSpPr>
              <a:spLocks noChangeArrowheads="1"/>
            </p:cNvSpPr>
            <p:nvPr/>
          </p:nvSpPr>
          <p:spPr bwMode="auto">
            <a:xfrm>
              <a:off x="4694" y="2976"/>
              <a:ext cx="142" cy="120"/>
            </a:xfrm>
            <a:prstGeom prst="rect">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4" name="Rectangle 42">
              <a:extLst>
                <a:ext uri="{FF2B5EF4-FFF2-40B4-BE49-F238E27FC236}">
                  <a16:creationId xmlns:a16="http://schemas.microsoft.com/office/drawing/2014/main" id="{C21142AC-3001-ABFE-A3F0-320F9642DA59}"/>
                </a:ext>
              </a:extLst>
            </p:cNvPr>
            <p:cNvSpPr>
              <a:spLocks noChangeArrowheads="1"/>
            </p:cNvSpPr>
            <p:nvPr/>
          </p:nvSpPr>
          <p:spPr bwMode="auto">
            <a:xfrm>
              <a:off x="4694" y="3203"/>
              <a:ext cx="142" cy="210"/>
            </a:xfrm>
            <a:prstGeom prst="rect">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5" name="Rectangle 43">
              <a:extLst>
                <a:ext uri="{FF2B5EF4-FFF2-40B4-BE49-F238E27FC236}">
                  <a16:creationId xmlns:a16="http://schemas.microsoft.com/office/drawing/2014/main" id="{3EBC307E-01C4-8F1C-6CFF-28D4D7F8972E}"/>
                </a:ext>
              </a:extLst>
            </p:cNvPr>
            <p:cNvSpPr>
              <a:spLocks noChangeArrowheads="1"/>
            </p:cNvSpPr>
            <p:nvPr/>
          </p:nvSpPr>
          <p:spPr bwMode="auto">
            <a:xfrm>
              <a:off x="3787" y="2886"/>
              <a:ext cx="317" cy="105"/>
            </a:xfrm>
            <a:prstGeom prst="rect">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grpSp>
      <p:sp>
        <p:nvSpPr>
          <p:cNvPr id="16" name="Text Box 44">
            <a:extLst>
              <a:ext uri="{FF2B5EF4-FFF2-40B4-BE49-F238E27FC236}">
                <a16:creationId xmlns:a16="http://schemas.microsoft.com/office/drawing/2014/main" id="{35677BC1-AC98-4708-1F7C-41BE4E37D6C7}"/>
              </a:ext>
            </a:extLst>
          </p:cNvPr>
          <p:cNvSpPr txBox="1">
            <a:spLocks noChangeArrowheads="1"/>
          </p:cNvSpPr>
          <p:nvPr/>
        </p:nvSpPr>
        <p:spPr bwMode="auto">
          <a:xfrm>
            <a:off x="149962" y="2238259"/>
            <a:ext cx="6408738" cy="4031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3200" b="0" i="0" u="none" strike="noStrike" kern="0" cap="none" spc="0" normalizeH="0" baseline="0" noProof="0" dirty="0">
                <a:ln>
                  <a:noFill/>
                </a:ln>
                <a:solidFill>
                  <a:srgbClr val="000000"/>
                </a:solidFill>
                <a:effectLst/>
                <a:uLnTx/>
                <a:uFillTx/>
                <a:latin typeface="Tahoma" panose="020B0604030504040204" pitchFamily="34" charset="0"/>
              </a:rPr>
              <a:t>class </a:t>
            </a:r>
            <a:r>
              <a:rPr kumimoji="0" lang="en-US" altLang="el-GR" sz="3200" b="1" i="0" u="none" strike="noStrike" kern="0" cap="none" spc="0" normalizeH="0" baseline="0" noProof="0" dirty="0">
                <a:ln>
                  <a:noFill/>
                </a:ln>
                <a:solidFill>
                  <a:srgbClr val="FF0000"/>
                </a:solidFill>
                <a:effectLst/>
                <a:uLnTx/>
                <a:uFillTx/>
                <a:latin typeface="Tahoma" panose="020B0604030504040204" pitchFamily="34" charset="0"/>
              </a:rPr>
              <a:t>Adder</a:t>
            </a:r>
            <a:r>
              <a:rPr kumimoji="0" lang="en-US" altLang="el-GR" sz="3200" b="0" i="0" u="none" strike="noStrike" kern="0" cap="none" spc="0" normalizeH="0" baseline="0" noProof="0" dirty="0">
                <a:ln>
                  <a:noFill/>
                </a:ln>
                <a:solidFill>
                  <a:srgbClr val="000000"/>
                </a:solidFill>
                <a:effectLst/>
                <a:uLnTx/>
                <a:uFillTx/>
                <a:latin typeface="Tahoma" panose="020B060403050404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3200" b="0" i="0" u="none" strike="noStrike" kern="0" cap="none" spc="0" normalizeH="0" baseline="0" noProof="0" dirty="0">
                <a:ln>
                  <a:noFill/>
                </a:ln>
                <a:solidFill>
                  <a:srgbClr val="000000"/>
                </a:solidFill>
                <a:effectLst/>
                <a:uLnTx/>
                <a:uFillTx/>
                <a:latin typeface="Tahoma" panose="020B0604030504040204" pitchFamily="34" charset="0"/>
              </a:rPr>
              <a:t>    public </a:t>
            </a:r>
            <a:r>
              <a:rPr kumimoji="0" lang="en-US" altLang="el-GR" sz="3200" b="1" i="0" u="none" strike="noStrike" kern="0" cap="none" spc="0" normalizeH="0" baseline="0" noProof="0" dirty="0">
                <a:ln>
                  <a:noFill/>
                </a:ln>
                <a:solidFill>
                  <a:srgbClr val="000000"/>
                </a:solidFill>
                <a:effectLst/>
                <a:uLnTx/>
                <a:uFillTx/>
                <a:latin typeface="Tahoma" panose="020B0604030504040204" pitchFamily="34" charset="0"/>
              </a:rPr>
              <a:t>static</a:t>
            </a:r>
            <a:r>
              <a:rPr kumimoji="0" lang="en-US" altLang="el-GR" sz="3200" b="0" i="0" u="none" strike="noStrike" kern="0" cap="none" spc="0" normalizeH="0" baseline="0" noProof="0" dirty="0">
                <a:ln>
                  <a:noFill/>
                </a:ln>
                <a:solidFill>
                  <a:srgbClr val="000000"/>
                </a:solidFill>
                <a:effectLst/>
                <a:uLnTx/>
                <a:uFillTx/>
                <a:latin typeface="Tahoma" panose="020B0604030504040204" pitchFamily="34" charset="0"/>
              </a:rPr>
              <a:t> void </a:t>
            </a:r>
            <a:r>
              <a:rPr kumimoji="0" lang="en-US" altLang="el-GR" sz="3200" b="1" i="0" u="none" strike="noStrike" kern="0" cap="none" spc="0" normalizeH="0" baseline="0" noProof="0" dirty="0">
                <a:ln>
                  <a:noFill/>
                </a:ln>
                <a:solidFill>
                  <a:srgbClr val="FF0000"/>
                </a:solidFill>
                <a:effectLst/>
                <a:uLnTx/>
                <a:uFillTx/>
                <a:latin typeface="Tahoma" panose="020B0604030504040204" pitchFamily="34" charset="0"/>
              </a:rPr>
              <a:t>operate</a:t>
            </a:r>
            <a:r>
              <a:rPr kumimoji="0" lang="en-US" altLang="el-GR" sz="3200" b="0" i="0" u="none" strike="noStrike" kern="0" cap="none" spc="0" normalizeH="0" baseline="0" noProof="0" dirty="0">
                <a:ln>
                  <a:noFill/>
                </a:ln>
                <a:solidFill>
                  <a:srgbClr val="000000"/>
                </a:solidFill>
                <a:effectLst/>
                <a:uLnTx/>
                <a:uFillTx/>
                <a:latin typeface="Tahoma" panose="020B060403050404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3200" b="0" i="0" u="none" strike="noStrike" kern="0" cap="none" spc="0" normalizeH="0" baseline="0" noProof="0" dirty="0">
                <a:ln>
                  <a:noFill/>
                </a:ln>
                <a:solidFill>
                  <a:srgbClr val="000000"/>
                </a:solidFill>
                <a:effectLst/>
                <a:uLnTx/>
                <a:uFillTx/>
                <a:latin typeface="Tahoma" panose="020B0604030504040204" pitchFamily="34" charset="0"/>
              </a:rPr>
              <a:t>        Double d3 = </a:t>
            </a:r>
            <a:r>
              <a:rPr kumimoji="0" lang="en-US" altLang="el-GR" sz="3200" b="0" i="0" u="none" strike="noStrike" kern="0" cap="none" spc="0" normalizeH="0" baseline="0" noProof="0" dirty="0" err="1">
                <a:ln>
                  <a:noFill/>
                </a:ln>
                <a:solidFill>
                  <a:srgbClr val="000000"/>
                </a:solidFill>
                <a:effectLst/>
                <a:uLnTx/>
                <a:uFillTx/>
                <a:latin typeface="Tahoma" panose="020B0604030504040204" pitchFamily="34" charset="0"/>
              </a:rPr>
              <a:t>st.pop</a:t>
            </a:r>
            <a:r>
              <a:rPr kumimoji="0" lang="en-US" altLang="el-GR" sz="3200" b="0" i="0" u="none" strike="noStrike" kern="0" cap="none" spc="0" normalizeH="0" baseline="0" noProof="0" dirty="0">
                <a:ln>
                  <a:noFill/>
                </a:ln>
                <a:solidFill>
                  <a:srgbClr val="000000"/>
                </a:solidFill>
                <a:effectLst/>
                <a:uLnTx/>
                <a:uFillTx/>
                <a:latin typeface="Tahoma" panose="020B060403050404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3200" b="0" i="0" u="none" strike="noStrike" kern="0" cap="none" spc="0" normalizeH="0" baseline="0" noProof="0" dirty="0">
                <a:ln>
                  <a:noFill/>
                </a:ln>
                <a:solidFill>
                  <a:srgbClr val="000000"/>
                </a:solidFill>
                <a:effectLst/>
                <a:uLnTx/>
                <a:uFillTx/>
                <a:latin typeface="Tahoma" panose="020B0604030504040204" pitchFamily="34" charset="0"/>
              </a:rPr>
              <a:t>        Double d4 = </a:t>
            </a:r>
            <a:r>
              <a:rPr kumimoji="0" lang="en-US" altLang="el-GR" sz="3200" b="0" i="0" u="none" strike="noStrike" kern="0" cap="none" spc="0" normalizeH="0" baseline="0" noProof="0" dirty="0" err="1">
                <a:ln>
                  <a:noFill/>
                </a:ln>
                <a:solidFill>
                  <a:srgbClr val="000000"/>
                </a:solidFill>
                <a:effectLst/>
                <a:uLnTx/>
                <a:uFillTx/>
                <a:latin typeface="Tahoma" panose="020B0604030504040204" pitchFamily="34" charset="0"/>
              </a:rPr>
              <a:t>st.pop</a:t>
            </a:r>
            <a:r>
              <a:rPr kumimoji="0" lang="en-US" altLang="el-GR" sz="3200" b="0" i="0" u="none" strike="noStrike" kern="0" cap="none" spc="0" normalizeH="0" baseline="0" noProof="0" dirty="0">
                <a:ln>
                  <a:noFill/>
                </a:ln>
                <a:solidFill>
                  <a:srgbClr val="000000"/>
                </a:solidFill>
                <a:effectLst/>
                <a:uLnTx/>
                <a:uFillTx/>
                <a:latin typeface="Tahoma" panose="020B0604030504040204" pitchFamily="34" charset="0"/>
              </a:rPr>
              <a:t>();       </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3200" b="0" i="0" u="none" strike="noStrike" kern="0" cap="none" spc="0" normalizeH="0" baseline="0" noProof="0" dirty="0">
                <a:ln>
                  <a:noFill/>
                </a:ln>
                <a:solidFill>
                  <a:srgbClr val="000000"/>
                </a:solidFill>
                <a:effectLst/>
                <a:uLnTx/>
                <a:uFillTx/>
                <a:latin typeface="Tahoma" panose="020B0604030504040204" pitchFamily="34" charset="0"/>
              </a:rPr>
              <a:t>        </a:t>
            </a:r>
            <a:r>
              <a:rPr kumimoji="0" lang="en-US" altLang="el-GR" sz="3200" b="0" i="0" u="none" strike="noStrike" kern="0" cap="none" spc="0" normalizeH="0" baseline="0" noProof="0" dirty="0" err="1">
                <a:ln>
                  <a:noFill/>
                </a:ln>
                <a:solidFill>
                  <a:srgbClr val="000000"/>
                </a:solidFill>
                <a:effectLst/>
                <a:uLnTx/>
                <a:uFillTx/>
                <a:latin typeface="Tahoma" panose="020B0604030504040204" pitchFamily="34" charset="0"/>
              </a:rPr>
              <a:t>st.push</a:t>
            </a:r>
            <a:r>
              <a:rPr kumimoji="0" lang="en-US" altLang="el-GR" sz="3200" b="0" i="0" u="none" strike="noStrike" kern="0" cap="none" spc="0" normalizeH="0" baseline="0" noProof="0" dirty="0">
                <a:ln>
                  <a:noFill/>
                </a:ln>
                <a:solidFill>
                  <a:srgbClr val="000000"/>
                </a:solidFill>
                <a:effectLst/>
                <a:uLnTx/>
                <a:uFillTx/>
                <a:latin typeface="Tahoma" panose="020B0604030504040204" pitchFamily="34" charset="0"/>
              </a:rPr>
              <a:t>(new Double(d3+d4));</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3200" b="0" i="0" u="none" strike="noStrike" kern="0" cap="none" spc="0" normalizeH="0" baseline="0" noProof="0" dirty="0">
                <a:ln>
                  <a:noFill/>
                </a:ln>
                <a:solidFill>
                  <a:srgbClr val="000000"/>
                </a:solidFill>
                <a:effectLst/>
                <a:uLnTx/>
                <a:uFillTx/>
                <a:latin typeface="Tahoma" panose="020B0604030504040204" pitchFamily="34" charset="0"/>
              </a:rPr>
              <a:t>    }</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3200" b="0" i="0" u="none" strike="noStrike" kern="0" cap="none" spc="0" normalizeH="0" baseline="0" noProof="0" dirty="0">
                <a:ln>
                  <a:noFill/>
                </a:ln>
                <a:solidFill>
                  <a:srgbClr val="000000"/>
                </a:solidFill>
                <a:effectLst/>
                <a:uLnTx/>
                <a:uFillTx/>
                <a:latin typeface="Tahoma" panose="020B0604030504040204" pitchFamily="34" charset="0"/>
              </a:rPr>
              <a:t>}</a:t>
            </a:r>
          </a:p>
        </p:txBody>
      </p:sp>
      <p:pic>
        <p:nvPicPr>
          <p:cNvPr id="18" name="Picture 17">
            <a:extLst>
              <a:ext uri="{FF2B5EF4-FFF2-40B4-BE49-F238E27FC236}">
                <a16:creationId xmlns:a16="http://schemas.microsoft.com/office/drawing/2014/main" id="{7CB7760C-C2EE-49BD-B644-CA604C63721B}"/>
              </a:ext>
            </a:extLst>
          </p:cNvPr>
          <p:cNvPicPr>
            <a:picLocks noChangeAspect="1"/>
          </p:cNvPicPr>
          <p:nvPr/>
        </p:nvPicPr>
        <p:blipFill>
          <a:blip r:embed="rId3"/>
          <a:stretch>
            <a:fillRect/>
          </a:stretch>
        </p:blipFill>
        <p:spPr>
          <a:xfrm>
            <a:off x="6895794" y="2238259"/>
            <a:ext cx="5296205" cy="3304372"/>
          </a:xfrm>
          <a:prstGeom prst="rect">
            <a:avLst/>
          </a:prstGeom>
        </p:spPr>
      </p:pic>
    </p:spTree>
    <p:extLst>
      <p:ext uri="{BB962C8B-B14F-4D97-AF65-F5344CB8AC3E}">
        <p14:creationId xmlns:p14="http://schemas.microsoft.com/office/powerpoint/2010/main" val="379276273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n-US" sz="4000" b="1" dirty="0">
                <a:solidFill>
                  <a:srgbClr val="F9853D"/>
                </a:solidFill>
                <a:latin typeface="Bahnschrift" panose="020B0502040204020203" pitchFamily="34" charset="0"/>
              </a:rPr>
              <a:t>Build new Component</a:t>
            </a:r>
            <a:r>
              <a:rPr lang="el-GR" sz="4000" b="1" dirty="0">
                <a:solidFill>
                  <a:srgbClr val="F9853D"/>
                </a:solidFill>
                <a:latin typeface="Bahnschrift" panose="020B0502040204020203" pitchFamily="34" charset="0"/>
              </a:rPr>
              <a:t> </a:t>
            </a:r>
            <a:r>
              <a:rPr lang="en-US" sz="4000" b="1" dirty="0">
                <a:solidFill>
                  <a:srgbClr val="F9853D"/>
                </a:solidFill>
                <a:latin typeface="Bahnschrift" panose="020B0502040204020203" pitchFamily="34" charset="0"/>
              </a:rPr>
              <a:t>– </a:t>
            </a:r>
            <a:r>
              <a:rPr lang="el-GR" sz="4000" b="1" dirty="0">
                <a:solidFill>
                  <a:srgbClr val="F9853D"/>
                </a:solidFill>
                <a:latin typeface="Bahnschrift" panose="020B0502040204020203" pitchFamily="34" charset="0"/>
              </a:rPr>
              <a:t>Μέθοδος στιγμιότυπου</a:t>
            </a: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3" name="Θέση υποσέλιδου 4">
            <a:extLst>
              <a:ext uri="{FF2B5EF4-FFF2-40B4-BE49-F238E27FC236}">
                <a16:creationId xmlns:a16="http://schemas.microsoft.com/office/drawing/2014/main" id="{C84FEE0A-EC67-F275-4254-C7380CB8525E}"/>
              </a:ext>
            </a:extLst>
          </p:cNvPr>
          <p:cNvSpPr txBox="1">
            <a:spLocks/>
          </p:cNvSpPr>
          <p:nvPr/>
        </p:nvSpPr>
        <p:spPr>
          <a:xfrm>
            <a:off x="3305908" y="6559909"/>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LEGO Approach – Part B</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4" name="Rectangle 45">
            <a:extLst>
              <a:ext uri="{FF2B5EF4-FFF2-40B4-BE49-F238E27FC236}">
                <a16:creationId xmlns:a16="http://schemas.microsoft.com/office/drawing/2014/main" id="{DC425DE6-85EA-C459-034B-C9FB32BD2BBC}"/>
              </a:ext>
            </a:extLst>
          </p:cNvPr>
          <p:cNvSpPr>
            <a:spLocks noChangeArrowheads="1"/>
          </p:cNvSpPr>
          <p:nvPr/>
        </p:nvSpPr>
        <p:spPr bwMode="auto">
          <a:xfrm>
            <a:off x="1086586" y="3276484"/>
            <a:ext cx="5616575" cy="1512887"/>
          </a:xfrm>
          <a:prstGeom prst="rect">
            <a:avLst/>
          </a:prstGeom>
          <a:solidFill>
            <a:srgbClr val="F8FF69"/>
          </a:solidFill>
          <a:ln w="9525">
            <a:solidFill>
              <a:srgbClr val="000000"/>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grpSp>
        <p:nvGrpSpPr>
          <p:cNvPr id="5" name="Group 36">
            <a:extLst>
              <a:ext uri="{FF2B5EF4-FFF2-40B4-BE49-F238E27FC236}">
                <a16:creationId xmlns:a16="http://schemas.microsoft.com/office/drawing/2014/main" id="{361FC3CD-A612-54BA-80B1-38C609DBB375}"/>
              </a:ext>
            </a:extLst>
          </p:cNvPr>
          <p:cNvGrpSpPr>
            <a:grpSpLocks/>
          </p:cNvGrpSpPr>
          <p:nvPr/>
        </p:nvGrpSpPr>
        <p:grpSpPr bwMode="auto">
          <a:xfrm>
            <a:off x="5839561" y="899996"/>
            <a:ext cx="1952625" cy="1101725"/>
            <a:chOff x="3606" y="2886"/>
            <a:chExt cx="1230" cy="694"/>
          </a:xfrm>
        </p:grpSpPr>
        <p:sp>
          <p:nvSpPr>
            <p:cNvPr id="6" name="Rectangle 37">
              <a:extLst>
                <a:ext uri="{FF2B5EF4-FFF2-40B4-BE49-F238E27FC236}">
                  <a16:creationId xmlns:a16="http://schemas.microsoft.com/office/drawing/2014/main" id="{DB183480-2BAC-659E-EEDB-15A20C681716}"/>
                </a:ext>
              </a:extLst>
            </p:cNvPr>
            <p:cNvSpPr>
              <a:spLocks noChangeArrowheads="1"/>
            </p:cNvSpPr>
            <p:nvPr/>
          </p:nvSpPr>
          <p:spPr bwMode="auto">
            <a:xfrm>
              <a:off x="3742" y="2976"/>
              <a:ext cx="952" cy="499"/>
            </a:xfrm>
            <a:prstGeom prst="rect">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a:ln>
                    <a:noFill/>
                  </a:ln>
                  <a:solidFill>
                    <a:srgbClr val="000000"/>
                  </a:solidFill>
                  <a:effectLst/>
                  <a:uLnTx/>
                  <a:uFillTx/>
                  <a:latin typeface="Tahoma" panose="020B0604030504040204" pitchFamily="34" charset="0"/>
                </a:rPr>
                <a:t>Adder</a:t>
              </a:r>
            </a:p>
          </p:txBody>
        </p:sp>
        <p:sp>
          <p:nvSpPr>
            <p:cNvPr id="7" name="Rectangle 38">
              <a:extLst>
                <a:ext uri="{FF2B5EF4-FFF2-40B4-BE49-F238E27FC236}">
                  <a16:creationId xmlns:a16="http://schemas.microsoft.com/office/drawing/2014/main" id="{BFDC5955-9227-D7BD-EBBB-D9C0562936D0}"/>
                </a:ext>
              </a:extLst>
            </p:cNvPr>
            <p:cNvSpPr>
              <a:spLocks noChangeArrowheads="1"/>
            </p:cNvSpPr>
            <p:nvPr/>
          </p:nvSpPr>
          <p:spPr bwMode="auto">
            <a:xfrm>
              <a:off x="3742" y="3475"/>
              <a:ext cx="317" cy="105"/>
            </a:xfrm>
            <a:prstGeom prst="rect">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9" name="Rectangle 39">
              <a:extLst>
                <a:ext uri="{FF2B5EF4-FFF2-40B4-BE49-F238E27FC236}">
                  <a16:creationId xmlns:a16="http://schemas.microsoft.com/office/drawing/2014/main" id="{94E861F3-CB16-C9E4-2F62-F679F3198BAC}"/>
                </a:ext>
              </a:extLst>
            </p:cNvPr>
            <p:cNvSpPr>
              <a:spLocks noChangeArrowheads="1"/>
            </p:cNvSpPr>
            <p:nvPr/>
          </p:nvSpPr>
          <p:spPr bwMode="auto">
            <a:xfrm>
              <a:off x="4286" y="3475"/>
              <a:ext cx="317" cy="105"/>
            </a:xfrm>
            <a:prstGeom prst="rect">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2" name="Rectangle 40">
              <a:extLst>
                <a:ext uri="{FF2B5EF4-FFF2-40B4-BE49-F238E27FC236}">
                  <a16:creationId xmlns:a16="http://schemas.microsoft.com/office/drawing/2014/main" id="{20BDADE3-628C-BE96-A7EF-F4FC99BA1D85}"/>
                </a:ext>
              </a:extLst>
            </p:cNvPr>
            <p:cNvSpPr>
              <a:spLocks noChangeArrowheads="1"/>
            </p:cNvSpPr>
            <p:nvPr/>
          </p:nvSpPr>
          <p:spPr bwMode="auto">
            <a:xfrm>
              <a:off x="3606" y="3203"/>
              <a:ext cx="142" cy="210"/>
            </a:xfrm>
            <a:prstGeom prst="rect">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3" name="Rectangle 41">
              <a:extLst>
                <a:ext uri="{FF2B5EF4-FFF2-40B4-BE49-F238E27FC236}">
                  <a16:creationId xmlns:a16="http://schemas.microsoft.com/office/drawing/2014/main" id="{996C619D-ECDB-42A5-84AD-3F0B0A991AD0}"/>
                </a:ext>
              </a:extLst>
            </p:cNvPr>
            <p:cNvSpPr>
              <a:spLocks noChangeArrowheads="1"/>
            </p:cNvSpPr>
            <p:nvPr/>
          </p:nvSpPr>
          <p:spPr bwMode="auto">
            <a:xfrm>
              <a:off x="4694" y="2976"/>
              <a:ext cx="142" cy="120"/>
            </a:xfrm>
            <a:prstGeom prst="rect">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4" name="Rectangle 42">
              <a:extLst>
                <a:ext uri="{FF2B5EF4-FFF2-40B4-BE49-F238E27FC236}">
                  <a16:creationId xmlns:a16="http://schemas.microsoft.com/office/drawing/2014/main" id="{C21142AC-3001-ABFE-A3F0-320F9642DA59}"/>
                </a:ext>
              </a:extLst>
            </p:cNvPr>
            <p:cNvSpPr>
              <a:spLocks noChangeArrowheads="1"/>
            </p:cNvSpPr>
            <p:nvPr/>
          </p:nvSpPr>
          <p:spPr bwMode="auto">
            <a:xfrm>
              <a:off x="4694" y="3203"/>
              <a:ext cx="142" cy="210"/>
            </a:xfrm>
            <a:prstGeom prst="rect">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5" name="Rectangle 43">
              <a:extLst>
                <a:ext uri="{FF2B5EF4-FFF2-40B4-BE49-F238E27FC236}">
                  <a16:creationId xmlns:a16="http://schemas.microsoft.com/office/drawing/2014/main" id="{3EBC307E-01C4-8F1C-6CFF-28D4D7F8972E}"/>
                </a:ext>
              </a:extLst>
            </p:cNvPr>
            <p:cNvSpPr>
              <a:spLocks noChangeArrowheads="1"/>
            </p:cNvSpPr>
            <p:nvPr/>
          </p:nvSpPr>
          <p:spPr bwMode="auto">
            <a:xfrm>
              <a:off x="3787" y="2886"/>
              <a:ext cx="317" cy="105"/>
            </a:xfrm>
            <a:prstGeom prst="rect">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grpSp>
      <p:sp>
        <p:nvSpPr>
          <p:cNvPr id="16" name="Text Box 44">
            <a:extLst>
              <a:ext uri="{FF2B5EF4-FFF2-40B4-BE49-F238E27FC236}">
                <a16:creationId xmlns:a16="http://schemas.microsoft.com/office/drawing/2014/main" id="{35677BC1-AC98-4708-1F7C-41BE4E37D6C7}"/>
              </a:ext>
            </a:extLst>
          </p:cNvPr>
          <p:cNvSpPr txBox="1">
            <a:spLocks noChangeArrowheads="1"/>
          </p:cNvSpPr>
          <p:nvPr/>
        </p:nvSpPr>
        <p:spPr bwMode="auto">
          <a:xfrm>
            <a:off x="149961" y="2238259"/>
            <a:ext cx="6649577" cy="35394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3200" b="0" i="0" u="none" strike="noStrike" kern="0" cap="none" spc="0" normalizeH="0" baseline="0" noProof="0" dirty="0">
                <a:ln>
                  <a:noFill/>
                </a:ln>
                <a:solidFill>
                  <a:srgbClr val="000000"/>
                </a:solidFill>
                <a:effectLst/>
                <a:uLnTx/>
                <a:uFillTx/>
                <a:latin typeface="Tahoma" panose="020B0604030504040204" pitchFamily="34" charset="0"/>
              </a:rPr>
              <a:t>class </a:t>
            </a:r>
            <a:r>
              <a:rPr kumimoji="0" lang="en-US" altLang="el-GR" sz="3200" b="1" i="0" u="none" strike="noStrike" kern="0" cap="none" spc="0" normalizeH="0" baseline="0" noProof="0" dirty="0">
                <a:ln>
                  <a:noFill/>
                </a:ln>
                <a:solidFill>
                  <a:srgbClr val="FF0000"/>
                </a:solidFill>
                <a:effectLst/>
                <a:uLnTx/>
                <a:uFillTx/>
                <a:latin typeface="Tahoma" panose="020B0604030504040204" pitchFamily="34" charset="0"/>
              </a:rPr>
              <a:t>Adder</a:t>
            </a:r>
            <a:r>
              <a:rPr kumimoji="0" lang="en-US" altLang="el-GR" sz="3200" b="0" i="0" u="none" strike="noStrike" kern="0" cap="none" spc="0" normalizeH="0" baseline="0" noProof="0" dirty="0">
                <a:ln>
                  <a:noFill/>
                </a:ln>
                <a:solidFill>
                  <a:srgbClr val="000000"/>
                </a:solidFill>
                <a:effectLst/>
                <a:uLnTx/>
                <a:uFillTx/>
                <a:latin typeface="Tahoma" panose="020B060403050404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3200" b="0" i="0" u="none" strike="noStrike" kern="0" cap="none" spc="0" normalizeH="0" baseline="0" noProof="0" dirty="0">
                <a:ln>
                  <a:noFill/>
                </a:ln>
                <a:solidFill>
                  <a:srgbClr val="000000"/>
                </a:solidFill>
                <a:effectLst/>
                <a:uLnTx/>
                <a:uFillTx/>
                <a:latin typeface="Tahoma" panose="020B0604030504040204" pitchFamily="34" charset="0"/>
              </a:rPr>
              <a:t>    public void </a:t>
            </a:r>
            <a:r>
              <a:rPr kumimoji="0" lang="en-US" altLang="el-GR" sz="3200" b="1" i="0" u="none" strike="noStrike" kern="0" cap="none" spc="0" normalizeH="0" baseline="0" noProof="0" dirty="0">
                <a:ln>
                  <a:noFill/>
                </a:ln>
                <a:solidFill>
                  <a:srgbClr val="FF0000"/>
                </a:solidFill>
                <a:effectLst/>
                <a:uLnTx/>
                <a:uFillTx/>
                <a:latin typeface="Tahoma" panose="020B0604030504040204" pitchFamily="34" charset="0"/>
              </a:rPr>
              <a:t>operate</a:t>
            </a:r>
            <a:r>
              <a:rPr kumimoji="0" lang="en-US" altLang="el-GR" sz="3200" b="0" i="0" u="none" strike="noStrike" kern="0" cap="none" spc="0" normalizeH="0" baseline="0" noProof="0" dirty="0">
                <a:ln>
                  <a:noFill/>
                </a:ln>
                <a:solidFill>
                  <a:srgbClr val="000000"/>
                </a:solidFill>
                <a:effectLst/>
                <a:uLnTx/>
                <a:uFillTx/>
                <a:latin typeface="Tahoma" panose="020B060403050404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3200" b="0" i="0" u="none" strike="noStrike" kern="0" cap="none" spc="0" normalizeH="0" baseline="0" noProof="0" dirty="0">
                <a:ln>
                  <a:noFill/>
                </a:ln>
                <a:solidFill>
                  <a:srgbClr val="000000"/>
                </a:solidFill>
                <a:effectLst/>
                <a:uLnTx/>
                <a:uFillTx/>
                <a:latin typeface="Tahoma" panose="020B0604030504040204" pitchFamily="34" charset="0"/>
              </a:rPr>
              <a:t>        Double d3 = </a:t>
            </a:r>
            <a:r>
              <a:rPr kumimoji="0" lang="en-US" altLang="el-GR" sz="3200" b="0" i="0" u="none" strike="noStrike" kern="0" cap="none" spc="0" normalizeH="0" baseline="0" noProof="0" dirty="0" err="1">
                <a:ln>
                  <a:noFill/>
                </a:ln>
                <a:solidFill>
                  <a:srgbClr val="000000"/>
                </a:solidFill>
                <a:effectLst/>
                <a:uLnTx/>
                <a:uFillTx/>
                <a:latin typeface="Tahoma" panose="020B0604030504040204" pitchFamily="34" charset="0"/>
              </a:rPr>
              <a:t>st.pop</a:t>
            </a:r>
            <a:r>
              <a:rPr kumimoji="0" lang="en-US" altLang="el-GR" sz="3200" b="0" i="0" u="none" strike="noStrike" kern="0" cap="none" spc="0" normalizeH="0" baseline="0" noProof="0" dirty="0">
                <a:ln>
                  <a:noFill/>
                </a:ln>
                <a:solidFill>
                  <a:srgbClr val="000000"/>
                </a:solidFill>
                <a:effectLst/>
                <a:uLnTx/>
                <a:uFillTx/>
                <a:latin typeface="Tahoma" panose="020B060403050404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3200" b="0" i="0" u="none" strike="noStrike" kern="0" cap="none" spc="0" normalizeH="0" baseline="0" noProof="0" dirty="0">
                <a:ln>
                  <a:noFill/>
                </a:ln>
                <a:solidFill>
                  <a:srgbClr val="000000"/>
                </a:solidFill>
                <a:effectLst/>
                <a:uLnTx/>
                <a:uFillTx/>
                <a:latin typeface="Tahoma" panose="020B0604030504040204" pitchFamily="34" charset="0"/>
              </a:rPr>
              <a:t>        Double d4 = </a:t>
            </a:r>
            <a:r>
              <a:rPr kumimoji="0" lang="en-US" altLang="el-GR" sz="3200" b="0" i="0" u="none" strike="noStrike" kern="0" cap="none" spc="0" normalizeH="0" baseline="0" noProof="0" dirty="0" err="1">
                <a:ln>
                  <a:noFill/>
                </a:ln>
                <a:solidFill>
                  <a:srgbClr val="000000"/>
                </a:solidFill>
                <a:effectLst/>
                <a:uLnTx/>
                <a:uFillTx/>
                <a:latin typeface="Tahoma" panose="020B0604030504040204" pitchFamily="34" charset="0"/>
              </a:rPr>
              <a:t>st.pop</a:t>
            </a:r>
            <a:r>
              <a:rPr kumimoji="0" lang="en-US" altLang="el-GR" sz="3200" b="0" i="0" u="none" strike="noStrike" kern="0" cap="none" spc="0" normalizeH="0" baseline="0" noProof="0" dirty="0">
                <a:ln>
                  <a:noFill/>
                </a:ln>
                <a:solidFill>
                  <a:srgbClr val="000000"/>
                </a:solidFill>
                <a:effectLst/>
                <a:uLnTx/>
                <a:uFillTx/>
                <a:latin typeface="Tahoma" panose="020B0604030504040204" pitchFamily="34" charset="0"/>
              </a:rPr>
              <a:t>();       </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3200" b="0" i="0" u="none" strike="noStrike" kern="0" cap="none" spc="0" normalizeH="0" baseline="0" noProof="0" dirty="0">
                <a:ln>
                  <a:noFill/>
                </a:ln>
                <a:solidFill>
                  <a:srgbClr val="000000"/>
                </a:solidFill>
                <a:effectLst/>
                <a:uLnTx/>
                <a:uFillTx/>
                <a:latin typeface="Tahoma" panose="020B0604030504040204" pitchFamily="34" charset="0"/>
              </a:rPr>
              <a:t>        </a:t>
            </a:r>
            <a:r>
              <a:rPr kumimoji="0" lang="en-US" altLang="el-GR" sz="3200" b="0" i="0" u="none" strike="noStrike" kern="0" cap="none" spc="0" normalizeH="0" baseline="0" noProof="0" dirty="0" err="1">
                <a:ln>
                  <a:noFill/>
                </a:ln>
                <a:solidFill>
                  <a:srgbClr val="000000"/>
                </a:solidFill>
                <a:effectLst/>
                <a:uLnTx/>
                <a:uFillTx/>
                <a:latin typeface="Tahoma" panose="020B0604030504040204" pitchFamily="34" charset="0"/>
              </a:rPr>
              <a:t>st.push</a:t>
            </a:r>
            <a:r>
              <a:rPr kumimoji="0" lang="en-US" altLang="el-GR" sz="3200" b="0" i="0" u="none" strike="noStrike" kern="0" cap="none" spc="0" normalizeH="0" baseline="0" noProof="0" dirty="0">
                <a:ln>
                  <a:noFill/>
                </a:ln>
                <a:solidFill>
                  <a:srgbClr val="000000"/>
                </a:solidFill>
                <a:effectLst/>
                <a:uLnTx/>
                <a:uFillTx/>
                <a:latin typeface="Tahoma" panose="020B0604030504040204" pitchFamily="34" charset="0"/>
              </a:rPr>
              <a:t>(new Double(d3+d4));</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3200" b="0" i="0" u="none" strike="noStrike" kern="0" cap="none" spc="0" normalizeH="0" baseline="0" noProof="0" dirty="0">
                <a:ln>
                  <a:noFill/>
                </a:ln>
                <a:solidFill>
                  <a:srgbClr val="000000"/>
                </a:solidFill>
                <a:effectLst/>
                <a:uLnTx/>
                <a:uFillTx/>
                <a:latin typeface="Tahoma" panose="020B0604030504040204" pitchFamily="34" charset="0"/>
              </a:rPr>
              <a:t>    }</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3200" b="0" i="0" u="none" strike="noStrike" kern="0" cap="none" spc="0" normalizeH="0" baseline="0" noProof="0" dirty="0">
                <a:ln>
                  <a:noFill/>
                </a:ln>
                <a:solidFill>
                  <a:srgbClr val="000000"/>
                </a:solidFill>
                <a:effectLst/>
                <a:uLnTx/>
                <a:uFillTx/>
                <a:latin typeface="Tahoma" panose="020B0604030504040204" pitchFamily="34" charset="0"/>
              </a:rPr>
              <a:t>}</a:t>
            </a:r>
          </a:p>
        </p:txBody>
      </p:sp>
      <p:pic>
        <p:nvPicPr>
          <p:cNvPr id="19" name="Picture 18">
            <a:extLst>
              <a:ext uri="{FF2B5EF4-FFF2-40B4-BE49-F238E27FC236}">
                <a16:creationId xmlns:a16="http://schemas.microsoft.com/office/drawing/2014/main" id="{974AB1E6-8125-17C9-A8C3-FC51B688A40B}"/>
              </a:ext>
            </a:extLst>
          </p:cNvPr>
          <p:cNvPicPr>
            <a:picLocks noChangeAspect="1"/>
          </p:cNvPicPr>
          <p:nvPr/>
        </p:nvPicPr>
        <p:blipFill>
          <a:blip r:embed="rId3"/>
          <a:stretch>
            <a:fillRect/>
          </a:stretch>
        </p:blipFill>
        <p:spPr>
          <a:xfrm>
            <a:off x="7170680" y="2311833"/>
            <a:ext cx="4923552" cy="3029879"/>
          </a:xfrm>
          <a:prstGeom prst="rect">
            <a:avLst/>
          </a:prstGeom>
        </p:spPr>
      </p:pic>
    </p:spTree>
    <p:extLst>
      <p:ext uri="{BB962C8B-B14F-4D97-AF65-F5344CB8AC3E}">
        <p14:creationId xmlns:p14="http://schemas.microsoft.com/office/powerpoint/2010/main" val="189496107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n-US" sz="4000" b="1" dirty="0">
                <a:solidFill>
                  <a:srgbClr val="F9853D"/>
                </a:solidFill>
                <a:latin typeface="Bahnschrift" panose="020B0502040204020203" pitchFamily="34" charset="0"/>
              </a:rPr>
              <a:t>Integrate components</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3" name="Θέση υποσέλιδου 4">
            <a:extLst>
              <a:ext uri="{FF2B5EF4-FFF2-40B4-BE49-F238E27FC236}">
                <a16:creationId xmlns:a16="http://schemas.microsoft.com/office/drawing/2014/main" id="{C84FEE0A-EC67-F275-4254-C7380CB8525E}"/>
              </a:ext>
            </a:extLst>
          </p:cNvPr>
          <p:cNvSpPr txBox="1">
            <a:spLocks/>
          </p:cNvSpPr>
          <p:nvPr/>
        </p:nvSpPr>
        <p:spPr>
          <a:xfrm>
            <a:off x="3305908" y="6559909"/>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LEGO Approach – Part B</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grpSp>
        <p:nvGrpSpPr>
          <p:cNvPr id="16" name="Group 36">
            <a:extLst>
              <a:ext uri="{FF2B5EF4-FFF2-40B4-BE49-F238E27FC236}">
                <a16:creationId xmlns:a16="http://schemas.microsoft.com/office/drawing/2014/main" id="{4D1352E6-7194-1C10-5A2F-61C390384407}"/>
              </a:ext>
            </a:extLst>
          </p:cNvPr>
          <p:cNvGrpSpPr>
            <a:grpSpLocks/>
          </p:cNvGrpSpPr>
          <p:nvPr/>
        </p:nvGrpSpPr>
        <p:grpSpPr bwMode="auto">
          <a:xfrm>
            <a:off x="8907462" y="3755512"/>
            <a:ext cx="1952625" cy="1101725"/>
            <a:chOff x="3606" y="2886"/>
            <a:chExt cx="1230" cy="694"/>
          </a:xfrm>
        </p:grpSpPr>
        <p:sp>
          <p:nvSpPr>
            <p:cNvPr id="17" name="Rectangle 37">
              <a:extLst>
                <a:ext uri="{FF2B5EF4-FFF2-40B4-BE49-F238E27FC236}">
                  <a16:creationId xmlns:a16="http://schemas.microsoft.com/office/drawing/2014/main" id="{FE05A46A-F45E-7279-C5F9-1721815E5596}"/>
                </a:ext>
              </a:extLst>
            </p:cNvPr>
            <p:cNvSpPr>
              <a:spLocks noChangeArrowheads="1"/>
            </p:cNvSpPr>
            <p:nvPr/>
          </p:nvSpPr>
          <p:spPr bwMode="auto">
            <a:xfrm>
              <a:off x="3742" y="2976"/>
              <a:ext cx="952" cy="499"/>
            </a:xfrm>
            <a:prstGeom prst="rect">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a:ln>
                    <a:noFill/>
                  </a:ln>
                  <a:solidFill>
                    <a:srgbClr val="000000"/>
                  </a:solidFill>
                  <a:effectLst/>
                  <a:uLnTx/>
                  <a:uFillTx/>
                  <a:latin typeface="Tahoma" panose="020B0604030504040204" pitchFamily="34" charset="0"/>
                </a:rPr>
                <a:t>Adder</a:t>
              </a:r>
            </a:p>
          </p:txBody>
        </p:sp>
        <p:sp>
          <p:nvSpPr>
            <p:cNvPr id="18" name="Rectangle 38">
              <a:extLst>
                <a:ext uri="{FF2B5EF4-FFF2-40B4-BE49-F238E27FC236}">
                  <a16:creationId xmlns:a16="http://schemas.microsoft.com/office/drawing/2014/main" id="{4A4336B5-6A97-BB99-B228-E6A4D9F9389A}"/>
                </a:ext>
              </a:extLst>
            </p:cNvPr>
            <p:cNvSpPr>
              <a:spLocks noChangeArrowheads="1"/>
            </p:cNvSpPr>
            <p:nvPr/>
          </p:nvSpPr>
          <p:spPr bwMode="auto">
            <a:xfrm>
              <a:off x="3742" y="3475"/>
              <a:ext cx="317" cy="105"/>
            </a:xfrm>
            <a:prstGeom prst="rect">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19" name="Rectangle 39">
              <a:extLst>
                <a:ext uri="{FF2B5EF4-FFF2-40B4-BE49-F238E27FC236}">
                  <a16:creationId xmlns:a16="http://schemas.microsoft.com/office/drawing/2014/main" id="{6F56CA46-C09D-055D-982B-76CE79BC64D1}"/>
                </a:ext>
              </a:extLst>
            </p:cNvPr>
            <p:cNvSpPr>
              <a:spLocks noChangeArrowheads="1"/>
            </p:cNvSpPr>
            <p:nvPr/>
          </p:nvSpPr>
          <p:spPr bwMode="auto">
            <a:xfrm>
              <a:off x="4286" y="3475"/>
              <a:ext cx="317" cy="105"/>
            </a:xfrm>
            <a:prstGeom prst="rect">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0" name="Rectangle 40">
              <a:extLst>
                <a:ext uri="{FF2B5EF4-FFF2-40B4-BE49-F238E27FC236}">
                  <a16:creationId xmlns:a16="http://schemas.microsoft.com/office/drawing/2014/main" id="{C583EEE1-A9E8-9FC5-4630-7F127148F6E2}"/>
                </a:ext>
              </a:extLst>
            </p:cNvPr>
            <p:cNvSpPr>
              <a:spLocks noChangeArrowheads="1"/>
            </p:cNvSpPr>
            <p:nvPr/>
          </p:nvSpPr>
          <p:spPr bwMode="auto">
            <a:xfrm>
              <a:off x="3606" y="3203"/>
              <a:ext cx="142" cy="210"/>
            </a:xfrm>
            <a:prstGeom prst="rect">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1" name="Rectangle 41">
              <a:extLst>
                <a:ext uri="{FF2B5EF4-FFF2-40B4-BE49-F238E27FC236}">
                  <a16:creationId xmlns:a16="http://schemas.microsoft.com/office/drawing/2014/main" id="{92C06F03-8918-1CBB-9F78-7A0D3DE13D92}"/>
                </a:ext>
              </a:extLst>
            </p:cNvPr>
            <p:cNvSpPr>
              <a:spLocks noChangeArrowheads="1"/>
            </p:cNvSpPr>
            <p:nvPr/>
          </p:nvSpPr>
          <p:spPr bwMode="auto">
            <a:xfrm>
              <a:off x="4694" y="2976"/>
              <a:ext cx="142" cy="120"/>
            </a:xfrm>
            <a:prstGeom prst="rect">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2" name="Rectangle 42">
              <a:extLst>
                <a:ext uri="{FF2B5EF4-FFF2-40B4-BE49-F238E27FC236}">
                  <a16:creationId xmlns:a16="http://schemas.microsoft.com/office/drawing/2014/main" id="{A7039F42-1EA3-63D9-E375-80F3BF94EEF0}"/>
                </a:ext>
              </a:extLst>
            </p:cNvPr>
            <p:cNvSpPr>
              <a:spLocks noChangeArrowheads="1"/>
            </p:cNvSpPr>
            <p:nvPr/>
          </p:nvSpPr>
          <p:spPr bwMode="auto">
            <a:xfrm>
              <a:off x="4694" y="3203"/>
              <a:ext cx="142" cy="210"/>
            </a:xfrm>
            <a:prstGeom prst="rect">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3" name="Rectangle 43">
              <a:extLst>
                <a:ext uri="{FF2B5EF4-FFF2-40B4-BE49-F238E27FC236}">
                  <a16:creationId xmlns:a16="http://schemas.microsoft.com/office/drawing/2014/main" id="{75EBFB28-1F62-CCBB-C7E1-9E56BAC88D78}"/>
                </a:ext>
              </a:extLst>
            </p:cNvPr>
            <p:cNvSpPr>
              <a:spLocks noChangeArrowheads="1"/>
            </p:cNvSpPr>
            <p:nvPr/>
          </p:nvSpPr>
          <p:spPr bwMode="auto">
            <a:xfrm>
              <a:off x="3787" y="2886"/>
              <a:ext cx="317" cy="105"/>
            </a:xfrm>
            <a:prstGeom prst="rect">
              <a:avLst/>
            </a:prstGeom>
            <a:solidFill>
              <a:srgbClr val="FF0000"/>
            </a:solidFill>
            <a:ln w="9525">
              <a:solidFill>
                <a:srgbClr val="FF0000"/>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grpSp>
      <p:sp>
        <p:nvSpPr>
          <p:cNvPr id="24" name="Text Box 44">
            <a:extLst>
              <a:ext uri="{FF2B5EF4-FFF2-40B4-BE49-F238E27FC236}">
                <a16:creationId xmlns:a16="http://schemas.microsoft.com/office/drawing/2014/main" id="{343F3598-CCB8-2FFF-452C-2F8F2A7B3C67}"/>
              </a:ext>
            </a:extLst>
          </p:cNvPr>
          <p:cNvSpPr txBox="1">
            <a:spLocks noChangeArrowheads="1"/>
          </p:cNvSpPr>
          <p:nvPr/>
        </p:nvSpPr>
        <p:spPr bwMode="auto">
          <a:xfrm>
            <a:off x="107949" y="908050"/>
            <a:ext cx="5739957" cy="338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1800" b="0" i="0" u="none" strike="noStrike" kern="0" cap="none" spc="0" normalizeH="0" baseline="0" noProof="0" dirty="0">
                <a:ln>
                  <a:noFill/>
                </a:ln>
                <a:solidFill>
                  <a:srgbClr val="000000"/>
                </a:solidFill>
                <a:effectLst/>
                <a:uLnTx/>
                <a:uFillTx/>
                <a:latin typeface="Tahoma" panose="020B0604030504040204" pitchFamily="34" charset="0"/>
              </a:rPr>
              <a:t>public class </a:t>
            </a:r>
            <a:r>
              <a:rPr kumimoji="0" lang="en-US" altLang="el-GR" sz="1800" b="1" i="0" u="none" strike="noStrike" kern="0" cap="none" spc="0" normalizeH="0" baseline="0" noProof="0" dirty="0">
                <a:ln>
                  <a:noFill/>
                </a:ln>
                <a:solidFill>
                  <a:srgbClr val="800000"/>
                </a:solidFill>
                <a:effectLst/>
                <a:uLnTx/>
                <a:uFillTx/>
                <a:latin typeface="Tahoma" panose="020B0604030504040204" pitchFamily="34" charset="0"/>
              </a:rPr>
              <a:t>Calc</a:t>
            </a:r>
            <a:r>
              <a:rPr kumimoji="0" lang="en-US" altLang="el-GR" sz="1800" b="0" i="0" u="none" strike="noStrike" kern="0" cap="none" spc="0" normalizeH="0" baseline="0" noProof="0" dirty="0">
                <a:ln>
                  <a:noFill/>
                </a:ln>
                <a:solidFill>
                  <a:srgbClr val="000000"/>
                </a:solidFill>
                <a:effectLst/>
                <a:uLnTx/>
                <a:uFillTx/>
                <a:latin typeface="Tahoma" panose="020B060403050404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1800" b="0" i="0" u="none" strike="noStrike" kern="0" cap="none" spc="0" normalizeH="0" baseline="0" noProof="0" dirty="0">
                <a:ln>
                  <a:noFill/>
                </a:ln>
                <a:solidFill>
                  <a:srgbClr val="000000"/>
                </a:solidFill>
                <a:effectLst/>
                <a:uLnTx/>
                <a:uFillTx/>
                <a:latin typeface="Tahoma" panose="020B0604030504040204" pitchFamily="34" charset="0"/>
              </a:rPr>
              <a:t>    public static void </a:t>
            </a:r>
            <a:r>
              <a:rPr kumimoji="0" lang="en-US" altLang="el-GR" sz="1800" b="1" i="0" u="none" strike="noStrike" kern="0" cap="none" spc="0" normalizeH="0" baseline="0" noProof="0" dirty="0">
                <a:ln>
                  <a:noFill/>
                </a:ln>
                <a:solidFill>
                  <a:srgbClr val="800000"/>
                </a:solidFill>
                <a:effectLst/>
                <a:uLnTx/>
                <a:uFillTx/>
                <a:latin typeface="Tahoma" panose="020B0604030504040204" pitchFamily="34" charset="0"/>
              </a:rPr>
              <a:t>main</a:t>
            </a:r>
            <a:r>
              <a:rPr kumimoji="0" lang="en-US" altLang="el-GR" sz="1800" b="0" i="0" u="none" strike="noStrike" kern="0" cap="none" spc="0" normalizeH="0" baseline="0" noProof="0" dirty="0">
                <a:ln>
                  <a:noFill/>
                </a:ln>
                <a:solidFill>
                  <a:srgbClr val="000000"/>
                </a:solidFill>
                <a:effectLst/>
                <a:uLnTx/>
                <a:uFillTx/>
                <a:latin typeface="Tahoma" panose="020B060403050404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1800" b="0" i="0" u="none" strike="noStrike" kern="0" cap="none" spc="0" normalizeH="0" baseline="0" noProof="0" dirty="0">
                <a:ln>
                  <a:noFill/>
                </a:ln>
                <a:solidFill>
                  <a:srgbClr val="000000"/>
                </a:solidFill>
                <a:effectLst/>
                <a:uLnTx/>
                <a:uFillTx/>
                <a:latin typeface="Tahoma" panose="020B0604030504040204" pitchFamily="34" charset="0"/>
              </a:rPr>
              <a:t>        Double d1 = new Double(20);</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1800" b="0" i="0" u="none" strike="noStrike" kern="0" cap="none" spc="0" normalizeH="0" baseline="0" noProof="0" dirty="0">
                <a:ln>
                  <a:noFill/>
                </a:ln>
                <a:solidFill>
                  <a:srgbClr val="000000"/>
                </a:solidFill>
                <a:effectLst/>
                <a:uLnTx/>
                <a:uFillTx/>
                <a:latin typeface="Tahoma" panose="020B0604030504040204" pitchFamily="34" charset="0"/>
              </a:rPr>
              <a:t>        </a:t>
            </a:r>
            <a:r>
              <a:rPr kumimoji="0" lang="en-US" altLang="el-GR" sz="1800" b="0" i="0" u="none" strike="noStrike" kern="0" cap="none" spc="0" normalizeH="0" baseline="0" noProof="0" dirty="0" err="1">
                <a:ln>
                  <a:noFill/>
                </a:ln>
                <a:solidFill>
                  <a:srgbClr val="000000"/>
                </a:solidFill>
                <a:effectLst/>
                <a:uLnTx/>
                <a:uFillTx/>
                <a:latin typeface="Tahoma" panose="020B0604030504040204" pitchFamily="34" charset="0"/>
              </a:rPr>
              <a:t>System.out.println</a:t>
            </a:r>
            <a:r>
              <a:rPr kumimoji="0" lang="en-US" altLang="el-GR" sz="1800" b="0" i="0" u="none" strike="noStrike" kern="0" cap="none" spc="0" normalizeH="0" baseline="0" noProof="0" dirty="0">
                <a:ln>
                  <a:noFill/>
                </a:ln>
                <a:solidFill>
                  <a:srgbClr val="000000"/>
                </a:solidFill>
                <a:effectLst/>
                <a:uLnTx/>
                <a:uFillTx/>
                <a:latin typeface="Tahoma" panose="020B0604030504040204" pitchFamily="34" charset="0"/>
              </a:rPr>
              <a:t>("d1="+d1);</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1800" b="0" i="0" u="none" strike="noStrike" kern="0" cap="none" spc="0" normalizeH="0" baseline="0" noProof="0" dirty="0">
                <a:ln>
                  <a:noFill/>
                </a:ln>
                <a:solidFill>
                  <a:srgbClr val="000000"/>
                </a:solidFill>
                <a:effectLst/>
                <a:uLnTx/>
                <a:uFillTx/>
                <a:latin typeface="Tahoma" panose="020B0604030504040204" pitchFamily="34" charset="0"/>
              </a:rPr>
              <a:t>        Double d2 = new Double(40);</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1800" b="0" i="0" u="none" strike="noStrike" kern="0" cap="none" spc="0" normalizeH="0" baseline="0" noProof="0" dirty="0">
                <a:ln>
                  <a:noFill/>
                </a:ln>
                <a:solidFill>
                  <a:srgbClr val="000000"/>
                </a:solidFill>
                <a:effectLst/>
                <a:uLnTx/>
                <a:uFillTx/>
                <a:latin typeface="Tahoma" panose="020B0604030504040204" pitchFamily="34" charset="0"/>
              </a:rPr>
              <a:t>        </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1800" b="0" i="0" u="none" strike="noStrike" kern="0" cap="none" spc="0" normalizeH="0" baseline="0" noProof="0" dirty="0">
                <a:ln>
                  <a:noFill/>
                </a:ln>
                <a:solidFill>
                  <a:srgbClr val="000000"/>
                </a:solidFill>
                <a:effectLst/>
                <a:uLnTx/>
                <a:uFillTx/>
                <a:latin typeface="Tahoma" panose="020B0604030504040204" pitchFamily="34" charset="0"/>
              </a:rPr>
              <a:t>        Stack&lt;Double&gt; </a:t>
            </a:r>
            <a:r>
              <a:rPr kumimoji="0" lang="en-US" altLang="el-GR" sz="1800" b="0" i="0" u="none" strike="noStrike" kern="0" cap="none" spc="0" normalizeH="0" baseline="0" noProof="0" dirty="0" err="1">
                <a:ln>
                  <a:noFill/>
                </a:ln>
                <a:solidFill>
                  <a:srgbClr val="000000"/>
                </a:solidFill>
                <a:effectLst/>
                <a:uLnTx/>
                <a:uFillTx/>
                <a:latin typeface="Tahoma" panose="020B0604030504040204" pitchFamily="34" charset="0"/>
              </a:rPr>
              <a:t>st</a:t>
            </a:r>
            <a:r>
              <a:rPr kumimoji="0" lang="en-US" altLang="el-GR" sz="1800" b="0" i="0" u="none" strike="noStrike" kern="0" cap="none" spc="0" normalizeH="0" baseline="0" noProof="0" dirty="0">
                <a:ln>
                  <a:noFill/>
                </a:ln>
                <a:solidFill>
                  <a:srgbClr val="000000"/>
                </a:solidFill>
                <a:effectLst/>
                <a:uLnTx/>
                <a:uFillTx/>
                <a:latin typeface="Tahoma" panose="020B0604030504040204" pitchFamily="34" charset="0"/>
              </a:rPr>
              <a:t> = new Stack&lt;Double&gt;();</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1800" b="0" i="0" u="none" strike="noStrike" kern="0" cap="none" spc="0" normalizeH="0" baseline="0" noProof="0" dirty="0">
                <a:ln>
                  <a:noFill/>
                </a:ln>
                <a:solidFill>
                  <a:srgbClr val="000000"/>
                </a:solidFill>
                <a:effectLst/>
                <a:uLnTx/>
                <a:uFillTx/>
                <a:latin typeface="Tahoma" panose="020B0604030504040204" pitchFamily="34" charset="0"/>
              </a:rPr>
              <a:t>        </a:t>
            </a:r>
            <a:r>
              <a:rPr kumimoji="0" lang="en-US" altLang="el-GR" sz="1800" b="0" i="0" u="none" strike="noStrike" kern="0" cap="none" spc="0" normalizeH="0" baseline="0" noProof="0" dirty="0" err="1">
                <a:ln>
                  <a:noFill/>
                </a:ln>
                <a:solidFill>
                  <a:srgbClr val="000000"/>
                </a:solidFill>
                <a:effectLst/>
                <a:uLnTx/>
                <a:uFillTx/>
                <a:latin typeface="Tahoma" panose="020B0604030504040204" pitchFamily="34" charset="0"/>
              </a:rPr>
              <a:t>st.push</a:t>
            </a:r>
            <a:r>
              <a:rPr kumimoji="0" lang="en-US" altLang="el-GR" sz="1800" b="0" i="0" u="none" strike="noStrike" kern="0" cap="none" spc="0" normalizeH="0" baseline="0" noProof="0" dirty="0">
                <a:ln>
                  <a:noFill/>
                </a:ln>
                <a:solidFill>
                  <a:srgbClr val="000000"/>
                </a:solidFill>
                <a:effectLst/>
                <a:uLnTx/>
                <a:uFillTx/>
                <a:latin typeface="Tahoma" panose="020B0604030504040204" pitchFamily="34" charset="0"/>
              </a:rPr>
              <a:t>(d1);</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1800" b="0" i="0" u="none" strike="noStrike" kern="0" cap="none" spc="0" normalizeH="0" baseline="0" noProof="0" dirty="0">
                <a:ln>
                  <a:noFill/>
                </a:ln>
                <a:solidFill>
                  <a:srgbClr val="000000"/>
                </a:solidFill>
                <a:effectLst/>
                <a:uLnTx/>
                <a:uFillTx/>
                <a:latin typeface="Tahoma" panose="020B0604030504040204" pitchFamily="34" charset="0"/>
              </a:rPr>
              <a:t>        </a:t>
            </a:r>
            <a:r>
              <a:rPr kumimoji="0" lang="en-US" altLang="el-GR" sz="1800" b="0" i="0" u="none" strike="noStrike" kern="0" cap="none" spc="0" normalizeH="0" baseline="0" noProof="0" dirty="0" err="1">
                <a:ln>
                  <a:noFill/>
                </a:ln>
                <a:solidFill>
                  <a:srgbClr val="000000"/>
                </a:solidFill>
                <a:effectLst/>
                <a:uLnTx/>
                <a:uFillTx/>
                <a:latin typeface="Tahoma" panose="020B0604030504040204" pitchFamily="34" charset="0"/>
              </a:rPr>
              <a:t>st.push</a:t>
            </a:r>
            <a:r>
              <a:rPr kumimoji="0" lang="en-US" altLang="el-GR" sz="1800" b="0" i="0" u="none" strike="noStrike" kern="0" cap="none" spc="0" normalizeH="0" baseline="0" noProof="0" dirty="0">
                <a:ln>
                  <a:noFill/>
                </a:ln>
                <a:solidFill>
                  <a:srgbClr val="000000"/>
                </a:solidFill>
                <a:effectLst/>
                <a:uLnTx/>
                <a:uFillTx/>
                <a:latin typeface="Tahoma" panose="020B0604030504040204" pitchFamily="34" charset="0"/>
              </a:rPr>
              <a:t>(d2);</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1800" b="0" i="0" u="none" strike="noStrike" kern="0" cap="none" spc="0" normalizeH="0" baseline="0" noProof="0" dirty="0">
                <a:ln>
                  <a:noFill/>
                </a:ln>
                <a:solidFill>
                  <a:srgbClr val="000000"/>
                </a:solidFill>
                <a:effectLst/>
                <a:uLnTx/>
                <a:uFillTx/>
                <a:latin typeface="Tahoma" panose="020B0604030504040204" pitchFamily="34" charset="0"/>
              </a:rPr>
              <a:t>        </a:t>
            </a:r>
            <a:r>
              <a:rPr kumimoji="0" lang="en-US" altLang="el-GR" sz="1800" b="1" i="0" u="none" strike="noStrike" kern="0" cap="none" spc="0" normalizeH="0" baseline="0" noProof="0" dirty="0">
                <a:ln>
                  <a:noFill/>
                </a:ln>
                <a:solidFill>
                  <a:srgbClr val="FF0000"/>
                </a:solidFill>
                <a:effectLst/>
                <a:uLnTx/>
                <a:uFillTx/>
                <a:latin typeface="Tahoma" panose="020B060403050404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1800" b="0" i="0" u="none" strike="noStrike" kern="0" cap="none" spc="0" normalizeH="0" baseline="0" noProof="0" dirty="0">
                <a:ln>
                  <a:noFill/>
                </a:ln>
                <a:solidFill>
                  <a:srgbClr val="000000"/>
                </a:solidFill>
                <a:effectLst/>
                <a:uLnTx/>
                <a:uFillTx/>
                <a:latin typeface="Tahoma" panose="020B0604030504040204" pitchFamily="34" charset="0"/>
              </a:rPr>
              <a:t>        </a:t>
            </a:r>
            <a:r>
              <a:rPr kumimoji="0" lang="en-US" altLang="el-GR" sz="1800" b="0" i="0" u="none" strike="noStrike" kern="0" cap="none" spc="0" normalizeH="0" baseline="0" noProof="0" dirty="0" err="1">
                <a:ln>
                  <a:noFill/>
                </a:ln>
                <a:solidFill>
                  <a:srgbClr val="000000"/>
                </a:solidFill>
                <a:effectLst/>
                <a:uLnTx/>
                <a:uFillTx/>
                <a:latin typeface="Tahoma" panose="020B0604030504040204" pitchFamily="34" charset="0"/>
              </a:rPr>
              <a:t>System.out.println</a:t>
            </a:r>
            <a:r>
              <a:rPr kumimoji="0" lang="en-US" altLang="el-GR" sz="1800" b="0" i="0" u="none" strike="noStrike" kern="0" cap="none" spc="0" normalizeH="0" baseline="0" noProof="0" dirty="0">
                <a:ln>
                  <a:noFill/>
                </a:ln>
                <a:solidFill>
                  <a:srgbClr val="000000"/>
                </a:solidFill>
                <a:effectLst/>
                <a:uLnTx/>
                <a:uFillTx/>
                <a:latin typeface="Tahoma" panose="020B0604030504040204" pitchFamily="34" charset="0"/>
              </a:rPr>
              <a:t>("sum is="+</a:t>
            </a:r>
            <a:r>
              <a:rPr kumimoji="0" lang="en-US" altLang="el-GR" sz="1800" b="0" i="0" u="none" strike="noStrike" kern="0" cap="none" spc="0" normalizeH="0" baseline="0" noProof="0" dirty="0" err="1">
                <a:ln>
                  <a:noFill/>
                </a:ln>
                <a:solidFill>
                  <a:srgbClr val="000000"/>
                </a:solidFill>
                <a:effectLst/>
                <a:uLnTx/>
                <a:uFillTx/>
                <a:latin typeface="Tahoma" panose="020B0604030504040204" pitchFamily="34" charset="0"/>
              </a:rPr>
              <a:t>st.pop</a:t>
            </a:r>
            <a:r>
              <a:rPr kumimoji="0" lang="en-US" altLang="el-GR" sz="1800" b="0" i="0" u="none" strike="noStrike" kern="0" cap="none" spc="0" normalizeH="0" baseline="0" noProof="0" dirty="0">
                <a:ln>
                  <a:noFill/>
                </a:ln>
                <a:solidFill>
                  <a:srgbClr val="000000"/>
                </a:solidFill>
                <a:effectLst/>
                <a:uLnTx/>
                <a:uFillTx/>
                <a:latin typeface="Tahoma" panose="020B060403050404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1800" b="0" i="0" u="none" strike="noStrike" kern="0" cap="none" spc="0" normalizeH="0" baseline="0" noProof="0" dirty="0">
                <a:ln>
                  <a:noFill/>
                </a:ln>
                <a:solidFill>
                  <a:srgbClr val="000000"/>
                </a:solidFill>
                <a:effectLst/>
                <a:uLnTx/>
                <a:uFillTx/>
                <a:latin typeface="Tahoma" panose="020B0604030504040204" pitchFamily="34" charset="0"/>
              </a:rPr>
              <a:t>    }</a:t>
            </a:r>
          </a:p>
        </p:txBody>
      </p:sp>
      <p:sp>
        <p:nvSpPr>
          <p:cNvPr id="25" name="Text Box 45">
            <a:extLst>
              <a:ext uri="{FF2B5EF4-FFF2-40B4-BE49-F238E27FC236}">
                <a16:creationId xmlns:a16="http://schemas.microsoft.com/office/drawing/2014/main" id="{D91F12C1-A887-9393-B93C-D7D3E57C40F1}"/>
              </a:ext>
            </a:extLst>
          </p:cNvPr>
          <p:cNvSpPr txBox="1">
            <a:spLocks noChangeArrowheads="1"/>
          </p:cNvSpPr>
          <p:nvPr/>
        </p:nvSpPr>
        <p:spPr bwMode="auto">
          <a:xfrm>
            <a:off x="4716463" y="4221163"/>
            <a:ext cx="3783012" cy="2014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1800" b="0" i="0" u="none" strike="noStrike" kern="0" cap="none" spc="0" normalizeH="0" baseline="0" noProof="0">
                <a:ln>
                  <a:noFill/>
                </a:ln>
                <a:solidFill>
                  <a:srgbClr val="000000"/>
                </a:solidFill>
                <a:effectLst/>
                <a:uLnTx/>
                <a:uFillTx/>
                <a:latin typeface="Tahoma" panose="020B0604030504040204" pitchFamily="34" charset="0"/>
              </a:rPr>
              <a:t>class </a:t>
            </a:r>
            <a:r>
              <a:rPr kumimoji="0" lang="en-US" altLang="el-GR" sz="1800" b="1" i="0" u="none" strike="noStrike" kern="0" cap="none" spc="0" normalizeH="0" baseline="0" noProof="0">
                <a:ln>
                  <a:noFill/>
                </a:ln>
                <a:solidFill>
                  <a:srgbClr val="800000"/>
                </a:solidFill>
                <a:effectLst/>
                <a:uLnTx/>
                <a:uFillTx/>
                <a:latin typeface="Tahoma" panose="020B0604030504040204" pitchFamily="34" charset="0"/>
              </a:rPr>
              <a:t>Adder</a:t>
            </a:r>
            <a:r>
              <a:rPr kumimoji="0" lang="en-US" altLang="el-GR" sz="1800" b="0" i="0" u="none" strike="noStrike" kern="0" cap="none" spc="0" normalizeH="0" baseline="0" noProof="0">
                <a:ln>
                  <a:noFill/>
                </a:ln>
                <a:solidFill>
                  <a:srgbClr val="000000"/>
                </a:solidFill>
                <a:effectLst/>
                <a:uLnTx/>
                <a:uFillTx/>
                <a:latin typeface="Tahoma" panose="020B060403050404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1800" b="0" i="0" u="none" strike="noStrike" kern="0" cap="none" spc="0" normalizeH="0" baseline="0" noProof="0">
                <a:ln>
                  <a:noFill/>
                </a:ln>
                <a:solidFill>
                  <a:srgbClr val="000000"/>
                </a:solidFill>
                <a:effectLst/>
                <a:uLnTx/>
                <a:uFillTx/>
                <a:latin typeface="Tahoma" panose="020B0604030504040204" pitchFamily="34" charset="0"/>
              </a:rPr>
              <a:t>    public static void </a:t>
            </a:r>
            <a:r>
              <a:rPr kumimoji="0" lang="en-US" altLang="el-GR" sz="1800" b="1" i="0" u="none" strike="noStrike" kern="0" cap="none" spc="0" normalizeH="0" baseline="0" noProof="0">
                <a:ln>
                  <a:noFill/>
                </a:ln>
                <a:solidFill>
                  <a:srgbClr val="800000"/>
                </a:solidFill>
                <a:effectLst/>
                <a:uLnTx/>
                <a:uFillTx/>
                <a:latin typeface="Tahoma" panose="020B0604030504040204" pitchFamily="34" charset="0"/>
              </a:rPr>
              <a:t>operate</a:t>
            </a:r>
            <a:r>
              <a:rPr kumimoji="0" lang="en-US" altLang="el-GR" sz="1800" b="0" i="0" u="none" strike="noStrike" kern="0" cap="none" spc="0" normalizeH="0" baseline="0" noProof="0">
                <a:ln>
                  <a:noFill/>
                </a:ln>
                <a:solidFill>
                  <a:srgbClr val="000000"/>
                </a:solidFill>
                <a:effectLst/>
                <a:uLnTx/>
                <a:uFillTx/>
                <a:latin typeface="Tahoma" panose="020B060403050404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1800" b="0" i="0" u="none" strike="noStrike" kern="0" cap="none" spc="0" normalizeH="0" baseline="0" noProof="0">
                <a:ln>
                  <a:noFill/>
                </a:ln>
                <a:solidFill>
                  <a:srgbClr val="000000"/>
                </a:solidFill>
                <a:effectLst/>
                <a:uLnTx/>
                <a:uFillTx/>
                <a:latin typeface="Tahoma" panose="020B0604030504040204" pitchFamily="34" charset="0"/>
              </a:rPr>
              <a:t>        Double d3 = </a:t>
            </a:r>
            <a:r>
              <a:rPr kumimoji="0" lang="en-US" altLang="el-GR" sz="1800" b="1" i="0" u="none" strike="noStrike" kern="0" cap="none" spc="0" normalizeH="0" baseline="0" noProof="0">
                <a:ln>
                  <a:noFill/>
                </a:ln>
                <a:solidFill>
                  <a:srgbClr val="FF0000"/>
                </a:solidFill>
                <a:effectLst/>
                <a:uLnTx/>
                <a:uFillTx/>
                <a:latin typeface="Tahoma" panose="020B0604030504040204" pitchFamily="34" charset="0"/>
              </a:rPr>
              <a:t>st.</a:t>
            </a:r>
            <a:r>
              <a:rPr kumimoji="0" lang="en-US" altLang="el-GR" sz="1800" b="0" i="0" u="none" strike="noStrike" kern="0" cap="none" spc="0" normalizeH="0" baseline="0" noProof="0">
                <a:ln>
                  <a:noFill/>
                </a:ln>
                <a:solidFill>
                  <a:srgbClr val="000000"/>
                </a:solidFill>
                <a:effectLst/>
                <a:uLnTx/>
                <a:uFillTx/>
                <a:latin typeface="Tahoma" panose="020B0604030504040204" pitchFamily="34" charset="0"/>
              </a:rPr>
              <a:t>pop();</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1800" b="0" i="0" u="none" strike="noStrike" kern="0" cap="none" spc="0" normalizeH="0" baseline="0" noProof="0">
                <a:ln>
                  <a:noFill/>
                </a:ln>
                <a:solidFill>
                  <a:srgbClr val="000000"/>
                </a:solidFill>
                <a:effectLst/>
                <a:uLnTx/>
                <a:uFillTx/>
                <a:latin typeface="Tahoma" panose="020B0604030504040204" pitchFamily="34" charset="0"/>
              </a:rPr>
              <a:t>        Double d4 = st.pop();       </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1800" b="0" i="0" u="none" strike="noStrike" kern="0" cap="none" spc="0" normalizeH="0" baseline="0" noProof="0">
                <a:ln>
                  <a:noFill/>
                </a:ln>
                <a:solidFill>
                  <a:srgbClr val="000000"/>
                </a:solidFill>
                <a:effectLst/>
                <a:uLnTx/>
                <a:uFillTx/>
                <a:latin typeface="Tahoma" panose="020B0604030504040204" pitchFamily="34" charset="0"/>
              </a:rPr>
              <a:t>        st.push(new Double(d3+d4));</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1800" b="0" i="0" u="none" strike="noStrike" kern="0" cap="none" spc="0" normalizeH="0" baseline="0" noProof="0">
                <a:ln>
                  <a:noFill/>
                </a:ln>
                <a:solidFill>
                  <a:srgbClr val="000000"/>
                </a:solidFill>
                <a:effectLst/>
                <a:uLnTx/>
                <a:uFillTx/>
                <a:latin typeface="Tahoma" panose="020B0604030504040204" pitchFamily="34" charset="0"/>
              </a:rPr>
              <a:t>    }</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1800" b="0" i="0" u="none" strike="noStrike" kern="0" cap="none" spc="0" normalizeH="0" baseline="0" noProof="0">
                <a:ln>
                  <a:noFill/>
                </a:ln>
                <a:solidFill>
                  <a:srgbClr val="000000"/>
                </a:solidFill>
                <a:effectLst/>
                <a:uLnTx/>
                <a:uFillTx/>
                <a:latin typeface="Tahoma" panose="020B0604030504040204" pitchFamily="34" charset="0"/>
              </a:rPr>
              <a:t>}</a:t>
            </a:r>
          </a:p>
        </p:txBody>
      </p:sp>
      <p:sp>
        <p:nvSpPr>
          <p:cNvPr id="26" name="Text Box 48">
            <a:extLst>
              <a:ext uri="{FF2B5EF4-FFF2-40B4-BE49-F238E27FC236}">
                <a16:creationId xmlns:a16="http://schemas.microsoft.com/office/drawing/2014/main" id="{2F9D8169-2602-1C17-F972-EECAAFEADD71}"/>
              </a:ext>
            </a:extLst>
          </p:cNvPr>
          <p:cNvSpPr txBox="1">
            <a:spLocks noChangeArrowheads="1"/>
          </p:cNvSpPr>
          <p:nvPr/>
        </p:nvSpPr>
        <p:spPr bwMode="auto">
          <a:xfrm>
            <a:off x="9185604" y="2787650"/>
            <a:ext cx="503664"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4400" b="1" i="0" u="none" strike="noStrike" kern="0" cap="none" spc="0" normalizeH="0" baseline="0" noProof="0" dirty="0">
                <a:ln>
                  <a:noFill/>
                </a:ln>
                <a:solidFill>
                  <a:srgbClr val="FF0000"/>
                </a:solidFill>
                <a:effectLst/>
                <a:uLnTx/>
                <a:uFillTx/>
                <a:latin typeface="Tahoma" panose="020B0604030504040204" pitchFamily="34" charset="0"/>
              </a:rPr>
              <a:t>?</a:t>
            </a:r>
          </a:p>
        </p:txBody>
      </p:sp>
      <p:sp>
        <p:nvSpPr>
          <p:cNvPr id="27" name="Line 49">
            <a:extLst>
              <a:ext uri="{FF2B5EF4-FFF2-40B4-BE49-F238E27FC236}">
                <a16:creationId xmlns:a16="http://schemas.microsoft.com/office/drawing/2014/main" id="{45CC2E88-3F15-7491-FC2A-7D920D03E2E4}"/>
              </a:ext>
            </a:extLst>
          </p:cNvPr>
          <p:cNvSpPr>
            <a:spLocks noChangeShapeType="1"/>
          </p:cNvSpPr>
          <p:nvPr/>
        </p:nvSpPr>
        <p:spPr bwMode="auto">
          <a:xfrm>
            <a:off x="611188" y="1557338"/>
            <a:ext cx="0" cy="1943100"/>
          </a:xfrm>
          <a:prstGeom prst="line">
            <a:avLst/>
          </a:prstGeom>
          <a:noFill/>
          <a:ln w="3810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8" name="Line 50">
            <a:extLst>
              <a:ext uri="{FF2B5EF4-FFF2-40B4-BE49-F238E27FC236}">
                <a16:creationId xmlns:a16="http://schemas.microsoft.com/office/drawing/2014/main" id="{9EFF8AD0-FAA3-2481-1F2C-64238187A95C}"/>
              </a:ext>
            </a:extLst>
          </p:cNvPr>
          <p:cNvSpPr>
            <a:spLocks noChangeShapeType="1"/>
          </p:cNvSpPr>
          <p:nvPr/>
        </p:nvSpPr>
        <p:spPr bwMode="auto">
          <a:xfrm>
            <a:off x="1331913" y="3573463"/>
            <a:ext cx="3671887" cy="1079500"/>
          </a:xfrm>
          <a:prstGeom prst="line">
            <a:avLst/>
          </a:prstGeom>
          <a:noFill/>
          <a:ln w="3810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29" name="Text Box 51">
            <a:extLst>
              <a:ext uri="{FF2B5EF4-FFF2-40B4-BE49-F238E27FC236}">
                <a16:creationId xmlns:a16="http://schemas.microsoft.com/office/drawing/2014/main" id="{21F31EEF-F50F-823F-7096-50471EDD5DD9}"/>
              </a:ext>
            </a:extLst>
          </p:cNvPr>
          <p:cNvSpPr txBox="1">
            <a:spLocks noChangeArrowheads="1"/>
          </p:cNvSpPr>
          <p:nvPr/>
        </p:nvSpPr>
        <p:spPr bwMode="auto">
          <a:xfrm>
            <a:off x="303213" y="5026025"/>
            <a:ext cx="2419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a:ln>
                  <a:noFill/>
                </a:ln>
                <a:solidFill>
                  <a:srgbClr val="800000"/>
                </a:solidFill>
                <a:effectLst/>
                <a:uLnTx/>
                <a:uFillTx/>
                <a:latin typeface="Tahoma" panose="020B0604030504040204" pitchFamily="34" charset="0"/>
              </a:rPr>
              <a:t>Flow of control ?</a:t>
            </a:r>
          </a:p>
        </p:txBody>
      </p:sp>
      <p:sp>
        <p:nvSpPr>
          <p:cNvPr id="30" name="Line 52">
            <a:extLst>
              <a:ext uri="{FF2B5EF4-FFF2-40B4-BE49-F238E27FC236}">
                <a16:creationId xmlns:a16="http://schemas.microsoft.com/office/drawing/2014/main" id="{A45C5AD4-684B-887C-226B-A42A913D8D0E}"/>
              </a:ext>
            </a:extLst>
          </p:cNvPr>
          <p:cNvSpPr>
            <a:spLocks noChangeShapeType="1"/>
          </p:cNvSpPr>
          <p:nvPr/>
        </p:nvSpPr>
        <p:spPr bwMode="auto">
          <a:xfrm flipH="1">
            <a:off x="4067175" y="5084763"/>
            <a:ext cx="3025775" cy="504825"/>
          </a:xfrm>
          <a:prstGeom prst="line">
            <a:avLst/>
          </a:prstGeom>
          <a:noFill/>
          <a:ln w="38100">
            <a:solidFill>
              <a:srgbClr val="FF0000"/>
            </a:solidFill>
            <a:miter lim="800000"/>
            <a:headEnd type="triangle" w="med" len="med"/>
            <a:tailEnd/>
          </a:ln>
          <a:extLst>
            <a:ext uri="{909E8E84-426E-40DD-AFC4-6F175D3DCCD1}">
              <a14:hiddenFill xmlns:a14="http://schemas.microsoft.com/office/drawing/2010/main">
                <a:noFill/>
              </a14:hiddenFill>
            </a:ext>
          </a:extLst>
        </p:spPr>
        <p:txBody>
          <a:bodyPr wrap="none"/>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31" name="Text Box 53">
            <a:extLst>
              <a:ext uri="{FF2B5EF4-FFF2-40B4-BE49-F238E27FC236}">
                <a16:creationId xmlns:a16="http://schemas.microsoft.com/office/drawing/2014/main" id="{ED464B10-FCB5-FE98-5697-0C766C641F48}"/>
              </a:ext>
            </a:extLst>
          </p:cNvPr>
          <p:cNvSpPr txBox="1">
            <a:spLocks noChangeArrowheads="1"/>
          </p:cNvSpPr>
          <p:nvPr/>
        </p:nvSpPr>
        <p:spPr bwMode="auto">
          <a:xfrm>
            <a:off x="3563938" y="5229225"/>
            <a:ext cx="57785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5400" b="1" i="0" u="none" strike="noStrike" kern="0" cap="none" spc="0" normalizeH="0" baseline="0" noProof="0">
                <a:ln>
                  <a:noFill/>
                </a:ln>
                <a:solidFill>
                  <a:srgbClr val="000000"/>
                </a:solidFill>
                <a:effectLst/>
                <a:uLnTx/>
                <a:uFillTx/>
                <a:latin typeface="Tahoma" panose="020B0604030504040204" pitchFamily="34" charset="0"/>
              </a:rPr>
              <a:t>?</a:t>
            </a:r>
          </a:p>
        </p:txBody>
      </p:sp>
      <p:grpSp>
        <p:nvGrpSpPr>
          <p:cNvPr id="32" name="Group 31">
            <a:extLst>
              <a:ext uri="{FF2B5EF4-FFF2-40B4-BE49-F238E27FC236}">
                <a16:creationId xmlns:a16="http://schemas.microsoft.com/office/drawing/2014/main" id="{E503284A-CB50-F99F-80AF-8E12026A67E2}"/>
              </a:ext>
            </a:extLst>
          </p:cNvPr>
          <p:cNvGrpSpPr/>
          <p:nvPr/>
        </p:nvGrpSpPr>
        <p:grpSpPr>
          <a:xfrm>
            <a:off x="6996223" y="927094"/>
            <a:ext cx="2127139" cy="1858636"/>
            <a:chOff x="5435600" y="261938"/>
            <a:chExt cx="2520950" cy="1944687"/>
          </a:xfrm>
        </p:grpSpPr>
        <p:sp>
          <p:nvSpPr>
            <p:cNvPr id="33" name="Rectangle 29">
              <a:extLst>
                <a:ext uri="{FF2B5EF4-FFF2-40B4-BE49-F238E27FC236}">
                  <a16:creationId xmlns:a16="http://schemas.microsoft.com/office/drawing/2014/main" id="{2399DAA7-417E-DAF7-E2C8-8E59C0D11191}"/>
                </a:ext>
              </a:extLst>
            </p:cNvPr>
            <p:cNvSpPr>
              <a:spLocks noChangeArrowheads="1"/>
            </p:cNvSpPr>
            <p:nvPr/>
          </p:nvSpPr>
          <p:spPr bwMode="auto">
            <a:xfrm>
              <a:off x="5724525" y="549275"/>
              <a:ext cx="1943100" cy="1368425"/>
            </a:xfrm>
            <a:prstGeom prst="rect">
              <a:avLst/>
            </a:prstGeom>
            <a:solidFill>
              <a:srgbClr val="F8FF69"/>
            </a:solidFill>
            <a:ln w="9525">
              <a:solidFill>
                <a:srgbClr val="F8FF69"/>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lang="en-US" altLang="el-GR"/>
                <a:t>Calc</a:t>
              </a:r>
            </a:p>
          </p:txBody>
        </p:sp>
        <p:sp>
          <p:nvSpPr>
            <p:cNvPr id="34" name="Rectangle 30">
              <a:extLst>
                <a:ext uri="{FF2B5EF4-FFF2-40B4-BE49-F238E27FC236}">
                  <a16:creationId xmlns:a16="http://schemas.microsoft.com/office/drawing/2014/main" id="{0AE4B1AB-4262-2EBA-2264-32B7CAB6D292}"/>
                </a:ext>
              </a:extLst>
            </p:cNvPr>
            <p:cNvSpPr>
              <a:spLocks noChangeArrowheads="1"/>
            </p:cNvSpPr>
            <p:nvPr/>
          </p:nvSpPr>
          <p:spPr bwMode="auto">
            <a:xfrm>
              <a:off x="5724525" y="1917700"/>
              <a:ext cx="647700" cy="288925"/>
            </a:xfrm>
            <a:prstGeom prst="rect">
              <a:avLst/>
            </a:prstGeom>
            <a:solidFill>
              <a:srgbClr val="F8FF69"/>
            </a:solidFill>
            <a:ln w="9525">
              <a:solidFill>
                <a:srgbClr val="F8FF69"/>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l-GR" altLang="el-GR"/>
            </a:p>
          </p:txBody>
        </p:sp>
        <p:sp>
          <p:nvSpPr>
            <p:cNvPr id="35" name="Rectangle 31">
              <a:extLst>
                <a:ext uri="{FF2B5EF4-FFF2-40B4-BE49-F238E27FC236}">
                  <a16:creationId xmlns:a16="http://schemas.microsoft.com/office/drawing/2014/main" id="{428702AF-6AF7-C1C1-AD35-DB6BEB8497C8}"/>
                </a:ext>
              </a:extLst>
            </p:cNvPr>
            <p:cNvSpPr>
              <a:spLocks noChangeArrowheads="1"/>
            </p:cNvSpPr>
            <p:nvPr/>
          </p:nvSpPr>
          <p:spPr bwMode="auto">
            <a:xfrm>
              <a:off x="6804025" y="1917700"/>
              <a:ext cx="647700" cy="288925"/>
            </a:xfrm>
            <a:prstGeom prst="rect">
              <a:avLst/>
            </a:prstGeom>
            <a:solidFill>
              <a:srgbClr val="F8FF69"/>
            </a:solidFill>
            <a:ln w="9525">
              <a:solidFill>
                <a:srgbClr val="F8FF69"/>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l-GR" altLang="el-GR"/>
            </a:p>
          </p:txBody>
        </p:sp>
        <p:sp>
          <p:nvSpPr>
            <p:cNvPr id="36" name="Rectangle 32">
              <a:extLst>
                <a:ext uri="{FF2B5EF4-FFF2-40B4-BE49-F238E27FC236}">
                  <a16:creationId xmlns:a16="http://schemas.microsoft.com/office/drawing/2014/main" id="{B84C9173-05DE-0637-D53D-225FF988F662}"/>
                </a:ext>
              </a:extLst>
            </p:cNvPr>
            <p:cNvSpPr>
              <a:spLocks noChangeArrowheads="1"/>
            </p:cNvSpPr>
            <p:nvPr/>
          </p:nvSpPr>
          <p:spPr bwMode="auto">
            <a:xfrm>
              <a:off x="5435600" y="982663"/>
              <a:ext cx="288925" cy="574675"/>
            </a:xfrm>
            <a:prstGeom prst="rect">
              <a:avLst/>
            </a:prstGeom>
            <a:solidFill>
              <a:srgbClr val="F8FF69"/>
            </a:solidFill>
            <a:ln w="9525">
              <a:solidFill>
                <a:srgbClr val="F8FF69"/>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l-GR" altLang="el-GR"/>
            </a:p>
          </p:txBody>
        </p:sp>
        <p:sp>
          <p:nvSpPr>
            <p:cNvPr id="37" name="Rectangle 33">
              <a:extLst>
                <a:ext uri="{FF2B5EF4-FFF2-40B4-BE49-F238E27FC236}">
                  <a16:creationId xmlns:a16="http://schemas.microsoft.com/office/drawing/2014/main" id="{B619D625-D345-081A-7B9F-829CFEF3DBAC}"/>
                </a:ext>
              </a:extLst>
            </p:cNvPr>
            <p:cNvSpPr>
              <a:spLocks noChangeArrowheads="1"/>
            </p:cNvSpPr>
            <p:nvPr/>
          </p:nvSpPr>
          <p:spPr bwMode="auto">
            <a:xfrm>
              <a:off x="7667625" y="549275"/>
              <a:ext cx="288925" cy="574675"/>
            </a:xfrm>
            <a:prstGeom prst="rect">
              <a:avLst/>
            </a:prstGeom>
            <a:solidFill>
              <a:srgbClr val="F8FF69"/>
            </a:solidFill>
            <a:ln w="9525">
              <a:solidFill>
                <a:srgbClr val="F8FF69"/>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l-GR" altLang="el-GR"/>
            </a:p>
          </p:txBody>
        </p:sp>
        <p:sp>
          <p:nvSpPr>
            <p:cNvPr id="38" name="Rectangle 34">
              <a:extLst>
                <a:ext uri="{FF2B5EF4-FFF2-40B4-BE49-F238E27FC236}">
                  <a16:creationId xmlns:a16="http://schemas.microsoft.com/office/drawing/2014/main" id="{A7083A02-B466-8CD0-5F13-E38A3E87F4DA}"/>
                </a:ext>
              </a:extLst>
            </p:cNvPr>
            <p:cNvSpPr>
              <a:spLocks noChangeArrowheads="1"/>
            </p:cNvSpPr>
            <p:nvPr/>
          </p:nvSpPr>
          <p:spPr bwMode="auto">
            <a:xfrm>
              <a:off x="7667625" y="1341438"/>
              <a:ext cx="288925" cy="574675"/>
            </a:xfrm>
            <a:prstGeom prst="rect">
              <a:avLst/>
            </a:prstGeom>
            <a:solidFill>
              <a:srgbClr val="F8FF69"/>
            </a:solidFill>
            <a:ln w="9525">
              <a:solidFill>
                <a:srgbClr val="F8FF69"/>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l-GR" altLang="el-GR"/>
            </a:p>
          </p:txBody>
        </p:sp>
        <p:sp>
          <p:nvSpPr>
            <p:cNvPr id="39" name="Rectangle 35">
              <a:extLst>
                <a:ext uri="{FF2B5EF4-FFF2-40B4-BE49-F238E27FC236}">
                  <a16:creationId xmlns:a16="http://schemas.microsoft.com/office/drawing/2014/main" id="{2C06702D-1D85-1CF4-ACB4-04BE81A31691}"/>
                </a:ext>
              </a:extLst>
            </p:cNvPr>
            <p:cNvSpPr>
              <a:spLocks noChangeArrowheads="1"/>
            </p:cNvSpPr>
            <p:nvPr/>
          </p:nvSpPr>
          <p:spPr bwMode="auto">
            <a:xfrm>
              <a:off x="6372225" y="261938"/>
              <a:ext cx="647700" cy="288925"/>
            </a:xfrm>
            <a:prstGeom prst="rect">
              <a:avLst/>
            </a:prstGeom>
            <a:solidFill>
              <a:srgbClr val="F8FF69"/>
            </a:solidFill>
            <a:ln w="9525">
              <a:solidFill>
                <a:srgbClr val="F8FF69"/>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l-GR" altLang="el-GR"/>
            </a:p>
          </p:txBody>
        </p:sp>
      </p:grpSp>
    </p:spTree>
    <p:extLst>
      <p:ext uri="{BB962C8B-B14F-4D97-AF65-F5344CB8AC3E}">
        <p14:creationId xmlns:p14="http://schemas.microsoft.com/office/powerpoint/2010/main" val="401633322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blinds(horizontal)">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blinds(horizontal)">
                                      <p:cBhvr>
                                        <p:cTn id="12" dur="5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blinds(horizontal)">
                                      <p:cBhvr>
                                        <p:cTn id="17" dur="5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2000"/>
                                        <p:tgtEl>
                                          <p:spTgt spid="27"/>
                                        </p:tgtEl>
                                      </p:cBhvr>
                                    </p:animEffect>
                                  </p:childTnLst>
                                </p:cTn>
                              </p:par>
                              <p:par>
                                <p:cTn id="23" presetID="10" presetClass="entr" presetSubtype="0" fill="hold"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2000"/>
                                        <p:tgtEl>
                                          <p:spTgt spid="28"/>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0"/>
                                        </p:tgtEl>
                                        <p:attrNameLst>
                                          <p:attrName>style.visibility</p:attrName>
                                        </p:attrNameLst>
                                      </p:cBhvr>
                                      <p:to>
                                        <p:strVal val="visible"/>
                                      </p:to>
                                    </p:set>
                                    <p:animEffect transition="in" filter="fade">
                                      <p:cBhvr>
                                        <p:cTn id="30" dur="2000"/>
                                        <p:tgtEl>
                                          <p:spTgt spid="3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1"/>
                                        </p:tgtEl>
                                        <p:attrNameLst>
                                          <p:attrName>style.visibility</p:attrName>
                                        </p:attrNameLst>
                                      </p:cBhvr>
                                      <p:to>
                                        <p:strVal val="visible"/>
                                      </p:to>
                                    </p:set>
                                    <p:animEffect transition="in" filter="fade">
                                      <p:cBhvr>
                                        <p:cTn id="33" dur="20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9" grpId="0"/>
      <p:bldP spid="3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n-US" sz="4000" b="1" dirty="0">
                <a:solidFill>
                  <a:srgbClr val="F9853D"/>
                </a:solidFill>
                <a:latin typeface="Bahnschrift" panose="020B0502040204020203" pitchFamily="34" charset="0"/>
              </a:rPr>
              <a:t>Source code (2nd version)</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3" name="Θέση υποσέλιδου 4">
            <a:extLst>
              <a:ext uri="{FF2B5EF4-FFF2-40B4-BE49-F238E27FC236}">
                <a16:creationId xmlns:a16="http://schemas.microsoft.com/office/drawing/2014/main" id="{C84FEE0A-EC67-F275-4254-C7380CB8525E}"/>
              </a:ext>
            </a:extLst>
          </p:cNvPr>
          <p:cNvSpPr txBox="1">
            <a:spLocks/>
          </p:cNvSpPr>
          <p:nvPr/>
        </p:nvSpPr>
        <p:spPr>
          <a:xfrm>
            <a:off x="3305908" y="6559909"/>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LEGO Approach – Part B</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4" name="Rectangle 6">
            <a:extLst>
              <a:ext uri="{FF2B5EF4-FFF2-40B4-BE49-F238E27FC236}">
                <a16:creationId xmlns:a16="http://schemas.microsoft.com/office/drawing/2014/main" id="{61C050DF-5CB8-4F67-DC33-A581FE17844F}"/>
              </a:ext>
            </a:extLst>
          </p:cNvPr>
          <p:cNvSpPr>
            <a:spLocks noChangeArrowheads="1"/>
          </p:cNvSpPr>
          <p:nvPr/>
        </p:nvSpPr>
        <p:spPr bwMode="auto">
          <a:xfrm>
            <a:off x="6938690" y="2341106"/>
            <a:ext cx="4140200" cy="2175788"/>
          </a:xfrm>
          <a:prstGeom prst="rect">
            <a:avLst/>
          </a:prstGeom>
          <a:solidFill>
            <a:srgbClr val="FFCF01"/>
          </a:solidFill>
          <a:ln w="9525">
            <a:solidFill>
              <a:srgbClr val="000000"/>
            </a:solidFill>
            <a:miter lim="800000"/>
            <a:headEnd/>
            <a:tailEnd/>
          </a:ln>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l-GR" altLang="el-GR" sz="2400" b="0" i="0" u="none" strike="noStrike" kern="0" cap="none" spc="0" normalizeH="0" baseline="0" noProof="0">
              <a:ln>
                <a:noFill/>
              </a:ln>
              <a:solidFill>
                <a:srgbClr val="000000"/>
              </a:solidFill>
              <a:effectLst/>
              <a:uLnTx/>
              <a:uFillTx/>
              <a:latin typeface="Tahoma" panose="020B0604030504040204" pitchFamily="34" charset="0"/>
            </a:endParaRPr>
          </a:p>
        </p:txBody>
      </p:sp>
      <p:sp>
        <p:nvSpPr>
          <p:cNvPr id="5" name="Text Box 3">
            <a:extLst>
              <a:ext uri="{FF2B5EF4-FFF2-40B4-BE49-F238E27FC236}">
                <a16:creationId xmlns:a16="http://schemas.microsoft.com/office/drawing/2014/main" id="{1562ACFA-EA72-CD39-14E0-409DB31B1038}"/>
              </a:ext>
            </a:extLst>
          </p:cNvPr>
          <p:cNvSpPr txBox="1">
            <a:spLocks noChangeArrowheads="1"/>
          </p:cNvSpPr>
          <p:nvPr/>
        </p:nvSpPr>
        <p:spPr bwMode="auto">
          <a:xfrm>
            <a:off x="0" y="908050"/>
            <a:ext cx="7488238" cy="526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public class </a:t>
            </a:r>
            <a:r>
              <a:rPr kumimoji="0" lang="en-US" altLang="el-GR" sz="2400" b="1" i="0" u="none" strike="noStrike" kern="0" cap="none" spc="0" normalizeH="0" baseline="0" noProof="0" dirty="0">
                <a:ln>
                  <a:noFill/>
                </a:ln>
                <a:solidFill>
                  <a:srgbClr val="800000"/>
                </a:solidFill>
                <a:effectLst/>
                <a:uLnTx/>
                <a:uFillTx/>
                <a:latin typeface="Tahoma" panose="020B0604030504040204" pitchFamily="34" charset="0"/>
              </a:rPr>
              <a:t>Calc</a:t>
            </a: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a:t>
            </a:r>
            <a:r>
              <a:rPr kumimoji="0" lang="en-US" altLang="el-GR" sz="2400" b="1" i="0" u="none" strike="noStrike" kern="0" cap="none" spc="0" normalizeH="0" baseline="0" noProof="0" dirty="0">
                <a:ln>
                  <a:noFill/>
                </a:ln>
                <a:solidFill>
                  <a:srgbClr val="FF0000"/>
                </a:solidFill>
                <a:effectLst/>
                <a:uLnTx/>
                <a:uFillTx/>
                <a:latin typeface="Tahoma" panose="020B0604030504040204" pitchFamily="34" charset="0"/>
              </a:rPr>
              <a:t>public static Stack&lt;Double&gt; </a:t>
            </a:r>
            <a:r>
              <a:rPr kumimoji="0" lang="en-US" altLang="el-GR" sz="2400" b="1" i="0" u="none" strike="noStrike" kern="0" cap="none" spc="0" normalizeH="0" baseline="0" noProof="0" dirty="0" err="1">
                <a:ln>
                  <a:noFill/>
                </a:ln>
                <a:solidFill>
                  <a:srgbClr val="FF0000"/>
                </a:solidFill>
                <a:effectLst/>
                <a:uLnTx/>
                <a:uFillTx/>
                <a:latin typeface="Tahoma" panose="020B0604030504040204" pitchFamily="34" charset="0"/>
              </a:rPr>
              <a:t>st</a:t>
            </a:r>
            <a:r>
              <a:rPr kumimoji="0" lang="en-US" altLang="el-GR" sz="2400" b="1" i="0" u="none" strike="noStrike" kern="0" cap="none" spc="0" normalizeH="0" baseline="0" noProof="0" dirty="0">
                <a:ln>
                  <a:noFill/>
                </a:ln>
                <a:solidFill>
                  <a:srgbClr val="FF0000"/>
                </a:solidFill>
                <a:effectLst/>
                <a:uLnTx/>
                <a:uFillTx/>
                <a:latin typeface="Tahoma" panose="020B0604030504040204" pitchFamily="34" charset="0"/>
              </a:rPr>
              <a:t>;</a:t>
            </a:r>
            <a:r>
              <a:rPr kumimoji="0" lang="en-US" altLang="el-GR" sz="2400" b="1" i="0" u="none" strike="noStrike" kern="0" cap="none" spc="0" normalizeH="0" baseline="0" noProof="0" dirty="0">
                <a:ln>
                  <a:noFill/>
                </a:ln>
                <a:solidFill>
                  <a:srgbClr val="800000"/>
                </a:solidFill>
                <a:effectLst/>
                <a:uLnTx/>
                <a:uFillTx/>
                <a:latin typeface="Tahoma" panose="020B0604030504040204" pitchFamily="34" charset="0"/>
              </a:rPr>
              <a:t> </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public static void </a:t>
            </a:r>
            <a:r>
              <a:rPr kumimoji="0" lang="en-US" altLang="el-GR" sz="2400" b="1" i="0" u="none" strike="noStrike" kern="0" cap="none" spc="0" normalizeH="0" baseline="0" noProof="0" dirty="0">
                <a:ln>
                  <a:noFill/>
                </a:ln>
                <a:solidFill>
                  <a:srgbClr val="800000"/>
                </a:solidFill>
                <a:effectLst/>
                <a:uLnTx/>
                <a:uFillTx/>
                <a:latin typeface="Tahoma" panose="020B0604030504040204" pitchFamily="34" charset="0"/>
              </a:rPr>
              <a:t>main</a:t>
            </a: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Double d1 = new Double(20);</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a:t>
            </a:r>
            <a:r>
              <a:rPr kumimoji="0" lang="en-US" altLang="el-GR" sz="2400" b="0" i="0" u="none" strike="noStrike" kern="0" cap="none" spc="0" normalizeH="0" baseline="0" noProof="0" dirty="0" err="1">
                <a:ln>
                  <a:noFill/>
                </a:ln>
                <a:solidFill>
                  <a:srgbClr val="000000"/>
                </a:solidFill>
                <a:effectLst/>
                <a:uLnTx/>
                <a:uFillTx/>
                <a:latin typeface="Tahoma" panose="020B0604030504040204" pitchFamily="34" charset="0"/>
              </a:rPr>
              <a:t>System.out.println</a:t>
            </a: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("d1="+d1);</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Double d2 = new Double(40);</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a:t>
            </a:r>
            <a:r>
              <a:rPr kumimoji="0" lang="en-US" altLang="el-GR" sz="2400" b="0" i="0" u="none" strike="noStrike" kern="0" cap="none" spc="0" normalizeH="0" baseline="0" noProof="0" dirty="0" err="1">
                <a:ln>
                  <a:noFill/>
                </a:ln>
                <a:solidFill>
                  <a:srgbClr val="000000"/>
                </a:solidFill>
                <a:effectLst/>
                <a:uLnTx/>
                <a:uFillTx/>
                <a:latin typeface="Tahoma" panose="020B0604030504040204" pitchFamily="34" charset="0"/>
              </a:rPr>
              <a:t>st</a:t>
            </a: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 new Stack&lt;Double&gt;();</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a:t>
            </a:r>
            <a:r>
              <a:rPr kumimoji="0" lang="en-US" altLang="el-GR" sz="2400" b="0" i="0" u="none" strike="noStrike" kern="0" cap="none" spc="0" normalizeH="0" baseline="0" noProof="0" dirty="0" err="1">
                <a:ln>
                  <a:noFill/>
                </a:ln>
                <a:solidFill>
                  <a:srgbClr val="000000"/>
                </a:solidFill>
                <a:effectLst/>
                <a:uLnTx/>
                <a:uFillTx/>
                <a:latin typeface="Tahoma" panose="020B0604030504040204" pitchFamily="34" charset="0"/>
              </a:rPr>
              <a:t>st.push</a:t>
            </a: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(d1);</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a:t>
            </a:r>
            <a:r>
              <a:rPr kumimoji="0" lang="en-US" altLang="el-GR" sz="2400" b="0" i="0" u="none" strike="noStrike" kern="0" cap="none" spc="0" normalizeH="0" baseline="0" noProof="0" dirty="0" err="1">
                <a:ln>
                  <a:noFill/>
                </a:ln>
                <a:solidFill>
                  <a:srgbClr val="000000"/>
                </a:solidFill>
                <a:effectLst/>
                <a:uLnTx/>
                <a:uFillTx/>
                <a:latin typeface="Tahoma" panose="020B0604030504040204" pitchFamily="34" charset="0"/>
              </a:rPr>
              <a:t>st.push</a:t>
            </a: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(d2);</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a:t>
            </a:r>
            <a:r>
              <a:rPr kumimoji="0" lang="en-US" altLang="el-GR" sz="2400" b="1" i="0" u="none" strike="noStrike" kern="0" cap="none" spc="0" normalizeH="0" baseline="0" noProof="0" dirty="0" err="1">
                <a:ln>
                  <a:noFill/>
                </a:ln>
                <a:solidFill>
                  <a:srgbClr val="FF0000"/>
                </a:solidFill>
                <a:effectLst/>
                <a:uLnTx/>
                <a:uFillTx/>
                <a:latin typeface="Tahoma" panose="020B0604030504040204" pitchFamily="34" charset="0"/>
              </a:rPr>
              <a:t>Adder.operate</a:t>
            </a:r>
            <a:r>
              <a:rPr kumimoji="0" lang="en-US" altLang="el-GR" sz="2400" b="1" i="0" u="none" strike="noStrike" kern="0" cap="none" spc="0" normalizeH="0" baseline="0" noProof="0" dirty="0">
                <a:ln>
                  <a:noFill/>
                </a:ln>
                <a:solidFill>
                  <a:srgbClr val="FF0000"/>
                </a:solidFill>
                <a:effectLst/>
                <a:uLnTx/>
                <a:uFillTx/>
                <a:latin typeface="Tahoma" panose="020B0604030504040204" pitchFamily="34" charset="0"/>
              </a:rPr>
              <a:t>();</a:t>
            </a:r>
            <a:r>
              <a:rPr kumimoji="0" lang="en-US" altLang="el-GR" sz="2400" b="1" i="0" u="none" strike="noStrike" kern="0" cap="none" spc="0" normalizeH="0" baseline="0" noProof="0" dirty="0">
                <a:ln>
                  <a:noFill/>
                </a:ln>
                <a:solidFill>
                  <a:srgbClr val="800000"/>
                </a:solidFill>
                <a:effectLst/>
                <a:uLnTx/>
                <a:uFillTx/>
                <a:latin typeface="Tahoma" panose="020B0604030504040204" pitchFamily="34" charset="0"/>
              </a:rPr>
              <a:t> </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a:t>
            </a:r>
            <a:r>
              <a:rPr kumimoji="0" lang="en-US" altLang="el-GR" sz="2400" b="0" i="0" u="none" strike="noStrike" kern="0" cap="none" spc="0" normalizeH="0" baseline="0" noProof="0" dirty="0" err="1">
                <a:ln>
                  <a:noFill/>
                </a:ln>
                <a:solidFill>
                  <a:srgbClr val="000000"/>
                </a:solidFill>
                <a:effectLst/>
                <a:uLnTx/>
                <a:uFillTx/>
                <a:latin typeface="Tahoma" panose="020B0604030504040204" pitchFamily="34" charset="0"/>
              </a:rPr>
              <a:t>System.out.println</a:t>
            </a: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("sum is="+</a:t>
            </a:r>
            <a:r>
              <a:rPr kumimoji="0" lang="en-US" altLang="el-GR" sz="2400" b="0" i="0" u="none" strike="noStrike" kern="0" cap="none" spc="0" normalizeH="0" baseline="0" noProof="0" dirty="0" err="1">
                <a:ln>
                  <a:noFill/>
                </a:ln>
                <a:solidFill>
                  <a:srgbClr val="000000"/>
                </a:solidFill>
                <a:effectLst/>
                <a:uLnTx/>
                <a:uFillTx/>
                <a:latin typeface="Tahoma" panose="020B0604030504040204" pitchFamily="34" charset="0"/>
              </a:rPr>
              <a:t>st.pop</a:t>
            </a: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2400" b="0" i="0" u="none" strike="noStrike" kern="0" cap="none" spc="0" normalizeH="0" baseline="0" noProof="0" dirty="0">
                <a:ln>
                  <a:noFill/>
                </a:ln>
                <a:solidFill>
                  <a:srgbClr val="000000"/>
                </a:solidFill>
                <a:effectLst/>
                <a:uLnTx/>
                <a:uFillTx/>
                <a:latin typeface="Tahoma" panose="020B0604030504040204" pitchFamily="34" charset="0"/>
              </a:rPr>
              <a:t>    }</a:t>
            </a:r>
          </a:p>
        </p:txBody>
      </p:sp>
      <p:sp>
        <p:nvSpPr>
          <p:cNvPr id="6" name="Text Box 5">
            <a:extLst>
              <a:ext uri="{FF2B5EF4-FFF2-40B4-BE49-F238E27FC236}">
                <a16:creationId xmlns:a16="http://schemas.microsoft.com/office/drawing/2014/main" id="{46B16CD7-B831-4F04-5850-BEECEBA6D508}"/>
              </a:ext>
            </a:extLst>
          </p:cNvPr>
          <p:cNvSpPr txBox="1">
            <a:spLocks noChangeArrowheads="1"/>
          </p:cNvSpPr>
          <p:nvPr/>
        </p:nvSpPr>
        <p:spPr bwMode="auto">
          <a:xfrm>
            <a:off x="7083153" y="2485568"/>
            <a:ext cx="4100803"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1800" b="0" i="0" u="none" strike="noStrike" kern="0" cap="none" spc="0" normalizeH="0" baseline="0" noProof="0" dirty="0">
                <a:ln>
                  <a:noFill/>
                </a:ln>
                <a:solidFill>
                  <a:srgbClr val="000000"/>
                </a:solidFill>
                <a:effectLst/>
                <a:uLnTx/>
                <a:uFillTx/>
                <a:latin typeface="Tahoma" panose="020B0604030504040204" pitchFamily="34" charset="0"/>
              </a:rPr>
              <a:t>class </a:t>
            </a:r>
            <a:r>
              <a:rPr kumimoji="0" lang="en-US" altLang="el-GR" sz="1800" b="1" i="0" u="none" strike="noStrike" kern="0" cap="none" spc="0" normalizeH="0" baseline="0" noProof="0" dirty="0">
                <a:ln>
                  <a:noFill/>
                </a:ln>
                <a:solidFill>
                  <a:srgbClr val="800000"/>
                </a:solidFill>
                <a:effectLst/>
                <a:uLnTx/>
                <a:uFillTx/>
                <a:latin typeface="Tahoma" panose="020B0604030504040204" pitchFamily="34" charset="0"/>
              </a:rPr>
              <a:t>Adder</a:t>
            </a:r>
            <a:r>
              <a:rPr kumimoji="0" lang="en-US" altLang="el-GR" sz="1800" b="0" i="0" u="none" strike="noStrike" kern="0" cap="none" spc="0" normalizeH="0" baseline="0" noProof="0" dirty="0">
                <a:ln>
                  <a:noFill/>
                </a:ln>
                <a:solidFill>
                  <a:srgbClr val="000000"/>
                </a:solidFill>
                <a:effectLst/>
                <a:uLnTx/>
                <a:uFillTx/>
                <a:latin typeface="Tahoma" panose="020B060403050404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1800" b="0" i="0" u="none" strike="noStrike" kern="0" cap="none" spc="0" normalizeH="0" baseline="0" noProof="0" dirty="0">
                <a:ln>
                  <a:noFill/>
                </a:ln>
                <a:solidFill>
                  <a:srgbClr val="000000"/>
                </a:solidFill>
                <a:effectLst/>
                <a:uLnTx/>
                <a:uFillTx/>
                <a:latin typeface="Tahoma" panose="020B0604030504040204" pitchFamily="34" charset="0"/>
              </a:rPr>
              <a:t>    public static void </a:t>
            </a:r>
            <a:r>
              <a:rPr kumimoji="0" lang="en-US" altLang="el-GR" sz="1800" b="1" i="0" u="none" strike="noStrike" kern="0" cap="none" spc="0" normalizeH="0" baseline="0" noProof="0" dirty="0">
                <a:ln>
                  <a:noFill/>
                </a:ln>
                <a:solidFill>
                  <a:srgbClr val="800000"/>
                </a:solidFill>
                <a:effectLst/>
                <a:uLnTx/>
                <a:uFillTx/>
                <a:latin typeface="Tahoma" panose="020B0604030504040204" pitchFamily="34" charset="0"/>
              </a:rPr>
              <a:t>operate</a:t>
            </a:r>
            <a:r>
              <a:rPr kumimoji="0" lang="en-US" altLang="el-GR" sz="1800" b="0" i="0" u="none" strike="noStrike" kern="0" cap="none" spc="0" normalizeH="0" baseline="0" noProof="0" dirty="0">
                <a:ln>
                  <a:noFill/>
                </a:ln>
                <a:solidFill>
                  <a:srgbClr val="000000"/>
                </a:solidFill>
                <a:effectLst/>
                <a:uLnTx/>
                <a:uFillTx/>
                <a:latin typeface="Tahoma" panose="020B060403050404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1800" b="0" i="0" u="none" strike="noStrike" kern="0" cap="none" spc="0" normalizeH="0" baseline="0" noProof="0" dirty="0">
                <a:ln>
                  <a:noFill/>
                </a:ln>
                <a:solidFill>
                  <a:srgbClr val="000000"/>
                </a:solidFill>
                <a:effectLst/>
                <a:uLnTx/>
                <a:uFillTx/>
                <a:latin typeface="Tahoma" panose="020B0604030504040204" pitchFamily="34" charset="0"/>
              </a:rPr>
              <a:t>        Double d3 = </a:t>
            </a:r>
            <a:r>
              <a:rPr kumimoji="0" lang="en-US" altLang="el-GR" sz="1800" b="1" i="0" u="none" strike="noStrike" kern="0" cap="none" spc="0" normalizeH="0" baseline="0" noProof="0" dirty="0" err="1">
                <a:ln>
                  <a:noFill/>
                </a:ln>
                <a:solidFill>
                  <a:srgbClr val="FF0000"/>
                </a:solidFill>
                <a:effectLst/>
                <a:uLnTx/>
                <a:uFillTx/>
                <a:latin typeface="Tahoma" panose="020B0604030504040204" pitchFamily="34" charset="0"/>
              </a:rPr>
              <a:t>Calc.st.</a:t>
            </a:r>
            <a:r>
              <a:rPr kumimoji="0" lang="en-US" altLang="el-GR" sz="1800" b="0" i="0" u="none" strike="noStrike" kern="0" cap="none" spc="0" normalizeH="0" baseline="0" noProof="0" dirty="0" err="1">
                <a:ln>
                  <a:noFill/>
                </a:ln>
                <a:solidFill>
                  <a:srgbClr val="000000"/>
                </a:solidFill>
                <a:effectLst/>
                <a:uLnTx/>
                <a:uFillTx/>
                <a:latin typeface="Tahoma" panose="020B0604030504040204" pitchFamily="34" charset="0"/>
              </a:rPr>
              <a:t>pop</a:t>
            </a:r>
            <a:r>
              <a:rPr kumimoji="0" lang="en-US" altLang="el-GR" sz="1800" b="0" i="0" u="none" strike="noStrike" kern="0" cap="none" spc="0" normalizeH="0" baseline="0" noProof="0" dirty="0">
                <a:ln>
                  <a:noFill/>
                </a:ln>
                <a:solidFill>
                  <a:srgbClr val="000000"/>
                </a:solidFill>
                <a:effectLst/>
                <a:uLnTx/>
                <a:uFillTx/>
                <a:latin typeface="Tahoma" panose="020B060403050404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1800" b="0" i="0" u="none" strike="noStrike" kern="0" cap="none" spc="0" normalizeH="0" baseline="0" noProof="0" dirty="0">
                <a:ln>
                  <a:noFill/>
                </a:ln>
                <a:solidFill>
                  <a:srgbClr val="000000"/>
                </a:solidFill>
                <a:effectLst/>
                <a:uLnTx/>
                <a:uFillTx/>
                <a:latin typeface="Tahoma" panose="020B0604030504040204" pitchFamily="34" charset="0"/>
              </a:rPr>
              <a:t>        Double d4 = </a:t>
            </a:r>
            <a:r>
              <a:rPr kumimoji="0" lang="en-US" altLang="el-GR" sz="1800" b="1" i="0" u="none" strike="noStrike" kern="0" cap="none" spc="0" normalizeH="0" baseline="0" noProof="0" dirty="0" err="1">
                <a:ln>
                  <a:noFill/>
                </a:ln>
                <a:solidFill>
                  <a:srgbClr val="FF0000"/>
                </a:solidFill>
                <a:effectLst/>
                <a:uLnTx/>
                <a:uFillTx/>
                <a:latin typeface="Tahoma" panose="020B0604030504040204" pitchFamily="34" charset="0"/>
              </a:rPr>
              <a:t>Calc.st.</a:t>
            </a:r>
            <a:r>
              <a:rPr kumimoji="0" lang="en-US" altLang="el-GR" sz="1800" b="0" i="0" u="none" strike="noStrike" kern="0" cap="none" spc="0" normalizeH="0" baseline="0" noProof="0" dirty="0" err="1">
                <a:ln>
                  <a:noFill/>
                </a:ln>
                <a:solidFill>
                  <a:srgbClr val="000000"/>
                </a:solidFill>
                <a:effectLst/>
                <a:uLnTx/>
                <a:uFillTx/>
                <a:latin typeface="Tahoma" panose="020B0604030504040204" pitchFamily="34" charset="0"/>
              </a:rPr>
              <a:t>pop</a:t>
            </a:r>
            <a:r>
              <a:rPr kumimoji="0" lang="en-US" altLang="el-GR" sz="1800" b="0" i="0" u="none" strike="noStrike" kern="0" cap="none" spc="0" normalizeH="0" baseline="0" noProof="0" dirty="0">
                <a:ln>
                  <a:noFill/>
                </a:ln>
                <a:solidFill>
                  <a:srgbClr val="000000"/>
                </a:solidFill>
                <a:effectLst/>
                <a:uLnTx/>
                <a:uFillTx/>
                <a:latin typeface="Tahoma" panose="020B0604030504040204" pitchFamily="34" charset="0"/>
              </a:rPr>
              <a:t>();       </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1800" b="0" i="0" u="none" strike="noStrike" kern="0" cap="none" spc="0" normalizeH="0" baseline="0" noProof="0" dirty="0">
                <a:ln>
                  <a:noFill/>
                </a:ln>
                <a:solidFill>
                  <a:srgbClr val="000000"/>
                </a:solidFill>
                <a:effectLst/>
                <a:uLnTx/>
                <a:uFillTx/>
                <a:latin typeface="Tahoma" panose="020B0604030504040204" pitchFamily="34" charset="0"/>
              </a:rPr>
              <a:t>        </a:t>
            </a:r>
            <a:r>
              <a:rPr kumimoji="0" lang="en-US" altLang="el-GR" sz="1800" b="0" i="0" u="none" strike="noStrike" kern="0" cap="none" spc="0" normalizeH="0" baseline="0" noProof="0" dirty="0" err="1">
                <a:ln>
                  <a:noFill/>
                </a:ln>
                <a:solidFill>
                  <a:srgbClr val="000000"/>
                </a:solidFill>
                <a:effectLst/>
                <a:uLnTx/>
                <a:uFillTx/>
                <a:latin typeface="Tahoma" panose="020B0604030504040204" pitchFamily="34" charset="0"/>
              </a:rPr>
              <a:t>st.push</a:t>
            </a:r>
            <a:r>
              <a:rPr kumimoji="0" lang="en-US" altLang="el-GR" sz="1800" b="0" i="0" u="none" strike="noStrike" kern="0" cap="none" spc="0" normalizeH="0" baseline="0" noProof="0" dirty="0">
                <a:ln>
                  <a:noFill/>
                </a:ln>
                <a:solidFill>
                  <a:srgbClr val="000000"/>
                </a:solidFill>
                <a:effectLst/>
                <a:uLnTx/>
                <a:uFillTx/>
                <a:latin typeface="Tahoma" panose="020B0604030504040204" pitchFamily="34" charset="0"/>
              </a:rPr>
              <a:t>(new Double(d1+d2));</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1800" b="0" i="0" u="none" strike="noStrike" kern="0" cap="none" spc="0" normalizeH="0" baseline="0" noProof="0" dirty="0">
                <a:ln>
                  <a:noFill/>
                </a:ln>
                <a:solidFill>
                  <a:srgbClr val="000000"/>
                </a:solidFill>
                <a:effectLst/>
                <a:uLnTx/>
                <a:uFillTx/>
                <a:latin typeface="Tahoma" panose="020B0604030504040204" pitchFamily="34" charset="0"/>
              </a:rPr>
              <a:t>    }</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el-GR" sz="1800" b="0" i="0" u="none" strike="noStrike" kern="0" cap="none" spc="0" normalizeH="0" baseline="0" noProof="0" dirty="0">
                <a:ln>
                  <a:noFill/>
                </a:ln>
                <a:solidFill>
                  <a:srgbClr val="000000"/>
                </a:solidFill>
                <a:effectLst/>
                <a:uLnTx/>
                <a:uFillTx/>
                <a:latin typeface="Tahoma" panose="020B0604030504040204" pitchFamily="34" charset="0"/>
              </a:rPr>
              <a:t>}</a:t>
            </a:r>
          </a:p>
        </p:txBody>
      </p:sp>
      <p:sp>
        <p:nvSpPr>
          <p:cNvPr id="7" name="Speech Bubble: Oval 6">
            <a:extLst>
              <a:ext uri="{FF2B5EF4-FFF2-40B4-BE49-F238E27FC236}">
                <a16:creationId xmlns:a16="http://schemas.microsoft.com/office/drawing/2014/main" id="{4418B5E2-C30D-1862-FC65-B9B23C9240E5}"/>
              </a:ext>
            </a:extLst>
          </p:cNvPr>
          <p:cNvSpPr/>
          <p:nvPr/>
        </p:nvSpPr>
        <p:spPr bwMode="auto">
          <a:xfrm>
            <a:off x="8883154" y="1658083"/>
            <a:ext cx="844774" cy="647303"/>
          </a:xfrm>
          <a:prstGeom prst="wedgeEllipseCallout">
            <a:avLst>
              <a:gd name="adj1" fmla="val -16323"/>
              <a:gd name="adj2" fmla="val 168447"/>
            </a:avLst>
          </a:prstGeom>
          <a:solidFill>
            <a:srgbClr val="FFFFFF"/>
          </a:solidFill>
          <a:ln w="9525" cap="flat" cmpd="sng" algn="ctr">
            <a:solidFill>
              <a:srgbClr val="00000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3600" b="1" i="0" u="none" strike="noStrike" kern="0" cap="none" spc="0" normalizeH="0" baseline="0" noProof="0" dirty="0">
                <a:ln>
                  <a:noFill/>
                </a:ln>
                <a:solidFill>
                  <a:srgbClr val="FF0000"/>
                </a:solidFill>
                <a:effectLst/>
                <a:uLnTx/>
                <a:uFillTx/>
                <a:latin typeface="Tahoma" pitchFamily="34" charset="0"/>
              </a:rPr>
              <a:t>?</a:t>
            </a:r>
            <a:endParaRPr kumimoji="0" lang="el-GR" sz="3600" b="1" i="0" u="none" strike="noStrike" kern="0" cap="none" spc="0" normalizeH="0" baseline="0" noProof="0" dirty="0">
              <a:ln>
                <a:noFill/>
              </a:ln>
              <a:solidFill>
                <a:srgbClr val="FF0000"/>
              </a:solidFill>
              <a:effectLst/>
              <a:uLnTx/>
              <a:uFillTx/>
              <a:latin typeface="Tahoma" pitchFamily="34" charset="0"/>
            </a:endParaRPr>
          </a:p>
        </p:txBody>
      </p:sp>
      <p:sp>
        <p:nvSpPr>
          <p:cNvPr id="9" name="Speech Bubble: Rectangle with Corners Rounded 8">
            <a:extLst>
              <a:ext uri="{FF2B5EF4-FFF2-40B4-BE49-F238E27FC236}">
                <a16:creationId xmlns:a16="http://schemas.microsoft.com/office/drawing/2014/main" id="{761639DA-22E5-68A0-E226-F8610B0DF769}"/>
              </a:ext>
            </a:extLst>
          </p:cNvPr>
          <p:cNvSpPr/>
          <p:nvPr/>
        </p:nvSpPr>
        <p:spPr bwMode="auto">
          <a:xfrm>
            <a:off x="6858001" y="5550195"/>
            <a:ext cx="4933506" cy="815066"/>
          </a:xfrm>
          <a:prstGeom prst="wedgeRoundRectCallout">
            <a:avLst>
              <a:gd name="adj1" fmla="val -144579"/>
              <a:gd name="adj2" fmla="val 78898"/>
              <a:gd name="adj3" fmla="val 16667"/>
            </a:avLst>
          </a:prstGeom>
          <a:solidFill>
            <a:srgbClr val="FFFF0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Tahoma" pitchFamily="34" charset="0"/>
              </a:rPr>
              <a:t>Identify alternative Implementations </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2000" b="0" i="0" u="none" strike="noStrike" kern="0" cap="none" spc="0" normalizeH="0" baseline="0" noProof="0" dirty="0">
                <a:ln>
                  <a:noFill/>
                </a:ln>
                <a:solidFill>
                  <a:srgbClr val="000000"/>
                </a:solidFill>
                <a:effectLst/>
                <a:uLnTx/>
                <a:uFillTx/>
                <a:latin typeface="Tahoma" pitchFamily="34" charset="0"/>
              </a:rPr>
              <a:t>for addition</a:t>
            </a:r>
            <a:endParaRPr kumimoji="0" lang="el-GR" sz="2000" b="0" i="0" u="none" strike="noStrike" kern="0" cap="none" spc="0" normalizeH="0" baseline="0" noProof="0" dirty="0">
              <a:ln>
                <a:noFill/>
              </a:ln>
              <a:solidFill>
                <a:srgbClr val="000000"/>
              </a:solidFill>
              <a:effectLst/>
              <a:uLnTx/>
              <a:uFillTx/>
              <a:latin typeface="Tahoma" pitchFamily="34" charset="0"/>
            </a:endParaRPr>
          </a:p>
        </p:txBody>
      </p:sp>
    </p:spTree>
    <p:extLst>
      <p:ext uri="{BB962C8B-B14F-4D97-AF65-F5344CB8AC3E}">
        <p14:creationId xmlns:p14="http://schemas.microsoft.com/office/powerpoint/2010/main" val="130522822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a:bodyPr>
          <a:lstStyle/>
          <a:p>
            <a:r>
              <a:rPr lang="el-GR" sz="4000" b="1" dirty="0">
                <a:solidFill>
                  <a:srgbClr val="F9853D"/>
                </a:solidFill>
                <a:latin typeface="Bahnschrift" panose="020B0502040204020203" pitchFamily="34" charset="0"/>
              </a:rPr>
              <a:t>Εναλλακτικές υλοποιήσεις</a:t>
            </a: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3" name="Θέση υποσέλιδου 4">
            <a:extLst>
              <a:ext uri="{FF2B5EF4-FFF2-40B4-BE49-F238E27FC236}">
                <a16:creationId xmlns:a16="http://schemas.microsoft.com/office/drawing/2014/main" id="{C84FEE0A-EC67-F275-4254-C7380CB8525E}"/>
              </a:ext>
            </a:extLst>
          </p:cNvPr>
          <p:cNvSpPr txBox="1">
            <a:spLocks/>
          </p:cNvSpPr>
          <p:nvPr/>
        </p:nvSpPr>
        <p:spPr>
          <a:xfrm>
            <a:off x="3305908" y="6559909"/>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LEGO Approach – Part B</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pic>
        <p:nvPicPr>
          <p:cNvPr id="6" name="Picture 5">
            <a:extLst>
              <a:ext uri="{FF2B5EF4-FFF2-40B4-BE49-F238E27FC236}">
                <a16:creationId xmlns:a16="http://schemas.microsoft.com/office/drawing/2014/main" id="{E45FB998-AD26-9786-5F6A-20FDE83926B0}"/>
              </a:ext>
            </a:extLst>
          </p:cNvPr>
          <p:cNvPicPr>
            <a:picLocks noChangeAspect="1"/>
          </p:cNvPicPr>
          <p:nvPr/>
        </p:nvPicPr>
        <p:blipFill>
          <a:blip r:embed="rId3"/>
          <a:stretch>
            <a:fillRect/>
          </a:stretch>
        </p:blipFill>
        <p:spPr>
          <a:xfrm>
            <a:off x="16592" y="758816"/>
            <a:ext cx="7019777" cy="4249119"/>
          </a:xfrm>
          <a:prstGeom prst="rect">
            <a:avLst/>
          </a:prstGeom>
        </p:spPr>
      </p:pic>
      <p:pic>
        <p:nvPicPr>
          <p:cNvPr id="9" name="Picture 8">
            <a:extLst>
              <a:ext uri="{FF2B5EF4-FFF2-40B4-BE49-F238E27FC236}">
                <a16:creationId xmlns:a16="http://schemas.microsoft.com/office/drawing/2014/main" id="{D61CE355-E911-4D56-FD39-DD9D3A313CDE}"/>
              </a:ext>
            </a:extLst>
          </p:cNvPr>
          <p:cNvPicPr>
            <a:picLocks noChangeAspect="1"/>
          </p:cNvPicPr>
          <p:nvPr/>
        </p:nvPicPr>
        <p:blipFill>
          <a:blip r:embed="rId4"/>
          <a:stretch>
            <a:fillRect/>
          </a:stretch>
        </p:blipFill>
        <p:spPr>
          <a:xfrm>
            <a:off x="4464312" y="4818408"/>
            <a:ext cx="7711096" cy="2057986"/>
          </a:xfrm>
          <a:prstGeom prst="rect">
            <a:avLst/>
          </a:prstGeom>
        </p:spPr>
      </p:pic>
    </p:spTree>
    <p:extLst>
      <p:ext uri="{BB962C8B-B14F-4D97-AF65-F5344CB8AC3E}">
        <p14:creationId xmlns:p14="http://schemas.microsoft.com/office/powerpoint/2010/main" val="303272899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4">
            <a:extLst>
              <a:ext uri="{FF2B5EF4-FFF2-40B4-BE49-F238E27FC236}">
                <a16:creationId xmlns:a16="http://schemas.microsoft.com/office/drawing/2014/main" id="{A45E527C-C30C-4C32-A47C-EDC76909002F}"/>
              </a:ext>
            </a:extLst>
          </p:cNvPr>
          <p:cNvSpPr/>
          <p:nvPr/>
        </p:nvSpPr>
        <p:spPr>
          <a:xfrm>
            <a:off x="0" y="6599394"/>
            <a:ext cx="12192000" cy="277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E6FB2A3F-83E4-4F68-966B-02624B0122D5}"/>
              </a:ext>
            </a:extLst>
          </p:cNvPr>
          <p:cNvSpPr>
            <a:spLocks noGrp="1"/>
          </p:cNvSpPr>
          <p:nvPr>
            <p:ph type="title"/>
          </p:nvPr>
        </p:nvSpPr>
        <p:spPr>
          <a:xfrm>
            <a:off x="0" y="0"/>
            <a:ext cx="12191999" cy="719331"/>
          </a:xfrm>
          <a:solidFill>
            <a:srgbClr val="FDCBAD"/>
          </a:solidFill>
        </p:spPr>
        <p:txBody>
          <a:bodyPr>
            <a:normAutofit fontScale="90000"/>
          </a:bodyPr>
          <a:lstStyle/>
          <a:p>
            <a:r>
              <a:rPr lang="el-GR" sz="4000" b="1" dirty="0">
                <a:solidFill>
                  <a:srgbClr val="F9853D"/>
                </a:solidFill>
                <a:latin typeface="Bahnschrift" panose="020B0502040204020203" pitchFamily="34" charset="0"/>
              </a:rPr>
              <a:t>Αφαιρετική αναπαράστασης Δομής – </a:t>
            </a:r>
            <a:r>
              <a:rPr lang="en-US" sz="4000" b="1" dirty="0">
                <a:solidFill>
                  <a:srgbClr val="F9853D"/>
                </a:solidFill>
                <a:latin typeface="Bahnschrift" panose="020B0502040204020203" pitchFamily="34" charset="0"/>
              </a:rPr>
              <a:t>UML class diagram</a:t>
            </a:r>
            <a:endParaRPr lang="el-GR" sz="4000" b="1" dirty="0">
              <a:solidFill>
                <a:srgbClr val="F9853D"/>
              </a:solidFill>
              <a:latin typeface="Bahnschrift" panose="020B0502040204020203" pitchFamily="34" charset="0"/>
            </a:endParaRPr>
          </a:p>
        </p:txBody>
      </p:sp>
      <p:sp>
        <p:nvSpPr>
          <p:cNvPr id="8" name="Θέση υποσέλιδου 4">
            <a:extLst>
              <a:ext uri="{FF2B5EF4-FFF2-40B4-BE49-F238E27FC236}">
                <a16:creationId xmlns:a16="http://schemas.microsoft.com/office/drawing/2014/main" id="{BC5C4412-4F59-4F5B-A82C-6DD039241071}"/>
              </a:ext>
            </a:extLst>
          </p:cNvPr>
          <p:cNvSpPr txBox="1">
            <a:spLocks/>
          </p:cNvSpPr>
          <p:nvPr/>
        </p:nvSpPr>
        <p:spPr>
          <a:xfrm>
            <a:off x="0" y="6599394"/>
            <a:ext cx="2314222" cy="277000"/>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 2023 </a:t>
            </a:r>
            <a:r>
              <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Κλεάνθης </a:t>
            </a:r>
            <a:r>
              <a:rPr kumimoji="0" lang="el-GR" sz="1100" b="0" i="0" u="none" strike="noStrike" kern="1200" cap="none" spc="0" normalizeH="0" baseline="0" noProof="0" dirty="0" err="1">
                <a:ln>
                  <a:noFill/>
                </a:ln>
                <a:solidFill>
                  <a:prstClr val="black"/>
                </a:solidFill>
                <a:effectLst/>
                <a:uLnTx/>
                <a:uFillTx/>
                <a:latin typeface="Bahnschrift" panose="020B0502040204020203" pitchFamily="34" charset="0"/>
                <a:ea typeface="+mn-ea"/>
                <a:cs typeface="+mn-cs"/>
              </a:rPr>
              <a:t>Θραμπουλίδης</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1" name="TextBox 10">
            <a:extLst>
              <a:ext uri="{FF2B5EF4-FFF2-40B4-BE49-F238E27FC236}">
                <a16:creationId xmlns:a16="http://schemas.microsoft.com/office/drawing/2014/main" id="{8ED9D6B0-083E-4C0C-B00B-05582EC2259E}"/>
              </a:ext>
            </a:extLst>
          </p:cNvPr>
          <p:cNvSpPr txBox="1"/>
          <p:nvPr/>
        </p:nvSpPr>
        <p:spPr>
          <a:xfrm>
            <a:off x="10164871" y="6559909"/>
            <a:ext cx="1886460"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l-GR"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rPr>
              <a:t>Διαφάνεια </a:t>
            </a:r>
            <a:fld id="{7C15C5B5-03C6-48D8-B20F-65D93A6CF09E}" type="slidenum">
              <a:rPr kumimoji="0" lang="en-US" sz="1200" b="0" i="0" u="none" strike="noStrike" kern="1200" cap="none" spc="0" normalizeH="0" baseline="0" noProof="0" smtClean="0">
                <a:ln>
                  <a:noFill/>
                </a:ln>
                <a:solidFill>
                  <a:prstClr val="black"/>
                </a:solidFill>
                <a:effectLst/>
                <a:uLnTx/>
                <a:uFillTx/>
                <a:latin typeface="Bahnschrift Light" panose="020B0502040204020203"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dirty="0">
              <a:ln>
                <a:noFill/>
              </a:ln>
              <a:solidFill>
                <a:prstClr val="black"/>
              </a:solidFill>
              <a:effectLst/>
              <a:uLnTx/>
              <a:uFillTx/>
              <a:latin typeface="Bahnschrift Light" panose="020B0502040204020203" pitchFamily="34" charset="0"/>
              <a:ea typeface="+mn-ea"/>
              <a:cs typeface="Arial" pitchFamily="34" charset="0"/>
            </a:endParaRPr>
          </a:p>
        </p:txBody>
      </p:sp>
      <p:sp>
        <p:nvSpPr>
          <p:cNvPr id="3" name="Θέση υποσέλιδου 4">
            <a:extLst>
              <a:ext uri="{FF2B5EF4-FFF2-40B4-BE49-F238E27FC236}">
                <a16:creationId xmlns:a16="http://schemas.microsoft.com/office/drawing/2014/main" id="{C84FEE0A-EC67-F275-4254-C7380CB8525E}"/>
              </a:ext>
            </a:extLst>
          </p:cNvPr>
          <p:cNvSpPr txBox="1">
            <a:spLocks/>
          </p:cNvSpPr>
          <p:nvPr/>
        </p:nvSpPr>
        <p:spPr>
          <a:xfrm>
            <a:off x="3305908" y="6559909"/>
            <a:ext cx="6119445" cy="276999"/>
          </a:xfrm>
          <a:prstGeom prst="rect">
            <a:avLst/>
          </a:prstGeom>
        </p:spPr>
        <p:txBody>
          <a:bodyPr vert="horz" lIns="91440" tIns="45720" rIns="91440" bIns="45720" rtlCol="0" anchor="ctr"/>
          <a:lstStyle>
            <a:defPPr>
              <a:defRPr lang="el-GR"/>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LEGO Approach – Part B</a:t>
            </a:r>
            <a:endParaRPr kumimoji="0" lang="el-GR" sz="11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4" name="Rectangle 3">
            <a:extLst>
              <a:ext uri="{FF2B5EF4-FFF2-40B4-BE49-F238E27FC236}">
                <a16:creationId xmlns:a16="http://schemas.microsoft.com/office/drawing/2014/main" id="{E437F179-06FA-287E-8B43-79F41FE5C78C}"/>
              </a:ext>
            </a:extLst>
          </p:cNvPr>
          <p:cNvSpPr/>
          <p:nvPr/>
        </p:nvSpPr>
        <p:spPr>
          <a:xfrm>
            <a:off x="1212112" y="2450295"/>
            <a:ext cx="2775096" cy="584791"/>
          </a:xfrm>
          <a:prstGeom prst="rect">
            <a:avLst/>
          </a:prstGeom>
          <a:solidFill>
            <a:schemeClr val="bg1"/>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Calc</a:t>
            </a:r>
            <a:endParaRPr lang="el-GR" sz="2400" b="1" dirty="0">
              <a:solidFill>
                <a:schemeClr val="tx1"/>
              </a:solidFill>
            </a:endParaRPr>
          </a:p>
        </p:txBody>
      </p:sp>
      <p:sp>
        <p:nvSpPr>
          <p:cNvPr id="5" name="Rectangle 4">
            <a:extLst>
              <a:ext uri="{FF2B5EF4-FFF2-40B4-BE49-F238E27FC236}">
                <a16:creationId xmlns:a16="http://schemas.microsoft.com/office/drawing/2014/main" id="{0F37CB1C-6B6F-823B-A3F7-ABB6A3DBCFBA}"/>
              </a:ext>
            </a:extLst>
          </p:cNvPr>
          <p:cNvSpPr/>
          <p:nvPr/>
        </p:nvSpPr>
        <p:spPr>
          <a:xfrm>
            <a:off x="1212111" y="3023171"/>
            <a:ext cx="2775097" cy="888328"/>
          </a:xfrm>
          <a:prstGeom prst="rect">
            <a:avLst/>
          </a:prstGeom>
          <a:solidFill>
            <a:schemeClr val="bg1"/>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static Double d1,d2;</a:t>
            </a:r>
          </a:p>
          <a:p>
            <a:r>
              <a:rPr lang="en-US" dirty="0">
                <a:solidFill>
                  <a:schemeClr val="tx1"/>
                </a:solidFill>
              </a:rPr>
              <a:t>static  Stack&lt;Double&gt; </a:t>
            </a:r>
            <a:r>
              <a:rPr lang="en-US" dirty="0" err="1">
                <a:solidFill>
                  <a:schemeClr val="tx1"/>
                </a:solidFill>
              </a:rPr>
              <a:t>st</a:t>
            </a:r>
            <a:r>
              <a:rPr lang="en-US" dirty="0">
                <a:solidFill>
                  <a:schemeClr val="tx1"/>
                </a:solidFill>
              </a:rPr>
              <a:t>;</a:t>
            </a:r>
            <a:endParaRPr lang="el-GR" dirty="0">
              <a:solidFill>
                <a:schemeClr val="tx1"/>
              </a:solidFill>
            </a:endParaRPr>
          </a:p>
        </p:txBody>
      </p:sp>
      <p:sp>
        <p:nvSpPr>
          <p:cNvPr id="6" name="Rectangle 5">
            <a:extLst>
              <a:ext uri="{FF2B5EF4-FFF2-40B4-BE49-F238E27FC236}">
                <a16:creationId xmlns:a16="http://schemas.microsoft.com/office/drawing/2014/main" id="{92DE5CCC-8CBE-DEB8-97B8-96FBFC79CB85}"/>
              </a:ext>
            </a:extLst>
          </p:cNvPr>
          <p:cNvSpPr/>
          <p:nvPr/>
        </p:nvSpPr>
        <p:spPr>
          <a:xfrm>
            <a:off x="1212111" y="3911499"/>
            <a:ext cx="2775095" cy="584791"/>
          </a:xfrm>
          <a:prstGeom prst="rect">
            <a:avLst/>
          </a:prstGeom>
          <a:solidFill>
            <a:schemeClr val="bg1"/>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main()</a:t>
            </a:r>
            <a:endParaRPr lang="el-GR" dirty="0">
              <a:solidFill>
                <a:schemeClr val="tx1"/>
              </a:solidFill>
            </a:endParaRPr>
          </a:p>
        </p:txBody>
      </p:sp>
      <p:sp>
        <p:nvSpPr>
          <p:cNvPr id="7" name="Rectangle 6">
            <a:extLst>
              <a:ext uri="{FF2B5EF4-FFF2-40B4-BE49-F238E27FC236}">
                <a16:creationId xmlns:a16="http://schemas.microsoft.com/office/drawing/2014/main" id="{D687E8EB-EDB9-FF8E-E8A8-1A0F19C202E9}"/>
              </a:ext>
            </a:extLst>
          </p:cNvPr>
          <p:cNvSpPr/>
          <p:nvPr/>
        </p:nvSpPr>
        <p:spPr>
          <a:xfrm>
            <a:off x="6095999" y="2490554"/>
            <a:ext cx="2775095" cy="584791"/>
          </a:xfrm>
          <a:prstGeom prst="rect">
            <a:avLst/>
          </a:prstGeom>
          <a:solidFill>
            <a:schemeClr val="bg1"/>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Adder</a:t>
            </a:r>
            <a:endParaRPr lang="el-GR" sz="2400" b="1" dirty="0">
              <a:solidFill>
                <a:schemeClr val="tx1"/>
              </a:solidFill>
            </a:endParaRPr>
          </a:p>
        </p:txBody>
      </p:sp>
      <p:sp>
        <p:nvSpPr>
          <p:cNvPr id="9" name="Rectangle 8">
            <a:extLst>
              <a:ext uri="{FF2B5EF4-FFF2-40B4-BE49-F238E27FC236}">
                <a16:creationId xmlns:a16="http://schemas.microsoft.com/office/drawing/2014/main" id="{768697D2-36F5-448F-62FD-066FC16DBDAB}"/>
              </a:ext>
            </a:extLst>
          </p:cNvPr>
          <p:cNvSpPr/>
          <p:nvPr/>
        </p:nvSpPr>
        <p:spPr>
          <a:xfrm>
            <a:off x="6095999" y="3035086"/>
            <a:ext cx="2775095" cy="584791"/>
          </a:xfrm>
          <a:prstGeom prst="rect">
            <a:avLst/>
          </a:prstGeom>
          <a:solidFill>
            <a:schemeClr val="bg1"/>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l-GR" dirty="0">
              <a:solidFill>
                <a:schemeClr val="tx1"/>
              </a:solidFill>
            </a:endParaRPr>
          </a:p>
        </p:txBody>
      </p:sp>
      <p:sp>
        <p:nvSpPr>
          <p:cNvPr id="12" name="Rectangle 11">
            <a:extLst>
              <a:ext uri="{FF2B5EF4-FFF2-40B4-BE49-F238E27FC236}">
                <a16:creationId xmlns:a16="http://schemas.microsoft.com/office/drawing/2014/main" id="{EF1FC301-3AFF-D2A2-F16C-6AF07FA7737E}"/>
              </a:ext>
            </a:extLst>
          </p:cNvPr>
          <p:cNvSpPr/>
          <p:nvPr/>
        </p:nvSpPr>
        <p:spPr>
          <a:xfrm>
            <a:off x="6095999" y="3579618"/>
            <a:ext cx="2775095" cy="584791"/>
          </a:xfrm>
          <a:prstGeom prst="rect">
            <a:avLst/>
          </a:prstGeom>
          <a:solidFill>
            <a:schemeClr val="bg1"/>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public static void operate()</a:t>
            </a:r>
            <a:endParaRPr lang="el-GR" dirty="0">
              <a:solidFill>
                <a:schemeClr val="tx1"/>
              </a:solidFill>
            </a:endParaRPr>
          </a:p>
        </p:txBody>
      </p:sp>
      <p:cxnSp>
        <p:nvCxnSpPr>
          <p:cNvPr id="14" name="Straight Arrow Connector 13">
            <a:extLst>
              <a:ext uri="{FF2B5EF4-FFF2-40B4-BE49-F238E27FC236}">
                <a16:creationId xmlns:a16="http://schemas.microsoft.com/office/drawing/2014/main" id="{A000F638-1072-8041-3E70-341BAA7772A2}"/>
              </a:ext>
            </a:extLst>
          </p:cNvPr>
          <p:cNvCxnSpPr>
            <a:stCxn id="5" idx="3"/>
          </p:cNvCxnSpPr>
          <p:nvPr/>
        </p:nvCxnSpPr>
        <p:spPr>
          <a:xfrm flipV="1">
            <a:off x="3987208" y="3429000"/>
            <a:ext cx="2108791" cy="3833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463092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theme/theme1.xml><?xml version="1.0" encoding="utf-8"?>
<a:theme xmlns:a="http://schemas.openxmlformats.org/drawingml/2006/main" name="Προσαρμοσμένη σχεδίαση">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Θέμα του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Θέμα του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17691</TotalTime>
  <Words>2437</Words>
  <Application>Microsoft Office PowerPoint</Application>
  <PresentationFormat>Widescreen</PresentationFormat>
  <Paragraphs>422</Paragraphs>
  <Slides>27</Slides>
  <Notes>27</Notes>
  <HiddenSlides>0</HiddenSlides>
  <MMClips>0</MMClips>
  <ScaleCrop>false</ScaleCrop>
  <HeadingPairs>
    <vt:vector size="8" baseType="variant">
      <vt:variant>
        <vt:lpstr>Fonts Used</vt:lpstr>
      </vt:variant>
      <vt:variant>
        <vt:i4>10</vt:i4>
      </vt:variant>
      <vt:variant>
        <vt:lpstr>Theme</vt:lpstr>
      </vt:variant>
      <vt:variant>
        <vt:i4>2</vt:i4>
      </vt:variant>
      <vt:variant>
        <vt:lpstr>Embedded OLE Servers</vt:lpstr>
      </vt:variant>
      <vt:variant>
        <vt:i4>1</vt:i4>
      </vt:variant>
      <vt:variant>
        <vt:lpstr>Slide Titles</vt:lpstr>
      </vt:variant>
      <vt:variant>
        <vt:i4>27</vt:i4>
      </vt:variant>
    </vt:vector>
  </HeadingPairs>
  <TitlesOfParts>
    <vt:vector size="40" baseType="lpstr">
      <vt:lpstr> </vt:lpstr>
      <vt:lpstr>Arial</vt:lpstr>
      <vt:lpstr>Bahnschrift</vt:lpstr>
      <vt:lpstr>Bahnschrift Light</vt:lpstr>
      <vt:lpstr>Calibri</vt:lpstr>
      <vt:lpstr>Calibri Light</vt:lpstr>
      <vt:lpstr>Courier New</vt:lpstr>
      <vt:lpstr>Tahoma</vt:lpstr>
      <vt:lpstr>Times New Roman</vt:lpstr>
      <vt:lpstr>Wingdings</vt:lpstr>
      <vt:lpstr>Προσαρμοσμένη σχεδίαση</vt:lpstr>
      <vt:lpstr>Θέμα του Office</vt:lpstr>
      <vt:lpstr>Bitmap Image</vt:lpstr>
      <vt:lpstr>PowerPoint Presentation</vt:lpstr>
      <vt:lpstr>H Άσκηση – To πρόγραμμα Calc</vt:lpstr>
      <vt:lpstr>Οργάνωση Διάλεξης</vt:lpstr>
      <vt:lpstr>Object Interaction Diagram/Sequence Diagram</vt:lpstr>
      <vt:lpstr>Οργάνωση Διάλεξης</vt:lpstr>
      <vt:lpstr>Calc - The constituent components</vt:lpstr>
      <vt:lpstr>Calc-Διάγραμμα Αλληλεπίδρασης Αντικειμένων</vt:lpstr>
      <vt:lpstr>Calc - The constituent components</vt:lpstr>
      <vt:lpstr>Διάγραμμα Αλληλεπίδρασης Αντικειμένων</vt:lpstr>
      <vt:lpstr>Ορισμός της κλάσης Calc</vt:lpstr>
      <vt:lpstr>Οργάνωση Διάλεξης</vt:lpstr>
      <vt:lpstr>Δημιουργία στιγμιότυπων της Double</vt:lpstr>
      <vt:lpstr>class Calc (1st version)</vt:lpstr>
      <vt:lpstr>Generics …. Stack&lt;E&gt;</vt:lpstr>
      <vt:lpstr>The first program in Java – System.out.println</vt:lpstr>
      <vt:lpstr>Η κλάση System</vt:lpstr>
      <vt:lpstr>Η κλάση PrintStream – method overloading</vt:lpstr>
      <vt:lpstr>H μέθοδος toString</vt:lpstr>
      <vt:lpstr>Οργάνωση Διάλεξης</vt:lpstr>
      <vt:lpstr>2nd iteration - Increase reusability (Χρήση μεθόδου)</vt:lpstr>
      <vt:lpstr>2nd iteration - Increase reusability (Χρήση αντικειμενου)</vt:lpstr>
      <vt:lpstr>Build new Component – Μέθοδος κλάσης</vt:lpstr>
      <vt:lpstr>Build new Component – Μέθοδος στιγμιότυπου</vt:lpstr>
      <vt:lpstr>Integrate components</vt:lpstr>
      <vt:lpstr>Source code (2nd version)</vt:lpstr>
      <vt:lpstr>Εναλλακτικές υλοποιήσεις</vt:lpstr>
      <vt:lpstr>Αφαιρετική αναπαράστασης Δομής – UML class diagram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Ch4_LegoApproachPartB</dc:title>
  <dc:creator>Kleanthis Thramboulidis</dc:creator>
  <cp:lastModifiedBy>thrambo@ece.upatras.gr</cp:lastModifiedBy>
  <cp:revision>82</cp:revision>
  <cp:lastPrinted>2023-03-10T07:59:28Z</cp:lastPrinted>
  <dcterms:created xsi:type="dcterms:W3CDTF">2020-03-13T12:21:17Z</dcterms:created>
  <dcterms:modified xsi:type="dcterms:W3CDTF">2024-10-09T06:07:19Z</dcterms:modified>
</cp:coreProperties>
</file>