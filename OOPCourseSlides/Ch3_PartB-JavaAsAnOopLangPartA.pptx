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6"/>
  </p:notesMasterIdLst>
  <p:sldIdLst>
    <p:sldId id="262" r:id="rId3"/>
    <p:sldId id="760" r:id="rId4"/>
    <p:sldId id="826" r:id="rId5"/>
    <p:sldId id="828" r:id="rId6"/>
    <p:sldId id="827" r:id="rId7"/>
    <p:sldId id="829" r:id="rId8"/>
    <p:sldId id="806" r:id="rId9"/>
    <p:sldId id="807" r:id="rId10"/>
    <p:sldId id="808" r:id="rId11"/>
    <p:sldId id="810" r:id="rId12"/>
    <p:sldId id="809" r:id="rId13"/>
    <p:sldId id="830" r:id="rId14"/>
    <p:sldId id="831" r:id="rId15"/>
    <p:sldId id="812" r:id="rId16"/>
    <p:sldId id="823" r:id="rId17"/>
    <p:sldId id="813" r:id="rId18"/>
    <p:sldId id="815" r:id="rId19"/>
    <p:sldId id="814" r:id="rId20"/>
    <p:sldId id="816" r:id="rId21"/>
    <p:sldId id="819" r:id="rId22"/>
    <p:sldId id="824" r:id="rId23"/>
    <p:sldId id="818" r:id="rId24"/>
    <p:sldId id="821" r:id="rId25"/>
  </p:sldIdLst>
  <p:sldSz cx="12192000" cy="6858000"/>
  <p:notesSz cx="7099300" cy="10234613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3" autoAdjust="0"/>
    <p:restoredTop sz="75587" autoAdjust="0"/>
  </p:normalViewPr>
  <p:slideViewPr>
    <p:cSldViewPr snapToGrid="0">
      <p:cViewPr varScale="1">
        <p:scale>
          <a:sx n="52" d="100"/>
          <a:sy n="52" d="100"/>
        </p:scale>
        <p:origin x="1116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32788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66072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A424-772B-1F73-0F12-B47EBF71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C7A3951-A0F7-4202-65E5-FB25B0217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6263F13-08D4-2A5E-AA5A-D8A914208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25E7B4E-07D0-54E8-3B97-DEF43685B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4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0267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FD28-5426-3E86-1DDD-50DD6E20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1B94A8D-BEFD-6FF5-863C-5055FAC22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E61EEB2-D7BF-971F-512F-29BDBF1A5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98DC0CE-4522-FA9A-E630-E29C0882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5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361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C6B19-FD13-30DB-8F01-8E5E99C1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B1AECBC-2AA4-48EF-1395-B11C868B9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5F53BC0-E22D-2B2A-88AF-ECFA31B18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F170AB0-4001-2858-0653-783835CCA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6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56996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7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21872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8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16404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9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65235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10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28939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11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5299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D22BB-B55A-10C7-1D99-9E52766E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B3F33B7-F6FD-5509-99EF-DA7428120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0EF4E44-166B-EA64-4EE3-4E95003F0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D7D7494-E102-30AD-A59B-DDB03FE42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12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8286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E151-5CA2-D35F-E794-6FDB4423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D53F2AC-2F29-91B3-2F39-6DA5045E6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4136969-A92D-57B2-31EB-6AD279FB1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AC42B86-E200-E9CC-F2CF-BFC1C10EA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6071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14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6462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15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16598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16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41339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17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72574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18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7949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19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3456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20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9026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21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52181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22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07614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81563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Java as an OOP Language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Part 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EC0851-B799-B1FD-4A78-3D83E5CBF561}"/>
              </a:ext>
            </a:extLst>
          </p:cNvPr>
          <p:cNvSpPr/>
          <p:nvPr/>
        </p:nvSpPr>
        <p:spPr>
          <a:xfrm>
            <a:off x="3672132" y="4017703"/>
            <a:ext cx="480646" cy="388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C4D90D-1D1C-F8D9-54FB-62F713435637}"/>
              </a:ext>
            </a:extLst>
          </p:cNvPr>
          <p:cNvSpPr/>
          <p:nvPr/>
        </p:nvSpPr>
        <p:spPr>
          <a:xfrm>
            <a:off x="5144464" y="4017703"/>
            <a:ext cx="837114" cy="12798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2.0</a:t>
            </a:r>
          </a:p>
          <a:p>
            <a:pPr algn="ctr"/>
            <a:r>
              <a:rPr lang="en-US" sz="2800" dirty="0"/>
              <a:t>3.0</a:t>
            </a:r>
          </a:p>
          <a:p>
            <a:pPr algn="ctr"/>
            <a:r>
              <a:rPr lang="en-US" sz="2800" dirty="0"/>
              <a:t>1.0</a:t>
            </a:r>
            <a:endParaRPr lang="el-GR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DEB94-F1A3-1B00-A41E-E438F511FD88}"/>
              </a:ext>
            </a:extLst>
          </p:cNvPr>
          <p:cNvSpPr txBox="1"/>
          <p:nvPr/>
        </p:nvSpPr>
        <p:spPr>
          <a:xfrm>
            <a:off x="3374232" y="3707328"/>
            <a:ext cx="103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c1</a:t>
            </a:r>
            <a:r>
              <a:rPr lang="en-US" dirty="0"/>
              <a:t>: Circle</a:t>
            </a:r>
            <a:endParaRPr lang="el-GR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A14E00-AB20-8075-077E-A15E438BB84C}"/>
              </a:ext>
            </a:extLst>
          </p:cNvPr>
          <p:cNvGrpSpPr/>
          <p:nvPr/>
        </p:nvGrpSpPr>
        <p:grpSpPr>
          <a:xfrm>
            <a:off x="3864368" y="4116145"/>
            <a:ext cx="1280096" cy="195108"/>
            <a:chOff x="7840350" y="3233892"/>
            <a:chExt cx="1280096" cy="19510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E5D8F1D-5A08-CAD4-A4FD-CA3447399622}"/>
                </a:ext>
              </a:extLst>
            </p:cNvPr>
            <p:cNvSpPr/>
            <p:nvPr/>
          </p:nvSpPr>
          <p:spPr>
            <a:xfrm>
              <a:off x="7840350" y="3278145"/>
              <a:ext cx="166512" cy="15085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3C031A5-AFF8-84CE-E8D6-29D65C513D5B}"/>
                </a:ext>
              </a:extLst>
            </p:cNvPr>
            <p:cNvCxnSpPr>
              <a:cxnSpLocks/>
              <a:stCxn id="12" idx="5"/>
            </p:cNvCxnSpPr>
            <p:nvPr/>
          </p:nvCxnSpPr>
          <p:spPr>
            <a:xfrm flipV="1">
              <a:off x="7982477" y="3233892"/>
              <a:ext cx="1137969" cy="1730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6C51B88-4A0B-15A9-42D0-EB6AB261B686}"/>
              </a:ext>
            </a:extLst>
          </p:cNvPr>
          <p:cNvSpPr txBox="1"/>
          <p:nvPr/>
        </p:nvSpPr>
        <p:spPr>
          <a:xfrm>
            <a:off x="5981578" y="3965122"/>
            <a:ext cx="5861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  <a:p>
            <a:r>
              <a:rPr lang="en-US" sz="2800" dirty="0"/>
              <a:t>y</a:t>
            </a:r>
          </a:p>
          <a:p>
            <a:r>
              <a:rPr lang="en-US" sz="2800" dirty="0"/>
              <a:t>r</a:t>
            </a:r>
            <a:endParaRPr lang="el-GR" sz="28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EC99A6-8D34-C411-F850-0C695F16C402}"/>
              </a:ext>
            </a:extLst>
          </p:cNvPr>
          <p:cNvCxnSpPr/>
          <p:nvPr/>
        </p:nvCxnSpPr>
        <p:spPr>
          <a:xfrm>
            <a:off x="5144464" y="4406583"/>
            <a:ext cx="837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B00EF1-9816-5E01-6799-E96828B0FD75}"/>
              </a:ext>
            </a:extLst>
          </p:cNvPr>
          <p:cNvCxnSpPr/>
          <p:nvPr/>
        </p:nvCxnSpPr>
        <p:spPr>
          <a:xfrm>
            <a:off x="5144464" y="4840337"/>
            <a:ext cx="837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FB5F4F-FDB7-D9C1-0EE7-B41927C03DED}"/>
              </a:ext>
            </a:extLst>
          </p:cNvPr>
          <p:cNvCxnSpPr/>
          <p:nvPr/>
        </p:nvCxnSpPr>
        <p:spPr>
          <a:xfrm flipV="1">
            <a:off x="3498604" y="4702646"/>
            <a:ext cx="1639455" cy="5334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964D5F-D178-02D8-B099-45B1887C9317}"/>
              </a:ext>
            </a:extLst>
          </p:cNvPr>
          <p:cNvSpPr txBox="1"/>
          <p:nvPr/>
        </p:nvSpPr>
        <p:spPr>
          <a:xfrm rot="20593758">
            <a:off x="3499281" y="4614638"/>
            <a:ext cx="845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area</a:t>
            </a:r>
            <a:endParaRPr lang="el-GR" sz="2800" b="1" dirty="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3.6-3.8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87" y="1443923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Κλάση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Στιγμιότυπο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l-GR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Μεθοδος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Ορισμός Κλάσης</a:t>
            </a:r>
          </a:p>
          <a:p>
            <a:pPr marL="1314450" lvl="2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μέθοδος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main()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Δημιουργία Στιγμιότυπου</a:t>
            </a:r>
          </a:p>
          <a:p>
            <a:pPr marL="914400" lvl="1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Αναφορά σε μεταβλητές στιγμιότυπου</a:t>
            </a:r>
          </a:p>
          <a:p>
            <a:pPr marL="914400" lvl="1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Αποστολή μηνύματος σε στιγμιότυπο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Δημιουργός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Constructor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τελεστής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Encapsulation - Accessors 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και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Mutators</a:t>
            </a: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6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Πρόγραμμα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HelloWorld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Τίτλος 1">
            <a:extLst>
              <a:ext uri="{FF2B5EF4-FFF2-40B4-BE49-F238E27FC236}">
                <a16:creationId xmlns:a16="http://schemas.microsoft.com/office/drawing/2014/main" id="{3FC560F6-F7AA-BD52-570D-FC99D086D8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19331"/>
          </a:xfrm>
          <a:prstGeom prst="rect">
            <a:avLst/>
          </a:prstGeom>
          <a:solidFill>
            <a:srgbClr val="FDCBAD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κλάση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μέθοδος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main()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51CAB6-306F-4330-EFCB-3E84BB7A7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/****************************************************************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File name : 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HelloWorld.java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Compile with </a:t>
            </a:r>
            <a:r>
              <a:rPr kumimoji="0" lang="en-US" alt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	</a:t>
            </a:r>
            <a:r>
              <a:rPr kumimoji="0" lang="en-US" alt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HelloWorld.java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Execute with java: 	java HelloWorld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</a:t>
            </a:r>
            <a:r>
              <a:rPr kumimoji="0" lang="en-US" altLang="el-GR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Developer’s Comments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The HelloWorld class implements an application that simply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displays "Hello World!" to the standard output.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****************************************************************/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class 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HelloWorld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{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static void 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main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(String[]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args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{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System.out.println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("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Hello, World!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");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}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}</a:t>
            </a: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D7CA5-FCEF-6F25-DD0C-988C0B9CF8B3}"/>
              </a:ext>
            </a:extLst>
          </p:cNvPr>
          <p:cNvSpPr/>
          <p:nvPr/>
        </p:nvSpPr>
        <p:spPr>
          <a:xfrm>
            <a:off x="7799294" y="758816"/>
            <a:ext cx="4392705" cy="13365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Δραστηριότητα 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3.2</a:t>
            </a:r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πρόγραμμα 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HelloWorld</a:t>
            </a:r>
            <a:endParaRPr lang="el-GR" sz="2800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3905B-F6CF-F1CE-B546-B01B7D524B22}"/>
              </a:ext>
            </a:extLst>
          </p:cNvPr>
          <p:cNvSpPr txBox="1"/>
          <p:nvPr/>
        </p:nvSpPr>
        <p:spPr>
          <a:xfrm>
            <a:off x="7799294" y="2095400"/>
            <a:ext cx="43927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Αναπτύξτε ένα πρόγραμμα σε </a:t>
            </a:r>
            <a:r>
              <a:rPr lang="el-GR" sz="20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Java</a:t>
            </a:r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που θα τυπώνει στην οθόνη τη φράση «</a:t>
            </a:r>
            <a:r>
              <a:rPr lang="el-GR" sz="20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Hello</a:t>
            </a:r>
            <a:endParaRPr lang="el-GR" sz="2000" b="0" i="1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World!».</a:t>
            </a:r>
            <a:endParaRPr lang="el-GR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AB5B84-0986-B992-BFA6-D2F76C5B1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161" y="4762601"/>
            <a:ext cx="6605838" cy="2307809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24A5BA6-8D8E-513D-CE2B-4C4BFFDF30AE}"/>
              </a:ext>
            </a:extLst>
          </p:cNvPr>
          <p:cNvSpPr/>
          <p:nvPr/>
        </p:nvSpPr>
        <p:spPr>
          <a:xfrm>
            <a:off x="7888482" y="3228345"/>
            <a:ext cx="4124130" cy="1038349"/>
          </a:xfrm>
          <a:prstGeom prst="wedgeRoundRectCallout">
            <a:avLst>
              <a:gd name="adj1" fmla="val -57392"/>
              <a:gd name="adj2" fmla="val 62500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Αναπαριστώ το πρόγραμμα ως μια κλάση</a:t>
            </a:r>
            <a:endParaRPr lang="en-GB" sz="2800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F17F6E-DD15-F577-4227-F2D3320EDE55}"/>
              </a:ext>
            </a:extLst>
          </p:cNvPr>
          <p:cNvSpPr/>
          <p:nvPr/>
        </p:nvSpPr>
        <p:spPr>
          <a:xfrm>
            <a:off x="746449" y="5482074"/>
            <a:ext cx="4702743" cy="1038349"/>
          </a:xfrm>
          <a:prstGeom prst="wedgeRoundRectCallout">
            <a:avLst>
              <a:gd name="adj1" fmla="val -57392"/>
              <a:gd name="adj2" fmla="val 62500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dirty="0"/>
              <a:t>Υλοποιώ την συμπεριφορά του προγράμματος με την μέθοδο </a:t>
            </a:r>
            <a:r>
              <a:rPr lang="en-US" sz="2400" dirty="0"/>
              <a:t>main()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2878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7B15-D63A-5424-FD62-43A4F34A1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CDB222E-03F2-54EC-4DFE-60E5FE4CB8B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CE8373B-BC43-313B-4405-FFBDE4C7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Circles Handling App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3721BB2-71E2-8B6A-0281-F61E2DA30330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0E691-96F6-4E23-DC68-FD6525E8525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65FF7367-DA6D-E58B-E6FF-10956FF213D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0D23D-6A20-7327-9767-39496F32BB75}"/>
              </a:ext>
            </a:extLst>
          </p:cNvPr>
          <p:cNvSpPr/>
          <p:nvPr/>
        </p:nvSpPr>
        <p:spPr>
          <a:xfrm>
            <a:off x="0" y="758816"/>
            <a:ext cx="6720029" cy="12346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Δραστηριότητα 4.1 </a:t>
            </a:r>
            <a:endParaRPr lang="en-US" sz="2800" b="1" i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Circles Handling App</a:t>
            </a:r>
            <a:endParaRPr lang="el-GR" sz="2400" b="1" i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E4859-7F3E-5DCD-08F7-9B70526B9528}"/>
              </a:ext>
            </a:extLst>
          </p:cNvPr>
          <p:cNvSpPr txBox="1"/>
          <p:nvPr/>
        </p:nvSpPr>
        <p:spPr>
          <a:xfrm>
            <a:off x="1" y="1977267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Γράψτε τον πηγαίο κώδικα ενός προγράμματος το οποίο </a:t>
            </a:r>
            <a:r>
              <a:rPr lang="el-GR" sz="4000" b="1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θα δημιουργεί </a:t>
            </a:r>
            <a:r>
              <a:rPr lang="el-GR" sz="32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δύο </a:t>
            </a:r>
            <a:r>
              <a:rPr lang="el-GR" sz="4000" b="1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κύκλους</a:t>
            </a:r>
            <a:r>
              <a:rPr lang="el-GR" sz="32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με δεδομένα χαρακτηριστικά και θα τυπώνει για τον καθένα την επιφάνεια και την περίμετρό του. </a:t>
            </a:r>
            <a:endParaRPr lang="el-GR" sz="3200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B85004FF-289A-5F9E-FA1A-6736DC2567B1}"/>
              </a:ext>
            </a:extLst>
          </p:cNvPr>
          <p:cNvSpPr/>
          <p:nvPr/>
        </p:nvSpPr>
        <p:spPr>
          <a:xfrm>
            <a:off x="5907840" y="4106912"/>
            <a:ext cx="5200261" cy="904687"/>
          </a:xfrm>
          <a:prstGeom prst="borderCallout1">
            <a:avLst>
              <a:gd name="adj1" fmla="val 1899"/>
              <a:gd name="adj2" fmla="val 51954"/>
              <a:gd name="adj3" fmla="val -168903"/>
              <a:gd name="adj4" fmla="val 23749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i="1" dirty="0">
                <a:solidFill>
                  <a:srgbClr val="000000"/>
                </a:solidFill>
                <a:latin typeface="Calibri" panose="020F0502020204030204" pitchFamily="34" charset="0"/>
              </a:rPr>
              <a:t>κλάση </a:t>
            </a:r>
            <a:r>
              <a:rPr lang="en-US" sz="3200" b="1" i="1" dirty="0" err="1">
                <a:solidFill>
                  <a:srgbClr val="C00000"/>
                </a:solidFill>
                <a:latin typeface="Calibri" panose="020F0502020204030204" pitchFamily="34" charset="0"/>
              </a:rPr>
              <a:t>CirclesHandlingApp</a:t>
            </a:r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3E586D7C-2491-B37E-C48E-86D61AD312BE}"/>
              </a:ext>
            </a:extLst>
          </p:cNvPr>
          <p:cNvSpPr/>
          <p:nvPr/>
        </p:nvSpPr>
        <p:spPr>
          <a:xfrm>
            <a:off x="354794" y="5325279"/>
            <a:ext cx="5200261" cy="774761"/>
          </a:xfrm>
          <a:prstGeom prst="borderCallout1">
            <a:avLst>
              <a:gd name="adj1" fmla="val 1899"/>
              <a:gd name="adj2" fmla="val 51954"/>
              <a:gd name="adj3" fmla="val -280294"/>
              <a:gd name="adj4" fmla="val 6824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στιγμιότυπ</a:t>
            </a:r>
            <a:r>
              <a:rPr lang="en-US" sz="32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l-GR" sz="3200" i="1" dirty="0">
                <a:solidFill>
                  <a:srgbClr val="000000"/>
                </a:solidFill>
                <a:latin typeface="Calibri" panose="020F0502020204030204" pitchFamily="34" charset="0"/>
              </a:rPr>
              <a:t> της κλάσης </a:t>
            </a:r>
            <a:r>
              <a:rPr lang="en-US" sz="3200" b="1" i="1" dirty="0">
                <a:solidFill>
                  <a:srgbClr val="C00000"/>
                </a:solidFill>
                <a:latin typeface="Calibri" panose="020F0502020204030204" pitchFamily="34" charset="0"/>
              </a:rPr>
              <a:t>Circle</a:t>
            </a:r>
            <a:endParaRPr lang="en-GB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56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2A538-95BA-0BBF-93AC-B889FAEA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1BBF961-C2F5-C258-64D4-8C238ACF8B33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4221DDD-8095-E8B5-C10B-EE54D26F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πρόγραμμα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Circles Handling App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ως κλάση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8304D0B-7C8C-7668-C4B9-E7CF9885D489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7886F-7295-0538-6500-6781242F716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1756DD7E-A53A-0A86-2B6A-F83EBC3FCD98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A3DF1-2378-E005-986D-48A891FB0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816"/>
            <a:ext cx="12084314" cy="5343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B3DCAA-4A99-F0A4-5996-537FC779C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29" y="3135459"/>
            <a:ext cx="4191585" cy="19910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E20CE-2696-5593-EB4B-D555918A2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51" y="5286886"/>
            <a:ext cx="3899405" cy="144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2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20ED-9515-C309-4CF7-6AF65789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BDD73FF3-2B6B-8E41-4246-AAE3C77957F3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DE67439-9F7A-1FC5-1536-EE61E4B6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της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main()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0572584-8ACE-ECFF-71DF-19117CD46B23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80452-DFA1-B9A9-F361-18BF13608151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6EC45950-8330-763C-D8DC-023BE5EA0FCA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923E5-408E-D000-AD12-0A4A59FDC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87" y="1166270"/>
            <a:ext cx="11841226" cy="452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4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Ορισμός κλάσης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Circle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D4EC543-E28A-5E32-2447-F02AE4F8C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184" y="710712"/>
            <a:ext cx="8839200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public class 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Circle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{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Tahoma"/>
              </a:rPr>
              <a:t>// 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Tahoma"/>
              </a:rPr>
              <a:t>data members</a:t>
            </a:r>
            <a:endParaRPr kumimoji="0" lang="en-GB" altLang="el-GR" sz="3200" b="0" i="1" u="none" strike="noStrike" kern="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public double </a:t>
            </a:r>
            <a:r>
              <a:rPr kumimoji="0" lang="en-GB" altLang="el-GR" sz="3200" b="0" i="1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x,y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	public double 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r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Tahoma"/>
              </a:rPr>
              <a:t>// 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Tahoma"/>
              </a:rPr>
              <a:t>methods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public double 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circumference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()</a:t>
            </a:r>
            <a:r>
              <a:rPr kumimoji="0" lang="el-GR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{</a:t>
            </a:r>
            <a:endParaRPr kumimoji="0" lang="en-GB" altLang="el-GR" sz="32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				return 2*3.14*r;</a:t>
            </a:r>
            <a:endParaRPr kumimoji="0" lang="el-GR" altLang="el-GR" sz="32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l-GR" altLang="el-GR" sz="3200" i="1" kern="0" dirty="0">
                <a:solidFill>
                  <a:srgbClr val="3333CC"/>
                </a:solidFill>
                <a:latin typeface="Tahoma"/>
              </a:rPr>
              <a:t>			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}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	public double 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area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() {</a:t>
            </a:r>
            <a:endParaRPr kumimoji="0" lang="el-GR" altLang="el-GR" sz="32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l-GR" altLang="el-GR" sz="3200" i="1" kern="0" dirty="0">
                <a:solidFill>
                  <a:srgbClr val="3333CC"/>
                </a:solidFill>
                <a:latin typeface="Tahoma"/>
              </a:rPr>
              <a:t>			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return 3.14*r*r;</a:t>
            </a:r>
            <a:endParaRPr kumimoji="0" lang="el-GR" altLang="el-GR" sz="32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l-GR" altLang="el-GR" sz="3200" i="1" kern="0" dirty="0">
                <a:solidFill>
                  <a:srgbClr val="3333CC"/>
                </a:solidFill>
                <a:latin typeface="Tahoma"/>
              </a:rPr>
              <a:t>				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}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	}</a:t>
            </a:r>
            <a:endParaRPr kumimoji="0" lang="en-GB" altLang="el-GR" sz="40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22077308-ADF8-A3B3-B36B-FE101CECE972}"/>
              </a:ext>
            </a:extLst>
          </p:cNvPr>
          <p:cNvSpPr/>
          <p:nvPr/>
        </p:nvSpPr>
        <p:spPr>
          <a:xfrm>
            <a:off x="7374543" y="1046387"/>
            <a:ext cx="3421681" cy="719331"/>
          </a:xfrm>
          <a:prstGeom prst="borderCallout1">
            <a:avLst>
              <a:gd name="adj1" fmla="val 53178"/>
              <a:gd name="adj2" fmla="val 18"/>
              <a:gd name="adj3" fmla="val 67479"/>
              <a:gd name="adj4" fmla="val -81202"/>
            </a:avLst>
          </a:prstGeom>
          <a:solidFill>
            <a:srgbClr val="92D050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Ορίζουν τη 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δομή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των στιγμιότυπων της κλάσης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B72EAC8E-3975-6ACB-71F5-E391049B4BD4}"/>
              </a:ext>
            </a:extLst>
          </p:cNvPr>
          <p:cNvSpPr/>
          <p:nvPr/>
        </p:nvSpPr>
        <p:spPr>
          <a:xfrm>
            <a:off x="7373697" y="2317943"/>
            <a:ext cx="4103311" cy="719331"/>
          </a:xfrm>
          <a:prstGeom prst="borderCallout1">
            <a:avLst>
              <a:gd name="adj1" fmla="val 53178"/>
              <a:gd name="adj2" fmla="val 18"/>
              <a:gd name="adj3" fmla="val 96610"/>
              <a:gd name="adj4" fmla="val -90951"/>
            </a:avLst>
          </a:prstGeom>
          <a:solidFill>
            <a:srgbClr val="92D050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kern="0" dirty="0">
                <a:solidFill>
                  <a:srgbClr val="000000"/>
                </a:solidFill>
                <a:latin typeface="Tahoma" panose="020B0604030504040204" pitchFamily="34" charset="0"/>
              </a:rPr>
              <a:t>Ορίζουν </a:t>
            </a:r>
            <a:r>
              <a:rPr lang="el-GR" altLang="el-GR" sz="2000" kern="0">
                <a:solidFill>
                  <a:srgbClr val="000000"/>
                </a:solidFill>
                <a:latin typeface="Tahoma" panose="020B0604030504040204" pitchFamily="34" charset="0"/>
              </a:rPr>
              <a:t>τη συμπεριφορά</a:t>
            </a:r>
            <a:r>
              <a:rPr lang="el-GR" altLang="el-GR" sz="2000" kern="0" dirty="0">
                <a:solidFill>
                  <a:srgbClr val="000000"/>
                </a:solidFill>
                <a:latin typeface="Tahoma" panose="020B0604030504040204" pitchFamily="34" charset="0"/>
              </a:rPr>
              <a:t> των στιγμιότυπων </a:t>
            </a:r>
            <a:r>
              <a:rPr lang="el-GR" altLang="el-GR" sz="2000" kern="0">
                <a:solidFill>
                  <a:srgbClr val="000000"/>
                </a:solidFill>
                <a:latin typeface="Tahoma" panose="020B0604030504040204" pitchFamily="34" charset="0"/>
              </a:rPr>
              <a:t>της κλάσης</a:t>
            </a:r>
            <a:endParaRPr lang="en-US" altLang="el-GR" sz="2000" kern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5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Δημιουργία στιγμιότυπου (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Instance)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B3A71C5E-F9B1-DC1B-908B-C4C93D268AD6}"/>
              </a:ext>
            </a:extLst>
          </p:cNvPr>
          <p:cNvSpPr>
            <a:spLocks/>
          </p:cNvSpPr>
          <p:nvPr/>
        </p:nvSpPr>
        <p:spPr bwMode="auto">
          <a:xfrm>
            <a:off x="2743065" y="3305519"/>
            <a:ext cx="1324843" cy="619125"/>
          </a:xfrm>
          <a:prstGeom prst="borderCallout2">
            <a:avLst>
              <a:gd name="adj1" fmla="val 18463"/>
              <a:gd name="adj2" fmla="val 105903"/>
              <a:gd name="adj3" fmla="val 18463"/>
              <a:gd name="adj4" fmla="val 215130"/>
              <a:gd name="adj5" fmla="val -172584"/>
              <a:gd name="adj6" fmla="val 329927"/>
            </a:avLst>
          </a:prstGeom>
          <a:solidFill>
            <a:srgbClr val="F5F88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2E456F-7215-03E4-4FA2-998A328D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8" y="1245400"/>
            <a:ext cx="10563102" cy="139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Ορισμός αναφοράς (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reference)</a:t>
            </a:r>
          </a:p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Circle c</a:t>
            </a:r>
            <a:r>
              <a:rPr kumimoji="0" lang="el-GR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1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;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	</a:t>
            </a:r>
            <a:r>
              <a:rPr kumimoji="0" lang="en-GB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//c</a:t>
            </a: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</a:t>
            </a:r>
            <a:r>
              <a:rPr kumimoji="0" lang="en-GB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GB" altLang="el-G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</a:t>
            </a:r>
            <a:r>
              <a:rPr kumimoji="0" lang="en-GB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αι απλά ένα</a:t>
            </a: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ς</a:t>
            </a:r>
            <a:r>
              <a:rPr kumimoji="0" lang="en-GB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identifier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5D1E389-AC20-9001-1A89-184CB803F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392" y="4354546"/>
            <a:ext cx="5610470" cy="1441450"/>
          </a:xfrm>
          <a:prstGeom prst="wedgeRoundRectCallout">
            <a:avLst>
              <a:gd name="adj1" fmla="val -55697"/>
              <a:gd name="adj2" fmla="val 78992"/>
              <a:gd name="adj3" fmla="val 16667"/>
            </a:avLst>
          </a:prstGeom>
          <a:solidFill>
            <a:srgbClr val="F5F88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υπάρχει ένας τουλάχιστο </a:t>
            </a:r>
            <a:r>
              <a:rPr kumimoji="0" lang="el-GR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constructor</a:t>
            </a: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που έχει το όνομα της κλάσης και εκτελεί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την απαραίτητη αρχικοποίηση για το νέο αντικείμενο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09C704C6-3D1C-C34D-C5E4-43A4ADF59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1773238"/>
            <a:ext cx="22240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Δημιουργός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constructor)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246E92-C7C9-0F84-93B7-3F90E1B323FB}"/>
              </a:ext>
            </a:extLst>
          </p:cNvPr>
          <p:cNvSpPr/>
          <p:nvPr/>
        </p:nvSpPr>
        <p:spPr>
          <a:xfrm>
            <a:off x="8628794" y="1198480"/>
            <a:ext cx="480646" cy="388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F567E-CEFC-2A75-190F-F5B6ED669A5C}"/>
              </a:ext>
            </a:extLst>
          </p:cNvPr>
          <p:cNvSpPr txBox="1"/>
          <p:nvPr/>
        </p:nvSpPr>
        <p:spPr>
          <a:xfrm>
            <a:off x="8613343" y="783538"/>
            <a:ext cx="131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c1</a:t>
            </a:r>
            <a:r>
              <a:rPr lang="en-US" sz="2400" dirty="0"/>
              <a:t>: Circle</a:t>
            </a:r>
            <a:endParaRPr lang="el-GR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70DB91-56DD-943F-D655-A819EE21B909}"/>
              </a:ext>
            </a:extLst>
          </p:cNvPr>
          <p:cNvGrpSpPr/>
          <p:nvPr/>
        </p:nvGrpSpPr>
        <p:grpSpPr>
          <a:xfrm>
            <a:off x="8821030" y="1296922"/>
            <a:ext cx="1280096" cy="195108"/>
            <a:chOff x="7840350" y="3233892"/>
            <a:chExt cx="1280096" cy="19510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985DEC1-C722-1B49-1855-149AD02D7C25}"/>
                </a:ext>
              </a:extLst>
            </p:cNvPr>
            <p:cNvSpPr/>
            <p:nvPr/>
          </p:nvSpPr>
          <p:spPr>
            <a:xfrm>
              <a:off x="7840350" y="3278145"/>
              <a:ext cx="166512" cy="15085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71D92FD-D949-543C-2BB0-F2563D0C41EB}"/>
                </a:ext>
              </a:extLst>
            </p:cNvPr>
            <p:cNvCxnSpPr>
              <a:cxnSpLocks/>
              <a:stCxn id="16" idx="5"/>
            </p:cNvCxnSpPr>
            <p:nvPr/>
          </p:nvCxnSpPr>
          <p:spPr>
            <a:xfrm flipV="1">
              <a:off x="7982477" y="3233892"/>
              <a:ext cx="1137969" cy="1730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6496DC-41AB-8A3E-F474-32D13F8E6A91}"/>
              </a:ext>
            </a:extLst>
          </p:cNvPr>
          <p:cNvGrpSpPr/>
          <p:nvPr/>
        </p:nvGrpSpPr>
        <p:grpSpPr>
          <a:xfrm>
            <a:off x="10101126" y="1127640"/>
            <a:ext cx="1420880" cy="1384995"/>
            <a:chOff x="10101126" y="1127640"/>
            <a:chExt cx="1420880" cy="138499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C0D487-03D1-BB4C-1955-86FBDB293D00}"/>
                </a:ext>
              </a:extLst>
            </p:cNvPr>
            <p:cNvSpPr txBox="1"/>
            <p:nvPr/>
          </p:nvSpPr>
          <p:spPr>
            <a:xfrm>
              <a:off x="10938240" y="1127640"/>
              <a:ext cx="58376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x</a:t>
              </a:r>
            </a:p>
            <a:p>
              <a:r>
                <a:rPr lang="en-US" sz="2800" dirty="0"/>
                <a:t>y</a:t>
              </a:r>
            </a:p>
            <a:p>
              <a:r>
                <a:rPr lang="en-US" sz="2800" dirty="0"/>
                <a:t>r</a:t>
              </a:r>
              <a:endParaRPr lang="el-GR" sz="28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B94F86-4B96-BDB7-6003-AB7F86C00958}"/>
                </a:ext>
              </a:extLst>
            </p:cNvPr>
            <p:cNvGrpSpPr/>
            <p:nvPr/>
          </p:nvGrpSpPr>
          <p:grpSpPr>
            <a:xfrm>
              <a:off x="10101126" y="1198480"/>
              <a:ext cx="837114" cy="1279834"/>
              <a:chOff x="10101126" y="1198480"/>
              <a:chExt cx="837114" cy="127983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6563761-B89C-F0A5-9CBE-15FAA7FC6115}"/>
                  </a:ext>
                </a:extLst>
              </p:cNvPr>
              <p:cNvSpPr/>
              <p:nvPr/>
            </p:nvSpPr>
            <p:spPr>
              <a:xfrm>
                <a:off x="10101126" y="1198480"/>
                <a:ext cx="837114" cy="1279834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E4901C1-2B3F-7377-9546-F5E58AD49714}"/>
                  </a:ext>
                </a:extLst>
              </p:cNvPr>
              <p:cNvCxnSpPr/>
              <p:nvPr/>
            </p:nvCxnSpPr>
            <p:spPr>
              <a:xfrm>
                <a:off x="10101126" y="1587360"/>
                <a:ext cx="83711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CA00FF3-9130-A07B-6AB4-8EB4687098A1}"/>
                  </a:ext>
                </a:extLst>
              </p:cNvPr>
              <p:cNvCxnSpPr/>
              <p:nvPr/>
            </p:nvCxnSpPr>
            <p:spPr>
              <a:xfrm>
                <a:off x="10101126" y="2021114"/>
                <a:ext cx="83711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0FF9E2B-E77C-92A8-45B9-32901EB80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8" y="2799692"/>
            <a:ext cx="10563102" cy="1290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Δημιουργία στιγμιότυπου και ανάθεση στην αναφορά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c1 = new Circle();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GB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// </a:t>
            </a:r>
            <a:r>
              <a:rPr kumimoji="0" lang="en-GB" altLang="el-G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όλ</a:t>
            </a:r>
            <a:r>
              <a:rPr kumimoji="0" lang="en-GB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 τα αντικείμενα πρέπει να δημιουργούνται δυναμικά</a:t>
            </a:r>
            <a:endParaRPr kumimoji="0" lang="en-GB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347ED-895F-8B60-3BED-6085617BB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8" y="4117667"/>
            <a:ext cx="10563102" cy="48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1BDD07"/>
                </a:solidFill>
                <a:effectLst/>
                <a:uLnTx/>
                <a:uFillTx/>
                <a:latin typeface="Tahoma" panose="020B0604030504040204" pitchFamily="34" charset="0"/>
              </a:rPr>
              <a:t>Εναλλακτικά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Circle c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1 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= new Circle();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GB" altLang="el-GR" sz="2400" kern="0" dirty="0">
                <a:solidFill>
                  <a:srgbClr val="000000"/>
                </a:solidFill>
              </a:rPr>
              <a:t>    </a:t>
            </a:r>
            <a:r>
              <a:rPr lang="en-GB" altLang="el-GR" sz="3600" b="1" i="1" kern="0" dirty="0">
                <a:solidFill>
                  <a:srgbClr val="800000"/>
                </a:solidFill>
              </a:rPr>
              <a:t>v</a:t>
            </a:r>
            <a:r>
              <a:rPr lang="en-GB" altLang="el-GR" sz="3600" b="1" i="1" kern="0" dirty="0" err="1">
                <a:solidFill>
                  <a:srgbClr val="800000"/>
                </a:solidFill>
              </a:rPr>
              <a:t>ar</a:t>
            </a:r>
            <a:r>
              <a:rPr lang="en-GB" altLang="el-GR" sz="3600" b="1" i="1" kern="0" dirty="0">
                <a:solidFill>
                  <a:srgbClr val="800000"/>
                </a:solidFill>
              </a:rPr>
              <a:t> c1 = new </a:t>
            </a:r>
            <a:r>
              <a:rPr lang="en-GB" altLang="el-GR" sz="3600" b="1" i="1" kern="0" dirty="0" err="1">
                <a:solidFill>
                  <a:srgbClr val="800000"/>
                </a:solidFill>
              </a:rPr>
              <a:t>Circel</a:t>
            </a:r>
            <a:r>
              <a:rPr lang="en-GB" altLang="el-GR" sz="3600" b="1" i="1" kern="0" dirty="0">
                <a:solidFill>
                  <a:srgbClr val="800000"/>
                </a:solidFill>
              </a:rPr>
              <a:t>();</a:t>
            </a:r>
            <a:endParaRPr lang="el-GR" altLang="el-GR" sz="2400" b="1" i="1" kern="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76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build="p"/>
      <p:bldP spid="7" grpId="0" animBg="1"/>
      <p:bldP spid="9" grpId="0"/>
      <p:bldP spid="12" grpId="0" animBg="1"/>
      <p:bldP spid="14" grpId="0"/>
      <p:bldP spid="5" grpId="0" build="p"/>
      <p:bldP spid="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Αναφορά σε μεταβλητές στιγμιότυπου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FEBBA-13CD-14F5-C12E-7A66F3D5E498}"/>
              </a:ext>
            </a:extLst>
          </p:cNvPr>
          <p:cNvSpPr txBox="1"/>
          <p:nvPr/>
        </p:nvSpPr>
        <p:spPr>
          <a:xfrm>
            <a:off x="140669" y="768521"/>
            <a:ext cx="7092469" cy="504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Circle 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1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= new Circle();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var 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2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= new Circle();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ρχικο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ποίηση δεδομένων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στιγμιοτύπου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// α</a:t>
            </a:r>
            <a:r>
              <a:rPr kumimoji="0" lang="en-GB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ρχικο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ποίηση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των στοιχείων του στιγμιότυπου 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c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1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1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.x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= 2.0;</a:t>
            </a:r>
            <a:endParaRPr kumimoji="0" lang="en-GB" altLang="el-GR" sz="2400" b="1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1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.y = 3.0;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1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.r = 1.0;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lvl="1" indent="-285750" fontAlgn="base"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defRPr/>
            </a:pPr>
            <a:endParaRPr lang="el-GR" altLang="el-GR" sz="2000" kern="0" dirty="0">
              <a:solidFill>
                <a:srgbClr val="000000"/>
              </a:solidFill>
              <a:latin typeface="Tahoma"/>
            </a:endParaRPr>
          </a:p>
          <a:p>
            <a:pPr marL="742950" lvl="1" indent="-285750" fontAlgn="base"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defRPr/>
            </a:pP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// α</a:t>
            </a:r>
            <a:r>
              <a:rPr lang="en-GB" altLang="el-GR" sz="2000" kern="0" dirty="0" err="1">
                <a:solidFill>
                  <a:srgbClr val="000000"/>
                </a:solidFill>
                <a:latin typeface="Tahoma"/>
              </a:rPr>
              <a:t>ρχικο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ποίηση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των στοιχείων του στιγμιότυπου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 c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2</a:t>
            </a:r>
            <a:endParaRPr lang="en-GB" altLang="el-GR" sz="2000" kern="0" dirty="0">
              <a:solidFill>
                <a:srgbClr val="000000"/>
              </a:solidFill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2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.x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= 2.0;</a:t>
            </a:r>
            <a:endParaRPr kumimoji="0" lang="en-GB" altLang="el-GR" sz="2400" b="1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2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.y = 3.0;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2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.r = 2.0;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E0CB02-02AF-E22F-6296-BE0DFE147E45}"/>
              </a:ext>
            </a:extLst>
          </p:cNvPr>
          <p:cNvSpPr/>
          <p:nvPr/>
        </p:nvSpPr>
        <p:spPr>
          <a:xfrm>
            <a:off x="7455877" y="994443"/>
            <a:ext cx="480646" cy="388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CCB55-42C5-06E0-4AC9-A58B76A4E580}"/>
              </a:ext>
            </a:extLst>
          </p:cNvPr>
          <p:cNvSpPr/>
          <p:nvPr/>
        </p:nvSpPr>
        <p:spPr>
          <a:xfrm>
            <a:off x="8928209" y="994443"/>
            <a:ext cx="837114" cy="12798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2.0</a:t>
            </a:r>
          </a:p>
          <a:p>
            <a:pPr algn="ctr"/>
            <a:r>
              <a:rPr lang="en-US" sz="2800" dirty="0"/>
              <a:t>3.0</a:t>
            </a:r>
          </a:p>
          <a:p>
            <a:pPr algn="ctr"/>
            <a:r>
              <a:rPr lang="en-US" sz="2800" dirty="0"/>
              <a:t>1.0</a:t>
            </a:r>
            <a:endParaRPr lang="el-GR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D672B-769D-8BF6-29B8-734269FB844D}"/>
              </a:ext>
            </a:extLst>
          </p:cNvPr>
          <p:cNvSpPr txBox="1"/>
          <p:nvPr/>
        </p:nvSpPr>
        <p:spPr>
          <a:xfrm>
            <a:off x="7157977" y="684068"/>
            <a:ext cx="103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c1</a:t>
            </a:r>
            <a:r>
              <a:rPr lang="en-US" dirty="0"/>
              <a:t>: Circle</a:t>
            </a:r>
            <a:endParaRPr lang="el-GR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D095F7-608B-53F1-E8DF-BA4ECABC5058}"/>
              </a:ext>
            </a:extLst>
          </p:cNvPr>
          <p:cNvGrpSpPr/>
          <p:nvPr/>
        </p:nvGrpSpPr>
        <p:grpSpPr>
          <a:xfrm>
            <a:off x="7648113" y="1092885"/>
            <a:ext cx="1280096" cy="195108"/>
            <a:chOff x="7840350" y="3233892"/>
            <a:chExt cx="1280096" cy="19510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6D7E05-8DFA-2EB1-D717-92C65E2681FB}"/>
                </a:ext>
              </a:extLst>
            </p:cNvPr>
            <p:cNvSpPr/>
            <p:nvPr/>
          </p:nvSpPr>
          <p:spPr>
            <a:xfrm>
              <a:off x="7840350" y="3278145"/>
              <a:ext cx="166512" cy="15085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A28B642-2128-050D-3D53-8832B01FEFB5}"/>
                </a:ext>
              </a:extLst>
            </p:cNvPr>
            <p:cNvCxnSpPr>
              <a:cxnSpLocks/>
              <a:stCxn id="16" idx="5"/>
            </p:cNvCxnSpPr>
            <p:nvPr/>
          </p:nvCxnSpPr>
          <p:spPr>
            <a:xfrm flipV="1">
              <a:off x="7982477" y="3233892"/>
              <a:ext cx="1137969" cy="1730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493A8E9-104C-5FA4-B4DC-F408A54D64AB}"/>
              </a:ext>
            </a:extLst>
          </p:cNvPr>
          <p:cNvSpPr txBox="1"/>
          <p:nvPr/>
        </p:nvSpPr>
        <p:spPr>
          <a:xfrm>
            <a:off x="9765323" y="941862"/>
            <a:ext cx="5861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  <a:p>
            <a:r>
              <a:rPr lang="en-US" sz="2800" dirty="0"/>
              <a:t>y</a:t>
            </a:r>
          </a:p>
          <a:p>
            <a:r>
              <a:rPr lang="en-US" sz="2800" dirty="0"/>
              <a:t>r</a:t>
            </a:r>
            <a:endParaRPr lang="el-GR" sz="28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5C6FC1-5E7B-5371-3607-9F857796E649}"/>
              </a:ext>
            </a:extLst>
          </p:cNvPr>
          <p:cNvCxnSpPr/>
          <p:nvPr/>
        </p:nvCxnSpPr>
        <p:spPr>
          <a:xfrm>
            <a:off x="8928209" y="1383323"/>
            <a:ext cx="837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71E311-4A8A-A95D-6B86-251247AEF6E4}"/>
              </a:ext>
            </a:extLst>
          </p:cNvPr>
          <p:cNvCxnSpPr/>
          <p:nvPr/>
        </p:nvCxnSpPr>
        <p:spPr>
          <a:xfrm>
            <a:off x="8928209" y="1817077"/>
            <a:ext cx="837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A2D953D-CDE9-CAA7-BFB6-F964A98C7E40}"/>
              </a:ext>
            </a:extLst>
          </p:cNvPr>
          <p:cNvSpPr/>
          <p:nvPr/>
        </p:nvSpPr>
        <p:spPr>
          <a:xfrm>
            <a:off x="7493458" y="3041409"/>
            <a:ext cx="480646" cy="388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04E5BF-FA09-126A-D5CB-6B6187B55658}"/>
              </a:ext>
            </a:extLst>
          </p:cNvPr>
          <p:cNvSpPr/>
          <p:nvPr/>
        </p:nvSpPr>
        <p:spPr>
          <a:xfrm>
            <a:off x="8965790" y="3041409"/>
            <a:ext cx="837114" cy="12798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1FFAA9-AA42-B481-21FF-BC31CDFAB9D6}"/>
              </a:ext>
            </a:extLst>
          </p:cNvPr>
          <p:cNvSpPr txBox="1"/>
          <p:nvPr/>
        </p:nvSpPr>
        <p:spPr>
          <a:xfrm>
            <a:off x="7195558" y="2731034"/>
            <a:ext cx="103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c2</a:t>
            </a:r>
            <a:r>
              <a:rPr lang="en-US" dirty="0"/>
              <a:t>: Circle</a:t>
            </a:r>
            <a:endParaRPr lang="el-GR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411A9C-C5C7-0E4F-0C24-1C162BC02E19}"/>
              </a:ext>
            </a:extLst>
          </p:cNvPr>
          <p:cNvGrpSpPr/>
          <p:nvPr/>
        </p:nvGrpSpPr>
        <p:grpSpPr>
          <a:xfrm>
            <a:off x="7685694" y="3139851"/>
            <a:ext cx="1280096" cy="195108"/>
            <a:chOff x="7840350" y="3233892"/>
            <a:chExt cx="1280096" cy="19510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1B147F2-35F7-3F5A-179C-91953F509A31}"/>
                </a:ext>
              </a:extLst>
            </p:cNvPr>
            <p:cNvSpPr/>
            <p:nvPr/>
          </p:nvSpPr>
          <p:spPr>
            <a:xfrm>
              <a:off x="7840350" y="3278145"/>
              <a:ext cx="166512" cy="15085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C722279-B5FE-E827-7C82-C58057D37588}"/>
                </a:ext>
              </a:extLst>
            </p:cNvPr>
            <p:cNvCxnSpPr>
              <a:cxnSpLocks/>
              <a:stCxn id="30" idx="5"/>
            </p:cNvCxnSpPr>
            <p:nvPr/>
          </p:nvCxnSpPr>
          <p:spPr>
            <a:xfrm flipV="1">
              <a:off x="7982477" y="3233892"/>
              <a:ext cx="1137969" cy="1730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0F89611-579E-483F-5BF6-FD3E8E954C8F}"/>
              </a:ext>
            </a:extLst>
          </p:cNvPr>
          <p:cNvSpPr txBox="1"/>
          <p:nvPr/>
        </p:nvSpPr>
        <p:spPr>
          <a:xfrm>
            <a:off x="9802904" y="3012891"/>
            <a:ext cx="5837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  <a:p>
            <a:r>
              <a:rPr lang="en-US" sz="2800" dirty="0"/>
              <a:t>y</a:t>
            </a:r>
          </a:p>
          <a:p>
            <a:r>
              <a:rPr lang="en-US" sz="2800" dirty="0"/>
              <a:t>r</a:t>
            </a:r>
            <a:endParaRPr lang="el-GR" sz="2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E1FB410-DE9E-A4E5-0DC6-6C79ADB4F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8" y="5731308"/>
            <a:ext cx="7411599" cy="44262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6A0920F-1E4F-48F4-3A0F-4B9144EF5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847" y="5035795"/>
            <a:ext cx="4685091" cy="148462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EAB33F6-7F2C-BA2F-353F-8F7AF39FE55C}"/>
              </a:ext>
            </a:extLst>
          </p:cNvPr>
          <p:cNvSpPr/>
          <p:nvPr/>
        </p:nvSpPr>
        <p:spPr>
          <a:xfrm>
            <a:off x="8965790" y="3041409"/>
            <a:ext cx="837114" cy="12798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2.0</a:t>
            </a:r>
          </a:p>
          <a:p>
            <a:pPr algn="ctr"/>
            <a:r>
              <a:rPr lang="en-US" sz="2800" dirty="0"/>
              <a:t>3.0</a:t>
            </a:r>
          </a:p>
          <a:p>
            <a:pPr algn="ctr"/>
            <a:r>
              <a:rPr lang="el-GR" sz="2800" dirty="0"/>
              <a:t>2</a:t>
            </a:r>
            <a:r>
              <a:rPr lang="en-US" sz="2800" dirty="0"/>
              <a:t>.0</a:t>
            </a:r>
            <a:endParaRPr lang="el-GR" sz="28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C1DCB06-5DB6-A332-2F04-3C4AC6BEA5BB}"/>
              </a:ext>
            </a:extLst>
          </p:cNvPr>
          <p:cNvCxnSpPr/>
          <p:nvPr/>
        </p:nvCxnSpPr>
        <p:spPr>
          <a:xfrm>
            <a:off x="8965790" y="3442321"/>
            <a:ext cx="837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827A6F-5C53-C8B5-5584-C0CE750F7B5C}"/>
              </a:ext>
            </a:extLst>
          </p:cNvPr>
          <p:cNvCxnSpPr/>
          <p:nvPr/>
        </p:nvCxnSpPr>
        <p:spPr>
          <a:xfrm>
            <a:off x="8965790" y="3876075"/>
            <a:ext cx="837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68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CirclesHandlingApp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V1.0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1B1536-979D-CF1A-9E20-0C720F6B7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19331"/>
            <a:ext cx="11547343" cy="45986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1EEB25-D419-EF51-69FC-825D419E0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87" y="4822967"/>
            <a:ext cx="5481331" cy="1736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8D620A-755C-2B98-DF29-0342DEC60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975" y="0"/>
            <a:ext cx="5756946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8A5E64-6C16-3939-77F4-22CD83FCE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5774" y="4728830"/>
            <a:ext cx="2809484" cy="21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Αποστολή μηνύματος – Κλήση μεθόδου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A84399-20E2-D935-A92D-A6A88CA0A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137" y="815294"/>
            <a:ext cx="8030308" cy="342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440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Circle c = new Circle();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4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κλήση</a:t>
            </a:r>
            <a:r>
              <a:rPr kumimoji="0" lang="en-GB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4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μεθόδ</a:t>
            </a:r>
            <a:r>
              <a:rPr kumimoji="0" lang="el-GR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ου</a:t>
            </a:r>
            <a:endParaRPr kumimoji="0" lang="en-GB" altLang="el-GR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double a;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54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a = </a:t>
            </a:r>
            <a:r>
              <a:rPr kumimoji="0" lang="en-GB" altLang="el-GR" sz="5400" b="1" i="1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c.area</a:t>
            </a:r>
            <a:r>
              <a:rPr kumimoji="0" lang="en-GB" altLang="el-GR" sz="5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();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3FC6723-5423-0383-011F-3956275786F9}"/>
              </a:ext>
            </a:extLst>
          </p:cNvPr>
          <p:cNvGrpSpPr>
            <a:grpSpLocks/>
          </p:cNvGrpSpPr>
          <p:nvPr/>
        </p:nvGrpSpPr>
        <p:grpSpPr bwMode="auto">
          <a:xfrm>
            <a:off x="3710751" y="5051713"/>
            <a:ext cx="2057400" cy="609600"/>
            <a:chOff x="1020" y="2704"/>
            <a:chExt cx="1296" cy="384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3FACD696-209F-1610-8D17-3A9665652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2704"/>
              <a:ext cx="1296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7944D686-B9CA-D5D8-493C-04A542329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2704"/>
              <a:ext cx="1248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CF98ED-C8BC-EF38-CB30-C8809AB11536}"/>
              </a:ext>
            </a:extLst>
          </p:cNvPr>
          <p:cNvGrpSpPr/>
          <p:nvPr/>
        </p:nvGrpSpPr>
        <p:grpSpPr>
          <a:xfrm>
            <a:off x="7103660" y="1882260"/>
            <a:ext cx="3193500" cy="1642789"/>
            <a:chOff x="7103660" y="1882260"/>
            <a:chExt cx="3193500" cy="16427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A0A382-3656-9095-6886-CDF0DDC16CF2}"/>
                </a:ext>
              </a:extLst>
            </p:cNvPr>
            <p:cNvSpPr/>
            <p:nvPr/>
          </p:nvSpPr>
          <p:spPr>
            <a:xfrm>
              <a:off x="7401560" y="2192635"/>
              <a:ext cx="480646" cy="3888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48992-A548-522E-5312-EF8B3FCC56B1}"/>
                </a:ext>
              </a:extLst>
            </p:cNvPr>
            <p:cNvSpPr/>
            <p:nvPr/>
          </p:nvSpPr>
          <p:spPr>
            <a:xfrm>
              <a:off x="8873892" y="2192635"/>
              <a:ext cx="837114" cy="127983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2.0</a:t>
              </a:r>
            </a:p>
            <a:p>
              <a:pPr algn="ctr"/>
              <a:r>
                <a:rPr lang="en-US" sz="2800" dirty="0"/>
                <a:t>3.0</a:t>
              </a:r>
            </a:p>
            <a:p>
              <a:pPr algn="ctr"/>
              <a:r>
                <a:rPr lang="en-US" sz="2800" dirty="0"/>
                <a:t>1.0</a:t>
              </a:r>
              <a:endParaRPr lang="el-GR" sz="28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F31124-5F1A-FBC4-F6DC-F311A8A718C3}"/>
                </a:ext>
              </a:extLst>
            </p:cNvPr>
            <p:cNvSpPr txBox="1"/>
            <p:nvPr/>
          </p:nvSpPr>
          <p:spPr>
            <a:xfrm>
              <a:off x="7103660" y="1882260"/>
              <a:ext cx="1034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c1</a:t>
              </a:r>
              <a:r>
                <a:rPr lang="en-US" dirty="0"/>
                <a:t>: Circle</a:t>
              </a:r>
              <a:endParaRPr lang="el-GR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28B284-6EBD-FBB0-4981-BB712AFB4DA5}"/>
                </a:ext>
              </a:extLst>
            </p:cNvPr>
            <p:cNvGrpSpPr/>
            <p:nvPr/>
          </p:nvGrpSpPr>
          <p:grpSpPr>
            <a:xfrm>
              <a:off x="7593796" y="2291077"/>
              <a:ext cx="1280096" cy="195108"/>
              <a:chOff x="7840350" y="3233892"/>
              <a:chExt cx="1280096" cy="19510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5347D31-FD2A-4BE1-058B-B0EB98D7015A}"/>
                  </a:ext>
                </a:extLst>
              </p:cNvPr>
              <p:cNvSpPr/>
              <p:nvPr/>
            </p:nvSpPr>
            <p:spPr>
              <a:xfrm>
                <a:off x="7840350" y="3278145"/>
                <a:ext cx="166512" cy="15085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A2CA457A-678D-B6C0-9CBC-42432D04370C}"/>
                  </a:ext>
                </a:extLst>
              </p:cNvPr>
              <p:cNvCxnSpPr>
                <a:cxnSpLocks/>
                <a:stCxn id="22" idx="5"/>
              </p:cNvCxnSpPr>
              <p:nvPr/>
            </p:nvCxnSpPr>
            <p:spPr>
              <a:xfrm flipV="1">
                <a:off x="7982477" y="3233892"/>
                <a:ext cx="1137969" cy="17301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BA48DF-4797-110E-DEAF-C8E9E85E6D64}"/>
                </a:ext>
              </a:extLst>
            </p:cNvPr>
            <p:cNvSpPr txBox="1"/>
            <p:nvPr/>
          </p:nvSpPr>
          <p:spPr>
            <a:xfrm>
              <a:off x="9711006" y="2140054"/>
              <a:ext cx="58615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x</a:t>
              </a:r>
            </a:p>
            <a:p>
              <a:r>
                <a:rPr lang="en-US" sz="2800" dirty="0"/>
                <a:t>y</a:t>
              </a:r>
            </a:p>
            <a:p>
              <a:r>
                <a:rPr lang="en-US" sz="2800" dirty="0"/>
                <a:t>r</a:t>
              </a:r>
              <a:endParaRPr lang="el-GR" sz="2800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BEEA0AC-3E31-382C-AE10-875DF1A7EE11}"/>
                </a:ext>
              </a:extLst>
            </p:cNvPr>
            <p:cNvCxnSpPr/>
            <p:nvPr/>
          </p:nvCxnSpPr>
          <p:spPr>
            <a:xfrm>
              <a:off x="8873892" y="2581515"/>
              <a:ext cx="8371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68ED0C-1CA9-F2A5-6722-2C44BE6C95B7}"/>
                </a:ext>
              </a:extLst>
            </p:cNvPr>
            <p:cNvCxnSpPr/>
            <p:nvPr/>
          </p:nvCxnSpPr>
          <p:spPr>
            <a:xfrm>
              <a:off x="8873892" y="3015269"/>
              <a:ext cx="8371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3928DF5-7A7F-DF89-6D4E-76B1901F50AE}"/>
                </a:ext>
              </a:extLst>
            </p:cNvPr>
            <p:cNvCxnSpPr/>
            <p:nvPr/>
          </p:nvCxnSpPr>
          <p:spPr>
            <a:xfrm flipV="1">
              <a:off x="7228032" y="2877578"/>
              <a:ext cx="1639455" cy="53340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BB67303-70EB-202C-91CD-4560446FE096}"/>
                </a:ext>
              </a:extLst>
            </p:cNvPr>
            <p:cNvSpPr txBox="1"/>
            <p:nvPr/>
          </p:nvSpPr>
          <p:spPr>
            <a:xfrm rot="20593758">
              <a:off x="7228709" y="2789570"/>
              <a:ext cx="8458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area</a:t>
              </a:r>
              <a:endParaRPr lang="el-GR" sz="2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01BD87DD-A8F7-8156-0D23-10907EBF8164}"/>
              </a:ext>
            </a:extLst>
          </p:cNvPr>
          <p:cNvSpPr/>
          <p:nvPr/>
        </p:nvSpPr>
        <p:spPr>
          <a:xfrm>
            <a:off x="6101002" y="6035902"/>
            <a:ext cx="3371850" cy="457198"/>
          </a:xfrm>
          <a:prstGeom prst="borderCallout1">
            <a:avLst>
              <a:gd name="adj1" fmla="val 57135"/>
              <a:gd name="adj2" fmla="val -950"/>
              <a:gd name="adj3" fmla="val -84909"/>
              <a:gd name="adj4" fmla="val -21554"/>
            </a:avLst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procedural programming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CE7ABDD-478C-406A-7685-3EF801446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6432" y="4869352"/>
            <a:ext cx="4026039" cy="102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40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a = area(c);</a:t>
            </a:r>
            <a:r>
              <a:rPr kumimoji="0" lang="en-GB" altLang="el-GR" sz="4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	</a:t>
            </a:r>
            <a:endParaRPr kumimoji="0" lang="el-GR" altLang="el-GR" sz="40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5694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" grpId="0" animBg="1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1C7E-D3BE-FC1A-48F6-3DF37B2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349576C-92DD-73D6-27A7-EA1F4691FB57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ED3C9AA-6ADF-680D-94F4-8EC3D5D3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CirclesHandlingApp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V1.1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60E994A9-E32A-7E19-9F37-3B280AA21B3F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B36E6-D76F-B32D-59CE-30B8A9B746E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5FF890AE-0143-3856-9851-1E884A13016B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5A3665-03A8-98F5-FF86-E713846A2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65" y="4177988"/>
            <a:ext cx="3884960" cy="2313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D75F6-4AD5-0648-E187-472D5200E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5" y="775505"/>
            <a:ext cx="10634669" cy="3281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C2AAAA-12A2-C474-2469-C35CAF900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295" y="4057421"/>
            <a:ext cx="5902640" cy="231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3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1608-9378-DF4F-8775-55478098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669CA94-9C28-BFFB-47E3-3993F17C3443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EE2307F-7EF0-C86E-EBD2-8F55B066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To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πρόγραμμα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Echo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51C0416-DF38-A6E9-ED98-97DFECD1AF76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4C251-C681-48E1-2D5D-93F89BC5A0B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83168BEC-E4AD-C2A7-A0DB-EDB49DE791EB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098C0C-3B9F-301A-9B0D-A7CB5CD20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233"/>
            <a:ext cx="7586676" cy="4079790"/>
          </a:xfrm>
          <a:prstGeom prst="rect">
            <a:avLst/>
          </a:prstGeom>
        </p:spPr>
      </p:pic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94E53ADC-9648-41D7-C8D1-F6B9358D82B0}"/>
              </a:ext>
            </a:extLst>
          </p:cNvPr>
          <p:cNvSpPr/>
          <p:nvPr/>
        </p:nvSpPr>
        <p:spPr>
          <a:xfrm>
            <a:off x="7713784" y="1767027"/>
            <a:ext cx="4314093" cy="608737"/>
          </a:xfrm>
          <a:prstGeom prst="borderCallout2">
            <a:avLst>
              <a:gd name="adj1" fmla="val 59664"/>
              <a:gd name="adj2" fmla="val 42"/>
              <a:gd name="adj3" fmla="val 36161"/>
              <a:gd name="adj4" fmla="val -17764"/>
              <a:gd name="adj5" fmla="val 228368"/>
              <a:gd name="adj6" fmla="val -8488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message = </a:t>
            </a:r>
            <a:r>
              <a:rPr lang="en-US" sz="3200" b="1" dirty="0" err="1">
                <a:solidFill>
                  <a:schemeClr val="tx1"/>
                </a:solidFill>
              </a:rPr>
              <a:t>sc.nextLine</a:t>
            </a:r>
            <a:r>
              <a:rPr lang="en-US" sz="3200" b="1" dirty="0">
                <a:solidFill>
                  <a:schemeClr val="tx1"/>
                </a:solidFill>
              </a:rPr>
              <a:t>()</a:t>
            </a:r>
            <a:r>
              <a:rPr lang="en-US" sz="3200" dirty="0">
                <a:solidFill>
                  <a:schemeClr val="tx1"/>
                </a:solidFill>
              </a:rPr>
              <a:t>;</a:t>
            </a:r>
            <a:endParaRPr lang="el-GR" sz="3200" dirty="0">
              <a:solidFill>
                <a:schemeClr val="tx1"/>
              </a:solidFill>
            </a:endParaRPr>
          </a:p>
        </p:txBody>
      </p:sp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C45DD35A-59C3-2A2B-12F2-9712701862BA}"/>
              </a:ext>
            </a:extLst>
          </p:cNvPr>
          <p:cNvSpPr/>
          <p:nvPr/>
        </p:nvSpPr>
        <p:spPr>
          <a:xfrm>
            <a:off x="7092469" y="3701766"/>
            <a:ext cx="4958862" cy="608737"/>
          </a:xfrm>
          <a:prstGeom prst="borderCallout2">
            <a:avLst>
              <a:gd name="adj1" fmla="val 36279"/>
              <a:gd name="adj2" fmla="val 230"/>
              <a:gd name="adj3" fmla="val -52348"/>
              <a:gd name="adj4" fmla="val -14380"/>
              <a:gd name="adj5" fmla="val 10118"/>
              <a:gd name="adj6" fmla="val -462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tx1"/>
                </a:solidFill>
              </a:rPr>
              <a:t>message.equals</a:t>
            </a:r>
            <a:r>
              <a:rPr lang="en-US" sz="3200" dirty="0">
                <a:solidFill>
                  <a:schemeClr val="tx1"/>
                </a:solidFill>
              </a:rPr>
              <a:t>("bye")</a:t>
            </a:r>
            <a:endParaRPr lang="el-GR" sz="3200" dirty="0">
              <a:solidFill>
                <a:schemeClr val="tx1"/>
              </a:solidFill>
            </a:endParaRP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2E87AD6C-4F7D-8C35-30FA-BBE36FEA0B98}"/>
              </a:ext>
            </a:extLst>
          </p:cNvPr>
          <p:cNvSpPr/>
          <p:nvPr/>
        </p:nvSpPr>
        <p:spPr>
          <a:xfrm>
            <a:off x="6365630" y="5406183"/>
            <a:ext cx="4958862" cy="608737"/>
          </a:xfrm>
          <a:prstGeom prst="borderCallout2">
            <a:avLst>
              <a:gd name="adj1" fmla="val 55341"/>
              <a:gd name="adj2" fmla="val 178"/>
              <a:gd name="adj3" fmla="val -60444"/>
              <a:gd name="adj4" fmla="val -24893"/>
              <a:gd name="adj5" fmla="val -142964"/>
              <a:gd name="adj6" fmla="val -726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sc.close</a:t>
            </a:r>
            <a:r>
              <a:rPr lang="en-US" sz="3200" b="1" dirty="0">
                <a:solidFill>
                  <a:schemeClr val="tx1"/>
                </a:solidFill>
              </a:rPr>
              <a:t>()</a:t>
            </a:r>
            <a:r>
              <a:rPr lang="en-US" sz="3200" dirty="0">
                <a:solidFill>
                  <a:schemeClr val="tx1"/>
                </a:solidFill>
              </a:rPr>
              <a:t>;</a:t>
            </a:r>
            <a:endParaRPr lang="el-GR" sz="3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1BC9A-4333-7468-08E9-DA6DB94523E2}"/>
              </a:ext>
            </a:extLst>
          </p:cNvPr>
          <p:cNvSpPr/>
          <p:nvPr/>
        </p:nvSpPr>
        <p:spPr>
          <a:xfrm>
            <a:off x="1398137" y="2023761"/>
            <a:ext cx="3808345" cy="47635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8048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κλάση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Scanner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AB7A8-6C32-E12E-BE33-17396572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815"/>
            <a:ext cx="11402972" cy="57616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53AA39-C94C-ADD3-76E6-D343C6946DFF}"/>
              </a:ext>
            </a:extLst>
          </p:cNvPr>
          <p:cNvSpPr/>
          <p:nvPr/>
        </p:nvSpPr>
        <p:spPr>
          <a:xfrm>
            <a:off x="2638155" y="5245768"/>
            <a:ext cx="8764817" cy="409074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E6697C-955B-03EE-3EA0-544DB394745F}"/>
              </a:ext>
            </a:extLst>
          </p:cNvPr>
          <p:cNvSpPr/>
          <p:nvPr/>
        </p:nvSpPr>
        <p:spPr>
          <a:xfrm>
            <a:off x="0" y="798303"/>
            <a:ext cx="1335505" cy="409074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B36F9-C011-D77A-A3FD-03AB4322AF0D}"/>
              </a:ext>
            </a:extLst>
          </p:cNvPr>
          <p:cNvSpPr/>
          <p:nvPr/>
        </p:nvSpPr>
        <p:spPr>
          <a:xfrm>
            <a:off x="2547644" y="1900989"/>
            <a:ext cx="1335505" cy="300790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2B466-0473-BFF1-B1F0-95B784913954}"/>
              </a:ext>
            </a:extLst>
          </p:cNvPr>
          <p:cNvSpPr/>
          <p:nvPr/>
        </p:nvSpPr>
        <p:spPr>
          <a:xfrm>
            <a:off x="10027" y="3420979"/>
            <a:ext cx="1335505" cy="409074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617041-F146-9751-96EB-5871934D61F3}"/>
              </a:ext>
            </a:extLst>
          </p:cNvPr>
          <p:cNvSpPr/>
          <p:nvPr/>
        </p:nvSpPr>
        <p:spPr>
          <a:xfrm>
            <a:off x="3412959" y="6095174"/>
            <a:ext cx="3697704" cy="409074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B144104-EDE9-D86B-0306-28AA129710BA}"/>
              </a:ext>
            </a:extLst>
          </p:cNvPr>
          <p:cNvSpPr/>
          <p:nvPr/>
        </p:nvSpPr>
        <p:spPr>
          <a:xfrm>
            <a:off x="8061649" y="2201778"/>
            <a:ext cx="3582955" cy="2178409"/>
          </a:xfrm>
          <a:prstGeom prst="wedgeRoundRectCallout">
            <a:avLst>
              <a:gd name="adj1" fmla="val -55208"/>
              <a:gd name="adj2" fmla="val 85421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/>
              <a:t>Δημιούργησε στο </a:t>
            </a:r>
            <a:r>
              <a:rPr lang="en-US" sz="2800" dirty="0" err="1"/>
              <a:t>BlueJ</a:t>
            </a:r>
            <a:r>
              <a:rPr lang="en-US" sz="2800" dirty="0"/>
              <a:t> </a:t>
            </a:r>
            <a:r>
              <a:rPr lang="el-GR" sz="2800" dirty="0"/>
              <a:t>στιγμιότυπο της </a:t>
            </a:r>
            <a:r>
              <a:rPr lang="en-US" sz="2800" dirty="0"/>
              <a:t>Scanner </a:t>
            </a:r>
            <a:r>
              <a:rPr lang="el-GR" sz="2800" dirty="0"/>
              <a:t>και δοκίμασε να του στείλεις μηνύματα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153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11" y="1204293"/>
            <a:ext cx="10165491" cy="50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Κλάση και Στιγμιότυπο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and Instance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Ορισμός Κλάσης</a:t>
            </a: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Δημιουργία Στιγμιότυπου</a:t>
            </a: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Αναφορά σε μεταβλητές στιγμιότυπου</a:t>
            </a: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Αποστολή μηνύματος σε στιγμιότυπο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Δημιουργός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Constructor</a:t>
            </a: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τελεστής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Encapsulation - Accessors 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και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Mutators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20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Ορισμός Δημιουργού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constructor)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4C1FDF6-8B86-7063-7DB1-909D2966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58816"/>
            <a:ext cx="9144000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6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GB" altLang="el-GR" sz="36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Circle</a:t>
            </a:r>
            <a:r>
              <a:rPr kumimoji="0" lang="en-GB" altLang="el-GR" sz="36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{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public double 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x, y</a:t>
            </a:r>
            <a:r>
              <a:rPr kumimoji="0" lang="en-GB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6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public double </a:t>
            </a:r>
            <a:r>
              <a:rPr kumimoji="0" lang="en-GB" altLang="el-GR" sz="3600" b="0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</a:t>
            </a:r>
            <a:r>
              <a:rPr kumimoji="0" lang="en-GB" altLang="el-GR" sz="36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Circle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(double x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double y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double r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x=x</a:t>
            </a:r>
            <a:r>
              <a:rPr kumimoji="0" lang="el-GR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		y=y</a:t>
            </a:r>
            <a:r>
              <a:rPr kumimoji="0" lang="el-GR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 	r=r</a:t>
            </a:r>
            <a:r>
              <a:rPr kumimoji="0" lang="el-GR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}</a:t>
            </a:r>
            <a:endParaRPr kumimoji="0" lang="el-GR" altLang="el-GR" sz="3200" b="1" i="1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lnSpc>
                <a:spcPct val="105000"/>
              </a:lnSpc>
              <a:spcBef>
                <a:spcPct val="0"/>
              </a:spcBef>
              <a:buClr>
                <a:srgbClr val="3333CC"/>
              </a:buClr>
              <a:buNone/>
            </a:pPr>
            <a:r>
              <a:rPr lang="el-GR" altLang="el-GR" sz="3600" b="1" i="1" kern="0" dirty="0">
                <a:solidFill>
                  <a:srgbClr val="3333CC"/>
                </a:solidFill>
                <a:latin typeface="Tahoma"/>
              </a:rPr>
              <a:t>}</a:t>
            </a:r>
            <a:endParaRPr kumimoji="0" lang="en-GB" altLang="el-GR" sz="3600" b="1" i="1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B426F-EF9C-A01B-7689-75F521DFCDD9}"/>
              </a:ext>
            </a:extLst>
          </p:cNvPr>
          <p:cNvSpPr/>
          <p:nvPr/>
        </p:nvSpPr>
        <p:spPr>
          <a:xfrm>
            <a:off x="348916" y="2405275"/>
            <a:ext cx="8795084" cy="2672051"/>
          </a:xfrm>
          <a:prstGeom prst="rect">
            <a:avLst/>
          </a:prstGeom>
          <a:solidFill>
            <a:srgbClr val="FFFF00">
              <a:alpha val="4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FC1E1-5D69-CAF6-C17C-02DBDF57CE3B}"/>
              </a:ext>
            </a:extLst>
          </p:cNvPr>
          <p:cNvSpPr txBox="1"/>
          <p:nvPr/>
        </p:nvSpPr>
        <p:spPr>
          <a:xfrm>
            <a:off x="0" y="5688727"/>
            <a:ext cx="12191999" cy="58477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3200" dirty="0">
                <a:solidFill>
                  <a:schemeClr val="bg1"/>
                </a:solidFill>
              </a:rPr>
              <a:t>Ο Δημιουργός έχει πάντα το όνομα της Κλάσης</a:t>
            </a:r>
          </a:p>
        </p:txBody>
      </p:sp>
    </p:spTree>
    <p:extLst>
      <p:ext uri="{BB962C8B-B14F-4D97-AF65-F5344CB8AC3E}">
        <p14:creationId xmlns:p14="http://schemas.microsoft.com/office/powerpoint/2010/main" val="359918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Δημιουργός – Τελεστής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this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4A1DD9-A32E-21CB-E420-3E2A1CD13538}"/>
              </a:ext>
            </a:extLst>
          </p:cNvPr>
          <p:cNvGrpSpPr/>
          <p:nvPr/>
        </p:nvGrpSpPr>
        <p:grpSpPr>
          <a:xfrm>
            <a:off x="4692316" y="2990764"/>
            <a:ext cx="7359015" cy="3393946"/>
            <a:chOff x="4692316" y="2990764"/>
            <a:chExt cx="7359015" cy="339394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8FD80F0-FC47-2110-EAD0-921A16874201}"/>
                </a:ext>
              </a:extLst>
            </p:cNvPr>
            <p:cNvGrpSpPr/>
            <p:nvPr/>
          </p:nvGrpSpPr>
          <p:grpSpPr>
            <a:xfrm>
              <a:off x="4692316" y="2990764"/>
              <a:ext cx="7359015" cy="3393946"/>
              <a:chOff x="4692316" y="3018886"/>
              <a:chExt cx="7359015" cy="3393946"/>
            </a:xfrm>
          </p:grpSpPr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88770551-AF26-F011-537C-62F9500D14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9091" y="3603661"/>
                <a:ext cx="6732240" cy="1164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buClr>
                    <a:srgbClr val="3333CC"/>
                  </a:buClr>
                </a:pPr>
                <a:r>
                  <a:rPr lang="el-GR" altLang="el-GR" sz="2800" kern="0" dirty="0">
                    <a:solidFill>
                      <a:srgbClr val="000000"/>
                    </a:solidFill>
                    <a:latin typeface="Tahoma"/>
                  </a:rPr>
                  <a:t>το όνομα του </a:t>
                </a:r>
                <a:r>
                  <a:rPr lang="el-GR" altLang="el-GR" sz="2800" kern="0" dirty="0" err="1">
                    <a:solidFill>
                      <a:srgbClr val="000000"/>
                    </a:solidFill>
                    <a:latin typeface="Tahoma"/>
                  </a:rPr>
                  <a:t>constructor</a:t>
                </a:r>
                <a:r>
                  <a:rPr lang="el-GR" altLang="el-GR" sz="2800" kern="0" dirty="0">
                    <a:solidFill>
                      <a:srgbClr val="000000"/>
                    </a:solidFill>
                    <a:latin typeface="Tahoma"/>
                  </a:rPr>
                  <a:t> είναι πάντα ίδιο με το όνομα της κλάσης</a:t>
                </a:r>
              </a:p>
              <a:p>
                <a:pPr eaLnBrk="1" hangingPunct="1">
                  <a:spcBef>
                    <a:spcPct val="10000"/>
                  </a:spcBef>
                  <a:buClr>
                    <a:srgbClr val="3333CC"/>
                  </a:buClr>
                </a:pPr>
                <a:r>
                  <a:rPr lang="el-GR" altLang="el-GR" sz="2800" kern="0" dirty="0">
                    <a:solidFill>
                      <a:srgbClr val="000000"/>
                    </a:solidFill>
                    <a:latin typeface="Tahoma"/>
                  </a:rPr>
                  <a:t>δεν ορίζεται επιστρεφόμενη τιμή</a:t>
                </a:r>
              </a:p>
              <a:p>
                <a:pPr eaLnBrk="1" hangingPunct="1">
                  <a:spcBef>
                    <a:spcPct val="10000"/>
                  </a:spcBef>
                  <a:buClr>
                    <a:srgbClr val="3333CC"/>
                  </a:buClr>
                </a:pPr>
                <a:r>
                  <a:rPr lang="el-GR" altLang="el-GR" sz="2800" kern="0" dirty="0">
                    <a:solidFill>
                      <a:srgbClr val="000000"/>
                    </a:solidFill>
                    <a:latin typeface="Tahoma"/>
                  </a:rPr>
                  <a:t>δεν χρησιμοποιείται το </a:t>
                </a:r>
                <a:r>
                  <a:rPr lang="el-GR" altLang="el-GR" sz="2800" kern="0" dirty="0" err="1">
                    <a:solidFill>
                      <a:srgbClr val="000000"/>
                    </a:solidFill>
                    <a:latin typeface="Tahoma"/>
                  </a:rPr>
                  <a:t>return</a:t>
                </a:r>
                <a:endParaRPr lang="el-GR" altLang="el-GR" sz="2800" kern="0" dirty="0">
                  <a:solidFill>
                    <a:srgbClr val="000000"/>
                  </a:solidFill>
                  <a:latin typeface="Tahoma"/>
                </a:endParaRPr>
              </a:p>
              <a:p>
                <a:pPr eaLnBrk="1" hangingPunct="1">
                  <a:spcBef>
                    <a:spcPct val="10000"/>
                  </a:spcBef>
                  <a:buClr>
                    <a:srgbClr val="3333CC"/>
                  </a:buClr>
                </a:pPr>
                <a:r>
                  <a:rPr lang="el-GR" altLang="el-GR" sz="2800" kern="0" dirty="0">
                    <a:solidFill>
                      <a:srgbClr val="800000"/>
                    </a:solidFill>
                    <a:latin typeface="Tahoma"/>
                  </a:rPr>
                  <a:t>Ο δημιουργός επιστρέφει έμμεσα τον τελεστή</a:t>
                </a:r>
                <a:r>
                  <a:rPr lang="en-GB" altLang="el-GR" sz="2800" kern="0" dirty="0">
                    <a:solidFill>
                      <a:srgbClr val="800000"/>
                    </a:solidFill>
                    <a:latin typeface="Tahoma"/>
                  </a:rPr>
                  <a:t> </a:t>
                </a:r>
                <a:r>
                  <a:rPr lang="en-GB" altLang="el-GR" sz="2800" b="1" kern="0" dirty="0">
                    <a:solidFill>
                      <a:srgbClr val="800000"/>
                    </a:solidFill>
                    <a:latin typeface="Tahoma"/>
                  </a:rPr>
                  <a:t>this</a:t>
                </a:r>
              </a:p>
              <a:p>
                <a:pPr eaLnBrk="1" hangingPunct="1">
                  <a:buClr>
                    <a:srgbClr val="3333CC"/>
                  </a:buClr>
                  <a:buFont typeface="Wingdings" panose="05000000000000000000" pitchFamily="2" charset="2"/>
                  <a:buNone/>
                </a:pPr>
                <a:r>
                  <a:rPr lang="en-GB" altLang="el-GR" sz="2000" kern="0" dirty="0">
                    <a:solidFill>
                      <a:srgbClr val="000000"/>
                    </a:solidFill>
                    <a:latin typeface="Tahoma"/>
                  </a:rPr>
                  <a:t>		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9B4A06-6935-2C88-01D0-B3468FB4769C}"/>
                  </a:ext>
                </a:extLst>
              </p:cNvPr>
              <p:cNvSpPr/>
              <p:nvPr/>
            </p:nvSpPr>
            <p:spPr>
              <a:xfrm>
                <a:off x="4692316" y="3018886"/>
                <a:ext cx="7359015" cy="3393946"/>
              </a:xfrm>
              <a:prstGeom prst="rect">
                <a:avLst/>
              </a:prstGeom>
              <a:solidFill>
                <a:srgbClr val="FFFF00">
                  <a:alpha val="4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AE10AB-A2AF-46A4-AFE8-AE38F94329A4}"/>
                </a:ext>
              </a:extLst>
            </p:cNvPr>
            <p:cNvSpPr txBox="1"/>
            <p:nvPr/>
          </p:nvSpPr>
          <p:spPr>
            <a:xfrm>
              <a:off x="5480855" y="3018886"/>
              <a:ext cx="583264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altLang="el-GR" sz="32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Κανόνες</a:t>
              </a:r>
              <a:endParaRPr lang="el-GR" sz="32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CCEC81AD-96C9-2FD4-9D3D-6ED402929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6925"/>
            <a:ext cx="9144000" cy="443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Constructor </a:t>
            </a:r>
            <a:r>
              <a:rPr kumimoji="0" lang="en-GB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κλάσης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Circle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Circle(double x, double y, double r)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    x=x;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		    y=y;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 	    r=r;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}</a:t>
            </a:r>
            <a:endParaRPr kumimoji="0" lang="en-GB" altLang="el-GR" sz="3200" b="1" i="1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9AC62B0A-89E0-D7C0-70CF-E2540BF37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" y="3433224"/>
            <a:ext cx="1071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this.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AF3A0252-D479-7CAF-FAA0-69CE49CB3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6" y="2968881"/>
            <a:ext cx="1071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this.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AEBFB173-3E65-94BD-F2FF-B5F1D044E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6" y="2439448"/>
            <a:ext cx="1071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this.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E9996EBD-A916-AB91-65AF-09F209F9B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554" y="2706153"/>
            <a:ext cx="57740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381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 τελεστής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this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82859EB-B5E3-48EF-233E-6FC58BA25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5" y="892969"/>
            <a:ext cx="670237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αναφέρεται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στο αντικείμενο στο οποίο γίνεται αναφορά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χρησιμοποιείται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από</a:t>
            </a:r>
            <a:r>
              <a:rPr kumimoji="0" lang="en-US" altLang="el-GR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τον δημιουργό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για την αναφορά στα μέλη του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στιγμιοτύπου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που μόλις δημιουργήθηκε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από τις μεθόδους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για αναφορά στα δεδομένα του αντικειμένου πάνω στο οποίο αυτές δρουν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για να κάνει τον κώδικα περισσότερο διαυγή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απαραίτητος όταν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η μέθοδος έχει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τοπική μεταβλητή με το ίδιο όνομα ή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τυπικό όρισμα με το ίδιο όνομα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		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8759A-CE5D-9F06-CE7F-860E8F33AFC4}"/>
              </a:ext>
            </a:extLst>
          </p:cNvPr>
          <p:cNvSpPr txBox="1"/>
          <p:nvPr/>
        </p:nvSpPr>
        <p:spPr>
          <a:xfrm>
            <a:off x="7422704" y="2984311"/>
            <a:ext cx="47692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algn="l" defTabSz="914400" rtl="0" eaLnBrk="1" fontAlgn="base" latinLnBrk="0" hangingPunct="1"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public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double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area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()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{</a:t>
            </a:r>
            <a:endParaRPr kumimoji="0" lang="en-US" altLang="el-GR" sz="24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0" marR="0" lvl="1" algn="l" defTabSz="914400" rtl="0" eaLnBrk="1" fontAlgn="base" latinLnBrk="0" hangingPunct="1"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l-GR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return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3.14*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this.r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*</a:t>
            </a:r>
            <a:r>
              <a:rPr lang="el-GR" altLang="el-GR" sz="2400" b="1" i="1" kern="0" dirty="0" err="1">
                <a:solidFill>
                  <a:srgbClr val="800000"/>
                </a:solidFill>
                <a:latin typeface="Tahoma"/>
              </a:rPr>
              <a:t>this.r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;</a:t>
            </a:r>
            <a:endParaRPr kumimoji="0" lang="en-US" altLang="el-GR" sz="24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0" marR="0" lvl="1" algn="l" defTabSz="914400" rtl="0" eaLnBrk="1" fontAlgn="base" latinLnBrk="0" hangingPunct="1"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el-GR" sz="2400" i="1" kern="0" dirty="0">
                <a:solidFill>
                  <a:srgbClr val="3333CC"/>
                </a:solidFill>
                <a:latin typeface="Tahoma"/>
              </a:rPr>
              <a:t>	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}</a:t>
            </a:r>
          </a:p>
          <a:p>
            <a:endParaRPr lang="el-G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949692-57AA-8DE4-88BC-8714B0E1C985}"/>
              </a:ext>
            </a:extLst>
          </p:cNvPr>
          <p:cNvSpPr txBox="1"/>
          <p:nvPr/>
        </p:nvSpPr>
        <p:spPr>
          <a:xfrm>
            <a:off x="6424863" y="5041232"/>
            <a:ext cx="5503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fontAlgn="base">
              <a:spcAft>
                <a:spcPct val="0"/>
              </a:spcAft>
              <a:buClr>
                <a:srgbClr val="FF0000"/>
              </a:buClr>
              <a:buSzPct val="55000"/>
              <a:defRPr/>
            </a:pP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public </a:t>
            </a:r>
            <a:r>
              <a:rPr lang="en-US" sz="2400" i="1" kern="0" dirty="0" err="1">
                <a:solidFill>
                  <a:srgbClr val="3333CC"/>
                </a:solidFill>
                <a:latin typeface="Tahoma"/>
              </a:rPr>
              <a:t>boolean</a:t>
            </a: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 </a:t>
            </a:r>
            <a:r>
              <a:rPr lang="en-GB" sz="2400" i="1" kern="0" dirty="0" err="1">
                <a:solidFill>
                  <a:srgbClr val="3333CC"/>
                </a:solidFill>
                <a:latin typeface="Tahoma"/>
              </a:rPr>
              <a:t>hasRadius</a:t>
            </a: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(</a:t>
            </a:r>
            <a:r>
              <a:rPr lang="en-US" sz="2400" b="1" i="1" kern="0" dirty="0">
                <a:solidFill>
                  <a:srgbClr val="3333CC"/>
                </a:solidFill>
                <a:latin typeface="Tahoma"/>
              </a:rPr>
              <a:t>double r</a:t>
            </a: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){</a:t>
            </a:r>
          </a:p>
          <a:p>
            <a:pPr marL="0" lvl="1" fontAlgn="base">
              <a:spcAft>
                <a:spcPct val="0"/>
              </a:spcAft>
              <a:buClr>
                <a:srgbClr val="FF0000"/>
              </a:buClr>
              <a:buSzPct val="55000"/>
              <a:defRPr/>
            </a:pP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	return (</a:t>
            </a:r>
            <a:r>
              <a:rPr lang="en-US" sz="2400" b="1" i="1" kern="0" dirty="0">
                <a:solidFill>
                  <a:srgbClr val="3333CC"/>
                </a:solidFill>
                <a:latin typeface="Tahoma"/>
              </a:rPr>
              <a:t>r==</a:t>
            </a:r>
            <a:r>
              <a:rPr lang="en-US" sz="2400" b="1" i="1" kern="0" dirty="0" err="1">
                <a:solidFill>
                  <a:srgbClr val="800000"/>
                </a:solidFill>
                <a:latin typeface="Tahoma"/>
              </a:rPr>
              <a:t>this.r</a:t>
            </a: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)? true: false;</a:t>
            </a:r>
          </a:p>
          <a:p>
            <a:pPr marL="0" lvl="1" fontAlgn="base">
              <a:spcAft>
                <a:spcPct val="0"/>
              </a:spcAft>
              <a:buClr>
                <a:srgbClr val="FF0000"/>
              </a:buClr>
              <a:buSzPct val="55000"/>
              <a:defRPr/>
            </a:pPr>
            <a:r>
              <a:rPr lang="en-US" sz="2400" i="1" kern="0" dirty="0">
                <a:solidFill>
                  <a:srgbClr val="3333CC"/>
                </a:solidFill>
                <a:latin typeface="Tahoma"/>
              </a:rPr>
              <a:t>}</a:t>
            </a:r>
            <a:endParaRPr lang="el-GR" sz="2400" i="1" kern="0" dirty="0">
              <a:solidFill>
                <a:srgbClr val="3333CC"/>
              </a:solidFill>
              <a:latin typeface="Tahom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C9477-862B-06A9-E6C8-3FF259A1C36F}"/>
              </a:ext>
            </a:extLst>
          </p:cNvPr>
          <p:cNvSpPr/>
          <p:nvPr/>
        </p:nvSpPr>
        <p:spPr>
          <a:xfrm>
            <a:off x="10164871" y="434468"/>
            <a:ext cx="2034116" cy="27839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err="1"/>
              <a:t>Βοοκ</a:t>
            </a:r>
            <a:r>
              <a:rPr lang="el-GR" sz="1600" dirty="0"/>
              <a:t>: Ενότητα 5.2.1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7CD53A-079D-A30A-F44C-D0143B1B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810" y="746639"/>
            <a:ext cx="5503521" cy="214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6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E8A64B-6E0B-A8CF-BE53-93B2E2BE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815"/>
            <a:ext cx="7124211" cy="4645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ABF35E-BD1B-45D0-15A5-2E2F1DBDB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804" y="713156"/>
            <a:ext cx="5244810" cy="465164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CirclesHandlingApp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V2.0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0D630F-0C5B-CB89-F926-ECB91040C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768" y="5013586"/>
            <a:ext cx="4022950" cy="16351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AED659-B096-C085-E5D6-9730E75727F3}"/>
              </a:ext>
            </a:extLst>
          </p:cNvPr>
          <p:cNvSpPr/>
          <p:nvPr/>
        </p:nvSpPr>
        <p:spPr>
          <a:xfrm>
            <a:off x="7519736" y="4087772"/>
            <a:ext cx="4672263" cy="1061743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08029A-CC32-80B7-7E60-F8CAD77C60D6}"/>
              </a:ext>
            </a:extLst>
          </p:cNvPr>
          <p:cNvSpPr/>
          <p:nvPr/>
        </p:nvSpPr>
        <p:spPr>
          <a:xfrm>
            <a:off x="1183674" y="4412262"/>
            <a:ext cx="4386948" cy="601324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1448B6-3E1A-A77F-7C36-F6A5E03297A0}"/>
              </a:ext>
            </a:extLst>
          </p:cNvPr>
          <p:cNvSpPr/>
          <p:nvPr/>
        </p:nvSpPr>
        <p:spPr>
          <a:xfrm>
            <a:off x="7372306" y="1354332"/>
            <a:ext cx="4819693" cy="1203158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1F8AEE-8D35-A357-6991-96766C06B20B}"/>
              </a:ext>
            </a:extLst>
          </p:cNvPr>
          <p:cNvSpPr/>
          <p:nvPr/>
        </p:nvSpPr>
        <p:spPr>
          <a:xfrm>
            <a:off x="1245551" y="1817137"/>
            <a:ext cx="3428433" cy="601324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8ADA8-6EF6-2509-7CE8-33081E2E3456}"/>
              </a:ext>
            </a:extLst>
          </p:cNvPr>
          <p:cNvSpPr/>
          <p:nvPr/>
        </p:nvSpPr>
        <p:spPr>
          <a:xfrm>
            <a:off x="7519736" y="934593"/>
            <a:ext cx="2718851" cy="270006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459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022380-4634-3EC0-E9EC-E7043CF8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9331"/>
            <a:ext cx="6587529" cy="5943918"/>
          </a:xfrm>
          <a:prstGeom prst="rect">
            <a:avLst/>
          </a:prstGeom>
        </p:spPr>
      </p:pic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CirclesHandlingApp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V3.0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BB3F3-EFBB-89B9-B2A1-FE2DF0D64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529" y="-26004"/>
            <a:ext cx="5463801" cy="543327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71AEC2-7E20-2E49-364E-90C8FC1C9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621" y="5250827"/>
            <a:ext cx="3429694" cy="15600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3DE31CC-FFCB-E4DD-2A2D-5E3EDA02BC97}"/>
              </a:ext>
            </a:extLst>
          </p:cNvPr>
          <p:cNvSpPr/>
          <p:nvPr/>
        </p:nvSpPr>
        <p:spPr>
          <a:xfrm>
            <a:off x="1255685" y="4964598"/>
            <a:ext cx="1831851" cy="572458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CFDE56-E463-7206-6991-7124E812F106}"/>
              </a:ext>
            </a:extLst>
          </p:cNvPr>
          <p:cNvSpPr/>
          <p:nvPr/>
        </p:nvSpPr>
        <p:spPr>
          <a:xfrm>
            <a:off x="7372307" y="4225025"/>
            <a:ext cx="4819693" cy="1025802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FCF42B-FBCD-2D9A-4E30-E8AF2DEDD0C3}"/>
              </a:ext>
            </a:extLst>
          </p:cNvPr>
          <p:cNvSpPr/>
          <p:nvPr/>
        </p:nvSpPr>
        <p:spPr>
          <a:xfrm>
            <a:off x="7279105" y="224662"/>
            <a:ext cx="2718851" cy="270006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6EBEF64E-B5FB-0E83-2D67-864A9F6A0EDE}"/>
              </a:ext>
            </a:extLst>
          </p:cNvPr>
          <p:cNvSpPr/>
          <p:nvPr/>
        </p:nvSpPr>
        <p:spPr>
          <a:xfrm>
            <a:off x="3305908" y="3223412"/>
            <a:ext cx="2790092" cy="1007706"/>
          </a:xfrm>
          <a:prstGeom prst="wedgeRoundRectCallout">
            <a:avLst>
              <a:gd name="adj1" fmla="val -58834"/>
              <a:gd name="adj2" fmla="val 125463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2000" dirty="0"/>
              <a:t>Δείτε εναλλακτικά την </a:t>
            </a:r>
          </a:p>
          <a:p>
            <a:pPr algn="ctr"/>
            <a:r>
              <a:rPr lang="en-GB" sz="2000" dirty="0" err="1"/>
              <a:t>System.out.println</a:t>
            </a:r>
            <a:r>
              <a:rPr lang="en-GB" sz="2000" dirty="0"/>
              <a:t>(c1);</a:t>
            </a:r>
          </a:p>
        </p:txBody>
      </p:sp>
    </p:spTree>
    <p:extLst>
      <p:ext uri="{BB962C8B-B14F-4D97-AF65-F5344CB8AC3E}">
        <p14:creationId xmlns:p14="http://schemas.microsoft.com/office/powerpoint/2010/main" val="103242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64" y="1121112"/>
            <a:ext cx="10165491" cy="50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Κλάση και Στιγμιότυπο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and Instance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Ορισμός Κλάσης</a:t>
            </a: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Δημιουργία Στιγμιότυπου</a:t>
            </a: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Αναφορά σε μεταβλητές στιγμιότυπου</a:t>
            </a: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Αποστολή μηνύματος σε στιγμιότυπο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Δημιουργός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Constructor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τελεστής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Encapsulation - Accessors </a:t>
            </a: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και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Mutators</a:t>
            </a:r>
          </a:p>
          <a:p>
            <a:pPr marL="57150" indent="0" eaLnBrk="1" hangingPunct="1">
              <a:buClr>
                <a:schemeClr val="hlink"/>
              </a:buClr>
              <a:buNone/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33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7288CD-612D-E969-72BF-0494D612B59C}"/>
              </a:ext>
            </a:extLst>
          </p:cNvPr>
          <p:cNvSpPr txBox="1">
            <a:spLocks/>
          </p:cNvSpPr>
          <p:nvPr/>
        </p:nvSpPr>
        <p:spPr bwMode="auto">
          <a:xfrm>
            <a:off x="0" y="2255570"/>
            <a:ext cx="6448926" cy="230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Accessor Methods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 accessor method is used to return the value of a private field. It follows a naming scheme prefixing the word "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" to the start of the method name.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Data encapsulation - Accessors and Mutators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3EA-3E68-53BD-CA43-C6B1A0A736BB}"/>
              </a:ext>
            </a:extLst>
          </p:cNvPr>
          <p:cNvSpPr txBox="1">
            <a:spLocks/>
          </p:cNvSpPr>
          <p:nvPr/>
        </p:nvSpPr>
        <p:spPr bwMode="auto">
          <a:xfrm>
            <a:off x="179387" y="758816"/>
            <a:ext cx="12012611" cy="1511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One of the ways we can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enforce data encapsulation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 through the use of accessors and mutators. The role of accessors and mutators are to return and set the values of an object's state. 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6A7727-DC51-2D2B-3530-5E9C182028AB}"/>
              </a:ext>
            </a:extLst>
          </p:cNvPr>
          <p:cNvGrpSpPr/>
          <p:nvPr/>
        </p:nvGrpSpPr>
        <p:grpSpPr>
          <a:xfrm>
            <a:off x="6889761" y="2623448"/>
            <a:ext cx="5222644" cy="1720863"/>
            <a:chOff x="7461834" y="2624386"/>
            <a:chExt cx="5222644" cy="1720863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8C2B487F-2AD8-F1BA-6AF9-07A95F9D2C3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45263" y="2808608"/>
              <a:ext cx="5039215" cy="1511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//Accessor for </a:t>
              </a:r>
              <a:r>
                <a:rPr kumimoji="0" lang="en-US" altLang="el-GR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firstName</a:t>
              </a:r>
              <a:r>
                <a:rPr kumimoji="0" lang="en-US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  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public String </a:t>
              </a:r>
              <a:r>
                <a:rPr kumimoji="0" lang="en-US" altLang="el-GR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getFirstName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()   {     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	return </a:t>
              </a:r>
              <a:r>
                <a:rPr kumimoji="0" lang="en-US" altLang="el-G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firstName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;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  }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8EC016-5D1F-2DC2-B509-AA591DAAB703}"/>
                </a:ext>
              </a:extLst>
            </p:cNvPr>
            <p:cNvSpPr/>
            <p:nvPr/>
          </p:nvSpPr>
          <p:spPr>
            <a:xfrm>
              <a:off x="7461834" y="2624386"/>
              <a:ext cx="5193331" cy="1720863"/>
            </a:xfrm>
            <a:prstGeom prst="rect">
              <a:avLst/>
            </a:prstGeom>
            <a:solidFill>
              <a:srgbClr val="FFFF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8BEFE1-5721-5E1E-AD5D-87B700D14C47}"/>
              </a:ext>
            </a:extLst>
          </p:cNvPr>
          <p:cNvGrpSpPr/>
          <p:nvPr/>
        </p:nvGrpSpPr>
        <p:grpSpPr>
          <a:xfrm>
            <a:off x="6889760" y="4563232"/>
            <a:ext cx="5478671" cy="1720863"/>
            <a:chOff x="6889760" y="4563232"/>
            <a:chExt cx="5478671" cy="1720863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B9F21B6B-B216-0E1E-2F04-493AAFF2BF5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036147" y="4646968"/>
              <a:ext cx="5332284" cy="15386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2000" b="1" kern="0" dirty="0">
                  <a:solidFill>
                    <a:srgbClr val="000000"/>
                  </a:solidFill>
                  <a:latin typeface="Tahoma"/>
                </a:rPr>
                <a:t>//</a:t>
              </a:r>
              <a:r>
                <a:rPr lang="en-US" sz="2000" b="1" kern="0" dirty="0" err="1">
                  <a:solidFill>
                    <a:srgbClr val="000000"/>
                  </a:solidFill>
                  <a:latin typeface="Tahoma"/>
                </a:rPr>
                <a:t>Mutator</a:t>
              </a:r>
              <a:r>
                <a:rPr lang="en-US" sz="2000" b="1" kern="0" dirty="0">
                  <a:solidFill>
                    <a:srgbClr val="000000"/>
                  </a:solidFill>
                  <a:latin typeface="Tahoma"/>
                </a:rPr>
                <a:t> for address </a:t>
              </a:r>
              <a:r>
                <a:rPr lang="en-US" sz="2000" kern="0" dirty="0">
                  <a:solidFill>
                    <a:srgbClr val="000000"/>
                  </a:solidFill>
                  <a:latin typeface="Tahoma"/>
                </a:rPr>
                <a:t>  </a:t>
              </a:r>
            </a:p>
            <a:p>
              <a:pPr marL="342900" indent="-3429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2000" kern="0" dirty="0">
                  <a:solidFill>
                    <a:srgbClr val="000000"/>
                  </a:solidFill>
                  <a:latin typeface="Tahoma"/>
                </a:rPr>
                <a:t>public void </a:t>
              </a:r>
              <a:r>
                <a:rPr lang="en-US" sz="2000" b="1" kern="0" dirty="0" err="1">
                  <a:solidFill>
                    <a:srgbClr val="C00000"/>
                  </a:solidFill>
                  <a:latin typeface="Tahoma"/>
                </a:rPr>
                <a:t>setAddress</a:t>
              </a:r>
              <a:r>
                <a:rPr lang="en-US" sz="2000" kern="0" dirty="0">
                  <a:solidFill>
                    <a:srgbClr val="000000"/>
                  </a:solidFill>
                  <a:latin typeface="Tahoma"/>
                </a:rPr>
                <a:t>(String address)   {   </a:t>
              </a:r>
            </a:p>
            <a:p>
              <a:pPr marL="342900" indent="-3429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2000" kern="0" dirty="0">
                  <a:solidFill>
                    <a:srgbClr val="000000"/>
                  </a:solidFill>
                  <a:latin typeface="Tahoma"/>
                </a:rPr>
                <a:t>	</a:t>
              </a:r>
              <a:r>
                <a:rPr lang="en-US" sz="2000" kern="0" dirty="0" err="1">
                  <a:solidFill>
                    <a:srgbClr val="000000"/>
                  </a:solidFill>
                  <a:latin typeface="Tahoma"/>
                </a:rPr>
                <a:t>this.address</a:t>
              </a:r>
              <a:r>
                <a:rPr lang="en-US" sz="2000" kern="0" dirty="0">
                  <a:solidFill>
                    <a:srgbClr val="000000"/>
                  </a:solidFill>
                  <a:latin typeface="Tahoma"/>
                </a:rPr>
                <a:t> = address;</a:t>
              </a:r>
            </a:p>
            <a:p>
              <a:pPr marL="342900" indent="-3429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2000" kern="0" dirty="0">
                  <a:solidFill>
                    <a:srgbClr val="000000"/>
                  </a:solidFill>
                  <a:latin typeface="Tahoma"/>
                </a:rPr>
                <a:t>   } </a:t>
              </a:r>
            </a:p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defRPr/>
              </a:pPr>
              <a:endParaRPr lang="el-GR" sz="2000" kern="0" dirty="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907EEC-1E7F-B1DB-CC33-CE56C6DDC876}"/>
                </a:ext>
              </a:extLst>
            </p:cNvPr>
            <p:cNvSpPr/>
            <p:nvPr/>
          </p:nvSpPr>
          <p:spPr>
            <a:xfrm>
              <a:off x="6889760" y="4563232"/>
              <a:ext cx="5193331" cy="1720863"/>
            </a:xfrm>
            <a:prstGeom prst="rect">
              <a:avLst/>
            </a:prstGeom>
            <a:solidFill>
              <a:srgbClr val="FFFF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4607667-B404-38DC-8198-90B6880F1FA4}"/>
              </a:ext>
            </a:extLst>
          </p:cNvPr>
          <p:cNvSpPr txBox="1">
            <a:spLocks/>
          </p:cNvSpPr>
          <p:nvPr/>
        </p:nvSpPr>
        <p:spPr bwMode="auto">
          <a:xfrm>
            <a:off x="14657" y="4335095"/>
            <a:ext cx="6448926" cy="216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Mutator Methods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 mutator method is used to set a value of a private field. It follows a naming scheme prefixing the word "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" to the start of the method name.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53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build="p"/>
      <p:bldP spid="1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CirclesHandlingApp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V4.0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78962A-2750-973C-9AC2-51CFE879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670" y="-6077"/>
            <a:ext cx="5743661" cy="5837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DDD77E-9394-7C03-F0C4-68A315C12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62" y="719331"/>
            <a:ext cx="5743661" cy="4500369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1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DE31CC-FFCB-E4DD-2A2D-5E3EDA02BC97}"/>
              </a:ext>
            </a:extLst>
          </p:cNvPr>
          <p:cNvSpPr/>
          <p:nvPr/>
        </p:nvSpPr>
        <p:spPr>
          <a:xfrm>
            <a:off x="1220160" y="3359603"/>
            <a:ext cx="1887215" cy="323810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CFDE56-E463-7206-6991-7124E812F106}"/>
              </a:ext>
            </a:extLst>
          </p:cNvPr>
          <p:cNvSpPr/>
          <p:nvPr/>
        </p:nvSpPr>
        <p:spPr>
          <a:xfrm>
            <a:off x="6915107" y="4813085"/>
            <a:ext cx="4819693" cy="841757"/>
          </a:xfrm>
          <a:prstGeom prst="rect">
            <a:avLst/>
          </a:prstGeom>
          <a:solidFill>
            <a:schemeClr val="bg1">
              <a:alpha val="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0DE19C-DC4D-FDCD-9199-D7D97C33C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222" y="4725260"/>
            <a:ext cx="3656290" cy="21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13329</TotalTime>
  <Words>1443</Words>
  <Application>Microsoft Office PowerPoint</Application>
  <PresentationFormat>Widescreen</PresentationFormat>
  <Paragraphs>315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PowerPoint Presentation</vt:lpstr>
      <vt:lpstr>Οργάνωση Διάλεξης</vt:lpstr>
      <vt:lpstr>Το Πρόγραμμα HelloWorld</vt:lpstr>
      <vt:lpstr>H Άσκηση – Circles Handling App</vt:lpstr>
      <vt:lpstr>Το πρόγραμμα Circles Handling App ως κλάση</vt:lpstr>
      <vt:lpstr>Λεκτική περιγραφή της main()</vt:lpstr>
      <vt:lpstr>Ορισμός κλάσης Circle </vt:lpstr>
      <vt:lpstr>Δημιουργία στιγμιότυπου ( Instance)</vt:lpstr>
      <vt:lpstr>Αναφορά σε μεταβλητές στιγμιότυπου </vt:lpstr>
      <vt:lpstr>CirclesHandlingApp V1.0</vt:lpstr>
      <vt:lpstr>Αποστολή μηνύματος – Κλήση μεθόδου</vt:lpstr>
      <vt:lpstr>CirclesHandlingApp V1.1</vt:lpstr>
      <vt:lpstr>To πρόγραμμα Echo</vt:lpstr>
      <vt:lpstr>H κλάση Scanner</vt:lpstr>
      <vt:lpstr>Οργάνωση Διάλεξης</vt:lpstr>
      <vt:lpstr>Ορισμός Δημιουργού (constructor)</vt:lpstr>
      <vt:lpstr>Δημιουργός – Τελεστής this</vt:lpstr>
      <vt:lpstr>Ο τελεστής this</vt:lpstr>
      <vt:lpstr>CirclesHandlingApp V2.0</vt:lpstr>
      <vt:lpstr>CirclesHandlingApp V3.0</vt:lpstr>
      <vt:lpstr>Οργάνωση Διάλεξης</vt:lpstr>
      <vt:lpstr>Data encapsulation - Accessors and Mutators</vt:lpstr>
      <vt:lpstr>CirclesHandlingApp V4.0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PCUser</dc:creator>
  <cp:lastModifiedBy>thrambo@ece.upatras.gr</cp:lastModifiedBy>
  <cp:revision>73</cp:revision>
  <cp:lastPrinted>2023-03-15T10:54:36Z</cp:lastPrinted>
  <dcterms:created xsi:type="dcterms:W3CDTF">2020-03-13T12:21:17Z</dcterms:created>
  <dcterms:modified xsi:type="dcterms:W3CDTF">2024-10-09T06:09:16Z</dcterms:modified>
</cp:coreProperties>
</file>