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50"/>
  </p:notesMasterIdLst>
  <p:sldIdLst>
    <p:sldId id="262" r:id="rId3"/>
    <p:sldId id="761" r:id="rId4"/>
    <p:sldId id="760" r:id="rId5"/>
    <p:sldId id="763" r:id="rId6"/>
    <p:sldId id="762" r:id="rId7"/>
    <p:sldId id="764" r:id="rId8"/>
    <p:sldId id="765" r:id="rId9"/>
    <p:sldId id="766" r:id="rId10"/>
    <p:sldId id="767" r:id="rId11"/>
    <p:sldId id="899" r:id="rId12"/>
    <p:sldId id="897" r:id="rId13"/>
    <p:sldId id="898" r:id="rId14"/>
    <p:sldId id="768" r:id="rId15"/>
    <p:sldId id="841" r:id="rId16"/>
    <p:sldId id="843" r:id="rId17"/>
    <p:sldId id="845" r:id="rId18"/>
    <p:sldId id="846" r:id="rId19"/>
    <p:sldId id="847" r:id="rId20"/>
    <p:sldId id="848" r:id="rId21"/>
    <p:sldId id="896" r:id="rId22"/>
    <p:sldId id="900" r:id="rId23"/>
    <p:sldId id="849" r:id="rId24"/>
    <p:sldId id="850" r:id="rId25"/>
    <p:sldId id="852" r:id="rId26"/>
    <p:sldId id="853" r:id="rId27"/>
    <p:sldId id="874" r:id="rId28"/>
    <p:sldId id="871" r:id="rId29"/>
    <p:sldId id="901" r:id="rId30"/>
    <p:sldId id="869" r:id="rId31"/>
    <p:sldId id="867" r:id="rId32"/>
    <p:sldId id="870" r:id="rId33"/>
    <p:sldId id="875" r:id="rId34"/>
    <p:sldId id="873" r:id="rId35"/>
    <p:sldId id="878" r:id="rId36"/>
    <p:sldId id="879" r:id="rId37"/>
    <p:sldId id="872" r:id="rId38"/>
    <p:sldId id="876" r:id="rId39"/>
    <p:sldId id="891" r:id="rId40"/>
    <p:sldId id="880" r:id="rId41"/>
    <p:sldId id="892" r:id="rId42"/>
    <p:sldId id="895" r:id="rId43"/>
    <p:sldId id="889" r:id="rId44"/>
    <p:sldId id="893" r:id="rId45"/>
    <p:sldId id="894" r:id="rId46"/>
    <p:sldId id="839" r:id="rId47"/>
    <p:sldId id="838" r:id="rId48"/>
    <p:sldId id="842" r:id="rId49"/>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rambo"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576" autoAdjust="0"/>
    <p:restoredTop sz="93945" autoAdjust="0"/>
  </p:normalViewPr>
  <p:slideViewPr>
    <p:cSldViewPr snapToGrid="0">
      <p:cViewPr varScale="1">
        <p:scale>
          <a:sx n="64" d="100"/>
          <a:sy n="64" d="100"/>
        </p:scale>
        <p:origin x="264" y="6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9/10/2024</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2376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2788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6933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defTabSz="935038" eaLnBrk="1" hangingPunct="1"/>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4992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66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870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3200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1063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9759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9905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476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8514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3928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64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9783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eaLnBrk="1" hangingPunct="1"/>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5244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3840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1375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1979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8716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22157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0229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0212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61518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85175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57486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85222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89997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96494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45042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78418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5479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1795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15603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72744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64150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4704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7721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05586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72050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73828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96946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51248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1188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39690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160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9/10/2024</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9/10/2024</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tes.google.com/site/thramboulidiskleanthis/"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hyperlink" Target="https://www.geeksforgeeks.org/java-and-multiple-inheritance/"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hyperlink" Target="https://www.geeksforgeeks.org/java-and-multiple-inheritance/"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hyperlink" Target="https://docs.oracle.com/javase/7/docs/api/java/lang/Iterable.html"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Υπότιτλος 2">
            <a:extLst>
              <a:ext uri="{FF2B5EF4-FFF2-40B4-BE49-F238E27FC236}">
                <a16:creationId xmlns:a16="http://schemas.microsoft.com/office/drawing/2014/main" id="{999AB7B1-2CA7-4F2E-91BE-62A4C3CC57D6}"/>
              </a:ext>
            </a:extLst>
          </p:cNvPr>
          <p:cNvSpPr txBox="1">
            <a:spLocks/>
          </p:cNvSpPr>
          <p:nvPr/>
        </p:nvSpPr>
        <p:spPr>
          <a:xfrm>
            <a:off x="-3" y="48411"/>
            <a:ext cx="12192002" cy="1249811"/>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4000" b="1">
                <a:solidFill>
                  <a:srgbClr val="F9853D"/>
                </a:solidFill>
                <a:latin typeface="Bahnschrift" panose="020B0502040204020203" pitchFamily="34" charset="0"/>
              </a:rPr>
              <a:t>Αντικειμενοστρεφής Προγραμματισμός </a:t>
            </a:r>
            <a:br>
              <a:rPr lang="el-GR" sz="4000" b="1">
                <a:solidFill>
                  <a:srgbClr val="F9853D"/>
                </a:solidFill>
                <a:latin typeface="Bahnschrift" panose="020B0502040204020203" pitchFamily="34" charset="0"/>
              </a:rPr>
            </a:br>
            <a:r>
              <a:rPr lang="el-GR" sz="4000" b="1">
                <a:solidFill>
                  <a:srgbClr val="F9853D"/>
                </a:solidFill>
                <a:latin typeface="Bahnschrift" panose="020B0502040204020203" pitchFamily="34" charset="0"/>
              </a:rPr>
              <a:t>(</a:t>
            </a:r>
            <a:r>
              <a:rPr lang="el-GR" sz="4000" b="1" err="1">
                <a:solidFill>
                  <a:srgbClr val="F9853D"/>
                </a:solidFill>
                <a:latin typeface="Bahnschrift" panose="020B0502040204020203" pitchFamily="34" charset="0"/>
              </a:rPr>
              <a:t>Object-Oriented</a:t>
            </a:r>
            <a:r>
              <a:rPr lang="el-GR" sz="4000" b="1">
                <a:solidFill>
                  <a:srgbClr val="F9853D"/>
                </a:solidFill>
                <a:latin typeface="Bahnschrift" panose="020B0502040204020203" pitchFamily="34" charset="0"/>
              </a:rPr>
              <a:t> </a:t>
            </a:r>
            <a:r>
              <a:rPr lang="el-GR" sz="4000" b="1" err="1">
                <a:solidFill>
                  <a:srgbClr val="F9853D"/>
                </a:solidFill>
                <a:latin typeface="Bahnschrift" panose="020B0502040204020203" pitchFamily="34" charset="0"/>
              </a:rPr>
              <a:t>Programming</a:t>
            </a:r>
            <a:r>
              <a:rPr lang="el-GR" sz="4000" b="1">
                <a:solidFill>
                  <a:srgbClr val="F9853D"/>
                </a:solidFill>
                <a:latin typeface="Bahnschrift" panose="020B0502040204020203" pitchFamily="34" charset="0"/>
              </a:rPr>
              <a:t>)</a:t>
            </a:r>
            <a:endParaRPr lang="en-US" sz="2800" b="1">
              <a:solidFill>
                <a:srgbClr val="F9853D"/>
              </a:solidFill>
              <a:latin typeface="Bahnschrift" panose="020B0502040204020203" pitchFamily="34" charset="0"/>
            </a:endParaRPr>
          </a:p>
        </p:txBody>
      </p:sp>
      <p:sp>
        <p:nvSpPr>
          <p:cNvPr id="5" name="Rectangle 3">
            <a:extLst>
              <a:ext uri="{FF2B5EF4-FFF2-40B4-BE49-F238E27FC236}">
                <a16:creationId xmlns:a16="http://schemas.microsoft.com/office/drawing/2014/main" id="{850C4F10-C081-CD71-17C8-8DAD4C7DEEF4}"/>
              </a:ext>
            </a:extLst>
          </p:cNvPr>
          <p:cNvSpPr txBox="1">
            <a:spLocks noChangeArrowheads="1"/>
          </p:cNvSpPr>
          <p:nvPr/>
        </p:nvSpPr>
        <p:spPr bwMode="auto">
          <a:xfrm>
            <a:off x="0" y="5773068"/>
            <a:ext cx="8610600"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ctr" rtl="0" eaLnBrk="0" fontAlgn="base" hangingPunct="0">
              <a:spcBef>
                <a:spcPct val="20000"/>
              </a:spcBef>
              <a:spcAft>
                <a:spcPct val="0"/>
              </a:spcAft>
              <a:buFont typeface="Wingdings" pitchFamily="2" charset="2"/>
              <a:buNone/>
              <a:defRPr sz="4000">
                <a:solidFill>
                  <a:schemeClr val="tx1"/>
                </a:solidFill>
                <a:latin typeface="+mn-lt"/>
                <a:ea typeface="+mn-ea"/>
                <a:cs typeface="+mn-cs"/>
              </a:defRPr>
            </a:lvl1pPr>
            <a:lvl2pPr marL="742950" indent="-285750" algn="l" rtl="0" eaLnBrk="0" fontAlgn="base" hangingPunct="0">
              <a:spcBef>
                <a:spcPct val="20000"/>
              </a:spcBef>
              <a:spcAft>
                <a:spcPct val="0"/>
              </a:spcAft>
              <a:buFont typeface="Book Antiqua" panose="02040602050305030304" pitchFamily="18" charset="0"/>
              <a:buChar char="–"/>
              <a:defRPr sz="2800">
                <a:solidFill>
                  <a:schemeClr val="tx1"/>
                </a:solidFill>
                <a:latin typeface="+mn-lt"/>
              </a:defRPr>
            </a:lvl2pPr>
            <a:lvl3pPr marL="1143000" indent="-228600" algn="l" rtl="0" eaLnBrk="0" fontAlgn="base" hangingPunct="0">
              <a:spcBef>
                <a:spcPct val="20000"/>
              </a:spcBef>
              <a:spcAft>
                <a:spcPct val="0"/>
              </a:spcAft>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algn="l" eaLnBrk="1" hangingPunct="1">
              <a:spcBef>
                <a:spcPct val="0"/>
              </a:spcBef>
              <a:defRPr/>
            </a:pPr>
            <a:r>
              <a:rPr lang="en-US" altLang="el-GR" sz="1800" b="0" i="0" kern="0">
                <a:solidFill>
                  <a:srgbClr val="800000"/>
                </a:solidFill>
                <a:latin typeface="Times New Roman" panose="02020603050405020304" pitchFamily="18" charset="0"/>
              </a:rPr>
              <a:t>Kleanthis Thramboulidis</a:t>
            </a:r>
          </a:p>
          <a:p>
            <a:pPr algn="l" eaLnBrk="1" hangingPunct="1">
              <a:spcBef>
                <a:spcPct val="0"/>
              </a:spcBef>
              <a:defRPr/>
            </a:pPr>
            <a:r>
              <a:rPr lang="en-US" altLang="el-GR" sz="1600" i="0" kern="0">
                <a:latin typeface="Times New Roman" panose="02020603050405020304" pitchFamily="18" charset="0"/>
              </a:rPr>
              <a:t>Prof. of Software and System Engineering </a:t>
            </a:r>
          </a:p>
          <a:p>
            <a:pPr algn="l" eaLnBrk="1" hangingPunct="1">
              <a:spcBef>
                <a:spcPct val="0"/>
              </a:spcBef>
              <a:defRPr/>
            </a:pPr>
            <a:r>
              <a:rPr lang="en-US" altLang="el-GR" sz="1600" b="0" i="0" kern="0">
                <a:latin typeface="Times New Roman" panose="02020603050405020304" pitchFamily="18" charset="0"/>
              </a:rPr>
              <a:t>University of Patras</a:t>
            </a:r>
            <a:r>
              <a:rPr lang="el-GR" altLang="el-GR" sz="1800" b="0" i="0" kern="0">
                <a:latin typeface="Times New Roman" panose="02020603050405020304" pitchFamily="18" charset="0"/>
              </a:rPr>
              <a:t> </a:t>
            </a:r>
            <a:endParaRPr lang="en-US" altLang="el-GR" sz="1800" b="0" i="0" kern="0">
              <a:latin typeface="Times New Roman" panose="02020603050405020304" pitchFamily="18" charset="0"/>
            </a:endParaRPr>
          </a:p>
          <a:p>
            <a:pPr algn="l" eaLnBrk="1" hangingPunct="1">
              <a:spcBef>
                <a:spcPct val="0"/>
              </a:spcBef>
              <a:defRPr/>
            </a:pPr>
            <a:r>
              <a:rPr lang="en-US" altLang="el-GR" sz="1600" b="0" i="0">
                <a:latin typeface="Times New Roman" panose="02020603050405020304" pitchFamily="18" charset="0"/>
                <a:hlinkClick r:id="rId3"/>
              </a:rPr>
              <a:t>https://sites.google.com/site/thramboulidiskleanthis/</a:t>
            </a:r>
            <a:endParaRPr lang="en-US" altLang="el-GR" sz="1600" b="0" i="0">
              <a:latin typeface="Times New Roman" panose="02020603050405020304" pitchFamily="18" charset="0"/>
            </a:endParaRPr>
          </a:p>
          <a:p>
            <a:pPr algn="l" eaLnBrk="1" hangingPunct="1">
              <a:spcBef>
                <a:spcPct val="0"/>
              </a:spcBef>
              <a:defRPr/>
            </a:pPr>
            <a:endParaRPr lang="el-GR" altLang="el-GR" sz="1800" kern="0">
              <a:latin typeface="Times New Roman" panose="02020603050405020304" pitchFamily="18" charset="0"/>
            </a:endParaRPr>
          </a:p>
          <a:p>
            <a:pPr algn="l" eaLnBrk="1" hangingPunct="1">
              <a:spcBef>
                <a:spcPct val="0"/>
              </a:spcBef>
              <a:defRPr/>
            </a:pPr>
            <a:endParaRPr lang="en-GB" altLang="el-GR" sz="1800" b="1" kern="0">
              <a:latin typeface="Times New Roman" panose="02020603050405020304" pitchFamily="18" charset="0"/>
            </a:endParaRPr>
          </a:p>
        </p:txBody>
      </p:sp>
      <p:sp>
        <p:nvSpPr>
          <p:cNvPr id="16" name="TextBox 15">
            <a:extLst>
              <a:ext uri="{FF2B5EF4-FFF2-40B4-BE49-F238E27FC236}">
                <a16:creationId xmlns:a16="http://schemas.microsoft.com/office/drawing/2014/main" id="{D3036E0A-62C8-F25D-25D5-595B0B27A6B1}"/>
              </a:ext>
            </a:extLst>
          </p:cNvPr>
          <p:cNvSpPr txBox="1"/>
          <p:nvPr/>
        </p:nvSpPr>
        <p:spPr>
          <a:xfrm>
            <a:off x="0" y="1318086"/>
            <a:ext cx="1769534" cy="369332"/>
          </a:xfrm>
          <a:prstGeom prst="rect">
            <a:avLst/>
          </a:prstGeom>
          <a:noFill/>
        </p:spPr>
        <p:txBody>
          <a:bodyPr wrap="square">
            <a:spAutoFit/>
          </a:bodyPr>
          <a:lstStyle/>
          <a:p>
            <a:r>
              <a:rPr lang="en-US">
                <a:solidFill>
                  <a:srgbClr val="F9853D"/>
                </a:solidFill>
                <a:latin typeface="Bahnschrift" panose="020B0502040204020203" pitchFamily="34" charset="0"/>
              </a:rPr>
              <a:t>(CEID_NNY106)</a:t>
            </a:r>
            <a:endParaRPr lang="el-GR">
              <a:solidFill>
                <a:srgbClr val="F9853D"/>
              </a:solidFill>
              <a:latin typeface="Bahnschrift" panose="020B0502040204020203" pitchFamily="34" charset="0"/>
            </a:endParaRPr>
          </a:p>
        </p:txBody>
      </p:sp>
      <p:sp>
        <p:nvSpPr>
          <p:cNvPr id="2" name="TextBox 1">
            <a:extLst>
              <a:ext uri="{FF2B5EF4-FFF2-40B4-BE49-F238E27FC236}">
                <a16:creationId xmlns:a16="http://schemas.microsoft.com/office/drawing/2014/main" id="{515F3EE9-A938-D663-D46A-160783F1F27F}"/>
              </a:ext>
            </a:extLst>
          </p:cNvPr>
          <p:cNvSpPr txBox="1"/>
          <p:nvPr/>
        </p:nvSpPr>
        <p:spPr>
          <a:xfrm>
            <a:off x="560303" y="2462259"/>
            <a:ext cx="1314527" cy="369332"/>
          </a:xfrm>
          <a:prstGeom prst="rect">
            <a:avLst/>
          </a:prstGeom>
          <a:noFill/>
        </p:spPr>
        <p:txBody>
          <a:bodyPr wrap="none" rtlCol="0">
            <a:spAutoFit/>
          </a:bodyPr>
          <a:lstStyle/>
          <a:p>
            <a:r>
              <a:rPr lang="el-GR"/>
              <a:t>Κύρια Πηγή</a:t>
            </a:r>
          </a:p>
        </p:txBody>
      </p:sp>
      <p:pic>
        <p:nvPicPr>
          <p:cNvPr id="6" name="Picture 5">
            <a:extLst>
              <a:ext uri="{FF2B5EF4-FFF2-40B4-BE49-F238E27FC236}">
                <a16:creationId xmlns:a16="http://schemas.microsoft.com/office/drawing/2014/main" id="{06171E6F-8AE9-B75E-1823-7991CADC80F8}"/>
              </a:ext>
            </a:extLst>
          </p:cNvPr>
          <p:cNvPicPr>
            <a:picLocks noChangeAspect="1"/>
          </p:cNvPicPr>
          <p:nvPr/>
        </p:nvPicPr>
        <p:blipFill>
          <a:blip r:embed="rId4"/>
          <a:stretch>
            <a:fillRect/>
          </a:stretch>
        </p:blipFill>
        <p:spPr>
          <a:xfrm>
            <a:off x="242123" y="2741663"/>
            <a:ext cx="1950889" cy="2819644"/>
          </a:xfrm>
          <a:prstGeom prst="rect">
            <a:avLst/>
          </a:prstGeom>
        </p:spPr>
      </p:pic>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4" y="1296692"/>
            <a:ext cx="7748956" cy="1463345"/>
          </a:xfrm>
          <a:prstGeom prst="rect">
            <a:avLst/>
          </a:prstGeom>
        </p:spPr>
        <p:txBody>
          <a:bodyPr vert="horz" lIns="91440" tIns="45720" rIns="91440" bIns="45720" rtlCol="0" anchor="b">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l-GR" sz="4000" b="1" dirty="0">
                <a:solidFill>
                  <a:srgbClr val="60D69E"/>
                </a:solidFill>
                <a:latin typeface="Bahnschrift" panose="020B0502040204020203" pitchFamily="34" charset="0"/>
              </a:rPr>
              <a:t>Κληρονομικότητα- Πολυμορφισμός</a:t>
            </a:r>
            <a:r>
              <a:rPr lang="en-US" sz="4000" b="1" dirty="0">
                <a:solidFill>
                  <a:srgbClr val="60D69E"/>
                </a:solidFill>
                <a:latin typeface="Bahnschrift" panose="020B0502040204020203" pitchFamily="34" charset="0"/>
              </a:rPr>
              <a:t> </a:t>
            </a:r>
            <a:endParaRPr lang="el-GR" sz="4000" b="1" dirty="0">
              <a:solidFill>
                <a:srgbClr val="60D69E"/>
              </a:solidFill>
              <a:latin typeface="Bahnschrift" panose="020B0502040204020203" pitchFamily="34" charset="0"/>
            </a:endParaRPr>
          </a:p>
          <a:p>
            <a:pPr algn="r">
              <a:lnSpc>
                <a:spcPct val="100000"/>
              </a:lnSpc>
              <a:spcBef>
                <a:spcPct val="0"/>
              </a:spcBef>
              <a:spcAft>
                <a:spcPts val="600"/>
              </a:spcAft>
            </a:pPr>
            <a:r>
              <a:rPr lang="en-US" sz="4000" b="1" dirty="0">
                <a:solidFill>
                  <a:srgbClr val="60D69E"/>
                </a:solidFill>
                <a:latin typeface="Bahnschrift" panose="020B0502040204020203" pitchFamily="34" charset="0"/>
              </a:rPr>
              <a:t>(Inheritance</a:t>
            </a:r>
            <a:r>
              <a:rPr lang="el-GR" sz="4000" b="1" dirty="0">
                <a:solidFill>
                  <a:srgbClr val="60D69E"/>
                </a:solidFill>
                <a:latin typeface="Bahnschrift" panose="020B0502040204020203" pitchFamily="34" charset="0"/>
              </a:rPr>
              <a:t>-</a:t>
            </a:r>
            <a:r>
              <a:rPr lang="en-GB" sz="4000" b="1" dirty="0">
                <a:solidFill>
                  <a:srgbClr val="60D69E"/>
                </a:solidFill>
                <a:latin typeface="Bahnschrift" panose="020B0502040204020203" pitchFamily="34" charset="0"/>
              </a:rPr>
              <a:t>Polymorphism</a:t>
            </a:r>
            <a:r>
              <a:rPr lang="en-US" sz="4000" b="1" dirty="0">
                <a:solidFill>
                  <a:srgbClr val="60D69E"/>
                </a:solidFill>
                <a:latin typeface="Bahnschrift" panose="020B0502040204020203" pitchFamily="34" charset="0"/>
              </a:rPr>
              <a:t>)</a:t>
            </a:r>
          </a:p>
        </p:txBody>
      </p:sp>
      <p:pic>
        <p:nvPicPr>
          <p:cNvPr id="7" name="Picture 6">
            <a:extLst>
              <a:ext uri="{FF2B5EF4-FFF2-40B4-BE49-F238E27FC236}">
                <a16:creationId xmlns:a16="http://schemas.microsoft.com/office/drawing/2014/main" id="{58F3F1DF-97A8-0745-D06F-F345A61D9C83}"/>
              </a:ext>
            </a:extLst>
          </p:cNvPr>
          <p:cNvPicPr>
            <a:picLocks noChangeAspect="1"/>
          </p:cNvPicPr>
          <p:nvPr/>
        </p:nvPicPr>
        <p:blipFill>
          <a:blip r:embed="rId5"/>
          <a:stretch>
            <a:fillRect/>
          </a:stretch>
        </p:blipFill>
        <p:spPr>
          <a:xfrm>
            <a:off x="7748952" y="1249095"/>
            <a:ext cx="4443044" cy="5019232"/>
          </a:xfrm>
          <a:prstGeom prst="rect">
            <a:avLst/>
          </a:prstGeom>
        </p:spPr>
      </p:pic>
      <p:sp>
        <p:nvSpPr>
          <p:cNvPr id="20" name="Rectangle 19">
            <a:extLst>
              <a:ext uri="{FF2B5EF4-FFF2-40B4-BE49-F238E27FC236}">
                <a16:creationId xmlns:a16="http://schemas.microsoft.com/office/drawing/2014/main" id="{71AC6608-7C00-770A-D4FC-06C135BF8CDE}"/>
              </a:ext>
            </a:extLst>
          </p:cNvPr>
          <p:cNvSpPr/>
          <p:nvPr/>
        </p:nvSpPr>
        <p:spPr>
          <a:xfrm>
            <a:off x="239084" y="3913536"/>
            <a:ext cx="1950889" cy="31272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dirty="0"/>
              <a:t>Κεφάλαιο: </a:t>
            </a:r>
            <a:r>
              <a:rPr lang="en-GB" sz="1600" dirty="0"/>
              <a:t>7</a:t>
            </a:r>
            <a:endParaRPr lang="el-GR" sz="1600" dirty="0"/>
          </a:p>
        </p:txBody>
      </p:sp>
      <p:sp>
        <p:nvSpPr>
          <p:cNvPr id="21" name="TextBox 20">
            <a:extLst>
              <a:ext uri="{FF2B5EF4-FFF2-40B4-BE49-F238E27FC236}">
                <a16:creationId xmlns:a16="http://schemas.microsoft.com/office/drawing/2014/main" id="{2C96A4A3-88B3-F04A-0B91-01BBBF200BC0}"/>
              </a:ext>
            </a:extLst>
          </p:cNvPr>
          <p:cNvSpPr txBox="1"/>
          <p:nvPr/>
        </p:nvSpPr>
        <p:spPr>
          <a:xfrm>
            <a:off x="192732" y="4202653"/>
            <a:ext cx="1682098" cy="369332"/>
          </a:xfrm>
          <a:prstGeom prst="rect">
            <a:avLst/>
          </a:prstGeom>
          <a:noFill/>
        </p:spPr>
        <p:txBody>
          <a:bodyPr wrap="square" rtlCol="0">
            <a:spAutoFit/>
          </a:bodyPr>
          <a:lstStyle/>
          <a:p>
            <a:r>
              <a:rPr lang="en-US" dirty="0"/>
              <a:t>7.1-7.3, 7.5,7.6</a:t>
            </a:r>
            <a:endParaRPr lang="el-GR" dirty="0"/>
          </a:p>
        </p:txBody>
      </p:sp>
      <p:sp>
        <p:nvSpPr>
          <p:cNvPr id="3" name="Rectangle 2">
            <a:extLst>
              <a:ext uri="{FF2B5EF4-FFF2-40B4-BE49-F238E27FC236}">
                <a16:creationId xmlns:a16="http://schemas.microsoft.com/office/drawing/2014/main" id="{C8F93A6D-8EF8-53FC-8751-93D73104210C}"/>
              </a:ext>
            </a:extLst>
          </p:cNvPr>
          <p:cNvSpPr/>
          <p:nvPr/>
        </p:nvSpPr>
        <p:spPr bwMode="auto">
          <a:xfrm>
            <a:off x="2934513" y="3276305"/>
            <a:ext cx="4443044" cy="1417637"/>
          </a:xfrm>
          <a:prstGeom prst="rect">
            <a:avLst/>
          </a:prstGeom>
          <a:solidFill>
            <a:srgbClr val="FFCF01">
              <a:lumMod val="40000"/>
              <a:lumOff val="60000"/>
            </a:srgbClr>
          </a:solidFill>
          <a:ln w="9525" cap="flat" cmpd="sng" algn="ctr">
            <a:solidFill>
              <a:srgbClr val="000000"/>
            </a:solidFill>
            <a:prstDash val="solid"/>
            <a:miter lim="800000"/>
            <a:headEnd type="none" w="med" len="med"/>
            <a:tailEnd type="none" w="med" len="me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Tahoma" panose="020B0604030504040204" pitchFamily="34" charset="0"/>
              </a:rPr>
              <a:t>Inheritance</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 </a:t>
            </a:r>
            <a:endParaRPr kumimoji="0" lang="el-GR" sz="2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the act of inheriting property </a:t>
            </a:r>
            <a:endParaRPr kumimoji="0" 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pic>
        <p:nvPicPr>
          <p:cNvPr id="9" name="Picture 5">
            <a:extLst>
              <a:ext uri="{FF2B5EF4-FFF2-40B4-BE49-F238E27FC236}">
                <a16:creationId xmlns:a16="http://schemas.microsoft.com/office/drawing/2014/main" id="{C0D5D600-2856-32CF-CC11-39A8008B4F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8855" y="337552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3">
            <a:extLst>
              <a:ext uri="{FF2B5EF4-FFF2-40B4-BE49-F238E27FC236}">
                <a16:creationId xmlns:a16="http://schemas.microsoft.com/office/drawing/2014/main" id="{D00A73DD-A4AD-2E56-2E78-11F100DEBBF4}"/>
              </a:ext>
            </a:extLst>
          </p:cNvPr>
          <p:cNvSpPr txBox="1">
            <a:spLocks noChangeArrowheads="1"/>
          </p:cNvSpPr>
          <p:nvPr/>
        </p:nvSpPr>
        <p:spPr bwMode="auto">
          <a:xfrm>
            <a:off x="140669" y="662761"/>
            <a:ext cx="11541733" cy="603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000000"/>
                </a:solidFill>
                <a:effectLst/>
                <a:uLnTx/>
                <a:uFillTx/>
                <a:latin typeface="Tahoma"/>
                <a:ea typeface="+mn-ea"/>
                <a:cs typeface="+mn-cs"/>
              </a:rPr>
              <a:t>Εισαγωγή στην Κληρονομικότητα</a:t>
            </a: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b="1" kern="0" dirty="0">
                <a:solidFill>
                  <a:srgbClr val="000000"/>
                </a:solidFill>
                <a:latin typeface="Tahoma"/>
              </a:rPr>
              <a:t>Βασικές έννοιες</a:t>
            </a:r>
          </a:p>
          <a:p>
            <a:pPr lvl="1" indent="-342900" eaLnBrk="1" hangingPunct="1">
              <a:buClr>
                <a:srgbClr val="3333CC"/>
              </a:buClr>
              <a:buSzPct val="60000"/>
              <a:defRPr/>
            </a:pPr>
            <a:r>
              <a:rPr lang="el-GR" altLang="el-GR" sz="2400" kern="0" dirty="0">
                <a:solidFill>
                  <a:srgbClr val="000000"/>
                </a:solidFill>
                <a:latin typeface="Tahoma"/>
              </a:rPr>
              <a:t>Παράδειγμα Κληρονομικότητας (</a:t>
            </a:r>
            <a:r>
              <a:rPr lang="en-GB" altLang="el-GR" sz="2400" kern="0" dirty="0" err="1">
                <a:solidFill>
                  <a:srgbClr val="000000"/>
                </a:solidFill>
                <a:latin typeface="Tahoma"/>
              </a:rPr>
              <a:t>WindowsApp</a:t>
            </a:r>
            <a:r>
              <a:rPr lang="el-GR" altLang="el-GR" sz="2400" kern="0" dirty="0">
                <a:solidFill>
                  <a:srgbClr val="000000"/>
                </a:solidFill>
                <a:latin typeface="Tahoma"/>
              </a:rPr>
              <a:t>) </a:t>
            </a:r>
          </a:p>
          <a:p>
            <a:pPr lvl="1" indent="-342900" eaLnBrk="1" hangingPunct="1">
              <a:buClr>
                <a:srgbClr val="3333CC"/>
              </a:buClr>
              <a:buSzPct val="60000"/>
              <a:defRPr/>
            </a:pPr>
            <a:r>
              <a:rPr lang="en-GB" altLang="el-GR" sz="2400" kern="0" dirty="0">
                <a:solidFill>
                  <a:srgbClr val="000000"/>
                </a:solidFill>
                <a:latin typeface="Tahoma"/>
              </a:rPr>
              <a:t>Abstract </a:t>
            </a:r>
            <a:r>
              <a:rPr lang="el-GR" altLang="el-GR" sz="2400" kern="0" dirty="0">
                <a:solidFill>
                  <a:srgbClr val="000000"/>
                </a:solidFill>
                <a:latin typeface="Tahoma"/>
              </a:rPr>
              <a:t>μέθοδοι και </a:t>
            </a:r>
            <a:r>
              <a:rPr lang="en-GB" altLang="el-GR" sz="2400" kern="0" dirty="0">
                <a:solidFill>
                  <a:srgbClr val="000000"/>
                </a:solidFill>
                <a:latin typeface="Tahoma"/>
              </a:rPr>
              <a:t>Abstract</a:t>
            </a:r>
            <a:r>
              <a:rPr lang="el-GR" altLang="el-GR" sz="2400" kern="0" dirty="0">
                <a:solidFill>
                  <a:srgbClr val="000000"/>
                </a:solidFill>
                <a:latin typeface="Tahoma"/>
              </a:rPr>
              <a:t> κλάσεις</a:t>
            </a:r>
            <a:endParaRPr kumimoji="0" lang="en-US" altLang="el-GR" sz="24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altLang="el-GR" sz="2400" kern="0" dirty="0">
                <a:solidFill>
                  <a:srgbClr val="000000"/>
                </a:solidFill>
                <a:latin typeface="Tahoma"/>
              </a:rPr>
              <a:t>Shadowed variables-Overriding methods</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Πολλαπλή κληρονομικότητα (</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Multiple inheritance</a:t>
            </a:r>
            <a:r>
              <a:rPr kumimoji="0" lang="el-GR" altLang="el-GR" sz="3200" b="0" i="0" u="none" strike="noStrike" kern="0" cap="none" spc="0" normalizeH="0" baseline="0" noProof="0" dirty="0">
                <a:ln>
                  <a:noFill/>
                </a:ln>
                <a:solidFill>
                  <a:srgbClr val="000000"/>
                </a:solidFill>
                <a:effectLst/>
                <a:uLnTx/>
                <a:uFillTx/>
                <a:latin typeface="Tahoma"/>
                <a:ea typeface="+mn-ea"/>
                <a:cs typeface="+mn-cs"/>
              </a:rPr>
              <a:t>)</a:t>
            </a:r>
            <a:endParaRPr kumimoji="0" lang="en-US" altLang="el-GR" sz="32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Πολυμορφισμός (</a:t>
            </a:r>
            <a:r>
              <a:rPr kumimoji="0" lang="en-GB" altLang="el-GR" sz="3200" b="0" i="0" u="none" strike="noStrike" kern="0" cap="none" spc="0" normalizeH="0" baseline="0" noProof="0" dirty="0">
                <a:ln>
                  <a:noFill/>
                </a:ln>
                <a:solidFill>
                  <a:srgbClr val="000000"/>
                </a:solidFill>
                <a:effectLst/>
                <a:uLnTx/>
                <a:uFillTx/>
                <a:latin typeface="Tahoma"/>
                <a:ea typeface="+mn-ea"/>
                <a:cs typeface="+mn-cs"/>
              </a:rPr>
              <a:t>Polymorphism)</a:t>
            </a:r>
            <a:endParaRPr kumimoji="0" lang="el-GR" altLang="el-GR" sz="3200" b="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Πολυμορφισμός στην </a:t>
            </a:r>
            <a:r>
              <a:rPr lang="en-GB" altLang="el-GR" sz="2400" kern="0" dirty="0" err="1">
                <a:solidFill>
                  <a:srgbClr val="000000"/>
                </a:solidFill>
                <a:latin typeface="Tahoma"/>
              </a:rPr>
              <a:t>WindowsApp</a:t>
            </a:r>
            <a:endParaRPr lang="en-US" altLang="el-GR" sz="2400" kern="0" dirty="0">
              <a:solidFill>
                <a:srgbClr val="000000"/>
              </a:solidFill>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800" b="0" i="0" u="none" strike="noStrike" kern="0" cap="none" spc="0" normalizeH="0" baseline="0" noProof="0" dirty="0">
                <a:ln>
                  <a:noFill/>
                </a:ln>
                <a:solidFill>
                  <a:srgbClr val="000000"/>
                </a:solidFill>
                <a:effectLst/>
                <a:uLnTx/>
                <a:uFillTx/>
                <a:latin typeface="Tahoma"/>
                <a:ea typeface="+mn-ea"/>
                <a:cs typeface="+mn-cs"/>
              </a:rPr>
              <a:t>Building the inheritance tree</a:t>
            </a:r>
          </a:p>
          <a:p>
            <a:pPr marR="0" lvl="1" indent="-342900" eaLnBrk="1" hangingPunct="1">
              <a:lnSpc>
                <a:spcPct val="100000"/>
              </a:lnSpc>
              <a:buClr>
                <a:srgbClr val="3333CC"/>
              </a:buClr>
              <a:buSzPct val="60000"/>
              <a:tabLst/>
              <a:defRPr/>
            </a:pPr>
            <a:r>
              <a:rPr lang="en-GB" altLang="el-GR" sz="2400" kern="0" dirty="0">
                <a:solidFill>
                  <a:srgbClr val="000000"/>
                </a:solidFill>
                <a:latin typeface="Tahoma"/>
              </a:rPr>
              <a:t>Alternatives in writing a sub class</a:t>
            </a:r>
          </a:p>
          <a:p>
            <a:pPr marR="0" lvl="1" indent="-342900" eaLnBrk="1" hangingPunct="1">
              <a:lnSpc>
                <a:spcPct val="100000"/>
              </a:lnSpc>
              <a:buClr>
                <a:srgbClr val="3333CC"/>
              </a:buClr>
              <a:buSzPct val="60000"/>
              <a:tabLst/>
              <a:defRPr/>
            </a:pPr>
            <a:r>
              <a:rPr lang="en-US" altLang="el-GR" sz="2400" kern="0" dirty="0">
                <a:solidFill>
                  <a:srgbClr val="000000"/>
                </a:solidFill>
                <a:latin typeface="Tahoma"/>
              </a:rPr>
              <a:t>Access level modifiers</a:t>
            </a:r>
            <a:endParaRPr lang="en-GB" altLang="el-GR" sz="2400" kern="0" dirty="0">
              <a:solidFill>
                <a:srgbClr val="000000"/>
              </a:solidFill>
              <a:latin typeface="Tahoma"/>
            </a:endParaRPr>
          </a:p>
        </p:txBody>
      </p:sp>
      <p:sp>
        <p:nvSpPr>
          <p:cNvPr id="5" name="Θέση υποσέλιδου 4">
            <a:extLst>
              <a:ext uri="{FF2B5EF4-FFF2-40B4-BE49-F238E27FC236}">
                <a16:creationId xmlns:a16="http://schemas.microsoft.com/office/drawing/2014/main" id="{AEC04054-865D-3D4E-26D5-F1A509818855}"/>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21207112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Σχέση Γενίκευσης-Εξειδίκευσης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grpSp>
        <p:nvGrpSpPr>
          <p:cNvPr id="3" name="Group 11">
            <a:extLst>
              <a:ext uri="{FF2B5EF4-FFF2-40B4-BE49-F238E27FC236}">
                <a16:creationId xmlns:a16="http://schemas.microsoft.com/office/drawing/2014/main" id="{81AECD8C-196B-7542-110C-B2C06540D655}"/>
              </a:ext>
            </a:extLst>
          </p:cNvPr>
          <p:cNvGrpSpPr>
            <a:grpSpLocks/>
          </p:cNvGrpSpPr>
          <p:nvPr/>
        </p:nvGrpSpPr>
        <p:grpSpPr bwMode="auto">
          <a:xfrm>
            <a:off x="1498227" y="4404904"/>
            <a:ext cx="8305800" cy="1981200"/>
            <a:chOff x="152995" y="3573016"/>
            <a:chExt cx="8305800" cy="1981200"/>
          </a:xfrm>
        </p:grpSpPr>
        <p:sp>
          <p:nvSpPr>
            <p:cNvPr id="5" name="Rectangle 4">
              <a:extLst>
                <a:ext uri="{FF2B5EF4-FFF2-40B4-BE49-F238E27FC236}">
                  <a16:creationId xmlns:a16="http://schemas.microsoft.com/office/drawing/2014/main" id="{73430F4F-00EE-BD3E-0E2F-AA52BEDD4255}"/>
                </a:ext>
              </a:extLst>
            </p:cNvPr>
            <p:cNvSpPr>
              <a:spLocks noChangeArrowheads="1"/>
            </p:cNvSpPr>
            <p:nvPr/>
          </p:nvSpPr>
          <p:spPr bwMode="auto">
            <a:xfrm>
              <a:off x="2843808" y="3573016"/>
              <a:ext cx="3024187" cy="6096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1" i="0" u="none" strike="noStrike" kern="0" cap="none" spc="0" normalizeH="0" baseline="0" noProof="0" dirty="0">
                  <a:ln>
                    <a:noFill/>
                  </a:ln>
                  <a:solidFill>
                    <a:srgbClr val="FF0000"/>
                  </a:solidFill>
                  <a:effectLst/>
                  <a:uLnTx/>
                  <a:uFillTx/>
                  <a:latin typeface="Tahoma" panose="020B0604030504040204" pitchFamily="34" charset="0"/>
                </a:rPr>
                <a:t>Ηλεκτρική Συσκευή</a:t>
              </a:r>
              <a:endParaRPr kumimoji="0" lang="en-GB" altLang="el-GR" sz="2400" b="1"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7" name="Rectangle 5">
              <a:extLst>
                <a:ext uri="{FF2B5EF4-FFF2-40B4-BE49-F238E27FC236}">
                  <a16:creationId xmlns:a16="http://schemas.microsoft.com/office/drawing/2014/main" id="{387931EC-C3AF-96ED-0394-2F828CD8C959}"/>
                </a:ext>
              </a:extLst>
            </p:cNvPr>
            <p:cNvSpPr>
              <a:spLocks noChangeArrowheads="1"/>
            </p:cNvSpPr>
            <p:nvPr/>
          </p:nvSpPr>
          <p:spPr bwMode="auto">
            <a:xfrm>
              <a:off x="152995" y="5020816"/>
              <a:ext cx="3429000" cy="5334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rPr>
                <a:t>Φούρνος Μικροκυμάτων</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6">
              <a:extLst>
                <a:ext uri="{FF2B5EF4-FFF2-40B4-BE49-F238E27FC236}">
                  <a16:creationId xmlns:a16="http://schemas.microsoft.com/office/drawing/2014/main" id="{5FB77C7B-3171-D287-C050-31DC6B0438D7}"/>
                </a:ext>
              </a:extLst>
            </p:cNvPr>
            <p:cNvSpPr>
              <a:spLocks noChangeArrowheads="1"/>
            </p:cNvSpPr>
            <p:nvPr/>
          </p:nvSpPr>
          <p:spPr bwMode="auto">
            <a:xfrm>
              <a:off x="4039195" y="5020816"/>
              <a:ext cx="1371600" cy="5334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rPr>
                <a:t>Ψυγείο</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7">
              <a:extLst>
                <a:ext uri="{FF2B5EF4-FFF2-40B4-BE49-F238E27FC236}">
                  <a16:creationId xmlns:a16="http://schemas.microsoft.com/office/drawing/2014/main" id="{535E6288-5134-374E-89E1-34068E37D83B}"/>
                </a:ext>
              </a:extLst>
            </p:cNvPr>
            <p:cNvSpPr>
              <a:spLocks noChangeArrowheads="1"/>
            </p:cNvSpPr>
            <p:nvPr/>
          </p:nvSpPr>
          <p:spPr bwMode="auto">
            <a:xfrm>
              <a:off x="5791795" y="5020816"/>
              <a:ext cx="2667000" cy="5334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rPr>
                <a:t>Τοστιέρα</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Line 8">
              <a:extLst>
                <a:ext uri="{FF2B5EF4-FFF2-40B4-BE49-F238E27FC236}">
                  <a16:creationId xmlns:a16="http://schemas.microsoft.com/office/drawing/2014/main" id="{B6703F92-4793-89F5-4CAF-B871D758AF3D}"/>
                </a:ext>
              </a:extLst>
            </p:cNvPr>
            <p:cNvSpPr>
              <a:spLocks noChangeShapeType="1"/>
            </p:cNvSpPr>
            <p:nvPr/>
          </p:nvSpPr>
          <p:spPr bwMode="auto">
            <a:xfrm flipV="1">
              <a:off x="1676995" y="4182616"/>
              <a:ext cx="2362200" cy="83820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Line 9">
              <a:extLst>
                <a:ext uri="{FF2B5EF4-FFF2-40B4-BE49-F238E27FC236}">
                  <a16:creationId xmlns:a16="http://schemas.microsoft.com/office/drawing/2014/main" id="{561B9F45-FC5C-2C26-FD43-7893C29A4D67}"/>
                </a:ext>
              </a:extLst>
            </p:cNvPr>
            <p:cNvSpPr>
              <a:spLocks noChangeShapeType="1"/>
            </p:cNvSpPr>
            <p:nvPr/>
          </p:nvSpPr>
          <p:spPr bwMode="auto">
            <a:xfrm flipH="1" flipV="1">
              <a:off x="4343995" y="4182616"/>
              <a:ext cx="228600" cy="83820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Line 10">
              <a:extLst>
                <a:ext uri="{FF2B5EF4-FFF2-40B4-BE49-F238E27FC236}">
                  <a16:creationId xmlns:a16="http://schemas.microsoft.com/office/drawing/2014/main" id="{7A2FEDBE-2AED-6C78-0976-283BCD53AA53}"/>
                </a:ext>
              </a:extLst>
            </p:cNvPr>
            <p:cNvSpPr>
              <a:spLocks noChangeShapeType="1"/>
            </p:cNvSpPr>
            <p:nvPr/>
          </p:nvSpPr>
          <p:spPr bwMode="auto">
            <a:xfrm flipH="1" flipV="1">
              <a:off x="5105995" y="4182616"/>
              <a:ext cx="1752600" cy="83820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16" name="Text Box 11">
            <a:extLst>
              <a:ext uri="{FF2B5EF4-FFF2-40B4-BE49-F238E27FC236}">
                <a16:creationId xmlns:a16="http://schemas.microsoft.com/office/drawing/2014/main" id="{762E0D7C-9526-4E57-61F3-ADEB5235F60B}"/>
              </a:ext>
            </a:extLst>
          </p:cNvPr>
          <p:cNvSpPr txBox="1">
            <a:spLocks noChangeArrowheads="1"/>
          </p:cNvSpPr>
          <p:nvPr/>
        </p:nvSpPr>
        <p:spPr bwMode="auto">
          <a:xfrm>
            <a:off x="8706271" y="4737777"/>
            <a:ext cx="21955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2000" dirty="0" err="1">
                <a:solidFill>
                  <a:srgbClr val="800000"/>
                </a:solidFill>
                <a:latin typeface="Times New Roman" panose="02020603050405020304" pitchFamily="18" charset="0"/>
              </a:rPr>
              <a:t>Unified</a:t>
            </a:r>
            <a:r>
              <a:rPr lang="el-GR" altLang="el-GR" sz="2000" dirty="0">
                <a:solidFill>
                  <a:srgbClr val="800000"/>
                </a:solidFill>
                <a:latin typeface="Times New Roman" panose="02020603050405020304" pitchFamily="18" charset="0"/>
              </a:rPr>
              <a:t> </a:t>
            </a:r>
            <a:r>
              <a:rPr lang="el-GR" altLang="el-GR" sz="2000" dirty="0" err="1">
                <a:solidFill>
                  <a:srgbClr val="800000"/>
                </a:solidFill>
                <a:latin typeface="Times New Roman" panose="02020603050405020304" pitchFamily="18" charset="0"/>
              </a:rPr>
              <a:t>Modeling</a:t>
            </a:r>
            <a:r>
              <a:rPr lang="el-GR" altLang="el-GR" sz="2000" dirty="0">
                <a:solidFill>
                  <a:srgbClr val="800000"/>
                </a:solidFill>
                <a:latin typeface="Times New Roman" panose="02020603050405020304" pitchFamily="18" charset="0"/>
              </a:rPr>
              <a:t> </a:t>
            </a:r>
            <a:endParaRPr lang="en-US" altLang="el-GR" sz="2000" dirty="0">
              <a:solidFill>
                <a:srgbClr val="800000"/>
              </a:solidFill>
              <a:latin typeface="Times New Roman" panose="02020603050405020304" pitchFamily="18" charset="0"/>
            </a:endParaRPr>
          </a:p>
          <a:p>
            <a:pPr eaLnBrk="0" fontAlgn="base" hangingPunct="0">
              <a:spcBef>
                <a:spcPct val="0"/>
              </a:spcBef>
              <a:spcAft>
                <a:spcPct val="0"/>
              </a:spcAft>
              <a:buClrTx/>
              <a:buSzTx/>
              <a:buFontTx/>
              <a:buNone/>
            </a:pPr>
            <a:r>
              <a:rPr lang="el-GR" altLang="el-GR" sz="2000" dirty="0" err="1">
                <a:solidFill>
                  <a:srgbClr val="800000"/>
                </a:solidFill>
                <a:latin typeface="Times New Roman" panose="02020603050405020304" pitchFamily="18" charset="0"/>
              </a:rPr>
              <a:t>Language</a:t>
            </a:r>
            <a:r>
              <a:rPr lang="el-GR" altLang="el-GR" sz="2000" dirty="0">
                <a:solidFill>
                  <a:srgbClr val="800000"/>
                </a:solidFill>
                <a:latin typeface="Times New Roman" panose="02020603050405020304" pitchFamily="18" charset="0"/>
              </a:rPr>
              <a:t> (UML)</a:t>
            </a:r>
            <a:r>
              <a:rPr lang="el-GR" altLang="el-GR" sz="1800" dirty="0">
                <a:solidFill>
                  <a:srgbClr val="000000"/>
                </a:solidFill>
                <a:latin typeface="Times New Roman" panose="02020603050405020304" pitchFamily="18" charset="0"/>
              </a:rPr>
              <a:t> </a:t>
            </a:r>
            <a:r>
              <a:rPr lang="en-US" altLang="el-GR" sz="1800" dirty="0">
                <a:solidFill>
                  <a:srgbClr val="000000"/>
                </a:solidFill>
                <a:latin typeface="Times New Roman" panose="02020603050405020304" pitchFamily="18" charset="0"/>
              </a:rPr>
              <a:t> </a:t>
            </a:r>
            <a:endParaRPr lang="en-US" altLang="el-GR" sz="1600" dirty="0">
              <a:solidFill>
                <a:srgbClr val="000000"/>
              </a:solidFill>
              <a:latin typeface="Times New Roman Greek" panose="02020603050405020304" pitchFamily="18" charset="0"/>
            </a:endParaRPr>
          </a:p>
        </p:txBody>
      </p:sp>
      <p:pic>
        <p:nvPicPr>
          <p:cNvPr id="17" name="Picture 2">
            <a:extLst>
              <a:ext uri="{FF2B5EF4-FFF2-40B4-BE49-F238E27FC236}">
                <a16:creationId xmlns:a16="http://schemas.microsoft.com/office/drawing/2014/main" id="{6ED20824-C0A2-2804-620F-DDBBBF0887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035" y="838815"/>
            <a:ext cx="7297271" cy="3097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36159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κλάση </a:t>
            </a:r>
            <a:r>
              <a:rPr lang="en-GB" sz="4000" b="1" dirty="0" err="1">
                <a:solidFill>
                  <a:srgbClr val="F9853D"/>
                </a:solidFill>
                <a:latin typeface="Bahnschrift" panose="020B0502040204020203" pitchFamily="34" charset="0"/>
              </a:rPr>
              <a:t>GraphicCircle</a:t>
            </a:r>
            <a:r>
              <a:rPr lang="en-GB"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             </a:t>
            </a:r>
            <a:r>
              <a:rPr lang="en-GB"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κλάση </a:t>
            </a:r>
            <a:r>
              <a:rPr lang="en-GB" sz="4000" b="1" dirty="0">
                <a:solidFill>
                  <a:srgbClr val="F9853D"/>
                </a:solidFill>
                <a:latin typeface="Bahnschrift" panose="020B0502040204020203" pitchFamily="34" charset="0"/>
              </a:rPr>
              <a:t>Circle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Rectangle 3">
            <a:extLst>
              <a:ext uri="{FF2B5EF4-FFF2-40B4-BE49-F238E27FC236}">
                <a16:creationId xmlns:a16="http://schemas.microsoft.com/office/drawing/2014/main" id="{22B54D18-DE6D-A8E7-B610-8E72EC9C0F26}"/>
              </a:ext>
            </a:extLst>
          </p:cNvPr>
          <p:cNvSpPr txBox="1">
            <a:spLocks noChangeArrowheads="1"/>
          </p:cNvSpPr>
          <p:nvPr/>
        </p:nvSpPr>
        <p:spPr bwMode="auto">
          <a:xfrm>
            <a:off x="6791374" y="778900"/>
            <a:ext cx="5522260" cy="270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1" i="1" u="none" strike="noStrike" kern="0" cap="none" spc="0" normalizeH="0" baseline="0" noProof="0" dirty="0">
                <a:ln>
                  <a:noFill/>
                </a:ln>
                <a:solidFill>
                  <a:srgbClr val="3333CC"/>
                </a:solidFill>
                <a:effectLst/>
                <a:uLnTx/>
                <a:uFillTx/>
                <a:latin typeface="Tahoma"/>
              </a:rPr>
              <a:t>public class </a:t>
            </a:r>
            <a:r>
              <a:rPr kumimoji="0" lang="en-GB" altLang="el-GR" sz="2400" b="1" i="1" u="none" strike="noStrike" kern="0" cap="none" spc="0" normalizeH="0" baseline="0" noProof="0" dirty="0">
                <a:ln>
                  <a:noFill/>
                </a:ln>
                <a:solidFill>
                  <a:srgbClr val="FF0000"/>
                </a:solidFill>
                <a:effectLst/>
                <a:uLnTx/>
                <a:uFillTx/>
                <a:latin typeface="Tahoma"/>
              </a:rPr>
              <a:t>Circle</a:t>
            </a:r>
            <a:r>
              <a:rPr kumimoji="0" lang="en-GB" altLang="el-GR" sz="2400" b="1" i="1" u="none" strike="noStrike" kern="0" cap="none" spc="0" normalizeH="0" baseline="0" noProof="0" dirty="0">
                <a:ln>
                  <a:noFill/>
                </a:ln>
                <a:solidFill>
                  <a:srgbClr val="3333CC"/>
                </a:solidFill>
                <a:effectLst/>
                <a:uLnTx/>
                <a:uFillTx/>
                <a:latin typeface="Tahoma"/>
              </a:rPr>
              <a:t> {</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0" i="1" u="none" strike="noStrike" kern="0" cap="none" spc="0" normalizeH="0" baseline="0" noProof="0" dirty="0">
                <a:ln>
                  <a:noFill/>
                </a:ln>
                <a:solidFill>
                  <a:srgbClr val="000000"/>
                </a:solidFill>
                <a:effectLst/>
                <a:uLnTx/>
                <a:uFillTx/>
                <a:latin typeface="Tahoma"/>
              </a:rPr>
              <a:t>	</a:t>
            </a:r>
            <a:r>
              <a:rPr kumimoji="0" lang="en-GB" altLang="el-GR" sz="2400" b="0" i="1" u="none" strike="noStrike" kern="0" cap="none" spc="0" normalizeH="0" baseline="0" noProof="0" dirty="0">
                <a:ln>
                  <a:noFill/>
                </a:ln>
                <a:solidFill>
                  <a:srgbClr val="3333CC"/>
                </a:solidFill>
                <a:effectLst/>
                <a:uLnTx/>
                <a:uFillTx/>
                <a:latin typeface="Tahoma"/>
              </a:rPr>
              <a:t>public double </a:t>
            </a:r>
            <a:r>
              <a:rPr kumimoji="0" lang="en-GB" altLang="el-GR" sz="2400" b="0" i="1" u="none" strike="noStrike" kern="0" cap="none" spc="0" normalizeH="0" baseline="0" noProof="0" dirty="0" err="1">
                <a:ln>
                  <a:noFill/>
                </a:ln>
                <a:solidFill>
                  <a:srgbClr val="800000"/>
                </a:solidFill>
                <a:effectLst/>
                <a:uLnTx/>
                <a:uFillTx/>
                <a:latin typeface="Tahoma"/>
              </a:rPr>
              <a:t>x,y</a:t>
            </a:r>
            <a:r>
              <a:rPr kumimoji="0" lang="en-GB" altLang="el-GR" sz="2400" b="0" i="1" u="none" strike="noStrike" kern="0" cap="none" spc="0" normalizeH="0" baseline="0" noProof="0" dirty="0">
                <a:ln>
                  <a:noFill/>
                </a:ln>
                <a:solidFill>
                  <a:srgbClr val="3333CC"/>
                </a:solidFill>
                <a:effectLst/>
                <a:uLnTx/>
                <a:uFillTx/>
                <a:latin typeface="Tahoma"/>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0" i="1" u="none" strike="noStrike" kern="0" cap="none" spc="0" normalizeH="0" baseline="0" noProof="0" dirty="0">
                <a:ln>
                  <a:noFill/>
                </a:ln>
                <a:solidFill>
                  <a:srgbClr val="3333CC"/>
                </a:solidFill>
                <a:effectLst/>
                <a:uLnTx/>
                <a:uFillTx/>
                <a:latin typeface="Tahoma"/>
              </a:rPr>
              <a:t>	public double </a:t>
            </a:r>
            <a:r>
              <a:rPr kumimoji="0" lang="en-GB" altLang="el-GR" sz="2400" b="0" i="1" u="none" strike="noStrike" kern="0" cap="none" spc="0" normalizeH="0" baseline="0" noProof="0" dirty="0">
                <a:ln>
                  <a:noFill/>
                </a:ln>
                <a:solidFill>
                  <a:srgbClr val="800000"/>
                </a:solidFill>
                <a:effectLst/>
                <a:uLnTx/>
                <a:uFillTx/>
                <a:latin typeface="Tahoma"/>
              </a:rPr>
              <a:t>r</a:t>
            </a:r>
            <a:r>
              <a:rPr kumimoji="0" lang="en-GB" altLang="el-GR" sz="2400" b="0" i="1" u="none" strike="noStrike" kern="0" cap="none" spc="0" normalizeH="0" baseline="0" noProof="0" dirty="0">
                <a:ln>
                  <a:noFill/>
                </a:ln>
                <a:solidFill>
                  <a:srgbClr val="3333CC"/>
                </a:solidFill>
                <a:effectLst/>
                <a:uLnTx/>
                <a:uFillTx/>
                <a:latin typeface="Tahoma"/>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0" i="1" u="none" strike="noStrike" kern="0" cap="none" spc="0" normalizeH="0" baseline="0" noProof="0" dirty="0">
                <a:ln>
                  <a:noFill/>
                </a:ln>
                <a:solidFill>
                  <a:srgbClr val="000000"/>
                </a:solidFill>
                <a:effectLst/>
                <a:uLnTx/>
                <a:uFillTx/>
                <a:latin typeface="Tahoma"/>
              </a:rPr>
              <a:t>	</a:t>
            </a:r>
            <a:r>
              <a:rPr kumimoji="0" lang="en-GB" altLang="el-GR" sz="2400" b="0" i="1" u="none" strike="noStrike" kern="0" cap="none" spc="0" normalizeH="0" baseline="0" noProof="0" dirty="0">
                <a:ln>
                  <a:noFill/>
                </a:ln>
                <a:solidFill>
                  <a:srgbClr val="3333CC"/>
                </a:solidFill>
                <a:effectLst/>
                <a:uLnTx/>
                <a:uFillTx/>
                <a:latin typeface="Tahoma"/>
              </a:rPr>
              <a:t>public double </a:t>
            </a:r>
            <a:r>
              <a:rPr kumimoji="0" lang="en-GB" altLang="el-GR" sz="2400" b="1" i="1" u="none" strike="noStrike" kern="0" cap="none" spc="0" normalizeH="0" baseline="0" noProof="0" dirty="0">
                <a:ln>
                  <a:noFill/>
                </a:ln>
                <a:solidFill>
                  <a:srgbClr val="800000"/>
                </a:solidFill>
                <a:effectLst/>
                <a:uLnTx/>
                <a:uFillTx/>
                <a:latin typeface="Tahoma"/>
              </a:rPr>
              <a:t>circumference</a:t>
            </a:r>
            <a:r>
              <a:rPr kumimoji="0" lang="en-GB" altLang="el-GR" sz="2400" b="0" i="1" u="none" strike="noStrike" kern="0" cap="none" spc="0" normalizeH="0" baseline="0" noProof="0" dirty="0">
                <a:ln>
                  <a:noFill/>
                </a:ln>
                <a:solidFill>
                  <a:srgbClr val="3333CC"/>
                </a:solidFill>
                <a:effectLst/>
                <a:uLnTx/>
                <a:uFillTx/>
                <a:latin typeface="Tahoma"/>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0" i="1" u="none" strike="noStrike" kern="0" cap="none" spc="0" normalizeH="0" baseline="0" noProof="0" dirty="0">
                <a:ln>
                  <a:noFill/>
                </a:ln>
                <a:solidFill>
                  <a:srgbClr val="3333CC"/>
                </a:solidFill>
                <a:effectLst/>
                <a:uLnTx/>
                <a:uFillTx/>
                <a:latin typeface="Tahoma"/>
              </a:rPr>
              <a:t>			return 2*3,14*r;}</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0" i="1" u="none" strike="noStrike" kern="0" cap="none" spc="0" normalizeH="0" baseline="0" noProof="0" dirty="0">
                <a:ln>
                  <a:noFill/>
                </a:ln>
                <a:solidFill>
                  <a:srgbClr val="3333CC"/>
                </a:solidFill>
                <a:effectLst/>
                <a:uLnTx/>
                <a:uFillTx/>
                <a:latin typeface="Tahoma"/>
              </a:rPr>
              <a:t>	public double </a:t>
            </a:r>
            <a:r>
              <a:rPr kumimoji="0" lang="en-GB" altLang="el-GR" sz="2400" b="1" i="1" u="none" strike="noStrike" kern="0" cap="none" spc="0" normalizeH="0" baseline="0" noProof="0" dirty="0">
                <a:ln>
                  <a:noFill/>
                </a:ln>
                <a:solidFill>
                  <a:srgbClr val="800000"/>
                </a:solidFill>
                <a:effectLst/>
                <a:uLnTx/>
                <a:uFillTx/>
                <a:latin typeface="Tahoma"/>
              </a:rPr>
              <a:t>area</a:t>
            </a:r>
            <a:r>
              <a:rPr kumimoji="0" lang="en-GB" altLang="el-GR" sz="2400" b="0" i="1" u="none" strike="noStrike" kern="0" cap="none" spc="0" normalizeH="0" baseline="0" noProof="0" dirty="0">
                <a:ln>
                  <a:noFill/>
                </a:ln>
                <a:solidFill>
                  <a:srgbClr val="3333CC"/>
                </a:solidFill>
                <a:effectLst/>
                <a:uLnTx/>
                <a:uFillTx/>
                <a:latin typeface="Tahoma"/>
              </a:rPr>
              <a:t>() {</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0" i="1" u="none" strike="noStrike" kern="0" cap="none" spc="0" normalizeH="0" baseline="0" noProof="0" dirty="0">
                <a:ln>
                  <a:noFill/>
                </a:ln>
                <a:solidFill>
                  <a:srgbClr val="3333CC"/>
                </a:solidFill>
                <a:effectLst/>
                <a:uLnTx/>
                <a:uFillTx/>
                <a:latin typeface="Tahoma"/>
              </a:rPr>
              <a:t>			return 3.14*r*r;}</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400" b="0" i="1" u="none" strike="noStrike" kern="0" cap="none" spc="0" normalizeH="0" baseline="0" noProof="0" dirty="0">
                <a:ln>
                  <a:noFill/>
                </a:ln>
                <a:solidFill>
                  <a:srgbClr val="3333CC"/>
                </a:solidFill>
                <a:effectLst/>
                <a:uLnTx/>
                <a:uFillTx/>
                <a:latin typeface="Tahoma"/>
              </a:rPr>
              <a:t>	}</a:t>
            </a:r>
            <a:endParaRPr kumimoji="0" lang="en-GB" altLang="el-GR" sz="3200" b="0" i="1" u="none" strike="noStrike" kern="0" cap="none" spc="0" normalizeH="0" baseline="0" noProof="0" dirty="0">
              <a:ln>
                <a:noFill/>
              </a:ln>
              <a:solidFill>
                <a:srgbClr val="3333CC"/>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3600" b="0" i="0" u="none" strike="noStrike" kern="0" cap="none" spc="0" normalizeH="0" baseline="0" noProof="0" dirty="0">
              <a:ln>
                <a:noFill/>
              </a:ln>
              <a:solidFill>
                <a:srgbClr val="000000"/>
              </a:solidFill>
              <a:effectLst/>
              <a:uLnTx/>
              <a:uFillTx/>
              <a:latin typeface="Tahoma"/>
              <a:ea typeface="+mn-ea"/>
              <a:cs typeface="+mn-cs"/>
            </a:endParaRPr>
          </a:p>
        </p:txBody>
      </p:sp>
      <p:sp>
        <p:nvSpPr>
          <p:cNvPr id="6" name="Rectangle 3">
            <a:extLst>
              <a:ext uri="{FF2B5EF4-FFF2-40B4-BE49-F238E27FC236}">
                <a16:creationId xmlns:a16="http://schemas.microsoft.com/office/drawing/2014/main" id="{57CAB2BB-9165-BB04-91CD-DBE504F9B4E8}"/>
              </a:ext>
            </a:extLst>
          </p:cNvPr>
          <p:cNvSpPr txBox="1">
            <a:spLocks noChangeArrowheads="1"/>
          </p:cNvSpPr>
          <p:nvPr/>
        </p:nvSpPr>
        <p:spPr bwMode="auto">
          <a:xfrm>
            <a:off x="-466164" y="1057885"/>
            <a:ext cx="8839200" cy="270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3200" b="1" i="1" u="none" strike="noStrike" kern="0" cap="none" spc="0" normalizeH="0" baseline="0" noProof="0" dirty="0">
                <a:ln>
                  <a:noFill/>
                </a:ln>
                <a:solidFill>
                  <a:srgbClr val="3333CC"/>
                </a:solidFill>
                <a:effectLst/>
                <a:uLnTx/>
                <a:uFillTx/>
                <a:latin typeface="Tahoma"/>
              </a:rPr>
              <a:t>public class </a:t>
            </a:r>
            <a:r>
              <a:rPr kumimoji="0" lang="en-GB" altLang="el-GR" sz="3200" b="1" i="1" u="none" strike="noStrike" kern="0" cap="none" spc="0" normalizeH="0" baseline="0" noProof="0" dirty="0" err="1">
                <a:ln>
                  <a:noFill/>
                </a:ln>
                <a:solidFill>
                  <a:srgbClr val="FF0000"/>
                </a:solidFill>
                <a:effectLst/>
                <a:uLnTx/>
                <a:uFillTx/>
                <a:latin typeface="Tahoma"/>
              </a:rPr>
              <a:t>GraphicCircle</a:t>
            </a:r>
            <a:r>
              <a:rPr kumimoji="0" lang="en-GB" altLang="el-GR" sz="3200" b="1" i="1" u="none" strike="noStrike" kern="0" cap="none" spc="0" normalizeH="0" baseline="0" noProof="0" dirty="0">
                <a:ln>
                  <a:noFill/>
                </a:ln>
                <a:solidFill>
                  <a:srgbClr val="3333CC"/>
                </a:solidFill>
                <a:effectLst/>
                <a:uLnTx/>
                <a:uFillTx/>
                <a:latin typeface="Tahoma"/>
              </a:rPr>
              <a:t> {</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3200" b="0" i="1" u="none" strike="noStrike" kern="0" cap="none" spc="0" normalizeH="0" baseline="0" noProof="0" dirty="0">
                <a:ln>
                  <a:noFill/>
                </a:ln>
                <a:solidFill>
                  <a:srgbClr val="000000"/>
                </a:solidFill>
                <a:effectLst/>
                <a:uLnTx/>
                <a:uFillTx/>
                <a:latin typeface="Tahoma"/>
              </a:rPr>
              <a:t>		</a:t>
            </a:r>
            <a:r>
              <a:rPr kumimoji="0" lang="en-GB" altLang="el-GR" sz="3200" b="0" i="1" u="none" strike="noStrike" kern="0" cap="none" spc="0" normalizeH="0" baseline="0" noProof="0" dirty="0">
                <a:ln>
                  <a:noFill/>
                </a:ln>
                <a:solidFill>
                  <a:srgbClr val="B2B2B2"/>
                </a:solidFill>
                <a:effectLst/>
                <a:uLnTx/>
                <a:uFillTx/>
                <a:latin typeface="Tahoma"/>
              </a:rPr>
              <a:t>public double </a:t>
            </a:r>
            <a:r>
              <a:rPr kumimoji="0" lang="en-GB" altLang="el-GR" sz="3200" b="0" i="1" u="none" strike="noStrike" kern="0" cap="none" spc="0" normalizeH="0" baseline="0" noProof="0" dirty="0" err="1">
                <a:ln>
                  <a:noFill/>
                </a:ln>
                <a:solidFill>
                  <a:srgbClr val="B2B2B2"/>
                </a:solidFill>
                <a:effectLst/>
                <a:uLnTx/>
                <a:uFillTx/>
                <a:latin typeface="Tahoma"/>
              </a:rPr>
              <a:t>x,y</a:t>
            </a:r>
            <a:r>
              <a:rPr kumimoji="0" lang="en-GB" altLang="el-GR" sz="3200" b="0" i="1" u="none" strike="noStrike" kern="0" cap="none" spc="0" normalizeH="0" baseline="0" noProof="0" dirty="0">
                <a:ln>
                  <a:noFill/>
                </a:ln>
                <a:solidFill>
                  <a:srgbClr val="B2B2B2"/>
                </a:solidFill>
                <a:effectLst/>
                <a:uLnTx/>
                <a:uFillTx/>
                <a:latin typeface="Tahoma"/>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3200" b="0" i="1" u="none" strike="noStrike" kern="0" cap="none" spc="0" normalizeH="0" baseline="0" noProof="0" dirty="0">
                <a:ln>
                  <a:noFill/>
                </a:ln>
                <a:solidFill>
                  <a:srgbClr val="B2B2B2"/>
                </a:solidFill>
                <a:effectLst/>
                <a:uLnTx/>
                <a:uFillTx/>
                <a:latin typeface="Tahoma"/>
              </a:rPr>
              <a:t>	 public double r;</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32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3200" b="0" i="0" u="none" strike="noStrike" kern="0" cap="none" spc="0" normalizeH="0" baseline="0" noProof="0" dirty="0" err="1">
                <a:ln>
                  <a:noFill/>
                </a:ln>
                <a:solidFill>
                  <a:srgbClr val="800000"/>
                </a:solidFill>
                <a:effectLst/>
                <a:uLnTx/>
                <a:uFillTx/>
                <a:latin typeface="Tahoma"/>
                <a:ea typeface="+mn-ea"/>
                <a:cs typeface="+mn-cs"/>
              </a:rPr>
              <a:t>Color</a:t>
            </a:r>
            <a:r>
              <a:rPr kumimoji="0" lang="en-GB" altLang="el-GR" sz="3200" b="0" i="0" u="none" strike="noStrike" kern="0" cap="none" spc="0" normalizeH="0" baseline="0" noProof="0" dirty="0">
                <a:ln>
                  <a:noFill/>
                </a:ln>
                <a:solidFill>
                  <a:srgbClr val="800000"/>
                </a:solidFill>
                <a:effectLst/>
                <a:uLnTx/>
                <a:uFillTx/>
                <a:latin typeface="Tahoma"/>
                <a:ea typeface="+mn-ea"/>
                <a:cs typeface="+mn-cs"/>
              </a:rPr>
              <a:t> outline, fill;</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3600" b="0" i="1" u="none" strike="noStrike" kern="0" cap="none" spc="0" normalizeH="0" baseline="0" noProof="0" dirty="0">
                <a:ln>
                  <a:noFill/>
                </a:ln>
                <a:solidFill>
                  <a:srgbClr val="000000"/>
                </a:solidFill>
                <a:effectLst/>
                <a:uLnTx/>
                <a:uFillTx/>
                <a:latin typeface="Tahoma"/>
                <a:ea typeface="+mn-ea"/>
                <a:cs typeface="+mn-cs"/>
              </a:rPr>
              <a:t>	</a:t>
            </a:r>
            <a:r>
              <a:rPr kumimoji="0" lang="en-GB" altLang="el-GR" sz="3600" b="0" i="1" u="none" strike="noStrike" kern="0" cap="none" spc="0" normalizeH="0" baseline="0" noProof="0" dirty="0">
                <a:ln>
                  <a:noFill/>
                </a:ln>
                <a:solidFill>
                  <a:srgbClr val="B2B2B2"/>
                </a:solidFill>
                <a:effectLst/>
                <a:uLnTx/>
                <a:uFillTx/>
                <a:latin typeface="Tahoma"/>
                <a:ea typeface="+mn-ea"/>
                <a:cs typeface="+mn-cs"/>
              </a:rPr>
              <a:t>public double </a:t>
            </a:r>
            <a:r>
              <a:rPr kumimoji="0" lang="en-GB" altLang="el-GR" sz="3600" b="1" i="1" u="none" strike="noStrike" kern="0" cap="none" spc="0" normalizeH="0" baseline="0" noProof="0" dirty="0">
                <a:ln>
                  <a:noFill/>
                </a:ln>
                <a:solidFill>
                  <a:srgbClr val="B2B2B2"/>
                </a:solidFill>
                <a:effectLst/>
                <a:uLnTx/>
                <a:uFillTx/>
                <a:latin typeface="Tahoma"/>
                <a:ea typeface="+mn-ea"/>
                <a:cs typeface="+mn-cs"/>
              </a:rPr>
              <a:t>circumference</a:t>
            </a:r>
            <a:r>
              <a:rPr kumimoji="0" lang="en-GB" altLang="el-GR" sz="3600" b="0" i="1" u="none" strike="noStrike" kern="0" cap="none" spc="0" normalizeH="0" baseline="0" noProof="0" dirty="0">
                <a:ln>
                  <a:noFill/>
                </a:ln>
                <a:solidFill>
                  <a:srgbClr val="B2B2B2"/>
                </a:solidFill>
                <a:effectLst/>
                <a:uLnTx/>
                <a:uFillTx/>
                <a:latin typeface="Tahoma"/>
                <a:ea typeface="+mn-ea"/>
                <a:cs typeface="+mn-cs"/>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3200" b="0" i="1" u="none" strike="noStrike" kern="0" cap="none" spc="0" normalizeH="0" baseline="0" noProof="0" dirty="0">
                <a:ln>
                  <a:noFill/>
                </a:ln>
                <a:solidFill>
                  <a:srgbClr val="B2B2B2"/>
                </a:solidFill>
                <a:effectLst/>
                <a:uLnTx/>
                <a:uFillTx/>
                <a:latin typeface="Tahoma"/>
              </a:rPr>
              <a:t>			return 2*3,14*r;}</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3200" b="0" i="1" u="none" strike="noStrike" kern="0" cap="none" spc="0" normalizeH="0" baseline="0" noProof="0" dirty="0">
                <a:ln>
                  <a:noFill/>
                </a:ln>
                <a:solidFill>
                  <a:srgbClr val="B2B2B2"/>
                </a:solidFill>
                <a:effectLst/>
                <a:uLnTx/>
                <a:uFillTx/>
                <a:latin typeface="Tahoma"/>
              </a:rPr>
              <a:t>	public double </a:t>
            </a:r>
            <a:r>
              <a:rPr kumimoji="0" lang="en-GB" altLang="el-GR" sz="3200" b="1" i="1" u="none" strike="noStrike" kern="0" cap="none" spc="0" normalizeH="0" baseline="0" noProof="0" dirty="0">
                <a:ln>
                  <a:noFill/>
                </a:ln>
                <a:solidFill>
                  <a:srgbClr val="B2B2B2"/>
                </a:solidFill>
                <a:effectLst/>
                <a:uLnTx/>
                <a:uFillTx/>
                <a:latin typeface="Tahoma"/>
              </a:rPr>
              <a:t>area</a:t>
            </a:r>
            <a:r>
              <a:rPr kumimoji="0" lang="en-GB" altLang="el-GR" sz="3200" b="0" i="1" u="none" strike="noStrike" kern="0" cap="none" spc="0" normalizeH="0" baseline="0" noProof="0" dirty="0">
                <a:ln>
                  <a:noFill/>
                </a:ln>
                <a:solidFill>
                  <a:srgbClr val="B2B2B2"/>
                </a:solidFill>
                <a:effectLst/>
                <a:uLnTx/>
                <a:uFillTx/>
                <a:latin typeface="Tahoma"/>
              </a:rPr>
              <a:t>() {</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3200" b="0" i="1" u="none" strike="noStrike" kern="0" cap="none" spc="0" normalizeH="0" baseline="0" noProof="0" dirty="0">
                <a:ln>
                  <a:noFill/>
                </a:ln>
                <a:solidFill>
                  <a:srgbClr val="B2B2B2"/>
                </a:solidFill>
                <a:effectLst/>
                <a:uLnTx/>
                <a:uFillTx/>
                <a:latin typeface="Tahoma"/>
              </a:rPr>
              <a:t>			return 3.14*r*r;}</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rPr>
              <a:t>	</a:t>
            </a:r>
            <a:r>
              <a:rPr kumimoji="0" lang="en-GB" altLang="el-GR" sz="2800" b="0" i="0" u="none" strike="noStrike" kern="0" cap="none" spc="0" normalizeH="0" baseline="0" noProof="0" dirty="0">
                <a:ln>
                  <a:noFill/>
                </a:ln>
                <a:solidFill>
                  <a:srgbClr val="800000"/>
                </a:solidFill>
                <a:effectLst/>
                <a:uLnTx/>
                <a:uFillTx/>
                <a:latin typeface="Tahoma"/>
              </a:rPr>
              <a:t>public void draw(...)</a:t>
            </a:r>
            <a:r>
              <a:rPr kumimoji="0" lang="en-GB" altLang="el-GR" sz="2800" b="0" i="0" u="none" strike="noStrike" kern="0" cap="none" spc="0" normalizeH="0" baseline="0" noProof="0" dirty="0">
                <a:ln>
                  <a:noFill/>
                </a:ln>
                <a:solidFill>
                  <a:srgbClr val="000000"/>
                </a:solidFill>
                <a:effectLst/>
                <a:uLnTx/>
                <a:uFillTx/>
                <a:latin typeface="Tahoma"/>
              </a:rPr>
              <a:t> {  .................}</a:t>
            </a:r>
            <a:endParaRPr kumimoji="0" lang="en-GB" altLang="el-GR" sz="3200" b="0" i="1" u="none" strike="noStrike" kern="0" cap="none" spc="0" normalizeH="0" baseline="0" noProof="0" dirty="0">
              <a:ln>
                <a:noFill/>
              </a:ln>
              <a:solidFill>
                <a:srgbClr val="3333CC"/>
              </a:solidFill>
              <a:effectLst/>
              <a:uLnTx/>
              <a:uFillTx/>
              <a:latin typeface="Tahoma"/>
            </a:endParaRP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3200" b="0" i="1" u="none" strike="noStrike" kern="0" cap="none" spc="0" normalizeH="0" baseline="0" noProof="0" dirty="0">
                <a:ln>
                  <a:noFill/>
                </a:ln>
                <a:solidFill>
                  <a:srgbClr val="3333CC"/>
                </a:solidFill>
                <a:effectLst/>
                <a:uLnTx/>
                <a:uFillTx/>
                <a:latin typeface="Tahoma"/>
              </a:rPr>
              <a:t>	}</a:t>
            </a:r>
            <a:endParaRPr kumimoji="0" lang="en-GB" altLang="el-GR" sz="4000" b="0" i="1" u="none" strike="noStrike" kern="0" cap="none" spc="0" normalizeH="0" baseline="0" noProof="0" dirty="0">
              <a:ln>
                <a:noFill/>
              </a:ln>
              <a:solidFill>
                <a:srgbClr val="3333CC"/>
              </a:solidFill>
              <a:effectLst/>
              <a:uLnTx/>
              <a:uFillTx/>
              <a:latin typeface="Tahoma"/>
            </a:endParaRPr>
          </a:p>
        </p:txBody>
      </p:sp>
      <p:sp>
        <p:nvSpPr>
          <p:cNvPr id="3" name="Θέση υποσέλιδου 4">
            <a:extLst>
              <a:ext uri="{FF2B5EF4-FFF2-40B4-BE49-F238E27FC236}">
                <a16:creationId xmlns:a16="http://schemas.microsoft.com/office/drawing/2014/main" id="{F359EE66-C250-B706-B425-FBA15BAEAC8E}"/>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297097408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blinds(horizontal)">
                                      <p:cBhvr>
                                        <p:cTn id="16" dur="500"/>
                                        <p:tgtEl>
                                          <p:spTgt spid="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blinds(horizontal)">
                                      <p:cBhvr>
                                        <p:cTn id="19" dur="500"/>
                                        <p:tgtEl>
                                          <p:spTgt spid="5">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blinds(horizontal)">
                                      <p:cBhvr>
                                        <p:cTn id="22" dur="500"/>
                                        <p:tgtEl>
                                          <p:spTgt spid="5">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blinds(horizontal)">
                                      <p:cBhvr>
                                        <p:cTn id="25" dur="500"/>
                                        <p:tgtEl>
                                          <p:spTgt spid="5">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blinds(horizontal)">
                                      <p:cBhvr>
                                        <p:cTn id="28" dur="500"/>
                                        <p:tgtEl>
                                          <p:spTgt spid="5">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animEffect transition="in" filter="blinds(horizontal)">
                                      <p:cBhvr>
                                        <p:cTn id="33" dur="500"/>
                                        <p:tgtEl>
                                          <p:spTgt spid="6">
                                            <p:txEl>
                                              <p:pRg st="0" end="0"/>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blinds(horizontal)">
                                      <p:cBhvr>
                                        <p:cTn id="36" dur="500"/>
                                        <p:tgtEl>
                                          <p:spTgt spid="6">
                                            <p:txEl>
                                              <p:pRg st="1" end="1"/>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animEffect transition="in" filter="blinds(horizontal)">
                                      <p:cBhvr>
                                        <p:cTn id="39" dur="500"/>
                                        <p:tgtEl>
                                          <p:spTgt spid="6">
                                            <p:txEl>
                                              <p:pRg st="2" end="2"/>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blinds(horizontal)">
                                      <p:cBhvr>
                                        <p:cTn id="42" dur="500"/>
                                        <p:tgtEl>
                                          <p:spTgt spid="6">
                                            <p:txEl>
                                              <p:pRg st="3" end="3"/>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animEffect transition="in" filter="blinds(horizontal)">
                                      <p:cBhvr>
                                        <p:cTn id="45" dur="500"/>
                                        <p:tgtEl>
                                          <p:spTgt spid="6">
                                            <p:txEl>
                                              <p:pRg st="4" end="4"/>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6">
                                            <p:txEl>
                                              <p:pRg st="5" end="5"/>
                                            </p:txEl>
                                          </p:spTgt>
                                        </p:tgtEl>
                                        <p:attrNameLst>
                                          <p:attrName>style.visibility</p:attrName>
                                        </p:attrNameLst>
                                      </p:cBhvr>
                                      <p:to>
                                        <p:strVal val="visible"/>
                                      </p:to>
                                    </p:set>
                                    <p:animEffect transition="in" filter="blinds(horizontal)">
                                      <p:cBhvr>
                                        <p:cTn id="48" dur="500"/>
                                        <p:tgtEl>
                                          <p:spTgt spid="6">
                                            <p:txEl>
                                              <p:pRg st="5" end="5"/>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6">
                                            <p:txEl>
                                              <p:pRg st="6" end="6"/>
                                            </p:txEl>
                                          </p:spTgt>
                                        </p:tgtEl>
                                        <p:attrNameLst>
                                          <p:attrName>style.visibility</p:attrName>
                                        </p:attrNameLst>
                                      </p:cBhvr>
                                      <p:to>
                                        <p:strVal val="visible"/>
                                      </p:to>
                                    </p:set>
                                    <p:animEffect transition="in" filter="blinds(horizontal)">
                                      <p:cBhvr>
                                        <p:cTn id="51" dur="500"/>
                                        <p:tgtEl>
                                          <p:spTgt spid="6">
                                            <p:txEl>
                                              <p:pRg st="6" end="6"/>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6">
                                            <p:txEl>
                                              <p:pRg st="7" end="7"/>
                                            </p:txEl>
                                          </p:spTgt>
                                        </p:tgtEl>
                                        <p:attrNameLst>
                                          <p:attrName>style.visibility</p:attrName>
                                        </p:attrNameLst>
                                      </p:cBhvr>
                                      <p:to>
                                        <p:strVal val="visible"/>
                                      </p:to>
                                    </p:set>
                                    <p:animEffect transition="in" filter="blinds(horizontal)">
                                      <p:cBhvr>
                                        <p:cTn id="54" dur="500"/>
                                        <p:tgtEl>
                                          <p:spTgt spid="6">
                                            <p:txEl>
                                              <p:pRg st="7" end="7"/>
                                            </p:txEl>
                                          </p:spTgt>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6">
                                            <p:txEl>
                                              <p:pRg st="8" end="8"/>
                                            </p:txEl>
                                          </p:spTgt>
                                        </p:tgtEl>
                                        <p:attrNameLst>
                                          <p:attrName>style.visibility</p:attrName>
                                        </p:attrNameLst>
                                      </p:cBhvr>
                                      <p:to>
                                        <p:strVal val="visible"/>
                                      </p:to>
                                    </p:set>
                                    <p:animEffect transition="in" filter="blinds(horizontal)">
                                      <p:cBhvr>
                                        <p:cTn id="57" dur="500"/>
                                        <p:tgtEl>
                                          <p:spTgt spid="6">
                                            <p:txEl>
                                              <p:pRg st="8" end="8"/>
                                            </p:txEl>
                                          </p:spTgt>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6">
                                            <p:txEl>
                                              <p:pRg st="9" end="9"/>
                                            </p:txEl>
                                          </p:spTgt>
                                        </p:tgtEl>
                                        <p:attrNameLst>
                                          <p:attrName>style.visibility</p:attrName>
                                        </p:attrNameLst>
                                      </p:cBhvr>
                                      <p:to>
                                        <p:strVal val="visible"/>
                                      </p:to>
                                    </p:set>
                                    <p:animEffect transition="in" filter="blinds(horizontal)">
                                      <p:cBhvr>
                                        <p:cTn id="60"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Ορισμός ως </a:t>
            </a:r>
            <a:r>
              <a:rPr lang="el-GR" sz="4000" b="1" dirty="0" err="1">
                <a:solidFill>
                  <a:srgbClr val="F9853D"/>
                </a:solidFill>
                <a:latin typeface="Bahnschrift" panose="020B0502040204020203" pitchFamily="34" charset="0"/>
              </a:rPr>
              <a:t>απόγονης</a:t>
            </a:r>
            <a:r>
              <a:rPr lang="el-GR" sz="4000" b="1" dirty="0">
                <a:solidFill>
                  <a:srgbClr val="F9853D"/>
                </a:solidFill>
                <a:latin typeface="Bahnschrift" panose="020B0502040204020203" pitchFamily="34" charset="0"/>
              </a:rPr>
              <a:t> κλάσης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3">
            <a:extLst>
              <a:ext uri="{FF2B5EF4-FFF2-40B4-BE49-F238E27FC236}">
                <a16:creationId xmlns:a16="http://schemas.microsoft.com/office/drawing/2014/main" id="{89CDE680-1498-5EB6-54F2-7F5F697A2E95}"/>
              </a:ext>
            </a:extLst>
          </p:cNvPr>
          <p:cNvSpPr txBox="1">
            <a:spLocks noChangeArrowheads="1"/>
          </p:cNvSpPr>
          <p:nvPr/>
        </p:nvSpPr>
        <p:spPr bwMode="auto">
          <a:xfrm>
            <a:off x="376735" y="987384"/>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400" b="0" i="0" u="none" strike="noStrike" kern="0" cap="none" spc="0" normalizeH="0" baseline="0" noProof="0" dirty="0">
                <a:ln>
                  <a:noFill/>
                </a:ln>
                <a:solidFill>
                  <a:srgbClr val="000000"/>
                </a:solidFill>
                <a:effectLst/>
                <a:uLnTx/>
                <a:uFillTx/>
                <a:latin typeface="Tahoma"/>
                <a:ea typeface="+mn-ea"/>
                <a:cs typeface="+mn-cs"/>
              </a:rPr>
              <a:t>public class </a:t>
            </a:r>
            <a:r>
              <a:rPr kumimoji="0" lang="en-GB" altLang="el-GR" sz="2400" b="0" i="0" u="none" strike="noStrike" kern="0" cap="none" spc="0" normalizeH="0" baseline="0" noProof="0" dirty="0" err="1">
                <a:ln>
                  <a:noFill/>
                </a:ln>
                <a:solidFill>
                  <a:srgbClr val="000000"/>
                </a:solidFill>
                <a:effectLst/>
                <a:uLnTx/>
                <a:uFillTx/>
                <a:latin typeface="Tahoma"/>
                <a:ea typeface="+mn-ea"/>
                <a:cs typeface="+mn-cs"/>
              </a:rPr>
              <a:t>GraphicCircle</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1" i="0" u="none" strike="noStrike" kern="0" cap="none" spc="0" normalizeH="0" baseline="0" noProof="0" dirty="0">
                <a:ln>
                  <a:noFill/>
                </a:ln>
                <a:solidFill>
                  <a:srgbClr val="FF0000"/>
                </a:solidFill>
                <a:effectLst/>
                <a:uLnTx/>
                <a:uFillTx/>
                <a:latin typeface="Tahoma"/>
                <a:ea typeface="+mn-ea"/>
                <a:cs typeface="+mn-cs"/>
              </a:rPr>
              <a:t>extends</a:t>
            </a:r>
            <a:r>
              <a:rPr kumimoji="0" lang="en-GB" altLang="el-GR" sz="2400" b="1"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Circle {</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0" i="0" u="none" strike="noStrike" kern="0" cap="none" spc="0" normalizeH="0" baseline="0" noProof="0" dirty="0" err="1">
                <a:ln>
                  <a:noFill/>
                </a:ln>
                <a:solidFill>
                  <a:srgbClr val="000000"/>
                </a:solidFill>
                <a:effectLst/>
                <a:uLnTx/>
                <a:uFillTx/>
                <a:latin typeface="Tahoma"/>
                <a:ea typeface="+mn-ea"/>
                <a:cs typeface="+mn-cs"/>
              </a:rPr>
              <a:t>Color</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outline, fill;</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public void draw(...) {  .................}</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en-GB"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GraphicCircle</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gc</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 new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GraphicCircle</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double area =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gc.area</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en-GB" altLang="el-GR" sz="28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en-US"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en-US"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Circle </a:t>
            </a:r>
            <a:r>
              <a:rPr kumimoji="0" lang="en-GB" altLang="el-GR" sz="2800" b="1" i="0" u="none" strike="noStrike" kern="0" cap="none" spc="0" normalizeH="0" baseline="0" noProof="0" dirty="0">
                <a:ln>
                  <a:noFill/>
                </a:ln>
                <a:solidFill>
                  <a:srgbClr val="FF0000"/>
                </a:solidFill>
                <a:effectLst/>
                <a:uLnTx/>
                <a:uFillTx/>
                <a:latin typeface="Tahoma"/>
                <a:ea typeface="+mn-ea"/>
                <a:cs typeface="+mn-cs"/>
              </a:rPr>
              <a:t>c</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 </a:t>
            </a:r>
            <a:r>
              <a:rPr kumimoji="0" lang="en-GB" altLang="el-GR" sz="2800" b="0" i="0" u="none" strike="noStrike" kern="0" cap="none" spc="0" normalizeH="0" baseline="0" noProof="0" dirty="0" err="1">
                <a:ln>
                  <a:noFill/>
                </a:ln>
                <a:solidFill>
                  <a:srgbClr val="000000"/>
                </a:solidFill>
                <a:effectLst/>
                <a:uLnTx/>
                <a:uFillTx/>
                <a:latin typeface="Tahoma"/>
                <a:ea typeface="+mn-ea"/>
                <a:cs typeface="+mn-cs"/>
              </a:rPr>
              <a:t>gc</a:t>
            </a:r>
            <a:r>
              <a:rPr kumimoji="0" lang="en-GB" altLang="el-GR" sz="2800" b="0" i="0" u="none" strike="noStrike" kern="0" cap="none" spc="0" normalizeH="0" baseline="0" noProof="0" dirty="0">
                <a:ln>
                  <a:noFill/>
                </a:ln>
                <a:solidFill>
                  <a:srgbClr val="000000"/>
                </a:solidFill>
                <a:effectLst/>
                <a:uLnTx/>
                <a:uFillTx/>
                <a:latin typeface="Tahoma"/>
                <a:ea typeface="+mn-ea"/>
                <a:cs typeface="+mn-cs"/>
              </a:rPr>
              <a:t>;</a:t>
            </a:r>
            <a:endParaRPr kumimoji="0" lang="en-GB" altLang="el-GR" sz="2800" b="0" i="0" u="none" strike="noStrike" kern="0" cap="none" spc="0" normalizeH="0" baseline="0" noProof="0" dirty="0">
              <a:ln>
                <a:noFill/>
              </a:ln>
              <a:solidFill>
                <a:srgbClr val="000000"/>
              </a:solidFill>
              <a:effectLst/>
              <a:uLnTx/>
              <a:uFillTx/>
              <a:latin typeface="Times New Roman Greek" panose="02020603050405020304" pitchFamily="18" charset="0"/>
              <a:ea typeface="+mn-ea"/>
              <a:cs typeface="+mn-cs"/>
            </a:endParaRPr>
          </a:p>
        </p:txBody>
      </p:sp>
      <p:sp>
        <p:nvSpPr>
          <p:cNvPr id="6" name="Rectangle 5">
            <a:extLst>
              <a:ext uri="{FF2B5EF4-FFF2-40B4-BE49-F238E27FC236}">
                <a16:creationId xmlns:a16="http://schemas.microsoft.com/office/drawing/2014/main" id="{1197E6EC-1FC6-3F02-A5C1-2443C3BF5997}"/>
              </a:ext>
            </a:extLst>
          </p:cNvPr>
          <p:cNvSpPr/>
          <p:nvPr/>
        </p:nvSpPr>
        <p:spPr bwMode="auto">
          <a:xfrm>
            <a:off x="8149135" y="5326679"/>
            <a:ext cx="4042864" cy="1189672"/>
          </a:xfrm>
          <a:prstGeom prst="rect">
            <a:avLst/>
          </a:prstGeom>
          <a:solidFill>
            <a:srgbClr val="00E4A8">
              <a:lumMod val="20000"/>
              <a:lumOff val="80000"/>
            </a:srgb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1" u="none" strike="noStrike" kern="0" cap="none" spc="0" normalizeH="0" baseline="0" noProof="0" dirty="0">
                <a:ln>
                  <a:noFill/>
                </a:ln>
                <a:solidFill>
                  <a:srgbClr val="000000"/>
                </a:solidFill>
                <a:effectLst/>
                <a:uLnTx/>
                <a:uFillTx/>
                <a:latin typeface="Tahoma" panose="020B0604030504040204" pitchFamily="34" charset="0"/>
              </a:rPr>
              <a:t>Python</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class </a:t>
            </a:r>
            <a:r>
              <a:rPr kumimoji="0" lang="en-GB" altLang="el-GR" sz="2400" b="0" i="0" u="none" strike="noStrike" kern="0" cap="none" spc="0" normalizeH="0" baseline="0" noProof="0" dirty="0" err="1">
                <a:ln>
                  <a:noFill/>
                </a:ln>
                <a:solidFill>
                  <a:srgbClr val="000000"/>
                </a:solidFill>
                <a:effectLst/>
                <a:uLnTx/>
                <a:uFillTx/>
                <a:latin typeface="Tahoma" panose="020B0604030504040204" pitchFamily="34" charset="0"/>
              </a:rPr>
              <a:t>GraphicCircle</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rPr>
              <a:t>Circle</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     pass</a:t>
            </a: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7" name="Callout: Line 6">
            <a:extLst>
              <a:ext uri="{FF2B5EF4-FFF2-40B4-BE49-F238E27FC236}">
                <a16:creationId xmlns:a16="http://schemas.microsoft.com/office/drawing/2014/main" id="{CE8A6825-EA52-422E-6475-9341906F4FAC}"/>
              </a:ext>
            </a:extLst>
          </p:cNvPr>
          <p:cNvSpPr/>
          <p:nvPr/>
        </p:nvSpPr>
        <p:spPr>
          <a:xfrm>
            <a:off x="5433646" y="4237892"/>
            <a:ext cx="6381619" cy="947336"/>
          </a:xfrm>
          <a:prstGeom prst="borderCallout1">
            <a:avLst>
              <a:gd name="adj1" fmla="val 50321"/>
              <a:gd name="adj2" fmla="val 149"/>
              <a:gd name="adj3" fmla="val 115189"/>
              <a:gd name="adj4" fmla="val -42048"/>
            </a:avLst>
          </a:prstGeom>
          <a:solidFill>
            <a:schemeClr val="accent6">
              <a:lumMod val="75000"/>
            </a:schemeClr>
          </a:solidFill>
          <a:ln w="571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κάθε</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a:t>
            </a:r>
            <a:r>
              <a:rPr kumimoji="0" lang="el-GR" altLang="el-GR" sz="2400" b="0" i="0" u="none" strike="noStrike" kern="0" cap="none" spc="0" normalizeH="0" baseline="0" noProof="0" dirty="0">
                <a:ln>
                  <a:noFill/>
                </a:ln>
                <a:solidFill>
                  <a:schemeClr val="bg1"/>
                </a:solidFill>
                <a:effectLst/>
                <a:uLnTx/>
                <a:uFillTx/>
                <a:latin typeface="Times New Roman" panose="02020603050405020304" pitchFamily="18" charset="0"/>
              </a:rPr>
              <a:t>στιγμιότυπο</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a:t>
            </a: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της</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υπ</a:t>
            </a: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οκλάσης</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μπ</a:t>
            </a: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ορεί</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να </a:t>
            </a: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θεωρηθεί</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και </a:t>
            </a:r>
            <a:r>
              <a:rPr kumimoji="0" lang="el-GR" altLang="el-GR" sz="2400" b="0" i="0" u="none" strike="noStrike" kern="0" cap="none" spc="0" normalizeH="0" baseline="0" noProof="0" dirty="0">
                <a:ln>
                  <a:noFill/>
                </a:ln>
                <a:solidFill>
                  <a:schemeClr val="bg1"/>
                </a:solidFill>
                <a:effectLst/>
                <a:uLnTx/>
                <a:uFillTx/>
                <a:latin typeface="Times New Roman" panose="02020603050405020304" pitchFamily="18" charset="0"/>
              </a:rPr>
              <a:t>στιγμιότυπο</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a:t>
            </a: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της</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π</a:t>
            </a: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ρόγονης</a:t>
            </a:r>
            <a:r>
              <a:rPr kumimoji="0" lang="en-GB" altLang="el-GR" sz="2400" b="0" i="0" u="none" strike="noStrike" kern="0" cap="none" spc="0" normalizeH="0" baseline="0" noProof="0" dirty="0">
                <a:ln>
                  <a:noFill/>
                </a:ln>
                <a:solidFill>
                  <a:schemeClr val="bg1"/>
                </a:solidFill>
                <a:effectLst/>
                <a:uLnTx/>
                <a:uFillTx/>
                <a:latin typeface="Times New Roman" panose="02020603050405020304" pitchFamily="18" charset="0"/>
              </a:rPr>
              <a:t> </a:t>
            </a:r>
            <a:r>
              <a:rPr kumimoji="0" lang="en-GB" altLang="el-GR" sz="2400" b="0" i="0" u="none" strike="noStrike" kern="0" cap="none" spc="0" normalizeH="0" baseline="0" noProof="0" dirty="0" err="1">
                <a:ln>
                  <a:noFill/>
                </a:ln>
                <a:solidFill>
                  <a:schemeClr val="bg1"/>
                </a:solidFill>
                <a:effectLst/>
                <a:uLnTx/>
                <a:uFillTx/>
                <a:latin typeface="Times New Roman" panose="02020603050405020304" pitchFamily="18" charset="0"/>
              </a:rPr>
              <a:t>κλάσης</a:t>
            </a:r>
            <a:endParaRPr lang="en-GB" sz="2400" dirty="0">
              <a:solidFill>
                <a:schemeClr val="bg1"/>
              </a:solidFill>
            </a:endParaRPr>
          </a:p>
        </p:txBody>
      </p:sp>
      <p:sp>
        <p:nvSpPr>
          <p:cNvPr id="5" name="Θέση υποσέλιδου 4">
            <a:extLst>
              <a:ext uri="{FF2B5EF4-FFF2-40B4-BE49-F238E27FC236}">
                <a16:creationId xmlns:a16="http://schemas.microsoft.com/office/drawing/2014/main" id="{F4B59A64-30E7-9920-53A2-FDE704FDA13E}"/>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203552258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blinds(horizontal)">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Subclass constructor - Super</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Rectangle 3">
            <a:extLst>
              <a:ext uri="{FF2B5EF4-FFF2-40B4-BE49-F238E27FC236}">
                <a16:creationId xmlns:a16="http://schemas.microsoft.com/office/drawing/2014/main" id="{4ECAEFCE-9845-7096-D3E0-B48272F3339D}"/>
              </a:ext>
            </a:extLst>
          </p:cNvPr>
          <p:cNvSpPr txBox="1">
            <a:spLocks noChangeArrowheads="1"/>
          </p:cNvSpPr>
          <p:nvPr/>
        </p:nvSpPr>
        <p:spPr bwMode="auto">
          <a:xfrm>
            <a:off x="0" y="1125696"/>
            <a:ext cx="7772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GB" altLang="el-GR" sz="2400" b="0" i="0" u="none" strike="noStrike" kern="0" cap="none" spc="0" normalizeH="0" baseline="0" noProof="0" dirty="0">
                <a:ln>
                  <a:noFill/>
                </a:ln>
                <a:solidFill>
                  <a:srgbClr val="000000"/>
                </a:solidFill>
                <a:effectLst/>
                <a:uLnTx/>
                <a:uFillTx/>
                <a:latin typeface="Tahoma"/>
                <a:ea typeface="+mn-ea"/>
                <a:cs typeface="+mn-cs"/>
              </a:rPr>
              <a:t>public </a:t>
            </a:r>
            <a:r>
              <a:rPr kumimoji="0" lang="en-GB" altLang="el-GR" sz="2400" b="0" i="0" u="none" strike="noStrike" kern="0" cap="none" spc="0" normalizeH="0" baseline="0" noProof="0" dirty="0" err="1">
                <a:ln>
                  <a:noFill/>
                </a:ln>
                <a:solidFill>
                  <a:srgbClr val="000000"/>
                </a:solidFill>
                <a:effectLst/>
                <a:uLnTx/>
                <a:uFillTx/>
                <a:latin typeface="Tahoma"/>
                <a:ea typeface="+mn-ea"/>
                <a:cs typeface="+mn-cs"/>
              </a:rPr>
              <a:t>GraphicCircle</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(double x, double y, double r, </a:t>
            </a:r>
            <a:r>
              <a:rPr kumimoji="0" lang="en-GB" altLang="el-GR" sz="2400" b="0" i="0" u="none" strike="noStrike" kern="0" cap="none" spc="0" normalizeH="0" baseline="0" noProof="0" dirty="0" err="1">
                <a:ln>
                  <a:noFill/>
                </a:ln>
                <a:solidFill>
                  <a:srgbClr val="000000"/>
                </a:solidFill>
                <a:effectLst/>
                <a:uLnTx/>
                <a:uFillTx/>
                <a:latin typeface="Tahoma"/>
                <a:ea typeface="+mn-ea"/>
                <a:cs typeface="+mn-cs"/>
              </a:rPr>
              <a:t>Color</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outline, </a:t>
            </a:r>
            <a:r>
              <a:rPr kumimoji="0" lang="en-GB" altLang="el-GR" sz="2400" b="0" i="0" u="none" strike="noStrike" kern="0" cap="none" spc="0" normalizeH="0" baseline="0" noProof="0" dirty="0" err="1">
                <a:ln>
                  <a:noFill/>
                </a:ln>
                <a:solidFill>
                  <a:srgbClr val="000000"/>
                </a:solidFill>
                <a:effectLst/>
                <a:uLnTx/>
                <a:uFillTx/>
                <a:latin typeface="Tahoma"/>
                <a:ea typeface="+mn-ea"/>
                <a:cs typeface="+mn-cs"/>
              </a:rPr>
              <a:t>Color</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fill) {</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this.x</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 x;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this.y</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 y;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this.r</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 r;</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this.outilne</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 outline;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this.fill</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 fill; </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a:t>
            </a:r>
          </a:p>
        </p:txBody>
      </p:sp>
      <p:sp>
        <p:nvSpPr>
          <p:cNvPr id="6" name="Line 4">
            <a:extLst>
              <a:ext uri="{FF2B5EF4-FFF2-40B4-BE49-F238E27FC236}">
                <a16:creationId xmlns:a16="http://schemas.microsoft.com/office/drawing/2014/main" id="{A98EF0DE-6182-F334-A414-37D44362D6D2}"/>
              </a:ext>
            </a:extLst>
          </p:cNvPr>
          <p:cNvSpPr>
            <a:spLocks noChangeShapeType="1"/>
          </p:cNvSpPr>
          <p:nvPr/>
        </p:nvSpPr>
        <p:spPr bwMode="auto">
          <a:xfrm flipV="1">
            <a:off x="497865" y="2198077"/>
            <a:ext cx="6166704" cy="16731"/>
          </a:xfrm>
          <a:prstGeom prst="line">
            <a:avLst/>
          </a:prstGeom>
          <a:noFill/>
          <a:ln w="38100">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Rectangle 5">
            <a:extLst>
              <a:ext uri="{FF2B5EF4-FFF2-40B4-BE49-F238E27FC236}">
                <a16:creationId xmlns:a16="http://schemas.microsoft.com/office/drawing/2014/main" id="{8D0C6DFE-6AC0-3281-9341-08B77125C980}"/>
              </a:ext>
            </a:extLst>
          </p:cNvPr>
          <p:cNvSpPr>
            <a:spLocks noChangeArrowheads="1"/>
          </p:cNvSpPr>
          <p:nvPr/>
        </p:nvSpPr>
        <p:spPr bwMode="auto">
          <a:xfrm>
            <a:off x="0" y="3527617"/>
            <a:ext cx="7772400"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342900" marR="0" lvl="0" indent="-342900" defTabSz="91440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n-GB" altLang="el-GR" sz="2800" b="0" i="0" u="none" strike="noStrike" kern="0" cap="none" spc="0" normalizeH="0" baseline="0" noProof="0" dirty="0" err="1">
                <a:ln>
                  <a:noFill/>
                </a:ln>
                <a:solidFill>
                  <a:srgbClr val="6699FF"/>
                </a:solidFill>
                <a:effectLst/>
                <a:uLnTx/>
                <a:uFillTx/>
                <a:latin typeface="Tahoma" panose="020B0604030504040204" pitchFamily="34" charset="0"/>
              </a:rPr>
              <a:t>κλήση</a:t>
            </a:r>
            <a:r>
              <a:rPr kumimoji="0" lang="en-GB" altLang="el-GR" sz="2800" b="0" i="0" u="none" strike="noStrike" kern="0" cap="none" spc="0" normalizeH="0" baseline="0" noProof="0" dirty="0">
                <a:ln>
                  <a:noFill/>
                </a:ln>
                <a:solidFill>
                  <a:srgbClr val="6699FF"/>
                </a:solidFill>
                <a:effectLst/>
                <a:uLnTx/>
                <a:uFillTx/>
                <a:latin typeface="Tahoma" panose="020B0604030504040204" pitchFamily="34" charset="0"/>
              </a:rPr>
              <a:t> </a:t>
            </a:r>
            <a:r>
              <a:rPr kumimoji="0" lang="en-GB" altLang="el-GR" sz="2800" b="0" i="0" u="none" strike="noStrike" kern="0" cap="none" spc="0" normalizeH="0" baseline="0" noProof="0" dirty="0" err="1">
                <a:ln>
                  <a:noFill/>
                </a:ln>
                <a:solidFill>
                  <a:srgbClr val="6699FF"/>
                </a:solidFill>
                <a:effectLst/>
                <a:uLnTx/>
                <a:uFillTx/>
                <a:latin typeface="Tahoma" panose="020B0604030504040204" pitchFamily="34" charset="0"/>
              </a:rPr>
              <a:t>του</a:t>
            </a:r>
            <a:r>
              <a:rPr kumimoji="0" lang="en-GB" altLang="el-GR" sz="2800" b="0" i="0" u="none" strike="noStrike" kern="0" cap="none" spc="0" normalizeH="0" baseline="0" noProof="0" dirty="0">
                <a:ln>
                  <a:noFill/>
                </a:ln>
                <a:solidFill>
                  <a:srgbClr val="6699FF"/>
                </a:solidFill>
                <a:effectLst/>
                <a:uLnTx/>
                <a:uFillTx/>
                <a:latin typeface="Tahoma" panose="020B0604030504040204" pitchFamily="34" charset="0"/>
              </a:rPr>
              <a:t> constructor </a:t>
            </a:r>
            <a:r>
              <a:rPr kumimoji="0" lang="en-GB" altLang="el-GR" sz="2800" b="0" i="0" u="none" strike="noStrike" kern="0" cap="none" spc="0" normalizeH="0" baseline="0" noProof="0" dirty="0" err="1">
                <a:ln>
                  <a:noFill/>
                </a:ln>
                <a:solidFill>
                  <a:srgbClr val="6699FF"/>
                </a:solidFill>
                <a:effectLst/>
                <a:uLnTx/>
                <a:uFillTx/>
                <a:latin typeface="Tahoma" panose="020B0604030504040204" pitchFamily="34" charset="0"/>
              </a:rPr>
              <a:t>της</a:t>
            </a:r>
            <a:r>
              <a:rPr kumimoji="0" lang="en-GB" altLang="el-GR" sz="2800" b="0" i="0" u="none" strike="noStrike" kern="0" cap="none" spc="0" normalizeH="0" baseline="0" noProof="0" dirty="0">
                <a:ln>
                  <a:noFill/>
                </a:ln>
                <a:solidFill>
                  <a:srgbClr val="6699FF"/>
                </a:solidFill>
                <a:effectLst/>
                <a:uLnTx/>
                <a:uFillTx/>
                <a:latin typeface="Tahoma" panose="020B0604030504040204" pitchFamily="34" charset="0"/>
              </a:rPr>
              <a:t> π</a:t>
            </a:r>
            <a:r>
              <a:rPr kumimoji="0" lang="en-GB" altLang="el-GR" sz="2800" b="0" i="0" u="none" strike="noStrike" kern="0" cap="none" spc="0" normalizeH="0" baseline="0" noProof="0" dirty="0" err="1">
                <a:ln>
                  <a:noFill/>
                </a:ln>
                <a:solidFill>
                  <a:srgbClr val="6699FF"/>
                </a:solidFill>
                <a:effectLst/>
                <a:uLnTx/>
                <a:uFillTx/>
                <a:latin typeface="Tahoma" panose="020B0604030504040204" pitchFamily="34" charset="0"/>
              </a:rPr>
              <a:t>ρόγονης</a:t>
            </a:r>
            <a:r>
              <a:rPr kumimoji="0" lang="en-GB" altLang="el-GR" sz="2800" b="0" i="0" u="none" strike="noStrike" kern="0" cap="none" spc="0" normalizeH="0" baseline="0" noProof="0" dirty="0">
                <a:ln>
                  <a:noFill/>
                </a:ln>
                <a:solidFill>
                  <a:srgbClr val="6699FF"/>
                </a:solidFill>
                <a:effectLst/>
                <a:uLnTx/>
                <a:uFillTx/>
                <a:latin typeface="Tahoma" panose="020B0604030504040204" pitchFamily="34" charset="0"/>
              </a:rPr>
              <a:t> </a:t>
            </a:r>
            <a:r>
              <a:rPr kumimoji="0" lang="en-GB" altLang="el-GR" sz="2800" b="0" i="0" u="none" strike="noStrike" kern="0" cap="none" spc="0" normalizeH="0" baseline="0" noProof="0" dirty="0" err="1">
                <a:ln>
                  <a:noFill/>
                </a:ln>
                <a:solidFill>
                  <a:srgbClr val="6699FF"/>
                </a:solidFill>
                <a:effectLst/>
                <a:uLnTx/>
                <a:uFillTx/>
                <a:latin typeface="Tahoma" panose="020B0604030504040204" pitchFamily="34" charset="0"/>
              </a:rPr>
              <a:t>κλάσης</a:t>
            </a:r>
            <a:endParaRPr kumimoji="0" lang="en-GB" altLang="el-GR" sz="2800" b="0" i="0" u="none" strike="noStrike" kern="0" cap="none" spc="0" normalizeH="0" baseline="0" noProof="0" dirty="0">
              <a:ln>
                <a:noFill/>
              </a:ln>
              <a:solidFill>
                <a:srgbClr val="6699FF"/>
              </a:solidFill>
              <a:effectLst/>
              <a:uLnTx/>
              <a:uFillTx/>
              <a:latin typeface="Tahoma" panose="020B0604030504040204" pitchFamily="34" charset="0"/>
            </a:endParaRPr>
          </a:p>
          <a:p>
            <a:pPr marL="342900" marR="0" lvl="0" indent="-342900" defTabSz="91440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rPr>
              <a:t>public </a:t>
            </a:r>
            <a:r>
              <a:rPr kumimoji="0" lang="en-GB" altLang="el-GR" sz="2000" b="0" i="0" u="none" strike="noStrike" kern="0" cap="none" spc="0" normalizeH="0" baseline="0" noProof="0" dirty="0" err="1">
                <a:ln>
                  <a:noFill/>
                </a:ln>
                <a:solidFill>
                  <a:srgbClr val="000000"/>
                </a:solidFill>
                <a:effectLst/>
                <a:uLnTx/>
                <a:uFillTx/>
                <a:latin typeface="Tahoma" panose="020B0604030504040204" pitchFamily="34" charset="0"/>
              </a:rPr>
              <a:t>GraphicCircle</a:t>
            </a:r>
            <a:r>
              <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rPr>
              <a:t>(double x, double y, double r, </a:t>
            </a:r>
            <a:r>
              <a:rPr kumimoji="0" lang="en-GB" altLang="el-GR" sz="2000" b="0" i="0" u="none" strike="noStrike" kern="0" cap="none" spc="0" normalizeH="0" baseline="0" noProof="0" dirty="0" err="1">
                <a:ln>
                  <a:noFill/>
                </a:ln>
                <a:solidFill>
                  <a:srgbClr val="000000"/>
                </a:solidFill>
                <a:effectLst/>
                <a:uLnTx/>
                <a:uFillTx/>
                <a:latin typeface="Tahoma" panose="020B0604030504040204" pitchFamily="34" charset="0"/>
              </a:rPr>
              <a:t>Color</a:t>
            </a:r>
            <a:r>
              <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rPr>
              <a:t> outline, </a:t>
            </a:r>
            <a:r>
              <a:rPr kumimoji="0" lang="en-GB" altLang="el-GR" sz="2000" b="0" i="0" u="none" strike="noStrike" kern="0" cap="none" spc="0" normalizeH="0" baseline="0" noProof="0" dirty="0" err="1">
                <a:ln>
                  <a:noFill/>
                </a:ln>
                <a:solidFill>
                  <a:srgbClr val="000000"/>
                </a:solidFill>
                <a:effectLst/>
                <a:uLnTx/>
                <a:uFillTx/>
                <a:latin typeface="Tahoma" panose="020B0604030504040204" pitchFamily="34" charset="0"/>
              </a:rPr>
              <a:t>Color</a:t>
            </a:r>
            <a:r>
              <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rPr>
              <a:t> fill) {</a:t>
            </a:r>
          </a:p>
          <a:p>
            <a:pPr marL="342900" marR="0" lvl="0" indent="-342900" defTabSz="91440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400" b="1" i="1" u="none" strike="noStrike" kern="0" cap="none" spc="0" normalizeH="0" baseline="0" noProof="0" dirty="0">
                <a:ln>
                  <a:noFill/>
                </a:ln>
                <a:solidFill>
                  <a:srgbClr val="000000"/>
                </a:solidFill>
                <a:effectLst/>
                <a:uLnTx/>
                <a:uFillTx/>
                <a:latin typeface="Tahoma" panose="020B0604030504040204" pitchFamily="34" charset="0"/>
              </a:rPr>
              <a:t>		</a:t>
            </a:r>
            <a:r>
              <a:rPr kumimoji="0" lang="en-GB" altLang="el-GR" sz="2400" b="1" i="1" u="none" strike="noStrike" kern="0" cap="none" spc="0" normalizeH="0" baseline="0" noProof="0" dirty="0">
                <a:ln>
                  <a:noFill/>
                </a:ln>
                <a:solidFill>
                  <a:srgbClr val="FF0000"/>
                </a:solidFill>
                <a:effectLst/>
                <a:uLnTx/>
                <a:uFillTx/>
                <a:latin typeface="Tahoma" panose="020B0604030504040204" pitchFamily="34" charset="0"/>
              </a:rPr>
              <a:t>super</a:t>
            </a:r>
            <a:r>
              <a:rPr kumimoji="0" lang="en-GB" altLang="el-GR" sz="2400" b="0" i="1" u="none" strike="noStrike" kern="0" cap="none" spc="0" normalizeH="0" baseline="0" noProof="0" dirty="0">
                <a:ln>
                  <a:noFill/>
                </a:ln>
                <a:solidFill>
                  <a:srgbClr val="FF0000"/>
                </a:solidFill>
                <a:effectLst/>
                <a:uLnTx/>
                <a:uFillTx/>
                <a:latin typeface="Tahoma" panose="020B0604030504040204" pitchFamily="34" charset="0"/>
              </a:rPr>
              <a:t>(</a:t>
            </a:r>
            <a:r>
              <a:rPr kumimoji="0" lang="en-GB" altLang="el-GR" sz="2400" b="0" i="1" u="none" strike="noStrike" kern="0" cap="none" spc="0" normalizeH="0" baseline="0" noProof="0" dirty="0" err="1">
                <a:ln>
                  <a:noFill/>
                </a:ln>
                <a:solidFill>
                  <a:srgbClr val="FF0000"/>
                </a:solidFill>
                <a:effectLst/>
                <a:uLnTx/>
                <a:uFillTx/>
                <a:latin typeface="Tahoma" panose="020B0604030504040204" pitchFamily="34" charset="0"/>
              </a:rPr>
              <a:t>x,y,r</a:t>
            </a:r>
            <a:r>
              <a:rPr kumimoji="0" lang="en-GB" altLang="el-GR" sz="2400" b="0" i="1" u="none" strike="noStrike" kern="0" cap="none" spc="0" normalizeH="0" baseline="0" noProof="0" dirty="0">
                <a:ln>
                  <a:noFill/>
                </a:ln>
                <a:solidFill>
                  <a:srgbClr val="FF0000"/>
                </a:solidFill>
                <a:effectLst/>
                <a:uLnTx/>
                <a:uFillTx/>
                <a:latin typeface="Tahoma" panose="020B0604030504040204" pitchFamily="34" charset="0"/>
              </a:rPr>
              <a:t>);</a:t>
            </a:r>
          </a:p>
          <a:p>
            <a:pPr marL="342900" marR="0" lvl="0" indent="-342900" defTabSz="91440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400" b="0" i="1" u="none" strike="noStrike" kern="0" cap="none" spc="0" normalizeH="0" baseline="0" noProof="0" dirty="0">
                <a:ln>
                  <a:noFill/>
                </a:ln>
                <a:solidFill>
                  <a:srgbClr val="000000"/>
                </a:solidFill>
                <a:effectLst/>
                <a:uLnTx/>
                <a:uFillTx/>
                <a:latin typeface="Tahoma" panose="020B0604030504040204" pitchFamily="34" charset="0"/>
              </a:rPr>
              <a:t>		</a:t>
            </a:r>
            <a:r>
              <a:rPr kumimoji="0" lang="en-GB" altLang="el-GR" sz="2000" b="0" i="1" u="none" strike="noStrike" kern="0" cap="none" spc="0" normalizeH="0" baseline="0" noProof="0" dirty="0" err="1">
                <a:ln>
                  <a:noFill/>
                </a:ln>
                <a:solidFill>
                  <a:srgbClr val="000000"/>
                </a:solidFill>
                <a:effectLst/>
                <a:uLnTx/>
                <a:uFillTx/>
                <a:latin typeface="Courier New" panose="02070309020205020404" pitchFamily="49" charset="0"/>
              </a:rPr>
              <a:t>this.outilne</a:t>
            </a:r>
            <a:r>
              <a:rPr kumimoji="0" lang="en-GB" altLang="el-GR" sz="2000" b="0" i="1" u="none" strike="noStrike" kern="0" cap="none" spc="0" normalizeH="0" baseline="0" noProof="0" dirty="0">
                <a:ln>
                  <a:noFill/>
                </a:ln>
                <a:solidFill>
                  <a:srgbClr val="000000"/>
                </a:solidFill>
                <a:effectLst/>
                <a:uLnTx/>
                <a:uFillTx/>
                <a:latin typeface="Courier New" panose="02070309020205020404" pitchFamily="49" charset="0"/>
              </a:rPr>
              <a:t> = outline; </a:t>
            </a:r>
            <a:r>
              <a:rPr kumimoji="0" lang="en-GB" altLang="el-GR" sz="2000" b="0" i="1" u="none" strike="noStrike" kern="0" cap="none" spc="0" normalizeH="0" baseline="0" noProof="0" dirty="0" err="1">
                <a:ln>
                  <a:noFill/>
                </a:ln>
                <a:solidFill>
                  <a:srgbClr val="000000"/>
                </a:solidFill>
                <a:effectLst/>
                <a:uLnTx/>
                <a:uFillTx/>
                <a:latin typeface="Courier New" panose="02070309020205020404" pitchFamily="49" charset="0"/>
              </a:rPr>
              <a:t>this.fill</a:t>
            </a:r>
            <a:r>
              <a:rPr kumimoji="0" lang="en-GB" altLang="el-GR" sz="2000" b="0" i="1" u="none" strike="noStrike" kern="0" cap="none" spc="0" normalizeH="0" baseline="0" noProof="0" dirty="0">
                <a:ln>
                  <a:noFill/>
                </a:ln>
                <a:solidFill>
                  <a:srgbClr val="000000"/>
                </a:solidFill>
                <a:effectLst/>
                <a:uLnTx/>
                <a:uFillTx/>
                <a:latin typeface="Courier New" panose="02070309020205020404" pitchFamily="49" charset="0"/>
              </a:rPr>
              <a:t> = fill;</a:t>
            </a:r>
            <a:r>
              <a:rPr kumimoji="0" lang="en-GB" altLang="el-GR" sz="2400" b="0" i="1" u="none" strike="noStrike" kern="0" cap="none" spc="0" normalizeH="0" baseline="0" noProof="0" dirty="0">
                <a:ln>
                  <a:noFill/>
                </a:ln>
                <a:solidFill>
                  <a:srgbClr val="000000"/>
                </a:solidFill>
                <a:effectLst/>
                <a:uLnTx/>
                <a:uFillTx/>
                <a:latin typeface="Tahoma" panose="020B0604030504040204" pitchFamily="34" charset="0"/>
              </a:rPr>
              <a:t> </a:t>
            </a:r>
          </a:p>
          <a:p>
            <a:pPr marL="342900" marR="0" lvl="0" indent="-342900" defTabSz="91440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GB" altLang="el-GR" sz="2400" b="0" i="1" u="none" strike="noStrike" kern="0" cap="none" spc="0" normalizeH="0" baseline="0" noProof="0" dirty="0">
                <a:ln>
                  <a:noFill/>
                </a:ln>
                <a:solidFill>
                  <a:srgbClr val="000000"/>
                </a:solidFill>
                <a:effectLst/>
                <a:uLnTx/>
                <a:uFillTx/>
                <a:latin typeface="Tahoma" panose="020B0604030504040204" pitchFamily="34" charset="0"/>
              </a:rPr>
              <a:t>		}</a:t>
            </a:r>
            <a:endParaRPr kumimoji="0" lang="en-GB" altLang="el-GR" sz="2400" b="0" i="1" u="none" strike="noStrike" kern="0" cap="none" spc="0" normalizeH="0" baseline="0" noProof="0" dirty="0">
              <a:ln>
                <a:noFill/>
              </a:ln>
              <a:solidFill>
                <a:srgbClr val="000000"/>
              </a:solidFill>
              <a:effectLst/>
              <a:uLnTx/>
              <a:uFillTx/>
              <a:latin typeface="Times New Roman Greek" panose="02020603050405020304" pitchFamily="18" charset="0"/>
            </a:endParaRPr>
          </a:p>
        </p:txBody>
      </p:sp>
      <p:sp>
        <p:nvSpPr>
          <p:cNvPr id="9" name="Rectangle 3">
            <a:extLst>
              <a:ext uri="{FF2B5EF4-FFF2-40B4-BE49-F238E27FC236}">
                <a16:creationId xmlns:a16="http://schemas.microsoft.com/office/drawing/2014/main" id="{7BE71007-BF3B-075D-5993-195FA7327E6F}"/>
              </a:ext>
            </a:extLst>
          </p:cNvPr>
          <p:cNvSpPr txBox="1">
            <a:spLocks noChangeArrowheads="1"/>
          </p:cNvSpPr>
          <p:nvPr/>
        </p:nvSpPr>
        <p:spPr bwMode="auto">
          <a:xfrm>
            <a:off x="7879868" y="1012983"/>
            <a:ext cx="431213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1" fontAlgn="base" latinLnBrk="0" hangingPunct="1">
              <a:lnSpc>
                <a:spcPct val="90000"/>
              </a:lnSpc>
              <a:spcBef>
                <a:spcPct val="20000"/>
              </a:spcBef>
              <a:spcAft>
                <a:spcPct val="0"/>
              </a:spcAft>
              <a:buClr>
                <a:srgbClr val="3333CC"/>
              </a:buClr>
              <a:buSzPct val="60000"/>
              <a:buNone/>
              <a:tabLst/>
              <a:defRPr/>
            </a:pPr>
            <a:r>
              <a:rPr kumimoji="0" lang="en-GB"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600" b="1" i="0" u="none" strike="noStrike" kern="0" cap="none" spc="0" normalizeH="0" baseline="0" noProof="0" dirty="0">
                <a:ln>
                  <a:noFill/>
                </a:ln>
                <a:solidFill>
                  <a:srgbClr val="C00000"/>
                </a:solidFill>
                <a:effectLst/>
                <a:uLnTx/>
                <a:uFillTx/>
                <a:latin typeface="Times New Roman" panose="02020603050405020304" pitchFamily="18" charset="0"/>
                <a:ea typeface="+mn-ea"/>
                <a:cs typeface="+mn-cs"/>
              </a:rPr>
              <a:t>Super</a:t>
            </a:r>
            <a:endParaRPr kumimoji="0" lang="en-GB" altLang="el-GR" sz="2800" b="1" i="0" u="none" strike="noStrike" kern="0" cap="none" spc="0" normalizeH="0" baseline="0" noProof="0" dirty="0">
              <a:ln>
                <a:noFill/>
              </a:ln>
              <a:solidFill>
                <a:srgbClr val="C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δεσμευμένη λέξη</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μέσα σε ένα </a:t>
            </a:r>
            <a:r>
              <a:rPr kumimoji="0" lang="el-GR" altLang="el-GR" sz="28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constructor</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8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χρησιμοπoιείται</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μόνο για να καλέσει τον </a:t>
            </a:r>
            <a:r>
              <a:rPr kumimoji="0" lang="el-GR" altLang="el-GR" sz="28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constructor</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του προγόνου</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πρέπει </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rPr>
              <a:t>να είναι η πρώτη πρόταση του </a:t>
            </a:r>
            <a:r>
              <a:rPr kumimoji="0" lang="el-GR" altLang="el-GR" sz="2400" b="0" i="0" u="none" strike="noStrike" kern="0" cap="none" spc="0" normalizeH="0" baseline="0" noProof="0" dirty="0" err="1">
                <a:ln>
                  <a:noFill/>
                </a:ln>
                <a:solidFill>
                  <a:srgbClr val="000000"/>
                </a:solidFill>
                <a:effectLst/>
                <a:uLnTx/>
                <a:uFillTx/>
                <a:latin typeface="Times New Roman" panose="02020603050405020304" pitchFamily="18" charset="0"/>
              </a:rPr>
              <a:t>constructor</a:t>
            </a:r>
            <a:endPar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1" i="0" u="none" strike="noStrike" kern="0" cap="none" spc="0" normalizeH="0" baseline="0" noProof="0" dirty="0">
                <a:ln>
                  <a:noFill/>
                </a:ln>
                <a:solidFill>
                  <a:srgbClr val="800000"/>
                </a:solidFill>
                <a:effectLst/>
                <a:uLnTx/>
                <a:uFillTx/>
                <a:latin typeface="Times New Roman" panose="02020603050405020304" pitchFamily="18" charset="0"/>
              </a:rPr>
              <a:t>να προηγείται ακόμη και από τις δηλώσεις μεταβλητών</a:t>
            </a:r>
            <a:r>
              <a:rPr kumimoji="0" lang="el-GR" altLang="el-GR" sz="2400" b="0" i="0" u="none" strike="noStrike" kern="0" cap="none" spc="0" normalizeH="0" baseline="0" noProof="0" dirty="0">
                <a:ln>
                  <a:noFill/>
                </a:ln>
                <a:solidFill>
                  <a:srgbClr val="000000"/>
                </a:solidFill>
                <a:effectLst/>
                <a:uLnTx/>
                <a:uFillTx/>
                <a:latin typeface="Tahoma"/>
              </a:rPr>
              <a:t> </a:t>
            </a:r>
            <a:endParaRPr kumimoji="0" lang="el-GR" altLang="el-GR" sz="2400" b="0" i="0" u="none" strike="noStrike" kern="0" cap="none" spc="0" normalizeH="0" baseline="0" noProof="0" dirty="0">
              <a:ln>
                <a:noFill/>
              </a:ln>
              <a:solidFill>
                <a:srgbClr val="000000"/>
              </a:solidFill>
              <a:effectLst/>
              <a:uLnTx/>
              <a:uFillTx/>
              <a:latin typeface="Times New Roman Greek" panose="02020603050405020304" pitchFamily="18" charset="0"/>
            </a:endParaRPr>
          </a:p>
        </p:txBody>
      </p:sp>
      <p:sp>
        <p:nvSpPr>
          <p:cNvPr id="3" name="Θέση υποσέλιδου 4">
            <a:extLst>
              <a:ext uri="{FF2B5EF4-FFF2-40B4-BE49-F238E27FC236}">
                <a16:creationId xmlns:a16="http://schemas.microsoft.com/office/drawing/2014/main" id="{6096BAC5-C3D8-FC1D-D409-6BC9655E7267}"/>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22797879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blinds(horizontal)">
                                      <p:cBhvr>
                                        <p:cTn id="32" dur="5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blinds(horizontal)">
                                      <p:cBhvr>
                                        <p:cTn id="37" dur="500"/>
                                        <p:tgtEl>
                                          <p:spTgt spid="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blinds(horizontal)">
                                      <p:cBhvr>
                                        <p:cTn id="42" dur="500"/>
                                        <p:tgtEl>
                                          <p:spTgt spid="7">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
                                            <p:txEl>
                                              <p:pRg st="3" end="3"/>
                                            </p:txEl>
                                          </p:spTgt>
                                        </p:tgtEl>
                                        <p:attrNameLst>
                                          <p:attrName>style.visibility</p:attrName>
                                        </p:attrNameLst>
                                      </p:cBhvr>
                                      <p:to>
                                        <p:strVal val="visible"/>
                                      </p:to>
                                    </p:set>
                                    <p:animEffect transition="in" filter="blinds(horizontal)">
                                      <p:cBhvr>
                                        <p:cTn id="47" dur="500"/>
                                        <p:tgtEl>
                                          <p:spTgt spid="7">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
                                            <p:txEl>
                                              <p:pRg st="4" end="4"/>
                                            </p:txEl>
                                          </p:spTgt>
                                        </p:tgtEl>
                                        <p:attrNameLst>
                                          <p:attrName>style.visibility</p:attrName>
                                        </p:attrNameLst>
                                      </p:cBhvr>
                                      <p:to>
                                        <p:strVal val="visible"/>
                                      </p:to>
                                    </p:set>
                                    <p:animEffect transition="in" filter="blinds(horizontal)">
                                      <p:cBhvr>
                                        <p:cTn id="52" dur="500"/>
                                        <p:tgtEl>
                                          <p:spTgt spid="7">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Αναπαράσταση στο Διάγραμμα Κλάσεων </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Text Box 1031">
            <a:extLst>
              <a:ext uri="{FF2B5EF4-FFF2-40B4-BE49-F238E27FC236}">
                <a16:creationId xmlns:a16="http://schemas.microsoft.com/office/drawing/2014/main" id="{142F0F33-C01A-9B9A-AA14-82BADA681105}"/>
              </a:ext>
            </a:extLst>
          </p:cNvPr>
          <p:cNvSpPr txBox="1">
            <a:spLocks noChangeArrowheads="1"/>
          </p:cNvSpPr>
          <p:nvPr/>
        </p:nvSpPr>
        <p:spPr bwMode="auto">
          <a:xfrm>
            <a:off x="3203575" y="1484313"/>
            <a:ext cx="2581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fontAlgn="base">
              <a:spcBef>
                <a:spcPct val="0"/>
              </a:spcBef>
              <a:spcAft>
                <a:spcPct val="0"/>
              </a:spcAft>
              <a:buClrTx/>
              <a:buSzTx/>
              <a:buFontTx/>
              <a:buNone/>
            </a:pPr>
            <a:r>
              <a:rPr lang="el-GR" altLang="el-GR" sz="2800" b="1" dirty="0" err="1">
                <a:solidFill>
                  <a:srgbClr val="FF0000"/>
                </a:solidFill>
                <a:latin typeface="Times New Roman" panose="02020603050405020304" pitchFamily="18" charset="0"/>
                <a:cs typeface="Times New Roman" panose="02020603050405020304" pitchFamily="18" charset="0"/>
              </a:rPr>
              <a:t>inheritance</a:t>
            </a:r>
            <a:r>
              <a:rPr lang="el-GR" altLang="el-GR" sz="2800" b="1" dirty="0">
                <a:solidFill>
                  <a:srgbClr val="FF0000"/>
                </a:solidFill>
                <a:latin typeface="Times New Roman" panose="02020603050405020304" pitchFamily="18" charset="0"/>
                <a:cs typeface="Times New Roman" panose="02020603050405020304" pitchFamily="18" charset="0"/>
              </a:rPr>
              <a:t> </a:t>
            </a:r>
            <a:r>
              <a:rPr lang="el-GR" altLang="el-GR" sz="2800" b="1" dirty="0" err="1">
                <a:solidFill>
                  <a:srgbClr val="FF0000"/>
                </a:solidFill>
                <a:latin typeface="Times New Roman" panose="02020603050405020304" pitchFamily="18" charset="0"/>
                <a:cs typeface="Times New Roman" panose="02020603050405020304" pitchFamily="18" charset="0"/>
              </a:rPr>
              <a:t>tree</a:t>
            </a:r>
            <a:endParaRPr lang="en-GB" altLang="el-GR" sz="2800" b="1" dirty="0">
              <a:solidFill>
                <a:srgbClr val="FF0000"/>
              </a:solidFill>
              <a:latin typeface="Times New Roman" panose="02020603050405020304" pitchFamily="18" charset="0"/>
              <a:cs typeface="Times New Roman" panose="02020603050405020304" pitchFamily="18" charset="0"/>
            </a:endParaRPr>
          </a:p>
        </p:txBody>
      </p:sp>
      <p:sp>
        <p:nvSpPr>
          <p:cNvPr id="9" name="Line 1035">
            <a:extLst>
              <a:ext uri="{FF2B5EF4-FFF2-40B4-BE49-F238E27FC236}">
                <a16:creationId xmlns:a16="http://schemas.microsoft.com/office/drawing/2014/main" id="{7D81CBAB-8350-630F-1DCB-1E2705A8A202}"/>
              </a:ext>
            </a:extLst>
          </p:cNvPr>
          <p:cNvSpPr>
            <a:spLocks noChangeShapeType="1"/>
          </p:cNvSpPr>
          <p:nvPr/>
        </p:nvSpPr>
        <p:spPr bwMode="auto">
          <a:xfrm flipH="1" flipV="1">
            <a:off x="1143000" y="5395600"/>
            <a:ext cx="419412" cy="343889"/>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pic>
        <p:nvPicPr>
          <p:cNvPr id="13" name="Picture 1038">
            <a:extLst>
              <a:ext uri="{FF2B5EF4-FFF2-40B4-BE49-F238E27FC236}">
                <a16:creationId xmlns:a16="http://schemas.microsoft.com/office/drawing/2014/main" id="{EF5ABA78-3CBA-B917-9B93-5710B6F06E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49501"/>
            <a:ext cx="6948487"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Line 1037">
            <a:extLst>
              <a:ext uri="{FF2B5EF4-FFF2-40B4-BE49-F238E27FC236}">
                <a16:creationId xmlns:a16="http://schemas.microsoft.com/office/drawing/2014/main" id="{DE008ED0-27DD-0D39-2B04-D340E293636B}"/>
              </a:ext>
            </a:extLst>
          </p:cNvPr>
          <p:cNvSpPr>
            <a:spLocks noChangeShapeType="1"/>
          </p:cNvSpPr>
          <p:nvPr/>
        </p:nvSpPr>
        <p:spPr bwMode="auto">
          <a:xfrm flipV="1">
            <a:off x="1704620" y="3515578"/>
            <a:ext cx="712971" cy="185135"/>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Line 1034">
            <a:extLst>
              <a:ext uri="{FF2B5EF4-FFF2-40B4-BE49-F238E27FC236}">
                <a16:creationId xmlns:a16="http://schemas.microsoft.com/office/drawing/2014/main" id="{2E5EDD7B-39D1-D787-AF5B-CB5957F65C4B}"/>
              </a:ext>
            </a:extLst>
          </p:cNvPr>
          <p:cNvSpPr>
            <a:spLocks noChangeShapeType="1"/>
          </p:cNvSpPr>
          <p:nvPr/>
        </p:nvSpPr>
        <p:spPr bwMode="auto">
          <a:xfrm>
            <a:off x="1704621" y="2977937"/>
            <a:ext cx="712971" cy="237775"/>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AutoShape 1032">
            <a:extLst>
              <a:ext uri="{FF2B5EF4-FFF2-40B4-BE49-F238E27FC236}">
                <a16:creationId xmlns:a16="http://schemas.microsoft.com/office/drawing/2014/main" id="{13F28869-9AFF-8789-2038-A265CF7FB0EF}"/>
              </a:ext>
            </a:extLst>
          </p:cNvPr>
          <p:cNvSpPr>
            <a:spLocks noChangeArrowheads="1"/>
          </p:cNvSpPr>
          <p:nvPr/>
        </p:nvSpPr>
        <p:spPr bwMode="auto">
          <a:xfrm>
            <a:off x="333022" y="2737081"/>
            <a:ext cx="1371600" cy="5334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superclass</a:t>
            </a:r>
            <a:endParaRPr kumimoji="0" lang="en-GB" altLang="el-GR" sz="24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2" name="AutoShape 1036">
            <a:extLst>
              <a:ext uri="{FF2B5EF4-FFF2-40B4-BE49-F238E27FC236}">
                <a16:creationId xmlns:a16="http://schemas.microsoft.com/office/drawing/2014/main" id="{BAD505FA-4B0D-A957-C85E-40A3AA0E7243}"/>
              </a:ext>
            </a:extLst>
          </p:cNvPr>
          <p:cNvSpPr>
            <a:spLocks noChangeArrowheads="1"/>
          </p:cNvSpPr>
          <p:nvPr/>
        </p:nvSpPr>
        <p:spPr bwMode="auto">
          <a:xfrm>
            <a:off x="333021" y="3456568"/>
            <a:ext cx="1371600" cy="4572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imes New Roman" panose="02020603050405020304" pitchFamily="18" charset="0"/>
              </a:rPr>
              <a:t>Base class</a:t>
            </a:r>
            <a:endParaRPr kumimoji="0" lang="en-GB" altLang="el-GR" sz="2400" b="0" i="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7" name="AutoShape 1033">
            <a:extLst>
              <a:ext uri="{FF2B5EF4-FFF2-40B4-BE49-F238E27FC236}">
                <a16:creationId xmlns:a16="http://schemas.microsoft.com/office/drawing/2014/main" id="{BE8A9066-DDA2-C61D-ACAF-1ABEBF368874}"/>
              </a:ext>
            </a:extLst>
          </p:cNvPr>
          <p:cNvSpPr>
            <a:spLocks noChangeArrowheads="1"/>
          </p:cNvSpPr>
          <p:nvPr/>
        </p:nvSpPr>
        <p:spPr bwMode="auto">
          <a:xfrm>
            <a:off x="1018822" y="5779552"/>
            <a:ext cx="1295400" cy="5334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subclass</a:t>
            </a:r>
            <a:endParaRPr kumimoji="0" lang="en-GB"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6" name="Line 1035">
            <a:extLst>
              <a:ext uri="{FF2B5EF4-FFF2-40B4-BE49-F238E27FC236}">
                <a16:creationId xmlns:a16="http://schemas.microsoft.com/office/drawing/2014/main" id="{683A2750-C0DA-3A2D-47B2-6DC8534B5845}"/>
              </a:ext>
            </a:extLst>
          </p:cNvPr>
          <p:cNvSpPr>
            <a:spLocks noChangeShapeType="1"/>
          </p:cNvSpPr>
          <p:nvPr/>
        </p:nvSpPr>
        <p:spPr bwMode="auto">
          <a:xfrm flipV="1">
            <a:off x="2004891" y="5395600"/>
            <a:ext cx="580048" cy="343888"/>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Line 1035">
            <a:extLst>
              <a:ext uri="{FF2B5EF4-FFF2-40B4-BE49-F238E27FC236}">
                <a16:creationId xmlns:a16="http://schemas.microsoft.com/office/drawing/2014/main" id="{7496EE22-BC7F-3F57-AF72-0B5749568CD5}"/>
              </a:ext>
            </a:extLst>
          </p:cNvPr>
          <p:cNvSpPr>
            <a:spLocks noChangeShapeType="1"/>
          </p:cNvSpPr>
          <p:nvPr/>
        </p:nvSpPr>
        <p:spPr bwMode="auto">
          <a:xfrm flipV="1">
            <a:off x="2391751" y="5501249"/>
            <a:ext cx="2549525" cy="476482"/>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Rectangle 1027">
            <a:extLst>
              <a:ext uri="{FF2B5EF4-FFF2-40B4-BE49-F238E27FC236}">
                <a16:creationId xmlns:a16="http://schemas.microsoft.com/office/drawing/2014/main" id="{34D4307D-0813-DF5C-F909-74A261668D31}"/>
              </a:ext>
            </a:extLst>
          </p:cNvPr>
          <p:cNvSpPr txBox="1">
            <a:spLocks noChangeArrowheads="1"/>
          </p:cNvSpPr>
          <p:nvPr/>
        </p:nvSpPr>
        <p:spPr bwMode="auto">
          <a:xfrm>
            <a:off x="6630559" y="917925"/>
            <a:ext cx="562768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subclass</a:t>
            </a:r>
            <a:r>
              <a:rPr kumimoji="0" lang="el-GR" altLang="el-GR" sz="2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l-GR" altLang="el-GR" sz="2000" b="1" i="0" u="none" strike="noStrike" kern="0" cap="none" spc="0" normalizeH="0" baseline="0" noProof="0" dirty="0">
              <a:ln>
                <a:noFill/>
              </a:ln>
              <a:solidFill>
                <a:srgbClr val="000000"/>
              </a:solidFill>
              <a:effectLst/>
              <a:uLnTx/>
              <a:uFillTx/>
              <a:latin typeface="Times New Roman" panose="02020603050405020304" pitchFamily="18" charset="0"/>
              <a:ea typeface="+mn-ea"/>
            </a:endParaRP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n-US" altLang="el-GR" sz="1800" b="0" i="0" u="none" strike="noStrike" kern="0" cap="none" spc="0" normalizeH="0" baseline="0" noProof="0" dirty="0">
                <a:ln>
                  <a:noFill/>
                </a:ln>
                <a:solidFill>
                  <a:srgbClr val="000000"/>
                </a:solidFill>
                <a:effectLst/>
                <a:uLnTx/>
                <a:uFillTx/>
                <a:latin typeface="Tahoma"/>
              </a:rPr>
              <a:t>A class that is derived from another class </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None/>
              <a:tabLst/>
              <a:defRPr/>
            </a:pPr>
            <a:r>
              <a:rPr kumimoji="0" lang="en-US" altLang="el-GR" sz="1800" b="0" i="0" u="none" strike="noStrike" kern="0" cap="none" spc="0" normalizeH="0" baseline="0" noProof="0" dirty="0">
                <a:ln>
                  <a:noFill/>
                </a:ln>
                <a:solidFill>
                  <a:srgbClr val="000000"/>
                </a:solidFill>
                <a:effectLst/>
                <a:uLnTx/>
                <a:uFillTx/>
                <a:latin typeface="Tahoma"/>
              </a:rPr>
              <a:t>	(</a:t>
            </a:r>
            <a:r>
              <a:rPr kumimoji="0" lang="en-US" altLang="el-GR" sz="1800" b="1" i="0" u="none" strike="noStrike" kern="0" cap="none" spc="0" normalizeH="0" baseline="0" noProof="0" dirty="0">
                <a:ln>
                  <a:noFill/>
                </a:ln>
                <a:solidFill>
                  <a:srgbClr val="000000"/>
                </a:solidFill>
                <a:effectLst/>
                <a:uLnTx/>
                <a:uFillTx/>
                <a:latin typeface="Tahoma"/>
              </a:rPr>
              <a:t>derived</a:t>
            </a:r>
            <a:r>
              <a:rPr kumimoji="0" lang="en-US" altLang="el-GR" sz="1800" b="0" i="0" u="none" strike="noStrike" kern="0" cap="none" spc="0" normalizeH="0" baseline="0" noProof="0" dirty="0">
                <a:ln>
                  <a:noFill/>
                </a:ln>
                <a:solidFill>
                  <a:srgbClr val="000000"/>
                </a:solidFill>
                <a:effectLst/>
                <a:uLnTx/>
                <a:uFillTx/>
                <a:latin typeface="Tahoma"/>
              </a:rPr>
              <a:t> class, </a:t>
            </a:r>
            <a:r>
              <a:rPr kumimoji="0" lang="en-US" altLang="el-GR" sz="1800" b="1" i="0" u="none" strike="noStrike" kern="0" cap="none" spc="0" normalizeH="0" baseline="0" noProof="0" dirty="0">
                <a:ln>
                  <a:noFill/>
                </a:ln>
                <a:solidFill>
                  <a:srgbClr val="000000"/>
                </a:solidFill>
                <a:effectLst/>
                <a:uLnTx/>
                <a:uFillTx/>
                <a:latin typeface="Tahoma"/>
              </a:rPr>
              <a:t>extended</a:t>
            </a:r>
            <a:r>
              <a:rPr kumimoji="0" lang="en-US" altLang="el-GR" sz="1800" b="0" i="0" u="none" strike="noStrike" kern="0" cap="none" spc="0" normalizeH="0" baseline="0" noProof="0" dirty="0">
                <a:ln>
                  <a:noFill/>
                </a:ln>
                <a:solidFill>
                  <a:srgbClr val="000000"/>
                </a:solidFill>
                <a:effectLst/>
                <a:uLnTx/>
                <a:uFillTx/>
                <a:latin typeface="Tahoma"/>
              </a:rPr>
              <a:t> class, or </a:t>
            </a:r>
            <a:r>
              <a:rPr kumimoji="0" lang="en-US" altLang="el-GR" sz="1800" b="1" i="0" u="none" strike="noStrike" kern="0" cap="none" spc="0" normalizeH="0" baseline="0" noProof="0" dirty="0">
                <a:ln>
                  <a:noFill/>
                </a:ln>
                <a:solidFill>
                  <a:srgbClr val="000000"/>
                </a:solidFill>
                <a:effectLst/>
                <a:uLnTx/>
                <a:uFillTx/>
                <a:latin typeface="Tahoma"/>
              </a:rPr>
              <a:t>child</a:t>
            </a:r>
            <a:r>
              <a:rPr kumimoji="0" lang="en-US" altLang="el-GR" sz="1800" b="0" i="0" u="none" strike="noStrike" kern="0" cap="none" spc="0" normalizeH="0" baseline="0" noProof="0" dirty="0">
                <a:ln>
                  <a:noFill/>
                </a:ln>
                <a:solidFill>
                  <a:srgbClr val="000000"/>
                </a:solidFill>
                <a:effectLst/>
                <a:uLnTx/>
                <a:uFillTx/>
                <a:latin typeface="Tahoma"/>
              </a:rPr>
              <a:t> class).</a:t>
            </a:r>
            <a:endParaRPr kumimoji="0" lang="el-GR" altLang="el-GR" sz="1800" b="0" i="0" u="none" strike="noStrike" kern="0" cap="none" spc="0" normalizeH="0" baseline="0" noProof="0" dirty="0">
              <a:ln>
                <a:noFill/>
              </a:ln>
              <a:solidFill>
                <a:srgbClr val="000000"/>
              </a:solidFill>
              <a:effectLst/>
              <a:uLnTx/>
              <a:uFillTx/>
              <a:latin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superclass</a:t>
            </a:r>
            <a:r>
              <a:rPr kumimoji="0" lang="el-GR" altLang="el-GR"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l-GR" altLang="el-GR" sz="2000" b="0" i="0" u="none" strike="noStrike" kern="0" cap="none" spc="0" normalizeH="0" baseline="0" noProof="0" dirty="0">
              <a:ln>
                <a:noFill/>
              </a:ln>
              <a:solidFill>
                <a:srgbClr val="000000"/>
              </a:solidFill>
              <a:effectLst/>
              <a:uLnTx/>
              <a:uFillTx/>
              <a:latin typeface="Times New Roman" panose="02020603050405020304" pitchFamily="18" charset="0"/>
              <a:ea typeface="+mn-ea"/>
            </a:endParaRP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n-US" altLang="el-GR" sz="1800" b="0" i="0" u="none" strike="noStrike" kern="0" cap="none" spc="0" normalizeH="0" baseline="0" noProof="0" dirty="0">
                <a:ln>
                  <a:noFill/>
                </a:ln>
                <a:solidFill>
                  <a:srgbClr val="000000"/>
                </a:solidFill>
                <a:effectLst/>
                <a:uLnTx/>
                <a:uFillTx/>
                <a:latin typeface="Tahoma"/>
              </a:rPr>
              <a:t>The class from which the subclass is derived </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None/>
              <a:tabLst/>
              <a:defRPr/>
            </a:pPr>
            <a:r>
              <a:rPr kumimoji="0" lang="en-US" altLang="el-GR" sz="1800" b="0" i="0" u="none" strike="noStrike" kern="0" cap="none" spc="0" normalizeH="0" baseline="0" noProof="0" dirty="0">
                <a:ln>
                  <a:noFill/>
                </a:ln>
                <a:solidFill>
                  <a:srgbClr val="000000"/>
                </a:solidFill>
                <a:effectLst/>
                <a:uLnTx/>
                <a:uFillTx/>
                <a:latin typeface="Tahoma"/>
              </a:rPr>
              <a:t>	(</a:t>
            </a:r>
            <a:r>
              <a:rPr kumimoji="0" lang="en-US" altLang="el-GR" sz="1800" b="1" i="1" u="none" strike="noStrike" kern="0" cap="none" spc="0" normalizeH="0" baseline="0" noProof="0" dirty="0">
                <a:ln>
                  <a:noFill/>
                </a:ln>
                <a:solidFill>
                  <a:srgbClr val="000000"/>
                </a:solidFill>
                <a:effectLst/>
                <a:uLnTx/>
                <a:uFillTx/>
                <a:latin typeface="Tahoma"/>
              </a:rPr>
              <a:t>base</a:t>
            </a:r>
            <a:r>
              <a:rPr kumimoji="0" lang="en-US" altLang="el-GR" sz="1800" b="0" i="1" u="none" strike="noStrike" kern="0" cap="none" spc="0" normalizeH="0" baseline="0" noProof="0" dirty="0">
                <a:ln>
                  <a:noFill/>
                </a:ln>
                <a:solidFill>
                  <a:srgbClr val="000000"/>
                </a:solidFill>
                <a:effectLst/>
                <a:uLnTx/>
                <a:uFillTx/>
                <a:latin typeface="Tahoma"/>
              </a:rPr>
              <a:t> class</a:t>
            </a:r>
            <a:r>
              <a:rPr kumimoji="0" lang="en-US" altLang="el-GR" sz="1800" b="0" i="0" u="none" strike="noStrike" kern="0" cap="none" spc="0" normalizeH="0" baseline="0" noProof="0" dirty="0">
                <a:ln>
                  <a:noFill/>
                </a:ln>
                <a:solidFill>
                  <a:srgbClr val="000000"/>
                </a:solidFill>
                <a:effectLst/>
                <a:uLnTx/>
                <a:uFillTx/>
                <a:latin typeface="Tahoma"/>
              </a:rPr>
              <a:t> or </a:t>
            </a:r>
            <a:r>
              <a:rPr kumimoji="0" lang="en-US" altLang="el-GR" sz="1800" b="1" i="1" u="none" strike="noStrike" kern="0" cap="none" spc="0" normalizeH="0" baseline="0" noProof="0" dirty="0">
                <a:ln>
                  <a:noFill/>
                </a:ln>
                <a:solidFill>
                  <a:srgbClr val="000000"/>
                </a:solidFill>
                <a:effectLst/>
                <a:uLnTx/>
                <a:uFillTx/>
                <a:latin typeface="Tahoma"/>
              </a:rPr>
              <a:t>parent</a:t>
            </a:r>
            <a:r>
              <a:rPr kumimoji="0" lang="en-US" altLang="el-GR" sz="1800" b="0" i="1" u="none" strike="noStrike" kern="0" cap="none" spc="0" normalizeH="0" baseline="0" noProof="0" dirty="0">
                <a:ln>
                  <a:noFill/>
                </a:ln>
                <a:solidFill>
                  <a:srgbClr val="000000"/>
                </a:solidFill>
                <a:effectLst/>
                <a:uLnTx/>
                <a:uFillTx/>
                <a:latin typeface="Tahoma"/>
              </a:rPr>
              <a:t> class</a:t>
            </a:r>
            <a:r>
              <a:rPr kumimoji="0" lang="en-US" altLang="el-GR" sz="1800" b="0" i="0" u="none" strike="noStrike" kern="0" cap="none" spc="0" normalizeH="0" baseline="0" noProof="0" dirty="0">
                <a:ln>
                  <a:noFill/>
                </a:ln>
                <a:solidFill>
                  <a:srgbClr val="000000"/>
                </a:solidFill>
                <a:effectLst/>
                <a:uLnTx/>
                <a:uFillTx/>
                <a:latin typeface="Tahoma"/>
              </a:rPr>
              <a:t>).</a:t>
            </a:r>
            <a:endParaRPr kumimoji="0" lang="el-GR" altLang="el-GR" sz="1800" b="0" i="0" u="none" strike="noStrike" kern="0" cap="none" spc="0" normalizeH="0" baseline="0" noProof="0" dirty="0">
              <a:ln>
                <a:noFill/>
              </a:ln>
              <a:solidFill>
                <a:srgbClr val="000000"/>
              </a:solidFill>
              <a:effectLst/>
              <a:uLnTx/>
              <a:uFillTx/>
              <a:latin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 subclass inherits</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n-US" altLang="el-GR" sz="1800" b="0" i="0" u="none" strike="noStrike" kern="0" cap="none" spc="0" normalizeH="0" baseline="0" noProof="0" dirty="0">
                <a:ln>
                  <a:noFill/>
                </a:ln>
                <a:solidFill>
                  <a:srgbClr val="000000"/>
                </a:solidFill>
                <a:effectLst/>
                <a:uLnTx/>
                <a:uFillTx/>
                <a:latin typeface="Tahoma"/>
              </a:rPr>
              <a:t>all the </a:t>
            </a:r>
            <a:r>
              <a:rPr kumimoji="0" lang="en-US" altLang="el-GR" sz="1800" b="0" i="1" u="none" strike="noStrike" kern="0" cap="none" spc="0" normalizeH="0" baseline="0" noProof="0" dirty="0">
                <a:ln>
                  <a:noFill/>
                </a:ln>
                <a:solidFill>
                  <a:srgbClr val="000000"/>
                </a:solidFill>
                <a:effectLst/>
                <a:uLnTx/>
                <a:uFillTx/>
                <a:latin typeface="Tahoma"/>
              </a:rPr>
              <a:t>members</a:t>
            </a:r>
            <a:r>
              <a:rPr kumimoji="0" lang="en-US" altLang="el-GR" sz="1800" b="0" i="0" u="none" strike="noStrike" kern="0" cap="none" spc="0" normalizeH="0" baseline="0" noProof="0" dirty="0">
                <a:ln>
                  <a:noFill/>
                </a:ln>
                <a:solidFill>
                  <a:srgbClr val="000000"/>
                </a:solidFill>
                <a:effectLst/>
                <a:uLnTx/>
                <a:uFillTx/>
                <a:latin typeface="Tahoma"/>
              </a:rPr>
              <a:t> (fields, methods, and nested classes) from its superclass. </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n-US" altLang="el-GR" sz="1800" b="1" i="0" u="none" strike="noStrike" kern="0" cap="none" spc="0" normalizeH="0" baseline="0" noProof="0" dirty="0">
                <a:ln>
                  <a:noFill/>
                </a:ln>
                <a:solidFill>
                  <a:srgbClr val="FF0000"/>
                </a:solidFill>
                <a:effectLst/>
                <a:uLnTx/>
                <a:uFillTx/>
                <a:latin typeface="Tahoma"/>
              </a:rPr>
              <a:t>Constructors</a:t>
            </a:r>
            <a:r>
              <a:rPr kumimoji="0" lang="en-US" altLang="el-GR" sz="1800" b="0" i="0" u="none" strike="noStrike" kern="0" cap="none" spc="0" normalizeH="0" baseline="0" noProof="0" dirty="0">
                <a:ln>
                  <a:noFill/>
                </a:ln>
                <a:solidFill>
                  <a:srgbClr val="000000"/>
                </a:solidFill>
                <a:effectLst/>
                <a:uLnTx/>
                <a:uFillTx/>
                <a:latin typeface="Tahoma"/>
              </a:rPr>
              <a:t> are not members, so they </a:t>
            </a:r>
            <a:r>
              <a:rPr kumimoji="0" lang="en-US" altLang="el-GR" sz="1800" b="1" i="0" u="none" strike="noStrike" kern="0" cap="none" spc="0" normalizeH="0" baseline="0" noProof="0" dirty="0">
                <a:ln>
                  <a:noFill/>
                </a:ln>
                <a:solidFill>
                  <a:srgbClr val="FF0000"/>
                </a:solidFill>
                <a:effectLst/>
                <a:uLnTx/>
                <a:uFillTx/>
                <a:latin typeface="Tahoma"/>
              </a:rPr>
              <a:t>are not inherited by subclasses</a:t>
            </a:r>
            <a:r>
              <a:rPr kumimoji="0" lang="en-US" altLang="el-GR" sz="1800" b="0" i="0" u="none" strike="noStrike" kern="0" cap="none" spc="0" normalizeH="0" baseline="0" noProof="0" dirty="0">
                <a:ln>
                  <a:noFill/>
                </a:ln>
                <a:solidFill>
                  <a:srgbClr val="000000"/>
                </a:solidFill>
                <a:effectLst/>
                <a:uLnTx/>
                <a:uFillTx/>
                <a:latin typeface="Tahoma"/>
              </a:rPr>
              <a:t>, but the constructor of the superclass can be invoked from the subclass.</a:t>
            </a:r>
            <a:endParaRPr kumimoji="0" lang="el-GR" altLang="el-GR"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n-GB" altLang="el-GR"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nheritance</a:t>
            </a:r>
            <a:endParaRPr kumimoji="0" lang="el-GR" altLang="el-GR" sz="2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n-US" altLang="el-GR"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is a way to reuse code of existing objects, or to establish a subtype from an existing object, or both, depending upon programming language support</a:t>
            </a:r>
            <a:endParaRPr kumimoji="0" lang="el-GR" altLang="el-GR"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3" name="Θέση υποσέλιδου 4">
            <a:extLst>
              <a:ext uri="{FF2B5EF4-FFF2-40B4-BE49-F238E27FC236}">
                <a16:creationId xmlns:a16="http://schemas.microsoft.com/office/drawing/2014/main" id="{086A4B41-0943-EE5F-BF67-558573B422D8}"/>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40422224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2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0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20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20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20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animEffect transition="in" filter="blinds(horizontal)">
                                      <p:cBhvr>
                                        <p:cTn id="37" dur="500"/>
                                        <p:tgtEl>
                                          <p:spTgt spid="18">
                                            <p:txEl>
                                              <p:pRg st="0" end="0"/>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8">
                                            <p:txEl>
                                              <p:pRg st="1" end="1"/>
                                            </p:txEl>
                                          </p:spTgt>
                                        </p:tgtEl>
                                        <p:attrNameLst>
                                          <p:attrName>style.visibility</p:attrName>
                                        </p:attrNameLst>
                                      </p:cBhvr>
                                      <p:to>
                                        <p:strVal val="visible"/>
                                      </p:to>
                                    </p:set>
                                    <p:animEffect transition="in" filter="blinds(horizontal)">
                                      <p:cBhvr>
                                        <p:cTn id="40" dur="500"/>
                                        <p:tgtEl>
                                          <p:spTgt spid="18">
                                            <p:txEl>
                                              <p:pRg st="1" end="1"/>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8">
                                            <p:txEl>
                                              <p:pRg st="2" end="2"/>
                                            </p:txEl>
                                          </p:spTgt>
                                        </p:tgtEl>
                                        <p:attrNameLst>
                                          <p:attrName>style.visibility</p:attrName>
                                        </p:attrNameLst>
                                      </p:cBhvr>
                                      <p:to>
                                        <p:strVal val="visible"/>
                                      </p:to>
                                    </p:set>
                                    <p:animEffect transition="in" filter="blinds(horizontal)">
                                      <p:cBhvr>
                                        <p:cTn id="43" dur="500"/>
                                        <p:tgtEl>
                                          <p:spTgt spid="18">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8">
                                            <p:txEl>
                                              <p:pRg st="3" end="3"/>
                                            </p:txEl>
                                          </p:spTgt>
                                        </p:tgtEl>
                                        <p:attrNameLst>
                                          <p:attrName>style.visibility</p:attrName>
                                        </p:attrNameLst>
                                      </p:cBhvr>
                                      <p:to>
                                        <p:strVal val="visible"/>
                                      </p:to>
                                    </p:set>
                                    <p:animEffect transition="in" filter="blinds(horizontal)">
                                      <p:cBhvr>
                                        <p:cTn id="48" dur="500"/>
                                        <p:tgtEl>
                                          <p:spTgt spid="18">
                                            <p:txEl>
                                              <p:pRg st="3" end="3"/>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8">
                                            <p:txEl>
                                              <p:pRg st="4" end="4"/>
                                            </p:txEl>
                                          </p:spTgt>
                                        </p:tgtEl>
                                        <p:attrNameLst>
                                          <p:attrName>style.visibility</p:attrName>
                                        </p:attrNameLst>
                                      </p:cBhvr>
                                      <p:to>
                                        <p:strVal val="visible"/>
                                      </p:to>
                                    </p:set>
                                    <p:animEffect transition="in" filter="blinds(horizontal)">
                                      <p:cBhvr>
                                        <p:cTn id="51" dur="500"/>
                                        <p:tgtEl>
                                          <p:spTgt spid="18">
                                            <p:txEl>
                                              <p:pRg st="4" end="4"/>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8">
                                            <p:txEl>
                                              <p:pRg st="5" end="5"/>
                                            </p:txEl>
                                          </p:spTgt>
                                        </p:tgtEl>
                                        <p:attrNameLst>
                                          <p:attrName>style.visibility</p:attrName>
                                        </p:attrNameLst>
                                      </p:cBhvr>
                                      <p:to>
                                        <p:strVal val="visible"/>
                                      </p:to>
                                    </p:set>
                                    <p:animEffect transition="in" filter="blinds(horizontal)">
                                      <p:cBhvr>
                                        <p:cTn id="54" dur="500"/>
                                        <p:tgtEl>
                                          <p:spTgt spid="18">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8">
                                            <p:txEl>
                                              <p:pRg st="6" end="6"/>
                                            </p:txEl>
                                          </p:spTgt>
                                        </p:tgtEl>
                                        <p:attrNameLst>
                                          <p:attrName>style.visibility</p:attrName>
                                        </p:attrNameLst>
                                      </p:cBhvr>
                                      <p:to>
                                        <p:strVal val="visible"/>
                                      </p:to>
                                    </p:set>
                                    <p:animEffect transition="in" filter="blinds(horizontal)">
                                      <p:cBhvr>
                                        <p:cTn id="59" dur="500"/>
                                        <p:tgtEl>
                                          <p:spTgt spid="18">
                                            <p:txEl>
                                              <p:pRg st="6" end="6"/>
                                            </p:txEl>
                                          </p:spTgt>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8">
                                            <p:txEl>
                                              <p:pRg st="7" end="7"/>
                                            </p:txEl>
                                          </p:spTgt>
                                        </p:tgtEl>
                                        <p:attrNameLst>
                                          <p:attrName>style.visibility</p:attrName>
                                        </p:attrNameLst>
                                      </p:cBhvr>
                                      <p:to>
                                        <p:strVal val="visible"/>
                                      </p:to>
                                    </p:set>
                                    <p:animEffect transition="in" filter="blinds(horizontal)">
                                      <p:cBhvr>
                                        <p:cTn id="62" dur="500"/>
                                        <p:tgtEl>
                                          <p:spTgt spid="18">
                                            <p:txEl>
                                              <p:pRg st="7" end="7"/>
                                            </p:txEl>
                                          </p:spTgt>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18">
                                            <p:txEl>
                                              <p:pRg st="8" end="8"/>
                                            </p:txEl>
                                          </p:spTgt>
                                        </p:tgtEl>
                                        <p:attrNameLst>
                                          <p:attrName>style.visibility</p:attrName>
                                        </p:attrNameLst>
                                      </p:cBhvr>
                                      <p:to>
                                        <p:strVal val="visible"/>
                                      </p:to>
                                    </p:set>
                                    <p:animEffect transition="in" filter="blinds(horizontal)">
                                      <p:cBhvr>
                                        <p:cTn id="65" dur="500"/>
                                        <p:tgtEl>
                                          <p:spTgt spid="18">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8">
                                            <p:txEl>
                                              <p:pRg st="9" end="9"/>
                                            </p:txEl>
                                          </p:spTgt>
                                        </p:tgtEl>
                                        <p:attrNameLst>
                                          <p:attrName>style.visibility</p:attrName>
                                        </p:attrNameLst>
                                      </p:cBhvr>
                                      <p:to>
                                        <p:strVal val="visible"/>
                                      </p:to>
                                    </p:set>
                                    <p:animEffect transition="in" filter="blinds(horizontal)">
                                      <p:cBhvr>
                                        <p:cTn id="70" dur="500"/>
                                        <p:tgtEl>
                                          <p:spTgt spid="18">
                                            <p:txEl>
                                              <p:pRg st="9" end="9"/>
                                            </p:txEl>
                                          </p:spTgt>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8">
                                            <p:txEl>
                                              <p:pRg st="10" end="10"/>
                                            </p:txEl>
                                          </p:spTgt>
                                        </p:tgtEl>
                                        <p:attrNameLst>
                                          <p:attrName>style.visibility</p:attrName>
                                        </p:attrNameLst>
                                      </p:cBhvr>
                                      <p:to>
                                        <p:strVal val="visible"/>
                                      </p:to>
                                    </p:set>
                                    <p:animEffect transition="in" filter="blinds(horizontal)">
                                      <p:cBhvr>
                                        <p:cTn id="73" dur="500"/>
                                        <p:tgtEl>
                                          <p:spTgt spid="1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7" grpId="0" animBg="1"/>
      <p:bldP spid="1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Java Platform Class Hierarchy</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Content Placeholder 3">
            <a:extLst>
              <a:ext uri="{FF2B5EF4-FFF2-40B4-BE49-F238E27FC236}">
                <a16:creationId xmlns:a16="http://schemas.microsoft.com/office/drawing/2014/main" id="{484A453A-9A9C-055A-9B07-C59CB91EE260}"/>
              </a:ext>
            </a:extLst>
          </p:cNvPr>
          <p:cNvSpPr txBox="1">
            <a:spLocks noChangeArrowheads="1"/>
          </p:cNvSpPr>
          <p:nvPr/>
        </p:nvSpPr>
        <p:spPr bwMode="auto">
          <a:xfrm>
            <a:off x="21491" y="5072812"/>
            <a:ext cx="120840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000" b="0" i="0" u="none" strike="noStrike" kern="0" cap="none" spc="0" normalizeH="0" baseline="0" noProof="0" dirty="0">
                <a:ln>
                  <a:noFill/>
                </a:ln>
                <a:solidFill>
                  <a:srgbClr val="000000"/>
                </a:solidFill>
                <a:effectLst/>
                <a:uLnTx/>
                <a:uFillTx/>
                <a:latin typeface="Tahoma"/>
                <a:ea typeface="+mn-ea"/>
                <a:cs typeface="+mn-cs"/>
              </a:rPr>
              <a:t>In the Java platform, many classes derive directly from Object, other classes derive from some of those classes, and so on, forming a hierarchy of classes.</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000" b="0" i="0" u="none" strike="noStrike" kern="0" cap="none" spc="0" normalizeH="0" baseline="0" noProof="0" dirty="0">
                <a:ln>
                  <a:noFill/>
                </a:ln>
                <a:solidFill>
                  <a:srgbClr val="000000"/>
                </a:solidFill>
                <a:effectLst/>
                <a:uLnTx/>
                <a:uFillTx/>
                <a:latin typeface="Tahoma"/>
                <a:ea typeface="+mn-ea"/>
                <a:cs typeface="+mn-cs"/>
              </a:rPr>
              <a:t>The </a:t>
            </a:r>
            <a:r>
              <a:rPr kumimoji="0" lang="en-US" altLang="el-GR" sz="2000" b="1" i="0" u="none" strike="noStrike" kern="0" cap="none" spc="0" normalizeH="0" baseline="0" noProof="0" dirty="0">
                <a:ln>
                  <a:noFill/>
                </a:ln>
                <a:solidFill>
                  <a:srgbClr val="000000"/>
                </a:solidFill>
                <a:effectLst/>
                <a:uLnTx/>
                <a:uFillTx/>
                <a:latin typeface="Tahoma"/>
                <a:ea typeface="+mn-ea"/>
                <a:cs typeface="+mn-cs"/>
              </a:rPr>
              <a:t>Object</a:t>
            </a: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class (</a:t>
            </a:r>
            <a:r>
              <a:rPr kumimoji="0" lang="en-US" altLang="el-GR" sz="2000" b="0" i="0" u="none" strike="noStrike" kern="0" cap="none" spc="0" normalizeH="0" baseline="0" noProof="0" dirty="0" err="1">
                <a:ln>
                  <a:noFill/>
                </a:ln>
                <a:solidFill>
                  <a:srgbClr val="000000"/>
                </a:solidFill>
                <a:effectLst/>
                <a:uLnTx/>
                <a:uFillTx/>
                <a:latin typeface="Tahoma"/>
                <a:ea typeface="+mn-ea"/>
                <a:cs typeface="+mn-cs"/>
              </a:rPr>
              <a:t>java.lang</a:t>
            </a: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package) defines and implements behavior common to all Java classes—including the ones that you write.</a:t>
            </a:r>
            <a:endParaRPr kumimoji="0" lang="el-GR" altLang="el-GR" sz="2000" b="0" i="0" u="none" strike="noStrike" kern="0" cap="none" spc="0" normalizeH="0" baseline="0" noProof="0" dirty="0">
              <a:ln>
                <a:noFill/>
              </a:ln>
              <a:solidFill>
                <a:srgbClr val="000000"/>
              </a:solidFill>
              <a:effectLst/>
              <a:uLnTx/>
              <a:uFillTx/>
              <a:latin typeface="Tahoma"/>
              <a:ea typeface="+mn-ea"/>
              <a:cs typeface="+mn-cs"/>
            </a:endParaRPr>
          </a:p>
        </p:txBody>
      </p:sp>
      <p:pic>
        <p:nvPicPr>
          <p:cNvPr id="7" name="Picture 5">
            <a:extLst>
              <a:ext uri="{FF2B5EF4-FFF2-40B4-BE49-F238E27FC236}">
                <a16:creationId xmlns:a16="http://schemas.microsoft.com/office/drawing/2014/main" id="{BF5EFC32-8F2A-8303-1CC3-EDC61AD1448A}"/>
              </a:ext>
            </a:extLst>
          </p:cNvPr>
          <p:cNvPicPr>
            <a:picLocks noChangeAspect="1" noChangeArrowheads="1"/>
          </p:cNvPicPr>
          <p:nvPr/>
        </p:nvPicPr>
        <p:blipFill>
          <a:blip r:embed="rId3"/>
          <a:srcRect/>
          <a:stretch>
            <a:fillRect/>
          </a:stretch>
        </p:blipFill>
        <p:spPr bwMode="auto">
          <a:xfrm>
            <a:off x="86459" y="3893521"/>
            <a:ext cx="10820218" cy="996112"/>
          </a:xfrm>
          <a:prstGeom prst="rect">
            <a:avLst/>
          </a:prstGeom>
          <a:noFill/>
          <a:ln w="9525" cap="flat" cmpd="sng">
            <a:noFill/>
            <a:prstDash val="solid"/>
            <a:miter lim="800000"/>
            <a:headEnd type="none" w="med" len="med"/>
            <a:tailEnd type="none" w="med" len="med"/>
          </a:ln>
          <a:effectLst>
            <a:outerShdw blurRad="50800" dist="50800" dir="5400000" algn="ctr" rotWithShape="0">
              <a:srgbClr val="000000">
                <a:alpha val="14000"/>
              </a:srgbClr>
            </a:outerShdw>
          </a:effectLst>
        </p:spPr>
      </p:pic>
      <p:pic>
        <p:nvPicPr>
          <p:cNvPr id="6" name="Picture 2">
            <a:extLst>
              <a:ext uri="{FF2B5EF4-FFF2-40B4-BE49-F238E27FC236}">
                <a16:creationId xmlns:a16="http://schemas.microsoft.com/office/drawing/2014/main" id="{2AC153DC-570C-73CA-74E3-E93BA7742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3604" y="719331"/>
            <a:ext cx="8459787" cy="360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Θέση υποσέλιδου 4">
            <a:extLst>
              <a:ext uri="{FF2B5EF4-FFF2-40B4-BE49-F238E27FC236}">
                <a16:creationId xmlns:a16="http://schemas.microsoft.com/office/drawing/2014/main" id="{F7CA029A-E301-F04F-0517-4188AF0125CF}"/>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6934817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Κληρονομικότητα</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Rectangle 3">
            <a:extLst>
              <a:ext uri="{FF2B5EF4-FFF2-40B4-BE49-F238E27FC236}">
                <a16:creationId xmlns:a16="http://schemas.microsoft.com/office/drawing/2014/main" id="{807315C1-70D7-6398-6A2A-A69C3B163BEE}"/>
              </a:ext>
            </a:extLst>
          </p:cNvPr>
          <p:cNvSpPr txBox="1">
            <a:spLocks noChangeArrowheads="1"/>
          </p:cNvSpPr>
          <p:nvPr/>
        </p:nvSpPr>
        <p:spPr bwMode="auto">
          <a:xfrm>
            <a:off x="377703" y="1371600"/>
            <a:ext cx="103489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1"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είναι</a:t>
            </a: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 </a:t>
            </a:r>
            <a:r>
              <a:rPr kumimoji="0" lang="el-GR" altLang="el-GR" sz="2800" b="0" i="0" u="none" strike="noStrike" kern="0" cap="none" spc="0" normalizeH="0" baseline="0" noProof="0" dirty="0">
                <a:ln>
                  <a:noFill/>
                </a:ln>
                <a:solidFill>
                  <a:srgbClr val="FF0000"/>
                </a:solidFill>
                <a:effectLst/>
                <a:uLnTx/>
                <a:uFillTx/>
                <a:latin typeface="Tahoma"/>
                <a:ea typeface="+mn-ea"/>
                <a:cs typeface="Times New Roman" panose="02020603050405020304" pitchFamily="18" charset="0"/>
              </a:rPr>
              <a:t>ο μηχανισμός του περιβάλλοντος υλοποίησης</a:t>
            </a: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 που μας επιτρέπει </a:t>
            </a:r>
            <a:endParaRPr kumimoji="0" lang="el-GR" altLang="el-GR" sz="2800" b="0" i="0" u="none" strike="noStrike" kern="0" cap="none" spc="0" normalizeH="0" baseline="0" noProof="0" dirty="0">
              <a:ln>
                <a:noFill/>
              </a:ln>
              <a:solidFill>
                <a:srgbClr val="000000"/>
              </a:solidFill>
              <a:effectLst/>
              <a:uLnTx/>
              <a:uFillTx/>
              <a:latin typeface="Tahoma"/>
              <a:ea typeface="+mn-ea"/>
            </a:endParaRP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να υλοποιήσουμε την σχέση </a:t>
            </a:r>
            <a:r>
              <a:rPr kumimoji="0" lang="el-GR" altLang="el-GR"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γενίκευσης/εξειδίκευσης</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μεταξύ των εννοιών της περιοχής του προβλήματος (</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problem</a:t>
            </a:r>
            <a:r>
              <a:rPr kumimoji="0" lang="el-GR" altLang="el-GR"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space</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endPar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να αναπτύξουμε νέες κλάσεις της περιοχής λύσης του προβλήματος (</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solution</a:t>
            </a:r>
            <a:r>
              <a:rPr kumimoji="0" lang="el-GR" altLang="el-GR"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space</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οι οποίες θα κληρονομούν χαρακτηριστικά από άλλες ήδη υπάρχουσες κλάσεις. </a:t>
            </a:r>
            <a:endPar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n-GB" altLang="el-GR"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H </a:t>
            </a:r>
            <a:r>
              <a:rPr kumimoji="0" lang="el-GR" altLang="el-GR"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κληρονομικότητα</a:t>
            </a:r>
            <a:r>
              <a:rPr kumimoji="0" lang="el-GR" altLang="el-GR" sz="2800" b="1" i="0" u="none" strike="noStrike" kern="0" cap="none" spc="0" normalizeH="0" noProof="0" dirty="0">
                <a:ln>
                  <a:noFill/>
                </a:ln>
                <a:solidFill>
                  <a:srgbClr val="000000"/>
                </a:solidFill>
                <a:effectLst/>
                <a:uLnTx/>
                <a:uFillTx/>
                <a:latin typeface="Times New Roman" panose="02020603050405020304" pitchFamily="18" charset="0"/>
                <a:ea typeface="+mn-ea"/>
                <a:cs typeface="+mn-cs"/>
              </a:rPr>
              <a:t> </a:t>
            </a:r>
            <a:r>
              <a:rPr kumimoji="0" lang="el-GR" altLang="el-GR"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επιτρέπει</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rPr>
              <a:t>σε ν</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έες κλάσεις </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rPr>
              <a:t>να </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κληρονομούν την δομή ή/και την συμπεριφορά που ορίζεται σε μία (απλή κληρονομικότητα-</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single</a:t>
            </a:r>
            <a:r>
              <a:rPr kumimoji="0" lang="el-GR" altLang="el-GR"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inheritance</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ή περισσότερες (πολλαπλή κληρονομικότητα-</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multiple</a:t>
            </a:r>
            <a:r>
              <a:rPr kumimoji="0" lang="el-GR" altLang="el-GR"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l-GR" altLang="el-GR" sz="24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inheritance</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άλλες κλάσεις</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rPr>
              <a:t>.</a:t>
            </a:r>
            <a:r>
              <a:rPr kumimoji="0" lang="en-GB" altLang="el-GR" sz="2400" b="0" i="0" u="none" strike="noStrike" kern="0" cap="none" spc="0" normalizeH="0" baseline="0" noProof="0" dirty="0">
                <a:ln>
                  <a:noFill/>
                </a:ln>
                <a:solidFill>
                  <a:srgbClr val="000000"/>
                </a:solidFill>
                <a:effectLst/>
                <a:uLnTx/>
                <a:uFillTx/>
                <a:latin typeface="Times New Roman" panose="02020603050405020304" pitchFamily="18" charset="0"/>
              </a:rPr>
              <a:t> </a:t>
            </a:r>
          </a:p>
        </p:txBody>
      </p:sp>
      <p:sp>
        <p:nvSpPr>
          <p:cNvPr id="3" name="Θέση υποσέλιδου 4">
            <a:extLst>
              <a:ext uri="{FF2B5EF4-FFF2-40B4-BE49-F238E27FC236}">
                <a16:creationId xmlns:a16="http://schemas.microsoft.com/office/drawing/2014/main" id="{BD514C35-1D3C-2A23-A8C2-D3B39AAD68FA}"/>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39810506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20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3">
            <a:extLst>
              <a:ext uri="{FF2B5EF4-FFF2-40B4-BE49-F238E27FC236}">
                <a16:creationId xmlns:a16="http://schemas.microsoft.com/office/drawing/2014/main" id="{D00A73DD-A4AD-2E56-2E78-11F100DEBBF4}"/>
              </a:ext>
            </a:extLst>
          </p:cNvPr>
          <p:cNvSpPr txBox="1">
            <a:spLocks noChangeArrowheads="1"/>
          </p:cNvSpPr>
          <p:nvPr/>
        </p:nvSpPr>
        <p:spPr bwMode="auto">
          <a:xfrm>
            <a:off x="140669" y="662761"/>
            <a:ext cx="11541733" cy="603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000000"/>
                </a:solidFill>
                <a:effectLst/>
                <a:uLnTx/>
                <a:uFillTx/>
                <a:latin typeface="Tahoma"/>
                <a:ea typeface="+mn-ea"/>
                <a:cs typeface="+mn-cs"/>
              </a:rPr>
              <a:t>Εισαγωγή στην Κληρονομικότητα</a:t>
            </a:r>
            <a:endParaRPr kumimoji="0" lang="en-US" altLang="el-GR" sz="3200" b="1"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Βασικές έννοιες</a:t>
            </a:r>
          </a:p>
          <a:p>
            <a:pPr lvl="1" indent="-342900" eaLnBrk="1" hangingPunct="1">
              <a:buClr>
                <a:srgbClr val="3333CC"/>
              </a:buClr>
              <a:buSzPct val="60000"/>
              <a:defRPr/>
            </a:pPr>
            <a:r>
              <a:rPr lang="el-GR" altLang="el-GR" sz="2400" b="1" kern="0" dirty="0">
                <a:solidFill>
                  <a:srgbClr val="000000"/>
                </a:solidFill>
                <a:latin typeface="Tahoma"/>
              </a:rPr>
              <a:t>Παράδειγμα Κληρονομικότητας (</a:t>
            </a:r>
            <a:r>
              <a:rPr lang="en-GB" altLang="el-GR" sz="2400" b="1" kern="0" dirty="0" err="1">
                <a:solidFill>
                  <a:srgbClr val="000000"/>
                </a:solidFill>
                <a:latin typeface="Tahoma"/>
              </a:rPr>
              <a:t>WindowsApp</a:t>
            </a:r>
            <a:r>
              <a:rPr lang="el-GR" altLang="el-GR" sz="2400" b="1" kern="0" dirty="0">
                <a:solidFill>
                  <a:srgbClr val="000000"/>
                </a:solidFill>
                <a:latin typeface="Tahoma"/>
              </a:rPr>
              <a:t>) </a:t>
            </a:r>
          </a:p>
          <a:p>
            <a:pPr lvl="1" indent="-342900" eaLnBrk="1" hangingPunct="1">
              <a:buClr>
                <a:srgbClr val="3333CC"/>
              </a:buClr>
              <a:buSzPct val="60000"/>
              <a:defRPr/>
            </a:pPr>
            <a:r>
              <a:rPr lang="en-GB" altLang="el-GR" sz="2400" b="1" kern="0" dirty="0">
                <a:solidFill>
                  <a:srgbClr val="000000"/>
                </a:solidFill>
                <a:latin typeface="Tahoma"/>
              </a:rPr>
              <a:t>Abstract </a:t>
            </a:r>
            <a:r>
              <a:rPr lang="el-GR" altLang="el-GR" sz="2400" b="1" kern="0" dirty="0">
                <a:solidFill>
                  <a:srgbClr val="000000"/>
                </a:solidFill>
                <a:latin typeface="Tahoma"/>
              </a:rPr>
              <a:t>μέθοδοι και </a:t>
            </a:r>
            <a:r>
              <a:rPr lang="en-GB" altLang="el-GR" sz="2400" b="1" kern="0" dirty="0">
                <a:solidFill>
                  <a:srgbClr val="000000"/>
                </a:solidFill>
                <a:latin typeface="Tahoma"/>
              </a:rPr>
              <a:t>Abstract</a:t>
            </a:r>
            <a:r>
              <a:rPr lang="el-GR" altLang="el-GR" sz="2400" b="1" kern="0" dirty="0">
                <a:solidFill>
                  <a:srgbClr val="000000"/>
                </a:solidFill>
                <a:latin typeface="Tahoma"/>
              </a:rPr>
              <a:t> κλάσεις</a:t>
            </a:r>
            <a:endParaRPr kumimoji="0" lang="en-US" altLang="el-GR" sz="2400" b="1"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altLang="el-GR" sz="2400" b="1" kern="0" dirty="0">
                <a:solidFill>
                  <a:srgbClr val="000000"/>
                </a:solidFill>
                <a:latin typeface="Tahoma"/>
              </a:rPr>
              <a:t>Shadowed variables-Overriding methods</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Πολλαπλή κληρονομικότητα (</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Multiple inheritance</a:t>
            </a:r>
            <a:r>
              <a:rPr kumimoji="0" lang="el-GR" altLang="el-GR" sz="3200" b="0" i="0" u="none" strike="noStrike" kern="0" cap="none" spc="0" normalizeH="0" baseline="0" noProof="0" dirty="0">
                <a:ln>
                  <a:noFill/>
                </a:ln>
                <a:solidFill>
                  <a:srgbClr val="000000"/>
                </a:solidFill>
                <a:effectLst/>
                <a:uLnTx/>
                <a:uFillTx/>
                <a:latin typeface="Tahoma"/>
                <a:ea typeface="+mn-ea"/>
                <a:cs typeface="+mn-cs"/>
              </a:rPr>
              <a:t>)</a:t>
            </a:r>
            <a:endParaRPr kumimoji="0" lang="en-US" altLang="el-GR" sz="32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Πολυμορφισμός (</a:t>
            </a:r>
            <a:r>
              <a:rPr kumimoji="0" lang="en-GB" altLang="el-GR" sz="3200" b="0" i="0" u="none" strike="noStrike" kern="0" cap="none" spc="0" normalizeH="0" baseline="0" noProof="0" dirty="0">
                <a:ln>
                  <a:noFill/>
                </a:ln>
                <a:solidFill>
                  <a:srgbClr val="000000"/>
                </a:solidFill>
                <a:effectLst/>
                <a:uLnTx/>
                <a:uFillTx/>
                <a:latin typeface="Tahoma"/>
                <a:ea typeface="+mn-ea"/>
                <a:cs typeface="+mn-cs"/>
              </a:rPr>
              <a:t>Polymorphism)</a:t>
            </a:r>
            <a:endParaRPr kumimoji="0" lang="el-GR" altLang="el-GR" sz="3200" b="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Πολυμορφισμός στην </a:t>
            </a:r>
            <a:r>
              <a:rPr lang="en-GB" altLang="el-GR" sz="2400" kern="0" dirty="0" err="1">
                <a:solidFill>
                  <a:srgbClr val="000000"/>
                </a:solidFill>
                <a:latin typeface="Tahoma"/>
              </a:rPr>
              <a:t>WindowsApp</a:t>
            </a:r>
            <a:endParaRPr lang="en-US" altLang="el-GR" sz="2400" kern="0" dirty="0">
              <a:solidFill>
                <a:srgbClr val="000000"/>
              </a:solidFill>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800" b="0" i="0" u="none" strike="noStrike" kern="0" cap="none" spc="0" normalizeH="0" baseline="0" noProof="0" dirty="0">
                <a:ln>
                  <a:noFill/>
                </a:ln>
                <a:solidFill>
                  <a:srgbClr val="000000"/>
                </a:solidFill>
                <a:effectLst/>
                <a:uLnTx/>
                <a:uFillTx/>
                <a:latin typeface="Tahoma"/>
                <a:ea typeface="+mn-ea"/>
                <a:cs typeface="+mn-cs"/>
              </a:rPr>
              <a:t>Building the inheritance tree</a:t>
            </a:r>
          </a:p>
          <a:p>
            <a:pPr marR="0" lvl="1" indent="-342900" eaLnBrk="1" hangingPunct="1">
              <a:lnSpc>
                <a:spcPct val="100000"/>
              </a:lnSpc>
              <a:buClr>
                <a:srgbClr val="3333CC"/>
              </a:buClr>
              <a:buSzPct val="60000"/>
              <a:tabLst/>
              <a:defRPr/>
            </a:pPr>
            <a:r>
              <a:rPr lang="en-GB" altLang="el-GR" sz="2400" kern="0" dirty="0">
                <a:solidFill>
                  <a:srgbClr val="000000"/>
                </a:solidFill>
                <a:latin typeface="Tahoma"/>
              </a:rPr>
              <a:t>Alternatives in writing a sub class</a:t>
            </a:r>
          </a:p>
          <a:p>
            <a:pPr marR="0" lvl="1" indent="-342900" eaLnBrk="1" hangingPunct="1">
              <a:lnSpc>
                <a:spcPct val="100000"/>
              </a:lnSpc>
              <a:buClr>
                <a:srgbClr val="3333CC"/>
              </a:buClr>
              <a:buSzPct val="60000"/>
              <a:tabLst/>
              <a:defRPr/>
            </a:pPr>
            <a:r>
              <a:rPr lang="en-US" altLang="el-GR" sz="2400" kern="0" dirty="0">
                <a:solidFill>
                  <a:srgbClr val="000000"/>
                </a:solidFill>
                <a:latin typeface="Tahoma"/>
              </a:rPr>
              <a:t>Access level modifiers</a:t>
            </a:r>
            <a:endParaRPr lang="en-GB" altLang="el-GR" sz="2400" kern="0" dirty="0">
              <a:solidFill>
                <a:srgbClr val="000000"/>
              </a:solidFill>
              <a:latin typeface="Tahoma"/>
            </a:endParaRPr>
          </a:p>
        </p:txBody>
      </p:sp>
      <p:sp>
        <p:nvSpPr>
          <p:cNvPr id="5" name="Θέση υποσέλιδου 4">
            <a:extLst>
              <a:ext uri="{FF2B5EF4-FFF2-40B4-BE49-F238E27FC236}">
                <a16:creationId xmlns:a16="http://schemas.microsoft.com/office/drawing/2014/main" id="{AEC04054-865D-3D4E-26D5-F1A509818855}"/>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22149230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WindowsApp</a:t>
            </a:r>
            <a:r>
              <a:rPr lang="en-GB" sz="4000" b="1" dirty="0">
                <a:solidFill>
                  <a:srgbClr val="F9853D"/>
                </a:solidFill>
                <a:latin typeface="Bahnschrift" panose="020B0502040204020203" pitchFamily="34" charset="0"/>
              </a:rPr>
              <a:t> – Identify Inheritance</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p>
        </p:txBody>
      </p:sp>
      <p:grpSp>
        <p:nvGrpSpPr>
          <p:cNvPr id="4" name="Group 35">
            <a:extLst>
              <a:ext uri="{FF2B5EF4-FFF2-40B4-BE49-F238E27FC236}">
                <a16:creationId xmlns:a16="http://schemas.microsoft.com/office/drawing/2014/main" id="{0EFCD4C7-A21F-EE84-CD2E-E6F66D25FBCE}"/>
              </a:ext>
            </a:extLst>
          </p:cNvPr>
          <p:cNvGrpSpPr>
            <a:grpSpLocks/>
          </p:cNvGrpSpPr>
          <p:nvPr/>
        </p:nvGrpSpPr>
        <p:grpSpPr bwMode="auto">
          <a:xfrm>
            <a:off x="683568" y="1484784"/>
            <a:ext cx="4952057" cy="3422179"/>
            <a:chOff x="1237" y="1231"/>
            <a:chExt cx="2767" cy="1769"/>
          </a:xfrm>
        </p:grpSpPr>
        <p:sp>
          <p:nvSpPr>
            <p:cNvPr id="5" name="Rectangle 36">
              <a:extLst>
                <a:ext uri="{FF2B5EF4-FFF2-40B4-BE49-F238E27FC236}">
                  <a16:creationId xmlns:a16="http://schemas.microsoft.com/office/drawing/2014/main" id="{7EAF72C5-039B-3701-9154-20B41E88B9C7}"/>
                </a:ext>
              </a:extLst>
            </p:cNvPr>
            <p:cNvSpPr>
              <a:spLocks noChangeArrowheads="1"/>
            </p:cNvSpPr>
            <p:nvPr/>
          </p:nvSpPr>
          <p:spPr bwMode="auto">
            <a:xfrm>
              <a:off x="1237" y="1231"/>
              <a:ext cx="2767" cy="1769"/>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6" name="Oval 37">
              <a:extLst>
                <a:ext uri="{FF2B5EF4-FFF2-40B4-BE49-F238E27FC236}">
                  <a16:creationId xmlns:a16="http://schemas.microsoft.com/office/drawing/2014/main" id="{52188FA9-3DB8-059E-9FC9-49C007599DE9}"/>
                </a:ext>
              </a:extLst>
            </p:cNvPr>
            <p:cNvSpPr>
              <a:spLocks noChangeArrowheads="1"/>
            </p:cNvSpPr>
            <p:nvPr/>
          </p:nvSpPr>
          <p:spPr bwMode="auto">
            <a:xfrm>
              <a:off x="1338" y="1570"/>
              <a:ext cx="544" cy="545"/>
            </a:xfrm>
            <a:prstGeom prst="ellipse">
              <a:avLst/>
            </a:prstGeom>
            <a:solidFill>
              <a:srgbClr val="00E4A8"/>
            </a:solidFill>
            <a:ln w="9525">
              <a:solidFill>
                <a:srgbClr val="000000"/>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Rectangle 38">
              <a:extLst>
                <a:ext uri="{FF2B5EF4-FFF2-40B4-BE49-F238E27FC236}">
                  <a16:creationId xmlns:a16="http://schemas.microsoft.com/office/drawing/2014/main" id="{950F3D88-4F97-DAAD-5020-BFF27971BB52}"/>
                </a:ext>
              </a:extLst>
            </p:cNvPr>
            <p:cNvSpPr>
              <a:spLocks noChangeArrowheads="1"/>
            </p:cNvSpPr>
            <p:nvPr/>
          </p:nvSpPr>
          <p:spPr bwMode="auto">
            <a:xfrm>
              <a:off x="1973" y="2251"/>
              <a:ext cx="726" cy="680"/>
            </a:xfrm>
            <a:prstGeom prst="rect">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AutoShape 39">
              <a:extLst>
                <a:ext uri="{FF2B5EF4-FFF2-40B4-BE49-F238E27FC236}">
                  <a16:creationId xmlns:a16="http://schemas.microsoft.com/office/drawing/2014/main" id="{F028B8EA-7DE4-491F-15B7-182BCB492F84}"/>
                </a:ext>
              </a:extLst>
            </p:cNvPr>
            <p:cNvSpPr>
              <a:spLocks noChangeArrowheads="1"/>
            </p:cNvSpPr>
            <p:nvPr/>
          </p:nvSpPr>
          <p:spPr bwMode="auto">
            <a:xfrm>
              <a:off x="3198" y="1570"/>
              <a:ext cx="544" cy="545"/>
            </a:xfrm>
            <a:prstGeom prst="triangle">
              <a:avLst>
                <a:gd name="adj" fmla="val 50000"/>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Oval 40">
              <a:extLst>
                <a:ext uri="{FF2B5EF4-FFF2-40B4-BE49-F238E27FC236}">
                  <a16:creationId xmlns:a16="http://schemas.microsoft.com/office/drawing/2014/main" id="{49C065BC-B051-E62C-4E7A-97B7C9CD4506}"/>
                </a:ext>
              </a:extLst>
            </p:cNvPr>
            <p:cNvSpPr>
              <a:spLocks noChangeArrowheads="1"/>
            </p:cNvSpPr>
            <p:nvPr/>
          </p:nvSpPr>
          <p:spPr bwMode="auto">
            <a:xfrm>
              <a:off x="3107" y="2387"/>
              <a:ext cx="544" cy="545"/>
            </a:xfrm>
            <a:prstGeom prst="ellipse">
              <a:avLst/>
            </a:prstGeom>
            <a:solidFill>
              <a:srgbClr val="00E4A8"/>
            </a:solidFill>
            <a:ln w="9525">
              <a:solidFill>
                <a:srgbClr val="000000"/>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41">
              <a:extLst>
                <a:ext uri="{FF2B5EF4-FFF2-40B4-BE49-F238E27FC236}">
                  <a16:creationId xmlns:a16="http://schemas.microsoft.com/office/drawing/2014/main" id="{72BD25A8-4603-722C-F5DA-B2076CBBC1C5}"/>
                </a:ext>
              </a:extLst>
            </p:cNvPr>
            <p:cNvSpPr>
              <a:spLocks noChangeArrowheads="1"/>
            </p:cNvSpPr>
            <p:nvPr/>
          </p:nvSpPr>
          <p:spPr bwMode="auto">
            <a:xfrm>
              <a:off x="2517" y="1434"/>
              <a:ext cx="454" cy="453"/>
            </a:xfrm>
            <a:prstGeom prst="rect">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14" name="Text Box 51">
            <a:extLst>
              <a:ext uri="{FF2B5EF4-FFF2-40B4-BE49-F238E27FC236}">
                <a16:creationId xmlns:a16="http://schemas.microsoft.com/office/drawing/2014/main" id="{729D28A2-DE5C-2E6B-D56A-A19BF160D632}"/>
              </a:ext>
            </a:extLst>
          </p:cNvPr>
          <p:cNvSpPr txBox="1">
            <a:spLocks noChangeArrowheads="1"/>
          </p:cNvSpPr>
          <p:nvPr/>
        </p:nvSpPr>
        <p:spPr bwMode="auto">
          <a:xfrm>
            <a:off x="636140" y="1164033"/>
            <a:ext cx="1497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w1:Window</a:t>
            </a:r>
          </a:p>
        </p:txBody>
      </p:sp>
      <p:sp>
        <p:nvSpPr>
          <p:cNvPr id="15" name="TextBox 14">
            <a:extLst>
              <a:ext uri="{FF2B5EF4-FFF2-40B4-BE49-F238E27FC236}">
                <a16:creationId xmlns:a16="http://schemas.microsoft.com/office/drawing/2014/main" id="{01888261-5063-4373-315E-D23A37AA861B}"/>
              </a:ext>
            </a:extLst>
          </p:cNvPr>
          <p:cNvSpPr txBox="1"/>
          <p:nvPr/>
        </p:nvSpPr>
        <p:spPr>
          <a:xfrm>
            <a:off x="957892" y="1830101"/>
            <a:ext cx="1586678" cy="369332"/>
          </a:xfrm>
          <a:prstGeom prst="rect">
            <a:avLst/>
          </a:prstGeom>
          <a:noFill/>
        </p:spPr>
        <p:txBody>
          <a:bodyPr wrap="square" rtlCol="0">
            <a:spAutoFit/>
          </a:bodyPr>
          <a:lstStyle/>
          <a:p>
            <a:pPr eaLnBrk="0" fontAlgn="base" hangingPunct="0">
              <a:spcBef>
                <a:spcPct val="0"/>
              </a:spcBef>
              <a:spcAft>
                <a:spcPct val="0"/>
              </a:spcAft>
            </a:pPr>
            <a:r>
              <a:rPr lang="en-US" dirty="0">
                <a:solidFill>
                  <a:srgbClr val="000000"/>
                </a:solidFill>
                <a:latin typeface="Tahoma" panose="020B0604030504040204" pitchFamily="34" charset="0"/>
              </a:rPr>
              <a:t>c11:Circle</a:t>
            </a:r>
            <a:endParaRPr lang="el-GR" dirty="0">
              <a:solidFill>
                <a:srgbClr val="000000"/>
              </a:solidFill>
              <a:latin typeface="Tahoma" panose="020B0604030504040204" pitchFamily="34" charset="0"/>
            </a:endParaRPr>
          </a:p>
        </p:txBody>
      </p:sp>
      <p:sp>
        <p:nvSpPr>
          <p:cNvPr id="16" name="TextBox 15">
            <a:extLst>
              <a:ext uri="{FF2B5EF4-FFF2-40B4-BE49-F238E27FC236}">
                <a16:creationId xmlns:a16="http://schemas.microsoft.com/office/drawing/2014/main" id="{E94AE09C-7EB1-77F4-03CA-7270C716E407}"/>
              </a:ext>
            </a:extLst>
          </p:cNvPr>
          <p:cNvSpPr txBox="1"/>
          <p:nvPr/>
        </p:nvSpPr>
        <p:spPr>
          <a:xfrm>
            <a:off x="4241919" y="3329890"/>
            <a:ext cx="808583" cy="369332"/>
          </a:xfrm>
          <a:prstGeom prst="rect">
            <a:avLst/>
          </a:prstGeom>
          <a:noFill/>
        </p:spPr>
        <p:txBody>
          <a:bodyPr wrap="square" rtlCol="0">
            <a:spAutoFit/>
          </a:bodyPr>
          <a:lstStyle/>
          <a:p>
            <a:pPr eaLnBrk="0" fontAlgn="base" hangingPunct="0">
              <a:spcBef>
                <a:spcPct val="0"/>
              </a:spcBef>
              <a:spcAft>
                <a:spcPct val="0"/>
              </a:spcAft>
            </a:pPr>
            <a:r>
              <a:rPr lang="en-US" dirty="0">
                <a:solidFill>
                  <a:srgbClr val="000000"/>
                </a:solidFill>
                <a:latin typeface="Tahoma" panose="020B0604030504040204" pitchFamily="34" charset="0"/>
              </a:rPr>
              <a:t>c12</a:t>
            </a:r>
            <a:endParaRPr lang="el-GR" dirty="0">
              <a:solidFill>
                <a:srgbClr val="000000"/>
              </a:solidFill>
              <a:latin typeface="Tahoma" panose="020B0604030504040204" pitchFamily="34" charset="0"/>
            </a:endParaRPr>
          </a:p>
        </p:txBody>
      </p:sp>
      <p:sp>
        <p:nvSpPr>
          <p:cNvPr id="17" name="TextBox 16">
            <a:extLst>
              <a:ext uri="{FF2B5EF4-FFF2-40B4-BE49-F238E27FC236}">
                <a16:creationId xmlns:a16="http://schemas.microsoft.com/office/drawing/2014/main" id="{0BECE5DB-7749-CA5F-3FA5-0CCB92BE1073}"/>
              </a:ext>
            </a:extLst>
          </p:cNvPr>
          <p:cNvSpPr txBox="1"/>
          <p:nvPr/>
        </p:nvSpPr>
        <p:spPr>
          <a:xfrm>
            <a:off x="2314616" y="3068060"/>
            <a:ext cx="808583" cy="369332"/>
          </a:xfrm>
          <a:prstGeom prst="rect">
            <a:avLst/>
          </a:prstGeom>
          <a:noFill/>
        </p:spPr>
        <p:txBody>
          <a:bodyPr wrap="square" rtlCol="0">
            <a:spAutoFit/>
          </a:bodyPr>
          <a:lstStyle/>
          <a:p>
            <a:pPr eaLnBrk="0" fontAlgn="base" hangingPunct="0">
              <a:spcBef>
                <a:spcPct val="0"/>
              </a:spcBef>
              <a:spcAft>
                <a:spcPct val="0"/>
              </a:spcAft>
            </a:pPr>
            <a:r>
              <a:rPr lang="en-US" dirty="0">
                <a:solidFill>
                  <a:srgbClr val="000000"/>
                </a:solidFill>
                <a:latin typeface="Tahoma" panose="020B0604030504040204" pitchFamily="34" charset="0"/>
              </a:rPr>
              <a:t>r12</a:t>
            </a:r>
            <a:endParaRPr lang="el-GR" dirty="0">
              <a:solidFill>
                <a:srgbClr val="000000"/>
              </a:solidFill>
              <a:latin typeface="Tahoma" panose="020B0604030504040204" pitchFamily="34" charset="0"/>
            </a:endParaRPr>
          </a:p>
        </p:txBody>
      </p:sp>
      <p:sp>
        <p:nvSpPr>
          <p:cNvPr id="18" name="TextBox 17">
            <a:extLst>
              <a:ext uri="{FF2B5EF4-FFF2-40B4-BE49-F238E27FC236}">
                <a16:creationId xmlns:a16="http://schemas.microsoft.com/office/drawing/2014/main" id="{33AB77B3-A466-4EC5-E152-D74A6C10A0F0}"/>
              </a:ext>
            </a:extLst>
          </p:cNvPr>
          <p:cNvSpPr txBox="1"/>
          <p:nvPr/>
        </p:nvSpPr>
        <p:spPr>
          <a:xfrm>
            <a:off x="2681732" y="1486285"/>
            <a:ext cx="1586678" cy="369332"/>
          </a:xfrm>
          <a:prstGeom prst="rect">
            <a:avLst/>
          </a:prstGeom>
          <a:noFill/>
        </p:spPr>
        <p:txBody>
          <a:bodyPr wrap="square" rtlCol="0">
            <a:spAutoFit/>
          </a:bodyPr>
          <a:lstStyle/>
          <a:p>
            <a:pPr eaLnBrk="0" fontAlgn="base" hangingPunct="0">
              <a:spcBef>
                <a:spcPct val="0"/>
              </a:spcBef>
              <a:spcAft>
                <a:spcPct val="0"/>
              </a:spcAft>
            </a:pPr>
            <a:r>
              <a:rPr lang="en-US" dirty="0">
                <a:solidFill>
                  <a:srgbClr val="000000"/>
                </a:solidFill>
                <a:latin typeface="Tahoma" panose="020B0604030504040204" pitchFamily="34" charset="0"/>
              </a:rPr>
              <a:t>r11:Rectangle</a:t>
            </a:r>
            <a:endParaRPr lang="el-GR" dirty="0">
              <a:solidFill>
                <a:srgbClr val="000000"/>
              </a:solidFill>
              <a:latin typeface="Tahoma" panose="020B0604030504040204" pitchFamily="34" charset="0"/>
            </a:endParaRPr>
          </a:p>
        </p:txBody>
      </p:sp>
      <p:sp>
        <p:nvSpPr>
          <p:cNvPr id="19" name="TextBox 18">
            <a:extLst>
              <a:ext uri="{FF2B5EF4-FFF2-40B4-BE49-F238E27FC236}">
                <a16:creationId xmlns:a16="http://schemas.microsoft.com/office/drawing/2014/main" id="{4BB58C3D-DEC0-A627-C6CC-A2D311A57850}"/>
              </a:ext>
            </a:extLst>
          </p:cNvPr>
          <p:cNvSpPr txBox="1"/>
          <p:nvPr/>
        </p:nvSpPr>
        <p:spPr>
          <a:xfrm>
            <a:off x="4129992" y="1877493"/>
            <a:ext cx="1586678" cy="369332"/>
          </a:xfrm>
          <a:prstGeom prst="rect">
            <a:avLst/>
          </a:prstGeom>
          <a:noFill/>
        </p:spPr>
        <p:txBody>
          <a:bodyPr wrap="square" rtlCol="0">
            <a:spAutoFit/>
          </a:bodyPr>
          <a:lstStyle/>
          <a:p>
            <a:pPr eaLnBrk="0" fontAlgn="base" hangingPunct="0">
              <a:spcBef>
                <a:spcPct val="0"/>
              </a:spcBef>
              <a:spcAft>
                <a:spcPct val="0"/>
              </a:spcAft>
            </a:pPr>
            <a:r>
              <a:rPr lang="en-US" dirty="0">
                <a:solidFill>
                  <a:srgbClr val="000000"/>
                </a:solidFill>
                <a:latin typeface="Tahoma" panose="020B0604030504040204" pitchFamily="34" charset="0"/>
              </a:rPr>
              <a:t>tr11:Triangle</a:t>
            </a:r>
            <a:endParaRPr lang="el-GR" dirty="0">
              <a:solidFill>
                <a:srgbClr val="000000"/>
              </a:solidFill>
              <a:latin typeface="Tahoma" panose="020B0604030504040204" pitchFamily="34" charset="0"/>
            </a:endParaRPr>
          </a:p>
        </p:txBody>
      </p:sp>
      <p:sp>
        <p:nvSpPr>
          <p:cNvPr id="20" name="Text Box 30">
            <a:extLst>
              <a:ext uri="{FF2B5EF4-FFF2-40B4-BE49-F238E27FC236}">
                <a16:creationId xmlns:a16="http://schemas.microsoft.com/office/drawing/2014/main" id="{A1E9B79B-F089-D18D-A590-10D7F8D12BF7}"/>
              </a:ext>
            </a:extLst>
          </p:cNvPr>
          <p:cNvSpPr txBox="1">
            <a:spLocks noChangeArrowheads="1"/>
          </p:cNvSpPr>
          <p:nvPr/>
        </p:nvSpPr>
        <p:spPr bwMode="auto">
          <a:xfrm>
            <a:off x="6384680" y="1413090"/>
            <a:ext cx="40370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Circle [] circles = new Circle[100];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circles[0] = new Circle(…);</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circles[1] = new Circle(…);</a:t>
            </a:r>
          </a:p>
        </p:txBody>
      </p:sp>
      <p:sp>
        <p:nvSpPr>
          <p:cNvPr id="21" name="Text Box 30">
            <a:extLst>
              <a:ext uri="{FF2B5EF4-FFF2-40B4-BE49-F238E27FC236}">
                <a16:creationId xmlns:a16="http://schemas.microsoft.com/office/drawing/2014/main" id="{4F3B83D2-641E-AFFF-D0C4-88DD6DD26EF2}"/>
              </a:ext>
            </a:extLst>
          </p:cNvPr>
          <p:cNvSpPr txBox="1">
            <a:spLocks noChangeArrowheads="1"/>
          </p:cNvSpPr>
          <p:nvPr/>
        </p:nvSpPr>
        <p:spPr bwMode="auto">
          <a:xfrm>
            <a:off x="6384680" y="2822058"/>
            <a:ext cx="55210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fontAlgn="base">
              <a:spcBef>
                <a:spcPct val="0"/>
              </a:spcBef>
              <a:spcAft>
                <a:spcPct val="0"/>
              </a:spcAft>
              <a:buClrTx/>
              <a:buSzTx/>
              <a:buNone/>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Rectangle [] rectangles = new </a:t>
            </a:r>
            <a:r>
              <a:rPr lang="en-US" altLang="el-GR" sz="2000" kern="0" dirty="0">
                <a:solidFill>
                  <a:srgbClr val="000000"/>
                </a:solidFill>
              </a:rPr>
              <a:t>Rectangle[</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100];</a:t>
            </a:r>
          </a:p>
          <a:p>
            <a:pPr lvl="0" fontAlgn="base">
              <a:spcBef>
                <a:spcPct val="0"/>
              </a:spcBef>
              <a:spcAft>
                <a:spcPct val="0"/>
              </a:spcAft>
              <a:buClrTx/>
              <a:buSzTx/>
              <a:buNone/>
            </a:pPr>
            <a:r>
              <a:rPr lang="en-US" altLang="el-GR" sz="2000" kern="0" dirty="0">
                <a:solidFill>
                  <a:srgbClr val="000000"/>
                </a:solidFill>
              </a:rPr>
              <a:t>rectangles[</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0] = new </a:t>
            </a:r>
            <a:r>
              <a:rPr lang="en-US" altLang="el-GR" sz="2000" kern="0" dirty="0">
                <a:solidFill>
                  <a:srgbClr val="000000"/>
                </a:solidFill>
              </a:rPr>
              <a:t>Rectangle(…);</a:t>
            </a:r>
            <a:endPar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endParaRPr>
          </a:p>
          <a:p>
            <a:pPr lvl="0" fontAlgn="base">
              <a:spcBef>
                <a:spcPct val="0"/>
              </a:spcBef>
              <a:spcAft>
                <a:spcPct val="0"/>
              </a:spcAft>
              <a:buClrTx/>
              <a:buSzTx/>
              <a:buNone/>
            </a:pPr>
            <a:r>
              <a:rPr lang="en-US" altLang="el-GR" sz="2000" kern="0" dirty="0">
                <a:solidFill>
                  <a:srgbClr val="000000"/>
                </a:solidFill>
              </a:rPr>
              <a:t>rectangles[</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1] = new </a:t>
            </a:r>
            <a:r>
              <a:rPr lang="en-US" altLang="el-GR" sz="2000" kern="0" dirty="0">
                <a:solidFill>
                  <a:srgbClr val="000000"/>
                </a:solidFill>
              </a:rPr>
              <a:t>Rectangle(…);</a:t>
            </a:r>
            <a:endPar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22" name="AutoShape 31">
            <a:extLst>
              <a:ext uri="{FF2B5EF4-FFF2-40B4-BE49-F238E27FC236}">
                <a16:creationId xmlns:a16="http://schemas.microsoft.com/office/drawing/2014/main" id="{029AD380-11B4-C0C4-5B09-D3BAF18EFD64}"/>
              </a:ext>
            </a:extLst>
          </p:cNvPr>
          <p:cNvSpPr>
            <a:spLocks noChangeArrowheads="1"/>
          </p:cNvSpPr>
          <p:nvPr/>
        </p:nvSpPr>
        <p:spPr bwMode="auto">
          <a:xfrm>
            <a:off x="864326" y="5780431"/>
            <a:ext cx="2879725" cy="503238"/>
          </a:xfrm>
          <a:prstGeom prst="wedgeRectCallout">
            <a:avLst>
              <a:gd name="adj1" fmla="val -65602"/>
              <a:gd name="adj2" fmla="val 111514"/>
            </a:avLst>
          </a:prstGeom>
          <a:solidFill>
            <a:srgbClr val="FFFF00"/>
          </a:solidFill>
          <a:ln w="9525">
            <a:solidFill>
              <a:schemeClr val="bg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l-GR" altLang="el-GR" sz="2400"/>
              <a:t>Προβλήματα;</a:t>
            </a:r>
            <a:endParaRPr lang="en-US" altLang="el-GR" sz="2400"/>
          </a:p>
        </p:txBody>
      </p:sp>
      <p:sp>
        <p:nvSpPr>
          <p:cNvPr id="23" name="Text Box 30">
            <a:extLst>
              <a:ext uri="{FF2B5EF4-FFF2-40B4-BE49-F238E27FC236}">
                <a16:creationId xmlns:a16="http://schemas.microsoft.com/office/drawing/2014/main" id="{2474C332-6385-E6B6-E862-A5C7E3F94A27}"/>
              </a:ext>
            </a:extLst>
          </p:cNvPr>
          <p:cNvSpPr txBox="1">
            <a:spLocks noChangeArrowheads="1"/>
          </p:cNvSpPr>
          <p:nvPr/>
        </p:nvSpPr>
        <p:spPr bwMode="auto">
          <a:xfrm>
            <a:off x="3889639" y="5181238"/>
            <a:ext cx="816169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fontAlgn="base">
              <a:spcBef>
                <a:spcPct val="0"/>
              </a:spcBef>
              <a:spcAft>
                <a:spcPct val="0"/>
              </a:spcAft>
              <a:buClrTx/>
              <a:buSzTx/>
              <a:buNone/>
            </a:pPr>
            <a:r>
              <a:rPr lang="en-GB" sz="2000" dirty="0">
                <a:latin typeface="Consolas" panose="020B0609020204030204" pitchFamily="49" charset="0"/>
              </a:rPr>
              <a:t>for(int </a:t>
            </a:r>
            <a:r>
              <a:rPr lang="en-GB" sz="2000" dirty="0" err="1">
                <a:latin typeface="Consolas" panose="020B0609020204030204" pitchFamily="49" charset="0"/>
              </a:rPr>
              <a:t>i</a:t>
            </a:r>
            <a:r>
              <a:rPr lang="en-GB" sz="2000" dirty="0">
                <a:latin typeface="Consolas" panose="020B0609020204030204" pitchFamily="49" charset="0"/>
              </a:rPr>
              <a:t>=0;i&lt;circles.length &amp;&amp; circles[</a:t>
            </a:r>
            <a:r>
              <a:rPr lang="en-GB" sz="2000" dirty="0" err="1">
                <a:latin typeface="Consolas" panose="020B0609020204030204" pitchFamily="49" charset="0"/>
              </a:rPr>
              <a:t>i</a:t>
            </a:r>
            <a:r>
              <a:rPr lang="en-GB" sz="2000" dirty="0">
                <a:latin typeface="Consolas" panose="020B0609020204030204" pitchFamily="49" charset="0"/>
              </a:rPr>
              <a:t>]!=null; </a:t>
            </a:r>
            <a:r>
              <a:rPr lang="en-GB" sz="2000" dirty="0" err="1">
                <a:latin typeface="Consolas" panose="020B0609020204030204" pitchFamily="49" charset="0"/>
              </a:rPr>
              <a:t>i</a:t>
            </a:r>
            <a:r>
              <a:rPr lang="en-GB" sz="2000" dirty="0">
                <a:latin typeface="Consolas" panose="020B0609020204030204" pitchFamily="49" charset="0"/>
              </a:rPr>
              <a:t>++)</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	circles[i].draw();</a:t>
            </a:r>
          </a:p>
        </p:txBody>
      </p:sp>
    </p:spTree>
    <p:extLst>
      <p:ext uri="{BB962C8B-B14F-4D97-AF65-F5344CB8AC3E}">
        <p14:creationId xmlns:p14="http://schemas.microsoft.com/office/powerpoint/2010/main" val="193982122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20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animBg="1"/>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WindowsApp</a:t>
            </a:r>
            <a:r>
              <a:rPr lang="en-GB" sz="4000" b="1" dirty="0">
                <a:solidFill>
                  <a:srgbClr val="F9853D"/>
                </a:solidFill>
                <a:latin typeface="Bahnschrift" panose="020B0502040204020203" pitchFamily="34" charset="0"/>
              </a:rPr>
              <a:t> – Inheritance Tree</a:t>
            </a:r>
            <a:r>
              <a:rPr lang="el-GR" sz="4000" b="1" dirty="0">
                <a:solidFill>
                  <a:srgbClr val="F9853D"/>
                </a:solidFill>
                <a:latin typeface="Bahnschrift" panose="020B0502040204020203" pitchFamily="34" charset="0"/>
              </a:rPr>
              <a:t> </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pic>
        <p:nvPicPr>
          <p:cNvPr id="4" name="Picture 34">
            <a:extLst>
              <a:ext uri="{FF2B5EF4-FFF2-40B4-BE49-F238E27FC236}">
                <a16:creationId xmlns:a16="http://schemas.microsoft.com/office/drawing/2014/main" id="{EC4E7497-EFB6-8A26-36B4-08C83313C9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67643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A0B55A6A-955B-14DB-DF3D-5516DF4523CE}"/>
              </a:ext>
            </a:extLst>
          </p:cNvPr>
          <p:cNvPicPr>
            <a:picLocks noChangeAspect="1"/>
          </p:cNvPicPr>
          <p:nvPr/>
        </p:nvPicPr>
        <p:blipFill>
          <a:blip r:embed="rId4"/>
          <a:stretch>
            <a:fillRect/>
          </a:stretch>
        </p:blipFill>
        <p:spPr>
          <a:xfrm>
            <a:off x="6907848" y="930728"/>
            <a:ext cx="3085737" cy="1157152"/>
          </a:xfrm>
          <a:prstGeom prst="rect">
            <a:avLst/>
          </a:prstGeom>
        </p:spPr>
      </p:pic>
      <p:pic>
        <p:nvPicPr>
          <p:cNvPr id="9" name="Picture 8">
            <a:extLst>
              <a:ext uri="{FF2B5EF4-FFF2-40B4-BE49-F238E27FC236}">
                <a16:creationId xmlns:a16="http://schemas.microsoft.com/office/drawing/2014/main" id="{C90DDBAD-CB3B-BDD1-1D8F-C016225B5C92}"/>
              </a:ext>
            </a:extLst>
          </p:cNvPr>
          <p:cNvPicPr>
            <a:picLocks noChangeAspect="1"/>
          </p:cNvPicPr>
          <p:nvPr/>
        </p:nvPicPr>
        <p:blipFill>
          <a:blip r:embed="rId5"/>
          <a:stretch>
            <a:fillRect/>
          </a:stretch>
        </p:blipFill>
        <p:spPr>
          <a:xfrm>
            <a:off x="5516879" y="2457664"/>
            <a:ext cx="6680118" cy="1459015"/>
          </a:xfrm>
          <a:prstGeom prst="rect">
            <a:avLst/>
          </a:prstGeom>
        </p:spPr>
      </p:pic>
      <p:pic>
        <p:nvPicPr>
          <p:cNvPr id="15" name="Picture 14">
            <a:extLst>
              <a:ext uri="{FF2B5EF4-FFF2-40B4-BE49-F238E27FC236}">
                <a16:creationId xmlns:a16="http://schemas.microsoft.com/office/drawing/2014/main" id="{9BC68132-B8A5-076C-9556-9DFB197B8606}"/>
              </a:ext>
            </a:extLst>
          </p:cNvPr>
          <p:cNvPicPr>
            <a:picLocks noChangeAspect="1"/>
          </p:cNvPicPr>
          <p:nvPr/>
        </p:nvPicPr>
        <p:blipFill>
          <a:blip r:embed="rId6"/>
          <a:stretch>
            <a:fillRect/>
          </a:stretch>
        </p:blipFill>
        <p:spPr>
          <a:xfrm>
            <a:off x="7564647" y="4391409"/>
            <a:ext cx="3042393" cy="1258274"/>
          </a:xfrm>
          <a:prstGeom prst="rect">
            <a:avLst/>
          </a:prstGeom>
        </p:spPr>
      </p:pic>
      <p:cxnSp>
        <p:nvCxnSpPr>
          <p:cNvPr id="17" name="Straight Connector 16">
            <a:extLst>
              <a:ext uri="{FF2B5EF4-FFF2-40B4-BE49-F238E27FC236}">
                <a16:creationId xmlns:a16="http://schemas.microsoft.com/office/drawing/2014/main" id="{4D2F0FAD-DD2E-E2F6-9F4F-FE1275118479}"/>
              </a:ext>
            </a:extLst>
          </p:cNvPr>
          <p:cNvCxnSpPr/>
          <p:nvPr/>
        </p:nvCxnSpPr>
        <p:spPr>
          <a:xfrm>
            <a:off x="8060267" y="3589867"/>
            <a:ext cx="23368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3819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Abstract Methods and Abstract Classes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Content Placeholder 2">
            <a:extLst>
              <a:ext uri="{FF2B5EF4-FFF2-40B4-BE49-F238E27FC236}">
                <a16:creationId xmlns:a16="http://schemas.microsoft.com/office/drawing/2014/main" id="{D3C31B96-022D-8EF5-F218-0D6AA86137F9}"/>
              </a:ext>
            </a:extLst>
          </p:cNvPr>
          <p:cNvSpPr txBox="1">
            <a:spLocks noChangeArrowheads="1"/>
          </p:cNvSpPr>
          <p:nvPr/>
        </p:nvSpPr>
        <p:spPr bwMode="auto">
          <a:xfrm>
            <a:off x="0" y="932949"/>
            <a:ext cx="12051331"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abstract method </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lang="el-GR" altLang="el-GR" kern="0" dirty="0">
                <a:solidFill>
                  <a:srgbClr val="000000"/>
                </a:solidFill>
                <a:latin typeface="Tahoma"/>
              </a:rPr>
              <a:t>Είναι μια μέθοδος που δηλώνεται χωρίς να δοθεί η υλοποίηση της</a:t>
            </a:r>
            <a:endParaRPr kumimoji="0" lang="en-US" altLang="el-GR" sz="2800" b="0" i="0" u="none" strike="noStrike" kern="0" cap="none" spc="0" normalizeH="0" baseline="0" noProof="0" dirty="0">
              <a:ln>
                <a:noFill/>
              </a:ln>
              <a:solidFill>
                <a:srgbClr val="000000"/>
              </a:solidFill>
              <a:effectLst/>
              <a:uLnTx/>
              <a:uFillTx/>
              <a:latin typeface="Tahoma"/>
            </a:endParaRP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a:rPr>
              <a:t>	</a:t>
            </a:r>
            <a:r>
              <a:rPr kumimoji="0" lang="en-US" altLang="el-GR" sz="2800" b="1" i="1" u="none" strike="noStrike" kern="0" cap="none" spc="0" normalizeH="0" baseline="0" noProof="0" dirty="0">
                <a:ln>
                  <a:noFill/>
                </a:ln>
                <a:solidFill>
                  <a:srgbClr val="C00000"/>
                </a:solidFill>
                <a:effectLst/>
                <a:uLnTx/>
                <a:uFillTx/>
                <a:latin typeface="Tahoma"/>
              </a:rPr>
              <a:t>abstract </a:t>
            </a:r>
            <a:r>
              <a:rPr kumimoji="0" lang="en-US" altLang="el-GR" sz="2800" b="0" i="1" u="none" strike="noStrike" kern="0" cap="none" spc="0" normalizeH="0" baseline="0" noProof="0" dirty="0">
                <a:ln>
                  <a:noFill/>
                </a:ln>
                <a:solidFill>
                  <a:srgbClr val="000000"/>
                </a:solidFill>
                <a:effectLst/>
                <a:uLnTx/>
                <a:uFillTx/>
                <a:latin typeface="Tahoma"/>
              </a:rPr>
              <a:t>void draw();</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abstract class </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rPr>
              <a:t>Είναι η κλάση που δηλώνεται ως </a:t>
            </a:r>
            <a:r>
              <a:rPr kumimoji="0" lang="en-US" altLang="el-GR" sz="2800" b="0" i="0" u="none" strike="noStrike" kern="0" cap="none" spc="0" normalizeH="0" baseline="0" noProof="0" dirty="0">
                <a:ln>
                  <a:noFill/>
                </a:ln>
                <a:solidFill>
                  <a:srgbClr val="000000"/>
                </a:solidFill>
                <a:effectLst/>
                <a:uLnTx/>
                <a:uFillTx/>
                <a:latin typeface="Tahoma"/>
              </a:rPr>
              <a:t>abstract</a:t>
            </a:r>
            <a:endParaRPr kumimoji="0" lang="el-GR" altLang="el-GR" sz="2800" b="0" i="0" u="none" strike="noStrike" kern="0" cap="none" spc="0" normalizeH="0" baseline="0" noProof="0" dirty="0">
              <a:ln>
                <a:noFill/>
              </a:ln>
              <a:solidFill>
                <a:srgbClr val="000000"/>
              </a:solidFill>
              <a:effectLst/>
              <a:uLnTx/>
              <a:uFillTx/>
              <a:latin typeface="Tahoma"/>
            </a:endParaRPr>
          </a:p>
          <a:p>
            <a:pPr lvl="1">
              <a:buClr>
                <a:srgbClr val="FF0000"/>
              </a:buClr>
            </a:pPr>
            <a:r>
              <a:rPr lang="el-GR" altLang="el-GR" kern="0" dirty="0">
                <a:solidFill>
                  <a:srgbClr val="000000"/>
                </a:solidFill>
                <a:latin typeface="Tahoma"/>
              </a:rPr>
              <a:t>Μπορεί αλλά δεν είναι απαραίτητο να έχει </a:t>
            </a:r>
            <a:r>
              <a:rPr lang="en-US" altLang="el-GR" kern="0" dirty="0">
                <a:solidFill>
                  <a:srgbClr val="000000"/>
                </a:solidFill>
                <a:latin typeface="Tahoma"/>
              </a:rPr>
              <a:t>abstract</a:t>
            </a:r>
            <a:r>
              <a:rPr lang="el-GR" altLang="el-GR" kern="0" dirty="0">
                <a:solidFill>
                  <a:srgbClr val="000000"/>
                </a:solidFill>
                <a:latin typeface="Tahoma"/>
              </a:rPr>
              <a:t> μεθόδους</a:t>
            </a:r>
            <a:endParaRPr kumimoji="0" lang="en-US" altLang="el-GR" sz="2800" b="0" i="0" u="none" strike="noStrike" kern="0" cap="none" spc="0" normalizeH="0" baseline="0" noProof="0" dirty="0">
              <a:ln>
                <a:noFill/>
              </a:ln>
              <a:solidFill>
                <a:srgbClr val="000000"/>
              </a:solidFill>
              <a:effectLst/>
              <a:uLnTx/>
              <a:uFillTx/>
              <a:latin typeface="Tahoma"/>
            </a:endParaRP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lang="el-GR" altLang="el-GR" kern="0" dirty="0">
                <a:solidFill>
                  <a:srgbClr val="000000"/>
                </a:solidFill>
                <a:latin typeface="Tahoma"/>
              </a:rPr>
              <a:t>Δεν επιτρέπεται η δημιουργία στιγμιότυπων της </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rPr>
              <a:t>Μπορεί</a:t>
            </a:r>
            <a:r>
              <a:rPr kumimoji="0" lang="el-GR" altLang="el-GR" sz="2800" b="0" i="0" u="none" strike="noStrike" kern="0" cap="none" spc="0" normalizeH="0" noProof="0" dirty="0">
                <a:ln>
                  <a:noFill/>
                </a:ln>
                <a:solidFill>
                  <a:srgbClr val="000000"/>
                </a:solidFill>
                <a:effectLst/>
                <a:uLnTx/>
                <a:uFillTx/>
                <a:latin typeface="Tahoma"/>
              </a:rPr>
              <a:t> να χρησιμοποιηθεί ως </a:t>
            </a:r>
            <a:r>
              <a:rPr lang="el-GR" altLang="el-GR" kern="0" noProof="0" dirty="0">
                <a:solidFill>
                  <a:srgbClr val="000000"/>
                </a:solidFill>
                <a:latin typeface="Tahoma"/>
              </a:rPr>
              <a:t>κλάση πρόγονος ορίζοντας </a:t>
            </a:r>
            <a:r>
              <a:rPr kumimoji="0" lang="el-GR" altLang="el-GR" sz="2800" b="0" i="0" u="none" strike="noStrike" kern="0" cap="none" spc="0" normalizeH="0" noProof="0" dirty="0" err="1">
                <a:ln>
                  <a:noFill/>
                </a:ln>
                <a:solidFill>
                  <a:srgbClr val="000000"/>
                </a:solidFill>
                <a:effectLst/>
                <a:uLnTx/>
                <a:uFillTx/>
                <a:latin typeface="Tahoma"/>
              </a:rPr>
              <a:t>υποκλάσεις</a:t>
            </a:r>
            <a:r>
              <a:rPr kumimoji="0" lang="el-GR" altLang="el-GR" sz="2800" b="0" i="0" u="none" strike="noStrike" kern="0" cap="none" spc="0" normalizeH="0" noProof="0" dirty="0">
                <a:ln>
                  <a:noFill/>
                </a:ln>
                <a:solidFill>
                  <a:srgbClr val="000000"/>
                </a:solidFill>
                <a:effectLst/>
                <a:uLnTx/>
                <a:uFillTx/>
                <a:latin typeface="Tahoma"/>
              </a:rPr>
              <a:t> της</a:t>
            </a:r>
            <a:endParaRPr kumimoji="0" lang="en-US" altLang="el-GR" sz="2800" b="0" i="0" u="none" strike="noStrike" kern="0" cap="none" spc="0" normalizeH="0" baseline="0" noProof="0" dirty="0">
              <a:ln>
                <a:noFill/>
              </a:ln>
              <a:solidFill>
                <a:srgbClr val="000000"/>
              </a:solidFill>
              <a:effectLst/>
              <a:uLnTx/>
              <a:uFillTx/>
              <a:latin typeface="Tahoma"/>
            </a:endParaRPr>
          </a:p>
          <a:p>
            <a:pPr marL="1143000" marR="0" lvl="2" indent="-228600" algn="l" defTabSz="914400" rtl="0" eaLnBrk="0" fontAlgn="base" latinLnBrk="0" hangingPunct="0">
              <a:lnSpc>
                <a:spcPct val="100000"/>
              </a:lnSpc>
              <a:spcBef>
                <a:spcPct val="20000"/>
              </a:spcBef>
              <a:spcAft>
                <a:spcPct val="0"/>
              </a:spcAft>
              <a:buClr>
                <a:srgbClr val="3333CC"/>
              </a:buClr>
              <a:buSzPct val="50000"/>
              <a:buFont typeface="Wingdings" panose="05000000000000000000" pitchFamily="2" charset="2"/>
              <a:buNone/>
              <a:tabLst/>
              <a:defRPr/>
            </a:pPr>
            <a:r>
              <a:rPr kumimoji="0" lang="en-US" altLang="el-GR" sz="2400" b="0" i="1" u="none" strike="noStrike" kern="0" cap="none" spc="0" normalizeH="0" baseline="0" noProof="0" dirty="0">
                <a:ln>
                  <a:noFill/>
                </a:ln>
                <a:solidFill>
                  <a:srgbClr val="000000"/>
                </a:solidFill>
                <a:effectLst/>
                <a:uLnTx/>
                <a:uFillTx/>
                <a:latin typeface="Tahoma"/>
              </a:rPr>
              <a:t>public</a:t>
            </a:r>
            <a:r>
              <a:rPr kumimoji="0" lang="en-US" altLang="el-GR" sz="2400" b="0" i="1" u="none" strike="noStrike" kern="0" cap="none" spc="0" normalizeH="0" baseline="0" noProof="0" dirty="0">
                <a:ln>
                  <a:noFill/>
                </a:ln>
                <a:solidFill>
                  <a:srgbClr val="C00000"/>
                </a:solidFill>
                <a:effectLst/>
                <a:uLnTx/>
                <a:uFillTx/>
                <a:latin typeface="Tahoma"/>
              </a:rPr>
              <a:t> </a:t>
            </a:r>
            <a:r>
              <a:rPr kumimoji="0" lang="en-US" altLang="el-GR" sz="2400" b="1" i="1" u="none" strike="noStrike" kern="0" cap="none" spc="0" normalizeH="0" baseline="0" noProof="0" dirty="0">
                <a:ln>
                  <a:noFill/>
                </a:ln>
                <a:solidFill>
                  <a:srgbClr val="C00000"/>
                </a:solidFill>
                <a:effectLst/>
                <a:uLnTx/>
                <a:uFillTx/>
                <a:latin typeface="Tahoma"/>
              </a:rPr>
              <a:t>abstract </a:t>
            </a:r>
            <a:r>
              <a:rPr kumimoji="0" lang="en-US" altLang="el-GR" sz="2400" b="0" i="1" u="none" strike="noStrike" kern="0" cap="none" spc="0" normalizeH="0" baseline="0" noProof="0" dirty="0">
                <a:ln>
                  <a:noFill/>
                </a:ln>
                <a:solidFill>
                  <a:srgbClr val="000000"/>
                </a:solidFill>
                <a:effectLst/>
                <a:uLnTx/>
                <a:uFillTx/>
                <a:latin typeface="Tahoma"/>
              </a:rPr>
              <a:t>class</a:t>
            </a:r>
            <a:r>
              <a:rPr kumimoji="0" lang="en-US" altLang="el-GR" sz="2400" b="1" i="1" u="none" strike="noStrike" kern="0" cap="none" spc="0" normalizeH="0" baseline="0" noProof="0" dirty="0">
                <a:ln>
                  <a:noFill/>
                </a:ln>
                <a:solidFill>
                  <a:srgbClr val="C00000"/>
                </a:solidFill>
                <a:effectLst/>
                <a:uLnTx/>
                <a:uFillTx/>
                <a:latin typeface="Tahoma"/>
              </a:rPr>
              <a:t> </a:t>
            </a:r>
            <a:r>
              <a:rPr kumimoji="0" lang="en-US" altLang="el-GR" sz="2400" b="0" i="1" u="none" strike="noStrike" kern="0" cap="none" spc="0" normalizeH="0" baseline="0" noProof="0" dirty="0">
                <a:ln>
                  <a:noFill/>
                </a:ln>
                <a:solidFill>
                  <a:srgbClr val="000000"/>
                </a:solidFill>
                <a:effectLst/>
                <a:uLnTx/>
                <a:uFillTx/>
                <a:latin typeface="Tahoma"/>
              </a:rPr>
              <a:t>Shape {</a:t>
            </a:r>
          </a:p>
          <a:p>
            <a:pPr marL="1143000" marR="0" lvl="2" indent="-228600" algn="l" defTabSz="914400" rtl="0" eaLnBrk="0" fontAlgn="base" latinLnBrk="0" hangingPunct="0">
              <a:lnSpc>
                <a:spcPct val="100000"/>
              </a:lnSpc>
              <a:spcBef>
                <a:spcPct val="20000"/>
              </a:spcBef>
              <a:spcAft>
                <a:spcPct val="0"/>
              </a:spcAft>
              <a:buClr>
                <a:srgbClr val="3333CC"/>
              </a:buClr>
              <a:buSzPct val="50000"/>
              <a:buFont typeface="Wingdings" panose="05000000000000000000" pitchFamily="2" charset="2"/>
              <a:buNone/>
              <a:tabLst/>
              <a:defRPr/>
            </a:pPr>
            <a:r>
              <a:rPr kumimoji="0" lang="en-US" altLang="el-GR" sz="2400" b="0" i="1" u="none" strike="noStrike" kern="0" cap="none" spc="0" normalizeH="0" baseline="0" noProof="0" dirty="0">
                <a:ln>
                  <a:noFill/>
                </a:ln>
                <a:solidFill>
                  <a:srgbClr val="000000"/>
                </a:solidFill>
                <a:effectLst/>
                <a:uLnTx/>
                <a:uFillTx/>
                <a:latin typeface="Tahoma"/>
              </a:rPr>
              <a:t>          abstract void draw(); }</a:t>
            </a:r>
            <a:endParaRPr kumimoji="0" lang="en-US" altLang="el-GR" sz="2000" b="0" i="1" u="none" strike="noStrike" kern="0" cap="none" spc="0" normalizeH="0" baseline="0" noProof="0" dirty="0">
              <a:ln>
                <a:noFill/>
              </a:ln>
              <a:solidFill>
                <a:srgbClr val="000000"/>
              </a:solidFill>
              <a:effectLst/>
              <a:uLnTx/>
              <a:uFillTx/>
              <a:latin typeface="Tahoma"/>
              <a:ea typeface="+mn-ea"/>
              <a:cs typeface="+mn-cs"/>
            </a:endParaRPr>
          </a:p>
        </p:txBody>
      </p:sp>
      <p:sp>
        <p:nvSpPr>
          <p:cNvPr id="6" name="Θέση υποσέλιδου 4">
            <a:extLst>
              <a:ext uri="{FF2B5EF4-FFF2-40B4-BE49-F238E27FC236}">
                <a16:creationId xmlns:a16="http://schemas.microsoft.com/office/drawing/2014/main" id="{084B09D7-EB25-ED8F-1EF5-499165148A10}"/>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1391025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linds(horizontal)">
                                      <p:cBhvr>
                                        <p:cTn id="18" dur="500"/>
                                        <p:tgtEl>
                                          <p:spTgt spid="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linds(horizontal)">
                                      <p:cBhvr>
                                        <p:cTn id="21" dur="500"/>
                                        <p:tgtEl>
                                          <p:spTgt spid="5">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blinds(horizontal)">
                                      <p:cBhvr>
                                        <p:cTn id="24" dur="500"/>
                                        <p:tgtEl>
                                          <p:spTgt spid="5">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blinds(horizontal)">
                                      <p:cBhvr>
                                        <p:cTn id="27" dur="500"/>
                                        <p:tgtEl>
                                          <p:spTgt spid="5">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blinds(horizontal)">
                                      <p:cBhvr>
                                        <p:cTn id="30" dur="500"/>
                                        <p:tgtEl>
                                          <p:spTgt spid="5">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blinds(horizontal)">
                                      <p:cBhvr>
                                        <p:cTn id="33" dur="500"/>
                                        <p:tgtEl>
                                          <p:spTgt spid="5">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Effect transition="in" filter="blinds(horizontal)">
                                      <p:cBhvr>
                                        <p:cTn id="36"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επισκιαζόμενες μεταβλητές (</a:t>
            </a:r>
            <a:r>
              <a:rPr lang="en-GB" sz="4000" b="1" dirty="0">
                <a:solidFill>
                  <a:srgbClr val="F9853D"/>
                </a:solidFill>
                <a:latin typeface="Bahnschrift" panose="020B0502040204020203" pitchFamily="34" charset="0"/>
              </a:rPr>
              <a:t>shadowed variables</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Rectangle 3">
            <a:extLst>
              <a:ext uri="{FF2B5EF4-FFF2-40B4-BE49-F238E27FC236}">
                <a16:creationId xmlns:a16="http://schemas.microsoft.com/office/drawing/2014/main" id="{14CE94EF-EA48-F0D2-ED8F-BBDCD7FC11CD}"/>
              </a:ext>
            </a:extLst>
          </p:cNvPr>
          <p:cNvSpPr txBox="1">
            <a:spLocks noChangeArrowheads="1"/>
          </p:cNvSpPr>
          <p:nvPr/>
        </p:nvSpPr>
        <p:spPr bwMode="auto">
          <a:xfrm>
            <a:off x="181441" y="1601962"/>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5000"/>
              </a:spcBef>
              <a:spcAft>
                <a:spcPct val="0"/>
              </a:spcAft>
              <a:buClr>
                <a:srgbClr val="3333CC"/>
              </a:buClr>
              <a:buSzPct val="60000"/>
              <a:buFont typeface="Wingdings" panose="05000000000000000000" pitchFamily="2" charset="2"/>
              <a:buNone/>
              <a:tabLst/>
              <a:defRPr/>
            </a:pPr>
            <a:r>
              <a:rPr kumimoji="0" lang="en-GB" altLang="el-GR" sz="2400" b="0" i="0" u="none" strike="noStrike" kern="0" cap="none" spc="0" normalizeH="0" baseline="0" noProof="0" dirty="0">
                <a:ln>
                  <a:noFill/>
                </a:ln>
                <a:solidFill>
                  <a:srgbClr val="000000"/>
                </a:solidFill>
                <a:effectLst/>
                <a:uLnTx/>
                <a:uFillTx/>
                <a:latin typeface="Tahoma"/>
                <a:ea typeface="+mn-ea"/>
                <a:cs typeface="+mn-cs"/>
              </a:rPr>
              <a:t>public class </a:t>
            </a:r>
            <a:r>
              <a:rPr kumimoji="0" lang="en-GB" altLang="el-GR" sz="2400" b="0" i="0" u="none" strike="noStrike" kern="0" cap="none" spc="0" normalizeH="0" baseline="0" noProof="0" dirty="0" err="1">
                <a:ln>
                  <a:noFill/>
                </a:ln>
                <a:solidFill>
                  <a:srgbClr val="000000"/>
                </a:solidFill>
                <a:effectLst/>
                <a:uLnTx/>
                <a:uFillTx/>
                <a:latin typeface="Tahoma"/>
                <a:ea typeface="+mn-ea"/>
                <a:cs typeface="+mn-cs"/>
              </a:rPr>
              <a:t>GraphicCircle</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400" b="1" i="0" u="none" strike="noStrike" kern="0" cap="none" spc="0" normalizeH="0" baseline="0" noProof="0" dirty="0">
                <a:ln>
                  <a:noFill/>
                </a:ln>
                <a:solidFill>
                  <a:srgbClr val="000000"/>
                </a:solidFill>
                <a:effectLst/>
                <a:uLnTx/>
                <a:uFillTx/>
                <a:latin typeface="Tahoma"/>
                <a:ea typeface="+mn-ea"/>
                <a:cs typeface="+mn-cs"/>
              </a:rPr>
              <a:t>extends </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Circle {</a:t>
            </a:r>
          </a:p>
          <a:p>
            <a:pPr marL="342900" marR="0" lvl="0" indent="-342900" algn="l" defTabSz="914400" rtl="0" eaLnBrk="1" fontAlgn="base" latinLnBrk="0" hangingPunct="1">
              <a:lnSpc>
                <a:spcPct val="100000"/>
              </a:lnSpc>
              <a:spcBef>
                <a:spcPct val="5000"/>
              </a:spcBef>
              <a:spcAft>
                <a:spcPct val="0"/>
              </a:spcAft>
              <a:buClr>
                <a:srgbClr val="3333CC"/>
              </a:buClr>
              <a:buSzPct val="60000"/>
              <a:buFont typeface="Wingdings" panose="05000000000000000000" pitchFamily="2" charset="2"/>
              <a:buNone/>
              <a:tabLst/>
              <a:defRPr/>
            </a:pP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mn-cs"/>
              </a:rPr>
              <a:t>Color</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outline, fill;</a:t>
            </a:r>
          </a:p>
          <a:p>
            <a:pPr marL="342900" marR="0" lvl="0" indent="-342900" algn="l" defTabSz="914400" rtl="0" eaLnBrk="1" fontAlgn="base" latinLnBrk="0" hangingPunct="1">
              <a:lnSpc>
                <a:spcPct val="100000"/>
              </a:lnSpc>
              <a:spcBef>
                <a:spcPct val="5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float r</a:t>
            </a:r>
            <a:r>
              <a:rPr kumimoji="0" lang="en-GB" altLang="el-GR" sz="2400" b="0"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GB"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//resolution in dots-per-inch.</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l-GR"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400" b="0" i="0" u="none" strike="noStrike" kern="0" cap="none" spc="0" normalizeH="0" baseline="0" noProof="0" dirty="0" err="1">
                <a:ln>
                  <a:noFill/>
                </a:ln>
                <a:solidFill>
                  <a:srgbClr val="000000"/>
                </a:solidFill>
                <a:effectLst/>
                <a:uLnTx/>
                <a:uFillTx/>
                <a:latin typeface="Tahoma"/>
                <a:ea typeface="+mn-ea"/>
                <a:cs typeface="+mn-cs"/>
              </a:rPr>
              <a:t>this.r</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 ανα</a:t>
            </a:r>
            <a:r>
              <a:rPr kumimoji="0" lang="en-GB" altLang="el-GR" sz="2000" b="0" i="0" u="none" strike="noStrike" kern="0" cap="none" spc="0" normalizeH="0" baseline="0" noProof="0" dirty="0" err="1">
                <a:ln>
                  <a:noFill/>
                </a:ln>
                <a:solidFill>
                  <a:srgbClr val="000000"/>
                </a:solidFill>
                <a:effectLst/>
                <a:uLnTx/>
                <a:uFillTx/>
                <a:latin typeface="Tahoma"/>
                <a:ea typeface="+mn-ea"/>
                <a:cs typeface="+mn-cs"/>
              </a:rPr>
              <a:t>φέρετ</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αι στη μεταβλητή resolution</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400" b="1" i="0" u="none" strike="noStrike" kern="0" cap="none" spc="0" normalizeH="0" baseline="0" noProof="0" dirty="0" err="1">
                <a:ln>
                  <a:noFill/>
                </a:ln>
                <a:solidFill>
                  <a:srgbClr val="FF0000"/>
                </a:solidFill>
                <a:effectLst/>
                <a:uLnTx/>
                <a:uFillTx/>
                <a:latin typeface="Tahoma"/>
                <a:ea typeface="+mn-ea"/>
                <a:cs typeface="+mn-cs"/>
              </a:rPr>
              <a:t>super.r</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 ανα</a:t>
            </a:r>
            <a:r>
              <a:rPr kumimoji="0" lang="en-GB" altLang="el-GR" sz="2000" b="0" i="0" u="none" strike="noStrike" kern="0" cap="none" spc="0" normalizeH="0" baseline="0" noProof="0" dirty="0" err="1">
                <a:ln>
                  <a:noFill/>
                </a:ln>
                <a:solidFill>
                  <a:srgbClr val="000000"/>
                </a:solidFill>
                <a:effectLst/>
                <a:uLnTx/>
                <a:uFillTx/>
                <a:latin typeface="Tahoma"/>
                <a:ea typeface="+mn-ea"/>
                <a:cs typeface="+mn-cs"/>
              </a:rPr>
              <a:t>φέρετ</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αι στην μεταβλητή ακτίνα</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400" b="1" i="0" u="none" strike="noStrike" kern="0" cap="none" spc="0" normalizeH="0" baseline="0" noProof="0" dirty="0">
                <a:ln>
                  <a:noFill/>
                </a:ln>
                <a:solidFill>
                  <a:srgbClr val="FF0000"/>
                </a:solidFill>
                <a:effectLst/>
                <a:uLnTx/>
                <a:uFillTx/>
                <a:latin typeface="Tahoma"/>
                <a:ea typeface="+mn-ea"/>
                <a:cs typeface="+mn-cs"/>
              </a:rPr>
              <a:t>((Circle)this).r</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 cast </a:t>
            </a:r>
            <a:r>
              <a:rPr kumimoji="0" lang="en-GB" altLang="el-GR" sz="2000" b="0" i="0" u="none" strike="noStrike" kern="0" cap="none" spc="0" normalizeH="0" baseline="0" noProof="0" dirty="0" err="1">
                <a:ln>
                  <a:noFill/>
                </a:ln>
                <a:solidFill>
                  <a:srgbClr val="000000"/>
                </a:solidFill>
                <a:effectLst/>
                <a:uLnTx/>
                <a:uFillTx/>
                <a:latin typeface="Tahoma"/>
                <a:ea typeface="+mn-ea"/>
                <a:cs typeface="+mn-cs"/>
              </a:rPr>
              <a:t>στην</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 κα</a:t>
            </a:r>
            <a:r>
              <a:rPr kumimoji="0" lang="en-GB" altLang="el-GR" sz="2000" b="0" i="0" u="none" strike="noStrike" kern="0" cap="none" spc="0" normalizeH="0" baseline="0" noProof="0" dirty="0" err="1">
                <a:ln>
                  <a:noFill/>
                </a:ln>
                <a:solidFill>
                  <a:srgbClr val="000000"/>
                </a:solidFill>
                <a:effectLst/>
                <a:uLnTx/>
                <a:uFillTx/>
                <a:latin typeface="Tahoma"/>
                <a:ea typeface="+mn-ea"/>
                <a:cs typeface="+mn-cs"/>
              </a:rPr>
              <a:t>τάλληλη</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 π</a:t>
            </a:r>
            <a:r>
              <a:rPr kumimoji="0" lang="en-GB" altLang="el-GR" sz="2000" b="0" i="0" u="none" strike="noStrike" kern="0" cap="none" spc="0" normalizeH="0" baseline="0" noProof="0" dirty="0" err="1">
                <a:ln>
                  <a:noFill/>
                </a:ln>
                <a:solidFill>
                  <a:srgbClr val="000000"/>
                </a:solidFill>
                <a:effectLst/>
                <a:uLnTx/>
                <a:uFillTx/>
                <a:latin typeface="Tahoma"/>
                <a:ea typeface="+mn-ea"/>
                <a:cs typeface="+mn-cs"/>
              </a:rPr>
              <a:t>ρόγονη</a:t>
            </a:r>
            <a:r>
              <a:rPr kumimoji="0" lang="en-GB" altLang="el-GR" sz="2000" b="0" i="0" u="none" strike="noStrike" kern="0" cap="none" spc="0" normalizeH="0" baseline="0" noProof="0" dirty="0">
                <a:ln>
                  <a:noFill/>
                </a:ln>
                <a:solidFill>
                  <a:srgbClr val="000000"/>
                </a:solidFill>
                <a:effectLst/>
                <a:uLnTx/>
                <a:uFillTx/>
                <a:latin typeface="Tahoma"/>
                <a:ea typeface="+mn-ea"/>
                <a:cs typeface="+mn-cs"/>
              </a:rPr>
              <a:t> </a:t>
            </a:r>
            <a:r>
              <a:rPr kumimoji="0" lang="en-GB" altLang="el-GR" sz="2000" b="0" i="0" u="none" strike="noStrike" kern="0" cap="none" spc="0" normalizeH="0" baseline="0" noProof="0" dirty="0" err="1">
                <a:ln>
                  <a:noFill/>
                </a:ln>
                <a:solidFill>
                  <a:srgbClr val="000000"/>
                </a:solidFill>
                <a:effectLst/>
                <a:uLnTx/>
                <a:uFillTx/>
                <a:latin typeface="Tahoma"/>
                <a:ea typeface="+mn-ea"/>
                <a:cs typeface="+mn-cs"/>
              </a:rPr>
              <a:t>κλάση</a:t>
            </a:r>
            <a:endParaRPr kumimoji="0" lang="en-GB" altLang="el-GR" sz="20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2000" b="0" i="1" u="none" strike="noStrike" kern="0" cap="none" spc="0" normalizeH="0" baseline="0" noProof="0" dirty="0">
              <a:ln>
                <a:noFill/>
              </a:ln>
              <a:solidFill>
                <a:srgbClr val="000000"/>
              </a:solidFill>
              <a:effectLst/>
              <a:uLnTx/>
              <a:uFillTx/>
              <a:latin typeface="Times New Roman Greek" panose="02020603050405020304" pitchFamily="18" charset="0"/>
              <a:ea typeface="+mn-ea"/>
              <a:cs typeface="+mn-cs"/>
            </a:endParaRPr>
          </a:p>
        </p:txBody>
      </p:sp>
      <p:sp>
        <p:nvSpPr>
          <p:cNvPr id="9" name="Rectangle 3">
            <a:extLst>
              <a:ext uri="{FF2B5EF4-FFF2-40B4-BE49-F238E27FC236}">
                <a16:creationId xmlns:a16="http://schemas.microsoft.com/office/drawing/2014/main" id="{B24476EA-F38F-531B-7044-94AEF2779199}"/>
              </a:ext>
            </a:extLst>
          </p:cNvPr>
          <p:cNvSpPr txBox="1">
            <a:spLocks noChangeArrowheads="1"/>
          </p:cNvSpPr>
          <p:nvPr/>
        </p:nvSpPr>
        <p:spPr bwMode="auto">
          <a:xfrm>
            <a:off x="7562338" y="743705"/>
            <a:ext cx="4629661" cy="270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1" i="1" u="none" strike="noStrike" kern="0" cap="none" spc="0" normalizeH="0" baseline="0" noProof="0" dirty="0">
                <a:ln>
                  <a:noFill/>
                </a:ln>
                <a:solidFill>
                  <a:srgbClr val="3333CC"/>
                </a:solidFill>
                <a:effectLst/>
                <a:uLnTx/>
                <a:uFillTx/>
                <a:latin typeface="Tahoma"/>
              </a:rPr>
              <a:t>public class </a:t>
            </a:r>
            <a:r>
              <a:rPr kumimoji="0" lang="en-GB" altLang="el-GR" sz="2000" b="1" i="1" u="none" strike="noStrike" kern="0" cap="none" spc="0" normalizeH="0" baseline="0" noProof="0" dirty="0">
                <a:ln>
                  <a:noFill/>
                </a:ln>
                <a:solidFill>
                  <a:srgbClr val="FF0000"/>
                </a:solidFill>
                <a:effectLst/>
                <a:uLnTx/>
                <a:uFillTx/>
                <a:latin typeface="Tahoma"/>
              </a:rPr>
              <a:t>Circle</a:t>
            </a:r>
            <a:r>
              <a:rPr kumimoji="0" lang="en-GB" altLang="el-GR" sz="2000" b="1" i="1" u="none" strike="noStrike" kern="0" cap="none" spc="0" normalizeH="0" baseline="0" noProof="0" dirty="0">
                <a:ln>
                  <a:noFill/>
                </a:ln>
                <a:solidFill>
                  <a:srgbClr val="3333CC"/>
                </a:solidFill>
                <a:effectLst/>
                <a:uLnTx/>
                <a:uFillTx/>
                <a:latin typeface="Tahoma"/>
              </a:rPr>
              <a:t> {</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rPr>
              <a:t>	</a:t>
            </a:r>
            <a:r>
              <a:rPr kumimoji="0" lang="en-GB" altLang="el-GR" sz="2000" b="0" i="1" u="none" strike="noStrike" kern="0" cap="none" spc="0" normalizeH="0" baseline="0" noProof="0" dirty="0">
                <a:ln>
                  <a:noFill/>
                </a:ln>
                <a:solidFill>
                  <a:srgbClr val="3333CC"/>
                </a:solidFill>
                <a:effectLst/>
                <a:uLnTx/>
                <a:uFillTx/>
                <a:latin typeface="Tahoma"/>
              </a:rPr>
              <a:t>public double </a:t>
            </a:r>
            <a:r>
              <a:rPr kumimoji="0" lang="en-GB" altLang="el-GR" sz="2000" b="0" i="1" u="none" strike="noStrike" kern="0" cap="none" spc="0" normalizeH="0" baseline="0" noProof="0" dirty="0" err="1">
                <a:ln>
                  <a:noFill/>
                </a:ln>
                <a:solidFill>
                  <a:srgbClr val="800000"/>
                </a:solidFill>
                <a:effectLst/>
                <a:uLnTx/>
                <a:uFillTx/>
                <a:latin typeface="Tahoma"/>
              </a:rPr>
              <a:t>x,y</a:t>
            </a:r>
            <a:r>
              <a:rPr kumimoji="0" lang="en-GB" altLang="el-GR" sz="2000" b="0" i="1" u="none" strike="noStrike" kern="0" cap="none" spc="0" normalizeH="0" baseline="0" noProof="0" dirty="0">
                <a:ln>
                  <a:noFill/>
                </a:ln>
                <a:solidFill>
                  <a:srgbClr val="3333CC"/>
                </a:solidFill>
                <a:effectLst/>
                <a:uLnTx/>
                <a:uFillTx/>
                <a:latin typeface="Tahoma"/>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0" i="1" u="none" strike="noStrike" kern="0" cap="none" spc="0" normalizeH="0" baseline="0" noProof="0" dirty="0">
                <a:ln>
                  <a:noFill/>
                </a:ln>
                <a:solidFill>
                  <a:srgbClr val="3333CC"/>
                </a:solidFill>
                <a:effectLst/>
                <a:uLnTx/>
                <a:uFillTx/>
                <a:latin typeface="Tahoma"/>
              </a:rPr>
              <a:t>	public double </a:t>
            </a:r>
            <a:r>
              <a:rPr kumimoji="0" lang="en-GB" altLang="el-GR" b="1" i="1" u="none" strike="noStrike" kern="0" cap="none" spc="0" normalizeH="0" baseline="0" noProof="0" dirty="0">
                <a:ln>
                  <a:noFill/>
                </a:ln>
                <a:solidFill>
                  <a:srgbClr val="FF0000"/>
                </a:solidFill>
                <a:effectLst/>
                <a:uLnTx/>
                <a:uFillTx/>
                <a:latin typeface="Tahoma"/>
              </a:rPr>
              <a:t>r</a:t>
            </a:r>
            <a:r>
              <a:rPr kumimoji="0" lang="en-GB" altLang="el-GR" sz="2000" b="0" i="1" u="none" strike="noStrike" kern="0" cap="none" spc="0" normalizeH="0" baseline="0" noProof="0" dirty="0">
                <a:ln>
                  <a:noFill/>
                </a:ln>
                <a:solidFill>
                  <a:srgbClr val="3333CC"/>
                </a:solidFill>
                <a:effectLst/>
                <a:uLnTx/>
                <a:uFillTx/>
                <a:latin typeface="Tahoma"/>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rPr>
              <a:t>	</a:t>
            </a:r>
            <a:r>
              <a:rPr kumimoji="0" lang="en-GB" altLang="el-GR" sz="2000" b="0" i="1" u="none" strike="noStrike" kern="0" cap="none" spc="0" normalizeH="0" baseline="0" noProof="0" dirty="0">
                <a:ln>
                  <a:noFill/>
                </a:ln>
                <a:solidFill>
                  <a:srgbClr val="3333CC"/>
                </a:solidFill>
                <a:effectLst/>
                <a:uLnTx/>
                <a:uFillTx/>
                <a:latin typeface="Tahoma"/>
              </a:rPr>
              <a:t>public double </a:t>
            </a:r>
            <a:r>
              <a:rPr kumimoji="0" lang="en-GB" altLang="el-GR" sz="2000" b="1" i="1" u="none" strike="noStrike" kern="0" cap="none" spc="0" normalizeH="0" baseline="0" noProof="0" dirty="0">
                <a:ln>
                  <a:noFill/>
                </a:ln>
                <a:solidFill>
                  <a:srgbClr val="800000"/>
                </a:solidFill>
                <a:effectLst/>
                <a:uLnTx/>
                <a:uFillTx/>
                <a:latin typeface="Tahoma"/>
              </a:rPr>
              <a:t>circumference</a:t>
            </a:r>
            <a:r>
              <a:rPr kumimoji="0" lang="en-GB" altLang="el-GR" sz="2000" b="0" i="1" u="none" strike="noStrike" kern="0" cap="none" spc="0" normalizeH="0" baseline="0" noProof="0" dirty="0">
                <a:ln>
                  <a:noFill/>
                </a:ln>
                <a:solidFill>
                  <a:srgbClr val="3333CC"/>
                </a:solidFill>
                <a:effectLst/>
                <a:uLnTx/>
                <a:uFillTx/>
                <a:latin typeface="Tahoma"/>
              </a:rPr>
              <a:t>(){</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0" i="1" u="none" strike="noStrike" kern="0" cap="none" spc="0" normalizeH="0" baseline="0" noProof="0" dirty="0">
                <a:ln>
                  <a:noFill/>
                </a:ln>
                <a:solidFill>
                  <a:srgbClr val="3333CC"/>
                </a:solidFill>
                <a:effectLst/>
                <a:uLnTx/>
                <a:uFillTx/>
                <a:latin typeface="Tahoma"/>
              </a:rPr>
              <a:t>			return 2*3,14*r;}</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0" i="1" u="none" strike="noStrike" kern="0" cap="none" spc="0" normalizeH="0" baseline="0" noProof="0" dirty="0">
                <a:ln>
                  <a:noFill/>
                </a:ln>
                <a:solidFill>
                  <a:srgbClr val="3333CC"/>
                </a:solidFill>
                <a:effectLst/>
                <a:uLnTx/>
                <a:uFillTx/>
                <a:latin typeface="Tahoma"/>
              </a:rPr>
              <a:t>	public double </a:t>
            </a:r>
            <a:r>
              <a:rPr kumimoji="0" lang="en-GB" altLang="el-GR" sz="2000" b="1" i="1" u="none" strike="noStrike" kern="0" cap="none" spc="0" normalizeH="0" baseline="0" noProof="0" dirty="0">
                <a:ln>
                  <a:noFill/>
                </a:ln>
                <a:solidFill>
                  <a:srgbClr val="800000"/>
                </a:solidFill>
                <a:effectLst/>
                <a:uLnTx/>
                <a:uFillTx/>
                <a:latin typeface="Tahoma"/>
              </a:rPr>
              <a:t>area</a:t>
            </a:r>
            <a:r>
              <a:rPr kumimoji="0" lang="en-GB" altLang="el-GR" sz="2000" b="0" i="1" u="none" strike="noStrike" kern="0" cap="none" spc="0" normalizeH="0" baseline="0" noProof="0" dirty="0">
                <a:ln>
                  <a:noFill/>
                </a:ln>
                <a:solidFill>
                  <a:srgbClr val="3333CC"/>
                </a:solidFill>
                <a:effectLst/>
                <a:uLnTx/>
                <a:uFillTx/>
                <a:latin typeface="Tahoma"/>
              </a:rPr>
              <a:t>() {</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0" i="1" u="none" strike="noStrike" kern="0" cap="none" spc="0" normalizeH="0" baseline="0" noProof="0" dirty="0">
                <a:ln>
                  <a:noFill/>
                </a:ln>
                <a:solidFill>
                  <a:srgbClr val="3333CC"/>
                </a:solidFill>
                <a:effectLst/>
                <a:uLnTx/>
                <a:uFillTx/>
                <a:latin typeface="Tahoma"/>
              </a:rPr>
              <a:t>			return 3.14*r*r;}</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None/>
              <a:tabLst/>
              <a:defRPr/>
            </a:pPr>
            <a:r>
              <a:rPr kumimoji="0" lang="en-GB" altLang="el-GR" sz="2000" b="0" i="1" u="none" strike="noStrike" kern="0" cap="none" spc="0" normalizeH="0" baseline="0" noProof="0" dirty="0">
                <a:ln>
                  <a:noFill/>
                </a:ln>
                <a:solidFill>
                  <a:srgbClr val="3333CC"/>
                </a:solidFill>
                <a:effectLst/>
                <a:uLnTx/>
                <a:uFillTx/>
                <a:latin typeface="Tahoma"/>
              </a:rPr>
              <a:t>	}</a:t>
            </a:r>
            <a:endParaRPr kumimoji="0" lang="en-GB" altLang="el-GR" b="0" i="1" u="none" strike="noStrike" kern="0" cap="none" spc="0" normalizeH="0" baseline="0" noProof="0" dirty="0">
              <a:ln>
                <a:noFill/>
              </a:ln>
              <a:solidFill>
                <a:srgbClr val="3333CC"/>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b="0" i="0" u="none" strike="noStrike" kern="0" cap="none" spc="0" normalizeH="0" baseline="0" noProof="0" dirty="0">
              <a:ln>
                <a:noFill/>
              </a:ln>
              <a:solidFill>
                <a:srgbClr val="000000"/>
              </a:solidFill>
              <a:effectLst/>
              <a:uLnTx/>
              <a:uFillTx/>
              <a:latin typeface="Tahoma"/>
              <a:ea typeface="+mn-ea"/>
              <a:cs typeface="+mn-cs"/>
            </a:endParaRPr>
          </a:p>
        </p:txBody>
      </p:sp>
      <p:sp>
        <p:nvSpPr>
          <p:cNvPr id="12" name="Θέση υποσέλιδου 4">
            <a:extLst>
              <a:ext uri="{FF2B5EF4-FFF2-40B4-BE49-F238E27FC236}">
                <a16:creationId xmlns:a16="http://schemas.microsoft.com/office/drawing/2014/main" id="{AD1DCA8E-49CC-885B-1901-25CCD31C7A4D}"/>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267485866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blinds(horizontal)">
                                      <p:cBhvr>
                                        <p:cTn id="10" dur="500"/>
                                        <p:tgtEl>
                                          <p:spTgt spid="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blinds(horizontal)">
                                      <p:cBhvr>
                                        <p:cTn id="13" dur="500"/>
                                        <p:tgtEl>
                                          <p:spTgt spid="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blinds(horizontal)">
                                      <p:cBhvr>
                                        <p:cTn id="16" dur="500"/>
                                        <p:tgtEl>
                                          <p:spTgt spid="9">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blinds(horizontal)">
                                      <p:cBhvr>
                                        <p:cTn id="19" dur="500"/>
                                        <p:tgtEl>
                                          <p:spTgt spid="9">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blinds(horizontal)">
                                      <p:cBhvr>
                                        <p:cTn id="22" dur="500"/>
                                        <p:tgtEl>
                                          <p:spTgt spid="9">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blinds(horizontal)">
                                      <p:cBhvr>
                                        <p:cTn id="25" dur="500"/>
                                        <p:tgtEl>
                                          <p:spTgt spid="9">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9">
                                            <p:txEl>
                                              <p:pRg st="7" end="7"/>
                                            </p:txEl>
                                          </p:spTgt>
                                        </p:tgtEl>
                                        <p:attrNameLst>
                                          <p:attrName>style.visibility</p:attrName>
                                        </p:attrNameLst>
                                      </p:cBhvr>
                                      <p:to>
                                        <p:strVal val="visible"/>
                                      </p:to>
                                    </p:set>
                                    <p:animEffect transition="in" filter="blinds(horizontal)">
                                      <p:cBhvr>
                                        <p:cTn id="28" dur="500"/>
                                        <p:tgtEl>
                                          <p:spTgt spid="9">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fade">
                                      <p:cBhvr>
                                        <p:cTn id="33" dur="2000"/>
                                        <p:tgtEl>
                                          <p:spTgt spid="5">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fade">
                                      <p:cBhvr>
                                        <p:cTn id="38" dur="2000"/>
                                        <p:tgtEl>
                                          <p:spTgt spid="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fade">
                                      <p:cBhvr>
                                        <p:cTn id="43" dur="2000"/>
                                        <p:tgtEl>
                                          <p:spTgt spid="5">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
                                            <p:txEl>
                                              <p:pRg st="6" end="6"/>
                                            </p:txEl>
                                          </p:spTgt>
                                        </p:tgtEl>
                                        <p:attrNameLst>
                                          <p:attrName>style.visibility</p:attrName>
                                        </p:attrNameLst>
                                      </p:cBhvr>
                                      <p:to>
                                        <p:strVal val="visible"/>
                                      </p:to>
                                    </p:set>
                                    <p:animEffect transition="in" filter="fade">
                                      <p:cBhvr>
                                        <p:cTn id="48" dur="2000"/>
                                        <p:tgtEl>
                                          <p:spTgt spid="5">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5">
                                            <p:txEl>
                                              <p:pRg st="7" end="7"/>
                                            </p:txEl>
                                          </p:spTgt>
                                        </p:tgtEl>
                                        <p:attrNameLst>
                                          <p:attrName>style.visibility</p:attrName>
                                        </p:attrNameLst>
                                      </p:cBhvr>
                                      <p:to>
                                        <p:strVal val="visible"/>
                                      </p:to>
                                    </p:set>
                                    <p:animEffect transition="in" filter="fade">
                                      <p:cBhvr>
                                        <p:cTn id="53" dur="2000"/>
                                        <p:tgtEl>
                                          <p:spTgt spid="5">
                                            <p:txEl>
                                              <p:pRg st="7" end="7"/>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
                                            <p:txEl>
                                              <p:pRg st="8" end="8"/>
                                            </p:txEl>
                                          </p:spTgt>
                                        </p:tgtEl>
                                        <p:attrNameLst>
                                          <p:attrName>style.visibility</p:attrName>
                                        </p:attrNameLst>
                                      </p:cBhvr>
                                      <p:to>
                                        <p:strVal val="visible"/>
                                      </p:to>
                                    </p:set>
                                    <p:animEffect transition="in" filter="fade">
                                      <p:cBhvr>
                                        <p:cTn id="58" dur="20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αναφορά σε επισκιαζόμενες μεταβλητές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pic>
        <p:nvPicPr>
          <p:cNvPr id="6" name="Picture 4">
            <a:extLst>
              <a:ext uri="{FF2B5EF4-FFF2-40B4-BE49-F238E27FC236}">
                <a16:creationId xmlns:a16="http://schemas.microsoft.com/office/drawing/2014/main" id="{80908BA3-6890-31B5-5170-78BD3BB480E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75" y="1766888"/>
            <a:ext cx="7461250"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5">
            <a:extLst>
              <a:ext uri="{FF2B5EF4-FFF2-40B4-BE49-F238E27FC236}">
                <a16:creationId xmlns:a16="http://schemas.microsoft.com/office/drawing/2014/main" id="{D6BD0475-A327-B6EE-04BC-9322E186E050}"/>
              </a:ext>
            </a:extLst>
          </p:cNvPr>
          <p:cNvSpPr>
            <a:spLocks noChangeShapeType="1"/>
          </p:cNvSpPr>
          <p:nvPr/>
        </p:nvSpPr>
        <p:spPr bwMode="auto">
          <a:xfrm flipV="1">
            <a:off x="4924425" y="3124200"/>
            <a:ext cx="1054100" cy="1447800"/>
          </a:xfrm>
          <a:prstGeom prst="line">
            <a:avLst/>
          </a:prstGeom>
          <a:noFill/>
          <a:ln w="12700">
            <a:solidFill>
              <a:srgbClr val="000000"/>
            </a:solidFill>
            <a:prstDash val="dash"/>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Line 6">
            <a:extLst>
              <a:ext uri="{FF2B5EF4-FFF2-40B4-BE49-F238E27FC236}">
                <a16:creationId xmlns:a16="http://schemas.microsoft.com/office/drawing/2014/main" id="{79A724E7-B950-1E87-D5B6-EBD26BE61264}"/>
              </a:ext>
            </a:extLst>
          </p:cNvPr>
          <p:cNvSpPr>
            <a:spLocks noChangeShapeType="1"/>
          </p:cNvSpPr>
          <p:nvPr/>
        </p:nvSpPr>
        <p:spPr bwMode="auto">
          <a:xfrm flipV="1">
            <a:off x="5416550" y="3048000"/>
            <a:ext cx="703263" cy="1828800"/>
          </a:xfrm>
          <a:prstGeom prst="line">
            <a:avLst/>
          </a:prstGeom>
          <a:noFill/>
          <a:ln w="12700">
            <a:solidFill>
              <a:srgbClr val="000000"/>
            </a:solidFill>
            <a:prstDash val="dash"/>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Line 7">
            <a:extLst>
              <a:ext uri="{FF2B5EF4-FFF2-40B4-BE49-F238E27FC236}">
                <a16:creationId xmlns:a16="http://schemas.microsoft.com/office/drawing/2014/main" id="{A6C66EE1-5AB7-F9B3-1C4F-C2A84FE3D844}"/>
              </a:ext>
            </a:extLst>
          </p:cNvPr>
          <p:cNvSpPr>
            <a:spLocks noChangeShapeType="1"/>
          </p:cNvSpPr>
          <p:nvPr/>
        </p:nvSpPr>
        <p:spPr bwMode="auto">
          <a:xfrm flipH="1" flipV="1">
            <a:off x="1476375" y="5334000"/>
            <a:ext cx="3165475" cy="304800"/>
          </a:xfrm>
          <a:prstGeom prst="line">
            <a:avLst/>
          </a:prstGeom>
          <a:noFill/>
          <a:ln w="12700">
            <a:solidFill>
              <a:srgbClr val="000000"/>
            </a:solidFill>
            <a:prstDash val="dash"/>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Line 8">
            <a:extLst>
              <a:ext uri="{FF2B5EF4-FFF2-40B4-BE49-F238E27FC236}">
                <a16:creationId xmlns:a16="http://schemas.microsoft.com/office/drawing/2014/main" id="{2E7D4AA3-00F4-6334-4BFD-2B7EFC0E3AA5}"/>
              </a:ext>
            </a:extLst>
          </p:cNvPr>
          <p:cNvSpPr>
            <a:spLocks noChangeShapeType="1"/>
          </p:cNvSpPr>
          <p:nvPr/>
        </p:nvSpPr>
        <p:spPr bwMode="auto">
          <a:xfrm flipH="1" flipV="1">
            <a:off x="1970088" y="2667000"/>
            <a:ext cx="2671762" cy="3276600"/>
          </a:xfrm>
          <a:prstGeom prst="line">
            <a:avLst/>
          </a:prstGeom>
          <a:noFill/>
          <a:ln w="12700">
            <a:solidFill>
              <a:srgbClr val="000000"/>
            </a:solidFill>
            <a:prstDash val="dash"/>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Line 9">
            <a:extLst>
              <a:ext uri="{FF2B5EF4-FFF2-40B4-BE49-F238E27FC236}">
                <a16:creationId xmlns:a16="http://schemas.microsoft.com/office/drawing/2014/main" id="{CC55ECC8-2E34-BA39-3809-0DBB1BD12201}"/>
              </a:ext>
            </a:extLst>
          </p:cNvPr>
          <p:cNvSpPr>
            <a:spLocks noChangeShapeType="1"/>
          </p:cNvSpPr>
          <p:nvPr/>
        </p:nvSpPr>
        <p:spPr bwMode="auto">
          <a:xfrm flipV="1">
            <a:off x="4572000" y="6096000"/>
            <a:ext cx="2109788" cy="304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Line 10">
            <a:extLst>
              <a:ext uri="{FF2B5EF4-FFF2-40B4-BE49-F238E27FC236}">
                <a16:creationId xmlns:a16="http://schemas.microsoft.com/office/drawing/2014/main" id="{216B086B-C589-C9EE-4411-1D899F2F66FC}"/>
              </a:ext>
            </a:extLst>
          </p:cNvPr>
          <p:cNvSpPr>
            <a:spLocks noChangeShapeType="1"/>
          </p:cNvSpPr>
          <p:nvPr/>
        </p:nvSpPr>
        <p:spPr bwMode="auto">
          <a:xfrm>
            <a:off x="4502150" y="6096000"/>
            <a:ext cx="1968500" cy="304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Line 11">
            <a:extLst>
              <a:ext uri="{FF2B5EF4-FFF2-40B4-BE49-F238E27FC236}">
                <a16:creationId xmlns:a16="http://schemas.microsoft.com/office/drawing/2014/main" id="{9DE13028-5E50-7ABE-C9F1-94496B3E4102}"/>
              </a:ext>
            </a:extLst>
          </p:cNvPr>
          <p:cNvSpPr>
            <a:spLocks noChangeShapeType="1"/>
          </p:cNvSpPr>
          <p:nvPr/>
        </p:nvSpPr>
        <p:spPr bwMode="auto">
          <a:xfrm flipH="1">
            <a:off x="1547813" y="5257800"/>
            <a:ext cx="3094037" cy="0"/>
          </a:xfrm>
          <a:prstGeom prst="line">
            <a:avLst/>
          </a:prstGeom>
          <a:noFill/>
          <a:ln w="12700">
            <a:solidFill>
              <a:srgbClr val="000000"/>
            </a:solidFill>
            <a:prstDash val="dash"/>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Rectangle 16">
            <a:extLst>
              <a:ext uri="{FF2B5EF4-FFF2-40B4-BE49-F238E27FC236}">
                <a16:creationId xmlns:a16="http://schemas.microsoft.com/office/drawing/2014/main" id="{D50BE20B-DAA2-C300-CAA2-B28BC9B9A51B}"/>
              </a:ext>
            </a:extLst>
          </p:cNvPr>
          <p:cNvSpPr/>
          <p:nvPr/>
        </p:nvSpPr>
        <p:spPr>
          <a:xfrm>
            <a:off x="4502150" y="4305300"/>
            <a:ext cx="3048002" cy="1714500"/>
          </a:xfrm>
          <a:prstGeom prst="rect">
            <a:avLst/>
          </a:prstGeom>
          <a:solidFill>
            <a:schemeClr val="accent6">
              <a:lumMod val="75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Θέση υποσέλιδου 4">
            <a:extLst>
              <a:ext uri="{FF2B5EF4-FFF2-40B4-BE49-F238E27FC236}">
                <a16:creationId xmlns:a16="http://schemas.microsoft.com/office/drawing/2014/main" id="{22C9F647-C17E-0978-3E87-D33CB1C798B6}"/>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7019770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Overriding methods (</a:t>
            </a:r>
            <a:r>
              <a:rPr lang="el-GR" sz="4000" b="1" dirty="0">
                <a:solidFill>
                  <a:srgbClr val="F9853D"/>
                </a:solidFill>
                <a:latin typeface="Bahnschrift" panose="020B0502040204020203" pitchFamily="34" charset="0"/>
              </a:rPr>
              <a:t>επικαλυπτόμενες  μέθοδοι</a:t>
            </a:r>
            <a:r>
              <a:rPr lang="en-GB" sz="4000" b="1" dirty="0">
                <a:solidFill>
                  <a:srgbClr val="F9853D"/>
                </a:solidFill>
                <a:latin typeface="Bahnschrift" panose="020B0502040204020203" pitchFamily="34" charset="0"/>
              </a:rPr>
              <a: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Rectangle 3">
            <a:extLst>
              <a:ext uri="{FF2B5EF4-FFF2-40B4-BE49-F238E27FC236}">
                <a16:creationId xmlns:a16="http://schemas.microsoft.com/office/drawing/2014/main" id="{35C8F5E9-1B8E-79CE-F416-460BF0820C97}"/>
              </a:ext>
            </a:extLst>
          </p:cNvPr>
          <p:cNvSpPr txBox="1">
            <a:spLocks noChangeArrowheads="1"/>
          </p:cNvSpPr>
          <p:nvPr/>
        </p:nvSpPr>
        <p:spPr bwMode="auto">
          <a:xfrm>
            <a:off x="179387" y="1412875"/>
            <a:ext cx="10632047"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6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class Ellipse extends Circle{</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3600" b="0" i="0" u="none" strike="noStrike" kern="0" cap="none" spc="0" normalizeH="0" baseline="0" noProof="0" dirty="0">
                <a:ln>
                  <a:noFill/>
                </a:ln>
                <a:solidFill>
                  <a:srgbClr val="000000"/>
                </a:solidFill>
                <a:effectLst/>
                <a:uLnTx/>
                <a:uFillTx/>
                <a:latin typeface="Courier New" panose="02070309020205020404" pitchFamily="49" charset="0"/>
                <a:ea typeface="+mn-ea"/>
                <a:cs typeface="+mn-cs"/>
              </a:rPr>
              <a:t>			:</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None/>
              <a:tabLst/>
              <a:defRPr/>
            </a:pPr>
            <a:r>
              <a:rPr kumimoji="0" lang="en-GB" altLang="el-GR" sz="3200" b="0" i="0" u="none" strike="noStrike" kern="0" cap="none" spc="0" normalizeH="0" baseline="0" noProof="0" dirty="0">
                <a:ln>
                  <a:noFill/>
                </a:ln>
                <a:solidFill>
                  <a:srgbClr val="000000"/>
                </a:solidFill>
                <a:effectLst/>
                <a:uLnTx/>
                <a:uFillTx/>
                <a:latin typeface="Courier New" panose="02070309020205020404" pitchFamily="49" charset="0"/>
              </a:rPr>
              <a:t>			double </a:t>
            </a:r>
            <a:r>
              <a:rPr kumimoji="0" lang="en-GB" altLang="el-GR" sz="3200" b="1" i="0" u="none" strike="noStrike" kern="0" cap="none" spc="0" normalizeH="0" baseline="0" noProof="0" dirty="0">
                <a:ln>
                  <a:noFill/>
                </a:ln>
                <a:solidFill>
                  <a:srgbClr val="FF0000"/>
                </a:solidFill>
                <a:effectLst/>
                <a:uLnTx/>
                <a:uFillTx/>
                <a:latin typeface="Courier New" panose="02070309020205020404" pitchFamily="49" charset="0"/>
              </a:rPr>
              <a:t>area</a:t>
            </a:r>
            <a:r>
              <a:rPr kumimoji="0" lang="en-GB" altLang="el-GR" sz="3200" b="0" i="0" u="none" strike="noStrike" kern="0" cap="none" spc="0" normalizeH="0" baseline="0" noProof="0" dirty="0">
                <a:ln>
                  <a:noFill/>
                </a:ln>
                <a:solidFill>
                  <a:srgbClr val="000000"/>
                </a:solidFill>
                <a:effectLst/>
                <a:uLnTx/>
                <a:uFillTx/>
                <a:latin typeface="Courier New" panose="02070309020205020404" pitchFamily="49" charset="0"/>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μέθοδος οριζόμενη σε </a:t>
            </a:r>
            <a:r>
              <a:rPr kumimoji="0" lang="el-GR" altLang="el-GR" sz="28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υποκλάση</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με το ίδιο όνομα, παραμέτρους και επιστρεφόμενη τιμή </a:t>
            </a:r>
            <a:r>
              <a:rPr kumimoji="0" lang="el-GR" altLang="el-GR" sz="2800" b="0" i="0" u="none" strike="noStrike" kern="0" cap="none" spc="0" normalizeH="0" baseline="0" noProof="0" dirty="0" err="1">
                <a:ln>
                  <a:noFill/>
                </a:ln>
                <a:solidFill>
                  <a:srgbClr val="FF0000"/>
                </a:solidFill>
                <a:effectLst/>
                <a:uLnTx/>
                <a:uFillTx/>
                <a:latin typeface="Times New Roman" panose="02020603050405020304" pitchFamily="18" charset="0"/>
                <a:ea typeface="+mn-ea"/>
                <a:cs typeface="+mn-cs"/>
              </a:rPr>
              <a:t>overrides</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την αντίστοιχη  μέθοδο της </a:t>
            </a:r>
            <a:r>
              <a:rPr kumimoji="0" lang="el-GR" altLang="el-GR" sz="28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πρόγονης</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κλάσης</a:t>
            </a:r>
          </a:p>
        </p:txBody>
      </p:sp>
    </p:spTree>
    <p:extLst>
      <p:ext uri="{BB962C8B-B14F-4D97-AF65-F5344CB8AC3E}">
        <p14:creationId xmlns:p14="http://schemas.microsoft.com/office/powerpoint/2010/main" val="21830078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20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Πα</a:t>
            </a:r>
            <a:r>
              <a:rPr lang="en-GB" sz="4000" b="1" dirty="0" err="1">
                <a:solidFill>
                  <a:srgbClr val="F9853D"/>
                </a:solidFill>
                <a:latin typeface="Bahnschrift" panose="020B0502040204020203" pitchFamily="34" charset="0"/>
              </a:rPr>
              <a:t>ράδειγμ</a:t>
            </a:r>
            <a:r>
              <a:rPr lang="en-GB" sz="4000" b="1" dirty="0">
                <a:solidFill>
                  <a:srgbClr val="F9853D"/>
                </a:solidFill>
                <a:latin typeface="Bahnschrift" panose="020B0502040204020203" pitchFamily="34" charset="0"/>
              </a:rPr>
              <a:t>α 1 – instance fields and methods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4" name="Rectangle 6">
            <a:extLst>
              <a:ext uri="{FF2B5EF4-FFF2-40B4-BE49-F238E27FC236}">
                <a16:creationId xmlns:a16="http://schemas.microsoft.com/office/drawing/2014/main" id="{7BE75EF4-21D2-D0DC-747A-95DFD5D64C7E}"/>
              </a:ext>
            </a:extLst>
          </p:cNvPr>
          <p:cNvSpPr>
            <a:spLocks noChangeArrowheads="1"/>
          </p:cNvSpPr>
          <p:nvPr/>
        </p:nvSpPr>
        <p:spPr bwMode="auto">
          <a:xfrm>
            <a:off x="228600" y="2057400"/>
            <a:ext cx="3124200" cy="4343400"/>
          </a:xfrm>
          <a:prstGeom prst="rect">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Rectangle 4">
            <a:extLst>
              <a:ext uri="{FF2B5EF4-FFF2-40B4-BE49-F238E27FC236}">
                <a16:creationId xmlns:a16="http://schemas.microsoft.com/office/drawing/2014/main" id="{4CA151BF-A69D-1584-46BD-62C0ED128601}"/>
              </a:ext>
            </a:extLst>
          </p:cNvPr>
          <p:cNvSpPr txBox="1">
            <a:spLocks noChangeArrowheads="1"/>
          </p:cNvSpPr>
          <p:nvPr/>
        </p:nvSpPr>
        <p:spPr bwMode="auto">
          <a:xfrm>
            <a:off x="228600" y="2133600"/>
            <a:ext cx="3048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class A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int </a:t>
            </a:r>
            <a:r>
              <a:rPr kumimoji="0" lang="en-GB" altLang="el-GR" sz="2000" b="0" i="1" u="none" strike="noStrike" kern="0" cap="none" spc="0" normalizeH="0" baseline="0" noProof="0" dirty="0" err="1">
                <a:ln>
                  <a:noFill/>
                </a:ln>
                <a:solidFill>
                  <a:srgbClr val="000000"/>
                </a:solidFill>
                <a:effectLst/>
                <a:uLnTx/>
                <a:uFillTx/>
                <a:latin typeface="Tahoma"/>
                <a:ea typeface="+mn-ea"/>
                <a:cs typeface="+mn-cs"/>
              </a:rPr>
              <a:t>i</a:t>
            </a: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 1;</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int f(){return </a:t>
            </a:r>
            <a:r>
              <a:rPr kumimoji="0" lang="en-GB" altLang="el-GR" sz="2000" b="0" i="1" u="none" strike="noStrike" kern="0" cap="none" spc="0" normalizeH="0" baseline="0" noProof="0" dirty="0" err="1">
                <a:ln>
                  <a:noFill/>
                </a:ln>
                <a:solidFill>
                  <a:srgbClr val="000000"/>
                </a:solidFill>
                <a:effectLst/>
                <a:uLnTx/>
                <a:uFillTx/>
                <a:latin typeface="Tahoma"/>
                <a:ea typeface="+mn-ea"/>
                <a:cs typeface="+mn-cs"/>
              </a:rPr>
              <a:t>i</a:t>
            </a:r>
            <a:r>
              <a:rPr kumimoji="0" lang="en-GB" altLang="el-GR" sz="2000" b="0" i="1"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2000" b="0" i="1"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class B extends A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a:t>
            </a:r>
            <a:r>
              <a:rPr kumimoji="0" lang="en-GB" altLang="el-GR" sz="2000" b="0" i="0" u="none" strike="noStrike" kern="0" cap="none" spc="0" normalizeH="0" baseline="0" noProof="0" dirty="0">
                <a:ln>
                  <a:noFill/>
                </a:ln>
                <a:solidFill>
                  <a:srgbClr val="3333CC"/>
                </a:solidFill>
                <a:effectLst/>
                <a:uLnTx/>
                <a:uFillTx/>
                <a:latin typeface="Tahoma"/>
                <a:ea typeface="+mn-ea"/>
                <a:cs typeface="+mn-cs"/>
              </a:rPr>
              <a:t>// shadows variable </a:t>
            </a:r>
            <a:r>
              <a:rPr kumimoji="0" lang="en-GB" altLang="el-GR" sz="2000" b="0" i="0" u="none" strike="noStrike" kern="0" cap="none" spc="0" normalizeH="0" baseline="0" noProof="0" dirty="0" err="1">
                <a:ln>
                  <a:noFill/>
                </a:ln>
                <a:solidFill>
                  <a:srgbClr val="3333CC"/>
                </a:solidFill>
                <a:effectLst/>
                <a:uLnTx/>
                <a:uFillTx/>
                <a:latin typeface="Tahoma"/>
                <a:ea typeface="+mn-ea"/>
                <a:cs typeface="+mn-cs"/>
              </a:rPr>
              <a:t>i</a:t>
            </a:r>
            <a:endParaRPr kumimoji="0" lang="en-GB" altLang="el-GR" sz="2000" b="0" i="1" u="none" strike="noStrike" kern="0" cap="none" spc="0" normalizeH="0" baseline="0" noProof="0" dirty="0">
              <a:ln>
                <a:noFill/>
              </a:ln>
              <a:solidFill>
                <a:srgbClr val="3333CC"/>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int </a:t>
            </a:r>
            <a:r>
              <a:rPr kumimoji="0" lang="en-GB" altLang="el-GR" sz="2000" b="0" i="1" u="none" strike="noStrike" kern="0" cap="none" spc="0" normalizeH="0" baseline="0" noProof="0" dirty="0" err="1">
                <a:ln>
                  <a:noFill/>
                </a:ln>
                <a:solidFill>
                  <a:srgbClr val="000000"/>
                </a:solidFill>
                <a:effectLst/>
                <a:uLnTx/>
                <a:uFillTx/>
                <a:latin typeface="Tahoma"/>
                <a:ea typeface="+mn-ea"/>
                <a:cs typeface="+mn-cs"/>
              </a:rPr>
              <a:t>i</a:t>
            </a: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 2;</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a:t>
            </a:r>
            <a:r>
              <a:rPr kumimoji="0" lang="en-GB" altLang="el-GR" sz="2000" b="0" i="0" u="none" strike="noStrike" kern="0" cap="none" spc="0" normalizeH="0" baseline="0" noProof="0" dirty="0">
                <a:ln>
                  <a:noFill/>
                </a:ln>
                <a:solidFill>
                  <a:srgbClr val="3333CC"/>
                </a:solidFill>
                <a:effectLst/>
                <a:uLnTx/>
                <a:uFillTx/>
                <a:latin typeface="Tahoma"/>
                <a:ea typeface="+mn-ea"/>
                <a:cs typeface="+mn-cs"/>
              </a:rPr>
              <a:t>//overrides method f</a:t>
            </a:r>
            <a:endParaRPr kumimoji="0" lang="en-GB" altLang="el-GR" sz="2000" b="0" i="1" u="none" strike="noStrike" kern="0" cap="none" spc="0" normalizeH="0" baseline="0" noProof="0" dirty="0">
              <a:ln>
                <a:noFill/>
              </a:ln>
              <a:solidFill>
                <a:srgbClr val="3333CC"/>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int f() {return  2*</a:t>
            </a:r>
            <a:r>
              <a:rPr kumimoji="0" lang="en-GB" altLang="el-GR" sz="2000" b="0" i="1" u="none" strike="noStrike" kern="0" cap="none" spc="0" normalizeH="0" baseline="0" noProof="0" dirty="0" err="1">
                <a:ln>
                  <a:noFill/>
                </a:ln>
                <a:solidFill>
                  <a:srgbClr val="000000"/>
                </a:solidFill>
                <a:effectLst/>
                <a:uLnTx/>
                <a:uFillTx/>
                <a:latin typeface="Tahoma"/>
                <a:ea typeface="+mn-ea"/>
                <a:cs typeface="+mn-cs"/>
              </a:rPr>
              <a:t>i</a:t>
            </a:r>
            <a:r>
              <a:rPr kumimoji="0" lang="en-GB" altLang="el-GR" sz="2000" b="0" i="1"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000" b="0" i="1"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2000" b="0" i="1" u="none" strike="noStrike" kern="0" cap="none" spc="0" normalizeH="0" baseline="0" noProof="0" dirty="0">
              <a:ln>
                <a:noFill/>
              </a:ln>
              <a:solidFill>
                <a:srgbClr val="000000"/>
              </a:solidFill>
              <a:effectLst/>
              <a:uLnTx/>
              <a:uFillTx/>
              <a:latin typeface="Times New Roman Greek" panose="02020603050405020304" pitchFamily="18" charset="0"/>
              <a:ea typeface="+mn-ea"/>
              <a:cs typeface="+mn-cs"/>
            </a:endParaRPr>
          </a:p>
        </p:txBody>
      </p:sp>
      <p:sp>
        <p:nvSpPr>
          <p:cNvPr id="7" name="Rectangle 5">
            <a:extLst>
              <a:ext uri="{FF2B5EF4-FFF2-40B4-BE49-F238E27FC236}">
                <a16:creationId xmlns:a16="http://schemas.microsoft.com/office/drawing/2014/main" id="{0FAA0CE2-808D-24EE-1900-23B9B78B4498}"/>
              </a:ext>
            </a:extLst>
          </p:cNvPr>
          <p:cNvSpPr>
            <a:spLocks noChangeArrowheads="1"/>
          </p:cNvSpPr>
          <p:nvPr/>
        </p:nvSpPr>
        <p:spPr bwMode="auto">
          <a:xfrm>
            <a:off x="3733800" y="2133600"/>
            <a:ext cx="5203825"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public class </a:t>
            </a:r>
            <a:r>
              <a:rPr lang="en-GB" altLang="el-GR" sz="2000" dirty="0" err="1">
                <a:solidFill>
                  <a:srgbClr val="000000"/>
                </a:solidFill>
                <a:latin typeface="Times New Roman" panose="02020603050405020304" pitchFamily="18" charset="0"/>
              </a:rPr>
              <a:t>InheritanceTest</a:t>
            </a:r>
            <a:r>
              <a:rPr lang="en-GB" altLang="el-GR" sz="2000" dirty="0">
                <a:solidFill>
                  <a:srgbClr val="000000"/>
                </a:solidFill>
                <a:latin typeface="Times New Roman" panose="02020603050405020304" pitchFamily="18" charset="0"/>
              </a:rPr>
              <a:t> {</a:t>
            </a: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public static void main(String </a:t>
            </a:r>
            <a:r>
              <a:rPr lang="en-GB" altLang="el-GR" sz="2000" dirty="0" err="1">
                <a:solidFill>
                  <a:srgbClr val="000000"/>
                </a:solidFill>
                <a:latin typeface="Times New Roman" panose="02020603050405020304" pitchFamily="18" charset="0"/>
              </a:rPr>
              <a:t>args</a:t>
            </a:r>
            <a:r>
              <a:rPr lang="en-GB" altLang="el-GR" sz="2000" dirty="0">
                <a:solidFill>
                  <a:srgbClr val="000000"/>
                </a:solidFill>
                <a:latin typeface="Times New Roman" panose="02020603050405020304" pitchFamily="18" charset="0"/>
              </a:rPr>
              <a:t>[]) {</a:t>
            </a: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B </a:t>
            </a:r>
            <a:r>
              <a:rPr lang="en-GB" altLang="el-GR" sz="2000" dirty="0" err="1">
                <a:solidFill>
                  <a:srgbClr val="000000"/>
                </a:solidFill>
                <a:latin typeface="Times New Roman" panose="02020603050405020304" pitchFamily="18" charset="0"/>
              </a:rPr>
              <a:t>b</a:t>
            </a:r>
            <a:r>
              <a:rPr lang="en-GB" altLang="el-GR" sz="2000" dirty="0">
                <a:solidFill>
                  <a:srgbClr val="000000"/>
                </a:solidFill>
                <a:latin typeface="Times New Roman" panose="02020603050405020304" pitchFamily="18" charset="0"/>
              </a:rPr>
              <a:t> = new B();</a:t>
            </a: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a:t>
            </a:r>
            <a:r>
              <a:rPr lang="en-GB" altLang="el-GR" sz="2000" dirty="0" err="1">
                <a:solidFill>
                  <a:srgbClr val="000000"/>
                </a:solidFill>
                <a:latin typeface="Times New Roman" panose="02020603050405020304" pitchFamily="18" charset="0"/>
              </a:rPr>
              <a:t>System.out.println</a:t>
            </a:r>
            <a:r>
              <a:rPr lang="en-GB" altLang="el-GR" sz="2000" dirty="0">
                <a:solidFill>
                  <a:srgbClr val="000000"/>
                </a:solidFill>
                <a:latin typeface="Times New Roman" panose="02020603050405020304" pitchFamily="18" charset="0"/>
              </a:rPr>
              <a:t>(</a:t>
            </a:r>
            <a:r>
              <a:rPr lang="en-GB" altLang="el-GR" sz="2000" dirty="0" err="1">
                <a:solidFill>
                  <a:srgbClr val="000000"/>
                </a:solidFill>
                <a:latin typeface="Times New Roman" panose="02020603050405020304" pitchFamily="18" charset="0"/>
              </a:rPr>
              <a:t>b.i</a:t>
            </a:r>
            <a:r>
              <a:rPr lang="en-GB" altLang="el-GR" sz="2000" dirty="0">
                <a:solidFill>
                  <a:srgbClr val="000000"/>
                </a:solidFill>
                <a:latin typeface="Times New Roman" panose="02020603050405020304" pitchFamily="18" charset="0"/>
              </a:rPr>
              <a:t>);		</a:t>
            </a:r>
            <a:endParaRPr lang="en-GB" altLang="el-GR" sz="2000" dirty="0">
              <a:solidFill>
                <a:srgbClr val="FF0000"/>
              </a:solidFill>
              <a:latin typeface="Times New Roman" panose="02020603050405020304" pitchFamily="18" charset="0"/>
            </a:endParaRP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a:t>
            </a:r>
            <a:r>
              <a:rPr lang="en-GB" altLang="el-GR" sz="2000" dirty="0" err="1">
                <a:solidFill>
                  <a:srgbClr val="000000"/>
                </a:solidFill>
                <a:latin typeface="Times New Roman" panose="02020603050405020304" pitchFamily="18" charset="0"/>
              </a:rPr>
              <a:t>System.out.println</a:t>
            </a:r>
            <a:r>
              <a:rPr lang="en-GB" altLang="el-GR" sz="2000" dirty="0">
                <a:solidFill>
                  <a:srgbClr val="000000"/>
                </a:solidFill>
                <a:latin typeface="Times New Roman" panose="02020603050405020304" pitchFamily="18" charset="0"/>
              </a:rPr>
              <a:t>(</a:t>
            </a:r>
            <a:r>
              <a:rPr lang="en-GB" altLang="el-GR" sz="2000" dirty="0" err="1">
                <a:solidFill>
                  <a:srgbClr val="000000"/>
                </a:solidFill>
                <a:latin typeface="Times New Roman" panose="02020603050405020304" pitchFamily="18" charset="0"/>
              </a:rPr>
              <a:t>b.f</a:t>
            </a:r>
            <a:r>
              <a:rPr lang="en-GB" altLang="el-GR" sz="2000" dirty="0">
                <a:solidFill>
                  <a:srgbClr val="000000"/>
                </a:solidFill>
                <a:latin typeface="Times New Roman" panose="02020603050405020304" pitchFamily="18" charset="0"/>
              </a:rPr>
              <a:t>());	</a:t>
            </a:r>
            <a:r>
              <a:rPr lang="en-US" altLang="el-GR" sz="2000" dirty="0">
                <a:solidFill>
                  <a:srgbClr val="000000"/>
                </a:solidFill>
                <a:latin typeface="Times New Roman" panose="02020603050405020304" pitchFamily="18" charset="0"/>
              </a:rPr>
              <a:t>	</a:t>
            </a:r>
            <a:endParaRPr lang="en-GB" altLang="el-GR" sz="2000" dirty="0">
              <a:solidFill>
                <a:srgbClr val="FF0000"/>
              </a:solidFill>
              <a:latin typeface="Times New Roman" panose="02020603050405020304" pitchFamily="18" charset="0"/>
            </a:endParaRPr>
          </a:p>
          <a:p>
            <a:pPr eaLnBrk="0" fontAlgn="base" hangingPunct="0">
              <a:spcAft>
                <a:spcPct val="0"/>
              </a:spcAft>
              <a:buClrTx/>
              <a:buSzTx/>
              <a:buFontTx/>
              <a:buNone/>
            </a:pPr>
            <a:endParaRPr lang="en-GB" altLang="el-GR" sz="2000" dirty="0">
              <a:solidFill>
                <a:srgbClr val="FF0000"/>
              </a:solidFill>
              <a:latin typeface="Times New Roman" panose="02020603050405020304" pitchFamily="18" charset="0"/>
            </a:endParaRP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A </a:t>
            </a:r>
            <a:r>
              <a:rPr lang="en-GB" altLang="el-GR" sz="2000" dirty="0" err="1">
                <a:solidFill>
                  <a:srgbClr val="000000"/>
                </a:solidFill>
                <a:latin typeface="Times New Roman" panose="02020603050405020304" pitchFamily="18" charset="0"/>
              </a:rPr>
              <a:t>a</a:t>
            </a:r>
            <a:r>
              <a:rPr lang="en-GB" altLang="el-GR" sz="2000" dirty="0">
                <a:solidFill>
                  <a:srgbClr val="000000"/>
                </a:solidFill>
                <a:latin typeface="Times New Roman" panose="02020603050405020304" pitchFamily="18" charset="0"/>
              </a:rPr>
              <a:t> = (A) b;</a:t>
            </a: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a:t>
            </a:r>
            <a:r>
              <a:rPr lang="en-GB" altLang="el-GR" sz="2000" dirty="0" err="1">
                <a:solidFill>
                  <a:srgbClr val="000000"/>
                </a:solidFill>
                <a:latin typeface="Times New Roman" panose="02020603050405020304" pitchFamily="18" charset="0"/>
              </a:rPr>
              <a:t>System.out.println</a:t>
            </a:r>
            <a:r>
              <a:rPr lang="en-GB" altLang="el-GR" sz="2000" dirty="0">
                <a:solidFill>
                  <a:srgbClr val="000000"/>
                </a:solidFill>
                <a:latin typeface="Times New Roman" panose="02020603050405020304" pitchFamily="18" charset="0"/>
              </a:rPr>
              <a:t>(</a:t>
            </a:r>
            <a:r>
              <a:rPr lang="en-GB" altLang="el-GR" sz="2000" dirty="0" err="1">
                <a:solidFill>
                  <a:srgbClr val="000000"/>
                </a:solidFill>
                <a:latin typeface="Times New Roman" panose="02020603050405020304" pitchFamily="18" charset="0"/>
              </a:rPr>
              <a:t>a.i</a:t>
            </a:r>
            <a:r>
              <a:rPr lang="en-GB" altLang="el-GR" sz="2000" dirty="0">
                <a:solidFill>
                  <a:srgbClr val="000000"/>
                </a:solidFill>
                <a:latin typeface="Times New Roman" panose="02020603050405020304" pitchFamily="18" charset="0"/>
              </a:rPr>
              <a:t>);		</a:t>
            </a:r>
            <a:endParaRPr lang="en-GB" altLang="el-GR" sz="2000" dirty="0">
              <a:solidFill>
                <a:srgbClr val="FF0000"/>
              </a:solidFill>
              <a:latin typeface="Times New Roman" panose="02020603050405020304" pitchFamily="18" charset="0"/>
            </a:endParaRP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a:t>
            </a:r>
            <a:r>
              <a:rPr lang="en-GB" altLang="el-GR" sz="2000" dirty="0" err="1">
                <a:solidFill>
                  <a:srgbClr val="000000"/>
                </a:solidFill>
                <a:latin typeface="Times New Roman" panose="02020603050405020304" pitchFamily="18" charset="0"/>
              </a:rPr>
              <a:t>System.out.println</a:t>
            </a:r>
            <a:r>
              <a:rPr lang="en-GB" altLang="el-GR" sz="2000" dirty="0">
                <a:solidFill>
                  <a:srgbClr val="000000"/>
                </a:solidFill>
                <a:latin typeface="Times New Roman" panose="02020603050405020304" pitchFamily="18" charset="0"/>
              </a:rPr>
              <a:t>(</a:t>
            </a:r>
            <a:r>
              <a:rPr lang="en-GB" altLang="el-GR" sz="2000" b="1" dirty="0" err="1">
                <a:solidFill>
                  <a:srgbClr val="000000"/>
                </a:solidFill>
                <a:latin typeface="Times New Roman" panose="02020603050405020304" pitchFamily="18" charset="0"/>
              </a:rPr>
              <a:t>a.f</a:t>
            </a:r>
            <a:r>
              <a:rPr lang="en-GB" altLang="el-GR" sz="2000" b="1" dirty="0">
                <a:solidFill>
                  <a:srgbClr val="000000"/>
                </a:solidFill>
                <a:latin typeface="Times New Roman" panose="02020603050405020304" pitchFamily="18" charset="0"/>
              </a:rPr>
              <a:t>()</a:t>
            </a:r>
            <a:r>
              <a:rPr lang="en-GB" altLang="el-GR" sz="2000" dirty="0">
                <a:solidFill>
                  <a:srgbClr val="000000"/>
                </a:solidFill>
                <a:latin typeface="Times New Roman" panose="02020603050405020304" pitchFamily="18" charset="0"/>
              </a:rPr>
              <a:t>);	</a:t>
            </a:r>
            <a:r>
              <a:rPr lang="en-US" altLang="el-GR" sz="2000" dirty="0">
                <a:solidFill>
                  <a:srgbClr val="000000"/>
                </a:solidFill>
                <a:latin typeface="Times New Roman" panose="02020603050405020304" pitchFamily="18" charset="0"/>
              </a:rPr>
              <a:t>	</a:t>
            </a:r>
            <a:endParaRPr lang="en-GB" altLang="el-GR" sz="2000" dirty="0">
              <a:solidFill>
                <a:srgbClr val="FF0000"/>
              </a:solidFill>
              <a:latin typeface="Times New Roman" panose="02020603050405020304" pitchFamily="18" charset="0"/>
            </a:endParaRP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a:t>
            </a:r>
          </a:p>
          <a:p>
            <a:pPr eaLnBrk="0" fontAlgn="base" hangingPunct="0">
              <a:spcAft>
                <a:spcPct val="0"/>
              </a:spcAft>
              <a:buClrTx/>
              <a:buSzTx/>
              <a:buFontTx/>
              <a:buNone/>
            </a:pPr>
            <a:r>
              <a:rPr lang="en-GB" altLang="el-GR" sz="2000" dirty="0">
                <a:solidFill>
                  <a:srgbClr val="000000"/>
                </a:solidFill>
                <a:latin typeface="Times New Roman" panose="02020603050405020304" pitchFamily="18" charset="0"/>
              </a:rPr>
              <a:t>	}</a:t>
            </a:r>
          </a:p>
          <a:p>
            <a:pPr eaLnBrk="0" fontAlgn="base" hangingPunct="0">
              <a:spcAft>
                <a:spcPct val="0"/>
              </a:spcAft>
              <a:buClrTx/>
              <a:buSzTx/>
              <a:buFontTx/>
              <a:buNone/>
            </a:pPr>
            <a:endParaRPr lang="en-GB" altLang="el-GR" sz="2000" dirty="0">
              <a:solidFill>
                <a:srgbClr val="000000"/>
              </a:solidFill>
              <a:latin typeface="Times New Roman" panose="02020603050405020304" pitchFamily="18" charset="0"/>
            </a:endParaRPr>
          </a:p>
          <a:p>
            <a:pPr eaLnBrk="0" fontAlgn="base" hangingPunct="0">
              <a:spcAft>
                <a:spcPct val="0"/>
              </a:spcAft>
              <a:buClrTx/>
              <a:buSzTx/>
              <a:buFontTx/>
              <a:buNone/>
            </a:pPr>
            <a:endParaRPr lang="en-GB" altLang="el-GR" sz="2000" dirty="0">
              <a:solidFill>
                <a:srgbClr val="000000"/>
              </a:solidFill>
              <a:latin typeface="Times New Roman" panose="02020603050405020304" pitchFamily="18" charset="0"/>
            </a:endParaRPr>
          </a:p>
          <a:p>
            <a:pPr eaLnBrk="0" fontAlgn="base" hangingPunct="0">
              <a:spcAft>
                <a:spcPct val="0"/>
              </a:spcAft>
              <a:buClrTx/>
              <a:buSzTx/>
              <a:buFontTx/>
              <a:buNone/>
            </a:pPr>
            <a:endParaRPr lang="en-GB" altLang="el-GR" sz="2000" dirty="0">
              <a:solidFill>
                <a:srgbClr val="000000"/>
              </a:solidFill>
              <a:latin typeface="Times New Roman Greek" panose="02020603050405020304" pitchFamily="18" charset="0"/>
            </a:endParaRPr>
          </a:p>
        </p:txBody>
      </p:sp>
      <p:sp>
        <p:nvSpPr>
          <p:cNvPr id="9" name="AutoShape 7">
            <a:extLst>
              <a:ext uri="{FF2B5EF4-FFF2-40B4-BE49-F238E27FC236}">
                <a16:creationId xmlns:a16="http://schemas.microsoft.com/office/drawing/2014/main" id="{360AFC5B-8730-AA0F-9E3F-41EF6603DDDF}"/>
              </a:ext>
            </a:extLst>
          </p:cNvPr>
          <p:cNvSpPr>
            <a:spLocks noChangeArrowheads="1"/>
          </p:cNvSpPr>
          <p:nvPr/>
        </p:nvSpPr>
        <p:spPr bwMode="auto">
          <a:xfrm>
            <a:off x="6629400" y="4191000"/>
            <a:ext cx="1828800" cy="3810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1600" b="0" i="0" u="none" strike="noStrike" kern="0" cap="none" spc="0" normalizeH="0" baseline="0" noProof="0" dirty="0">
                <a:ln>
                  <a:noFill/>
                </a:ln>
                <a:solidFill>
                  <a:srgbClr val="FF0000"/>
                </a:solidFill>
                <a:effectLst/>
                <a:uLnTx/>
                <a:uFillTx/>
                <a:latin typeface="Tahoma" panose="020B0604030504040204" pitchFamily="34" charset="0"/>
              </a:rPr>
              <a:t>Shadowed variable</a:t>
            </a:r>
            <a:endParaRPr kumimoji="0" lang="en-GB" altLang="el-GR" sz="1600" b="0"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12" name="AutoShape 8">
            <a:extLst>
              <a:ext uri="{FF2B5EF4-FFF2-40B4-BE49-F238E27FC236}">
                <a16:creationId xmlns:a16="http://schemas.microsoft.com/office/drawing/2014/main" id="{CCA8094B-D40D-0537-1040-EA519F7B9004}"/>
              </a:ext>
            </a:extLst>
          </p:cNvPr>
          <p:cNvSpPr>
            <a:spLocks noChangeArrowheads="1"/>
          </p:cNvSpPr>
          <p:nvPr/>
        </p:nvSpPr>
        <p:spPr bwMode="auto">
          <a:xfrm>
            <a:off x="6400800" y="5867400"/>
            <a:ext cx="1828800" cy="3810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1600" b="0" i="0" u="none" strike="noStrike" kern="0" cap="none" spc="0" normalizeH="0" baseline="0" noProof="0">
                <a:ln>
                  <a:noFill/>
                </a:ln>
                <a:solidFill>
                  <a:srgbClr val="FF0000"/>
                </a:solidFill>
                <a:effectLst/>
                <a:uLnTx/>
                <a:uFillTx/>
                <a:latin typeface="Tahoma" panose="020B0604030504040204" pitchFamily="34" charset="0"/>
              </a:rPr>
              <a:t>Overridden method</a:t>
            </a:r>
            <a:endParaRPr kumimoji="0" lang="en-GB" altLang="el-GR" sz="1600" b="0" i="0" u="none" strike="noStrike" kern="0" cap="none" spc="0" normalizeH="0" baseline="0" noProof="0">
              <a:ln>
                <a:noFill/>
              </a:ln>
              <a:solidFill>
                <a:srgbClr val="FF0000"/>
              </a:solidFill>
              <a:effectLst/>
              <a:uLnTx/>
              <a:uFillTx/>
              <a:latin typeface="Tahoma" panose="020B0604030504040204" pitchFamily="34" charset="0"/>
            </a:endParaRPr>
          </a:p>
        </p:txBody>
      </p:sp>
      <p:sp>
        <p:nvSpPr>
          <p:cNvPr id="13" name="Line 9">
            <a:extLst>
              <a:ext uri="{FF2B5EF4-FFF2-40B4-BE49-F238E27FC236}">
                <a16:creationId xmlns:a16="http://schemas.microsoft.com/office/drawing/2014/main" id="{B7218482-00B9-F49E-2415-96126A649026}"/>
              </a:ext>
            </a:extLst>
          </p:cNvPr>
          <p:cNvSpPr>
            <a:spLocks noChangeShapeType="1"/>
          </p:cNvSpPr>
          <p:nvPr/>
        </p:nvSpPr>
        <p:spPr bwMode="auto">
          <a:xfrm flipH="1" flipV="1">
            <a:off x="6948264" y="5413374"/>
            <a:ext cx="214536" cy="454025"/>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Line 10">
            <a:extLst>
              <a:ext uri="{FF2B5EF4-FFF2-40B4-BE49-F238E27FC236}">
                <a16:creationId xmlns:a16="http://schemas.microsoft.com/office/drawing/2014/main" id="{95B4D3A7-989A-B08E-CB58-439316C2125F}"/>
              </a:ext>
            </a:extLst>
          </p:cNvPr>
          <p:cNvSpPr>
            <a:spLocks noChangeShapeType="1"/>
          </p:cNvSpPr>
          <p:nvPr/>
        </p:nvSpPr>
        <p:spPr bwMode="auto">
          <a:xfrm flipH="1">
            <a:off x="6948264" y="4572000"/>
            <a:ext cx="62136" cy="217487"/>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Text Box 11">
            <a:extLst>
              <a:ext uri="{FF2B5EF4-FFF2-40B4-BE49-F238E27FC236}">
                <a16:creationId xmlns:a16="http://schemas.microsoft.com/office/drawing/2014/main" id="{37E5358F-4863-353C-E7C7-0828A80900DB}"/>
              </a:ext>
            </a:extLst>
          </p:cNvPr>
          <p:cNvSpPr txBox="1">
            <a:spLocks noChangeArrowheads="1"/>
          </p:cNvSpPr>
          <p:nvPr/>
        </p:nvSpPr>
        <p:spPr bwMode="auto">
          <a:xfrm>
            <a:off x="8316913" y="32845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dirty="0">
                <a:ln>
                  <a:noFill/>
                </a:ln>
                <a:solidFill>
                  <a:srgbClr val="FF0000"/>
                </a:solidFill>
                <a:effectLst/>
                <a:uLnTx/>
                <a:uFillTx/>
                <a:latin typeface="Tahoma" panose="020B0604030504040204" pitchFamily="34" charset="0"/>
              </a:rPr>
              <a:t>2</a:t>
            </a:r>
            <a:endParaRPr kumimoji="0" lang="el-GR" altLang="el-GR" sz="2000" b="1"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16" name="Text Box 12">
            <a:extLst>
              <a:ext uri="{FF2B5EF4-FFF2-40B4-BE49-F238E27FC236}">
                <a16:creationId xmlns:a16="http://schemas.microsoft.com/office/drawing/2014/main" id="{005BB057-529B-4172-7A66-E74FD19C7DE4}"/>
              </a:ext>
            </a:extLst>
          </p:cNvPr>
          <p:cNvSpPr txBox="1">
            <a:spLocks noChangeArrowheads="1"/>
          </p:cNvSpPr>
          <p:nvPr/>
        </p:nvSpPr>
        <p:spPr bwMode="auto">
          <a:xfrm>
            <a:off x="8243888" y="3573463"/>
            <a:ext cx="423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a:ln>
                  <a:noFill/>
                </a:ln>
                <a:solidFill>
                  <a:srgbClr val="FF0000"/>
                </a:solidFill>
                <a:effectLst/>
                <a:uLnTx/>
                <a:uFillTx/>
                <a:latin typeface="Tahoma" panose="020B0604030504040204" pitchFamily="34" charset="0"/>
              </a:rPr>
              <a:t> 4</a:t>
            </a:r>
            <a:endParaRPr kumimoji="0" lang="el-GR" altLang="el-GR" sz="20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17" name="Text Box 13">
            <a:extLst>
              <a:ext uri="{FF2B5EF4-FFF2-40B4-BE49-F238E27FC236}">
                <a16:creationId xmlns:a16="http://schemas.microsoft.com/office/drawing/2014/main" id="{F67BD426-D74C-837E-9FF8-9E834C410B4C}"/>
              </a:ext>
            </a:extLst>
          </p:cNvPr>
          <p:cNvSpPr txBox="1">
            <a:spLocks noChangeArrowheads="1"/>
          </p:cNvSpPr>
          <p:nvPr/>
        </p:nvSpPr>
        <p:spPr bwMode="auto">
          <a:xfrm>
            <a:off x="8388350" y="46529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a:ln>
                  <a:noFill/>
                </a:ln>
                <a:solidFill>
                  <a:srgbClr val="FF0000"/>
                </a:solidFill>
                <a:effectLst/>
                <a:uLnTx/>
                <a:uFillTx/>
                <a:latin typeface="Tahoma" panose="020B0604030504040204" pitchFamily="34" charset="0"/>
              </a:rPr>
              <a:t>1</a:t>
            </a:r>
            <a:endParaRPr kumimoji="0" lang="el-GR" altLang="el-GR" sz="20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18" name="Text Box 14">
            <a:extLst>
              <a:ext uri="{FF2B5EF4-FFF2-40B4-BE49-F238E27FC236}">
                <a16:creationId xmlns:a16="http://schemas.microsoft.com/office/drawing/2014/main" id="{B462432C-D58D-E6BF-F969-EF31881A4529}"/>
              </a:ext>
            </a:extLst>
          </p:cNvPr>
          <p:cNvSpPr txBox="1">
            <a:spLocks noChangeArrowheads="1"/>
          </p:cNvSpPr>
          <p:nvPr/>
        </p:nvSpPr>
        <p:spPr bwMode="auto">
          <a:xfrm>
            <a:off x="8316913" y="5013325"/>
            <a:ext cx="423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a:ln>
                  <a:noFill/>
                </a:ln>
                <a:solidFill>
                  <a:srgbClr val="FF0000"/>
                </a:solidFill>
                <a:effectLst/>
                <a:uLnTx/>
                <a:uFillTx/>
                <a:latin typeface="Tahoma" panose="020B0604030504040204" pitchFamily="34" charset="0"/>
              </a:rPr>
              <a:t> 4</a:t>
            </a:r>
            <a:endParaRPr kumimoji="0" lang="el-GR" altLang="el-GR" sz="20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19" name="Rounded Rectangular Callout 13">
            <a:extLst>
              <a:ext uri="{FF2B5EF4-FFF2-40B4-BE49-F238E27FC236}">
                <a16:creationId xmlns:a16="http://schemas.microsoft.com/office/drawing/2014/main" id="{318C4319-D514-D753-2234-D3B68F7F2A7C}"/>
              </a:ext>
            </a:extLst>
          </p:cNvPr>
          <p:cNvSpPr/>
          <p:nvPr/>
        </p:nvSpPr>
        <p:spPr bwMode="auto">
          <a:xfrm>
            <a:off x="6095999" y="1048543"/>
            <a:ext cx="3889375" cy="576263"/>
          </a:xfrm>
          <a:prstGeom prst="wedgeRoundRectCallout">
            <a:avLst>
              <a:gd name="adj1" fmla="val 55621"/>
              <a:gd name="adj2" fmla="val 128946"/>
              <a:gd name="adj3" fmla="val 16667"/>
            </a:avLst>
          </a:prstGeom>
          <a:solidFill>
            <a:srgbClr val="FFCF01">
              <a:lumMod val="60000"/>
              <a:lumOff val="40000"/>
            </a:srgbClr>
          </a:solidFill>
          <a:ln w="9525" cap="flat" cmpd="sng" algn="ctr">
            <a:solidFill>
              <a:schemeClr val="bg1"/>
            </a:solidFill>
            <a:prstDash val="solid"/>
            <a:miter lim="800000"/>
            <a:headEnd type="none" w="med" len="med"/>
            <a:tailEnd type="none" w="med" len="med"/>
          </a:ln>
          <a:effec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Consider also a static field</a:t>
            </a:r>
            <a:endParaRPr kumimoji="0" 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5" name="Text Box 11">
            <a:extLst>
              <a:ext uri="{FF2B5EF4-FFF2-40B4-BE49-F238E27FC236}">
                <a16:creationId xmlns:a16="http://schemas.microsoft.com/office/drawing/2014/main" id="{737F9575-A6E8-ADAF-C2DE-34EEDF68443C}"/>
              </a:ext>
            </a:extLst>
          </p:cNvPr>
          <p:cNvSpPr txBox="1">
            <a:spLocks noChangeArrowheads="1"/>
          </p:cNvSpPr>
          <p:nvPr/>
        </p:nvSpPr>
        <p:spPr bwMode="auto">
          <a:xfrm>
            <a:off x="10230413" y="32845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dirty="0">
                <a:ln>
                  <a:noFill/>
                </a:ln>
                <a:solidFill>
                  <a:srgbClr val="FF0000"/>
                </a:solidFill>
                <a:effectLst/>
                <a:uLnTx/>
                <a:uFillTx/>
                <a:latin typeface="Tahoma" panose="020B0604030504040204" pitchFamily="34" charset="0"/>
              </a:rPr>
              <a:t>2</a:t>
            </a:r>
            <a:endParaRPr kumimoji="0" lang="el-GR" altLang="el-GR" sz="2000" b="1"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20" name="Text Box 12">
            <a:extLst>
              <a:ext uri="{FF2B5EF4-FFF2-40B4-BE49-F238E27FC236}">
                <a16:creationId xmlns:a16="http://schemas.microsoft.com/office/drawing/2014/main" id="{EBF32297-CCE2-9F50-6D5D-8487FC680FC3}"/>
              </a:ext>
            </a:extLst>
          </p:cNvPr>
          <p:cNvSpPr txBox="1">
            <a:spLocks noChangeArrowheads="1"/>
          </p:cNvSpPr>
          <p:nvPr/>
        </p:nvSpPr>
        <p:spPr bwMode="auto">
          <a:xfrm>
            <a:off x="10157388" y="3573463"/>
            <a:ext cx="423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dirty="0">
                <a:ln>
                  <a:noFill/>
                </a:ln>
                <a:solidFill>
                  <a:srgbClr val="FF0000"/>
                </a:solidFill>
                <a:effectLst/>
                <a:uLnTx/>
                <a:uFillTx/>
                <a:latin typeface="Tahoma" panose="020B0604030504040204" pitchFamily="34" charset="0"/>
              </a:rPr>
              <a:t> 1</a:t>
            </a:r>
            <a:endParaRPr kumimoji="0" lang="el-GR" altLang="el-GR" sz="2000" b="1"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21" name="Text Box 13">
            <a:extLst>
              <a:ext uri="{FF2B5EF4-FFF2-40B4-BE49-F238E27FC236}">
                <a16:creationId xmlns:a16="http://schemas.microsoft.com/office/drawing/2014/main" id="{38F6C5BE-185B-E78A-5AB5-6D12293E699F}"/>
              </a:ext>
            </a:extLst>
          </p:cNvPr>
          <p:cNvSpPr txBox="1">
            <a:spLocks noChangeArrowheads="1"/>
          </p:cNvSpPr>
          <p:nvPr/>
        </p:nvSpPr>
        <p:spPr bwMode="auto">
          <a:xfrm>
            <a:off x="10301850" y="46529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a:ln>
                  <a:noFill/>
                </a:ln>
                <a:solidFill>
                  <a:srgbClr val="FF0000"/>
                </a:solidFill>
                <a:effectLst/>
                <a:uLnTx/>
                <a:uFillTx/>
                <a:latin typeface="Tahoma" panose="020B0604030504040204" pitchFamily="34" charset="0"/>
              </a:rPr>
              <a:t>1</a:t>
            </a:r>
            <a:endParaRPr kumimoji="0" lang="el-GR" altLang="el-GR" sz="20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22" name="Text Box 14">
            <a:extLst>
              <a:ext uri="{FF2B5EF4-FFF2-40B4-BE49-F238E27FC236}">
                <a16:creationId xmlns:a16="http://schemas.microsoft.com/office/drawing/2014/main" id="{CFC024B5-1681-F741-8370-286637A565E9}"/>
              </a:ext>
            </a:extLst>
          </p:cNvPr>
          <p:cNvSpPr txBox="1">
            <a:spLocks noChangeArrowheads="1"/>
          </p:cNvSpPr>
          <p:nvPr/>
        </p:nvSpPr>
        <p:spPr bwMode="auto">
          <a:xfrm>
            <a:off x="10230413" y="5013325"/>
            <a:ext cx="423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dirty="0">
                <a:ln>
                  <a:noFill/>
                </a:ln>
                <a:solidFill>
                  <a:srgbClr val="FF0000"/>
                </a:solidFill>
                <a:effectLst/>
                <a:uLnTx/>
                <a:uFillTx/>
                <a:latin typeface="Tahoma" panose="020B0604030504040204" pitchFamily="34" charset="0"/>
              </a:rPr>
              <a:t> 1</a:t>
            </a:r>
            <a:endParaRPr kumimoji="0" lang="el-GR" altLang="el-GR" sz="2000" b="1"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24" name="TextBox 23">
            <a:extLst>
              <a:ext uri="{FF2B5EF4-FFF2-40B4-BE49-F238E27FC236}">
                <a16:creationId xmlns:a16="http://schemas.microsoft.com/office/drawing/2014/main" id="{5B9EF39F-448B-ADA1-A793-A7A9C822BDAB}"/>
              </a:ext>
            </a:extLst>
          </p:cNvPr>
          <p:cNvSpPr txBox="1"/>
          <p:nvPr/>
        </p:nvSpPr>
        <p:spPr>
          <a:xfrm>
            <a:off x="9095014" y="2432956"/>
            <a:ext cx="2639786" cy="646331"/>
          </a:xfrm>
          <a:prstGeom prst="rect">
            <a:avLst/>
          </a:prstGeom>
          <a:noFill/>
        </p:spPr>
        <p:txBody>
          <a:bodyPr wrap="square" rtlCol="0">
            <a:spAutoFit/>
          </a:bodyPr>
          <a:lstStyle/>
          <a:p>
            <a:pPr algn="ctr"/>
            <a:r>
              <a:rPr lang="en-GB" dirty="0"/>
              <a:t>Consider f() of B as</a:t>
            </a:r>
          </a:p>
          <a:p>
            <a:pPr algn="ctr"/>
            <a:r>
              <a:rPr lang="en-GB" b="1" dirty="0" err="1"/>
              <a:t>retrurn</a:t>
            </a:r>
            <a:r>
              <a:rPr lang="en-GB" b="1" dirty="0"/>
              <a:t> </a:t>
            </a:r>
            <a:r>
              <a:rPr lang="en-US" altLang="el-GR" b="1" dirty="0" err="1"/>
              <a:t>super.f</a:t>
            </a:r>
            <a:r>
              <a:rPr lang="en-US" altLang="el-GR" b="1" dirty="0"/>
              <a:t>();</a:t>
            </a:r>
            <a:endParaRPr lang="en-GB" b="1" dirty="0"/>
          </a:p>
        </p:txBody>
      </p:sp>
    </p:spTree>
    <p:extLst>
      <p:ext uri="{BB962C8B-B14F-4D97-AF65-F5344CB8AC3E}">
        <p14:creationId xmlns:p14="http://schemas.microsoft.com/office/powerpoint/2010/main" val="292532588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dissolv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dissolv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dissolv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dissolv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dissolv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dissolv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dissolve">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dissolve">
                                      <p:cBhvr>
                                        <p:cTn id="42" dur="500"/>
                                        <p:tgtEl>
                                          <p:spTgt spid="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animEffect transition="in" filter="dissolve">
                                      <p:cBhvr>
                                        <p:cTn id="47" dur="500"/>
                                        <p:tgtEl>
                                          <p:spTgt spid="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
                                            <p:txEl>
                                              <p:pRg st="10" end="10"/>
                                            </p:txEl>
                                          </p:spTgt>
                                        </p:tgtEl>
                                        <p:attrNameLst>
                                          <p:attrName>style.visibility</p:attrName>
                                        </p:attrNameLst>
                                      </p:cBhvr>
                                      <p:to>
                                        <p:strVal val="visible"/>
                                      </p:to>
                                    </p:set>
                                    <p:animEffect transition="in" filter="dissolve">
                                      <p:cBhvr>
                                        <p:cTn id="52" dur="500"/>
                                        <p:tgtEl>
                                          <p:spTgt spid="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dissolv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dissolv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dissolv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dissolve">
                                      <p:cBhvr>
                                        <p:cTn id="72" dur="500"/>
                                        <p:tgtEl>
                                          <p:spTgt spid="18"/>
                                        </p:tgtEl>
                                      </p:cBhvr>
                                    </p:animEffect>
                                  </p:childTnLst>
                                </p:cTn>
                              </p:par>
                            </p:childTnLst>
                          </p:cTn>
                        </p:par>
                        <p:par>
                          <p:cTn id="73" fill="hold">
                            <p:stCondLst>
                              <p:cond delay="500"/>
                            </p:stCondLst>
                            <p:childTnLst>
                              <p:par>
                                <p:cTn id="74" presetID="9" presetClass="entr" presetSubtype="0" fill="hold" grpId="0" nodeType="after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dissolve">
                                      <p:cBhvr>
                                        <p:cTn id="76" dur="500"/>
                                        <p:tgtEl>
                                          <p:spTgt spid="9"/>
                                        </p:tgtEl>
                                      </p:cBhvr>
                                    </p:animEffect>
                                  </p:childTnLst>
                                </p:cTn>
                              </p:par>
                            </p:childTnLst>
                          </p:cTn>
                        </p:par>
                        <p:par>
                          <p:cTn id="77" fill="hold">
                            <p:stCondLst>
                              <p:cond delay="1000"/>
                            </p:stCondLst>
                            <p:childTnLst>
                              <p:par>
                                <p:cTn id="78" presetID="9" presetClass="entr" presetSubtype="0" fill="hold" nodeType="after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dissolve">
                                      <p:cBhvr>
                                        <p:cTn id="80" dur="500"/>
                                        <p:tgtEl>
                                          <p:spTgt spid="14"/>
                                        </p:tgtEl>
                                      </p:cBhvr>
                                    </p:animEffect>
                                  </p:childTnLst>
                                </p:cTn>
                              </p:par>
                            </p:childTnLst>
                          </p:cTn>
                        </p:par>
                        <p:par>
                          <p:cTn id="81" fill="hold">
                            <p:stCondLst>
                              <p:cond delay="1500"/>
                            </p:stCondLst>
                            <p:childTnLst>
                              <p:par>
                                <p:cTn id="82" presetID="9" presetClass="entr" presetSubtype="0" fill="hold" grpId="0" nodeType="after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dissolve">
                                      <p:cBhvr>
                                        <p:cTn id="84" dur="500"/>
                                        <p:tgtEl>
                                          <p:spTgt spid="12"/>
                                        </p:tgtEl>
                                      </p:cBhvr>
                                    </p:animEffect>
                                  </p:childTnLst>
                                </p:cTn>
                              </p:par>
                            </p:childTnLst>
                          </p:cTn>
                        </p:par>
                        <p:par>
                          <p:cTn id="85" fill="hold">
                            <p:stCondLst>
                              <p:cond delay="2000"/>
                            </p:stCondLst>
                            <p:childTnLst>
                              <p:par>
                                <p:cTn id="86" presetID="9" presetClass="entr" presetSubtype="0" fill="hold" nodeType="after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dissolve">
                                      <p:cBhvr>
                                        <p:cTn id="88" dur="500"/>
                                        <p:tgtEl>
                                          <p:spTgt spid="13"/>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5"/>
                                        </p:tgtEl>
                                        <p:attrNameLst>
                                          <p:attrName>style.visibility</p:attrName>
                                        </p:attrNameLst>
                                      </p:cBhvr>
                                      <p:to>
                                        <p:strVal val="visible"/>
                                      </p:to>
                                    </p:set>
                                    <p:animEffect transition="in" filter="dissolve">
                                      <p:cBhvr>
                                        <p:cTn id="97" dur="500"/>
                                        <p:tgtEl>
                                          <p:spTgt spid="5"/>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20"/>
                                        </p:tgtEl>
                                        <p:attrNameLst>
                                          <p:attrName>style.visibility</p:attrName>
                                        </p:attrNameLst>
                                      </p:cBhvr>
                                      <p:to>
                                        <p:strVal val="visible"/>
                                      </p:to>
                                    </p:set>
                                    <p:animEffect transition="in" filter="dissolve">
                                      <p:cBhvr>
                                        <p:cTn id="102" dur="500"/>
                                        <p:tgtEl>
                                          <p:spTgt spid="20"/>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21"/>
                                        </p:tgtEl>
                                        <p:attrNameLst>
                                          <p:attrName>style.visibility</p:attrName>
                                        </p:attrNameLst>
                                      </p:cBhvr>
                                      <p:to>
                                        <p:strVal val="visible"/>
                                      </p:to>
                                    </p:set>
                                    <p:animEffect transition="in" filter="dissolve">
                                      <p:cBhvr>
                                        <p:cTn id="107" dur="500"/>
                                        <p:tgtEl>
                                          <p:spTgt spid="21"/>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22"/>
                                        </p:tgtEl>
                                        <p:attrNameLst>
                                          <p:attrName>style.visibility</p:attrName>
                                        </p:attrNameLst>
                                      </p:cBhvr>
                                      <p:to>
                                        <p:strVal val="visible"/>
                                      </p:to>
                                    </p:set>
                                    <p:animEffect transition="in" filter="dissolve">
                                      <p:cBhvr>
                                        <p:cTn id="112" dur="500"/>
                                        <p:tgtEl>
                                          <p:spTgt spid="22"/>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blinds(horizontal)">
                                      <p:cBhvr>
                                        <p:cTn id="1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9" grpId="0" animBg="1" autoUpdateAnimBg="0"/>
      <p:bldP spid="12" grpId="0" animBg="1" autoUpdateAnimBg="0"/>
      <p:bldP spid="15" grpId="0" autoUpdateAnimBg="0"/>
      <p:bldP spid="16" grpId="0" autoUpdateAnimBg="0"/>
      <p:bldP spid="17" grpId="0" autoUpdateAnimBg="0"/>
      <p:bldP spid="18" grpId="0" autoUpdateAnimBg="0"/>
      <p:bldP spid="19" grpId="0" animBg="1"/>
      <p:bldP spid="5" grpId="0" autoUpdateAnimBg="0"/>
      <p:bldP spid="20" grpId="0" autoUpdateAnimBg="0"/>
      <p:bldP spid="21" grpId="0" autoUpdateAnimBg="0"/>
      <p:bldP spid="22" grpId="0" autoUpdateAnimBg="0"/>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overriding – hiding methods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Rectangle 3">
            <a:extLst>
              <a:ext uri="{FF2B5EF4-FFF2-40B4-BE49-F238E27FC236}">
                <a16:creationId xmlns:a16="http://schemas.microsoft.com/office/drawing/2014/main" id="{8ED9A781-E752-BC76-A6B9-DC84DB2BD14E}"/>
              </a:ext>
            </a:extLst>
          </p:cNvPr>
          <p:cNvSpPr txBox="1">
            <a:spLocks noChangeArrowheads="1"/>
          </p:cNvSpPr>
          <p:nvPr/>
        </p:nvSpPr>
        <p:spPr bwMode="auto">
          <a:xfrm>
            <a:off x="292319" y="952117"/>
            <a:ext cx="11204762"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800" b="1" i="0" u="none" strike="noStrike" kern="0" cap="none" spc="0" normalizeH="0" baseline="0" noProof="0" dirty="0">
                <a:ln>
                  <a:noFill/>
                </a:ln>
                <a:solidFill>
                  <a:srgbClr val="000000"/>
                </a:solidFill>
                <a:effectLst/>
                <a:uLnTx/>
                <a:uFillTx/>
                <a:latin typeface="Tahoma"/>
                <a:ea typeface="+mn-ea"/>
                <a:cs typeface="+mn-cs"/>
              </a:rPr>
              <a:t>Instance Methods</a:t>
            </a:r>
          </a:p>
          <a:p>
            <a:pPr lvl="1">
              <a:buClr>
                <a:srgbClr val="FF0000"/>
              </a:buClr>
            </a:pPr>
            <a:r>
              <a:rPr lang="el-GR" altLang="el-GR" kern="0" dirty="0">
                <a:solidFill>
                  <a:srgbClr val="000000"/>
                </a:solidFill>
                <a:latin typeface="Tahoma"/>
              </a:rPr>
              <a:t>Μέθοδος </a:t>
            </a:r>
            <a:r>
              <a:rPr lang="el-GR" altLang="el-GR" kern="0" dirty="0" err="1">
                <a:solidFill>
                  <a:srgbClr val="000000"/>
                </a:solidFill>
                <a:latin typeface="Tahoma"/>
              </a:rPr>
              <a:t>στιγμιοτύπου</a:t>
            </a:r>
            <a:r>
              <a:rPr lang="el-GR" altLang="el-GR" kern="0" dirty="0">
                <a:solidFill>
                  <a:srgbClr val="000000"/>
                </a:solidFill>
                <a:latin typeface="Tahoma"/>
              </a:rPr>
              <a:t> σε </a:t>
            </a:r>
            <a:r>
              <a:rPr lang="el-GR" altLang="el-GR" kern="0" dirty="0" err="1">
                <a:solidFill>
                  <a:srgbClr val="000000"/>
                </a:solidFill>
                <a:latin typeface="Tahoma"/>
              </a:rPr>
              <a:t>υποκλάση</a:t>
            </a:r>
            <a:r>
              <a:rPr lang="el-GR" altLang="el-GR" kern="0" dirty="0">
                <a:solidFill>
                  <a:srgbClr val="000000"/>
                </a:solidFill>
                <a:latin typeface="Tahoma"/>
              </a:rPr>
              <a:t> με την ίδια υπογραφή με μέθοδο </a:t>
            </a:r>
            <a:r>
              <a:rPr lang="el-GR" altLang="el-GR" kern="0" dirty="0" err="1">
                <a:solidFill>
                  <a:srgbClr val="000000"/>
                </a:solidFill>
                <a:latin typeface="Tahoma"/>
              </a:rPr>
              <a:t>στιγμιοτύπου</a:t>
            </a:r>
            <a:r>
              <a:rPr lang="el-GR" altLang="el-GR" kern="0" dirty="0">
                <a:solidFill>
                  <a:srgbClr val="000000"/>
                </a:solidFill>
                <a:latin typeface="Tahoma"/>
              </a:rPr>
              <a:t> της </a:t>
            </a:r>
            <a:r>
              <a:rPr lang="el-GR" altLang="el-GR" kern="0" dirty="0" err="1">
                <a:solidFill>
                  <a:srgbClr val="000000"/>
                </a:solidFill>
                <a:latin typeface="Tahoma"/>
              </a:rPr>
              <a:t>υπερκλάσης</a:t>
            </a:r>
            <a:r>
              <a:rPr lang="el-GR" altLang="el-GR" kern="0" dirty="0">
                <a:solidFill>
                  <a:srgbClr val="000000"/>
                </a:solidFill>
                <a:latin typeface="Tahoma"/>
              </a:rPr>
              <a:t> (</a:t>
            </a:r>
            <a:r>
              <a:rPr lang="en-US" altLang="el-GR" kern="0" dirty="0">
                <a:solidFill>
                  <a:srgbClr val="000000"/>
                </a:solidFill>
                <a:latin typeface="Tahoma"/>
              </a:rPr>
              <a:t>superclass</a:t>
            </a:r>
            <a:r>
              <a:rPr lang="el-GR" altLang="el-GR" kern="0" dirty="0">
                <a:solidFill>
                  <a:srgbClr val="000000"/>
                </a:solidFill>
                <a:latin typeface="Tahoma"/>
              </a:rPr>
              <a:t>) </a:t>
            </a:r>
            <a:r>
              <a:rPr lang="en-US" altLang="el-GR" b="1" i="1" kern="0" dirty="0">
                <a:solidFill>
                  <a:srgbClr val="C00000"/>
                </a:solidFill>
                <a:latin typeface="Tahoma"/>
              </a:rPr>
              <a:t>overrides</a:t>
            </a:r>
            <a:r>
              <a:rPr lang="el-GR" altLang="el-GR" b="1" i="1" kern="0" dirty="0">
                <a:solidFill>
                  <a:srgbClr val="C00000"/>
                </a:solidFill>
                <a:latin typeface="Tahoma"/>
              </a:rPr>
              <a:t> </a:t>
            </a:r>
            <a:r>
              <a:rPr lang="el-GR" altLang="el-GR" kern="0" dirty="0">
                <a:solidFill>
                  <a:srgbClr val="000000"/>
                </a:solidFill>
                <a:latin typeface="Tahoma"/>
              </a:rPr>
              <a:t> την αντίστοιχη μέθοδο της </a:t>
            </a:r>
            <a:r>
              <a:rPr lang="el-GR" altLang="el-GR" kern="0" dirty="0" err="1">
                <a:solidFill>
                  <a:srgbClr val="000000"/>
                </a:solidFill>
                <a:latin typeface="Tahoma"/>
              </a:rPr>
              <a:t>υπερκλάσης</a:t>
            </a:r>
            <a:r>
              <a:rPr lang="el-GR" altLang="el-GR" kern="0" dirty="0">
                <a:solidFill>
                  <a:srgbClr val="000000"/>
                </a:solidFill>
                <a:latin typeface="Tahoma"/>
              </a:rPr>
              <a:t>. </a:t>
            </a:r>
          </a:p>
          <a:p>
            <a:pPr lvl="1">
              <a:buClr>
                <a:srgbClr val="FF0000"/>
              </a:buClr>
            </a:pPr>
            <a:r>
              <a:rPr kumimoji="0" lang="el-GR" altLang="el-GR" sz="2400" b="0" i="0" u="none" strike="noStrike" kern="0" cap="none" spc="0" normalizeH="0" baseline="0" noProof="0" dirty="0">
                <a:ln>
                  <a:noFill/>
                </a:ln>
                <a:solidFill>
                  <a:srgbClr val="000000"/>
                </a:solidFill>
                <a:effectLst/>
                <a:uLnTx/>
                <a:uFillTx/>
                <a:latin typeface="Tahoma"/>
              </a:rPr>
              <a:t>Μια μέθοδος που </a:t>
            </a:r>
            <a:r>
              <a:rPr kumimoji="0" lang="el-GR" altLang="el-GR" sz="2400" b="0" i="0" u="none" strike="noStrike" kern="0" cap="none" spc="0" normalizeH="0" baseline="0" noProof="0" dirty="0" err="1">
                <a:ln>
                  <a:noFill/>
                </a:ln>
                <a:solidFill>
                  <a:srgbClr val="000000"/>
                </a:solidFill>
                <a:effectLst/>
                <a:uLnTx/>
                <a:uFillTx/>
                <a:latin typeface="Tahoma"/>
              </a:rPr>
              <a:t>επικαλ</a:t>
            </a:r>
            <a:r>
              <a:rPr lang="el-GR" altLang="el-GR" sz="2400" kern="0" dirty="0" err="1">
                <a:solidFill>
                  <a:srgbClr val="000000"/>
                </a:solidFill>
                <a:latin typeface="Tahoma"/>
              </a:rPr>
              <a:t>ύπτει</a:t>
            </a:r>
            <a:r>
              <a:rPr lang="el-GR" altLang="el-GR" sz="2400" kern="0" dirty="0">
                <a:solidFill>
                  <a:srgbClr val="000000"/>
                </a:solidFill>
                <a:latin typeface="Tahoma"/>
              </a:rPr>
              <a:t> μέθοδο </a:t>
            </a:r>
            <a:r>
              <a:rPr lang="el-GR" altLang="el-GR" sz="2400" kern="0" dirty="0" err="1">
                <a:solidFill>
                  <a:srgbClr val="000000"/>
                </a:solidFill>
                <a:latin typeface="Tahoma"/>
              </a:rPr>
              <a:t>πρόγονης</a:t>
            </a:r>
            <a:r>
              <a:rPr lang="el-GR" altLang="el-GR" sz="2400" kern="0" dirty="0">
                <a:solidFill>
                  <a:srgbClr val="000000"/>
                </a:solidFill>
                <a:latin typeface="Tahoma"/>
              </a:rPr>
              <a:t> κλάσης μπορεί να επιστρέφει τύπο που είναι </a:t>
            </a:r>
            <a:r>
              <a:rPr lang="en-US" altLang="el-GR" sz="2400" kern="0" dirty="0">
                <a:solidFill>
                  <a:srgbClr val="000000"/>
                </a:solidFill>
                <a:latin typeface="Tahoma"/>
              </a:rPr>
              <a:t>subtype </a:t>
            </a:r>
            <a:r>
              <a:rPr lang="el-GR" altLang="el-GR" sz="2400" kern="0" dirty="0">
                <a:solidFill>
                  <a:srgbClr val="000000"/>
                </a:solidFill>
                <a:latin typeface="Tahoma"/>
              </a:rPr>
              <a:t>του τύπου που επιστρέφει η επικαλυπτόμενη μέθοδος. Αυτός ο </a:t>
            </a:r>
            <a:r>
              <a:rPr kumimoji="0" lang="en-US" altLang="el-GR" sz="2400" b="0" i="0" u="none" strike="noStrike" kern="0" cap="none" spc="0" normalizeH="0" baseline="0" noProof="0" dirty="0">
                <a:ln>
                  <a:noFill/>
                </a:ln>
                <a:solidFill>
                  <a:srgbClr val="000000"/>
                </a:solidFill>
                <a:effectLst/>
                <a:uLnTx/>
                <a:uFillTx/>
                <a:latin typeface="Tahoma"/>
              </a:rPr>
              <a:t>subtype </a:t>
            </a:r>
            <a:r>
              <a:rPr kumimoji="0" lang="el-GR" altLang="el-GR" sz="2400" b="0" i="0" u="none" strike="noStrike" kern="0" cap="none" spc="0" normalizeH="0" baseline="0" noProof="0" dirty="0">
                <a:ln>
                  <a:noFill/>
                </a:ln>
                <a:solidFill>
                  <a:srgbClr val="000000"/>
                </a:solidFill>
                <a:effectLst/>
                <a:uLnTx/>
                <a:uFillTx/>
                <a:latin typeface="Tahoma"/>
              </a:rPr>
              <a:t>ονομάζεται </a:t>
            </a:r>
            <a:r>
              <a:rPr kumimoji="0" lang="en-US" altLang="el-GR" sz="2400" b="0" i="1" u="none" strike="noStrike" kern="0" cap="none" spc="0" normalizeH="0" baseline="0" noProof="0" dirty="0">
                <a:ln>
                  <a:noFill/>
                </a:ln>
                <a:solidFill>
                  <a:srgbClr val="C00000"/>
                </a:solidFill>
                <a:effectLst/>
                <a:uLnTx/>
                <a:uFillTx/>
                <a:latin typeface="Tahoma"/>
              </a:rPr>
              <a:t>covariant return type</a:t>
            </a:r>
            <a:r>
              <a:rPr kumimoji="0" lang="en-US" altLang="el-GR" sz="2400" b="0" i="0" u="none" strike="noStrike" kern="0" cap="none" spc="0" normalizeH="0" baseline="0" noProof="0" dirty="0">
                <a:ln>
                  <a:noFill/>
                </a:ln>
                <a:solidFill>
                  <a:srgbClr val="000000"/>
                </a:solidFill>
                <a:effectLst/>
                <a:uLnTx/>
                <a:uFillTx/>
                <a:latin typeface="Tahoma"/>
              </a:rPr>
              <a:t>.</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Static Methods</a:t>
            </a:r>
          </a:p>
          <a:p>
            <a:pPr lvl="1">
              <a:buClr>
                <a:srgbClr val="FF0000"/>
              </a:buClr>
            </a:pPr>
            <a:r>
              <a:rPr kumimoji="0" lang="el-GR" altLang="el-GR" sz="2800" b="0" i="0" u="none" strike="noStrike" kern="0" cap="none" spc="0" normalizeH="0" noProof="0" dirty="0">
                <a:ln>
                  <a:noFill/>
                </a:ln>
                <a:solidFill>
                  <a:srgbClr val="000000"/>
                </a:solidFill>
                <a:effectLst/>
                <a:uLnTx/>
                <a:uFillTx/>
                <a:latin typeface="Tahoma"/>
              </a:rPr>
              <a:t>Μέθοδο κλάσης με την ίδια </a:t>
            </a:r>
            <a:r>
              <a:rPr lang="el-GR" altLang="el-GR" kern="0" dirty="0">
                <a:solidFill>
                  <a:srgbClr val="000000"/>
                </a:solidFill>
                <a:latin typeface="Tahoma"/>
              </a:rPr>
              <a:t>υπογραφή με μέθοδο κλάσης της </a:t>
            </a:r>
            <a:r>
              <a:rPr lang="el-GR" altLang="el-GR" kern="0" dirty="0" err="1">
                <a:solidFill>
                  <a:srgbClr val="000000"/>
                </a:solidFill>
                <a:latin typeface="Tahoma"/>
              </a:rPr>
              <a:t>πρόγονης</a:t>
            </a:r>
            <a:r>
              <a:rPr lang="el-GR" altLang="el-GR" kern="0" dirty="0">
                <a:solidFill>
                  <a:srgbClr val="000000"/>
                </a:solidFill>
                <a:latin typeface="Tahoma"/>
              </a:rPr>
              <a:t> κλάσης (</a:t>
            </a:r>
            <a:r>
              <a:rPr lang="el-GR" altLang="el-GR" kern="0" dirty="0" err="1">
                <a:solidFill>
                  <a:srgbClr val="000000"/>
                </a:solidFill>
                <a:latin typeface="Tahoma"/>
              </a:rPr>
              <a:t>superclass</a:t>
            </a:r>
            <a:r>
              <a:rPr lang="el-GR" altLang="el-GR" kern="0" dirty="0">
                <a:solidFill>
                  <a:srgbClr val="000000"/>
                </a:solidFill>
                <a:latin typeface="Tahoma"/>
              </a:rPr>
              <a:t>) </a:t>
            </a:r>
            <a:r>
              <a:rPr lang="en-US" altLang="el-GR" b="1" i="1" kern="0" dirty="0">
                <a:solidFill>
                  <a:srgbClr val="C00000"/>
                </a:solidFill>
                <a:latin typeface="Tahoma"/>
              </a:rPr>
              <a:t>hides</a:t>
            </a:r>
            <a:r>
              <a:rPr lang="el-GR" altLang="el-GR" b="1" i="1" kern="0" dirty="0">
                <a:solidFill>
                  <a:srgbClr val="C00000"/>
                </a:solidFill>
                <a:latin typeface="Tahoma"/>
              </a:rPr>
              <a:t> </a:t>
            </a:r>
            <a:r>
              <a:rPr lang="el-GR" altLang="el-GR" kern="0" dirty="0">
                <a:solidFill>
                  <a:srgbClr val="000000"/>
                </a:solidFill>
                <a:latin typeface="Tahoma"/>
              </a:rPr>
              <a:t>την αντίστοιχη μέθοδο της </a:t>
            </a:r>
            <a:r>
              <a:rPr lang="el-GR" altLang="el-GR" kern="0" dirty="0" err="1">
                <a:solidFill>
                  <a:srgbClr val="000000"/>
                </a:solidFill>
                <a:latin typeface="Tahoma"/>
              </a:rPr>
              <a:t>πρόγονης</a:t>
            </a:r>
            <a:r>
              <a:rPr lang="el-GR" altLang="el-GR" kern="0" dirty="0">
                <a:solidFill>
                  <a:srgbClr val="000000"/>
                </a:solidFill>
                <a:latin typeface="Tahoma"/>
              </a:rPr>
              <a:t> κλάσης. </a:t>
            </a:r>
            <a:endParaRPr kumimoji="0" lang="en-US" altLang="el-GR" sz="2800" b="0" i="0" u="none" strike="noStrike" kern="0" cap="none" spc="0" normalizeH="0" baseline="0" noProof="0" dirty="0">
              <a:ln>
                <a:noFill/>
              </a:ln>
              <a:solidFill>
                <a:srgbClr val="000000"/>
              </a:solidFill>
              <a:effectLst/>
              <a:uLnTx/>
              <a:uFillTx/>
              <a:latin typeface="Tahoma"/>
            </a:endParaRPr>
          </a:p>
        </p:txBody>
      </p:sp>
    </p:spTree>
    <p:extLst>
      <p:ext uri="{BB962C8B-B14F-4D97-AF65-F5344CB8AC3E}">
        <p14:creationId xmlns:p14="http://schemas.microsoft.com/office/powerpoint/2010/main" val="34178725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linds(horizontal)">
                                      <p:cBhvr>
                                        <p:cTn id="18" dur="500"/>
                                        <p:tgtEl>
                                          <p:spTgt spid="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linds(horizontal)">
                                      <p:cBhvr>
                                        <p:cTn id="21"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835762"/>
          </a:xfrm>
          <a:solidFill>
            <a:srgbClr val="FDCBAD"/>
          </a:solidFill>
        </p:spPr>
        <p:txBody>
          <a:bodyPr>
            <a:normAutofit/>
          </a:bodyPr>
          <a:lstStyle/>
          <a:p>
            <a:r>
              <a:rPr lang="el-GR" sz="4000" b="1" dirty="0">
                <a:solidFill>
                  <a:srgbClr val="F9853D"/>
                </a:solidFill>
                <a:latin typeface="Bahnschrift" panose="020B0502040204020203" pitchFamily="34" charset="0"/>
              </a:rPr>
              <a:t>Παράδειγμα 2 - </a:t>
            </a:r>
            <a:r>
              <a:rPr lang="en-GB" sz="4000" b="1" dirty="0">
                <a:solidFill>
                  <a:srgbClr val="F9853D"/>
                </a:solidFill>
                <a:latin typeface="Bahnschrift" panose="020B0502040204020203" pitchFamily="34" charset="0"/>
              </a:rPr>
              <a:t>methods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pic>
        <p:nvPicPr>
          <p:cNvPr id="5" name="Picture 2">
            <a:extLst>
              <a:ext uri="{FF2B5EF4-FFF2-40B4-BE49-F238E27FC236}">
                <a16:creationId xmlns:a16="http://schemas.microsoft.com/office/drawing/2014/main" id="{B6D0D836-65C3-5A47-E564-FAD571DA8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7290" y="-8778"/>
            <a:ext cx="6114709" cy="3641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a:extLst>
              <a:ext uri="{FF2B5EF4-FFF2-40B4-BE49-F238E27FC236}">
                <a16:creationId xmlns:a16="http://schemas.microsoft.com/office/drawing/2014/main" id="{FB6D3110-B32F-15B1-A77D-674506821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04565"/>
            <a:ext cx="5685417" cy="395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2AB54F30-AD0C-F136-B26E-DEB91652C3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0663" y="4697022"/>
            <a:ext cx="40497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a:extLst>
              <a:ext uri="{FF2B5EF4-FFF2-40B4-BE49-F238E27FC236}">
                <a16:creationId xmlns:a16="http://schemas.microsoft.com/office/drawing/2014/main" id="{CB40DDEF-7913-D2FA-CA12-72BA5E1623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9388" y="5701977"/>
            <a:ext cx="40909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665383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835762"/>
          </a:xfrm>
          <a:solidFill>
            <a:srgbClr val="FDCBAD"/>
          </a:solidFill>
        </p:spPr>
        <p:txBody>
          <a:bodyPr>
            <a:normAutofit/>
          </a:bodyPr>
          <a:lstStyle/>
          <a:p>
            <a:r>
              <a:rPr lang="en-GB" sz="4000" b="1" dirty="0">
                <a:solidFill>
                  <a:srgbClr val="F9853D"/>
                </a:solidFill>
                <a:latin typeface="Bahnschrift" panose="020B0502040204020203" pitchFamily="34" charset="0"/>
              </a:rPr>
              <a:t>Method Overriding at Instance creation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12" name="TextBox 11">
            <a:extLst>
              <a:ext uri="{FF2B5EF4-FFF2-40B4-BE49-F238E27FC236}">
                <a16:creationId xmlns:a16="http://schemas.microsoft.com/office/drawing/2014/main" id="{47B45C34-C927-5C47-2846-7CCC4FFC30E5}"/>
              </a:ext>
            </a:extLst>
          </p:cNvPr>
          <p:cNvSpPr txBox="1"/>
          <p:nvPr/>
        </p:nvSpPr>
        <p:spPr>
          <a:xfrm>
            <a:off x="1600200" y="1004542"/>
            <a:ext cx="7540625" cy="5693866"/>
          </a:xfrm>
          <a:prstGeom prst="rect">
            <a:avLst/>
          </a:prstGeom>
          <a:noFill/>
        </p:spPr>
        <p:txBody>
          <a:bodyPr wrap="square">
            <a:spAutoFit/>
          </a:bodyPr>
          <a:lstStyle/>
          <a:p>
            <a:pPr algn="l"/>
            <a:r>
              <a:rPr lang="en-GB" sz="1400" dirty="0">
                <a:solidFill>
                  <a:srgbClr val="3F7F5F"/>
                </a:solidFill>
                <a:latin typeface="Consolas" panose="020B0609020204030204" pitchFamily="49" charset="0"/>
              </a:rPr>
              <a:t>//each Window object overrides the draw() method of its superclass, Window, to draw the circle, rectangle, </a:t>
            </a:r>
          </a:p>
          <a:p>
            <a:pPr algn="l"/>
            <a:r>
              <a:rPr lang="en-GB" sz="1400" dirty="0">
                <a:solidFill>
                  <a:srgbClr val="3F7F5F"/>
                </a:solidFill>
                <a:latin typeface="Consolas" panose="020B0609020204030204" pitchFamily="49" charset="0"/>
              </a:rPr>
              <a:t>//and triangle shapes.</a:t>
            </a:r>
          </a:p>
          <a:p>
            <a:pPr algn="l"/>
            <a:r>
              <a:rPr lang="en-GB" sz="1400" dirty="0">
                <a:solidFill>
                  <a:srgbClr val="000000"/>
                </a:solidFill>
                <a:latin typeface="Consolas" panose="020B0609020204030204" pitchFamily="49" charset="0"/>
              </a:rPr>
              <a:t>Window </a:t>
            </a:r>
            <a:r>
              <a:rPr lang="en-GB" sz="1400" dirty="0">
                <a:solidFill>
                  <a:srgbClr val="6A3E3E"/>
                </a:solidFill>
                <a:latin typeface="Consolas" panose="020B0609020204030204" pitchFamily="49" charset="0"/>
              </a:rPr>
              <a:t>window1</a:t>
            </a:r>
            <a:r>
              <a:rPr lang="en-GB" sz="1400" dirty="0">
                <a:solidFill>
                  <a:srgbClr val="000000"/>
                </a:solidFill>
                <a:latin typeface="Consolas" panose="020B0609020204030204" pitchFamily="49" charset="0"/>
              </a:rPr>
              <a:t> = </a:t>
            </a:r>
            <a:r>
              <a:rPr lang="en-GB" sz="1400" b="1" dirty="0">
                <a:solidFill>
                  <a:srgbClr val="7F0055"/>
                </a:solidFill>
                <a:latin typeface="Consolas" panose="020B0609020204030204" pitchFamily="49" charset="0"/>
              </a:rPr>
              <a:t>new</a:t>
            </a:r>
            <a:r>
              <a:rPr lang="en-GB" sz="1400" b="1" dirty="0">
                <a:solidFill>
                  <a:srgbClr val="000000"/>
                </a:solidFill>
                <a:latin typeface="Consolas" panose="020B0609020204030204" pitchFamily="49" charset="0"/>
              </a:rPr>
              <a:t> Window(1, 400, 300, </a:t>
            </a:r>
            <a:r>
              <a:rPr lang="en-GB" sz="1400" b="1" dirty="0">
                <a:solidFill>
                  <a:srgbClr val="2A00FF"/>
                </a:solidFill>
                <a:latin typeface="Consolas" panose="020B0609020204030204" pitchFamily="49" charset="0"/>
              </a:rPr>
              <a:t>"Window 1"</a:t>
            </a:r>
            <a:r>
              <a:rPr lang="en-GB" sz="1400" b="1" dirty="0">
                <a:solidFill>
                  <a:srgbClr val="000000"/>
                </a:solidFill>
                <a:latin typeface="Consolas" panose="020B0609020204030204" pitchFamily="49" charset="0"/>
              </a:rPr>
              <a:t>) {</a:t>
            </a:r>
          </a:p>
          <a:p>
            <a:pPr lvl="1"/>
            <a:r>
              <a:rPr lang="en-GB" sz="1400" b="1" dirty="0">
                <a:solidFill>
                  <a:srgbClr val="7F0055"/>
                </a:solidFill>
                <a:latin typeface="Consolas" panose="020B0609020204030204" pitchFamily="49" charset="0"/>
              </a:rPr>
              <a:t>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draw() {</a:t>
            </a:r>
          </a:p>
          <a:p>
            <a:pPr lvl="2"/>
            <a:r>
              <a:rPr lang="en-GB" sz="1400" dirty="0" err="1">
                <a:solidFill>
                  <a:srgbClr val="000000"/>
                </a:solidFill>
                <a:latin typeface="Consolas" panose="020B0609020204030204" pitchFamily="49" charset="0"/>
              </a:rPr>
              <a:t>System.</a:t>
            </a:r>
            <a:r>
              <a:rPr lang="en-GB" sz="1400" b="1" i="1" dirty="0" err="1">
                <a:solidFill>
                  <a:srgbClr val="0000C0"/>
                </a:solidFill>
                <a:latin typeface="Consolas" panose="020B0609020204030204" pitchFamily="49" charset="0"/>
              </a:rPr>
              <a:t>out</a:t>
            </a:r>
            <a:r>
              <a:rPr lang="en-GB" sz="1400" b="1" i="1" dirty="0" err="1">
                <a:solidFill>
                  <a:srgbClr val="000000"/>
                </a:solidFill>
                <a:latin typeface="Consolas" panose="020B0609020204030204" pitchFamily="49" charset="0"/>
              </a:rPr>
              <a:t>.println</a:t>
            </a:r>
            <a:r>
              <a:rPr lang="en-GB" sz="1400" b="1" i="1" dirty="0">
                <a:solidFill>
                  <a:srgbClr val="000000"/>
                </a:solidFill>
                <a:latin typeface="Consolas" panose="020B0609020204030204" pitchFamily="49" charset="0"/>
              </a:rPr>
              <a:t>(</a:t>
            </a:r>
            <a:r>
              <a:rPr lang="en-GB" sz="1400" b="1" i="1" dirty="0">
                <a:solidFill>
                  <a:srgbClr val="2A00FF"/>
                </a:solidFill>
                <a:latin typeface="Consolas" panose="020B0609020204030204" pitchFamily="49" charset="0"/>
              </a:rPr>
              <a:t>"window1 draw start"</a:t>
            </a:r>
            <a:r>
              <a:rPr lang="en-GB" sz="1400" b="1" i="1" dirty="0">
                <a:solidFill>
                  <a:srgbClr val="000000"/>
                </a:solidFill>
                <a:latin typeface="Consolas" panose="020B0609020204030204" pitchFamily="49" charset="0"/>
              </a:rPr>
              <a:t>);</a:t>
            </a:r>
          </a:p>
          <a:p>
            <a:pPr lvl="2"/>
            <a:r>
              <a:rPr lang="en-GB" sz="1400" b="1" dirty="0" err="1">
                <a:solidFill>
                  <a:srgbClr val="7F0055"/>
                </a:solidFill>
                <a:latin typeface="Consolas" panose="020B0609020204030204" pitchFamily="49" charset="0"/>
              </a:rPr>
              <a:t>super</a:t>
            </a:r>
            <a:r>
              <a:rPr lang="en-GB" sz="1400" b="1" dirty="0" err="1">
                <a:solidFill>
                  <a:srgbClr val="000000"/>
                </a:solidFill>
                <a:latin typeface="Consolas" panose="020B0609020204030204" pitchFamily="49" charset="0"/>
              </a:rPr>
              <a:t>.draw</a:t>
            </a:r>
            <a:r>
              <a:rPr lang="en-GB" sz="1400" b="1" dirty="0">
                <a:solidFill>
                  <a:srgbClr val="000000"/>
                </a:solidFill>
                <a:latin typeface="Consolas" panose="020B0609020204030204" pitchFamily="49" charset="0"/>
              </a:rPr>
              <a:t>();</a:t>
            </a:r>
          </a:p>
          <a:p>
            <a:pPr lvl="2"/>
            <a:r>
              <a:rPr lang="en-GB" sz="1400" dirty="0" err="1">
                <a:solidFill>
                  <a:srgbClr val="6A3E3E"/>
                </a:solidFill>
                <a:latin typeface="Consolas" panose="020B0609020204030204" pitchFamily="49" charset="0"/>
              </a:rPr>
              <a:t>circle</a:t>
            </a:r>
            <a:r>
              <a:rPr lang="en-GB" sz="1400" dirty="0" err="1">
                <a:solidFill>
                  <a:srgbClr val="000000"/>
                </a:solidFill>
                <a:latin typeface="Consolas" panose="020B0609020204030204" pitchFamily="49" charset="0"/>
              </a:rPr>
              <a:t>.draw</a:t>
            </a:r>
            <a:r>
              <a:rPr lang="en-GB" sz="1400" dirty="0">
                <a:solidFill>
                  <a:srgbClr val="000000"/>
                </a:solidFill>
                <a:latin typeface="Consolas" panose="020B0609020204030204" pitchFamily="49" charset="0"/>
              </a:rPr>
              <a:t>();</a:t>
            </a:r>
          </a:p>
          <a:p>
            <a:pPr lvl="2"/>
            <a:r>
              <a:rPr lang="en-GB" sz="1400" dirty="0" err="1">
                <a:solidFill>
                  <a:srgbClr val="6A3E3E"/>
                </a:solidFill>
                <a:latin typeface="Consolas" panose="020B0609020204030204" pitchFamily="49" charset="0"/>
              </a:rPr>
              <a:t>rectangle</a:t>
            </a:r>
            <a:r>
              <a:rPr lang="en-GB" sz="1400" dirty="0" err="1">
                <a:solidFill>
                  <a:srgbClr val="000000"/>
                </a:solidFill>
                <a:latin typeface="Consolas" panose="020B0609020204030204" pitchFamily="49" charset="0"/>
              </a:rPr>
              <a:t>.draw</a:t>
            </a:r>
            <a:r>
              <a:rPr lang="en-GB" sz="1400" dirty="0">
                <a:solidFill>
                  <a:srgbClr val="000000"/>
                </a:solidFill>
                <a:latin typeface="Consolas" panose="020B0609020204030204" pitchFamily="49" charset="0"/>
              </a:rPr>
              <a:t>();</a:t>
            </a:r>
          </a:p>
          <a:p>
            <a:pPr lvl="2"/>
            <a:r>
              <a:rPr lang="en-GB" sz="1400" dirty="0" err="1">
                <a:solidFill>
                  <a:srgbClr val="6A3E3E"/>
                </a:solidFill>
                <a:latin typeface="Consolas" panose="020B0609020204030204" pitchFamily="49" charset="0"/>
              </a:rPr>
              <a:t>triangle</a:t>
            </a:r>
            <a:r>
              <a:rPr lang="en-GB" sz="1400" dirty="0" err="1">
                <a:solidFill>
                  <a:srgbClr val="000000"/>
                </a:solidFill>
                <a:latin typeface="Consolas" panose="020B0609020204030204" pitchFamily="49" charset="0"/>
              </a:rPr>
              <a:t>.draw</a:t>
            </a:r>
            <a:r>
              <a:rPr lang="en-GB" sz="1400" dirty="0">
                <a:solidFill>
                  <a:srgbClr val="000000"/>
                </a:solidFill>
                <a:latin typeface="Consolas" panose="020B0609020204030204" pitchFamily="49" charset="0"/>
              </a:rPr>
              <a:t>();</a:t>
            </a:r>
          </a:p>
          <a:p>
            <a:pPr lvl="2"/>
            <a:r>
              <a:rPr lang="en-GB" sz="1400" dirty="0" err="1">
                <a:solidFill>
                  <a:srgbClr val="000000"/>
                </a:solidFill>
                <a:latin typeface="Consolas" panose="020B0609020204030204" pitchFamily="49" charset="0"/>
              </a:rPr>
              <a:t>System.</a:t>
            </a:r>
            <a:r>
              <a:rPr lang="en-GB" sz="1400" b="1" i="1" dirty="0" err="1">
                <a:solidFill>
                  <a:srgbClr val="0000C0"/>
                </a:solidFill>
                <a:latin typeface="Consolas" panose="020B0609020204030204" pitchFamily="49" charset="0"/>
              </a:rPr>
              <a:t>out</a:t>
            </a:r>
            <a:r>
              <a:rPr lang="en-GB" sz="1400" b="1" i="1" dirty="0" err="1">
                <a:solidFill>
                  <a:srgbClr val="000000"/>
                </a:solidFill>
                <a:latin typeface="Consolas" panose="020B0609020204030204" pitchFamily="49" charset="0"/>
              </a:rPr>
              <a:t>.println</a:t>
            </a:r>
            <a:r>
              <a:rPr lang="en-GB" sz="1400" b="1" i="1" dirty="0">
                <a:solidFill>
                  <a:srgbClr val="000000"/>
                </a:solidFill>
                <a:latin typeface="Consolas" panose="020B0609020204030204" pitchFamily="49" charset="0"/>
              </a:rPr>
              <a:t>(</a:t>
            </a:r>
            <a:r>
              <a:rPr lang="en-GB" sz="1400" b="1" i="1" dirty="0">
                <a:solidFill>
                  <a:srgbClr val="2A00FF"/>
                </a:solidFill>
                <a:latin typeface="Consolas" panose="020B0609020204030204" pitchFamily="49" charset="0"/>
              </a:rPr>
              <a:t>"window1 draw end"</a:t>
            </a:r>
            <a:r>
              <a:rPr lang="en-GB" sz="1400" b="1" i="1" dirty="0">
                <a:solidFill>
                  <a:srgbClr val="000000"/>
                </a:solidFill>
                <a:latin typeface="Consolas" panose="020B0609020204030204" pitchFamily="49" charset="0"/>
              </a:rPr>
              <a:t>);</a:t>
            </a:r>
          </a:p>
          <a:p>
            <a:pPr lvl="2"/>
            <a:r>
              <a:rPr lang="en-GB" sz="1400" dirty="0">
                <a:solidFill>
                  <a:srgbClr val="000000"/>
                </a:solidFill>
                <a:latin typeface="Consolas" panose="020B0609020204030204" pitchFamily="49" charset="0"/>
              </a:rPr>
              <a:t>}</a:t>
            </a:r>
          </a:p>
          <a:p>
            <a:pPr algn="l"/>
            <a:r>
              <a:rPr lang="en-GB" sz="1400" dirty="0">
                <a:solidFill>
                  <a:srgbClr val="000000"/>
                </a:solidFill>
                <a:latin typeface="Consolas" panose="020B0609020204030204" pitchFamily="49" charset="0"/>
              </a:rPr>
              <a:t>};</a:t>
            </a:r>
          </a:p>
          <a:p>
            <a:pPr algn="l"/>
            <a:r>
              <a:rPr lang="en-GB" sz="1400" dirty="0" err="1">
                <a:solidFill>
                  <a:srgbClr val="0000C0"/>
                </a:solidFill>
                <a:latin typeface="Consolas" panose="020B0609020204030204" pitchFamily="49" charset="0"/>
              </a:rPr>
              <a:t>windows</a:t>
            </a:r>
            <a:r>
              <a:rPr lang="en-GB" sz="1400" dirty="0" err="1">
                <a:solidFill>
                  <a:srgbClr val="000000"/>
                </a:solidFill>
                <a:latin typeface="Consolas" panose="020B0609020204030204" pitchFamily="49" charset="0"/>
              </a:rPr>
              <a:t>.add</a:t>
            </a:r>
            <a:r>
              <a:rPr lang="en-GB" sz="1400" dirty="0">
                <a:solidFill>
                  <a:srgbClr val="000000"/>
                </a:solidFill>
                <a:latin typeface="Consolas" panose="020B0609020204030204" pitchFamily="49" charset="0"/>
              </a:rPr>
              <a:t>(</a:t>
            </a:r>
            <a:r>
              <a:rPr lang="en-GB" sz="1400" dirty="0">
                <a:solidFill>
                  <a:srgbClr val="6A3E3E"/>
                </a:solidFill>
                <a:latin typeface="Consolas" panose="020B0609020204030204" pitchFamily="49" charset="0"/>
              </a:rPr>
              <a:t>window1</a:t>
            </a:r>
            <a:r>
              <a:rPr lang="en-GB" sz="1400" dirty="0">
                <a:solidFill>
                  <a:srgbClr val="000000"/>
                </a:solidFill>
                <a:latin typeface="Consolas" panose="020B0609020204030204" pitchFamily="49" charset="0"/>
              </a:rPr>
              <a:t>);</a:t>
            </a:r>
          </a:p>
          <a:p>
            <a:pPr algn="l"/>
            <a:r>
              <a:rPr lang="en-GB" sz="1400" dirty="0" err="1">
                <a:solidFill>
                  <a:srgbClr val="000000"/>
                </a:solidFill>
                <a:latin typeface="Consolas" panose="020B0609020204030204" pitchFamily="49" charset="0"/>
              </a:rPr>
              <a:t>System.</a:t>
            </a:r>
            <a:r>
              <a:rPr lang="en-GB" sz="1400" b="1" i="1" dirty="0" err="1">
                <a:solidFill>
                  <a:srgbClr val="0000C0"/>
                </a:solidFill>
                <a:latin typeface="Consolas" panose="020B0609020204030204" pitchFamily="49" charset="0"/>
              </a:rPr>
              <a:t>out</a:t>
            </a:r>
            <a:r>
              <a:rPr lang="en-GB" sz="1400" b="1" i="1" dirty="0" err="1">
                <a:solidFill>
                  <a:srgbClr val="000000"/>
                </a:solidFill>
                <a:latin typeface="Consolas" panose="020B0609020204030204" pitchFamily="49" charset="0"/>
              </a:rPr>
              <a:t>.println</a:t>
            </a:r>
            <a:r>
              <a:rPr lang="en-GB" sz="1400" b="1" i="1" dirty="0">
                <a:solidFill>
                  <a:srgbClr val="000000"/>
                </a:solidFill>
                <a:latin typeface="Consolas" panose="020B0609020204030204" pitchFamily="49" charset="0"/>
              </a:rPr>
              <a:t>(</a:t>
            </a:r>
            <a:r>
              <a:rPr lang="en-GB" sz="1400" b="1" i="1" dirty="0">
                <a:solidFill>
                  <a:srgbClr val="2A00FF"/>
                </a:solidFill>
                <a:latin typeface="Consolas" panose="020B0609020204030204" pitchFamily="49" charset="0"/>
              </a:rPr>
              <a:t>"</a:t>
            </a:r>
            <a:r>
              <a:rPr lang="en-GB" sz="1400" b="1" i="1" dirty="0" err="1">
                <a:solidFill>
                  <a:srgbClr val="2A00FF"/>
                </a:solidFill>
                <a:latin typeface="Consolas" panose="020B0609020204030204" pitchFamily="49" charset="0"/>
              </a:rPr>
              <a:t>windows.add</a:t>
            </a:r>
            <a:r>
              <a:rPr lang="en-GB" sz="1400" b="1" i="1" dirty="0">
                <a:solidFill>
                  <a:srgbClr val="2A00FF"/>
                </a:solidFill>
                <a:latin typeface="Consolas" panose="020B0609020204030204" pitchFamily="49" charset="0"/>
              </a:rPr>
              <a:t>(window1);"</a:t>
            </a:r>
            <a:r>
              <a:rPr lang="en-GB" sz="1400" b="1" i="1" dirty="0">
                <a:solidFill>
                  <a:srgbClr val="000000"/>
                </a:solidFill>
                <a:latin typeface="Consolas" panose="020B0609020204030204" pitchFamily="49" charset="0"/>
              </a:rPr>
              <a:t>);</a:t>
            </a:r>
          </a:p>
          <a:p>
            <a:pPr algn="l"/>
            <a:r>
              <a:rPr lang="en-GB" sz="1400" dirty="0">
                <a:solidFill>
                  <a:srgbClr val="000000"/>
                </a:solidFill>
                <a:latin typeface="Consolas" panose="020B0609020204030204" pitchFamily="49" charset="0"/>
              </a:rPr>
              <a:t>Window </a:t>
            </a:r>
            <a:r>
              <a:rPr lang="en-GB" sz="1400" dirty="0">
                <a:solidFill>
                  <a:srgbClr val="6A3E3E"/>
                </a:solidFill>
                <a:latin typeface="Consolas" panose="020B0609020204030204" pitchFamily="49" charset="0"/>
              </a:rPr>
              <a:t>window2</a:t>
            </a:r>
            <a:r>
              <a:rPr lang="en-GB" sz="1400" dirty="0">
                <a:solidFill>
                  <a:srgbClr val="000000"/>
                </a:solidFill>
                <a:latin typeface="Consolas" panose="020B0609020204030204" pitchFamily="49" charset="0"/>
              </a:rPr>
              <a:t> = </a:t>
            </a:r>
            <a:r>
              <a:rPr lang="en-GB" sz="1400" b="1" dirty="0">
                <a:solidFill>
                  <a:srgbClr val="7F0055"/>
                </a:solidFill>
                <a:latin typeface="Consolas" panose="020B0609020204030204" pitchFamily="49" charset="0"/>
              </a:rPr>
              <a:t>new</a:t>
            </a:r>
            <a:r>
              <a:rPr lang="en-GB" sz="1400" b="1" dirty="0">
                <a:solidFill>
                  <a:srgbClr val="000000"/>
                </a:solidFill>
                <a:latin typeface="Consolas" panose="020B0609020204030204" pitchFamily="49" charset="0"/>
              </a:rPr>
              <a:t> Window(2, 600, 400, </a:t>
            </a:r>
            <a:r>
              <a:rPr lang="en-GB" sz="1400" b="1" dirty="0">
                <a:solidFill>
                  <a:srgbClr val="2A00FF"/>
                </a:solidFill>
                <a:latin typeface="Consolas" panose="020B0609020204030204" pitchFamily="49" charset="0"/>
              </a:rPr>
              <a:t>"Window 2"</a:t>
            </a:r>
            <a:r>
              <a:rPr lang="en-GB" sz="1400" b="1" dirty="0">
                <a:solidFill>
                  <a:srgbClr val="000000"/>
                </a:solidFill>
                <a:latin typeface="Consolas" panose="020B0609020204030204" pitchFamily="49" charset="0"/>
              </a:rPr>
              <a:t>) {</a:t>
            </a:r>
          </a:p>
          <a:p>
            <a:pPr lvl="1"/>
            <a:r>
              <a:rPr lang="en-GB" sz="1400" b="1" dirty="0">
                <a:solidFill>
                  <a:srgbClr val="7F0055"/>
                </a:solidFill>
                <a:latin typeface="Consolas" panose="020B0609020204030204" pitchFamily="49" charset="0"/>
              </a:rPr>
              <a:t>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draw() {</a:t>
            </a:r>
          </a:p>
          <a:p>
            <a:pPr lvl="2"/>
            <a:r>
              <a:rPr lang="en-GB" sz="1400" dirty="0" err="1">
                <a:solidFill>
                  <a:srgbClr val="000000"/>
                </a:solidFill>
                <a:latin typeface="Consolas" panose="020B0609020204030204" pitchFamily="49" charset="0"/>
              </a:rPr>
              <a:t>System.</a:t>
            </a:r>
            <a:r>
              <a:rPr lang="en-GB" sz="1400" b="1" i="1" dirty="0" err="1">
                <a:solidFill>
                  <a:srgbClr val="0000C0"/>
                </a:solidFill>
                <a:latin typeface="Consolas" panose="020B0609020204030204" pitchFamily="49" charset="0"/>
              </a:rPr>
              <a:t>out</a:t>
            </a:r>
            <a:r>
              <a:rPr lang="en-GB" sz="1400" b="1" i="1" dirty="0" err="1">
                <a:solidFill>
                  <a:srgbClr val="000000"/>
                </a:solidFill>
                <a:latin typeface="Consolas" panose="020B0609020204030204" pitchFamily="49" charset="0"/>
              </a:rPr>
              <a:t>.println</a:t>
            </a:r>
            <a:r>
              <a:rPr lang="en-GB" sz="1400" b="1" i="1" dirty="0">
                <a:solidFill>
                  <a:srgbClr val="000000"/>
                </a:solidFill>
                <a:latin typeface="Consolas" panose="020B0609020204030204" pitchFamily="49" charset="0"/>
              </a:rPr>
              <a:t>(</a:t>
            </a:r>
            <a:r>
              <a:rPr lang="en-GB" sz="1400" b="1" i="1" dirty="0">
                <a:solidFill>
                  <a:srgbClr val="2A00FF"/>
                </a:solidFill>
                <a:latin typeface="Consolas" panose="020B0609020204030204" pitchFamily="49" charset="0"/>
              </a:rPr>
              <a:t>"window2 draw start"</a:t>
            </a:r>
            <a:r>
              <a:rPr lang="en-GB" sz="1400" b="1" i="1" dirty="0">
                <a:solidFill>
                  <a:srgbClr val="000000"/>
                </a:solidFill>
                <a:latin typeface="Consolas" panose="020B0609020204030204" pitchFamily="49" charset="0"/>
              </a:rPr>
              <a:t>);</a:t>
            </a:r>
          </a:p>
          <a:p>
            <a:pPr lvl="2"/>
            <a:r>
              <a:rPr lang="en-GB" sz="1400" b="1" dirty="0" err="1">
                <a:solidFill>
                  <a:srgbClr val="7F0055"/>
                </a:solidFill>
                <a:latin typeface="Consolas" panose="020B0609020204030204" pitchFamily="49" charset="0"/>
              </a:rPr>
              <a:t>super</a:t>
            </a:r>
            <a:r>
              <a:rPr lang="en-GB" sz="1400" b="1" dirty="0" err="1">
                <a:solidFill>
                  <a:srgbClr val="000000"/>
                </a:solidFill>
                <a:latin typeface="Consolas" panose="020B0609020204030204" pitchFamily="49" charset="0"/>
              </a:rPr>
              <a:t>.draw</a:t>
            </a:r>
            <a:r>
              <a:rPr lang="en-GB" sz="1400" b="1" dirty="0">
                <a:solidFill>
                  <a:srgbClr val="000000"/>
                </a:solidFill>
                <a:latin typeface="Consolas" panose="020B0609020204030204" pitchFamily="49" charset="0"/>
              </a:rPr>
              <a:t>();</a:t>
            </a:r>
          </a:p>
          <a:p>
            <a:pPr lvl="2"/>
            <a:r>
              <a:rPr lang="en-GB" sz="1400" dirty="0" err="1">
                <a:solidFill>
                  <a:srgbClr val="6A3E3E"/>
                </a:solidFill>
                <a:latin typeface="Consolas" panose="020B0609020204030204" pitchFamily="49" charset="0"/>
              </a:rPr>
              <a:t>circle</a:t>
            </a:r>
            <a:r>
              <a:rPr lang="en-GB" sz="1400" dirty="0" err="1">
                <a:solidFill>
                  <a:srgbClr val="000000"/>
                </a:solidFill>
                <a:latin typeface="Consolas" panose="020B0609020204030204" pitchFamily="49" charset="0"/>
              </a:rPr>
              <a:t>.draw</a:t>
            </a:r>
            <a:r>
              <a:rPr lang="en-GB" sz="1400" dirty="0">
                <a:solidFill>
                  <a:srgbClr val="000000"/>
                </a:solidFill>
                <a:latin typeface="Consolas" panose="020B0609020204030204" pitchFamily="49" charset="0"/>
              </a:rPr>
              <a:t>();</a:t>
            </a:r>
          </a:p>
          <a:p>
            <a:pPr lvl="2"/>
            <a:r>
              <a:rPr lang="en-GB" sz="1400" dirty="0" err="1">
                <a:solidFill>
                  <a:srgbClr val="6A3E3E"/>
                </a:solidFill>
                <a:latin typeface="Consolas" panose="020B0609020204030204" pitchFamily="49" charset="0"/>
              </a:rPr>
              <a:t>rectangle</a:t>
            </a:r>
            <a:r>
              <a:rPr lang="en-GB" sz="1400" dirty="0" err="1">
                <a:solidFill>
                  <a:srgbClr val="000000"/>
                </a:solidFill>
                <a:latin typeface="Consolas" panose="020B0609020204030204" pitchFamily="49" charset="0"/>
              </a:rPr>
              <a:t>.draw</a:t>
            </a:r>
            <a:r>
              <a:rPr lang="en-GB" sz="1400" dirty="0">
                <a:solidFill>
                  <a:srgbClr val="000000"/>
                </a:solidFill>
                <a:latin typeface="Consolas" panose="020B0609020204030204" pitchFamily="49" charset="0"/>
              </a:rPr>
              <a:t>();</a:t>
            </a:r>
          </a:p>
          <a:p>
            <a:pPr lvl="2"/>
            <a:r>
              <a:rPr lang="en-GB" sz="1400" dirty="0" err="1">
                <a:solidFill>
                  <a:srgbClr val="6A3E3E"/>
                </a:solidFill>
                <a:latin typeface="Consolas" panose="020B0609020204030204" pitchFamily="49" charset="0"/>
              </a:rPr>
              <a:t>triangle</a:t>
            </a:r>
            <a:r>
              <a:rPr lang="en-GB" sz="1400" dirty="0" err="1">
                <a:solidFill>
                  <a:srgbClr val="000000"/>
                </a:solidFill>
                <a:latin typeface="Consolas" panose="020B0609020204030204" pitchFamily="49" charset="0"/>
              </a:rPr>
              <a:t>.draw</a:t>
            </a:r>
            <a:r>
              <a:rPr lang="en-GB" sz="1400" dirty="0">
                <a:solidFill>
                  <a:srgbClr val="000000"/>
                </a:solidFill>
                <a:latin typeface="Consolas" panose="020B0609020204030204" pitchFamily="49" charset="0"/>
              </a:rPr>
              <a:t>();</a:t>
            </a:r>
          </a:p>
          <a:p>
            <a:pPr lvl="2"/>
            <a:r>
              <a:rPr lang="en-GB" sz="1400" dirty="0" err="1">
                <a:solidFill>
                  <a:srgbClr val="000000"/>
                </a:solidFill>
                <a:latin typeface="Consolas" panose="020B0609020204030204" pitchFamily="49" charset="0"/>
              </a:rPr>
              <a:t>System.</a:t>
            </a:r>
            <a:r>
              <a:rPr lang="en-GB" sz="1400" b="1" i="1" dirty="0" err="1">
                <a:solidFill>
                  <a:srgbClr val="0000C0"/>
                </a:solidFill>
                <a:latin typeface="Consolas" panose="020B0609020204030204" pitchFamily="49" charset="0"/>
              </a:rPr>
              <a:t>out</a:t>
            </a:r>
            <a:r>
              <a:rPr lang="en-GB" sz="1400" b="1" i="1" dirty="0" err="1">
                <a:solidFill>
                  <a:srgbClr val="000000"/>
                </a:solidFill>
                <a:latin typeface="Consolas" panose="020B0609020204030204" pitchFamily="49" charset="0"/>
              </a:rPr>
              <a:t>.println</a:t>
            </a:r>
            <a:r>
              <a:rPr lang="en-GB" sz="1400" b="1" i="1" dirty="0">
                <a:solidFill>
                  <a:srgbClr val="000000"/>
                </a:solidFill>
                <a:latin typeface="Consolas" panose="020B0609020204030204" pitchFamily="49" charset="0"/>
              </a:rPr>
              <a:t>(</a:t>
            </a:r>
            <a:r>
              <a:rPr lang="en-GB" sz="1400" b="1" i="1" dirty="0">
                <a:solidFill>
                  <a:srgbClr val="2A00FF"/>
                </a:solidFill>
                <a:latin typeface="Consolas" panose="020B0609020204030204" pitchFamily="49" charset="0"/>
              </a:rPr>
              <a:t>"window2 draw </a:t>
            </a:r>
            <a:r>
              <a:rPr lang="en-GB" sz="1400" b="1" i="1">
                <a:solidFill>
                  <a:srgbClr val="2A00FF"/>
                </a:solidFill>
                <a:latin typeface="Consolas" panose="020B0609020204030204" pitchFamily="49" charset="0"/>
              </a:rPr>
              <a:t>end"</a:t>
            </a:r>
            <a:r>
              <a:rPr lang="en-GB" sz="1400" b="1" i="1">
                <a:solidFill>
                  <a:srgbClr val="000000"/>
                </a:solidFill>
                <a:latin typeface="Consolas" panose="020B0609020204030204" pitchFamily="49" charset="0"/>
              </a:rPr>
              <a:t>);</a:t>
            </a:r>
            <a:endParaRPr lang="en-GB" sz="1400" dirty="0">
              <a:latin typeface="Consolas" panose="020B0609020204030204" pitchFamily="49" charset="0"/>
            </a:endParaRPr>
          </a:p>
          <a:p>
            <a:pPr lvl="2"/>
            <a:r>
              <a:rPr lang="en-GB" sz="1400" dirty="0">
                <a:solidFill>
                  <a:srgbClr val="000000"/>
                </a:solidFill>
                <a:latin typeface="Consolas" panose="020B0609020204030204" pitchFamily="49" charset="0"/>
              </a:rPr>
              <a:t>}</a:t>
            </a:r>
          </a:p>
          <a:p>
            <a:pPr algn="l"/>
            <a:r>
              <a:rPr lang="en-GB" sz="1400" dirty="0">
                <a:solidFill>
                  <a:srgbClr val="000000"/>
                </a:solidFill>
                <a:latin typeface="Consolas" panose="020B0609020204030204" pitchFamily="49" charset="0"/>
              </a:rPr>
              <a:t>};</a:t>
            </a:r>
            <a:endParaRPr lang="en-GB" sz="3200" dirty="0"/>
          </a:p>
        </p:txBody>
      </p:sp>
    </p:spTree>
    <p:extLst>
      <p:ext uri="{BB962C8B-B14F-4D97-AF65-F5344CB8AC3E}">
        <p14:creationId xmlns:p14="http://schemas.microsoft.com/office/powerpoint/2010/main" val="28598321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3">
            <a:extLst>
              <a:ext uri="{FF2B5EF4-FFF2-40B4-BE49-F238E27FC236}">
                <a16:creationId xmlns:a16="http://schemas.microsoft.com/office/drawing/2014/main" id="{D00A73DD-A4AD-2E56-2E78-11F100DEBBF4}"/>
              </a:ext>
            </a:extLst>
          </p:cNvPr>
          <p:cNvSpPr txBox="1">
            <a:spLocks noChangeArrowheads="1"/>
          </p:cNvSpPr>
          <p:nvPr/>
        </p:nvSpPr>
        <p:spPr bwMode="auto">
          <a:xfrm>
            <a:off x="140669" y="662761"/>
            <a:ext cx="11541733" cy="603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i="0" u="none" strike="noStrike" kern="0" cap="none" spc="0" normalizeH="0" baseline="0" noProof="0" dirty="0">
                <a:ln>
                  <a:noFill/>
                </a:ln>
                <a:solidFill>
                  <a:srgbClr val="000000"/>
                </a:solidFill>
                <a:effectLst/>
                <a:uLnTx/>
                <a:uFillTx/>
                <a:latin typeface="Tahoma"/>
                <a:ea typeface="+mn-ea"/>
                <a:cs typeface="+mn-cs"/>
              </a:rPr>
              <a:t>Εισαγωγή στην Κληρονομικότητα</a:t>
            </a:r>
            <a:endParaRPr kumimoji="0" lang="en-US" altLang="el-GR" sz="32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Βασικές έννοιες</a:t>
            </a:r>
          </a:p>
          <a:p>
            <a:pPr lvl="1" indent="-342900" eaLnBrk="1" hangingPunct="1">
              <a:buClr>
                <a:srgbClr val="3333CC"/>
              </a:buClr>
              <a:buSzPct val="60000"/>
              <a:defRPr/>
            </a:pPr>
            <a:r>
              <a:rPr lang="el-GR" altLang="el-GR" sz="2400" kern="0" dirty="0">
                <a:solidFill>
                  <a:srgbClr val="000000"/>
                </a:solidFill>
                <a:latin typeface="Tahoma"/>
              </a:rPr>
              <a:t>Παράδειγμα Κληρονομικότητας (</a:t>
            </a:r>
            <a:r>
              <a:rPr lang="en-GB" altLang="el-GR" sz="2400" kern="0" dirty="0" err="1">
                <a:solidFill>
                  <a:srgbClr val="000000"/>
                </a:solidFill>
                <a:latin typeface="Tahoma"/>
              </a:rPr>
              <a:t>WindowsApp</a:t>
            </a:r>
            <a:r>
              <a:rPr lang="el-GR" altLang="el-GR" sz="2400" kern="0" dirty="0">
                <a:solidFill>
                  <a:srgbClr val="000000"/>
                </a:solidFill>
                <a:latin typeface="Tahoma"/>
              </a:rPr>
              <a:t>) </a:t>
            </a:r>
          </a:p>
          <a:p>
            <a:pPr lvl="1" indent="-342900" eaLnBrk="1" hangingPunct="1">
              <a:buClr>
                <a:srgbClr val="3333CC"/>
              </a:buClr>
              <a:buSzPct val="60000"/>
              <a:defRPr/>
            </a:pPr>
            <a:r>
              <a:rPr lang="en-GB" altLang="el-GR" sz="2400" kern="0" dirty="0">
                <a:solidFill>
                  <a:srgbClr val="000000"/>
                </a:solidFill>
                <a:latin typeface="Tahoma"/>
              </a:rPr>
              <a:t>Abstract </a:t>
            </a:r>
            <a:r>
              <a:rPr lang="el-GR" altLang="el-GR" sz="2400" kern="0" dirty="0">
                <a:solidFill>
                  <a:srgbClr val="000000"/>
                </a:solidFill>
                <a:latin typeface="Tahoma"/>
              </a:rPr>
              <a:t>μέθοδοι και </a:t>
            </a:r>
            <a:r>
              <a:rPr lang="en-GB" altLang="el-GR" sz="2400" kern="0" dirty="0">
                <a:solidFill>
                  <a:srgbClr val="000000"/>
                </a:solidFill>
                <a:latin typeface="Tahoma"/>
              </a:rPr>
              <a:t>Abstract</a:t>
            </a:r>
            <a:r>
              <a:rPr lang="el-GR" altLang="el-GR" sz="2400" kern="0" dirty="0">
                <a:solidFill>
                  <a:srgbClr val="000000"/>
                </a:solidFill>
                <a:latin typeface="Tahoma"/>
              </a:rPr>
              <a:t> κλάσεις</a:t>
            </a:r>
            <a:endParaRPr kumimoji="0" lang="en-US" altLang="el-GR" sz="24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altLang="el-GR" sz="2400" kern="0" dirty="0">
                <a:solidFill>
                  <a:srgbClr val="000000"/>
                </a:solidFill>
                <a:latin typeface="Tahoma"/>
              </a:rPr>
              <a:t>Shadowed variables-Overriding methods</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000000"/>
                </a:solidFill>
                <a:effectLst/>
                <a:uLnTx/>
                <a:uFillTx/>
                <a:latin typeface="Tahoma"/>
                <a:ea typeface="+mn-ea"/>
                <a:cs typeface="+mn-cs"/>
              </a:rPr>
              <a:t>Πολλαπλή κληρονομικότητα (</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Multiple inheritance</a:t>
            </a:r>
            <a:r>
              <a:rPr kumimoji="0" lang="el-GR" altLang="el-GR" sz="3200" b="1" i="0" u="none" strike="noStrike" kern="0" cap="none" spc="0" normalizeH="0" baseline="0" noProof="0" dirty="0">
                <a:ln>
                  <a:noFill/>
                </a:ln>
                <a:solidFill>
                  <a:srgbClr val="000000"/>
                </a:solidFill>
                <a:effectLst/>
                <a:uLnTx/>
                <a:uFillTx/>
                <a:latin typeface="Tahoma"/>
                <a:ea typeface="+mn-ea"/>
                <a:cs typeface="+mn-cs"/>
              </a:rPr>
              <a:t>)</a:t>
            </a:r>
          </a:p>
          <a:p>
            <a:pPr lvl="1" indent="-342900" eaLnBrk="1" hangingPunct="1">
              <a:buClr>
                <a:srgbClr val="3333CC"/>
              </a:buClr>
              <a:buSzPct val="60000"/>
              <a:defRPr/>
            </a:pPr>
            <a:r>
              <a:rPr kumimoji="0" lang="en-GB" altLang="el-GR" b="1" i="0" u="none" strike="noStrike" kern="0" cap="none" spc="0" normalizeH="0" baseline="0" noProof="0" dirty="0">
                <a:ln>
                  <a:noFill/>
                </a:ln>
                <a:solidFill>
                  <a:srgbClr val="000000"/>
                </a:solidFill>
                <a:effectLst/>
                <a:uLnTx/>
                <a:uFillTx/>
                <a:latin typeface="Tahoma"/>
                <a:ea typeface="+mn-ea"/>
                <a:cs typeface="+mn-cs"/>
              </a:rPr>
              <a:t>Interface – Collection interface</a:t>
            </a:r>
            <a:endParaRPr kumimoji="0" lang="en-US" altLang="el-GR" b="1"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Πολυμορφισμός (</a:t>
            </a:r>
            <a:r>
              <a:rPr kumimoji="0" lang="en-GB" altLang="el-GR" sz="3200" b="0" i="0" u="none" strike="noStrike" kern="0" cap="none" spc="0" normalizeH="0" baseline="0" noProof="0" dirty="0">
                <a:ln>
                  <a:noFill/>
                </a:ln>
                <a:solidFill>
                  <a:srgbClr val="000000"/>
                </a:solidFill>
                <a:effectLst/>
                <a:uLnTx/>
                <a:uFillTx/>
                <a:latin typeface="Tahoma"/>
                <a:ea typeface="+mn-ea"/>
                <a:cs typeface="+mn-cs"/>
              </a:rPr>
              <a:t>Polymorphism)</a:t>
            </a:r>
            <a:endParaRPr kumimoji="0" lang="el-GR" altLang="el-GR" sz="3200" b="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Πολυμορφισμός στην </a:t>
            </a:r>
            <a:r>
              <a:rPr lang="en-GB" altLang="el-GR" sz="2400" kern="0" dirty="0" err="1">
                <a:solidFill>
                  <a:srgbClr val="000000"/>
                </a:solidFill>
                <a:latin typeface="Tahoma"/>
              </a:rPr>
              <a:t>WindowsApp</a:t>
            </a:r>
            <a:endParaRPr lang="en-US" altLang="el-GR" sz="2400" kern="0" dirty="0">
              <a:solidFill>
                <a:srgbClr val="000000"/>
              </a:solidFill>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800" b="0" i="0" u="none" strike="noStrike" kern="0" cap="none" spc="0" normalizeH="0" baseline="0" noProof="0" dirty="0">
                <a:ln>
                  <a:noFill/>
                </a:ln>
                <a:solidFill>
                  <a:srgbClr val="000000"/>
                </a:solidFill>
                <a:effectLst/>
                <a:uLnTx/>
                <a:uFillTx/>
                <a:latin typeface="Tahoma"/>
                <a:ea typeface="+mn-ea"/>
                <a:cs typeface="+mn-cs"/>
              </a:rPr>
              <a:t>Building the inheritance tree</a:t>
            </a:r>
          </a:p>
          <a:p>
            <a:pPr marR="0" lvl="1" indent="-342900" eaLnBrk="1" hangingPunct="1">
              <a:lnSpc>
                <a:spcPct val="100000"/>
              </a:lnSpc>
              <a:buClr>
                <a:srgbClr val="3333CC"/>
              </a:buClr>
              <a:buSzPct val="60000"/>
              <a:tabLst/>
              <a:defRPr/>
            </a:pPr>
            <a:r>
              <a:rPr lang="en-GB" altLang="el-GR" sz="2400" kern="0" dirty="0">
                <a:solidFill>
                  <a:srgbClr val="000000"/>
                </a:solidFill>
                <a:latin typeface="Tahoma"/>
              </a:rPr>
              <a:t>Alternatives in writing a sub class</a:t>
            </a:r>
          </a:p>
          <a:p>
            <a:pPr marR="0" lvl="1" indent="-342900" eaLnBrk="1" hangingPunct="1">
              <a:lnSpc>
                <a:spcPct val="100000"/>
              </a:lnSpc>
              <a:buClr>
                <a:srgbClr val="3333CC"/>
              </a:buClr>
              <a:buSzPct val="60000"/>
              <a:tabLst/>
              <a:defRPr/>
            </a:pPr>
            <a:r>
              <a:rPr lang="en-US" altLang="el-GR" sz="2400" kern="0" dirty="0">
                <a:solidFill>
                  <a:srgbClr val="000000"/>
                </a:solidFill>
                <a:latin typeface="Tahoma"/>
              </a:rPr>
              <a:t>Access level modifiers</a:t>
            </a:r>
            <a:endParaRPr lang="en-GB" altLang="el-GR" sz="2400" kern="0" dirty="0">
              <a:solidFill>
                <a:srgbClr val="000000"/>
              </a:solidFill>
              <a:latin typeface="Tahoma"/>
            </a:endParaRPr>
          </a:p>
        </p:txBody>
      </p:sp>
      <p:sp>
        <p:nvSpPr>
          <p:cNvPr id="5" name="Θέση υποσέλιδου 4">
            <a:extLst>
              <a:ext uri="{FF2B5EF4-FFF2-40B4-BE49-F238E27FC236}">
                <a16:creationId xmlns:a16="http://schemas.microsoft.com/office/drawing/2014/main" id="{AEC04054-865D-3D4E-26D5-F1A509818855}"/>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25121732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Πολλαπλή Κληρονομικότητα</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grpSp>
        <p:nvGrpSpPr>
          <p:cNvPr id="5" name="Group 3">
            <a:extLst>
              <a:ext uri="{FF2B5EF4-FFF2-40B4-BE49-F238E27FC236}">
                <a16:creationId xmlns:a16="http://schemas.microsoft.com/office/drawing/2014/main" id="{FA8B6755-D725-1318-E77F-97593B18993D}"/>
              </a:ext>
            </a:extLst>
          </p:cNvPr>
          <p:cNvGrpSpPr>
            <a:grpSpLocks/>
          </p:cNvGrpSpPr>
          <p:nvPr/>
        </p:nvGrpSpPr>
        <p:grpSpPr bwMode="auto">
          <a:xfrm>
            <a:off x="989013" y="908720"/>
            <a:ext cx="7543800" cy="2895600"/>
            <a:chOff x="2160" y="5217"/>
            <a:chExt cx="7632" cy="1729"/>
          </a:xfrm>
        </p:grpSpPr>
        <p:sp>
          <p:nvSpPr>
            <p:cNvPr id="6" name="Rectangle 4">
              <a:extLst>
                <a:ext uri="{FF2B5EF4-FFF2-40B4-BE49-F238E27FC236}">
                  <a16:creationId xmlns:a16="http://schemas.microsoft.com/office/drawing/2014/main" id="{C934B7F8-F337-0CF9-C027-0DFACA3102A4}"/>
                </a:ext>
              </a:extLst>
            </p:cNvPr>
            <p:cNvSpPr>
              <a:spLocks noChangeArrowheads="1"/>
            </p:cNvSpPr>
            <p:nvPr/>
          </p:nvSpPr>
          <p:spPr bwMode="auto">
            <a:xfrm>
              <a:off x="2160" y="5217"/>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ΧΥΖ</a:t>
              </a:r>
            </a:p>
          </p:txBody>
        </p:sp>
        <p:sp>
          <p:nvSpPr>
            <p:cNvPr id="7" name="Rectangle 5">
              <a:extLst>
                <a:ext uri="{FF2B5EF4-FFF2-40B4-BE49-F238E27FC236}">
                  <a16:creationId xmlns:a16="http://schemas.microsoft.com/office/drawing/2014/main" id="{DE9881F4-0473-D7BB-5F4F-DD9F58DDEE6B}"/>
                </a:ext>
              </a:extLst>
            </p:cNvPr>
            <p:cNvSpPr>
              <a:spLocks noChangeArrowheads="1"/>
            </p:cNvSpPr>
            <p:nvPr/>
          </p:nvSpPr>
          <p:spPr bwMode="auto">
            <a:xfrm>
              <a:off x="3600" y="5217"/>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ΚΛΜ</a:t>
              </a:r>
            </a:p>
          </p:txBody>
        </p:sp>
        <p:sp>
          <p:nvSpPr>
            <p:cNvPr id="9" name="Rectangle 6">
              <a:extLst>
                <a:ext uri="{FF2B5EF4-FFF2-40B4-BE49-F238E27FC236}">
                  <a16:creationId xmlns:a16="http://schemas.microsoft.com/office/drawing/2014/main" id="{894EEC5F-9E15-6178-E6F3-E1AB87A69357}"/>
                </a:ext>
              </a:extLst>
            </p:cNvPr>
            <p:cNvSpPr>
              <a:spLocks noChangeArrowheads="1"/>
            </p:cNvSpPr>
            <p:nvPr/>
          </p:nvSpPr>
          <p:spPr bwMode="auto">
            <a:xfrm>
              <a:off x="2160" y="6226"/>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ΥΜ</a:t>
              </a:r>
            </a:p>
          </p:txBody>
        </p:sp>
        <p:sp>
          <p:nvSpPr>
            <p:cNvPr id="12" name="Rectangle 7">
              <a:extLst>
                <a:ext uri="{FF2B5EF4-FFF2-40B4-BE49-F238E27FC236}">
                  <a16:creationId xmlns:a16="http://schemas.microsoft.com/office/drawing/2014/main" id="{ACFA3919-FB75-A6E6-F0CB-169CF020F6EF}"/>
                </a:ext>
              </a:extLst>
            </p:cNvPr>
            <p:cNvSpPr>
              <a:spLocks noChangeArrowheads="1"/>
            </p:cNvSpPr>
            <p:nvPr/>
          </p:nvSpPr>
          <p:spPr bwMode="auto">
            <a:xfrm>
              <a:off x="6192" y="5362"/>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   Υ</a:t>
              </a:r>
            </a:p>
            <a:p>
              <a:pPr eaLnBrk="0" fontAlgn="base" hangingPunct="0">
                <a:spcBef>
                  <a:spcPct val="0"/>
                </a:spcBef>
                <a:spcAft>
                  <a:spcPct val="0"/>
                </a:spcAft>
                <a:buClrTx/>
                <a:buSzTx/>
                <a:buFontTx/>
                <a:buNone/>
              </a:pPr>
              <a:endParaRPr lang="el-GR" altLang="el-GR" sz="1800" b="1">
                <a:solidFill>
                  <a:srgbClr val="000000"/>
                </a:solidFill>
                <a:latin typeface="Times New Roman" panose="02020603050405020304" pitchFamily="18" charset="0"/>
              </a:endParaRPr>
            </a:p>
          </p:txBody>
        </p:sp>
        <p:sp>
          <p:nvSpPr>
            <p:cNvPr id="13" name="Rectangle 8">
              <a:extLst>
                <a:ext uri="{FF2B5EF4-FFF2-40B4-BE49-F238E27FC236}">
                  <a16:creationId xmlns:a16="http://schemas.microsoft.com/office/drawing/2014/main" id="{5C22DAAE-1E16-69C2-546C-0377333F08FF}"/>
                </a:ext>
              </a:extLst>
            </p:cNvPr>
            <p:cNvSpPr>
              <a:spLocks noChangeArrowheads="1"/>
            </p:cNvSpPr>
            <p:nvPr/>
          </p:nvSpPr>
          <p:spPr bwMode="auto">
            <a:xfrm>
              <a:off x="7920" y="5362"/>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   Μ</a:t>
              </a:r>
            </a:p>
            <a:p>
              <a:pPr eaLnBrk="0" fontAlgn="base" hangingPunct="0">
                <a:spcBef>
                  <a:spcPct val="0"/>
                </a:spcBef>
                <a:spcAft>
                  <a:spcPct val="0"/>
                </a:spcAft>
                <a:buClrTx/>
                <a:buSzTx/>
                <a:buFontTx/>
                <a:buNone/>
              </a:pPr>
              <a:endParaRPr lang="el-GR" altLang="el-GR" sz="1800" b="1">
                <a:solidFill>
                  <a:srgbClr val="000000"/>
                </a:solidFill>
                <a:latin typeface="Times New Roman" panose="02020603050405020304" pitchFamily="18" charset="0"/>
              </a:endParaRPr>
            </a:p>
          </p:txBody>
        </p:sp>
        <p:sp>
          <p:nvSpPr>
            <p:cNvPr id="14" name="Rectangle 9">
              <a:extLst>
                <a:ext uri="{FF2B5EF4-FFF2-40B4-BE49-F238E27FC236}">
                  <a16:creationId xmlns:a16="http://schemas.microsoft.com/office/drawing/2014/main" id="{EEBD6765-26CB-BF90-499F-16B8C0984A7E}"/>
                </a:ext>
              </a:extLst>
            </p:cNvPr>
            <p:cNvSpPr>
              <a:spLocks noChangeArrowheads="1"/>
            </p:cNvSpPr>
            <p:nvPr/>
          </p:nvSpPr>
          <p:spPr bwMode="auto">
            <a:xfrm>
              <a:off x="5472" y="6370"/>
              <a:ext cx="1296" cy="57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     +ΧΖ</a:t>
              </a:r>
            </a:p>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    =(ΧΥΖ)</a:t>
              </a:r>
            </a:p>
            <a:p>
              <a:pPr eaLnBrk="0" fontAlgn="base" hangingPunct="0">
                <a:spcBef>
                  <a:spcPct val="0"/>
                </a:spcBef>
                <a:spcAft>
                  <a:spcPct val="0"/>
                </a:spcAft>
                <a:buClrTx/>
                <a:buSzTx/>
                <a:buFontTx/>
                <a:buNone/>
              </a:pPr>
              <a:endParaRPr lang="el-GR" altLang="el-GR" sz="1800" b="1">
                <a:solidFill>
                  <a:srgbClr val="000000"/>
                </a:solidFill>
                <a:latin typeface="Times New Roman" panose="02020603050405020304" pitchFamily="18" charset="0"/>
              </a:endParaRPr>
            </a:p>
          </p:txBody>
        </p:sp>
        <p:sp>
          <p:nvSpPr>
            <p:cNvPr id="15" name="Rectangle 10">
              <a:extLst>
                <a:ext uri="{FF2B5EF4-FFF2-40B4-BE49-F238E27FC236}">
                  <a16:creationId xmlns:a16="http://schemas.microsoft.com/office/drawing/2014/main" id="{0CB6F845-A5F6-A6B4-F6CD-E2FF18A6EFE6}"/>
                </a:ext>
              </a:extLst>
            </p:cNvPr>
            <p:cNvSpPr>
              <a:spLocks noChangeArrowheads="1"/>
            </p:cNvSpPr>
            <p:nvPr/>
          </p:nvSpPr>
          <p:spPr bwMode="auto">
            <a:xfrm>
              <a:off x="7056" y="6370"/>
              <a:ext cx="1152" cy="57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 =(ΥΜ)</a:t>
              </a:r>
            </a:p>
            <a:p>
              <a:pPr eaLnBrk="0" fontAlgn="base" hangingPunct="0">
                <a:spcBef>
                  <a:spcPct val="0"/>
                </a:spcBef>
                <a:spcAft>
                  <a:spcPct val="0"/>
                </a:spcAft>
                <a:buClrTx/>
                <a:buSzTx/>
                <a:buFontTx/>
                <a:buNone/>
              </a:pPr>
              <a:endParaRPr lang="el-GR" altLang="el-GR" sz="1800" b="1">
                <a:solidFill>
                  <a:srgbClr val="000000"/>
                </a:solidFill>
                <a:latin typeface="Times New Roman" panose="02020603050405020304" pitchFamily="18" charset="0"/>
              </a:endParaRPr>
            </a:p>
          </p:txBody>
        </p:sp>
        <p:sp>
          <p:nvSpPr>
            <p:cNvPr id="16" name="Rectangle 11">
              <a:extLst>
                <a:ext uri="{FF2B5EF4-FFF2-40B4-BE49-F238E27FC236}">
                  <a16:creationId xmlns:a16="http://schemas.microsoft.com/office/drawing/2014/main" id="{1880758E-C3BB-6813-C2E7-1227E1DBCC1F}"/>
                </a:ext>
              </a:extLst>
            </p:cNvPr>
            <p:cNvSpPr>
              <a:spLocks noChangeArrowheads="1"/>
            </p:cNvSpPr>
            <p:nvPr/>
          </p:nvSpPr>
          <p:spPr bwMode="auto">
            <a:xfrm>
              <a:off x="8496" y="6370"/>
              <a:ext cx="1296" cy="576"/>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     +ΚΛ</a:t>
              </a:r>
            </a:p>
            <a:p>
              <a:pPr eaLnBrk="0" fontAlgn="base" hangingPunct="0">
                <a:spcBef>
                  <a:spcPct val="0"/>
                </a:spcBef>
                <a:spcAft>
                  <a:spcPct val="0"/>
                </a:spcAft>
                <a:buClrTx/>
                <a:buSzTx/>
                <a:buFontTx/>
                <a:buNone/>
              </a:pPr>
              <a:r>
                <a:rPr lang="el-GR" altLang="el-GR" sz="1800" b="1">
                  <a:solidFill>
                    <a:srgbClr val="000000"/>
                  </a:solidFill>
                  <a:latin typeface="Times New Roman" panose="02020603050405020304" pitchFamily="18" charset="0"/>
                </a:rPr>
                <a:t>    =(ΚΛΜ)</a:t>
              </a:r>
            </a:p>
            <a:p>
              <a:pPr eaLnBrk="0" fontAlgn="base" hangingPunct="0">
                <a:spcBef>
                  <a:spcPct val="0"/>
                </a:spcBef>
                <a:spcAft>
                  <a:spcPct val="0"/>
                </a:spcAft>
                <a:buClrTx/>
                <a:buSzTx/>
                <a:buFontTx/>
                <a:buNone/>
              </a:pPr>
              <a:endParaRPr lang="el-GR" altLang="el-GR" sz="1800" b="1">
                <a:solidFill>
                  <a:srgbClr val="000000"/>
                </a:solidFill>
                <a:latin typeface="Times New Roman" panose="02020603050405020304" pitchFamily="18" charset="0"/>
              </a:endParaRPr>
            </a:p>
          </p:txBody>
        </p:sp>
        <p:sp>
          <p:nvSpPr>
            <p:cNvPr id="17" name="Line 12">
              <a:extLst>
                <a:ext uri="{FF2B5EF4-FFF2-40B4-BE49-F238E27FC236}">
                  <a16:creationId xmlns:a16="http://schemas.microsoft.com/office/drawing/2014/main" id="{115FFAE5-0403-BD2E-C518-7A0AE065FEAF}"/>
                </a:ext>
              </a:extLst>
            </p:cNvPr>
            <p:cNvSpPr>
              <a:spLocks noChangeShapeType="1"/>
            </p:cNvSpPr>
            <p:nvPr/>
          </p:nvSpPr>
          <p:spPr bwMode="auto">
            <a:xfrm flipV="1">
              <a:off x="6192" y="5794"/>
              <a:ext cx="288"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18" name="Line 13">
              <a:extLst>
                <a:ext uri="{FF2B5EF4-FFF2-40B4-BE49-F238E27FC236}">
                  <a16:creationId xmlns:a16="http://schemas.microsoft.com/office/drawing/2014/main" id="{13BB53AA-4C7F-FEFB-F065-CC852761CAB2}"/>
                </a:ext>
              </a:extLst>
            </p:cNvPr>
            <p:cNvSpPr>
              <a:spLocks noChangeShapeType="1"/>
            </p:cNvSpPr>
            <p:nvPr/>
          </p:nvSpPr>
          <p:spPr bwMode="auto">
            <a:xfrm flipH="1" flipV="1">
              <a:off x="6768" y="5794"/>
              <a:ext cx="72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19" name="Line 14">
              <a:extLst>
                <a:ext uri="{FF2B5EF4-FFF2-40B4-BE49-F238E27FC236}">
                  <a16:creationId xmlns:a16="http://schemas.microsoft.com/office/drawing/2014/main" id="{7F345C7C-57F0-11E8-F558-B19E5C9A3471}"/>
                </a:ext>
              </a:extLst>
            </p:cNvPr>
            <p:cNvSpPr>
              <a:spLocks noChangeShapeType="1"/>
            </p:cNvSpPr>
            <p:nvPr/>
          </p:nvSpPr>
          <p:spPr bwMode="auto">
            <a:xfrm flipV="1">
              <a:off x="7776" y="5794"/>
              <a:ext cx="432"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20" name="Line 15">
              <a:extLst>
                <a:ext uri="{FF2B5EF4-FFF2-40B4-BE49-F238E27FC236}">
                  <a16:creationId xmlns:a16="http://schemas.microsoft.com/office/drawing/2014/main" id="{322E9B09-3254-6AF1-F681-21FBC167F3AC}"/>
                </a:ext>
              </a:extLst>
            </p:cNvPr>
            <p:cNvSpPr>
              <a:spLocks noChangeShapeType="1"/>
            </p:cNvSpPr>
            <p:nvPr/>
          </p:nvSpPr>
          <p:spPr bwMode="auto">
            <a:xfrm flipH="1" flipV="1">
              <a:off x="8496" y="5794"/>
              <a:ext cx="72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grpSp>
      <p:sp>
        <p:nvSpPr>
          <p:cNvPr id="21" name="Rectangle 16">
            <a:extLst>
              <a:ext uri="{FF2B5EF4-FFF2-40B4-BE49-F238E27FC236}">
                <a16:creationId xmlns:a16="http://schemas.microsoft.com/office/drawing/2014/main" id="{53B292D6-F970-4389-C4A9-B200E8F5F091}"/>
              </a:ext>
            </a:extLst>
          </p:cNvPr>
          <p:cNvSpPr txBox="1">
            <a:spLocks noChangeArrowheads="1"/>
          </p:cNvSpPr>
          <p:nvPr/>
        </p:nvSpPr>
        <p:spPr bwMode="auto">
          <a:xfrm>
            <a:off x="-1" y="3903232"/>
            <a:ext cx="11600329"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sz="2400" b="0" i="0" u="none" strike="noStrike" kern="0" cap="none" spc="0" normalizeH="0" baseline="0" noProof="0" dirty="0">
                <a:ln>
                  <a:noFill/>
                </a:ln>
                <a:solidFill>
                  <a:srgbClr val="000000"/>
                </a:solidFill>
                <a:effectLst/>
                <a:uLnTx/>
                <a:uFillTx/>
                <a:latin typeface="Tahoma"/>
                <a:ea typeface="+mn-ea"/>
                <a:cs typeface="+mn-cs"/>
              </a:rPr>
              <a:t>Πολλαπλή Κληρονομικότητα</a:t>
            </a:r>
            <a:r>
              <a:rPr kumimoji="0" lang="en-GB" sz="2400" b="0" i="0" u="none" strike="noStrike" kern="0" cap="none" spc="0" normalizeH="0" baseline="0" noProof="0" dirty="0">
                <a:ln>
                  <a:noFill/>
                </a:ln>
                <a:solidFill>
                  <a:srgbClr val="000000"/>
                </a:solidFill>
                <a:effectLst/>
                <a:uLnTx/>
                <a:uFillTx/>
                <a:latin typeface="Tahoma"/>
                <a:ea typeface="+mn-ea"/>
                <a:cs typeface="+mn-cs"/>
              </a:rPr>
              <a:t> </a:t>
            </a:r>
            <a:r>
              <a:rPr kumimoji="0" lang="el-GR" sz="2400" b="0" i="0" u="none" strike="noStrike" kern="0" cap="none" spc="0" normalizeH="0" baseline="0" noProof="0" dirty="0">
                <a:ln>
                  <a:noFill/>
                </a:ln>
                <a:solidFill>
                  <a:srgbClr val="000000"/>
                </a:solidFill>
                <a:effectLst/>
                <a:uLnTx/>
                <a:uFillTx/>
                <a:latin typeface="Tahoma"/>
                <a:ea typeface="+mn-ea"/>
                <a:cs typeface="+mn-cs"/>
              </a:rPr>
              <a:t>έχουμε όταν μια κλάση κληρονομεί χαρακτηριστικά περισσοτέρων από μία κλάσης. </a:t>
            </a:r>
            <a:endParaRPr kumimoji="0" lang="en-US"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ea typeface="+mn-ea"/>
                <a:cs typeface="+mn-cs"/>
              </a:rPr>
              <a:t>αποτελεί </a:t>
            </a:r>
            <a:r>
              <a:rPr kumimoji="0" lang="el-GR" altLang="el-GR" sz="2400" b="0" i="0" u="none" strike="noStrike" kern="0" cap="none" spc="0" normalizeH="0" baseline="0" noProof="0" dirty="0">
                <a:ln>
                  <a:noFill/>
                </a:ln>
                <a:solidFill>
                  <a:srgbClr val="FF0000"/>
                </a:solidFill>
                <a:effectLst/>
                <a:uLnTx/>
                <a:uFillTx/>
                <a:latin typeface="Tahoma"/>
                <a:ea typeface="+mn-ea"/>
                <a:cs typeface="+mn-cs"/>
              </a:rPr>
              <a:t>πηγή δημιουργίας</a:t>
            </a:r>
            <a:r>
              <a:rPr kumimoji="0" lang="el-GR" altLang="el-GR" sz="2400" b="0" i="0" u="none" strike="noStrike" kern="0" cap="none" spc="0" normalizeH="0" baseline="0" noProof="0" dirty="0">
                <a:ln>
                  <a:noFill/>
                </a:ln>
                <a:solidFill>
                  <a:srgbClr val="000000"/>
                </a:solidFill>
                <a:effectLst/>
                <a:uLnTx/>
                <a:uFillTx/>
                <a:latin typeface="Tahoma"/>
                <a:ea typeface="+mn-ea"/>
                <a:cs typeface="+mn-cs"/>
              </a:rPr>
              <a:t> πολλών </a:t>
            </a:r>
            <a:r>
              <a:rPr kumimoji="0" lang="el-GR" altLang="el-GR" sz="2400" b="0" i="0" u="none" strike="noStrike" kern="0" cap="none" spc="0" normalizeH="0" baseline="0" noProof="0" dirty="0">
                <a:ln>
                  <a:noFill/>
                </a:ln>
                <a:solidFill>
                  <a:srgbClr val="FF0000"/>
                </a:solidFill>
                <a:effectLst/>
                <a:uLnTx/>
                <a:uFillTx/>
                <a:latin typeface="Tahoma"/>
                <a:ea typeface="+mn-ea"/>
                <a:cs typeface="+mn-cs"/>
              </a:rPr>
              <a:t>προβλημάτων</a:t>
            </a:r>
            <a:r>
              <a:rPr kumimoji="0" lang="el-GR" altLang="el-GR" sz="24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ea typeface="+mn-ea"/>
                <a:cs typeface="+mn-cs"/>
              </a:rPr>
              <a:t>η χρήση της πρέπει να γίνεται με μεγάλη προσοχή και μόνο από πεπειραμένους</a:t>
            </a:r>
            <a:r>
              <a:rPr kumimoji="0" lang="el-GR" altLang="el-GR" sz="2800" b="0" i="0" u="none" strike="noStrike" kern="0" cap="none" spc="0" normalizeH="0" baseline="0" noProof="0" dirty="0">
                <a:ln>
                  <a:noFill/>
                </a:ln>
                <a:solidFill>
                  <a:srgbClr val="000000"/>
                </a:solidFill>
                <a:effectLst/>
                <a:uLnTx/>
                <a:uFillTx/>
                <a:latin typeface="Tahoma"/>
                <a:ea typeface="+mn-ea"/>
                <a:cs typeface="+mn-cs"/>
              </a:rPr>
              <a:t> </a:t>
            </a:r>
            <a:r>
              <a:rPr kumimoji="0" lang="el-GR" altLang="el-GR" sz="2400" b="0" i="0" u="none" strike="noStrike" kern="0" cap="none" spc="0" normalizeH="0" baseline="0" noProof="0" dirty="0">
                <a:ln>
                  <a:noFill/>
                </a:ln>
                <a:solidFill>
                  <a:srgbClr val="000000"/>
                </a:solidFill>
                <a:effectLst/>
                <a:uLnTx/>
                <a:uFillTx/>
                <a:latin typeface="Tahoma"/>
                <a:ea typeface="+mn-ea"/>
                <a:cs typeface="+mn-cs"/>
              </a:rPr>
              <a:t>προγραμματιστές</a:t>
            </a:r>
            <a:endParaRPr kumimoji="0" lang="en-US" altLang="el-GR" sz="24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220547787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Multiple inheritance … </a:t>
            </a:r>
            <a:r>
              <a:rPr lang="el-GR" sz="4000" b="1" dirty="0">
                <a:solidFill>
                  <a:srgbClr val="F9853D"/>
                </a:solidFill>
                <a:latin typeface="Bahnschrift" panose="020B0502040204020203" pitchFamily="34" charset="0"/>
              </a:rPr>
              <a:t>το πρόβλημα</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TextBox 4">
            <a:extLst>
              <a:ext uri="{FF2B5EF4-FFF2-40B4-BE49-F238E27FC236}">
                <a16:creationId xmlns:a16="http://schemas.microsoft.com/office/drawing/2014/main" id="{51194093-2C54-E576-C211-57226DBC837E}"/>
              </a:ext>
            </a:extLst>
          </p:cNvPr>
          <p:cNvSpPr txBox="1"/>
          <p:nvPr/>
        </p:nvSpPr>
        <p:spPr>
          <a:xfrm>
            <a:off x="134471" y="1042226"/>
            <a:ext cx="8604101" cy="2062103"/>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sz="3200" b="0" i="0" u="none" strike="noStrike" kern="0" cap="none" spc="0" normalizeH="0" baseline="0" noProof="0" dirty="0">
                <a:ln>
                  <a:noFill/>
                </a:ln>
                <a:solidFill>
                  <a:srgbClr val="000000"/>
                </a:solidFill>
                <a:effectLst/>
                <a:uLnTx/>
                <a:uFillTx/>
                <a:latin typeface="Tahoma"/>
                <a:ea typeface="+mn-ea"/>
                <a:cs typeface="+mn-cs"/>
              </a:rPr>
              <a:t>Το πρόβλημα δημιουργείται όταν υπάρχουν μέθοδοι με την ίδια υπογραφή και σε δύο από της </a:t>
            </a:r>
            <a:r>
              <a:rPr kumimoji="0" lang="el-GR" sz="3200" b="0" i="0" u="none" strike="noStrike" kern="0" cap="none" spc="0" normalizeH="0" baseline="0" noProof="0" dirty="0" err="1">
                <a:ln>
                  <a:noFill/>
                </a:ln>
                <a:solidFill>
                  <a:srgbClr val="000000"/>
                </a:solidFill>
                <a:effectLst/>
                <a:uLnTx/>
                <a:uFillTx/>
                <a:latin typeface="Tahoma"/>
                <a:ea typeface="+mn-ea"/>
                <a:cs typeface="+mn-cs"/>
              </a:rPr>
              <a:t>υπερκλάσεις</a:t>
            </a:r>
            <a:r>
              <a:rPr kumimoji="0" lang="el-GR" sz="3200" b="0" i="0" u="none" strike="noStrike" kern="0" cap="none" spc="0" normalizeH="0" baseline="0" noProof="0" dirty="0">
                <a:ln>
                  <a:noFill/>
                </a:ln>
                <a:solidFill>
                  <a:srgbClr val="000000"/>
                </a:solidFill>
                <a:effectLst/>
                <a:uLnTx/>
                <a:uFillTx/>
                <a:latin typeface="Tahoma"/>
                <a:ea typeface="+mn-ea"/>
                <a:cs typeface="+mn-cs"/>
              </a:rPr>
              <a:t> μια </a:t>
            </a:r>
            <a:r>
              <a:rPr kumimoji="0" lang="el-GR" sz="3200" b="0" i="0" u="none" strike="noStrike" kern="0" cap="none" spc="0" normalizeH="0" baseline="0" noProof="0" dirty="0" err="1">
                <a:ln>
                  <a:noFill/>
                </a:ln>
                <a:solidFill>
                  <a:srgbClr val="000000"/>
                </a:solidFill>
                <a:effectLst/>
                <a:uLnTx/>
                <a:uFillTx/>
                <a:latin typeface="Tahoma"/>
                <a:ea typeface="+mn-ea"/>
                <a:cs typeface="+mn-cs"/>
              </a:rPr>
              <a:t>υποκλάσης</a:t>
            </a:r>
            <a:r>
              <a:rPr kumimoji="0" lang="el-GR" sz="3200" b="0" i="0" u="none" strike="noStrike" kern="0" cap="none" spc="0" normalizeH="0" baseline="0" noProof="0" dirty="0">
                <a:ln>
                  <a:noFill/>
                </a:ln>
                <a:solidFill>
                  <a:srgbClr val="000000"/>
                </a:solidFill>
                <a:effectLst/>
                <a:uLnTx/>
                <a:uFillTx/>
                <a:latin typeface="Tahoma"/>
                <a:ea typeface="+mn-ea"/>
                <a:cs typeface="+mn-cs"/>
              </a:rPr>
              <a:t> και στην </a:t>
            </a:r>
            <a:r>
              <a:rPr kumimoji="0" lang="el-GR" sz="3200" b="0" i="0" u="none" strike="noStrike" kern="0" cap="none" spc="0" normalizeH="0" baseline="0" noProof="0" dirty="0" err="1">
                <a:ln>
                  <a:noFill/>
                </a:ln>
                <a:solidFill>
                  <a:srgbClr val="000000"/>
                </a:solidFill>
                <a:effectLst/>
                <a:uLnTx/>
                <a:uFillTx/>
                <a:latin typeface="Tahoma"/>
                <a:ea typeface="+mn-ea"/>
                <a:cs typeface="+mn-cs"/>
              </a:rPr>
              <a:t>υποκλάση</a:t>
            </a:r>
            <a:r>
              <a:rPr kumimoji="0" lang="el-GR" sz="3200" b="0" i="0" u="none" strike="noStrike" kern="0" cap="none" spc="0" normalizeH="0" baseline="0" noProof="0" dirty="0">
                <a:ln>
                  <a:noFill/>
                </a:ln>
                <a:solidFill>
                  <a:srgbClr val="000000"/>
                </a:solidFill>
                <a:effectLst/>
                <a:uLnTx/>
                <a:uFillTx/>
                <a:latin typeface="Tahoma"/>
                <a:ea typeface="+mn-ea"/>
                <a:cs typeface="+mn-cs"/>
              </a:rPr>
              <a:t>.</a:t>
            </a:r>
          </a:p>
        </p:txBody>
      </p:sp>
      <p:pic>
        <p:nvPicPr>
          <p:cNvPr id="6" name="Picture 5">
            <a:extLst>
              <a:ext uri="{FF2B5EF4-FFF2-40B4-BE49-F238E27FC236}">
                <a16:creationId xmlns:a16="http://schemas.microsoft.com/office/drawing/2014/main" id="{E94246ED-9C21-D264-43C3-7C42D6613D7C}"/>
              </a:ext>
            </a:extLst>
          </p:cNvPr>
          <p:cNvPicPr>
            <a:picLocks noChangeAspect="1"/>
          </p:cNvPicPr>
          <p:nvPr/>
        </p:nvPicPr>
        <p:blipFill>
          <a:blip r:embed="rId3"/>
          <a:stretch>
            <a:fillRect/>
          </a:stretch>
        </p:blipFill>
        <p:spPr>
          <a:xfrm>
            <a:off x="8873043" y="21092"/>
            <a:ext cx="3318956" cy="3098915"/>
          </a:xfrm>
          <a:prstGeom prst="rect">
            <a:avLst/>
          </a:prstGeom>
        </p:spPr>
      </p:pic>
      <p:sp>
        <p:nvSpPr>
          <p:cNvPr id="7" name="TextBox 6">
            <a:extLst>
              <a:ext uri="{FF2B5EF4-FFF2-40B4-BE49-F238E27FC236}">
                <a16:creationId xmlns:a16="http://schemas.microsoft.com/office/drawing/2014/main" id="{37D7C6DA-6CDB-477F-1698-4C64EB96FA9D}"/>
              </a:ext>
            </a:extLst>
          </p:cNvPr>
          <p:cNvSpPr txBox="1"/>
          <p:nvPr/>
        </p:nvSpPr>
        <p:spPr>
          <a:xfrm>
            <a:off x="79674" y="3442902"/>
            <a:ext cx="11761694" cy="2936188"/>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On calling the method, the compiler cannot determine which class method to be called and even on calling which class method gets the priority.</a:t>
            </a: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sz="32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sz="2400" b="0" i="0" u="none" strike="noStrike" kern="0" cap="none" spc="0" normalizeH="0" baseline="0" noProof="0" dirty="0">
                <a:ln>
                  <a:noFill/>
                </a:ln>
                <a:solidFill>
                  <a:srgbClr val="000000"/>
                </a:solidFill>
                <a:effectLst/>
                <a:uLnTx/>
                <a:uFillTx/>
                <a:latin typeface="Tahoma"/>
                <a:ea typeface="+mn-ea"/>
                <a:cs typeface="+mn-cs"/>
              </a:rPr>
              <a:t>Why Java doesn’t support Multiple Inheritance?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1600" b="0" i="0" u="none" strike="noStrike" kern="0" cap="none" spc="0" normalizeH="0" baseline="0" noProof="0" dirty="0">
                <a:ln>
                  <a:noFill/>
                </a:ln>
                <a:solidFill>
                  <a:srgbClr val="000000"/>
                </a:solidFill>
                <a:effectLst/>
                <a:uLnTx/>
                <a:uFillTx/>
                <a:latin typeface="Tahoma"/>
              </a:rPr>
              <a:t>See </a:t>
            </a:r>
            <a:r>
              <a:rPr kumimoji="0" lang="en-US" altLang="el-GR" sz="1600" b="0" i="0" u="none" strike="noStrike" kern="0" cap="none" spc="0" normalizeH="0" baseline="0" noProof="0" dirty="0">
                <a:ln>
                  <a:noFill/>
                </a:ln>
                <a:solidFill>
                  <a:srgbClr val="000000"/>
                </a:solidFill>
                <a:effectLst/>
                <a:uLnTx/>
                <a:uFillTx/>
                <a:latin typeface="Tahoma"/>
                <a:hlinkClick r:id="rId4"/>
              </a:rPr>
              <a:t>https://www.geeksforgeeks.org/java-and-multiple-inheritance/</a:t>
            </a:r>
            <a:endParaRPr kumimoji="0" lang="en-US" altLang="el-GR" sz="1600" b="0" i="0" u="none" strike="noStrike" kern="0" cap="none" spc="0" normalizeH="0" baseline="0" noProof="0" dirty="0">
              <a:ln>
                <a:noFill/>
              </a:ln>
              <a:solidFill>
                <a:srgbClr val="000000"/>
              </a:solidFill>
              <a:effectLst/>
              <a:uLnTx/>
              <a:uFillTx/>
              <a:latin typeface="Tahoma"/>
            </a:endParaRPr>
          </a:p>
        </p:txBody>
      </p:sp>
    </p:spTree>
    <p:extLst>
      <p:ext uri="{BB962C8B-B14F-4D97-AF65-F5344CB8AC3E}">
        <p14:creationId xmlns:p14="http://schemas.microsoft.com/office/powerpoint/2010/main" val="14366704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The Diamond Problem</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pic>
        <p:nvPicPr>
          <p:cNvPr id="5" name="Picture 4">
            <a:extLst>
              <a:ext uri="{FF2B5EF4-FFF2-40B4-BE49-F238E27FC236}">
                <a16:creationId xmlns:a16="http://schemas.microsoft.com/office/drawing/2014/main" id="{9A30702F-C243-EC24-6563-D318F88272D4}"/>
              </a:ext>
            </a:extLst>
          </p:cNvPr>
          <p:cNvPicPr>
            <a:picLocks noChangeAspect="1"/>
          </p:cNvPicPr>
          <p:nvPr/>
        </p:nvPicPr>
        <p:blipFill>
          <a:blip r:embed="rId3"/>
          <a:stretch>
            <a:fillRect/>
          </a:stretch>
        </p:blipFill>
        <p:spPr>
          <a:xfrm>
            <a:off x="8839200" y="97467"/>
            <a:ext cx="3318956" cy="3098915"/>
          </a:xfrm>
          <a:prstGeom prst="rect">
            <a:avLst/>
          </a:prstGeom>
        </p:spPr>
      </p:pic>
      <p:pic>
        <p:nvPicPr>
          <p:cNvPr id="6" name="Picture 5">
            <a:extLst>
              <a:ext uri="{FF2B5EF4-FFF2-40B4-BE49-F238E27FC236}">
                <a16:creationId xmlns:a16="http://schemas.microsoft.com/office/drawing/2014/main" id="{CF7F445A-BC2F-827D-468F-E572013430B0}"/>
              </a:ext>
            </a:extLst>
          </p:cNvPr>
          <p:cNvPicPr>
            <a:picLocks noChangeAspect="1"/>
          </p:cNvPicPr>
          <p:nvPr/>
        </p:nvPicPr>
        <p:blipFill>
          <a:blip r:embed="rId4"/>
          <a:stretch>
            <a:fillRect/>
          </a:stretch>
        </p:blipFill>
        <p:spPr>
          <a:xfrm>
            <a:off x="41680" y="719331"/>
            <a:ext cx="4763402" cy="5502760"/>
          </a:xfrm>
          <a:prstGeom prst="rect">
            <a:avLst/>
          </a:prstGeom>
        </p:spPr>
      </p:pic>
      <p:pic>
        <p:nvPicPr>
          <p:cNvPr id="7" name="Picture 6">
            <a:extLst>
              <a:ext uri="{FF2B5EF4-FFF2-40B4-BE49-F238E27FC236}">
                <a16:creationId xmlns:a16="http://schemas.microsoft.com/office/drawing/2014/main" id="{AAEBC7E1-F443-25D5-4C51-25FFB9D52434}"/>
              </a:ext>
            </a:extLst>
          </p:cNvPr>
          <p:cNvPicPr>
            <a:picLocks noChangeAspect="1"/>
          </p:cNvPicPr>
          <p:nvPr/>
        </p:nvPicPr>
        <p:blipFill>
          <a:blip r:embed="rId5"/>
          <a:stretch>
            <a:fillRect/>
          </a:stretch>
        </p:blipFill>
        <p:spPr>
          <a:xfrm>
            <a:off x="5102802" y="3429000"/>
            <a:ext cx="6630523" cy="2763911"/>
          </a:xfrm>
          <a:prstGeom prst="rect">
            <a:avLst/>
          </a:prstGeom>
        </p:spPr>
      </p:pic>
      <p:sp>
        <p:nvSpPr>
          <p:cNvPr id="9" name="TextBox 8">
            <a:extLst>
              <a:ext uri="{FF2B5EF4-FFF2-40B4-BE49-F238E27FC236}">
                <a16:creationId xmlns:a16="http://schemas.microsoft.com/office/drawing/2014/main" id="{9170CD0E-B4A1-4AC3-D95C-31F0EEB39E40}"/>
              </a:ext>
            </a:extLst>
          </p:cNvPr>
          <p:cNvSpPr txBox="1"/>
          <p:nvPr/>
        </p:nvSpPr>
        <p:spPr>
          <a:xfrm>
            <a:off x="5205878" y="6217285"/>
            <a:ext cx="6424370" cy="523220"/>
          </a:xfrm>
          <a:prstGeom prst="rect">
            <a:avLst/>
          </a:prstGeom>
          <a:noFill/>
        </p:spPr>
        <p:txBody>
          <a:bodyPr wrap="square" rtlCol="0">
            <a:spAutoFit/>
          </a:bodyPr>
          <a:lstStyle/>
          <a:p>
            <a:pPr eaLnBrk="0" fontAlgn="base" hangingPunct="0">
              <a:spcBef>
                <a:spcPct val="0"/>
              </a:spcBef>
              <a:spcAft>
                <a:spcPct val="0"/>
              </a:spcAft>
            </a:pPr>
            <a:r>
              <a:rPr lang="en-US" sz="1400" dirty="0">
                <a:solidFill>
                  <a:srgbClr val="000000"/>
                </a:solidFill>
                <a:latin typeface="Tahoma" panose="020B0604030504040204" pitchFamily="34" charset="0"/>
              </a:rPr>
              <a:t>Source: </a:t>
            </a:r>
            <a:r>
              <a:rPr lang="en-US" sz="1400" dirty="0">
                <a:solidFill>
                  <a:srgbClr val="000000"/>
                </a:solidFill>
                <a:latin typeface="Tahoma" panose="020B0604030504040204" pitchFamily="34" charset="0"/>
                <a:hlinkClick r:id="rId6"/>
              </a:rPr>
              <a:t>https://www.geeksforgeeks.org/java-and-multiple-inheritance/</a:t>
            </a:r>
            <a:endParaRPr lang="en-US" sz="1400" dirty="0">
              <a:solidFill>
                <a:srgbClr val="000000"/>
              </a:solidFill>
              <a:latin typeface="Tahoma" panose="020B0604030504040204" pitchFamily="34" charset="0"/>
            </a:endParaRPr>
          </a:p>
          <a:p>
            <a:pPr eaLnBrk="0" fontAlgn="base" hangingPunct="0">
              <a:spcBef>
                <a:spcPct val="0"/>
              </a:spcBef>
              <a:spcAft>
                <a:spcPct val="0"/>
              </a:spcAft>
            </a:pPr>
            <a:endParaRPr lang="el-GR" sz="1400" dirty="0">
              <a:solidFill>
                <a:srgbClr val="000000"/>
              </a:solidFill>
              <a:latin typeface="Tahoma" panose="020B0604030504040204" pitchFamily="34" charset="0"/>
            </a:endParaRPr>
          </a:p>
        </p:txBody>
      </p:sp>
    </p:spTree>
    <p:extLst>
      <p:ext uri="{BB962C8B-B14F-4D97-AF65-F5344CB8AC3E}">
        <p14:creationId xmlns:p14="http://schemas.microsoft.com/office/powerpoint/2010/main" val="37401591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Πολλαπλή Κληρονομικότητα στην </a:t>
            </a:r>
            <a:r>
              <a:rPr lang="el-GR" sz="4000" b="1" dirty="0" err="1">
                <a:solidFill>
                  <a:srgbClr val="F9853D"/>
                </a:solidFill>
                <a:latin typeface="Bahnschrift" panose="020B0502040204020203" pitchFamily="34" charset="0"/>
              </a:rPr>
              <a:t>Java</a:t>
            </a:r>
            <a:r>
              <a:rPr lang="el-GR" sz="4000" b="1" dirty="0">
                <a:solidFill>
                  <a:srgbClr val="F9853D"/>
                </a:solidFill>
                <a:latin typeface="Bahnschrift" panose="020B0502040204020203" pitchFamily="34" charset="0"/>
              </a:rPr>
              <a:t> - </a:t>
            </a:r>
            <a:r>
              <a:rPr lang="el-GR" sz="4000" b="1" dirty="0" err="1">
                <a:solidFill>
                  <a:srgbClr val="F9853D"/>
                </a:solidFill>
                <a:latin typeface="Bahnschrift" panose="020B0502040204020203" pitchFamily="34" charset="0"/>
              </a:rPr>
              <a:t>Interfaces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305540" y="6634001"/>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grpSp>
        <p:nvGrpSpPr>
          <p:cNvPr id="5" name="Group 3">
            <a:extLst>
              <a:ext uri="{FF2B5EF4-FFF2-40B4-BE49-F238E27FC236}">
                <a16:creationId xmlns:a16="http://schemas.microsoft.com/office/drawing/2014/main" id="{EC831946-BF51-6D94-8CDA-23E153021913}"/>
              </a:ext>
            </a:extLst>
          </p:cNvPr>
          <p:cNvGrpSpPr>
            <a:grpSpLocks/>
          </p:cNvGrpSpPr>
          <p:nvPr/>
        </p:nvGrpSpPr>
        <p:grpSpPr bwMode="auto">
          <a:xfrm>
            <a:off x="1247810" y="1908525"/>
            <a:ext cx="5791200" cy="2667000"/>
            <a:chOff x="3024" y="5184"/>
            <a:chExt cx="5328" cy="2304"/>
          </a:xfrm>
        </p:grpSpPr>
        <p:sp>
          <p:nvSpPr>
            <p:cNvPr id="6" name="Rectangle 4">
              <a:extLst>
                <a:ext uri="{FF2B5EF4-FFF2-40B4-BE49-F238E27FC236}">
                  <a16:creationId xmlns:a16="http://schemas.microsoft.com/office/drawing/2014/main" id="{B08AA7DE-18F1-1FDB-F312-10905C4D01EE}"/>
                </a:ext>
              </a:extLst>
            </p:cNvPr>
            <p:cNvSpPr>
              <a:spLocks noChangeArrowheads="1"/>
            </p:cNvSpPr>
            <p:nvPr/>
          </p:nvSpPr>
          <p:spPr bwMode="auto">
            <a:xfrm>
              <a:off x="5760" y="5184"/>
              <a:ext cx="1008" cy="432"/>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l-GR" sz="2000" b="1" i="0" u="none" strike="noStrike" kern="0" cap="none" spc="0" normalizeH="0" baseline="0" noProof="0">
                  <a:ln>
                    <a:noFill/>
                  </a:ln>
                  <a:solidFill>
                    <a:srgbClr val="000000"/>
                  </a:solidFill>
                  <a:effectLst/>
                  <a:uLnTx/>
                  <a:uFillTx/>
                  <a:latin typeface="Times New Roman" panose="02020603050405020304" pitchFamily="18" charset="0"/>
                </a:rPr>
                <a:t>object</a:t>
              </a:r>
            </a:p>
          </p:txBody>
        </p:sp>
        <p:sp>
          <p:nvSpPr>
            <p:cNvPr id="7" name="Rectangle 5">
              <a:extLst>
                <a:ext uri="{FF2B5EF4-FFF2-40B4-BE49-F238E27FC236}">
                  <a16:creationId xmlns:a16="http://schemas.microsoft.com/office/drawing/2014/main" id="{752763B4-B218-3CE9-666D-46EFA8F516DE}"/>
                </a:ext>
              </a:extLst>
            </p:cNvPr>
            <p:cNvSpPr>
              <a:spLocks noChangeArrowheads="1"/>
            </p:cNvSpPr>
            <p:nvPr/>
          </p:nvSpPr>
          <p:spPr bwMode="auto">
            <a:xfrm>
              <a:off x="6624" y="7056"/>
              <a:ext cx="1008" cy="432"/>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6">
              <a:extLst>
                <a:ext uri="{FF2B5EF4-FFF2-40B4-BE49-F238E27FC236}">
                  <a16:creationId xmlns:a16="http://schemas.microsoft.com/office/drawing/2014/main" id="{9578E8DB-41AE-BB71-1876-B89ED1BA93F7}"/>
                </a:ext>
              </a:extLst>
            </p:cNvPr>
            <p:cNvSpPr>
              <a:spLocks noChangeArrowheads="1"/>
            </p:cNvSpPr>
            <p:nvPr/>
          </p:nvSpPr>
          <p:spPr bwMode="auto">
            <a:xfrm>
              <a:off x="5040" y="7056"/>
              <a:ext cx="1008" cy="432"/>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7">
              <a:extLst>
                <a:ext uri="{FF2B5EF4-FFF2-40B4-BE49-F238E27FC236}">
                  <a16:creationId xmlns:a16="http://schemas.microsoft.com/office/drawing/2014/main" id="{E66AEA52-9D4D-6413-E9A9-B4E47D000051}"/>
                </a:ext>
              </a:extLst>
            </p:cNvPr>
            <p:cNvSpPr>
              <a:spLocks noChangeArrowheads="1"/>
            </p:cNvSpPr>
            <p:nvPr/>
          </p:nvSpPr>
          <p:spPr bwMode="auto">
            <a:xfrm>
              <a:off x="4608" y="6048"/>
              <a:ext cx="1008" cy="432"/>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8">
              <a:extLst>
                <a:ext uri="{FF2B5EF4-FFF2-40B4-BE49-F238E27FC236}">
                  <a16:creationId xmlns:a16="http://schemas.microsoft.com/office/drawing/2014/main" id="{60B27EFA-5CB7-E09A-9073-EF94B708F496}"/>
                </a:ext>
              </a:extLst>
            </p:cNvPr>
            <p:cNvSpPr>
              <a:spLocks noChangeArrowheads="1"/>
            </p:cNvSpPr>
            <p:nvPr/>
          </p:nvSpPr>
          <p:spPr bwMode="auto">
            <a:xfrm>
              <a:off x="3456" y="7056"/>
              <a:ext cx="1008" cy="432"/>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9">
              <a:extLst>
                <a:ext uri="{FF2B5EF4-FFF2-40B4-BE49-F238E27FC236}">
                  <a16:creationId xmlns:a16="http://schemas.microsoft.com/office/drawing/2014/main" id="{6AF4ABA7-61F8-2DE7-A125-4C30D206C966}"/>
                </a:ext>
              </a:extLst>
            </p:cNvPr>
            <p:cNvSpPr>
              <a:spLocks noChangeArrowheads="1"/>
            </p:cNvSpPr>
            <p:nvPr/>
          </p:nvSpPr>
          <p:spPr bwMode="auto">
            <a:xfrm>
              <a:off x="7056" y="6192"/>
              <a:ext cx="1008" cy="432"/>
            </a:xfrm>
            <a:prstGeom prst="rect">
              <a:avLst/>
            </a:prstGeom>
            <a:solidFill>
              <a:srgbClr val="FFFFFF"/>
            </a:solidFill>
            <a:ln w="2857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Rectangle 10">
              <a:extLst>
                <a:ext uri="{FF2B5EF4-FFF2-40B4-BE49-F238E27FC236}">
                  <a16:creationId xmlns:a16="http://schemas.microsoft.com/office/drawing/2014/main" id="{490732E6-B66C-4322-BF2C-17262B63965C}"/>
                </a:ext>
              </a:extLst>
            </p:cNvPr>
            <p:cNvSpPr>
              <a:spLocks noChangeArrowheads="1"/>
            </p:cNvSpPr>
            <p:nvPr/>
          </p:nvSpPr>
          <p:spPr bwMode="auto">
            <a:xfrm>
              <a:off x="7344" y="5328"/>
              <a:ext cx="1008" cy="432"/>
            </a:xfrm>
            <a:prstGeom prst="rect">
              <a:avLst/>
            </a:prstGeom>
            <a:solidFill>
              <a:srgbClr val="FFFFFF"/>
            </a:solidFill>
            <a:ln w="28575">
              <a:solidFill>
                <a:srgbClr val="000000"/>
              </a:solidFill>
              <a:prstDash val="dashDot"/>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Rectangle 11">
              <a:extLst>
                <a:ext uri="{FF2B5EF4-FFF2-40B4-BE49-F238E27FC236}">
                  <a16:creationId xmlns:a16="http://schemas.microsoft.com/office/drawing/2014/main" id="{DF51FE6D-5EA2-1F47-1D4A-6A54099C679B}"/>
                </a:ext>
              </a:extLst>
            </p:cNvPr>
            <p:cNvSpPr>
              <a:spLocks noChangeArrowheads="1"/>
            </p:cNvSpPr>
            <p:nvPr/>
          </p:nvSpPr>
          <p:spPr bwMode="auto">
            <a:xfrm>
              <a:off x="3024" y="5904"/>
              <a:ext cx="1008" cy="432"/>
            </a:xfrm>
            <a:prstGeom prst="rect">
              <a:avLst/>
            </a:prstGeom>
            <a:solidFill>
              <a:srgbClr val="FFFFFF"/>
            </a:solidFill>
            <a:ln w="28575">
              <a:solidFill>
                <a:srgbClr val="000000"/>
              </a:solidFill>
              <a:prstDash val="dashDot"/>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Line 12">
              <a:extLst>
                <a:ext uri="{FF2B5EF4-FFF2-40B4-BE49-F238E27FC236}">
                  <a16:creationId xmlns:a16="http://schemas.microsoft.com/office/drawing/2014/main" id="{481CEE88-CD35-7E30-7671-9A45FC38ED57}"/>
                </a:ext>
              </a:extLst>
            </p:cNvPr>
            <p:cNvSpPr>
              <a:spLocks noChangeShapeType="1"/>
            </p:cNvSpPr>
            <p:nvPr/>
          </p:nvSpPr>
          <p:spPr bwMode="auto">
            <a:xfrm flipH="1">
              <a:off x="5040" y="5616"/>
              <a:ext cx="1296" cy="4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Line 13">
              <a:extLst>
                <a:ext uri="{FF2B5EF4-FFF2-40B4-BE49-F238E27FC236}">
                  <a16:creationId xmlns:a16="http://schemas.microsoft.com/office/drawing/2014/main" id="{F982D392-5FFF-F422-E1B0-7616A008576E}"/>
                </a:ext>
              </a:extLst>
            </p:cNvPr>
            <p:cNvSpPr>
              <a:spLocks noChangeShapeType="1"/>
            </p:cNvSpPr>
            <p:nvPr/>
          </p:nvSpPr>
          <p:spPr bwMode="auto">
            <a:xfrm>
              <a:off x="6336" y="5616"/>
              <a:ext cx="1152" cy="5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Line 14">
              <a:extLst>
                <a:ext uri="{FF2B5EF4-FFF2-40B4-BE49-F238E27FC236}">
                  <a16:creationId xmlns:a16="http://schemas.microsoft.com/office/drawing/2014/main" id="{8B7599BD-5751-9CE5-F025-1F4FDD945B89}"/>
                </a:ext>
              </a:extLst>
            </p:cNvPr>
            <p:cNvSpPr>
              <a:spLocks noChangeShapeType="1"/>
            </p:cNvSpPr>
            <p:nvPr/>
          </p:nvSpPr>
          <p:spPr bwMode="auto">
            <a:xfrm>
              <a:off x="5040" y="6480"/>
              <a:ext cx="576" cy="5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Line 15">
              <a:extLst>
                <a:ext uri="{FF2B5EF4-FFF2-40B4-BE49-F238E27FC236}">
                  <a16:creationId xmlns:a16="http://schemas.microsoft.com/office/drawing/2014/main" id="{045320C4-93E2-AF3D-631E-4A66F85093F9}"/>
                </a:ext>
              </a:extLst>
            </p:cNvPr>
            <p:cNvSpPr>
              <a:spLocks noChangeShapeType="1"/>
            </p:cNvSpPr>
            <p:nvPr/>
          </p:nvSpPr>
          <p:spPr bwMode="auto">
            <a:xfrm flipH="1">
              <a:off x="3888" y="6480"/>
              <a:ext cx="1152" cy="5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Line 16">
              <a:extLst>
                <a:ext uri="{FF2B5EF4-FFF2-40B4-BE49-F238E27FC236}">
                  <a16:creationId xmlns:a16="http://schemas.microsoft.com/office/drawing/2014/main" id="{298ACE7B-F624-05B0-5CC2-1C72B6801D64}"/>
                </a:ext>
              </a:extLst>
            </p:cNvPr>
            <p:cNvSpPr>
              <a:spLocks noChangeShapeType="1"/>
            </p:cNvSpPr>
            <p:nvPr/>
          </p:nvSpPr>
          <p:spPr bwMode="auto">
            <a:xfrm flipH="1">
              <a:off x="7056" y="6624"/>
              <a:ext cx="432" cy="4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Line 17">
              <a:extLst>
                <a:ext uri="{FF2B5EF4-FFF2-40B4-BE49-F238E27FC236}">
                  <a16:creationId xmlns:a16="http://schemas.microsoft.com/office/drawing/2014/main" id="{806A5F08-46F2-C9AA-16D9-ED205A98168E}"/>
                </a:ext>
              </a:extLst>
            </p:cNvPr>
            <p:cNvSpPr>
              <a:spLocks noChangeShapeType="1"/>
            </p:cNvSpPr>
            <p:nvPr/>
          </p:nvSpPr>
          <p:spPr bwMode="auto">
            <a:xfrm>
              <a:off x="3456" y="6336"/>
              <a:ext cx="432" cy="72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3" name="Line 18">
              <a:extLst>
                <a:ext uri="{FF2B5EF4-FFF2-40B4-BE49-F238E27FC236}">
                  <a16:creationId xmlns:a16="http://schemas.microsoft.com/office/drawing/2014/main" id="{7564CEE6-1643-93A0-906A-F5FEF972FD43}"/>
                </a:ext>
              </a:extLst>
            </p:cNvPr>
            <p:cNvSpPr>
              <a:spLocks noChangeShapeType="1"/>
            </p:cNvSpPr>
            <p:nvPr/>
          </p:nvSpPr>
          <p:spPr bwMode="auto">
            <a:xfrm>
              <a:off x="3456" y="6336"/>
              <a:ext cx="3600" cy="72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 name="Line 19">
              <a:extLst>
                <a:ext uri="{FF2B5EF4-FFF2-40B4-BE49-F238E27FC236}">
                  <a16:creationId xmlns:a16="http://schemas.microsoft.com/office/drawing/2014/main" id="{BBDB7493-328E-6F5D-CEDA-74C13F6CF9AA}"/>
                </a:ext>
              </a:extLst>
            </p:cNvPr>
            <p:cNvSpPr>
              <a:spLocks noChangeShapeType="1"/>
            </p:cNvSpPr>
            <p:nvPr/>
          </p:nvSpPr>
          <p:spPr bwMode="auto">
            <a:xfrm flipV="1">
              <a:off x="3888" y="5760"/>
              <a:ext cx="4032" cy="12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5" name="Line 20">
              <a:extLst>
                <a:ext uri="{FF2B5EF4-FFF2-40B4-BE49-F238E27FC236}">
                  <a16:creationId xmlns:a16="http://schemas.microsoft.com/office/drawing/2014/main" id="{9B0A21BA-2E1E-261C-326E-F22B62CBF1E6}"/>
                </a:ext>
              </a:extLst>
            </p:cNvPr>
            <p:cNvSpPr>
              <a:spLocks noChangeShapeType="1"/>
            </p:cNvSpPr>
            <p:nvPr/>
          </p:nvSpPr>
          <p:spPr bwMode="auto">
            <a:xfrm flipH="1">
              <a:off x="7488" y="5760"/>
              <a:ext cx="432" cy="432"/>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27" name="AutoShape 29">
            <a:extLst>
              <a:ext uri="{FF2B5EF4-FFF2-40B4-BE49-F238E27FC236}">
                <a16:creationId xmlns:a16="http://schemas.microsoft.com/office/drawing/2014/main" id="{0F6317E1-59F1-8F29-EB6C-A889755414EE}"/>
              </a:ext>
            </a:extLst>
          </p:cNvPr>
          <p:cNvSpPr>
            <a:spLocks noChangeArrowheads="1"/>
          </p:cNvSpPr>
          <p:nvPr/>
        </p:nvSpPr>
        <p:spPr bwMode="auto">
          <a:xfrm>
            <a:off x="7648610" y="1527525"/>
            <a:ext cx="1295400" cy="3810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interface</a:t>
            </a:r>
            <a:endParaRPr kumimoji="0" lang="en-GB" altLang="el-GR" sz="20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Line 30">
            <a:extLst>
              <a:ext uri="{FF2B5EF4-FFF2-40B4-BE49-F238E27FC236}">
                <a16:creationId xmlns:a16="http://schemas.microsoft.com/office/drawing/2014/main" id="{920DA1D3-41D5-8115-A08B-B267F99F7E0C}"/>
              </a:ext>
            </a:extLst>
          </p:cNvPr>
          <p:cNvSpPr>
            <a:spLocks noChangeShapeType="1"/>
          </p:cNvSpPr>
          <p:nvPr/>
        </p:nvSpPr>
        <p:spPr bwMode="auto">
          <a:xfrm flipV="1">
            <a:off x="7115210" y="1832325"/>
            <a:ext cx="533400" cy="457200"/>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 name="AutoShape 31">
            <a:extLst>
              <a:ext uri="{FF2B5EF4-FFF2-40B4-BE49-F238E27FC236}">
                <a16:creationId xmlns:a16="http://schemas.microsoft.com/office/drawing/2014/main" id="{1AF02F6E-AE84-F0F7-0D61-EBF33E36C79E}"/>
              </a:ext>
            </a:extLst>
          </p:cNvPr>
          <p:cNvSpPr>
            <a:spLocks noChangeArrowheads="1"/>
          </p:cNvSpPr>
          <p:nvPr/>
        </p:nvSpPr>
        <p:spPr bwMode="auto">
          <a:xfrm>
            <a:off x="7420010" y="4042125"/>
            <a:ext cx="1371600" cy="3810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class</a:t>
            </a:r>
            <a:endParaRPr kumimoji="0" lang="en-GB" altLang="el-GR" sz="20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 name="Line 32">
            <a:extLst>
              <a:ext uri="{FF2B5EF4-FFF2-40B4-BE49-F238E27FC236}">
                <a16:creationId xmlns:a16="http://schemas.microsoft.com/office/drawing/2014/main" id="{C6C11E4F-5300-8672-BC0E-189312D74A57}"/>
              </a:ext>
            </a:extLst>
          </p:cNvPr>
          <p:cNvSpPr>
            <a:spLocks noChangeShapeType="1"/>
          </p:cNvSpPr>
          <p:nvPr/>
        </p:nvSpPr>
        <p:spPr bwMode="auto">
          <a:xfrm flipV="1">
            <a:off x="6277010" y="4270725"/>
            <a:ext cx="1143000" cy="76200"/>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1" name="AutoShape 33">
            <a:extLst>
              <a:ext uri="{FF2B5EF4-FFF2-40B4-BE49-F238E27FC236}">
                <a16:creationId xmlns:a16="http://schemas.microsoft.com/office/drawing/2014/main" id="{85073143-A454-9F53-669C-6C5DDE2A0B9E}"/>
              </a:ext>
            </a:extLst>
          </p:cNvPr>
          <p:cNvSpPr>
            <a:spLocks noChangeArrowheads="1"/>
          </p:cNvSpPr>
          <p:nvPr/>
        </p:nvSpPr>
        <p:spPr bwMode="auto">
          <a:xfrm>
            <a:off x="2238410" y="1527525"/>
            <a:ext cx="990600" cy="4572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imes New Roman Greek" panose="02020603050405020304" pitchFamily="18" charset="0"/>
              </a:rPr>
              <a:t>Inherits</a:t>
            </a:r>
            <a:endParaRPr kumimoji="0" lang="en-GB" altLang="el-GR" sz="2000" b="0" i="0" u="none" strike="noStrike" kern="0" cap="none" spc="0" normalizeH="0" baseline="0" noProof="0">
              <a:ln>
                <a:noFill/>
              </a:ln>
              <a:solidFill>
                <a:srgbClr val="000000"/>
              </a:solidFill>
              <a:effectLst/>
              <a:uLnTx/>
              <a:uFillTx/>
              <a:latin typeface="Times New Roman Greek" panose="02020603050405020304" pitchFamily="18" charset="0"/>
            </a:endParaRPr>
          </a:p>
        </p:txBody>
      </p:sp>
      <p:sp>
        <p:nvSpPr>
          <p:cNvPr id="32" name="AutoShape 34">
            <a:extLst>
              <a:ext uri="{FF2B5EF4-FFF2-40B4-BE49-F238E27FC236}">
                <a16:creationId xmlns:a16="http://schemas.microsoft.com/office/drawing/2014/main" id="{7B67B398-6BF9-6FE1-66B8-AE8CFD959FAE}"/>
              </a:ext>
            </a:extLst>
          </p:cNvPr>
          <p:cNvSpPr>
            <a:spLocks noChangeArrowheads="1"/>
          </p:cNvSpPr>
          <p:nvPr/>
        </p:nvSpPr>
        <p:spPr bwMode="auto">
          <a:xfrm>
            <a:off x="7420010" y="2670525"/>
            <a:ext cx="1676400" cy="381000"/>
          </a:xfrm>
          <a:prstGeom prst="foldedCorner">
            <a:avLst>
              <a:gd name="adj" fmla="val 12500"/>
            </a:avLst>
          </a:prstGeom>
          <a:solidFill>
            <a:srgbClr val="FFCF01"/>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l-GR" sz="2400" b="1" i="0" u="none" strike="noStrike" kern="0" cap="none" spc="0" normalizeH="0" baseline="0" noProof="0">
                <a:ln>
                  <a:noFill/>
                </a:ln>
                <a:solidFill>
                  <a:srgbClr val="FF0000"/>
                </a:solidFill>
                <a:effectLst/>
                <a:uLnTx/>
                <a:uFillTx/>
                <a:latin typeface="Times New Roman Greek" panose="02020603050405020304" pitchFamily="18" charset="0"/>
              </a:rPr>
              <a:t>Implements</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3" name="Line 36">
            <a:extLst>
              <a:ext uri="{FF2B5EF4-FFF2-40B4-BE49-F238E27FC236}">
                <a16:creationId xmlns:a16="http://schemas.microsoft.com/office/drawing/2014/main" id="{F340648F-3706-875C-4A3C-0BE5D5D0A616}"/>
              </a:ext>
            </a:extLst>
          </p:cNvPr>
          <p:cNvSpPr>
            <a:spLocks noChangeShapeType="1"/>
          </p:cNvSpPr>
          <p:nvPr/>
        </p:nvSpPr>
        <p:spPr bwMode="auto">
          <a:xfrm>
            <a:off x="2848010" y="1984725"/>
            <a:ext cx="1295400" cy="685800"/>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 name="Line 37">
            <a:extLst>
              <a:ext uri="{FF2B5EF4-FFF2-40B4-BE49-F238E27FC236}">
                <a16:creationId xmlns:a16="http://schemas.microsoft.com/office/drawing/2014/main" id="{0873FE06-DF7A-7A7E-4BE3-BD0025A83FB9}"/>
              </a:ext>
            </a:extLst>
          </p:cNvPr>
          <p:cNvSpPr>
            <a:spLocks noChangeShapeType="1"/>
          </p:cNvSpPr>
          <p:nvPr/>
        </p:nvSpPr>
        <p:spPr bwMode="auto">
          <a:xfrm>
            <a:off x="6353210" y="2822925"/>
            <a:ext cx="1066800" cy="76200"/>
          </a:xfrm>
          <a:prstGeom prst="line">
            <a:avLst/>
          </a:prstGeom>
          <a:noFill/>
          <a:ln w="9525">
            <a:solidFill>
              <a:srgbClr val="000000"/>
            </a:solidFill>
            <a:prstDash val="dash"/>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5" name="Rectangle 34">
            <a:extLst>
              <a:ext uri="{FF2B5EF4-FFF2-40B4-BE49-F238E27FC236}">
                <a16:creationId xmlns:a16="http://schemas.microsoft.com/office/drawing/2014/main" id="{3F4ED618-DD02-118E-2166-84D63ECA6FB4}"/>
              </a:ext>
            </a:extLst>
          </p:cNvPr>
          <p:cNvSpPr/>
          <p:nvPr/>
        </p:nvSpPr>
        <p:spPr>
          <a:xfrm>
            <a:off x="0" y="5074157"/>
            <a:ext cx="12191999" cy="132018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l-GR" altLang="el-GR" sz="28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είναι δυνατή η δήλωση μεταβλητής του συγκεκριμένου  τύπου </a:t>
            </a:r>
            <a:r>
              <a:rPr kumimoji="0" lang="en-US" altLang="el-GR" sz="28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interface</a:t>
            </a:r>
            <a:r>
              <a:rPr kumimoji="0" lang="el-GR" altLang="el-GR" sz="28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 και η ανάθεση σε αυτή στιγμιότυπου οποιασδήποτε από τις κλάσεις που υλοποιεί το</a:t>
            </a:r>
            <a:r>
              <a:rPr kumimoji="0" lang="en-US" altLang="el-GR" sz="28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mn-cs"/>
              </a:rPr>
              <a:t> interface</a:t>
            </a:r>
          </a:p>
        </p:txBody>
      </p:sp>
    </p:spTree>
    <p:extLst>
      <p:ext uri="{BB962C8B-B14F-4D97-AF65-F5344CB8AC3E}">
        <p14:creationId xmlns:p14="http://schemas.microsoft.com/office/powerpoint/2010/main" val="14097980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Interface Collection &lt;E&gt;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4" name="Content Placeholder 2">
            <a:extLst>
              <a:ext uri="{FF2B5EF4-FFF2-40B4-BE49-F238E27FC236}">
                <a16:creationId xmlns:a16="http://schemas.microsoft.com/office/drawing/2014/main" id="{3279FDE5-9DA7-3BEA-C98A-CDAB8DC069AA}"/>
              </a:ext>
            </a:extLst>
          </p:cNvPr>
          <p:cNvSpPr txBox="1">
            <a:spLocks noChangeArrowheads="1"/>
          </p:cNvSpPr>
          <p:nvPr/>
        </p:nvSpPr>
        <p:spPr bwMode="auto">
          <a:xfrm>
            <a:off x="0" y="885695"/>
            <a:ext cx="11040533" cy="4615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000" b="0" i="0" u="none" strike="noStrike" kern="0" cap="none" spc="0" normalizeH="0" baseline="0" noProof="0" dirty="0">
                <a:ln>
                  <a:noFill/>
                </a:ln>
                <a:solidFill>
                  <a:srgbClr val="000000"/>
                </a:solidFill>
                <a:effectLst/>
                <a:uLnTx/>
                <a:uFillTx/>
                <a:latin typeface="Tahoma"/>
                <a:ea typeface="+mn-ea"/>
                <a:cs typeface="+mn-cs"/>
              </a:rPr>
              <a:t>public interface Collection&lt;E&gt;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lang="en-US" altLang="el-GR" sz="3000" kern="0" dirty="0">
                <a:solidFill>
                  <a:srgbClr val="000000"/>
                </a:solidFill>
                <a:latin typeface="Tahoma"/>
              </a:rPr>
              <a:t>          </a:t>
            </a:r>
            <a:r>
              <a:rPr kumimoji="0" lang="en-US" altLang="el-GR" sz="3000" b="0" i="0" u="none" strike="noStrike" kern="0" cap="none" spc="0" normalizeH="0" baseline="0" noProof="0" dirty="0">
                <a:ln>
                  <a:noFill/>
                </a:ln>
                <a:solidFill>
                  <a:srgbClr val="000000"/>
                </a:solidFill>
                <a:effectLst/>
                <a:uLnTx/>
                <a:uFillTx/>
                <a:latin typeface="Tahoma"/>
                <a:ea typeface="+mn-ea"/>
                <a:cs typeface="+mn-cs"/>
              </a:rPr>
              <a:t>extends </a:t>
            </a:r>
            <a:r>
              <a:rPr kumimoji="0" lang="en-US" altLang="el-GR" sz="3000" b="0" i="0" u="none" strike="noStrike" kern="0" cap="none" spc="0" normalizeH="0" baseline="0" noProof="0" dirty="0" err="1">
                <a:ln>
                  <a:noFill/>
                </a:ln>
                <a:solidFill>
                  <a:srgbClr val="000000"/>
                </a:solidFill>
                <a:effectLst/>
                <a:uLnTx/>
                <a:uFillTx/>
                <a:latin typeface="Tahoma"/>
                <a:ea typeface="+mn-ea"/>
                <a:cs typeface="+mn-cs"/>
                <a:hlinkClick r:id="rId3" tooltip="interface in java.lang"/>
              </a:rPr>
              <a:t>Iterable</a:t>
            </a:r>
            <a:r>
              <a:rPr kumimoji="0" lang="en-US" altLang="el-GR" sz="3000" b="0" i="0" u="none" strike="noStrike" kern="0" cap="none" spc="0" normalizeH="0" baseline="0" noProof="0" dirty="0">
                <a:ln>
                  <a:noFill/>
                </a:ln>
                <a:solidFill>
                  <a:srgbClr val="000000"/>
                </a:solidFill>
                <a:effectLst/>
                <a:uLnTx/>
                <a:uFillTx/>
                <a:latin typeface="Tahoma"/>
                <a:ea typeface="+mn-ea"/>
                <a:cs typeface="+mn-cs"/>
              </a:rPr>
              <a:t>&lt;E&gt;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endParaRPr kumimoji="0" lang="en-US"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The root interface in the </a:t>
            </a:r>
            <a:r>
              <a:rPr kumimoji="0" lang="en-US" altLang="el-GR" sz="2400" b="0" i="1" u="none" strike="noStrike" kern="0" cap="none" spc="0" normalizeH="0" baseline="0" noProof="0" dirty="0">
                <a:ln>
                  <a:noFill/>
                </a:ln>
                <a:solidFill>
                  <a:srgbClr val="000000"/>
                </a:solidFill>
                <a:effectLst/>
                <a:uLnTx/>
                <a:uFillTx/>
                <a:latin typeface="Tahoma"/>
                <a:ea typeface="+mn-ea"/>
                <a:cs typeface="+mn-cs"/>
              </a:rPr>
              <a:t>collection hierarchy</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A collection represents a group of objects, known as its </a:t>
            </a:r>
            <a:r>
              <a:rPr kumimoji="0" lang="en-US" altLang="el-GR" sz="2400" b="0" i="1" u="none" strike="noStrike" kern="0" cap="none" spc="0" normalizeH="0" baseline="0" noProof="0" dirty="0">
                <a:ln>
                  <a:noFill/>
                </a:ln>
                <a:solidFill>
                  <a:srgbClr val="000000"/>
                </a:solidFill>
                <a:effectLst/>
                <a:uLnTx/>
                <a:uFillTx/>
                <a:latin typeface="Tahoma"/>
                <a:ea typeface="+mn-ea"/>
                <a:cs typeface="+mn-cs"/>
              </a:rPr>
              <a:t>elements</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Some collections allow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duplicate</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elements and others do not. Some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are ordered </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and others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unordered</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The JDK does not provide any </a:t>
            </a:r>
            <a:r>
              <a:rPr kumimoji="0" lang="en-US" altLang="el-GR" sz="2400" b="0" i="1" u="none" strike="noStrike" kern="0" cap="none" spc="0" normalizeH="0" baseline="0" noProof="0" dirty="0">
                <a:ln>
                  <a:noFill/>
                </a:ln>
                <a:solidFill>
                  <a:srgbClr val="000000"/>
                </a:solidFill>
                <a:effectLst/>
                <a:uLnTx/>
                <a:uFillTx/>
                <a:latin typeface="Tahoma"/>
                <a:ea typeface="+mn-ea"/>
                <a:cs typeface="+mn-cs"/>
              </a:rPr>
              <a:t>direct</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implementations of this interface: it provides implementations of more specific sub interfaces like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Set</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and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List</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This interface is typically used to pass collections around and manipulate them where maximum generality is desired. </a:t>
            </a:r>
          </a:p>
          <a:p>
            <a:pPr marL="0" marR="0" lvl="0" indent="0" algn="l" defTabSz="914400" rtl="0" eaLnBrk="0" fontAlgn="base" latinLnBrk="0" hangingPunct="0">
              <a:lnSpc>
                <a:spcPct val="100000"/>
              </a:lnSpc>
              <a:spcBef>
                <a:spcPct val="20000"/>
              </a:spcBef>
              <a:spcAft>
                <a:spcPct val="0"/>
              </a:spcAft>
              <a:buClr>
                <a:srgbClr val="3333CC"/>
              </a:buClr>
              <a:buSzPct val="60000"/>
              <a:buNone/>
              <a:tabLst/>
              <a:defRPr/>
            </a:pPr>
            <a:endParaRPr kumimoji="0" lang="el-GR" altLang="el-GR" sz="3200" b="0" i="0" u="none" strike="noStrike" kern="0" cap="none" spc="0" normalizeH="0" baseline="0" noProof="0" dirty="0">
              <a:ln>
                <a:noFill/>
              </a:ln>
              <a:solidFill>
                <a:srgbClr val="000000"/>
              </a:solidFill>
              <a:effectLst/>
              <a:uLnTx/>
              <a:uFillTx/>
              <a:latin typeface="Tahoma"/>
              <a:ea typeface="+mn-ea"/>
              <a:cs typeface="+mn-cs"/>
            </a:endParaRPr>
          </a:p>
        </p:txBody>
      </p:sp>
      <p:pic>
        <p:nvPicPr>
          <p:cNvPr id="7" name="Picture 6">
            <a:extLst>
              <a:ext uri="{FF2B5EF4-FFF2-40B4-BE49-F238E27FC236}">
                <a16:creationId xmlns:a16="http://schemas.microsoft.com/office/drawing/2014/main" id="{B8632EA7-D252-FE04-1AF6-BCC3C05E755F}"/>
              </a:ext>
            </a:extLst>
          </p:cNvPr>
          <p:cNvPicPr>
            <a:picLocks noChangeAspect="1"/>
          </p:cNvPicPr>
          <p:nvPr/>
        </p:nvPicPr>
        <p:blipFill>
          <a:blip r:embed="rId4"/>
          <a:stretch>
            <a:fillRect/>
          </a:stretch>
        </p:blipFill>
        <p:spPr>
          <a:xfrm>
            <a:off x="6385810" y="-7933"/>
            <a:ext cx="5806189" cy="2647518"/>
          </a:xfrm>
          <a:prstGeom prst="rect">
            <a:avLst/>
          </a:prstGeom>
        </p:spPr>
      </p:pic>
      <p:pic>
        <p:nvPicPr>
          <p:cNvPr id="12" name="Picture 11">
            <a:extLst>
              <a:ext uri="{FF2B5EF4-FFF2-40B4-BE49-F238E27FC236}">
                <a16:creationId xmlns:a16="http://schemas.microsoft.com/office/drawing/2014/main" id="{E9BC85DD-2DF9-8631-6616-EE555CD36C74}"/>
              </a:ext>
            </a:extLst>
          </p:cNvPr>
          <p:cNvPicPr>
            <a:picLocks noChangeAspect="1"/>
          </p:cNvPicPr>
          <p:nvPr/>
        </p:nvPicPr>
        <p:blipFill>
          <a:blip r:embed="rId5"/>
          <a:stretch>
            <a:fillRect/>
          </a:stretch>
        </p:blipFill>
        <p:spPr>
          <a:xfrm>
            <a:off x="699023" y="5710330"/>
            <a:ext cx="7937879" cy="660489"/>
          </a:xfrm>
          <a:prstGeom prst="rect">
            <a:avLst/>
          </a:prstGeom>
        </p:spPr>
      </p:pic>
      <p:sp>
        <p:nvSpPr>
          <p:cNvPr id="19" name="Arrow: Left 18">
            <a:extLst>
              <a:ext uri="{FF2B5EF4-FFF2-40B4-BE49-F238E27FC236}">
                <a16:creationId xmlns:a16="http://schemas.microsoft.com/office/drawing/2014/main" id="{E58D4E71-FE62-59B9-A108-CD36706FCEAE}"/>
              </a:ext>
            </a:extLst>
          </p:cNvPr>
          <p:cNvSpPr/>
          <p:nvPr/>
        </p:nvSpPr>
        <p:spPr>
          <a:xfrm>
            <a:off x="5046688" y="5849278"/>
            <a:ext cx="1563975" cy="123027"/>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605331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b="1" dirty="0">
                <a:solidFill>
                  <a:srgbClr val="F9853D"/>
                </a:solidFill>
                <a:latin typeface="Bahnschrift" panose="020B0502040204020203" pitchFamily="34" charset="0"/>
              </a:rPr>
              <a:t>Iterator</a:t>
            </a:r>
            <a:endParaRPr lang="el-GR"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4" name="Text Box 32">
            <a:extLst>
              <a:ext uri="{FF2B5EF4-FFF2-40B4-BE49-F238E27FC236}">
                <a16:creationId xmlns:a16="http://schemas.microsoft.com/office/drawing/2014/main" id="{06AEEA3E-02AA-9368-3154-C3F63359B927}"/>
              </a:ext>
            </a:extLst>
          </p:cNvPr>
          <p:cNvSpPr txBox="1">
            <a:spLocks noChangeArrowheads="1"/>
          </p:cNvSpPr>
          <p:nvPr/>
        </p:nvSpPr>
        <p:spPr bwMode="auto">
          <a:xfrm>
            <a:off x="23859" y="2388485"/>
            <a:ext cx="906550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fontAlgn="base">
              <a:spcBef>
                <a:spcPct val="0"/>
              </a:spcBef>
              <a:spcAft>
                <a:spcPct val="0"/>
              </a:spcAft>
              <a:buClrTx/>
              <a:buSzTx/>
              <a:buNone/>
            </a:pPr>
            <a:r>
              <a:rPr kumimoji="0" lang="en-US" altLang="el-GR" sz="2800" b="0" i="0" u="none" strike="noStrike" kern="0" cap="none" spc="0" normalizeH="0" baseline="0" noProof="0" dirty="0">
                <a:ln>
                  <a:noFill/>
                </a:ln>
                <a:solidFill>
                  <a:srgbClr val="800000"/>
                </a:solidFill>
                <a:effectLst/>
                <a:uLnTx/>
                <a:uFillTx/>
                <a:latin typeface="Tahoma" panose="020B0604030504040204" pitchFamily="34" charset="0"/>
              </a:rPr>
              <a:t>for(int i=0; </a:t>
            </a:r>
            <a:r>
              <a:rPr lang="en-US" altLang="el-GR" sz="2800" kern="0" dirty="0">
                <a:solidFill>
                  <a:srgbClr val="800000"/>
                </a:solidFill>
              </a:rPr>
              <a:t>i&lt;</a:t>
            </a:r>
            <a:r>
              <a:rPr lang="en-US" altLang="el-GR" sz="2800" kern="0" dirty="0" err="1">
                <a:solidFill>
                  <a:srgbClr val="800000"/>
                </a:solidFill>
              </a:rPr>
              <a:t>shapes.length</a:t>
            </a:r>
            <a:r>
              <a:rPr lang="en-US" altLang="el-GR" sz="2800" kern="0" dirty="0">
                <a:solidFill>
                  <a:srgbClr val="800000"/>
                </a:solidFill>
              </a:rPr>
              <a:t> &amp;&amp; shapes[i]!=null; </a:t>
            </a:r>
            <a:r>
              <a:rPr kumimoji="0" lang="en-US" altLang="el-GR" sz="2800" b="0" i="0" u="none" strike="noStrike" kern="0" cap="none" spc="0" normalizeH="0" baseline="0" noProof="0" dirty="0">
                <a:ln>
                  <a:noFill/>
                </a:ln>
                <a:solidFill>
                  <a:srgbClr val="800000"/>
                </a:solidFill>
                <a:effectLst/>
                <a:uLnTx/>
                <a:uFillTx/>
                <a:latin typeface="Tahoma" panose="020B0604030504040204" pitchFamily="34" charset="0"/>
              </a:rPr>
              <a:t>i++)</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800" b="0" i="0" u="none" strike="noStrike" kern="0" cap="none" spc="0" normalizeH="0" baseline="0" noProof="0" dirty="0">
                <a:ln>
                  <a:noFill/>
                </a:ln>
                <a:solidFill>
                  <a:srgbClr val="800000"/>
                </a:solidFill>
                <a:effectLst/>
                <a:uLnTx/>
                <a:uFillTx/>
                <a:latin typeface="Tahoma" panose="020B0604030504040204" pitchFamily="34" charset="0"/>
              </a:rPr>
              <a:t>      </a:t>
            </a:r>
            <a:r>
              <a:rPr kumimoji="0" lang="en-US" altLang="el-GR" sz="2800" b="1" i="0" u="none" strike="noStrike" kern="0" cap="none" spc="0" normalizeH="0" baseline="0" noProof="0" dirty="0">
                <a:ln>
                  <a:noFill/>
                </a:ln>
                <a:solidFill>
                  <a:srgbClr val="800000"/>
                </a:solidFill>
                <a:effectLst/>
                <a:uLnTx/>
                <a:uFillTx/>
                <a:latin typeface="Tahoma" panose="020B0604030504040204" pitchFamily="34" charset="0"/>
              </a:rPr>
              <a:t>shapes[i].draw();</a:t>
            </a:r>
          </a:p>
        </p:txBody>
      </p:sp>
      <p:pic>
        <p:nvPicPr>
          <p:cNvPr id="5" name="Picture 4">
            <a:extLst>
              <a:ext uri="{FF2B5EF4-FFF2-40B4-BE49-F238E27FC236}">
                <a16:creationId xmlns:a16="http://schemas.microsoft.com/office/drawing/2014/main" id="{D855E65C-E7C7-4126-483F-41FA190937EF}"/>
              </a:ext>
            </a:extLst>
          </p:cNvPr>
          <p:cNvPicPr>
            <a:picLocks noChangeAspect="1"/>
          </p:cNvPicPr>
          <p:nvPr/>
        </p:nvPicPr>
        <p:blipFill>
          <a:blip r:embed="rId3"/>
          <a:stretch>
            <a:fillRect/>
          </a:stretch>
        </p:blipFill>
        <p:spPr>
          <a:xfrm>
            <a:off x="0" y="5481330"/>
            <a:ext cx="10754949" cy="779735"/>
          </a:xfrm>
          <a:prstGeom prst="rect">
            <a:avLst/>
          </a:prstGeom>
        </p:spPr>
      </p:pic>
      <p:pic>
        <p:nvPicPr>
          <p:cNvPr id="7" name="Picture 6">
            <a:extLst>
              <a:ext uri="{FF2B5EF4-FFF2-40B4-BE49-F238E27FC236}">
                <a16:creationId xmlns:a16="http://schemas.microsoft.com/office/drawing/2014/main" id="{19DA50FE-110D-9A33-CB9F-6302CCEE4F29}"/>
              </a:ext>
            </a:extLst>
          </p:cNvPr>
          <p:cNvPicPr>
            <a:picLocks noChangeAspect="1"/>
          </p:cNvPicPr>
          <p:nvPr/>
        </p:nvPicPr>
        <p:blipFill>
          <a:blip r:embed="rId4"/>
          <a:stretch>
            <a:fillRect/>
          </a:stretch>
        </p:blipFill>
        <p:spPr>
          <a:xfrm>
            <a:off x="259829" y="3492014"/>
            <a:ext cx="3221927" cy="779735"/>
          </a:xfrm>
          <a:prstGeom prst="rect">
            <a:avLst/>
          </a:prstGeom>
        </p:spPr>
      </p:pic>
      <p:pic>
        <p:nvPicPr>
          <p:cNvPr id="12" name="Picture 11">
            <a:extLst>
              <a:ext uri="{FF2B5EF4-FFF2-40B4-BE49-F238E27FC236}">
                <a16:creationId xmlns:a16="http://schemas.microsoft.com/office/drawing/2014/main" id="{AD2D52B0-A040-B017-BAF4-C2489858CF8C}"/>
              </a:ext>
            </a:extLst>
          </p:cNvPr>
          <p:cNvPicPr>
            <a:picLocks noChangeAspect="1"/>
          </p:cNvPicPr>
          <p:nvPr/>
        </p:nvPicPr>
        <p:blipFill>
          <a:blip r:embed="rId5"/>
          <a:stretch>
            <a:fillRect/>
          </a:stretch>
        </p:blipFill>
        <p:spPr>
          <a:xfrm>
            <a:off x="259830" y="4270259"/>
            <a:ext cx="11791501" cy="912228"/>
          </a:xfrm>
          <a:prstGeom prst="rect">
            <a:avLst/>
          </a:prstGeom>
        </p:spPr>
      </p:pic>
      <p:pic>
        <p:nvPicPr>
          <p:cNvPr id="18" name="Picture 17">
            <a:extLst>
              <a:ext uri="{FF2B5EF4-FFF2-40B4-BE49-F238E27FC236}">
                <a16:creationId xmlns:a16="http://schemas.microsoft.com/office/drawing/2014/main" id="{98CD6356-41BE-FFBF-ED2B-BF93D05CFB21}"/>
              </a:ext>
            </a:extLst>
          </p:cNvPr>
          <p:cNvPicPr>
            <a:picLocks noChangeAspect="1"/>
          </p:cNvPicPr>
          <p:nvPr/>
        </p:nvPicPr>
        <p:blipFill>
          <a:blip r:embed="rId6"/>
          <a:stretch>
            <a:fillRect/>
          </a:stretch>
        </p:blipFill>
        <p:spPr>
          <a:xfrm>
            <a:off x="8293768" y="-9090"/>
            <a:ext cx="3936824" cy="827915"/>
          </a:xfrm>
          <a:prstGeom prst="rect">
            <a:avLst/>
          </a:prstGeom>
        </p:spPr>
      </p:pic>
      <p:sp>
        <p:nvSpPr>
          <p:cNvPr id="6" name="TextBox 5">
            <a:extLst>
              <a:ext uri="{FF2B5EF4-FFF2-40B4-BE49-F238E27FC236}">
                <a16:creationId xmlns:a16="http://schemas.microsoft.com/office/drawing/2014/main" id="{5ED02F66-5C66-C047-3F6B-6B729E8F4B12}"/>
              </a:ext>
            </a:extLst>
          </p:cNvPr>
          <p:cNvSpPr txBox="1"/>
          <p:nvPr/>
        </p:nvSpPr>
        <p:spPr>
          <a:xfrm>
            <a:off x="23859" y="843199"/>
            <a:ext cx="11500630" cy="461665"/>
          </a:xfrm>
          <a:prstGeom prst="rect">
            <a:avLst/>
          </a:prstGeom>
          <a:noFill/>
        </p:spPr>
        <p:txBody>
          <a:bodyPr wrap="square" rtlCol="0">
            <a:spAutoFit/>
          </a:bodyPr>
          <a:lstStyle/>
          <a:p>
            <a:r>
              <a:rPr lang="en-GB" sz="2400" b="1" i="0" dirty="0">
                <a:solidFill>
                  <a:srgbClr val="000000"/>
                </a:solidFill>
                <a:effectLst/>
                <a:latin typeface="Verdana" panose="020B0604030504040204" pitchFamily="34" charset="0"/>
              </a:rPr>
              <a:t>is an object </a:t>
            </a:r>
            <a:r>
              <a:rPr lang="en-GB" sz="2400" b="0" i="0" dirty="0">
                <a:solidFill>
                  <a:srgbClr val="000000"/>
                </a:solidFill>
                <a:effectLst/>
                <a:latin typeface="Verdana" panose="020B0604030504040204" pitchFamily="34" charset="0"/>
              </a:rPr>
              <a:t>that can be used to loop through collections, like </a:t>
            </a:r>
            <a:r>
              <a:rPr lang="en-GB" sz="2400" b="0" i="0" dirty="0">
                <a:effectLst/>
                <a:latin typeface="Verdana" panose="020B0604030504040204" pitchFamily="34" charset="0"/>
              </a:rPr>
              <a:t>ArrayList.</a:t>
            </a:r>
            <a:r>
              <a:rPr lang="en-GB" sz="2400" b="0" i="0" dirty="0">
                <a:solidFill>
                  <a:srgbClr val="000000"/>
                </a:solidFill>
                <a:effectLst/>
                <a:latin typeface="Verdana" panose="020B0604030504040204" pitchFamily="34" charset="0"/>
              </a:rPr>
              <a:t> </a:t>
            </a:r>
            <a:endParaRPr lang="en-GB" sz="2400" dirty="0"/>
          </a:p>
        </p:txBody>
      </p:sp>
      <p:pic>
        <p:nvPicPr>
          <p:cNvPr id="13" name="Picture 12">
            <a:extLst>
              <a:ext uri="{FF2B5EF4-FFF2-40B4-BE49-F238E27FC236}">
                <a16:creationId xmlns:a16="http://schemas.microsoft.com/office/drawing/2014/main" id="{40DF6C7D-FAEB-D0CF-E487-BC69AC9F76EB}"/>
              </a:ext>
            </a:extLst>
          </p:cNvPr>
          <p:cNvPicPr>
            <a:picLocks noChangeAspect="1"/>
          </p:cNvPicPr>
          <p:nvPr/>
        </p:nvPicPr>
        <p:blipFill>
          <a:blip r:embed="rId7"/>
          <a:stretch>
            <a:fillRect/>
          </a:stretch>
        </p:blipFill>
        <p:spPr>
          <a:xfrm>
            <a:off x="0" y="1775083"/>
            <a:ext cx="4813300" cy="537656"/>
          </a:xfrm>
          <a:prstGeom prst="rect">
            <a:avLst/>
          </a:prstGeom>
        </p:spPr>
      </p:pic>
    </p:spTree>
    <p:extLst>
      <p:ext uri="{BB962C8B-B14F-4D97-AF65-F5344CB8AC3E}">
        <p14:creationId xmlns:p14="http://schemas.microsoft.com/office/powerpoint/2010/main" val="14573072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childTnLst>
                                </p:cTn>
                              </p:par>
                              <p:par>
                                <p:cTn id="12" presetID="1"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Interface Iterator&lt;E&gt;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pic>
        <p:nvPicPr>
          <p:cNvPr id="12" name="Picture 11">
            <a:extLst>
              <a:ext uri="{FF2B5EF4-FFF2-40B4-BE49-F238E27FC236}">
                <a16:creationId xmlns:a16="http://schemas.microsoft.com/office/drawing/2014/main" id="{E9BC85DD-2DF9-8631-6616-EE555CD36C74}"/>
              </a:ext>
            </a:extLst>
          </p:cNvPr>
          <p:cNvPicPr>
            <a:picLocks noChangeAspect="1"/>
          </p:cNvPicPr>
          <p:nvPr/>
        </p:nvPicPr>
        <p:blipFill>
          <a:blip r:embed="rId3"/>
          <a:stretch>
            <a:fillRect/>
          </a:stretch>
        </p:blipFill>
        <p:spPr>
          <a:xfrm>
            <a:off x="699023" y="5710330"/>
            <a:ext cx="7937879" cy="660489"/>
          </a:xfrm>
          <a:prstGeom prst="rect">
            <a:avLst/>
          </a:prstGeom>
        </p:spPr>
      </p:pic>
      <p:pic>
        <p:nvPicPr>
          <p:cNvPr id="13" name="Picture 12">
            <a:extLst>
              <a:ext uri="{FF2B5EF4-FFF2-40B4-BE49-F238E27FC236}">
                <a16:creationId xmlns:a16="http://schemas.microsoft.com/office/drawing/2014/main" id="{6F858784-879B-421D-1C96-7D9226913B40}"/>
              </a:ext>
            </a:extLst>
          </p:cNvPr>
          <p:cNvPicPr>
            <a:picLocks noChangeAspect="1"/>
          </p:cNvPicPr>
          <p:nvPr/>
        </p:nvPicPr>
        <p:blipFill>
          <a:blip r:embed="rId4"/>
          <a:stretch>
            <a:fillRect/>
          </a:stretch>
        </p:blipFill>
        <p:spPr>
          <a:xfrm>
            <a:off x="0" y="947906"/>
            <a:ext cx="11153715" cy="4358612"/>
          </a:xfrm>
          <a:prstGeom prst="rect">
            <a:avLst/>
          </a:prstGeom>
        </p:spPr>
      </p:pic>
      <p:pic>
        <p:nvPicPr>
          <p:cNvPr id="14" name="Picture 13">
            <a:extLst>
              <a:ext uri="{FF2B5EF4-FFF2-40B4-BE49-F238E27FC236}">
                <a16:creationId xmlns:a16="http://schemas.microsoft.com/office/drawing/2014/main" id="{6A67C654-2932-A723-1C47-EBE9E2E46539}"/>
              </a:ext>
            </a:extLst>
          </p:cNvPr>
          <p:cNvPicPr>
            <a:picLocks noChangeAspect="1"/>
          </p:cNvPicPr>
          <p:nvPr/>
        </p:nvPicPr>
        <p:blipFill>
          <a:blip r:embed="rId5"/>
          <a:stretch>
            <a:fillRect/>
          </a:stretch>
        </p:blipFill>
        <p:spPr>
          <a:xfrm>
            <a:off x="8293768" y="-9090"/>
            <a:ext cx="3936824" cy="827915"/>
          </a:xfrm>
          <a:prstGeom prst="rect">
            <a:avLst/>
          </a:prstGeom>
        </p:spPr>
      </p:pic>
      <p:sp>
        <p:nvSpPr>
          <p:cNvPr id="15" name="Arrow: Left 14">
            <a:extLst>
              <a:ext uri="{FF2B5EF4-FFF2-40B4-BE49-F238E27FC236}">
                <a16:creationId xmlns:a16="http://schemas.microsoft.com/office/drawing/2014/main" id="{CDA6724F-173E-CE3C-17C2-A09C9C5D7443}"/>
              </a:ext>
            </a:extLst>
          </p:cNvPr>
          <p:cNvSpPr/>
          <p:nvPr/>
        </p:nvSpPr>
        <p:spPr>
          <a:xfrm>
            <a:off x="4290549" y="3647596"/>
            <a:ext cx="1563975" cy="123027"/>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row: Left 15">
            <a:extLst>
              <a:ext uri="{FF2B5EF4-FFF2-40B4-BE49-F238E27FC236}">
                <a16:creationId xmlns:a16="http://schemas.microsoft.com/office/drawing/2014/main" id="{F1C945A6-30B6-4C55-C59E-7027A9C5CDE8}"/>
              </a:ext>
            </a:extLst>
          </p:cNvPr>
          <p:cNvSpPr/>
          <p:nvPr/>
        </p:nvSpPr>
        <p:spPr>
          <a:xfrm>
            <a:off x="4290549" y="2878131"/>
            <a:ext cx="1563975" cy="123027"/>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516492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For-Each Loop (Enhanced for statement)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6" name="Content Placeholder 2">
            <a:extLst>
              <a:ext uri="{FF2B5EF4-FFF2-40B4-BE49-F238E27FC236}">
                <a16:creationId xmlns:a16="http://schemas.microsoft.com/office/drawing/2014/main" id="{3A492453-7049-FB4D-F4F1-0521AEAC1968}"/>
              </a:ext>
            </a:extLst>
          </p:cNvPr>
          <p:cNvSpPr txBox="1">
            <a:spLocks noChangeArrowheads="1"/>
          </p:cNvSpPr>
          <p:nvPr/>
        </p:nvSpPr>
        <p:spPr bwMode="auto">
          <a:xfrm>
            <a:off x="250824" y="1052513"/>
            <a:ext cx="9639935" cy="223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0" i="0" u="none" strike="noStrike" kern="0" cap="none" spc="0" normalizeH="0" baseline="0" noProof="0" dirty="0">
                <a:ln>
                  <a:noFill/>
                </a:ln>
                <a:solidFill>
                  <a:srgbClr val="000000"/>
                </a:solidFill>
                <a:effectLst/>
                <a:uLnTx/>
                <a:uFillTx/>
                <a:latin typeface="Tahoma"/>
                <a:ea typeface="+mn-ea"/>
                <a:cs typeface="+mn-cs"/>
              </a:rPr>
              <a:t>designed for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iteration</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 through </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Collections</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 and </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arrays</a:t>
            </a:r>
            <a:r>
              <a:rPr kumimoji="0" lang="en-US" altLang="el-GR" sz="3200" b="0" i="0" u="none" strike="noStrike" kern="0" cap="none" spc="0" normalizeH="0" baseline="0" noProof="0" dirty="0">
                <a:ln>
                  <a:noFill/>
                </a:ln>
                <a:solidFill>
                  <a:srgbClr val="000000"/>
                </a:solidFill>
                <a:effectLst/>
                <a:uLnTx/>
                <a:uFillTx/>
                <a:latin typeface="Tahoma"/>
                <a:ea typeface="+mn-ea"/>
                <a:cs typeface="+mn-cs"/>
              </a:rPr>
              <a:t>.</a:t>
            </a:r>
            <a:endParaRPr kumimoji="0" lang="el-GR" altLang="el-GR" sz="32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0" i="0" u="none" strike="noStrike" kern="0" cap="none" spc="0" normalizeH="0" baseline="0" noProof="0" dirty="0">
                <a:ln>
                  <a:noFill/>
                </a:ln>
                <a:solidFill>
                  <a:srgbClr val="000000"/>
                </a:solidFill>
                <a:effectLst/>
                <a:uLnTx/>
                <a:uFillTx/>
                <a:latin typeface="Tahoma"/>
                <a:ea typeface="+mn-ea"/>
                <a:cs typeface="+mn-cs"/>
              </a:rPr>
              <a:t>can be used to make your loops more </a:t>
            </a:r>
            <a:r>
              <a:rPr kumimoji="0" lang="en-US" altLang="el-GR" sz="3200" b="1" i="0" u="none" strike="noStrike" kern="0" cap="none" spc="0" normalizeH="0" baseline="0" noProof="0" dirty="0">
                <a:ln>
                  <a:noFill/>
                </a:ln>
                <a:solidFill>
                  <a:srgbClr val="000000"/>
                </a:solidFill>
                <a:effectLst/>
                <a:uLnTx/>
                <a:uFillTx/>
                <a:latin typeface="Tahoma"/>
                <a:ea typeface="+mn-ea"/>
                <a:cs typeface="+mn-cs"/>
              </a:rPr>
              <a:t>compact and easy to read.</a:t>
            </a:r>
            <a:endParaRPr kumimoji="0" lang="el-GR" altLang="el-GR" sz="3200" b="1" i="0" u="none" strike="noStrike" kern="0" cap="none" spc="0" normalizeH="0" baseline="0" noProof="0" dirty="0">
              <a:ln>
                <a:noFill/>
              </a:ln>
              <a:solidFill>
                <a:srgbClr val="000000"/>
              </a:solidFill>
              <a:effectLst/>
              <a:uLnTx/>
              <a:uFillTx/>
              <a:latin typeface="Tahoma"/>
              <a:ea typeface="+mn-ea"/>
              <a:cs typeface="+mn-cs"/>
            </a:endParaRPr>
          </a:p>
        </p:txBody>
      </p:sp>
      <p:pic>
        <p:nvPicPr>
          <p:cNvPr id="15" name="Picture 14">
            <a:extLst>
              <a:ext uri="{FF2B5EF4-FFF2-40B4-BE49-F238E27FC236}">
                <a16:creationId xmlns:a16="http://schemas.microsoft.com/office/drawing/2014/main" id="{EEF14887-3766-8C66-05A1-A0361C88FD97}"/>
              </a:ext>
            </a:extLst>
          </p:cNvPr>
          <p:cNvPicPr>
            <a:picLocks noChangeAspect="1"/>
          </p:cNvPicPr>
          <p:nvPr/>
        </p:nvPicPr>
        <p:blipFill>
          <a:blip r:embed="rId3"/>
          <a:stretch>
            <a:fillRect/>
          </a:stretch>
        </p:blipFill>
        <p:spPr>
          <a:xfrm>
            <a:off x="141310" y="3514886"/>
            <a:ext cx="10521219" cy="531972"/>
          </a:xfrm>
          <a:prstGeom prst="rect">
            <a:avLst/>
          </a:prstGeom>
        </p:spPr>
      </p:pic>
      <p:pic>
        <p:nvPicPr>
          <p:cNvPr id="17" name="Picture 16">
            <a:extLst>
              <a:ext uri="{FF2B5EF4-FFF2-40B4-BE49-F238E27FC236}">
                <a16:creationId xmlns:a16="http://schemas.microsoft.com/office/drawing/2014/main" id="{2A083CF8-9DCD-28F7-8CA4-25A8A560E281}"/>
              </a:ext>
            </a:extLst>
          </p:cNvPr>
          <p:cNvPicPr>
            <a:picLocks noChangeAspect="1"/>
          </p:cNvPicPr>
          <p:nvPr/>
        </p:nvPicPr>
        <p:blipFill>
          <a:blip r:embed="rId4"/>
          <a:stretch>
            <a:fillRect/>
          </a:stretch>
        </p:blipFill>
        <p:spPr>
          <a:xfrm>
            <a:off x="52149" y="4177679"/>
            <a:ext cx="7579201" cy="1092200"/>
          </a:xfrm>
          <a:prstGeom prst="rect">
            <a:avLst/>
          </a:prstGeom>
        </p:spPr>
      </p:pic>
      <p:sp>
        <p:nvSpPr>
          <p:cNvPr id="18" name="Callout: Line 17">
            <a:extLst>
              <a:ext uri="{FF2B5EF4-FFF2-40B4-BE49-F238E27FC236}">
                <a16:creationId xmlns:a16="http://schemas.microsoft.com/office/drawing/2014/main" id="{769A47B0-1130-ABE8-130E-9F9400404509}"/>
              </a:ext>
            </a:extLst>
          </p:cNvPr>
          <p:cNvSpPr/>
          <p:nvPr/>
        </p:nvSpPr>
        <p:spPr>
          <a:xfrm>
            <a:off x="6096000" y="4971779"/>
            <a:ext cx="5836920" cy="719331"/>
          </a:xfrm>
          <a:prstGeom prst="borderCallout1">
            <a:avLst>
              <a:gd name="adj1" fmla="val -4555"/>
              <a:gd name="adj2" fmla="val 49090"/>
              <a:gd name="adj3" fmla="val -54872"/>
              <a:gd name="adj4" fmla="val 18531"/>
            </a:avLst>
          </a:prstGeom>
          <a:solidFill>
            <a:schemeClr val="accent6">
              <a:lumMod val="75000"/>
            </a:schemeClr>
          </a:solid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FF0000"/>
                </a:solidFill>
              </a:rPr>
              <a:t>for each </a:t>
            </a:r>
            <a:r>
              <a:rPr lang="en-GB" sz="2800" dirty="0"/>
              <a:t>Shape </a:t>
            </a:r>
            <a:r>
              <a:rPr lang="en-GB" sz="2800" dirty="0" err="1"/>
              <a:t>currentShape</a:t>
            </a:r>
            <a:r>
              <a:rPr lang="en-GB" sz="2800" dirty="0"/>
              <a:t> </a:t>
            </a:r>
            <a:r>
              <a:rPr lang="en-GB" sz="2800" b="1" dirty="0">
                <a:solidFill>
                  <a:srgbClr val="FF0000"/>
                </a:solidFill>
              </a:rPr>
              <a:t>in</a:t>
            </a:r>
            <a:r>
              <a:rPr lang="en-GB" sz="2800" dirty="0"/>
              <a:t> shapes</a:t>
            </a:r>
          </a:p>
        </p:txBody>
      </p:sp>
    </p:spTree>
    <p:extLst>
      <p:ext uri="{BB962C8B-B14F-4D97-AF65-F5344CB8AC3E}">
        <p14:creationId xmlns:p14="http://schemas.microsoft.com/office/powerpoint/2010/main" val="18488152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3">
            <a:extLst>
              <a:ext uri="{FF2B5EF4-FFF2-40B4-BE49-F238E27FC236}">
                <a16:creationId xmlns:a16="http://schemas.microsoft.com/office/drawing/2014/main" id="{D00A73DD-A4AD-2E56-2E78-11F100DEBBF4}"/>
              </a:ext>
            </a:extLst>
          </p:cNvPr>
          <p:cNvSpPr txBox="1">
            <a:spLocks noChangeArrowheads="1"/>
          </p:cNvSpPr>
          <p:nvPr/>
        </p:nvSpPr>
        <p:spPr bwMode="auto">
          <a:xfrm>
            <a:off x="140669" y="743705"/>
            <a:ext cx="11541733" cy="603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i="0" u="none" strike="noStrike" kern="0" cap="none" spc="0" normalizeH="0" baseline="0" noProof="0" dirty="0">
                <a:ln>
                  <a:noFill/>
                </a:ln>
                <a:solidFill>
                  <a:srgbClr val="000000"/>
                </a:solidFill>
                <a:effectLst/>
                <a:uLnTx/>
                <a:uFillTx/>
                <a:latin typeface="Tahoma"/>
                <a:ea typeface="+mn-ea"/>
                <a:cs typeface="+mn-cs"/>
              </a:rPr>
              <a:t>Εισαγωγή στην Κληρονομικότητα</a:t>
            </a:r>
            <a:endParaRPr kumimoji="0" lang="en-US" altLang="el-GR" sz="32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Βασικές έννοιες</a:t>
            </a:r>
          </a:p>
          <a:p>
            <a:pPr lvl="1" indent="-342900" eaLnBrk="1" hangingPunct="1">
              <a:buClr>
                <a:srgbClr val="3333CC"/>
              </a:buClr>
              <a:buSzPct val="60000"/>
              <a:defRPr/>
            </a:pPr>
            <a:r>
              <a:rPr lang="el-GR" altLang="el-GR" sz="2400" kern="0" dirty="0">
                <a:solidFill>
                  <a:srgbClr val="000000"/>
                </a:solidFill>
                <a:latin typeface="Tahoma"/>
              </a:rPr>
              <a:t>Κληρονομικότητα στην </a:t>
            </a:r>
            <a:r>
              <a:rPr lang="en-US" altLang="el-GR" sz="2400" kern="0" dirty="0">
                <a:solidFill>
                  <a:srgbClr val="000000"/>
                </a:solidFill>
                <a:latin typeface="Tahoma"/>
              </a:rPr>
              <a:t>RPN Calculator</a:t>
            </a:r>
            <a:endParaRPr lang="el-GR" altLang="el-GR" sz="2400" kern="0" dirty="0">
              <a:solidFill>
                <a:srgbClr val="000000"/>
              </a:solidFill>
              <a:latin typeface="Tahoma"/>
            </a:endParaRPr>
          </a:p>
          <a:p>
            <a:pPr lvl="1" indent="-342900" eaLnBrk="1" hangingPunct="1">
              <a:buClr>
                <a:srgbClr val="3333CC"/>
              </a:buClr>
              <a:buSzPct val="60000"/>
              <a:defRPr/>
            </a:pPr>
            <a:r>
              <a:rPr lang="en-GB" altLang="el-GR" sz="2400" kern="0" dirty="0">
                <a:solidFill>
                  <a:srgbClr val="000000"/>
                </a:solidFill>
                <a:latin typeface="Tahoma"/>
              </a:rPr>
              <a:t>Abstract </a:t>
            </a:r>
            <a:r>
              <a:rPr lang="el-GR" altLang="el-GR" sz="2400" kern="0" dirty="0">
                <a:solidFill>
                  <a:srgbClr val="000000"/>
                </a:solidFill>
                <a:latin typeface="Tahoma"/>
              </a:rPr>
              <a:t>μέθοδοι και </a:t>
            </a:r>
            <a:r>
              <a:rPr lang="en-GB" altLang="el-GR" sz="2400" kern="0" dirty="0">
                <a:solidFill>
                  <a:srgbClr val="000000"/>
                </a:solidFill>
                <a:latin typeface="Tahoma"/>
              </a:rPr>
              <a:t>Abstract</a:t>
            </a:r>
            <a:r>
              <a:rPr lang="el-GR" altLang="el-GR" sz="2400" kern="0" dirty="0">
                <a:solidFill>
                  <a:srgbClr val="000000"/>
                </a:solidFill>
                <a:latin typeface="Tahoma"/>
              </a:rPr>
              <a:t> κλάσεις</a:t>
            </a:r>
            <a:endParaRPr kumimoji="0" lang="en-US" altLang="el-GR" sz="24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altLang="el-GR" sz="2400" kern="0" dirty="0">
                <a:solidFill>
                  <a:srgbClr val="000000"/>
                </a:solidFill>
                <a:latin typeface="Tahoma"/>
              </a:rPr>
              <a:t>Shadowed variables-Overriding methods</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i="0" u="none" strike="noStrike" kern="0" cap="none" spc="0" normalizeH="0" baseline="0" noProof="0" dirty="0">
                <a:ln>
                  <a:noFill/>
                </a:ln>
                <a:solidFill>
                  <a:srgbClr val="000000"/>
                </a:solidFill>
                <a:effectLst/>
                <a:uLnTx/>
                <a:uFillTx/>
                <a:latin typeface="Tahoma"/>
                <a:ea typeface="+mn-ea"/>
                <a:cs typeface="+mn-cs"/>
              </a:rPr>
              <a:t>Πολλαπλή κληρονομικότητα (</a:t>
            </a:r>
            <a:r>
              <a:rPr kumimoji="0" lang="en-US" altLang="el-GR" sz="3200" i="0" u="none" strike="noStrike" kern="0" cap="none" spc="0" normalizeH="0" baseline="0" noProof="0" dirty="0">
                <a:ln>
                  <a:noFill/>
                </a:ln>
                <a:solidFill>
                  <a:srgbClr val="000000"/>
                </a:solidFill>
                <a:effectLst/>
                <a:uLnTx/>
                <a:uFillTx/>
                <a:latin typeface="Tahoma"/>
                <a:ea typeface="+mn-ea"/>
                <a:cs typeface="+mn-cs"/>
              </a:rPr>
              <a:t>Multiple inheritance</a:t>
            </a:r>
            <a:r>
              <a:rPr kumimoji="0" lang="el-GR" altLang="el-GR" sz="3200" i="0" u="none" strike="noStrike" kern="0" cap="none" spc="0" normalizeH="0" baseline="0" noProof="0" dirty="0">
                <a:ln>
                  <a:noFill/>
                </a:ln>
                <a:solidFill>
                  <a:srgbClr val="000000"/>
                </a:solidFill>
                <a:effectLst/>
                <a:uLnTx/>
                <a:uFillTx/>
                <a:latin typeface="Tahoma"/>
                <a:ea typeface="+mn-ea"/>
                <a:cs typeface="+mn-cs"/>
              </a:rPr>
              <a:t>)</a:t>
            </a:r>
            <a:endParaRPr kumimoji="0" lang="en-US" altLang="el-GR" sz="3200" i="0" u="none" strike="noStrike" kern="0" cap="none" spc="0" normalizeH="0" baseline="0" noProof="0" dirty="0">
              <a:ln>
                <a:noFill/>
              </a:ln>
              <a:solidFill>
                <a:srgbClr val="000000"/>
              </a:solidFill>
              <a:effectLst/>
              <a:uLnTx/>
              <a:uFillTx/>
              <a:latin typeface="Tahoma"/>
              <a:ea typeface="+mn-ea"/>
              <a:cs typeface="+mn-cs"/>
            </a:endParaRPr>
          </a:p>
          <a:p>
            <a:pPr eaLnBrk="1" hangingPunct="1">
              <a:buClr>
                <a:srgbClr val="3333CC"/>
              </a:buClr>
              <a:defRPr/>
            </a:pPr>
            <a:r>
              <a:rPr kumimoji="0" lang="el-GR" altLang="el-GR" sz="3200" b="1" i="0" u="none" strike="noStrike" kern="0" cap="none" spc="0" normalizeH="0" baseline="0" noProof="0" dirty="0">
                <a:ln>
                  <a:noFill/>
                </a:ln>
                <a:solidFill>
                  <a:srgbClr val="000000"/>
                </a:solidFill>
                <a:effectLst/>
                <a:uLnTx/>
                <a:uFillTx/>
                <a:latin typeface="Tahoma"/>
                <a:ea typeface="+mn-ea"/>
                <a:cs typeface="+mn-cs"/>
              </a:rPr>
              <a:t>Πολυμορφισμός</a:t>
            </a:r>
            <a:r>
              <a:rPr kumimoji="0" lang="en-GB" altLang="el-GR" sz="3200" b="1" i="0" u="none" strike="noStrike" kern="0" cap="none" spc="0" normalizeH="0" baseline="0" noProof="0" dirty="0">
                <a:ln>
                  <a:noFill/>
                </a:ln>
                <a:solidFill>
                  <a:srgbClr val="000000"/>
                </a:solidFill>
                <a:effectLst/>
                <a:uLnTx/>
                <a:uFillTx/>
                <a:latin typeface="Tahoma"/>
                <a:ea typeface="+mn-ea"/>
                <a:cs typeface="+mn-cs"/>
              </a:rPr>
              <a:t> (Polymorphism)</a:t>
            </a:r>
            <a:endParaRPr kumimoji="0" lang="el-GR" altLang="el-GR" sz="3200" b="1"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b="1" kern="0" dirty="0">
                <a:solidFill>
                  <a:srgbClr val="000000"/>
                </a:solidFill>
                <a:latin typeface="Tahoma"/>
              </a:rPr>
              <a:t>Πολυμορφισμός στην </a:t>
            </a:r>
            <a:r>
              <a:rPr lang="en-GB" altLang="el-GR" sz="2400" b="1" kern="0" dirty="0" err="1">
                <a:solidFill>
                  <a:srgbClr val="000000"/>
                </a:solidFill>
                <a:latin typeface="Tahoma"/>
              </a:rPr>
              <a:t>WindowsApp</a:t>
            </a:r>
            <a:endParaRPr lang="en-US" altLang="el-GR" sz="2400" b="1" kern="0" dirty="0">
              <a:solidFill>
                <a:srgbClr val="000000"/>
              </a:solidFill>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0" i="0" u="none" strike="noStrike" kern="0" cap="none" spc="0" normalizeH="0" baseline="0" noProof="0" dirty="0">
                <a:ln>
                  <a:noFill/>
                </a:ln>
                <a:solidFill>
                  <a:srgbClr val="000000"/>
                </a:solidFill>
                <a:effectLst/>
                <a:uLnTx/>
                <a:uFillTx/>
                <a:latin typeface="Tahoma"/>
                <a:ea typeface="+mn-ea"/>
                <a:cs typeface="+mn-cs"/>
              </a:rPr>
              <a:t>Building the inheritance tree</a:t>
            </a:r>
          </a:p>
          <a:p>
            <a:pPr marR="0" lvl="1" indent="-342900" eaLnBrk="1" hangingPunct="1">
              <a:lnSpc>
                <a:spcPct val="100000"/>
              </a:lnSpc>
              <a:buClr>
                <a:srgbClr val="3333CC"/>
              </a:buClr>
              <a:buSzPct val="60000"/>
              <a:tabLst/>
              <a:defRPr/>
            </a:pPr>
            <a:r>
              <a:rPr lang="en-GB" altLang="el-GR" sz="2400" kern="0" dirty="0">
                <a:solidFill>
                  <a:srgbClr val="000000"/>
                </a:solidFill>
                <a:latin typeface="Tahoma"/>
              </a:rPr>
              <a:t>Alternatives in writing a sub class</a:t>
            </a:r>
          </a:p>
          <a:p>
            <a:pPr marR="0" lvl="1" indent="-342900" eaLnBrk="1" hangingPunct="1">
              <a:lnSpc>
                <a:spcPct val="100000"/>
              </a:lnSpc>
              <a:buClr>
                <a:srgbClr val="3333CC"/>
              </a:buClr>
              <a:buSzPct val="60000"/>
              <a:tabLst/>
              <a:defRPr/>
            </a:pPr>
            <a:r>
              <a:rPr lang="en-US" altLang="el-GR" sz="2400" kern="0" dirty="0">
                <a:solidFill>
                  <a:srgbClr val="000000"/>
                </a:solidFill>
                <a:latin typeface="Tahoma"/>
              </a:rPr>
              <a:t>Access level modifiers</a:t>
            </a:r>
            <a:endParaRPr lang="en-GB" altLang="el-GR" sz="2400" kern="0" dirty="0">
              <a:solidFill>
                <a:srgbClr val="000000"/>
              </a:solidFill>
              <a:latin typeface="Tahoma"/>
            </a:endParaRPr>
          </a:p>
        </p:txBody>
      </p:sp>
      <p:sp>
        <p:nvSpPr>
          <p:cNvPr id="5" name="Θέση υποσέλιδου 4">
            <a:extLst>
              <a:ext uri="{FF2B5EF4-FFF2-40B4-BE49-F238E27FC236}">
                <a16:creationId xmlns:a16="http://schemas.microsoft.com/office/drawing/2014/main" id="{AEC04054-865D-3D4E-26D5-F1A509818855}"/>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360397206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Πολυμορφισμός – Μέσα από ένα παράδειγμα</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4" name="Text Box 3">
            <a:extLst>
              <a:ext uri="{FF2B5EF4-FFF2-40B4-BE49-F238E27FC236}">
                <a16:creationId xmlns:a16="http://schemas.microsoft.com/office/drawing/2014/main" id="{B3E60E59-B30F-EA6A-CF5C-99C7577F421B}"/>
              </a:ext>
            </a:extLst>
          </p:cNvPr>
          <p:cNvSpPr txBox="1">
            <a:spLocks noChangeArrowheads="1"/>
          </p:cNvSpPr>
          <p:nvPr/>
        </p:nvSpPr>
        <p:spPr bwMode="auto">
          <a:xfrm>
            <a:off x="3858260" y="5443442"/>
            <a:ext cx="1736725" cy="700087"/>
          </a:xfrm>
          <a:prstGeom prst="rect">
            <a:avLst/>
          </a:prstGeom>
          <a:solidFill>
            <a:srgbClr val="FFFFFF"/>
          </a:solidFill>
          <a:ln w="9525">
            <a:solidFill>
              <a:srgbClr val="FFFFFF"/>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800" b="1" i="1">
                <a:solidFill>
                  <a:srgbClr val="FF0000"/>
                </a:solidFill>
                <a:latin typeface="Times New Roman" panose="02020603050405020304" pitchFamily="18" charset="0"/>
              </a:rPr>
              <a:t>Bring to Front</a:t>
            </a:r>
          </a:p>
        </p:txBody>
      </p:sp>
      <p:sp>
        <p:nvSpPr>
          <p:cNvPr id="5" name="Line 4">
            <a:extLst>
              <a:ext uri="{FF2B5EF4-FFF2-40B4-BE49-F238E27FC236}">
                <a16:creationId xmlns:a16="http://schemas.microsoft.com/office/drawing/2014/main" id="{BF4E8A24-B46B-F36F-107D-B97026A6DAB6}"/>
              </a:ext>
            </a:extLst>
          </p:cNvPr>
          <p:cNvSpPr>
            <a:spLocks noChangeShapeType="1"/>
          </p:cNvSpPr>
          <p:nvPr/>
        </p:nvSpPr>
        <p:spPr bwMode="auto">
          <a:xfrm flipV="1">
            <a:off x="3929698" y="5227542"/>
            <a:ext cx="1363662" cy="9350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6" name="Rectangle 5">
            <a:extLst>
              <a:ext uri="{FF2B5EF4-FFF2-40B4-BE49-F238E27FC236}">
                <a16:creationId xmlns:a16="http://schemas.microsoft.com/office/drawing/2014/main" id="{2015BE42-EE74-8D96-5B30-BEACEADF102B}"/>
              </a:ext>
            </a:extLst>
          </p:cNvPr>
          <p:cNvSpPr>
            <a:spLocks noChangeArrowheads="1"/>
          </p:cNvSpPr>
          <p:nvPr/>
        </p:nvSpPr>
        <p:spPr bwMode="auto">
          <a:xfrm>
            <a:off x="6233160" y="1771554"/>
            <a:ext cx="4392613" cy="2808288"/>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Oval 6">
            <a:extLst>
              <a:ext uri="{FF2B5EF4-FFF2-40B4-BE49-F238E27FC236}">
                <a16:creationId xmlns:a16="http://schemas.microsoft.com/office/drawing/2014/main" id="{BDB7D2DC-A4A2-A5CC-F120-3BECC28E7F48}"/>
              </a:ext>
            </a:extLst>
          </p:cNvPr>
          <p:cNvSpPr>
            <a:spLocks noChangeArrowheads="1"/>
          </p:cNvSpPr>
          <p:nvPr/>
        </p:nvSpPr>
        <p:spPr bwMode="auto">
          <a:xfrm>
            <a:off x="6522085" y="3282854"/>
            <a:ext cx="863600" cy="865188"/>
          </a:xfrm>
          <a:prstGeom prst="ellipse">
            <a:avLst/>
          </a:prstGeom>
          <a:solidFill>
            <a:srgbClr val="00E4A8"/>
          </a:solidFill>
          <a:ln w="9525">
            <a:solidFill>
              <a:srgbClr val="000000"/>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7">
            <a:extLst>
              <a:ext uri="{FF2B5EF4-FFF2-40B4-BE49-F238E27FC236}">
                <a16:creationId xmlns:a16="http://schemas.microsoft.com/office/drawing/2014/main" id="{A3BB7484-4475-354C-9A15-BE7459F4CD52}"/>
              </a:ext>
            </a:extLst>
          </p:cNvPr>
          <p:cNvSpPr>
            <a:spLocks noChangeArrowheads="1"/>
          </p:cNvSpPr>
          <p:nvPr/>
        </p:nvSpPr>
        <p:spPr bwMode="auto">
          <a:xfrm>
            <a:off x="6449060" y="1985867"/>
            <a:ext cx="647700" cy="576262"/>
          </a:xfrm>
          <a:prstGeom prst="rect">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AutoShape 8">
            <a:extLst>
              <a:ext uri="{FF2B5EF4-FFF2-40B4-BE49-F238E27FC236}">
                <a16:creationId xmlns:a16="http://schemas.microsoft.com/office/drawing/2014/main" id="{E9E56924-9450-098B-8E9C-DA795EA11826}"/>
              </a:ext>
            </a:extLst>
          </p:cNvPr>
          <p:cNvSpPr>
            <a:spLocks noChangeArrowheads="1"/>
          </p:cNvSpPr>
          <p:nvPr/>
        </p:nvSpPr>
        <p:spPr bwMode="auto">
          <a:xfrm>
            <a:off x="9330373" y="2274792"/>
            <a:ext cx="863600" cy="865187"/>
          </a:xfrm>
          <a:prstGeom prst="triangle">
            <a:avLst>
              <a:gd name="adj" fmla="val 50000"/>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Oval 9">
            <a:extLst>
              <a:ext uri="{FF2B5EF4-FFF2-40B4-BE49-F238E27FC236}">
                <a16:creationId xmlns:a16="http://schemas.microsoft.com/office/drawing/2014/main" id="{3D3F321E-05E7-6FA2-2563-9E7EEE3DB4E3}"/>
              </a:ext>
            </a:extLst>
          </p:cNvPr>
          <p:cNvSpPr>
            <a:spLocks noChangeArrowheads="1"/>
          </p:cNvSpPr>
          <p:nvPr/>
        </p:nvSpPr>
        <p:spPr bwMode="auto">
          <a:xfrm>
            <a:off x="9185910" y="3571779"/>
            <a:ext cx="863600" cy="865188"/>
          </a:xfrm>
          <a:prstGeom prst="ellipse">
            <a:avLst/>
          </a:prstGeom>
          <a:solidFill>
            <a:srgbClr val="00E4A8"/>
          </a:solidFill>
          <a:ln w="9525">
            <a:solidFill>
              <a:srgbClr val="000000"/>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10">
            <a:extLst>
              <a:ext uri="{FF2B5EF4-FFF2-40B4-BE49-F238E27FC236}">
                <a16:creationId xmlns:a16="http://schemas.microsoft.com/office/drawing/2014/main" id="{92DC00E9-5C2C-7AA1-6B92-AB765F0A0270}"/>
              </a:ext>
            </a:extLst>
          </p:cNvPr>
          <p:cNvSpPr>
            <a:spLocks noChangeArrowheads="1"/>
          </p:cNvSpPr>
          <p:nvPr/>
        </p:nvSpPr>
        <p:spPr bwMode="auto">
          <a:xfrm>
            <a:off x="7890510" y="2058892"/>
            <a:ext cx="720725" cy="719137"/>
          </a:xfrm>
          <a:prstGeom prst="rect">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AutoShape 11">
            <a:extLst>
              <a:ext uri="{FF2B5EF4-FFF2-40B4-BE49-F238E27FC236}">
                <a16:creationId xmlns:a16="http://schemas.microsoft.com/office/drawing/2014/main" id="{E226D403-9090-9FB3-0BB8-E3A274FAA724}"/>
              </a:ext>
            </a:extLst>
          </p:cNvPr>
          <p:cNvSpPr>
            <a:spLocks noChangeArrowheads="1"/>
          </p:cNvSpPr>
          <p:nvPr/>
        </p:nvSpPr>
        <p:spPr bwMode="auto">
          <a:xfrm>
            <a:off x="7746048" y="3209829"/>
            <a:ext cx="863600" cy="865188"/>
          </a:xfrm>
          <a:prstGeom prst="triangle">
            <a:avLst>
              <a:gd name="adj" fmla="val 50000"/>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Rectangle 12">
            <a:extLst>
              <a:ext uri="{FF2B5EF4-FFF2-40B4-BE49-F238E27FC236}">
                <a16:creationId xmlns:a16="http://schemas.microsoft.com/office/drawing/2014/main" id="{BCA65109-0965-3E76-D48A-2DBECD1C4599}"/>
              </a:ext>
            </a:extLst>
          </p:cNvPr>
          <p:cNvSpPr>
            <a:spLocks noChangeArrowheads="1"/>
          </p:cNvSpPr>
          <p:nvPr/>
        </p:nvSpPr>
        <p:spPr bwMode="auto">
          <a:xfrm>
            <a:off x="4648835" y="2419254"/>
            <a:ext cx="4392613" cy="2808288"/>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Oval 13">
            <a:extLst>
              <a:ext uri="{FF2B5EF4-FFF2-40B4-BE49-F238E27FC236}">
                <a16:creationId xmlns:a16="http://schemas.microsoft.com/office/drawing/2014/main" id="{99D02CE6-8F71-1BD2-D96F-0B3F2FA1D8EA}"/>
              </a:ext>
            </a:extLst>
          </p:cNvPr>
          <p:cNvSpPr>
            <a:spLocks noChangeArrowheads="1"/>
          </p:cNvSpPr>
          <p:nvPr/>
        </p:nvSpPr>
        <p:spPr bwMode="auto">
          <a:xfrm>
            <a:off x="4793298" y="2922492"/>
            <a:ext cx="863600" cy="865187"/>
          </a:xfrm>
          <a:prstGeom prst="ellipse">
            <a:avLst/>
          </a:prstGeom>
          <a:solidFill>
            <a:srgbClr val="00E4A8"/>
          </a:solidFill>
          <a:ln w="9525">
            <a:solidFill>
              <a:srgbClr val="000000"/>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Rectangle 14">
            <a:extLst>
              <a:ext uri="{FF2B5EF4-FFF2-40B4-BE49-F238E27FC236}">
                <a16:creationId xmlns:a16="http://schemas.microsoft.com/office/drawing/2014/main" id="{402FE90A-DFF2-FBDA-7A9D-42EA793877D1}"/>
              </a:ext>
            </a:extLst>
          </p:cNvPr>
          <p:cNvSpPr>
            <a:spLocks noChangeArrowheads="1"/>
          </p:cNvSpPr>
          <p:nvPr/>
        </p:nvSpPr>
        <p:spPr bwMode="auto">
          <a:xfrm>
            <a:off x="5801360" y="4003579"/>
            <a:ext cx="1152525" cy="1079500"/>
          </a:xfrm>
          <a:prstGeom prst="rect">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AutoShape 15">
            <a:extLst>
              <a:ext uri="{FF2B5EF4-FFF2-40B4-BE49-F238E27FC236}">
                <a16:creationId xmlns:a16="http://schemas.microsoft.com/office/drawing/2014/main" id="{0C7A782A-DD16-2BB1-A55E-01896D58302E}"/>
              </a:ext>
            </a:extLst>
          </p:cNvPr>
          <p:cNvSpPr>
            <a:spLocks noChangeArrowheads="1"/>
          </p:cNvSpPr>
          <p:nvPr/>
        </p:nvSpPr>
        <p:spPr bwMode="auto">
          <a:xfrm>
            <a:off x="7746048" y="2922492"/>
            <a:ext cx="863600" cy="865187"/>
          </a:xfrm>
          <a:prstGeom prst="triangle">
            <a:avLst>
              <a:gd name="adj" fmla="val 50000"/>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Oval 16">
            <a:extLst>
              <a:ext uri="{FF2B5EF4-FFF2-40B4-BE49-F238E27FC236}">
                <a16:creationId xmlns:a16="http://schemas.microsoft.com/office/drawing/2014/main" id="{5C92BA4F-1DDA-B24B-5F88-72F25D10890D}"/>
              </a:ext>
            </a:extLst>
          </p:cNvPr>
          <p:cNvSpPr>
            <a:spLocks noChangeArrowheads="1"/>
          </p:cNvSpPr>
          <p:nvPr/>
        </p:nvSpPr>
        <p:spPr bwMode="auto">
          <a:xfrm>
            <a:off x="7601585" y="4219479"/>
            <a:ext cx="863600" cy="865188"/>
          </a:xfrm>
          <a:prstGeom prst="ellipse">
            <a:avLst/>
          </a:prstGeom>
          <a:solidFill>
            <a:srgbClr val="00E4A8"/>
          </a:solidFill>
          <a:ln w="9525">
            <a:solidFill>
              <a:srgbClr val="000000"/>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Rectangle 17">
            <a:extLst>
              <a:ext uri="{FF2B5EF4-FFF2-40B4-BE49-F238E27FC236}">
                <a16:creationId xmlns:a16="http://schemas.microsoft.com/office/drawing/2014/main" id="{6831C919-733D-FFD7-B832-E91895E566CC}"/>
              </a:ext>
            </a:extLst>
          </p:cNvPr>
          <p:cNvSpPr>
            <a:spLocks noChangeArrowheads="1"/>
          </p:cNvSpPr>
          <p:nvPr/>
        </p:nvSpPr>
        <p:spPr bwMode="auto">
          <a:xfrm>
            <a:off x="6664960" y="2706592"/>
            <a:ext cx="720725" cy="719137"/>
          </a:xfrm>
          <a:prstGeom prst="rect">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Text Box 18">
            <a:extLst>
              <a:ext uri="{FF2B5EF4-FFF2-40B4-BE49-F238E27FC236}">
                <a16:creationId xmlns:a16="http://schemas.microsoft.com/office/drawing/2014/main" id="{32DF6099-CBF4-A2C9-C635-BB7E197AD44F}"/>
              </a:ext>
            </a:extLst>
          </p:cNvPr>
          <p:cNvSpPr txBox="1">
            <a:spLocks noChangeArrowheads="1"/>
          </p:cNvSpPr>
          <p:nvPr/>
        </p:nvSpPr>
        <p:spPr bwMode="auto">
          <a:xfrm>
            <a:off x="5801360" y="5298979"/>
            <a:ext cx="788988" cy="527050"/>
          </a:xfrm>
          <a:prstGeom prst="rect">
            <a:avLst/>
          </a:prstGeom>
          <a:solidFill>
            <a:srgbClr val="FFFFFF"/>
          </a:solidFill>
          <a:ln w="9525">
            <a:solidFill>
              <a:srgbClr val="FFFFFF"/>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800" b="1" i="1">
                <a:solidFill>
                  <a:srgbClr val="FF0000"/>
                </a:solidFill>
                <a:latin typeface="Times New Roman" panose="02020603050405020304" pitchFamily="18" charset="0"/>
              </a:rPr>
              <a:t>draw</a:t>
            </a:r>
            <a:endParaRPr lang="en-US" altLang="el-GR" sz="1800" b="1">
              <a:solidFill>
                <a:srgbClr val="FF0000"/>
              </a:solidFill>
              <a:latin typeface="Times New Roman" panose="02020603050405020304" pitchFamily="18" charset="0"/>
            </a:endParaRPr>
          </a:p>
        </p:txBody>
      </p:sp>
      <p:sp>
        <p:nvSpPr>
          <p:cNvPr id="23" name="Line 19">
            <a:extLst>
              <a:ext uri="{FF2B5EF4-FFF2-40B4-BE49-F238E27FC236}">
                <a16:creationId xmlns:a16="http://schemas.microsoft.com/office/drawing/2014/main" id="{9AA6F22F-2251-8216-0FDE-A7AFB4C7876D}"/>
              </a:ext>
            </a:extLst>
          </p:cNvPr>
          <p:cNvSpPr>
            <a:spLocks noChangeShapeType="1"/>
          </p:cNvSpPr>
          <p:nvPr/>
        </p:nvSpPr>
        <p:spPr bwMode="auto">
          <a:xfrm flipV="1">
            <a:off x="5637848" y="5049742"/>
            <a:ext cx="473075" cy="5254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24" name="Text Box 20">
            <a:extLst>
              <a:ext uri="{FF2B5EF4-FFF2-40B4-BE49-F238E27FC236}">
                <a16:creationId xmlns:a16="http://schemas.microsoft.com/office/drawing/2014/main" id="{27332250-39BA-E8A6-DB00-32A2A627C4E3}"/>
              </a:ext>
            </a:extLst>
          </p:cNvPr>
          <p:cNvSpPr txBox="1">
            <a:spLocks noChangeArrowheads="1"/>
          </p:cNvSpPr>
          <p:nvPr/>
        </p:nvSpPr>
        <p:spPr bwMode="auto">
          <a:xfrm>
            <a:off x="7385685" y="5298979"/>
            <a:ext cx="788988" cy="455613"/>
          </a:xfrm>
          <a:prstGeom prst="rect">
            <a:avLst/>
          </a:prstGeom>
          <a:solidFill>
            <a:srgbClr val="FFFFFF"/>
          </a:solidFill>
          <a:ln w="9525">
            <a:solidFill>
              <a:srgbClr val="FFFFFF"/>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800" b="1" i="1">
                <a:solidFill>
                  <a:srgbClr val="FF0000"/>
                </a:solidFill>
                <a:latin typeface="Times New Roman" panose="02020603050405020304" pitchFamily="18" charset="0"/>
              </a:rPr>
              <a:t>draw</a:t>
            </a:r>
            <a:endParaRPr lang="en-US" altLang="el-GR" sz="1800" b="1">
              <a:solidFill>
                <a:srgbClr val="FF0000"/>
              </a:solidFill>
              <a:latin typeface="Times New Roman" panose="02020603050405020304" pitchFamily="18" charset="0"/>
            </a:endParaRPr>
          </a:p>
        </p:txBody>
      </p:sp>
      <p:sp>
        <p:nvSpPr>
          <p:cNvPr id="25" name="Line 21">
            <a:extLst>
              <a:ext uri="{FF2B5EF4-FFF2-40B4-BE49-F238E27FC236}">
                <a16:creationId xmlns:a16="http://schemas.microsoft.com/office/drawing/2014/main" id="{BFC2E390-4EFA-C1CA-C45C-C9C09C71DC9C}"/>
              </a:ext>
            </a:extLst>
          </p:cNvPr>
          <p:cNvSpPr>
            <a:spLocks noChangeShapeType="1"/>
          </p:cNvSpPr>
          <p:nvPr/>
        </p:nvSpPr>
        <p:spPr bwMode="auto">
          <a:xfrm flipV="1">
            <a:off x="7222173" y="4978304"/>
            <a:ext cx="473075" cy="5254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grpSp>
        <p:nvGrpSpPr>
          <p:cNvPr id="26" name="Group 22">
            <a:extLst>
              <a:ext uri="{FF2B5EF4-FFF2-40B4-BE49-F238E27FC236}">
                <a16:creationId xmlns:a16="http://schemas.microsoft.com/office/drawing/2014/main" id="{AEB735AC-4727-8A85-DF22-7FBC8F6009FD}"/>
              </a:ext>
            </a:extLst>
          </p:cNvPr>
          <p:cNvGrpSpPr>
            <a:grpSpLocks/>
          </p:cNvGrpSpPr>
          <p:nvPr/>
        </p:nvGrpSpPr>
        <p:grpSpPr bwMode="auto">
          <a:xfrm>
            <a:off x="4505960" y="3714654"/>
            <a:ext cx="952500" cy="776288"/>
            <a:chOff x="827" y="2230"/>
            <a:chExt cx="600" cy="489"/>
          </a:xfrm>
        </p:grpSpPr>
        <p:sp>
          <p:nvSpPr>
            <p:cNvPr id="27" name="Text Box 23">
              <a:extLst>
                <a:ext uri="{FF2B5EF4-FFF2-40B4-BE49-F238E27FC236}">
                  <a16:creationId xmlns:a16="http://schemas.microsoft.com/office/drawing/2014/main" id="{526F5031-B80F-C1B2-419A-044869778008}"/>
                </a:ext>
              </a:extLst>
            </p:cNvPr>
            <p:cNvSpPr txBox="1">
              <a:spLocks noChangeArrowheads="1"/>
            </p:cNvSpPr>
            <p:nvPr/>
          </p:nvSpPr>
          <p:spPr bwMode="auto">
            <a:xfrm>
              <a:off x="930" y="2387"/>
              <a:ext cx="497" cy="332"/>
            </a:xfrm>
            <a:prstGeom prst="rect">
              <a:avLst/>
            </a:prstGeom>
            <a:solidFill>
              <a:srgbClr val="FFFFFF"/>
            </a:solidFill>
            <a:ln w="9525">
              <a:solidFill>
                <a:srgbClr val="FFFFFF"/>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800" b="1" i="1">
                  <a:solidFill>
                    <a:srgbClr val="FF0000"/>
                  </a:solidFill>
                  <a:latin typeface="Times New Roman" panose="02020603050405020304" pitchFamily="18" charset="0"/>
                </a:rPr>
                <a:t>draw</a:t>
              </a:r>
              <a:endParaRPr lang="en-US" altLang="el-GR" sz="1800" b="1">
                <a:solidFill>
                  <a:srgbClr val="FF0000"/>
                </a:solidFill>
                <a:latin typeface="Times New Roman" panose="02020603050405020304" pitchFamily="18" charset="0"/>
              </a:endParaRPr>
            </a:p>
          </p:txBody>
        </p:sp>
        <p:sp>
          <p:nvSpPr>
            <p:cNvPr id="28" name="Line 24">
              <a:extLst>
                <a:ext uri="{FF2B5EF4-FFF2-40B4-BE49-F238E27FC236}">
                  <a16:creationId xmlns:a16="http://schemas.microsoft.com/office/drawing/2014/main" id="{B47A8F52-1ED7-211F-5483-40B4347AE520}"/>
                </a:ext>
              </a:extLst>
            </p:cNvPr>
            <p:cNvSpPr>
              <a:spLocks noChangeShapeType="1"/>
            </p:cNvSpPr>
            <p:nvPr/>
          </p:nvSpPr>
          <p:spPr bwMode="auto">
            <a:xfrm flipV="1">
              <a:off x="827" y="2230"/>
              <a:ext cx="298" cy="33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grpSp>
      <p:sp>
        <p:nvSpPr>
          <p:cNvPr id="29" name="Text Box 25">
            <a:extLst>
              <a:ext uri="{FF2B5EF4-FFF2-40B4-BE49-F238E27FC236}">
                <a16:creationId xmlns:a16="http://schemas.microsoft.com/office/drawing/2014/main" id="{80D164FC-F5CE-6FB2-0670-95471E24B857}"/>
              </a:ext>
            </a:extLst>
          </p:cNvPr>
          <p:cNvSpPr txBox="1">
            <a:spLocks noChangeArrowheads="1"/>
          </p:cNvSpPr>
          <p:nvPr/>
        </p:nvSpPr>
        <p:spPr bwMode="auto">
          <a:xfrm>
            <a:off x="6233160" y="3427317"/>
            <a:ext cx="788988" cy="527050"/>
          </a:xfrm>
          <a:prstGeom prst="rect">
            <a:avLst/>
          </a:prstGeom>
          <a:solidFill>
            <a:srgbClr val="FFFFFF"/>
          </a:solidFill>
          <a:ln w="9525">
            <a:solidFill>
              <a:srgbClr val="FFFFFF"/>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800" b="1" i="1">
                <a:solidFill>
                  <a:srgbClr val="FF0000"/>
                </a:solidFill>
                <a:latin typeface="Times New Roman" panose="02020603050405020304" pitchFamily="18" charset="0"/>
              </a:rPr>
              <a:t>draw</a:t>
            </a:r>
            <a:endParaRPr lang="en-US" altLang="el-GR" sz="1800" b="1">
              <a:solidFill>
                <a:srgbClr val="FF0000"/>
              </a:solidFill>
              <a:latin typeface="Times New Roman" panose="02020603050405020304" pitchFamily="18" charset="0"/>
            </a:endParaRPr>
          </a:p>
        </p:txBody>
      </p:sp>
      <p:sp>
        <p:nvSpPr>
          <p:cNvPr id="30" name="Line 26">
            <a:extLst>
              <a:ext uri="{FF2B5EF4-FFF2-40B4-BE49-F238E27FC236}">
                <a16:creationId xmlns:a16="http://schemas.microsoft.com/office/drawing/2014/main" id="{433416B6-A6E3-54B5-F709-38DBB9EFADEB}"/>
              </a:ext>
            </a:extLst>
          </p:cNvPr>
          <p:cNvSpPr>
            <a:spLocks noChangeShapeType="1"/>
          </p:cNvSpPr>
          <p:nvPr/>
        </p:nvSpPr>
        <p:spPr bwMode="auto">
          <a:xfrm flipV="1">
            <a:off x="6069648" y="3178079"/>
            <a:ext cx="473075" cy="5254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31" name="Text Box 27">
            <a:extLst>
              <a:ext uri="{FF2B5EF4-FFF2-40B4-BE49-F238E27FC236}">
                <a16:creationId xmlns:a16="http://schemas.microsoft.com/office/drawing/2014/main" id="{9B622651-D1C8-FDAB-AE5A-C9F8ABE90C7A}"/>
              </a:ext>
            </a:extLst>
          </p:cNvPr>
          <p:cNvSpPr txBox="1">
            <a:spLocks noChangeArrowheads="1"/>
          </p:cNvSpPr>
          <p:nvPr/>
        </p:nvSpPr>
        <p:spPr bwMode="auto">
          <a:xfrm>
            <a:off x="7457123" y="3859117"/>
            <a:ext cx="788987" cy="360362"/>
          </a:xfrm>
          <a:prstGeom prst="rect">
            <a:avLst/>
          </a:prstGeom>
          <a:solidFill>
            <a:srgbClr val="FFFFFF"/>
          </a:solidFill>
          <a:ln w="9525">
            <a:solidFill>
              <a:srgbClr val="FFFFFF"/>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800" b="1" i="1">
                <a:solidFill>
                  <a:srgbClr val="FF0000"/>
                </a:solidFill>
                <a:latin typeface="Times New Roman" panose="02020603050405020304" pitchFamily="18" charset="0"/>
              </a:rPr>
              <a:t>draw</a:t>
            </a:r>
            <a:endParaRPr lang="en-US" altLang="el-GR" sz="1800" b="1">
              <a:solidFill>
                <a:srgbClr val="FF0000"/>
              </a:solidFill>
              <a:latin typeface="Times New Roman" panose="02020603050405020304" pitchFamily="18" charset="0"/>
            </a:endParaRPr>
          </a:p>
        </p:txBody>
      </p:sp>
      <p:sp>
        <p:nvSpPr>
          <p:cNvPr id="32" name="Line 28">
            <a:extLst>
              <a:ext uri="{FF2B5EF4-FFF2-40B4-BE49-F238E27FC236}">
                <a16:creationId xmlns:a16="http://schemas.microsoft.com/office/drawing/2014/main" id="{D1F48DC0-A6D4-6443-E4D2-BE8AB0530AA0}"/>
              </a:ext>
            </a:extLst>
          </p:cNvPr>
          <p:cNvSpPr>
            <a:spLocks noChangeShapeType="1"/>
          </p:cNvSpPr>
          <p:nvPr/>
        </p:nvSpPr>
        <p:spPr bwMode="auto">
          <a:xfrm flipV="1">
            <a:off x="7293610" y="3609879"/>
            <a:ext cx="473075" cy="5254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33" name="AutoShape 30">
            <a:extLst>
              <a:ext uri="{FF2B5EF4-FFF2-40B4-BE49-F238E27FC236}">
                <a16:creationId xmlns:a16="http://schemas.microsoft.com/office/drawing/2014/main" id="{363B9385-514E-E63C-D76F-B8F8E1E7BFD1}"/>
              </a:ext>
            </a:extLst>
          </p:cNvPr>
          <p:cNvSpPr>
            <a:spLocks noChangeArrowheads="1"/>
          </p:cNvSpPr>
          <p:nvPr/>
        </p:nvSpPr>
        <p:spPr bwMode="auto">
          <a:xfrm>
            <a:off x="693578" y="3703200"/>
            <a:ext cx="2701131" cy="1752600"/>
          </a:xfrm>
          <a:prstGeom prst="wedgeRoundRectCallout">
            <a:avLst>
              <a:gd name="adj1" fmla="val -60967"/>
              <a:gd name="adj2" fmla="val 84872"/>
              <a:gd name="adj3" fmla="val 16667"/>
            </a:avLst>
          </a:prstGeom>
          <a:solidFill>
            <a:srgbClr val="FFCF01"/>
          </a:solidFill>
          <a:ln w="9525">
            <a:solidFill>
              <a:schemeClr val="bg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16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ο αποστολέας ενός μηνύματος δεν χρειάζεται να γνωρίζει την κλάση του στιγμιότυπου παραλήπτη</a:t>
            </a:r>
            <a:endParaRPr kumimoji="0" lang="en-GB" altLang="el-GR" sz="16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4" name="Text Box 31">
            <a:extLst>
              <a:ext uri="{FF2B5EF4-FFF2-40B4-BE49-F238E27FC236}">
                <a16:creationId xmlns:a16="http://schemas.microsoft.com/office/drawing/2014/main" id="{D2C376CE-80F9-C4F3-4A72-B4DB477D10BD}"/>
              </a:ext>
            </a:extLst>
          </p:cNvPr>
          <p:cNvSpPr txBox="1">
            <a:spLocks noChangeArrowheads="1"/>
          </p:cNvSpPr>
          <p:nvPr/>
        </p:nvSpPr>
        <p:spPr bwMode="auto">
          <a:xfrm>
            <a:off x="233997" y="1145827"/>
            <a:ext cx="42719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Shape [] shapes = new Shape[100];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shapes[0] = new Circle(…);</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shapes[1] = new Rectangle(…);</a:t>
            </a:r>
          </a:p>
        </p:txBody>
      </p:sp>
      <p:sp>
        <p:nvSpPr>
          <p:cNvPr id="35" name="Text Box 32">
            <a:extLst>
              <a:ext uri="{FF2B5EF4-FFF2-40B4-BE49-F238E27FC236}">
                <a16:creationId xmlns:a16="http://schemas.microsoft.com/office/drawing/2014/main" id="{78EC33BD-3F51-28AB-CB46-FE69884E7DBB}"/>
              </a:ext>
            </a:extLst>
          </p:cNvPr>
          <p:cNvSpPr txBox="1">
            <a:spLocks noChangeArrowheads="1"/>
          </p:cNvSpPr>
          <p:nvPr/>
        </p:nvSpPr>
        <p:spPr bwMode="auto">
          <a:xfrm>
            <a:off x="282996" y="2690717"/>
            <a:ext cx="2987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800000"/>
                </a:solidFill>
                <a:effectLst/>
                <a:uLnTx/>
                <a:uFillTx/>
                <a:latin typeface="Tahoma" panose="020B0604030504040204" pitchFamily="34" charset="0"/>
              </a:rPr>
              <a:t>for(int i=0; i&lt;100; i++)</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800000"/>
                </a:solidFill>
                <a:effectLst/>
                <a:uLnTx/>
                <a:uFillTx/>
                <a:latin typeface="Tahoma" panose="020B0604030504040204" pitchFamily="34" charset="0"/>
              </a:rPr>
              <a:t>      </a:t>
            </a:r>
            <a:r>
              <a:rPr kumimoji="0" lang="en-US" altLang="el-GR" sz="2000" b="1" i="0" u="none" strike="noStrike" kern="0" cap="none" spc="0" normalizeH="0" baseline="0" noProof="0" dirty="0">
                <a:ln>
                  <a:noFill/>
                </a:ln>
                <a:solidFill>
                  <a:srgbClr val="800000"/>
                </a:solidFill>
                <a:effectLst/>
                <a:uLnTx/>
                <a:uFillTx/>
                <a:latin typeface="Tahoma" panose="020B0604030504040204" pitchFamily="34" charset="0"/>
              </a:rPr>
              <a:t>shapes[i].draw();</a:t>
            </a:r>
          </a:p>
        </p:txBody>
      </p:sp>
      <p:sp>
        <p:nvSpPr>
          <p:cNvPr id="36" name="Explosion: 14 Points 35">
            <a:extLst>
              <a:ext uri="{FF2B5EF4-FFF2-40B4-BE49-F238E27FC236}">
                <a16:creationId xmlns:a16="http://schemas.microsoft.com/office/drawing/2014/main" id="{120900D2-BCDB-E7B4-F5F6-B9458AEBB36C}"/>
              </a:ext>
            </a:extLst>
          </p:cNvPr>
          <p:cNvSpPr/>
          <p:nvPr/>
        </p:nvSpPr>
        <p:spPr bwMode="auto">
          <a:xfrm rot="20380249">
            <a:off x="2979309" y="1491381"/>
            <a:ext cx="4059774" cy="1353592"/>
          </a:xfrm>
          <a:prstGeom prst="irregularSeal2">
            <a:avLst/>
          </a:prstGeom>
          <a:solidFill>
            <a:srgbClr val="FFFFFF"/>
          </a:solidFill>
          <a:ln w="9525" cap="flat" cmpd="sng" algn="ctr">
            <a:solidFill>
              <a:srgbClr val="FF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Tahoma" pitchFamily="34" charset="0"/>
              </a:rPr>
              <a:t>Late binding</a:t>
            </a:r>
            <a:endParaRPr kumimoji="0" lang="el-GR" sz="2400" b="1" i="0" u="none" strike="noStrike" kern="0" cap="none" spc="0" normalizeH="0" baseline="0" noProof="0" dirty="0">
              <a:ln>
                <a:noFill/>
              </a:ln>
              <a:solidFill>
                <a:srgbClr val="FF0000"/>
              </a:solidFill>
              <a:effectLst/>
              <a:uLnTx/>
              <a:uFillTx/>
              <a:latin typeface="Tahoma" pitchFamily="34" charset="0"/>
            </a:endParaRPr>
          </a:p>
        </p:txBody>
      </p:sp>
    </p:spTree>
    <p:extLst>
      <p:ext uri="{BB962C8B-B14F-4D97-AF65-F5344CB8AC3E}">
        <p14:creationId xmlns:p14="http://schemas.microsoft.com/office/powerpoint/2010/main" val="35175768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20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20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blinds(horizontal)">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P spid="35" grpId="0"/>
      <p:bldP spid="3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HandleShapes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pic>
        <p:nvPicPr>
          <p:cNvPr id="5" name="Picture 3">
            <a:extLst>
              <a:ext uri="{FF2B5EF4-FFF2-40B4-BE49-F238E27FC236}">
                <a16:creationId xmlns:a16="http://schemas.microsoft.com/office/drawing/2014/main" id="{78B9983F-D38F-8ADC-F7CE-9F66FE7CA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916113"/>
            <a:ext cx="6443662" cy="444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a:extLst>
              <a:ext uri="{FF2B5EF4-FFF2-40B4-BE49-F238E27FC236}">
                <a16:creationId xmlns:a16="http://schemas.microsoft.com/office/drawing/2014/main" id="{216EB433-EC1F-179C-70A2-BFD22ED7FA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9352" y="719331"/>
            <a:ext cx="442912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a:extLst>
              <a:ext uri="{FF2B5EF4-FFF2-40B4-BE49-F238E27FC236}">
                <a16:creationId xmlns:a16="http://schemas.microsoft.com/office/drawing/2014/main" id="{3E5FCF83-4865-B77A-5AFD-E1AF863192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249" y="701739"/>
            <a:ext cx="4476750"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a:extLst>
              <a:ext uri="{FF2B5EF4-FFF2-40B4-BE49-F238E27FC236}">
                <a16:creationId xmlns:a16="http://schemas.microsoft.com/office/drawing/2014/main" id="{D7E2F066-8B61-065F-E354-B11BB90681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6661" y="2498588"/>
            <a:ext cx="5865339" cy="433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35822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Early binding vs late binding</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34" name="Text Box 31">
            <a:extLst>
              <a:ext uri="{FF2B5EF4-FFF2-40B4-BE49-F238E27FC236}">
                <a16:creationId xmlns:a16="http://schemas.microsoft.com/office/drawing/2014/main" id="{D2C376CE-80F9-C4F3-4A72-B4DB477D10BD}"/>
              </a:ext>
            </a:extLst>
          </p:cNvPr>
          <p:cNvSpPr txBox="1">
            <a:spLocks noChangeArrowheads="1"/>
          </p:cNvSpPr>
          <p:nvPr/>
        </p:nvSpPr>
        <p:spPr bwMode="auto">
          <a:xfrm>
            <a:off x="7058130" y="1182435"/>
            <a:ext cx="42719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Shape [] shapes = new Shape[100];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shapes[0] = new Circle(…);</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shapes[1] = new Rectangle(…);</a:t>
            </a:r>
          </a:p>
        </p:txBody>
      </p:sp>
      <p:sp>
        <p:nvSpPr>
          <p:cNvPr id="35" name="Text Box 32">
            <a:extLst>
              <a:ext uri="{FF2B5EF4-FFF2-40B4-BE49-F238E27FC236}">
                <a16:creationId xmlns:a16="http://schemas.microsoft.com/office/drawing/2014/main" id="{78EC33BD-3F51-28AB-CB46-FE69884E7DBB}"/>
              </a:ext>
            </a:extLst>
          </p:cNvPr>
          <p:cNvSpPr txBox="1">
            <a:spLocks noChangeArrowheads="1"/>
          </p:cNvSpPr>
          <p:nvPr/>
        </p:nvSpPr>
        <p:spPr bwMode="auto">
          <a:xfrm>
            <a:off x="7107129" y="2727325"/>
            <a:ext cx="383180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800000"/>
                </a:solidFill>
                <a:effectLst/>
                <a:uLnTx/>
                <a:uFillTx/>
                <a:latin typeface="Tahoma" panose="020B0604030504040204" pitchFamily="34" charset="0"/>
              </a:rPr>
              <a:t>for(int i=0; i&lt;100; i++)</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800000"/>
                </a:solidFill>
                <a:effectLst/>
                <a:uLnTx/>
                <a:uFillTx/>
                <a:latin typeface="Tahoma" panose="020B0604030504040204" pitchFamily="34" charset="0"/>
              </a:rPr>
              <a:t>      </a:t>
            </a:r>
            <a:r>
              <a:rPr kumimoji="0" lang="en-US" altLang="el-GR" sz="2400" b="1" i="0" u="none" strike="noStrike" kern="0" cap="none" spc="0" normalizeH="0" baseline="0" noProof="0" dirty="0">
                <a:ln>
                  <a:noFill/>
                </a:ln>
                <a:solidFill>
                  <a:srgbClr val="800000"/>
                </a:solidFill>
                <a:effectLst/>
                <a:uLnTx/>
                <a:uFillTx/>
                <a:latin typeface="Tahoma" panose="020B0604030504040204" pitchFamily="34" charset="0"/>
              </a:rPr>
              <a:t>shapes[i].draw();</a:t>
            </a:r>
          </a:p>
        </p:txBody>
      </p:sp>
      <p:sp>
        <p:nvSpPr>
          <p:cNvPr id="38" name="Text Box 31">
            <a:extLst>
              <a:ext uri="{FF2B5EF4-FFF2-40B4-BE49-F238E27FC236}">
                <a16:creationId xmlns:a16="http://schemas.microsoft.com/office/drawing/2014/main" id="{A1D65F3E-6B80-6F9C-3CAF-B5E4BBC7E691}"/>
              </a:ext>
            </a:extLst>
          </p:cNvPr>
          <p:cNvSpPr txBox="1">
            <a:spLocks noChangeArrowheads="1"/>
          </p:cNvSpPr>
          <p:nvPr/>
        </p:nvSpPr>
        <p:spPr bwMode="auto">
          <a:xfrm>
            <a:off x="403330" y="1196470"/>
            <a:ext cx="407515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Circle [] circles = new Circle[100];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circles[0] = new Circle(…);</a:t>
            </a:r>
          </a:p>
          <a:p>
            <a:pPr lvl="0" fontAlgn="base">
              <a:spcBef>
                <a:spcPct val="0"/>
              </a:spcBef>
              <a:spcAft>
                <a:spcPct val="0"/>
              </a:spcAft>
              <a:buClrTx/>
              <a:buSzTx/>
              <a:buNone/>
              <a:defRPr/>
            </a:pPr>
            <a:r>
              <a:rPr lang="en-US" altLang="el-GR" sz="2000" kern="0" dirty="0">
                <a:solidFill>
                  <a:srgbClr val="000000"/>
                </a:solidFill>
              </a:rPr>
              <a:t>circles[</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1] = new </a:t>
            </a:r>
            <a:r>
              <a:rPr lang="en-US" altLang="el-GR" sz="2000" kern="0" dirty="0">
                <a:solidFill>
                  <a:srgbClr val="000000"/>
                </a:solidFill>
              </a:rPr>
              <a:t>Circle(…);</a:t>
            </a:r>
            <a:endPar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9" name="Text Box 32">
            <a:extLst>
              <a:ext uri="{FF2B5EF4-FFF2-40B4-BE49-F238E27FC236}">
                <a16:creationId xmlns:a16="http://schemas.microsoft.com/office/drawing/2014/main" id="{171484EA-E3B4-CD97-0C8C-34F0F1A9CD44}"/>
              </a:ext>
            </a:extLst>
          </p:cNvPr>
          <p:cNvSpPr txBox="1">
            <a:spLocks noChangeArrowheads="1"/>
          </p:cNvSpPr>
          <p:nvPr/>
        </p:nvSpPr>
        <p:spPr bwMode="auto">
          <a:xfrm>
            <a:off x="452329" y="2741360"/>
            <a:ext cx="36455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800000"/>
                </a:solidFill>
                <a:effectLst/>
                <a:uLnTx/>
                <a:uFillTx/>
              </a:rPr>
              <a:t>for(int i=0; i&lt;100; i++)</a:t>
            </a:r>
          </a:p>
          <a:p>
            <a:pPr lvl="0" fontAlgn="base">
              <a:spcBef>
                <a:spcPct val="0"/>
              </a:spcBef>
              <a:spcAft>
                <a:spcPct val="0"/>
              </a:spcAft>
              <a:buClrTx/>
              <a:buSzTx/>
              <a:buNone/>
              <a:defRPr/>
            </a:pPr>
            <a:r>
              <a:rPr kumimoji="0" lang="en-US" altLang="el-GR" sz="2400" b="0" i="0" u="none" strike="noStrike" kern="0" cap="none" spc="0" normalizeH="0" baseline="0" noProof="0" dirty="0">
                <a:ln>
                  <a:noFill/>
                </a:ln>
                <a:solidFill>
                  <a:srgbClr val="800000"/>
                </a:solidFill>
                <a:effectLst/>
                <a:uLnTx/>
                <a:uFillTx/>
              </a:rPr>
              <a:t>       </a:t>
            </a:r>
            <a:r>
              <a:rPr lang="en-US" altLang="el-GR" sz="2400" kern="0" noProof="0" dirty="0">
                <a:solidFill>
                  <a:srgbClr val="000000"/>
                </a:solidFill>
              </a:rPr>
              <a:t>c</a:t>
            </a:r>
            <a:r>
              <a:rPr lang="en-US" altLang="el-GR" sz="2400" kern="0" dirty="0" err="1">
                <a:solidFill>
                  <a:srgbClr val="000000"/>
                </a:solidFill>
              </a:rPr>
              <a:t>ircles</a:t>
            </a:r>
            <a:r>
              <a:rPr kumimoji="0" lang="en-US" altLang="el-GR" sz="2400" b="1" i="0" u="none" strike="noStrike" kern="0" cap="none" spc="0" normalizeH="0" baseline="0" noProof="0" dirty="0">
                <a:ln>
                  <a:noFill/>
                </a:ln>
                <a:solidFill>
                  <a:srgbClr val="800000"/>
                </a:solidFill>
                <a:effectLst/>
                <a:uLnTx/>
                <a:uFillTx/>
              </a:rPr>
              <a:t>[i].draw();</a:t>
            </a:r>
          </a:p>
        </p:txBody>
      </p:sp>
      <p:sp>
        <p:nvSpPr>
          <p:cNvPr id="40" name="Rectangle 39">
            <a:extLst>
              <a:ext uri="{FF2B5EF4-FFF2-40B4-BE49-F238E27FC236}">
                <a16:creationId xmlns:a16="http://schemas.microsoft.com/office/drawing/2014/main" id="{FC994154-E50A-2BED-1C7B-A290EE030E5A}"/>
              </a:ext>
            </a:extLst>
          </p:cNvPr>
          <p:cNvSpPr/>
          <p:nvPr/>
        </p:nvSpPr>
        <p:spPr>
          <a:xfrm>
            <a:off x="403330" y="3794268"/>
            <a:ext cx="3525203" cy="1015663"/>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t>Compile-time binding (</a:t>
            </a:r>
            <a:r>
              <a:rPr lang="en-GB" sz="2800" b="1" dirty="0"/>
              <a:t>early binding</a:t>
            </a:r>
            <a:r>
              <a:rPr lang="en-GB" sz="2800" dirty="0"/>
              <a:t>)</a:t>
            </a:r>
          </a:p>
        </p:txBody>
      </p:sp>
      <p:sp>
        <p:nvSpPr>
          <p:cNvPr id="43" name="Rectangle 42">
            <a:extLst>
              <a:ext uri="{FF2B5EF4-FFF2-40B4-BE49-F238E27FC236}">
                <a16:creationId xmlns:a16="http://schemas.microsoft.com/office/drawing/2014/main" id="{488B6EBC-AA25-A507-E998-EF8D0614C6D3}"/>
              </a:ext>
            </a:extLst>
          </p:cNvPr>
          <p:cNvSpPr/>
          <p:nvPr/>
        </p:nvSpPr>
        <p:spPr>
          <a:xfrm>
            <a:off x="7107129" y="3758077"/>
            <a:ext cx="3525203" cy="1015663"/>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t>Run-time binding </a:t>
            </a:r>
          </a:p>
          <a:p>
            <a:pPr algn="ctr"/>
            <a:r>
              <a:rPr lang="en-GB" sz="2800" dirty="0"/>
              <a:t>(</a:t>
            </a:r>
            <a:r>
              <a:rPr lang="en-GB" sz="2800" b="1" dirty="0"/>
              <a:t>late binding</a:t>
            </a:r>
            <a:r>
              <a:rPr lang="en-GB" sz="2800" dirty="0"/>
              <a:t>)</a:t>
            </a:r>
          </a:p>
        </p:txBody>
      </p:sp>
    </p:spTree>
    <p:extLst>
      <p:ext uri="{BB962C8B-B14F-4D97-AF65-F5344CB8AC3E}">
        <p14:creationId xmlns:p14="http://schemas.microsoft.com/office/powerpoint/2010/main" val="32408097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20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20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20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20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8" grpId="0"/>
      <p:bldP spid="39" grpId="0"/>
      <p:bldP spid="40" grpId="0" animBg="1"/>
      <p:bldP spid="4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Virtual Methods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652974D3-9E57-28D2-6F99-51B35EBC3783}"/>
              </a:ext>
            </a:extLst>
          </p:cNvPr>
          <p:cNvSpPr txBox="1">
            <a:spLocks noChangeArrowheads="1"/>
          </p:cNvSpPr>
          <p:nvPr/>
        </p:nvSpPr>
        <p:spPr bwMode="auto">
          <a:xfrm>
            <a:off x="0" y="981075"/>
            <a:ext cx="11662612"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r>
              <a:rPr lang="el-GR" altLang="el-GR" kern="0" dirty="0">
                <a:latin typeface="Times New Roman Greek" panose="02020603050405020304" pitchFamily="18" charset="0"/>
                <a:ea typeface="Times New Roman Greek" panose="02020603050405020304" pitchFamily="18" charset="0"/>
                <a:cs typeface="Times New Roman Greek" panose="02020603050405020304" pitchFamily="18" charset="0"/>
              </a:rPr>
              <a:t>Είναι η μέθοδος της οποίας η λειτουργικότητα μπορεί να επικαλυφθεί (</a:t>
            </a:r>
            <a:r>
              <a:rPr lang="en-US" altLang="el-GR" kern="0" dirty="0">
                <a:latin typeface="Times New Roman Greek" panose="02020603050405020304" pitchFamily="18" charset="0"/>
                <a:ea typeface="Times New Roman Greek" panose="02020603050405020304" pitchFamily="18" charset="0"/>
                <a:cs typeface="Times New Roman Greek" panose="02020603050405020304" pitchFamily="18" charset="0"/>
              </a:rPr>
              <a:t>overridden</a:t>
            </a:r>
            <a:r>
              <a:rPr lang="el-GR" altLang="el-GR" kern="0" dirty="0">
                <a:latin typeface="Times New Roman Greek" panose="02020603050405020304" pitchFamily="18" charset="0"/>
                <a:ea typeface="Times New Roman Greek" panose="02020603050405020304" pitchFamily="18" charset="0"/>
                <a:cs typeface="Times New Roman Greek" panose="02020603050405020304" pitchFamily="18" charset="0"/>
              </a:rPr>
              <a:t>) στις </a:t>
            </a:r>
            <a:r>
              <a:rPr lang="el-GR" altLang="el-GR" kern="0" dirty="0" err="1">
                <a:latin typeface="Times New Roman Greek" panose="02020603050405020304" pitchFamily="18" charset="0"/>
                <a:ea typeface="Times New Roman Greek" panose="02020603050405020304" pitchFamily="18" charset="0"/>
                <a:cs typeface="Times New Roman Greek" panose="02020603050405020304" pitchFamily="18" charset="0"/>
              </a:rPr>
              <a:t>απόγονες</a:t>
            </a:r>
            <a:r>
              <a:rPr lang="el-GR" altLang="el-GR" kern="0" dirty="0">
                <a:latin typeface="Times New Roman Greek" panose="02020603050405020304" pitchFamily="18" charset="0"/>
                <a:ea typeface="Times New Roman Greek" panose="02020603050405020304" pitchFamily="18" charset="0"/>
                <a:cs typeface="Times New Roman Greek" panose="02020603050405020304" pitchFamily="18" charset="0"/>
              </a:rPr>
              <a:t> κλάσεις από μέθοδο με την ίδια υπογραφή. </a:t>
            </a:r>
            <a:endParaRPr lang="en-US" altLang="el-GR" kern="0" dirty="0">
              <a:latin typeface="Times New Roman Greek" panose="02020603050405020304" pitchFamily="18" charset="0"/>
              <a:ea typeface="Times New Roman Greek" panose="02020603050405020304" pitchFamily="18" charset="0"/>
              <a:cs typeface="Times New Roman Greek" panose="02020603050405020304" pitchFamily="18" charset="0"/>
            </a:endParaRPr>
          </a:p>
          <a:p>
            <a:r>
              <a:rPr lang="el-GR" altLang="el-GR" sz="2800" kern="0" dirty="0">
                <a:latin typeface="Times New Roman" panose="02020603050405020304" pitchFamily="18" charset="0"/>
                <a:cs typeface="Times New Roman" panose="02020603050405020304" pitchFamily="18" charset="0"/>
              </a:rPr>
              <a:t>Οι </a:t>
            </a:r>
            <a:r>
              <a:rPr lang="en-US" altLang="el-GR" sz="2800" kern="0" dirty="0">
                <a:latin typeface="Times New Roman" panose="02020603050405020304" pitchFamily="18" charset="0"/>
                <a:cs typeface="Times New Roman" panose="02020603050405020304" pitchFamily="18" charset="0"/>
              </a:rPr>
              <a:t>Virtual </a:t>
            </a:r>
            <a:r>
              <a:rPr lang="el-GR" altLang="el-GR" sz="2800" kern="0" dirty="0">
                <a:latin typeface="Times New Roman" panose="02020603050405020304" pitchFamily="18" charset="0"/>
                <a:cs typeface="Times New Roman" panose="02020603050405020304" pitchFamily="18" charset="0"/>
              </a:rPr>
              <a:t>μέθοδοι επιτρέπουν σε ένα πρόγραμμα να καλεί μεθόδους οι οποίες δεν έχουν οριστεί κατά τον χρόνο μεταγλώττισης.</a:t>
            </a:r>
            <a:r>
              <a:rPr lang="en-US" altLang="el-GR" sz="2800" kern="0" dirty="0">
                <a:latin typeface="Times New Roman" panose="02020603050405020304" pitchFamily="18" charset="0"/>
                <a:cs typeface="Times New Roman" panose="02020603050405020304" pitchFamily="18" charset="0"/>
              </a:rPr>
              <a:t> </a:t>
            </a:r>
            <a:endParaRPr lang="el-GR" altLang="el-GR" sz="2800" kern="0" dirty="0">
              <a:latin typeface="Times New Roman" panose="02020603050405020304" pitchFamily="18" charset="0"/>
              <a:cs typeface="Times New Roman" panose="02020603050405020304" pitchFamily="18" charset="0"/>
            </a:endParaRPr>
          </a:p>
          <a:p>
            <a:r>
              <a:rPr lang="el-GR" altLang="el-GR" sz="2800" b="1" kern="0" dirty="0" err="1">
                <a:solidFill>
                  <a:srgbClr val="FF0000"/>
                </a:solidFill>
                <a:latin typeface="Times New Roman" panose="02020603050405020304" pitchFamily="18" charset="0"/>
                <a:cs typeface="Times New Roman" panose="02020603050405020304" pitchFamily="18" charset="0"/>
              </a:rPr>
              <a:t>Ολές</a:t>
            </a:r>
            <a:r>
              <a:rPr lang="el-GR" altLang="el-GR" sz="2800" b="1" kern="0" dirty="0">
                <a:solidFill>
                  <a:srgbClr val="FF0000"/>
                </a:solidFill>
                <a:latin typeface="Times New Roman" panose="02020603050405020304" pitchFamily="18" charset="0"/>
                <a:cs typeface="Times New Roman" panose="02020603050405020304" pitchFamily="18" charset="0"/>
              </a:rPr>
              <a:t> οι </a:t>
            </a:r>
            <a:r>
              <a:rPr lang="en-US" altLang="el-GR" sz="2800" b="1" kern="0" dirty="0">
                <a:solidFill>
                  <a:srgbClr val="FF0000"/>
                </a:solidFill>
                <a:latin typeface="Times New Roman" panose="02020603050405020304" pitchFamily="18" charset="0"/>
                <a:cs typeface="Times New Roman" panose="02020603050405020304" pitchFamily="18" charset="0"/>
              </a:rPr>
              <a:t>non-static </a:t>
            </a:r>
            <a:r>
              <a:rPr lang="el-GR" altLang="el-GR" sz="2800" b="1" kern="0" dirty="0">
                <a:solidFill>
                  <a:srgbClr val="FF0000"/>
                </a:solidFill>
                <a:latin typeface="Times New Roman" panose="02020603050405020304" pitchFamily="18" charset="0"/>
                <a:cs typeface="Times New Roman" panose="02020603050405020304" pitchFamily="18" charset="0"/>
              </a:rPr>
              <a:t>μέθοδοι είναι </a:t>
            </a:r>
            <a:r>
              <a:rPr lang="en-US" altLang="el-GR" sz="2800" b="1" kern="0" dirty="0">
                <a:solidFill>
                  <a:srgbClr val="FF0000"/>
                </a:solidFill>
                <a:latin typeface="Times New Roman" panose="02020603050405020304" pitchFamily="18" charset="0"/>
                <a:cs typeface="Times New Roman" panose="02020603050405020304" pitchFamily="18" charset="0"/>
              </a:rPr>
              <a:t>by default "virtual“ </a:t>
            </a:r>
            <a:r>
              <a:rPr lang="en-US" altLang="el-GR" sz="2800" kern="0" dirty="0">
                <a:latin typeface="Times New Roman" panose="02020603050405020304" pitchFamily="18" charset="0"/>
                <a:cs typeface="Times New Roman" panose="02020603050405020304" pitchFamily="18" charset="0"/>
              </a:rPr>
              <a:t>(in Java). </a:t>
            </a:r>
          </a:p>
          <a:p>
            <a:r>
              <a:rPr lang="el-GR" altLang="el-GR" sz="2800" kern="0" dirty="0">
                <a:latin typeface="Times New Roman" panose="02020603050405020304" pitchFamily="18" charset="0"/>
                <a:cs typeface="Times New Roman" panose="02020603050405020304" pitchFamily="18" charset="0"/>
              </a:rPr>
              <a:t>Δύο κατηγορίες </a:t>
            </a:r>
            <a:r>
              <a:rPr lang="en-US" altLang="el-GR" sz="2800" kern="0" dirty="0">
                <a:latin typeface="Times New Roman" panose="02020603050405020304" pitchFamily="18" charset="0"/>
                <a:cs typeface="Times New Roman" panose="02020603050405020304" pitchFamily="18" charset="0"/>
              </a:rPr>
              <a:t>non-static </a:t>
            </a:r>
            <a:r>
              <a:rPr lang="el-GR" altLang="el-GR" sz="2800" kern="0" dirty="0">
                <a:latin typeface="Times New Roman" panose="02020603050405020304" pitchFamily="18" charset="0"/>
                <a:cs typeface="Times New Roman" panose="02020603050405020304" pitchFamily="18" charset="0"/>
              </a:rPr>
              <a:t>μεθόδων δεν είναι </a:t>
            </a:r>
            <a:r>
              <a:rPr lang="en-US" altLang="el-GR" sz="2800" kern="0" dirty="0">
                <a:latin typeface="Times New Roman" panose="02020603050405020304" pitchFamily="18" charset="0"/>
                <a:cs typeface="Times New Roman" panose="02020603050405020304" pitchFamily="18" charset="0"/>
              </a:rPr>
              <a:t> virtual: </a:t>
            </a:r>
          </a:p>
          <a:p>
            <a:pPr lvl="1"/>
            <a:r>
              <a:rPr lang="en-US" altLang="el-GR" sz="2400" kern="0" dirty="0">
                <a:latin typeface="Times New Roman" panose="02020603050405020304" pitchFamily="18" charset="0"/>
                <a:cs typeface="Times New Roman" panose="02020603050405020304" pitchFamily="18" charset="0"/>
              </a:rPr>
              <a:t>final, which cannot be overridden, and </a:t>
            </a:r>
          </a:p>
          <a:p>
            <a:pPr lvl="1"/>
            <a:r>
              <a:rPr lang="en-US" altLang="el-GR" sz="2400" kern="0" dirty="0">
                <a:latin typeface="Times New Roman" panose="02020603050405020304" pitchFamily="18" charset="0"/>
                <a:cs typeface="Times New Roman" panose="02020603050405020304" pitchFamily="18" charset="0"/>
              </a:rPr>
              <a:t>private methods, which are not inherited. </a:t>
            </a:r>
          </a:p>
          <a:p>
            <a:r>
              <a:rPr lang="en-GB" altLang="el-GR" sz="2800" kern="0" dirty="0">
                <a:latin typeface="Times New Roman" panose="02020603050405020304" pitchFamily="18" charset="0"/>
                <a:cs typeface="Times New Roman" panose="02020603050405020304" pitchFamily="18" charset="0"/>
              </a:rPr>
              <a:t>C++: </a:t>
            </a:r>
            <a:r>
              <a:rPr lang="en-GB" altLang="el-GR" sz="2800" b="1" kern="0" dirty="0">
                <a:latin typeface="Times New Roman" panose="02020603050405020304" pitchFamily="18" charset="0"/>
                <a:cs typeface="Times New Roman" panose="02020603050405020304" pitchFamily="18" charset="0"/>
              </a:rPr>
              <a:t>virtual</a:t>
            </a:r>
            <a:r>
              <a:rPr lang="en-GB" altLang="el-GR" sz="2800" kern="0" dirty="0">
                <a:latin typeface="Times New Roman" panose="02020603050405020304" pitchFamily="18" charset="0"/>
                <a:cs typeface="Times New Roman" panose="02020603050405020304" pitchFamily="18" charset="0"/>
              </a:rPr>
              <a:t> keyword</a:t>
            </a:r>
          </a:p>
          <a:p>
            <a:pPr marL="0" indent="0">
              <a:buNone/>
            </a:pPr>
            <a:r>
              <a:rPr lang="en-GB" b="1" dirty="0"/>
              <a:t>	virtual</a:t>
            </a:r>
            <a:r>
              <a:rPr lang="en-GB" dirty="0"/>
              <a:t> </a:t>
            </a:r>
            <a:r>
              <a:rPr lang="en-GB" b="1" dirty="0"/>
              <a:t>void</a:t>
            </a:r>
            <a:r>
              <a:rPr lang="en-GB" dirty="0"/>
              <a:t> display(){    </a:t>
            </a:r>
          </a:p>
          <a:p>
            <a:pPr lvl="1"/>
            <a:endParaRPr lang="el-GR" altLang="el-GR" sz="24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6768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blinds(horizontal)">
                                      <p:cBhvr>
                                        <p:cTn id="25" dur="500"/>
                                        <p:tgtEl>
                                          <p:spTgt spid="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blinds(horizontal)">
                                      <p:cBhvr>
                                        <p:cTn id="28" dur="500"/>
                                        <p:tgtEl>
                                          <p:spTgt spid="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blinds(horizontal)">
                                      <p:cBhvr>
                                        <p:cTn id="33" dur="500"/>
                                        <p:tgtEl>
                                          <p:spTgt spid="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blinds(horizontal)">
                                      <p:cBhvr>
                                        <p:cTn id="38"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Operation vs. Method</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A012D18A-C19D-DE07-81E3-E24B3933D6FC}"/>
              </a:ext>
            </a:extLst>
          </p:cNvPr>
          <p:cNvSpPr txBox="1">
            <a:spLocks/>
          </p:cNvSpPr>
          <p:nvPr/>
        </p:nvSpPr>
        <p:spPr bwMode="auto">
          <a:xfrm>
            <a:off x="0" y="930442"/>
            <a:ext cx="8341894" cy="403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0" fontAlgn="base" latinLnBrk="0" hangingPunct="0">
              <a:lnSpc>
                <a:spcPct val="100000"/>
              </a:lnSpc>
              <a:spcBef>
                <a:spcPct val="20000"/>
              </a:spcBef>
              <a:spcAft>
                <a:spcPct val="0"/>
              </a:spcAft>
              <a:buClr>
                <a:srgbClr val="3333CC"/>
              </a:buClr>
              <a:buSzPct val="60000"/>
              <a:buNone/>
              <a:tabLst/>
              <a:defRPr/>
            </a:pPr>
            <a:r>
              <a:rPr kumimoji="0" lang="en-GB" sz="3200" b="1" i="0" u="none" strike="noStrike" kern="0" cap="none" spc="0" normalizeH="0" baseline="0" noProof="0" dirty="0">
                <a:ln>
                  <a:noFill/>
                </a:ln>
                <a:solidFill>
                  <a:srgbClr val="000000"/>
                </a:solidFill>
                <a:effectLst/>
                <a:uLnTx/>
                <a:uFillTx/>
                <a:latin typeface="Tahoma"/>
                <a:ea typeface="+mn-ea"/>
                <a:cs typeface="+mn-cs"/>
              </a:rPr>
              <a:t>Operation</a:t>
            </a:r>
            <a:endParaRPr kumimoji="0" lang="el-GR" sz="3200" b="1"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is an abstraction of some computation that can be performed</a:t>
            </a:r>
            <a:r>
              <a:rPr kumimoji="0" lang="el-GR" sz="3200" b="0" i="0" u="none" strike="noStrike" kern="0" cap="none" spc="0" normalizeH="0" baseline="0" noProof="0" dirty="0">
                <a:ln>
                  <a:noFill/>
                </a:ln>
                <a:solidFill>
                  <a:srgbClr val="000000"/>
                </a:solidFill>
                <a:effectLst/>
                <a:uLnTx/>
                <a:uFillTx/>
                <a:latin typeface="Tahoma"/>
                <a:ea typeface="+mn-ea"/>
                <a:cs typeface="+mn-cs"/>
              </a:rPr>
              <a:t>, </a:t>
            </a:r>
            <a:r>
              <a:rPr kumimoji="0" lang="en-US" sz="3200" b="0" i="0" u="none" strike="noStrike" kern="0" cap="none" spc="0" normalizeH="0" baseline="0" noProof="0" dirty="0">
                <a:ln>
                  <a:noFill/>
                </a:ln>
                <a:solidFill>
                  <a:srgbClr val="000000"/>
                </a:solidFill>
                <a:effectLst/>
                <a:uLnTx/>
                <a:uFillTx/>
                <a:latin typeface="Tahoma"/>
                <a:ea typeface="+mn-ea"/>
                <a:cs typeface="+mn-cs"/>
              </a:rPr>
              <a:t>e.g.,</a:t>
            </a:r>
          </a:p>
          <a:p>
            <a:pPr marL="0" marR="0" lvl="0" indent="0" algn="l" defTabSz="914400" rtl="0" eaLnBrk="0" fontAlgn="base" latinLnBrk="0" hangingPunct="0">
              <a:lnSpc>
                <a:spcPct val="100000"/>
              </a:lnSpc>
              <a:spcBef>
                <a:spcPct val="20000"/>
              </a:spcBef>
              <a:spcAft>
                <a:spcPct val="0"/>
              </a:spcAft>
              <a:buClr>
                <a:srgbClr val="3333CC"/>
              </a:buClr>
              <a:buSzPct val="60000"/>
              <a:buNone/>
              <a:tabLst/>
              <a:defRPr/>
            </a:pPr>
            <a:r>
              <a:rPr lang="en-US" kern="0" dirty="0">
                <a:solidFill>
                  <a:srgbClr val="000000"/>
                </a:solidFill>
                <a:latin typeface="Tahoma"/>
              </a:rPr>
              <a:t>	</a:t>
            </a:r>
            <a:r>
              <a:rPr lang="en-US" kern="0" dirty="0">
                <a:solidFill>
                  <a:srgbClr val="C00000"/>
                </a:solidFill>
                <a:latin typeface="Tahoma"/>
              </a:rPr>
              <a:t>draw() </a:t>
            </a:r>
            <a:r>
              <a:rPr lang="en-US" kern="0" dirty="0">
                <a:solidFill>
                  <a:srgbClr val="000000"/>
                </a:solidFill>
                <a:latin typeface="Tahoma"/>
              </a:rPr>
              <a:t>of class Shape</a:t>
            </a:r>
            <a:r>
              <a:rPr kumimoji="0" lang="en-US" sz="3200" b="0" i="0" u="none" strike="noStrike" kern="0" cap="none" spc="0" normalizeH="0" baseline="0" noProof="0" dirty="0">
                <a:ln>
                  <a:noFill/>
                </a:ln>
                <a:solidFill>
                  <a:srgbClr val="000000"/>
                </a:solidFill>
                <a:effectLst/>
                <a:uLnTx/>
                <a:uFillTx/>
                <a:latin typeface="Tahoma"/>
                <a:ea typeface="+mn-ea"/>
                <a:cs typeface="+mn-cs"/>
              </a:rPr>
              <a:t> </a:t>
            </a:r>
            <a:endParaRPr lang="el-GR" kern="0" dirty="0">
              <a:solidFill>
                <a:srgbClr val="000000"/>
              </a:solidFill>
              <a:latin typeface="Tahoma"/>
            </a:endParaRPr>
          </a:p>
          <a:p>
            <a:pPr marL="0" marR="0" lvl="0" indent="0" algn="l" defTabSz="914400" rtl="0" eaLnBrk="0" fontAlgn="base" latinLnBrk="0" hangingPunct="0">
              <a:lnSpc>
                <a:spcPct val="100000"/>
              </a:lnSpc>
              <a:spcBef>
                <a:spcPct val="20000"/>
              </a:spcBef>
              <a:spcAft>
                <a:spcPct val="0"/>
              </a:spcAft>
              <a:buClr>
                <a:srgbClr val="3333CC"/>
              </a:buClr>
              <a:buSzPct val="60000"/>
              <a:buNone/>
              <a:tabLst/>
              <a:defRPr/>
            </a:pPr>
            <a:r>
              <a:rPr kumimoji="0" lang="el-GR" b="0" i="0" u="none" strike="noStrike" kern="0" cap="none" spc="0" normalizeH="0" baseline="0" noProof="0" dirty="0">
                <a:ln>
                  <a:noFill/>
                </a:ln>
                <a:solidFill>
                  <a:srgbClr val="000000"/>
                </a:solidFill>
                <a:effectLst/>
                <a:uLnTx/>
                <a:uFillTx/>
                <a:latin typeface="Tahoma"/>
                <a:ea typeface="+mn-ea"/>
                <a:cs typeface="+mn-cs"/>
              </a:rPr>
              <a:t>	</a:t>
            </a:r>
            <a:r>
              <a:rPr kumimoji="0" lang="en-US" b="0" i="0" u="none" strike="noStrike" kern="0" cap="none" spc="0" normalizeH="0" baseline="0" noProof="0" dirty="0">
                <a:ln>
                  <a:noFill/>
                </a:ln>
                <a:solidFill>
                  <a:srgbClr val="C00000"/>
                </a:solidFill>
                <a:effectLst/>
                <a:uLnTx/>
                <a:uFillTx/>
                <a:latin typeface="Tahoma"/>
                <a:ea typeface="+mn-ea"/>
                <a:cs typeface="+mn-cs"/>
              </a:rPr>
              <a:t>operate() </a:t>
            </a:r>
            <a:r>
              <a:rPr kumimoji="0" lang="en-US" b="0" i="0" u="none" strike="noStrike" kern="0" cap="none" spc="0" normalizeH="0" baseline="0" noProof="0" dirty="0">
                <a:ln>
                  <a:noFill/>
                </a:ln>
                <a:solidFill>
                  <a:srgbClr val="000000"/>
                </a:solidFill>
                <a:effectLst/>
                <a:uLnTx/>
                <a:uFillTx/>
                <a:latin typeface="Tahoma"/>
                <a:ea typeface="+mn-ea"/>
                <a:cs typeface="+mn-cs"/>
              </a:rPr>
              <a:t>of class Operator </a:t>
            </a:r>
          </a:p>
          <a:p>
            <a:pPr marL="0" marR="0" lvl="0" indent="0" algn="l" defTabSz="914400" rtl="0" eaLnBrk="0" fontAlgn="base" latinLnBrk="0" hangingPunct="0">
              <a:lnSpc>
                <a:spcPct val="100000"/>
              </a:lnSpc>
              <a:spcBef>
                <a:spcPct val="20000"/>
              </a:spcBef>
              <a:spcAft>
                <a:spcPct val="0"/>
              </a:spcAft>
              <a:buClr>
                <a:srgbClr val="3333CC"/>
              </a:buClr>
              <a:buSzPct val="60000"/>
              <a:buNone/>
              <a:tabLst/>
              <a:defRPr/>
            </a:pPr>
            <a:r>
              <a:rPr kumimoji="0" lang="en-US" sz="3200" b="1" i="0" u="none" strike="noStrike" kern="0" cap="none" spc="0" normalizeH="0" baseline="0" noProof="0" dirty="0">
                <a:ln>
                  <a:noFill/>
                </a:ln>
                <a:solidFill>
                  <a:srgbClr val="000000"/>
                </a:solidFill>
                <a:effectLst/>
                <a:uLnTx/>
                <a:uFillTx/>
                <a:latin typeface="Tahoma"/>
                <a:ea typeface="+mn-ea"/>
                <a:cs typeface="+mn-cs"/>
              </a:rPr>
              <a:t>Method</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is one of one-or-more implementations of the operation in a </a:t>
            </a:r>
            <a:r>
              <a:rPr kumimoji="0" lang="en-US" sz="3200" b="0" i="1" u="none" strike="noStrike" kern="0" cap="none" spc="0" normalizeH="0" baseline="0" noProof="0" dirty="0">
                <a:ln>
                  <a:noFill/>
                </a:ln>
                <a:solidFill>
                  <a:srgbClr val="000000"/>
                </a:solidFill>
                <a:effectLst/>
                <a:uLnTx/>
                <a:uFillTx/>
                <a:latin typeface="Tahoma"/>
                <a:ea typeface="+mn-ea"/>
                <a:cs typeface="+mn-cs"/>
              </a:rPr>
              <a:t>particular</a:t>
            </a:r>
            <a:r>
              <a:rPr kumimoji="0" lang="en-US" sz="3200" b="0" i="0" u="none" strike="noStrike" kern="0" cap="none" spc="0" normalizeH="0" baseline="0" noProof="0" dirty="0">
                <a:ln>
                  <a:noFill/>
                </a:ln>
                <a:solidFill>
                  <a:srgbClr val="000000"/>
                </a:solidFill>
                <a:effectLst/>
                <a:uLnTx/>
                <a:uFillTx/>
                <a:latin typeface="Tahoma"/>
                <a:ea typeface="+mn-ea"/>
                <a:cs typeface="+mn-cs"/>
              </a:rPr>
              <a:t> class</a:t>
            </a:r>
            <a:r>
              <a:rPr kumimoji="0" lang="el-GR" sz="3200" b="0" i="0" u="none" strike="noStrike" kern="0" cap="none" spc="0" normalizeH="0" baseline="0" noProof="0" dirty="0">
                <a:ln>
                  <a:noFill/>
                </a:ln>
                <a:solidFill>
                  <a:srgbClr val="000000"/>
                </a:solidFill>
                <a:effectLst/>
                <a:uLnTx/>
                <a:uFillTx/>
                <a:latin typeface="Tahoma"/>
                <a:ea typeface="+mn-ea"/>
                <a:cs typeface="+mn-cs"/>
              </a:rPr>
              <a:t>,</a:t>
            </a:r>
            <a:r>
              <a:rPr kumimoji="0" lang="el-GR" sz="3200" b="0" i="0" u="none" strike="noStrike" kern="0" cap="none" spc="0" normalizeH="0" noProof="0" dirty="0">
                <a:ln>
                  <a:noFill/>
                </a:ln>
                <a:solidFill>
                  <a:srgbClr val="000000"/>
                </a:solidFill>
                <a:effectLst/>
                <a:uLnTx/>
                <a:uFillTx/>
                <a:latin typeface="Tahoma"/>
                <a:ea typeface="+mn-ea"/>
                <a:cs typeface="+mn-cs"/>
              </a:rPr>
              <a:t> </a:t>
            </a:r>
            <a:r>
              <a:rPr kumimoji="0" lang="en-US" sz="3200" b="0" i="0" u="none" strike="noStrike" kern="0" cap="none" spc="0" normalizeH="0" baseline="0" noProof="0" dirty="0">
                <a:ln>
                  <a:noFill/>
                </a:ln>
                <a:solidFill>
                  <a:srgbClr val="000000"/>
                </a:solidFill>
                <a:effectLst/>
                <a:uLnTx/>
                <a:uFillTx/>
                <a:latin typeface="Tahoma"/>
                <a:ea typeface="+mn-ea"/>
                <a:cs typeface="+mn-cs"/>
              </a:rPr>
              <a:t>e.g., </a:t>
            </a:r>
            <a:endParaRPr kumimoji="0" lang="el-GR" sz="3200" b="0" i="0" u="none" strike="noStrike" kern="0" cap="none" spc="0" normalizeH="0" baseline="0" noProof="0" dirty="0">
              <a:ln>
                <a:noFill/>
              </a:ln>
              <a:solidFill>
                <a:srgbClr val="000000"/>
              </a:solidFill>
              <a:effectLst/>
              <a:uLnTx/>
              <a:uFillTx/>
              <a:latin typeface="Tahoma"/>
              <a:ea typeface="+mn-ea"/>
              <a:cs typeface="+mn-cs"/>
            </a:endParaRPr>
          </a:p>
          <a:p>
            <a:pPr marL="0" lvl="0" indent="0">
              <a:buClr>
                <a:srgbClr val="3333CC"/>
              </a:buClr>
              <a:buNone/>
              <a:defRPr/>
            </a:pPr>
            <a:r>
              <a:rPr kumimoji="0" lang="el-GR" sz="3200" b="0" i="0" u="none" strike="noStrike" kern="0" cap="none" spc="0" normalizeH="0" baseline="0" noProof="0" dirty="0">
                <a:ln>
                  <a:noFill/>
                </a:ln>
                <a:solidFill>
                  <a:srgbClr val="000000"/>
                </a:solidFill>
                <a:effectLst/>
                <a:uLnTx/>
                <a:uFillTx/>
                <a:latin typeface="Tahoma"/>
                <a:ea typeface="+mn-ea"/>
                <a:cs typeface="+mn-cs"/>
              </a:rPr>
              <a:t>	</a:t>
            </a:r>
            <a:r>
              <a:rPr lang="en-US" kern="0" dirty="0">
                <a:solidFill>
                  <a:srgbClr val="C00000"/>
                </a:solidFill>
                <a:latin typeface="Tahoma"/>
              </a:rPr>
              <a:t>draw() </a:t>
            </a:r>
            <a:r>
              <a:rPr lang="en-US" kern="0" dirty="0">
                <a:solidFill>
                  <a:srgbClr val="000000"/>
                </a:solidFill>
                <a:latin typeface="Tahoma"/>
              </a:rPr>
              <a:t>of class Circle</a:t>
            </a:r>
            <a:endParaRPr kumimoji="0" lang="en-GB" sz="3200" b="0" i="0" u="none" strike="noStrike" kern="0" cap="none" spc="0" normalizeH="0" baseline="0" noProof="0" dirty="0">
              <a:ln>
                <a:noFill/>
              </a:ln>
              <a:solidFill>
                <a:srgbClr val="000000"/>
              </a:solidFill>
              <a:effectLst/>
              <a:uLnTx/>
              <a:uFillTx/>
              <a:latin typeface="Tahoma"/>
              <a:ea typeface="+mn-ea"/>
              <a:cs typeface="+mn-cs"/>
            </a:endParaRPr>
          </a:p>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lang="en-GB" kern="0" dirty="0">
                <a:solidFill>
                  <a:srgbClr val="000000"/>
                </a:solidFill>
                <a:latin typeface="Tahoma"/>
              </a:rPr>
              <a:t>	</a:t>
            </a:r>
            <a:r>
              <a:rPr kumimoji="0" lang="en-US" sz="3200" b="0" i="0" u="none" strike="noStrike" kern="0" cap="none" spc="0" normalizeH="0" baseline="0" noProof="0" dirty="0">
                <a:ln>
                  <a:noFill/>
                </a:ln>
                <a:solidFill>
                  <a:srgbClr val="C00000"/>
                </a:solidFill>
                <a:effectLst/>
                <a:uLnTx/>
                <a:uFillTx/>
                <a:latin typeface="Tahoma"/>
                <a:ea typeface="+mn-ea"/>
                <a:cs typeface="+mn-cs"/>
              </a:rPr>
              <a:t>operate() </a:t>
            </a:r>
            <a:r>
              <a:rPr kumimoji="0" lang="en-US" sz="3200" b="0" i="0" u="none" strike="noStrike" kern="0" cap="none" spc="0" normalizeH="0" baseline="0" noProof="0" dirty="0">
                <a:ln>
                  <a:noFill/>
                </a:ln>
                <a:solidFill>
                  <a:srgbClr val="000000"/>
                </a:solidFill>
                <a:effectLst/>
                <a:uLnTx/>
                <a:uFillTx/>
                <a:latin typeface="Tahoma"/>
                <a:ea typeface="+mn-ea"/>
                <a:cs typeface="+mn-cs"/>
              </a:rPr>
              <a:t>of class Adder </a:t>
            </a:r>
            <a:endParaRPr kumimoji="0" lang="en-US" altLang="el-GR" sz="2000" b="0" i="1"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altLang="el-GR" sz="2000" b="0" i="1"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3200" b="0" i="0" u="none" strike="noStrike" kern="0" cap="none" spc="0" normalizeH="0" baseline="0" noProof="0" dirty="0">
              <a:ln>
                <a:noFill/>
              </a:ln>
              <a:solidFill>
                <a:srgbClr val="000000"/>
              </a:solidFill>
              <a:effectLst/>
              <a:uLnTx/>
              <a:uFillTx/>
              <a:latin typeface="Tahoma"/>
              <a:ea typeface="+mn-ea"/>
              <a:cs typeface="+mn-cs"/>
            </a:endParaRPr>
          </a:p>
        </p:txBody>
      </p:sp>
      <p:pic>
        <p:nvPicPr>
          <p:cNvPr id="4" name="Picture 3">
            <a:extLst>
              <a:ext uri="{FF2B5EF4-FFF2-40B4-BE49-F238E27FC236}">
                <a16:creationId xmlns:a16="http://schemas.microsoft.com/office/drawing/2014/main" id="{E19626AD-FA56-1460-8831-155FEE776F1D}"/>
              </a:ext>
            </a:extLst>
          </p:cNvPr>
          <p:cNvPicPr>
            <a:picLocks noChangeAspect="1"/>
          </p:cNvPicPr>
          <p:nvPr/>
        </p:nvPicPr>
        <p:blipFill>
          <a:blip r:embed="rId3"/>
          <a:stretch>
            <a:fillRect/>
          </a:stretch>
        </p:blipFill>
        <p:spPr>
          <a:xfrm>
            <a:off x="8713754" y="753671"/>
            <a:ext cx="3337577" cy="1251592"/>
          </a:xfrm>
          <a:prstGeom prst="rect">
            <a:avLst/>
          </a:prstGeom>
        </p:spPr>
      </p:pic>
      <p:pic>
        <p:nvPicPr>
          <p:cNvPr id="6" name="Picture 5">
            <a:extLst>
              <a:ext uri="{FF2B5EF4-FFF2-40B4-BE49-F238E27FC236}">
                <a16:creationId xmlns:a16="http://schemas.microsoft.com/office/drawing/2014/main" id="{2955EC28-CFA1-42D1-9F4A-DC3F2F2055DC}"/>
              </a:ext>
            </a:extLst>
          </p:cNvPr>
          <p:cNvPicPr>
            <a:picLocks noChangeAspect="1"/>
          </p:cNvPicPr>
          <p:nvPr/>
        </p:nvPicPr>
        <p:blipFill>
          <a:blip r:embed="rId4"/>
          <a:stretch>
            <a:fillRect/>
          </a:stretch>
        </p:blipFill>
        <p:spPr>
          <a:xfrm>
            <a:off x="5945019" y="2948990"/>
            <a:ext cx="6246980" cy="1364413"/>
          </a:xfrm>
          <a:prstGeom prst="rect">
            <a:avLst/>
          </a:prstGeom>
        </p:spPr>
      </p:pic>
    </p:spTree>
    <p:extLst>
      <p:ext uri="{BB962C8B-B14F-4D97-AF65-F5344CB8AC3E}">
        <p14:creationId xmlns:p14="http://schemas.microsoft.com/office/powerpoint/2010/main" val="30357584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blinds(horizontal)">
                                      <p:cBhvr>
                                        <p:cTn id="16" dur="500"/>
                                        <p:tgtEl>
                                          <p:spTgt spid="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blinds(horizontal)">
                                      <p:cBhvr>
                                        <p:cTn id="19" dur="500"/>
                                        <p:tgtEl>
                                          <p:spTgt spid="5">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blinds(horizontal)">
                                      <p:cBhvr>
                                        <p:cTn id="22" dur="500"/>
                                        <p:tgtEl>
                                          <p:spTgt spid="5">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blinds(horizontal)">
                                      <p:cBhvr>
                                        <p:cTn id="25" dur="500"/>
                                        <p:tgtEl>
                                          <p:spTgt spid="5">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blinds(horizontal)">
                                      <p:cBhvr>
                                        <p:cTn id="28"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Polymorphism - Inheritance</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6" name="Content Placeholder 3">
            <a:extLst>
              <a:ext uri="{FF2B5EF4-FFF2-40B4-BE49-F238E27FC236}">
                <a16:creationId xmlns:a16="http://schemas.microsoft.com/office/drawing/2014/main" id="{436AC370-047A-4FAE-1962-7CA997F9BEAE}"/>
              </a:ext>
            </a:extLst>
          </p:cNvPr>
          <p:cNvSpPr txBox="1">
            <a:spLocks noChangeArrowheads="1"/>
          </p:cNvSpPr>
          <p:nvPr/>
        </p:nvSpPr>
        <p:spPr bwMode="auto">
          <a:xfrm>
            <a:off x="179387" y="1125538"/>
            <a:ext cx="1091194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a:ln>
                  <a:noFill/>
                </a:ln>
                <a:solidFill>
                  <a:srgbClr val="000000"/>
                </a:solidFill>
                <a:effectLst/>
                <a:uLnTx/>
                <a:uFillTx/>
                <a:latin typeface="Tahoma"/>
                <a:ea typeface="+mn-ea"/>
                <a:cs typeface="+mn-cs"/>
              </a:rPr>
              <a:t>Subtype polymorphism, almost universally called just </a:t>
            </a:r>
            <a:r>
              <a:rPr kumimoji="0" lang="en-US" altLang="el-GR" sz="2400" b="1" i="0" u="none" strike="noStrike" kern="0" cap="none" spc="0" normalizeH="0" baseline="0" noProof="0">
                <a:ln>
                  <a:noFill/>
                </a:ln>
                <a:solidFill>
                  <a:srgbClr val="000000"/>
                </a:solidFill>
                <a:effectLst/>
                <a:uLnTx/>
                <a:uFillTx/>
                <a:latin typeface="Tahoma"/>
                <a:ea typeface="+mn-ea"/>
                <a:cs typeface="+mn-cs"/>
              </a:rPr>
              <a:t>polymorphism</a:t>
            </a:r>
            <a:r>
              <a:rPr kumimoji="0" lang="en-US" altLang="el-GR" sz="2400" b="0" i="0" u="none" strike="noStrike" kern="0" cap="none" spc="0" normalizeH="0" baseline="0" noProof="0">
                <a:ln>
                  <a:noFill/>
                </a:ln>
                <a:solidFill>
                  <a:srgbClr val="000000"/>
                </a:solidFill>
                <a:effectLst/>
                <a:uLnTx/>
                <a:uFillTx/>
                <a:latin typeface="Tahoma"/>
                <a:ea typeface="+mn-ea"/>
                <a:cs typeface="+mn-cs"/>
              </a:rPr>
              <a:t> in the context of OO programming, is the ability to create a variable, a function, or an object that </a:t>
            </a:r>
            <a:r>
              <a:rPr kumimoji="0" lang="en-US" altLang="el-GR" sz="2400" b="1" i="0" u="none" strike="noStrike" kern="0" cap="none" spc="0" normalizeH="0" baseline="0" noProof="0">
                <a:ln>
                  <a:noFill/>
                </a:ln>
                <a:solidFill>
                  <a:srgbClr val="000000"/>
                </a:solidFill>
                <a:effectLst/>
                <a:uLnTx/>
                <a:uFillTx/>
                <a:latin typeface="Tahoma"/>
                <a:ea typeface="+mn-ea"/>
                <a:cs typeface="+mn-cs"/>
              </a:rPr>
              <a:t>has more than one form</a:t>
            </a:r>
            <a:r>
              <a:rPr kumimoji="0" lang="en-US" altLang="el-GR" sz="2400" b="0" i="0" u="none" strike="noStrike" kern="0" cap="none" spc="0" normalizeH="0" baseline="0" noProof="0">
                <a:ln>
                  <a:noFill/>
                </a:ln>
                <a:solidFill>
                  <a:srgbClr val="000000"/>
                </a:solidFill>
                <a:effectLst/>
                <a:uLnTx/>
                <a:uFillTx/>
                <a:latin typeface="Tahoma"/>
                <a:ea typeface="+mn-ea"/>
                <a:cs typeface="+mn-cs"/>
              </a:rPr>
              <a:t>. The word derives from the Greek meaning "having multiple forms".</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a:ln>
                  <a:noFill/>
                </a:ln>
                <a:solidFill>
                  <a:srgbClr val="000000"/>
                </a:solidFill>
                <a:effectLst/>
                <a:uLnTx/>
                <a:uFillTx/>
                <a:latin typeface="Tahoma"/>
                <a:ea typeface="+mn-ea"/>
                <a:cs typeface="+mn-cs"/>
              </a:rPr>
              <a:t>The primary usage of polymorphism in industry (object-oriented programming theory) is the ability of objects belonging to different types to respond to method, field, or property calls of the same name, each one according to an appropriate type-specific behavior.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a:ln>
                  <a:noFill/>
                </a:ln>
                <a:solidFill>
                  <a:srgbClr val="000000"/>
                </a:solidFill>
                <a:effectLst/>
                <a:uLnTx/>
                <a:uFillTx/>
                <a:latin typeface="Tahoma"/>
                <a:ea typeface="+mn-ea"/>
                <a:cs typeface="+mn-cs"/>
              </a:rPr>
              <a:t>The programmer (and the program) does not have to know the exact type of the object in advance, and so </a:t>
            </a:r>
            <a:r>
              <a:rPr kumimoji="0" lang="en-US" altLang="el-GR" sz="2400" b="0" i="0" u="none" strike="noStrike" kern="0" cap="none" spc="0" normalizeH="0" baseline="0" noProof="0">
                <a:ln>
                  <a:noFill/>
                </a:ln>
                <a:solidFill>
                  <a:srgbClr val="C00000"/>
                </a:solidFill>
                <a:effectLst/>
                <a:uLnTx/>
                <a:uFillTx/>
                <a:latin typeface="Tahoma"/>
                <a:ea typeface="+mn-ea"/>
                <a:cs typeface="+mn-cs"/>
              </a:rPr>
              <a:t>the exact behavior is determined at run-time</a:t>
            </a:r>
            <a:r>
              <a:rPr kumimoji="0" lang="en-US" altLang="el-GR" sz="2400" b="0" i="0" u="none" strike="noStrike" kern="0" cap="none" spc="0" normalizeH="0" baseline="0" noProof="0">
                <a:ln>
                  <a:noFill/>
                </a:ln>
                <a:solidFill>
                  <a:srgbClr val="000000"/>
                </a:solidFill>
                <a:effectLst/>
                <a:uLnTx/>
                <a:uFillTx/>
                <a:latin typeface="Tahoma"/>
                <a:ea typeface="+mn-ea"/>
                <a:cs typeface="+mn-cs"/>
              </a:rPr>
              <a:t> (this is called </a:t>
            </a:r>
            <a:r>
              <a:rPr kumimoji="0" lang="en-US" altLang="el-GR" sz="2400" b="1" i="1" u="none" strike="noStrike" kern="0" cap="none" spc="0" normalizeH="0" baseline="0" noProof="0">
                <a:ln>
                  <a:noFill/>
                </a:ln>
                <a:solidFill>
                  <a:srgbClr val="000000"/>
                </a:solidFill>
                <a:effectLst/>
                <a:uLnTx/>
                <a:uFillTx/>
                <a:latin typeface="Tahoma"/>
                <a:ea typeface="+mn-ea"/>
                <a:cs typeface="+mn-cs"/>
              </a:rPr>
              <a:t>late binding</a:t>
            </a:r>
            <a:r>
              <a:rPr kumimoji="0" lang="en-US" altLang="el-GR" sz="2400" b="1" i="0" u="none" strike="noStrike" kern="0" cap="none" spc="0" normalizeH="0" baseline="0" noProof="0">
                <a:ln>
                  <a:noFill/>
                </a:ln>
                <a:solidFill>
                  <a:srgbClr val="000000"/>
                </a:solidFill>
                <a:effectLst/>
                <a:uLnTx/>
                <a:uFillTx/>
                <a:latin typeface="Tahoma"/>
                <a:ea typeface="+mn-ea"/>
                <a:cs typeface="+mn-cs"/>
              </a:rPr>
              <a:t> </a:t>
            </a:r>
            <a:r>
              <a:rPr kumimoji="0" lang="en-US" altLang="el-GR" sz="2400" b="0" i="0" u="none" strike="noStrike" kern="0" cap="none" spc="0" normalizeH="0" baseline="0" noProof="0">
                <a:ln>
                  <a:noFill/>
                </a:ln>
                <a:solidFill>
                  <a:srgbClr val="000000"/>
                </a:solidFill>
                <a:effectLst/>
                <a:uLnTx/>
                <a:uFillTx/>
                <a:latin typeface="Tahoma"/>
                <a:ea typeface="+mn-ea"/>
                <a:cs typeface="+mn-cs"/>
              </a:rPr>
              <a:t>or </a:t>
            </a:r>
            <a:r>
              <a:rPr kumimoji="0" lang="en-US" altLang="el-GR" sz="2400" b="0" i="1" u="none" strike="noStrike" kern="0" cap="none" spc="0" normalizeH="0" baseline="0" noProof="0">
                <a:ln>
                  <a:noFill/>
                </a:ln>
                <a:solidFill>
                  <a:srgbClr val="000000"/>
                </a:solidFill>
                <a:effectLst/>
                <a:uLnTx/>
                <a:uFillTx/>
                <a:latin typeface="Tahoma"/>
                <a:ea typeface="+mn-ea"/>
                <a:cs typeface="+mn-cs"/>
              </a:rPr>
              <a:t>dynamic binding</a:t>
            </a:r>
            <a:r>
              <a:rPr kumimoji="0" lang="en-US" altLang="el-GR" sz="2400" b="0" i="0" u="none" strike="noStrike" kern="0" cap="none" spc="0" normalizeH="0" baseline="0" noProof="0">
                <a:ln>
                  <a:noFill/>
                </a:ln>
                <a:solidFill>
                  <a:srgbClr val="000000"/>
                </a:solidFill>
                <a:effectLst/>
                <a:uLnTx/>
                <a:uFillTx/>
                <a:latin typeface="Tahoma"/>
                <a:ea typeface="+mn-ea"/>
                <a:cs typeface="+mn-cs"/>
              </a:rPr>
              <a:t>).</a:t>
            </a:r>
            <a:endParaRPr kumimoji="0" lang="el-GR" altLang="el-GR" sz="2400" b="0" i="0" u="none" strike="noStrike" kern="0" cap="none" spc="0" normalizeH="0" baseline="0" noProof="0" dirty="0">
              <a:ln>
                <a:noFill/>
              </a:ln>
              <a:solidFill>
                <a:srgbClr val="000000"/>
              </a:solidFill>
              <a:effectLst/>
              <a:uLnTx/>
              <a:uFillTx/>
              <a:latin typeface="Tahoma"/>
              <a:ea typeface="+mn-ea"/>
              <a:cs typeface="+mn-cs"/>
            </a:endParaRPr>
          </a:p>
        </p:txBody>
      </p:sp>
    </p:spTree>
    <p:extLst>
      <p:ext uri="{BB962C8B-B14F-4D97-AF65-F5344CB8AC3E}">
        <p14:creationId xmlns:p14="http://schemas.microsoft.com/office/powerpoint/2010/main" val="30125814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Polymorphism in Python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Content Placeholder 3">
            <a:extLst>
              <a:ext uri="{FF2B5EF4-FFF2-40B4-BE49-F238E27FC236}">
                <a16:creationId xmlns:a16="http://schemas.microsoft.com/office/drawing/2014/main" id="{4380780B-E29C-E13B-B2F4-75059EC79BA7}"/>
              </a:ext>
            </a:extLst>
          </p:cNvPr>
          <p:cNvSpPr txBox="1">
            <a:spLocks noChangeArrowheads="1"/>
          </p:cNvSpPr>
          <p:nvPr/>
        </p:nvSpPr>
        <p:spPr bwMode="auto">
          <a:xfrm>
            <a:off x="160348" y="1029747"/>
            <a:ext cx="8794750" cy="1799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sz="3200" b="0" i="0" u="none" strike="noStrike" kern="0" cap="none" spc="0" normalizeH="0" baseline="0" noProof="0">
                <a:ln>
                  <a:noFill/>
                </a:ln>
                <a:solidFill>
                  <a:srgbClr val="000000"/>
                </a:solidFill>
                <a:effectLst/>
                <a:uLnTx/>
                <a:uFillTx/>
                <a:latin typeface="Tahoma"/>
                <a:ea typeface="+mn-ea"/>
                <a:cs typeface="+mn-cs"/>
              </a:rPr>
              <a:t>Functions that work with several types are called </a:t>
            </a:r>
            <a:r>
              <a:rPr kumimoji="0" lang="en-US" sz="3200" b="1" i="0" u="none" strike="noStrike" kern="0" cap="none" spc="0" normalizeH="0" baseline="0" noProof="0">
                <a:ln>
                  <a:noFill/>
                </a:ln>
                <a:solidFill>
                  <a:srgbClr val="000000"/>
                </a:solidFill>
                <a:effectLst/>
                <a:uLnTx/>
                <a:uFillTx/>
                <a:latin typeface="Tahoma"/>
                <a:ea typeface="+mn-ea"/>
                <a:cs typeface="+mn-cs"/>
              </a:rPr>
              <a:t>polymorphic</a:t>
            </a:r>
            <a:r>
              <a:rPr kumimoji="0" lang="en-US" sz="3200" b="0" i="0" u="none" strike="noStrike" kern="0" cap="none" spc="0" normalizeH="0" baseline="0" noProof="0">
                <a:ln>
                  <a:noFill/>
                </a:ln>
                <a:solidFill>
                  <a:srgbClr val="000000"/>
                </a:solidFill>
                <a:effectLst/>
                <a:uLnTx/>
                <a:uFillTx/>
                <a:latin typeface="Tahoma"/>
                <a:ea typeface="+mn-ea"/>
                <a:cs typeface="+mn-cs"/>
              </a:rPr>
              <a:t>. Polymorphism can facilitate code reuse.</a:t>
            </a:r>
            <a:endParaRPr kumimoji="0" lang="en-US" sz="3200" b="0" i="0" u="none" strike="noStrike" kern="0" cap="none" spc="0" normalizeH="0" baseline="0" noProof="0" dirty="0">
              <a:ln>
                <a:noFill/>
              </a:ln>
              <a:solidFill>
                <a:srgbClr val="000000"/>
              </a:solidFill>
              <a:effectLst/>
              <a:uLnTx/>
              <a:uFillTx/>
              <a:latin typeface="Tahoma"/>
              <a:ea typeface="+mn-ea"/>
              <a:cs typeface="+mn-cs"/>
            </a:endParaRPr>
          </a:p>
        </p:txBody>
      </p:sp>
      <p:sp>
        <p:nvSpPr>
          <p:cNvPr id="6" name="TextBox 4">
            <a:extLst>
              <a:ext uri="{FF2B5EF4-FFF2-40B4-BE49-F238E27FC236}">
                <a16:creationId xmlns:a16="http://schemas.microsoft.com/office/drawing/2014/main" id="{898C8459-0FE7-B13E-0B59-6CA854C6A55B}"/>
              </a:ext>
            </a:extLst>
          </p:cNvPr>
          <p:cNvSpPr txBox="1">
            <a:spLocks noChangeArrowheads="1"/>
          </p:cNvSpPr>
          <p:nvPr/>
        </p:nvSpPr>
        <p:spPr bwMode="auto">
          <a:xfrm>
            <a:off x="10268993" y="6314250"/>
            <a:ext cx="16782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200" b="0" i="0" u="none" strike="noStrike" kern="0" cap="none" spc="0" normalizeH="0" baseline="0" noProof="0" dirty="0">
                <a:ln>
                  <a:noFill/>
                </a:ln>
                <a:solidFill>
                  <a:srgbClr val="000000"/>
                </a:solidFill>
                <a:effectLst/>
                <a:uLnTx/>
                <a:uFillTx/>
                <a:latin typeface="Tahoma" panose="020B0604030504040204" pitchFamily="34" charset="0"/>
              </a:rPr>
              <a:t>Source: ThinkPython2</a:t>
            </a:r>
            <a:endParaRPr kumimoji="0" lang="el-GR" altLang="el-GR" sz="1200" b="0" i="0" u="none" strike="noStrike" kern="0" cap="none" spc="0" normalizeH="0" baseline="0" noProof="0" dirty="0">
              <a:ln>
                <a:noFill/>
              </a:ln>
              <a:solidFill>
                <a:srgbClr val="000000"/>
              </a:solidFill>
              <a:effectLst/>
              <a:uLnTx/>
              <a:uFillTx/>
              <a:latin typeface="Tahoma" panose="020B0604030504040204" pitchFamily="34" charset="0"/>
            </a:endParaRPr>
          </a:p>
        </p:txBody>
      </p:sp>
      <p:pic>
        <p:nvPicPr>
          <p:cNvPr id="7" name="Picture 6">
            <a:extLst>
              <a:ext uri="{FF2B5EF4-FFF2-40B4-BE49-F238E27FC236}">
                <a16:creationId xmlns:a16="http://schemas.microsoft.com/office/drawing/2014/main" id="{1F90BEA6-065D-D9EE-3FCE-24FC2CBFA011}"/>
              </a:ext>
            </a:extLst>
          </p:cNvPr>
          <p:cNvPicPr>
            <a:picLocks noChangeAspect="1"/>
          </p:cNvPicPr>
          <p:nvPr/>
        </p:nvPicPr>
        <p:blipFill>
          <a:blip r:embed="rId3"/>
          <a:stretch>
            <a:fillRect/>
          </a:stretch>
        </p:blipFill>
        <p:spPr>
          <a:xfrm>
            <a:off x="6901085" y="3336449"/>
            <a:ext cx="3816424" cy="2911247"/>
          </a:xfrm>
          <a:prstGeom prst="rect">
            <a:avLst/>
          </a:prstGeom>
        </p:spPr>
      </p:pic>
      <p:sp>
        <p:nvSpPr>
          <p:cNvPr id="9" name="Content Placeholder 3">
            <a:extLst>
              <a:ext uri="{FF2B5EF4-FFF2-40B4-BE49-F238E27FC236}">
                <a16:creationId xmlns:a16="http://schemas.microsoft.com/office/drawing/2014/main" id="{3D8974B2-0D0E-0579-7B25-7F7399CDF878}"/>
              </a:ext>
            </a:extLst>
          </p:cNvPr>
          <p:cNvSpPr txBox="1">
            <a:spLocks noChangeArrowheads="1"/>
          </p:cNvSpPr>
          <p:nvPr/>
        </p:nvSpPr>
        <p:spPr bwMode="auto">
          <a:xfrm>
            <a:off x="160348" y="3789040"/>
            <a:ext cx="5596985" cy="1799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pPr>
            <a:r>
              <a:rPr lang="en-US" kern="0" dirty="0">
                <a:solidFill>
                  <a:srgbClr val="000000"/>
                </a:solidFill>
                <a:latin typeface="Tahoma"/>
              </a:rPr>
              <a:t>Initially wrote for strings, also works for other sequence types, i.e., lists and tuples,</a:t>
            </a:r>
            <a:r>
              <a:rPr lang="en-US" sz="2000" kern="0" dirty="0">
                <a:solidFill>
                  <a:srgbClr val="000000"/>
                </a:solidFill>
                <a:latin typeface="Tahoma"/>
              </a:rPr>
              <a:t> </a:t>
            </a:r>
            <a:endParaRPr lang="en-US" kern="0" dirty="0">
              <a:solidFill>
                <a:srgbClr val="000000"/>
              </a:solidFill>
              <a:latin typeface="Tahoma"/>
            </a:endParaRPr>
          </a:p>
        </p:txBody>
      </p:sp>
    </p:spTree>
    <p:extLst>
      <p:ext uri="{BB962C8B-B14F-4D97-AF65-F5344CB8AC3E}">
        <p14:creationId xmlns:p14="http://schemas.microsoft.com/office/powerpoint/2010/main" val="21849664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3">
            <a:extLst>
              <a:ext uri="{FF2B5EF4-FFF2-40B4-BE49-F238E27FC236}">
                <a16:creationId xmlns:a16="http://schemas.microsoft.com/office/drawing/2014/main" id="{D00A73DD-A4AD-2E56-2E78-11F100DEBBF4}"/>
              </a:ext>
            </a:extLst>
          </p:cNvPr>
          <p:cNvSpPr txBox="1">
            <a:spLocks noChangeArrowheads="1"/>
          </p:cNvSpPr>
          <p:nvPr/>
        </p:nvSpPr>
        <p:spPr bwMode="auto">
          <a:xfrm>
            <a:off x="140669" y="743705"/>
            <a:ext cx="11541733" cy="603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i="0" u="none" strike="noStrike" kern="0" cap="none" spc="0" normalizeH="0" baseline="0" noProof="0" dirty="0">
                <a:ln>
                  <a:noFill/>
                </a:ln>
                <a:solidFill>
                  <a:srgbClr val="000000"/>
                </a:solidFill>
                <a:effectLst/>
                <a:uLnTx/>
                <a:uFillTx/>
                <a:latin typeface="Tahoma"/>
                <a:ea typeface="+mn-ea"/>
                <a:cs typeface="+mn-cs"/>
              </a:rPr>
              <a:t>Εισαγωγή στην Κληρονομικότητα</a:t>
            </a:r>
            <a:endParaRPr kumimoji="0" lang="en-US" altLang="el-GR" sz="32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Βασικές έννοιες</a:t>
            </a:r>
          </a:p>
          <a:p>
            <a:pPr lvl="1" indent="-342900" eaLnBrk="1" hangingPunct="1">
              <a:buClr>
                <a:srgbClr val="3333CC"/>
              </a:buClr>
              <a:buSzPct val="60000"/>
              <a:defRPr/>
            </a:pPr>
            <a:r>
              <a:rPr lang="el-GR" altLang="el-GR" sz="2400" kern="0" dirty="0">
                <a:solidFill>
                  <a:srgbClr val="000000"/>
                </a:solidFill>
                <a:latin typeface="Tahoma"/>
              </a:rPr>
              <a:t>Κληρονομικότητα στην </a:t>
            </a:r>
            <a:r>
              <a:rPr lang="en-US" altLang="el-GR" sz="2400" kern="0" dirty="0">
                <a:solidFill>
                  <a:srgbClr val="000000"/>
                </a:solidFill>
                <a:latin typeface="Tahoma"/>
              </a:rPr>
              <a:t>RPN Calculator</a:t>
            </a:r>
            <a:endParaRPr lang="el-GR" altLang="el-GR" sz="2400" kern="0" dirty="0">
              <a:solidFill>
                <a:srgbClr val="000000"/>
              </a:solidFill>
              <a:latin typeface="Tahoma"/>
            </a:endParaRPr>
          </a:p>
          <a:p>
            <a:pPr lvl="1" indent="-342900" eaLnBrk="1" hangingPunct="1">
              <a:buClr>
                <a:srgbClr val="3333CC"/>
              </a:buClr>
              <a:buSzPct val="60000"/>
              <a:defRPr/>
            </a:pPr>
            <a:r>
              <a:rPr lang="en-GB" altLang="el-GR" sz="2400" kern="0" dirty="0">
                <a:solidFill>
                  <a:srgbClr val="000000"/>
                </a:solidFill>
                <a:latin typeface="Tahoma"/>
              </a:rPr>
              <a:t>Abstract </a:t>
            </a:r>
            <a:r>
              <a:rPr lang="el-GR" altLang="el-GR" sz="2400" kern="0" dirty="0">
                <a:solidFill>
                  <a:srgbClr val="000000"/>
                </a:solidFill>
                <a:latin typeface="Tahoma"/>
              </a:rPr>
              <a:t>μέθοδοι και </a:t>
            </a:r>
            <a:r>
              <a:rPr lang="en-GB" altLang="el-GR" sz="2400" kern="0" dirty="0">
                <a:solidFill>
                  <a:srgbClr val="000000"/>
                </a:solidFill>
                <a:latin typeface="Tahoma"/>
              </a:rPr>
              <a:t>Abstract</a:t>
            </a:r>
            <a:r>
              <a:rPr lang="el-GR" altLang="el-GR" sz="2400" kern="0" dirty="0">
                <a:solidFill>
                  <a:srgbClr val="000000"/>
                </a:solidFill>
                <a:latin typeface="Tahoma"/>
              </a:rPr>
              <a:t> κλάσεις</a:t>
            </a:r>
            <a:endParaRPr kumimoji="0" lang="en-US" altLang="el-GR" sz="24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n-US" altLang="el-GR" sz="2400" kern="0" dirty="0">
                <a:solidFill>
                  <a:srgbClr val="000000"/>
                </a:solidFill>
                <a:latin typeface="Tahoma"/>
              </a:rPr>
              <a:t>Shadowed variables-Overriding methods</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i="0" u="none" strike="noStrike" kern="0" cap="none" spc="0" normalizeH="0" baseline="0" noProof="0" dirty="0">
                <a:ln>
                  <a:noFill/>
                </a:ln>
                <a:solidFill>
                  <a:srgbClr val="000000"/>
                </a:solidFill>
                <a:effectLst/>
                <a:uLnTx/>
                <a:uFillTx/>
                <a:latin typeface="Tahoma"/>
                <a:ea typeface="+mn-ea"/>
                <a:cs typeface="+mn-cs"/>
              </a:rPr>
              <a:t>Πολλαπλή κληρονομικότητα (</a:t>
            </a:r>
            <a:r>
              <a:rPr kumimoji="0" lang="en-US" altLang="el-GR" sz="3200" i="0" u="none" strike="noStrike" kern="0" cap="none" spc="0" normalizeH="0" baseline="0" noProof="0" dirty="0">
                <a:ln>
                  <a:noFill/>
                </a:ln>
                <a:solidFill>
                  <a:srgbClr val="000000"/>
                </a:solidFill>
                <a:effectLst/>
                <a:uLnTx/>
                <a:uFillTx/>
                <a:latin typeface="Tahoma"/>
                <a:ea typeface="+mn-ea"/>
                <a:cs typeface="+mn-cs"/>
              </a:rPr>
              <a:t>Multiple inheritance</a:t>
            </a:r>
            <a:r>
              <a:rPr kumimoji="0" lang="el-GR" altLang="el-GR" sz="3200" i="0" u="none" strike="noStrike" kern="0" cap="none" spc="0" normalizeH="0" baseline="0" noProof="0" dirty="0">
                <a:ln>
                  <a:noFill/>
                </a:ln>
                <a:solidFill>
                  <a:srgbClr val="000000"/>
                </a:solidFill>
                <a:effectLst/>
                <a:uLnTx/>
                <a:uFillTx/>
                <a:latin typeface="Tahoma"/>
                <a:ea typeface="+mn-ea"/>
                <a:cs typeface="+mn-cs"/>
              </a:rPr>
              <a:t>)</a:t>
            </a:r>
            <a:endParaRPr kumimoji="0" lang="en-US" altLang="el-GR" sz="3200" i="0" u="none" strike="noStrike" kern="0" cap="none" spc="0" normalizeH="0" baseline="0" noProof="0" dirty="0">
              <a:ln>
                <a:noFill/>
              </a:ln>
              <a:solidFill>
                <a:srgbClr val="000000"/>
              </a:solidFill>
              <a:effectLst/>
              <a:uLnTx/>
              <a:uFillTx/>
              <a:latin typeface="Tahoma"/>
              <a:ea typeface="+mn-ea"/>
              <a:cs typeface="+mn-cs"/>
            </a:endParaRPr>
          </a:p>
          <a:p>
            <a:pPr eaLnBrk="1" hangingPunct="1">
              <a:buClr>
                <a:srgbClr val="3333CC"/>
              </a:buClr>
              <a:defRPr/>
            </a:pPr>
            <a:r>
              <a:rPr kumimoji="0" lang="el-GR" altLang="el-GR" sz="3200" i="0" u="none" strike="noStrike" kern="0" cap="none" spc="0" normalizeH="0" baseline="0" noProof="0" dirty="0">
                <a:ln>
                  <a:noFill/>
                </a:ln>
                <a:solidFill>
                  <a:srgbClr val="000000"/>
                </a:solidFill>
                <a:effectLst/>
                <a:uLnTx/>
                <a:uFillTx/>
                <a:latin typeface="Tahoma"/>
                <a:ea typeface="+mn-ea"/>
                <a:cs typeface="+mn-cs"/>
              </a:rPr>
              <a:t>Πολυμορφισμός</a:t>
            </a:r>
            <a:r>
              <a:rPr kumimoji="0" lang="en-GB" altLang="el-GR" sz="3200" i="0" u="none" strike="noStrike" kern="0" cap="none" spc="0" normalizeH="0" baseline="0" noProof="0" dirty="0">
                <a:ln>
                  <a:noFill/>
                </a:ln>
                <a:solidFill>
                  <a:srgbClr val="000000"/>
                </a:solidFill>
                <a:effectLst/>
                <a:uLnTx/>
                <a:uFillTx/>
                <a:latin typeface="Tahoma"/>
                <a:ea typeface="+mn-ea"/>
                <a:cs typeface="+mn-cs"/>
              </a:rPr>
              <a:t> (Polymorphism)</a:t>
            </a:r>
            <a:endParaRPr kumimoji="0" lang="el-GR" altLang="el-GR" sz="3200" i="0" u="none" strike="noStrike" kern="0" cap="none" spc="0" normalizeH="0" baseline="0" noProof="0" dirty="0">
              <a:ln>
                <a:noFill/>
              </a:ln>
              <a:solidFill>
                <a:srgbClr val="000000"/>
              </a:solidFill>
              <a:effectLst/>
              <a:uLnTx/>
              <a:uFillTx/>
              <a:latin typeface="Tahoma"/>
              <a:ea typeface="+mn-ea"/>
              <a:cs typeface="+mn-cs"/>
            </a:endParaRPr>
          </a:p>
          <a:p>
            <a:pPr lvl="1" indent="-342900" eaLnBrk="1" hangingPunct="1">
              <a:buClr>
                <a:srgbClr val="3333CC"/>
              </a:buClr>
              <a:buSzPct val="60000"/>
              <a:defRPr/>
            </a:pPr>
            <a:r>
              <a:rPr lang="el-GR" altLang="el-GR" sz="2400" kern="0" dirty="0">
                <a:solidFill>
                  <a:srgbClr val="000000"/>
                </a:solidFill>
                <a:latin typeface="Tahoma"/>
              </a:rPr>
              <a:t>Πολυμορφισμός στην </a:t>
            </a:r>
            <a:r>
              <a:rPr lang="en-GB" altLang="el-GR" sz="2400" kern="0" dirty="0" err="1">
                <a:solidFill>
                  <a:srgbClr val="000000"/>
                </a:solidFill>
                <a:latin typeface="Tahoma"/>
              </a:rPr>
              <a:t>WindowsApp</a:t>
            </a:r>
            <a:endParaRPr lang="en-US" altLang="el-GR" sz="2400" kern="0" dirty="0">
              <a:solidFill>
                <a:srgbClr val="000000"/>
              </a:solidFill>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Building the inheritance tree</a:t>
            </a:r>
          </a:p>
          <a:p>
            <a:pPr marR="0" lvl="1" indent="-342900" eaLnBrk="1" hangingPunct="1">
              <a:lnSpc>
                <a:spcPct val="100000"/>
              </a:lnSpc>
              <a:buClr>
                <a:srgbClr val="3333CC"/>
              </a:buClr>
              <a:buSzPct val="60000"/>
              <a:tabLst/>
              <a:defRPr/>
            </a:pPr>
            <a:r>
              <a:rPr lang="en-GB" altLang="el-GR" sz="2400" kern="0" dirty="0">
                <a:solidFill>
                  <a:srgbClr val="000000"/>
                </a:solidFill>
                <a:latin typeface="Tahoma"/>
              </a:rPr>
              <a:t>Alternatives in writing a sub class</a:t>
            </a:r>
          </a:p>
          <a:p>
            <a:pPr marR="0" lvl="1" indent="-342900" eaLnBrk="1" hangingPunct="1">
              <a:lnSpc>
                <a:spcPct val="100000"/>
              </a:lnSpc>
              <a:buClr>
                <a:srgbClr val="3333CC"/>
              </a:buClr>
              <a:buSzPct val="60000"/>
              <a:tabLst/>
              <a:defRPr/>
            </a:pPr>
            <a:r>
              <a:rPr lang="en-US" altLang="el-GR" sz="2400" kern="0" dirty="0">
                <a:solidFill>
                  <a:srgbClr val="000000"/>
                </a:solidFill>
                <a:latin typeface="Tahoma"/>
              </a:rPr>
              <a:t>Access level modifiers</a:t>
            </a:r>
            <a:endParaRPr lang="en-GB" altLang="el-GR" sz="2400" kern="0" dirty="0">
              <a:solidFill>
                <a:srgbClr val="000000"/>
              </a:solidFill>
              <a:latin typeface="Tahoma"/>
            </a:endParaRPr>
          </a:p>
        </p:txBody>
      </p:sp>
      <p:sp>
        <p:nvSpPr>
          <p:cNvPr id="5" name="Θέση υποσέλιδου 4">
            <a:extLst>
              <a:ext uri="{FF2B5EF4-FFF2-40B4-BE49-F238E27FC236}">
                <a16:creationId xmlns:a16="http://schemas.microsoft.com/office/drawing/2014/main" id="{AEC04054-865D-3D4E-26D5-F1A509818855}"/>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346947889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Προσθήκη νέας κλάσης - επιλογές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Rectangle 3">
            <a:extLst>
              <a:ext uri="{FF2B5EF4-FFF2-40B4-BE49-F238E27FC236}">
                <a16:creationId xmlns:a16="http://schemas.microsoft.com/office/drawing/2014/main" id="{C3B43D0F-A81D-D318-A0CB-0AD0DD72FD81}"/>
              </a:ext>
            </a:extLst>
          </p:cNvPr>
          <p:cNvSpPr txBox="1">
            <a:spLocks noChangeArrowheads="1"/>
          </p:cNvSpPr>
          <p:nvPr/>
        </p:nvSpPr>
        <p:spPr bwMode="auto">
          <a:xfrm>
            <a:off x="171684" y="906963"/>
            <a:ext cx="4253294" cy="4787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533400" marR="0" lvl="0" indent="-533400" defTabSz="914400" rtl="0" eaLnBrk="1" fontAlgn="base" latinLnBrk="0" hangingPunct="1">
              <a:lnSpc>
                <a:spcPct val="90000"/>
              </a:lnSpc>
              <a:spcBef>
                <a:spcPct val="20000"/>
              </a:spcBef>
              <a:spcAft>
                <a:spcPct val="0"/>
              </a:spcAft>
              <a:buClr>
                <a:srgbClr val="3333CC"/>
              </a:buClr>
              <a:buSzTx/>
              <a:buFont typeface="Monotype Sorts" charset="2"/>
              <a:buAutoNum type="arabicPeriod"/>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ορίζουμε την νέα κλάση εξ αρχής χωρίς να εκμεταλλευθούμε τα ήδη υπάρχοντα δένδρα κληρονομικότητας</a:t>
            </a:r>
          </a:p>
          <a:p>
            <a:pPr marL="533400" marR="0" lvl="0" indent="-533400" defTabSz="914400" rtl="0" eaLnBrk="1" fontAlgn="base" latinLnBrk="0" hangingPunct="1">
              <a:lnSpc>
                <a:spcPct val="90000"/>
              </a:lnSpc>
              <a:spcBef>
                <a:spcPct val="20000"/>
              </a:spcBef>
              <a:spcAft>
                <a:spcPct val="0"/>
              </a:spcAft>
              <a:buClr>
                <a:srgbClr val="3333CC"/>
              </a:buClr>
              <a:buSzTx/>
              <a:buFont typeface="Monotype Sorts" charset="2"/>
              <a:buAutoNum type="arabicPeriod"/>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επιλέγουμε το πλέον κατάλληλο δένδρο κληρονομικότητας και μετακινούμεθα από κάτω προς τα πάνω στην ιεραρχία μέχρι να εντοπίσουμε μια κατάλληλη πρόγονο της νέας κλάσης</a:t>
            </a:r>
          </a:p>
          <a:p>
            <a:pPr marL="533400" marR="0" lvl="0" indent="-5334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n-US"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grpSp>
        <p:nvGrpSpPr>
          <p:cNvPr id="6" name="Group 3">
            <a:extLst>
              <a:ext uri="{FF2B5EF4-FFF2-40B4-BE49-F238E27FC236}">
                <a16:creationId xmlns:a16="http://schemas.microsoft.com/office/drawing/2014/main" id="{88116E09-B424-D4C0-DE4F-5CF37C641FA7}"/>
              </a:ext>
            </a:extLst>
          </p:cNvPr>
          <p:cNvGrpSpPr>
            <a:grpSpLocks/>
          </p:cNvGrpSpPr>
          <p:nvPr/>
        </p:nvGrpSpPr>
        <p:grpSpPr bwMode="auto">
          <a:xfrm>
            <a:off x="5135061" y="1101330"/>
            <a:ext cx="2209800" cy="2971800"/>
            <a:chOff x="2016" y="2394"/>
            <a:chExt cx="3024" cy="3168"/>
          </a:xfrm>
        </p:grpSpPr>
        <p:sp>
          <p:nvSpPr>
            <p:cNvPr id="7" name="Rectangle 4">
              <a:extLst>
                <a:ext uri="{FF2B5EF4-FFF2-40B4-BE49-F238E27FC236}">
                  <a16:creationId xmlns:a16="http://schemas.microsoft.com/office/drawing/2014/main" id="{413D5677-3156-03EB-DEB5-79D0F6978CCC}"/>
                </a:ext>
              </a:extLst>
            </p:cNvPr>
            <p:cNvSpPr>
              <a:spLocks noChangeArrowheads="1"/>
            </p:cNvSpPr>
            <p:nvPr/>
          </p:nvSpPr>
          <p:spPr bwMode="auto">
            <a:xfrm>
              <a:off x="2736" y="2394"/>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l-GR" altLang="el-GR" sz="1400">
                  <a:latin typeface="Times New Roman" panose="02020603050405020304" pitchFamily="18" charset="0"/>
                </a:rPr>
                <a:t>   Α</a:t>
              </a:r>
            </a:p>
            <a:p>
              <a:pPr>
                <a:spcBef>
                  <a:spcPct val="0"/>
                </a:spcBef>
                <a:buClrTx/>
                <a:buSzTx/>
                <a:buFontTx/>
                <a:buNone/>
              </a:pPr>
              <a:endParaRPr lang="el-GR" altLang="el-GR" sz="1400">
                <a:latin typeface="Times New Roman" panose="02020603050405020304" pitchFamily="18" charset="0"/>
              </a:endParaRPr>
            </a:p>
          </p:txBody>
        </p:sp>
        <p:sp>
          <p:nvSpPr>
            <p:cNvPr id="9" name="Rectangle 5">
              <a:extLst>
                <a:ext uri="{FF2B5EF4-FFF2-40B4-BE49-F238E27FC236}">
                  <a16:creationId xmlns:a16="http://schemas.microsoft.com/office/drawing/2014/main" id="{F4616D59-32CF-0793-AEA4-7D75FABBA1E2}"/>
                </a:ext>
              </a:extLst>
            </p:cNvPr>
            <p:cNvSpPr>
              <a:spLocks noChangeArrowheads="1"/>
            </p:cNvSpPr>
            <p:nvPr/>
          </p:nvSpPr>
          <p:spPr bwMode="auto">
            <a:xfrm>
              <a:off x="2016" y="3546"/>
              <a:ext cx="1152"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dirty="0">
                  <a:latin typeface="Times New Roman" panose="02020603050405020304" pitchFamily="18" charset="0"/>
                </a:rPr>
                <a:t>+ BC </a:t>
              </a:r>
            </a:p>
            <a:p>
              <a:pPr>
                <a:spcBef>
                  <a:spcPct val="0"/>
                </a:spcBef>
                <a:buClrTx/>
                <a:buSzTx/>
                <a:buFontTx/>
                <a:buNone/>
              </a:pPr>
              <a:r>
                <a:rPr lang="en-US" altLang="el-GR" sz="1400" dirty="0">
                  <a:latin typeface="Times New Roman" panose="02020603050405020304" pitchFamily="18" charset="0"/>
                </a:rPr>
                <a:t>=(ABC)</a:t>
              </a:r>
            </a:p>
          </p:txBody>
        </p:sp>
        <p:sp>
          <p:nvSpPr>
            <p:cNvPr id="12" name="Rectangle 6">
              <a:extLst>
                <a:ext uri="{FF2B5EF4-FFF2-40B4-BE49-F238E27FC236}">
                  <a16:creationId xmlns:a16="http://schemas.microsoft.com/office/drawing/2014/main" id="{92DC316A-AF6A-7E04-AE4D-3F2A71926BB5}"/>
                </a:ext>
              </a:extLst>
            </p:cNvPr>
            <p:cNvSpPr>
              <a:spLocks noChangeArrowheads="1"/>
            </p:cNvSpPr>
            <p:nvPr/>
          </p:nvSpPr>
          <p:spPr bwMode="auto">
            <a:xfrm>
              <a:off x="3888" y="3546"/>
              <a:ext cx="1008"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D </a:t>
              </a:r>
            </a:p>
            <a:p>
              <a:pPr>
                <a:spcBef>
                  <a:spcPct val="0"/>
                </a:spcBef>
                <a:buClrTx/>
                <a:buSzTx/>
                <a:buFontTx/>
                <a:buNone/>
              </a:pPr>
              <a:r>
                <a:rPr lang="en-US" altLang="el-GR" sz="1400">
                  <a:latin typeface="Times New Roman" panose="02020603050405020304" pitchFamily="18" charset="0"/>
                </a:rPr>
                <a:t>=(A D)</a:t>
              </a:r>
            </a:p>
          </p:txBody>
        </p:sp>
        <p:sp>
          <p:nvSpPr>
            <p:cNvPr id="13" name="Rectangle 7">
              <a:extLst>
                <a:ext uri="{FF2B5EF4-FFF2-40B4-BE49-F238E27FC236}">
                  <a16:creationId xmlns:a16="http://schemas.microsoft.com/office/drawing/2014/main" id="{385981DC-57E8-C6AE-9498-F4F4D38833F0}"/>
                </a:ext>
              </a:extLst>
            </p:cNvPr>
            <p:cNvSpPr>
              <a:spLocks noChangeArrowheads="1"/>
            </p:cNvSpPr>
            <p:nvPr/>
          </p:nvSpPr>
          <p:spPr bwMode="auto">
            <a:xfrm>
              <a:off x="2016" y="4842"/>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E </a:t>
              </a:r>
            </a:p>
            <a:p>
              <a:pPr>
                <a:spcBef>
                  <a:spcPct val="0"/>
                </a:spcBef>
                <a:buClrTx/>
                <a:buSzTx/>
                <a:buFontTx/>
                <a:buNone/>
              </a:pPr>
              <a:r>
                <a:rPr lang="en-US" altLang="el-GR" sz="1400">
                  <a:latin typeface="Times New Roman" panose="02020603050405020304" pitchFamily="18" charset="0"/>
                </a:rPr>
                <a:t>=(ABCE) </a:t>
              </a:r>
            </a:p>
          </p:txBody>
        </p:sp>
        <p:sp>
          <p:nvSpPr>
            <p:cNvPr id="14" name="Line 8">
              <a:extLst>
                <a:ext uri="{FF2B5EF4-FFF2-40B4-BE49-F238E27FC236}">
                  <a16:creationId xmlns:a16="http://schemas.microsoft.com/office/drawing/2014/main" id="{2EBC8AAF-7E24-5683-F522-413CE00CF214}"/>
                </a:ext>
              </a:extLst>
            </p:cNvPr>
            <p:cNvSpPr>
              <a:spLocks noChangeShapeType="1"/>
            </p:cNvSpPr>
            <p:nvPr/>
          </p:nvSpPr>
          <p:spPr bwMode="auto">
            <a:xfrm flipV="1">
              <a:off x="2592" y="2826"/>
              <a:ext cx="576"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15" name="Line 9">
              <a:extLst>
                <a:ext uri="{FF2B5EF4-FFF2-40B4-BE49-F238E27FC236}">
                  <a16:creationId xmlns:a16="http://schemas.microsoft.com/office/drawing/2014/main" id="{CDE4E149-2F4D-7805-C8A0-4C50DDD3415B}"/>
                </a:ext>
              </a:extLst>
            </p:cNvPr>
            <p:cNvSpPr>
              <a:spLocks noChangeShapeType="1"/>
            </p:cNvSpPr>
            <p:nvPr/>
          </p:nvSpPr>
          <p:spPr bwMode="auto">
            <a:xfrm flipH="1" flipV="1">
              <a:off x="3312" y="2826"/>
              <a:ext cx="1008"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16" name="Line 10">
              <a:extLst>
                <a:ext uri="{FF2B5EF4-FFF2-40B4-BE49-F238E27FC236}">
                  <a16:creationId xmlns:a16="http://schemas.microsoft.com/office/drawing/2014/main" id="{AB2FED44-B8C1-F271-87EE-4E266533E077}"/>
                </a:ext>
              </a:extLst>
            </p:cNvPr>
            <p:cNvSpPr>
              <a:spLocks noChangeShapeType="1"/>
            </p:cNvSpPr>
            <p:nvPr/>
          </p:nvSpPr>
          <p:spPr bwMode="auto">
            <a:xfrm flipH="1" flipV="1">
              <a:off x="2448" y="4266"/>
              <a:ext cx="14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17" name="Rectangle 11">
              <a:extLst>
                <a:ext uri="{FF2B5EF4-FFF2-40B4-BE49-F238E27FC236}">
                  <a16:creationId xmlns:a16="http://schemas.microsoft.com/office/drawing/2014/main" id="{03A8E926-A5BE-D970-9842-12917943F9B4}"/>
                </a:ext>
              </a:extLst>
            </p:cNvPr>
            <p:cNvSpPr>
              <a:spLocks noChangeArrowheads="1"/>
            </p:cNvSpPr>
            <p:nvPr/>
          </p:nvSpPr>
          <p:spPr bwMode="auto">
            <a:xfrm>
              <a:off x="3744" y="4842"/>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F </a:t>
              </a:r>
            </a:p>
            <a:p>
              <a:pPr>
                <a:spcBef>
                  <a:spcPct val="0"/>
                </a:spcBef>
                <a:buClrTx/>
                <a:buSzTx/>
                <a:buFontTx/>
                <a:buNone/>
              </a:pPr>
              <a:r>
                <a:rPr lang="en-US" altLang="el-GR" sz="1400">
                  <a:latin typeface="Times New Roman" panose="02020603050405020304" pitchFamily="18" charset="0"/>
                </a:rPr>
                <a:t>=(ABCF)</a:t>
              </a:r>
            </a:p>
          </p:txBody>
        </p:sp>
        <p:sp>
          <p:nvSpPr>
            <p:cNvPr id="18" name="Line 12">
              <a:extLst>
                <a:ext uri="{FF2B5EF4-FFF2-40B4-BE49-F238E27FC236}">
                  <a16:creationId xmlns:a16="http://schemas.microsoft.com/office/drawing/2014/main" id="{BFD1C342-E9E3-A6F9-DE93-4B3F110922A8}"/>
                </a:ext>
              </a:extLst>
            </p:cNvPr>
            <p:cNvSpPr>
              <a:spLocks noChangeShapeType="1"/>
            </p:cNvSpPr>
            <p:nvPr/>
          </p:nvSpPr>
          <p:spPr bwMode="auto">
            <a:xfrm flipH="1" flipV="1">
              <a:off x="2736" y="4266"/>
              <a:ext cx="158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grpSp>
      <p:grpSp>
        <p:nvGrpSpPr>
          <p:cNvPr id="19" name="Group 13">
            <a:extLst>
              <a:ext uri="{FF2B5EF4-FFF2-40B4-BE49-F238E27FC236}">
                <a16:creationId xmlns:a16="http://schemas.microsoft.com/office/drawing/2014/main" id="{D9E8E9F7-0A80-CA98-0DEB-1B4E55409B8B}"/>
              </a:ext>
            </a:extLst>
          </p:cNvPr>
          <p:cNvGrpSpPr>
            <a:grpSpLocks/>
          </p:cNvGrpSpPr>
          <p:nvPr/>
        </p:nvGrpSpPr>
        <p:grpSpPr bwMode="auto">
          <a:xfrm>
            <a:off x="8671199" y="3245595"/>
            <a:ext cx="2667000" cy="2667000"/>
            <a:chOff x="6048" y="2448"/>
            <a:chExt cx="3744" cy="3168"/>
          </a:xfrm>
        </p:grpSpPr>
        <p:sp>
          <p:nvSpPr>
            <p:cNvPr id="20" name="Rectangle 14">
              <a:extLst>
                <a:ext uri="{FF2B5EF4-FFF2-40B4-BE49-F238E27FC236}">
                  <a16:creationId xmlns:a16="http://schemas.microsoft.com/office/drawing/2014/main" id="{3CDC1885-B842-1025-2809-B2CCDA93F104}"/>
                </a:ext>
              </a:extLst>
            </p:cNvPr>
            <p:cNvSpPr>
              <a:spLocks noChangeArrowheads="1"/>
            </p:cNvSpPr>
            <p:nvPr/>
          </p:nvSpPr>
          <p:spPr bwMode="auto">
            <a:xfrm>
              <a:off x="7200" y="2448"/>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l-GR" altLang="el-GR" sz="1400">
                  <a:latin typeface="Times New Roman" panose="02020603050405020304" pitchFamily="18" charset="0"/>
                </a:rPr>
                <a:t>   Α</a:t>
              </a:r>
            </a:p>
            <a:p>
              <a:pPr>
                <a:spcBef>
                  <a:spcPct val="0"/>
                </a:spcBef>
                <a:buClrTx/>
                <a:buSzTx/>
                <a:buFontTx/>
                <a:buNone/>
              </a:pPr>
              <a:endParaRPr lang="el-GR" altLang="el-GR" sz="1400">
                <a:latin typeface="Times New Roman" panose="02020603050405020304" pitchFamily="18" charset="0"/>
              </a:endParaRPr>
            </a:p>
          </p:txBody>
        </p:sp>
        <p:sp>
          <p:nvSpPr>
            <p:cNvPr id="21" name="Rectangle 15">
              <a:extLst>
                <a:ext uri="{FF2B5EF4-FFF2-40B4-BE49-F238E27FC236}">
                  <a16:creationId xmlns:a16="http://schemas.microsoft.com/office/drawing/2014/main" id="{4D2F0E6F-5C0E-62CE-65B3-C95806FB59B3}"/>
                </a:ext>
              </a:extLst>
            </p:cNvPr>
            <p:cNvSpPr>
              <a:spLocks noChangeArrowheads="1"/>
            </p:cNvSpPr>
            <p:nvPr/>
          </p:nvSpPr>
          <p:spPr bwMode="auto">
            <a:xfrm>
              <a:off x="6048" y="3600"/>
              <a:ext cx="1152"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BC </a:t>
              </a:r>
            </a:p>
            <a:p>
              <a:pPr>
                <a:spcBef>
                  <a:spcPct val="0"/>
                </a:spcBef>
                <a:buClrTx/>
                <a:buSzTx/>
                <a:buFontTx/>
                <a:buNone/>
              </a:pPr>
              <a:r>
                <a:rPr lang="en-US" altLang="el-GR" sz="1400">
                  <a:latin typeface="Times New Roman" panose="02020603050405020304" pitchFamily="18" charset="0"/>
                </a:rPr>
                <a:t>=(ABC)</a:t>
              </a:r>
            </a:p>
          </p:txBody>
        </p:sp>
        <p:sp>
          <p:nvSpPr>
            <p:cNvPr id="22" name="Rectangle 16">
              <a:extLst>
                <a:ext uri="{FF2B5EF4-FFF2-40B4-BE49-F238E27FC236}">
                  <a16:creationId xmlns:a16="http://schemas.microsoft.com/office/drawing/2014/main" id="{1ECC12E6-34AB-188F-53EC-913FBC276188}"/>
                </a:ext>
              </a:extLst>
            </p:cNvPr>
            <p:cNvSpPr>
              <a:spLocks noChangeArrowheads="1"/>
            </p:cNvSpPr>
            <p:nvPr/>
          </p:nvSpPr>
          <p:spPr bwMode="auto">
            <a:xfrm>
              <a:off x="7488" y="3600"/>
              <a:ext cx="1008"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D </a:t>
              </a:r>
            </a:p>
            <a:p>
              <a:pPr>
                <a:spcBef>
                  <a:spcPct val="0"/>
                </a:spcBef>
                <a:buClrTx/>
                <a:buSzTx/>
                <a:buFontTx/>
                <a:buNone/>
              </a:pPr>
              <a:r>
                <a:rPr lang="en-US" altLang="el-GR" sz="1400">
                  <a:latin typeface="Times New Roman" panose="02020603050405020304" pitchFamily="18" charset="0"/>
                </a:rPr>
                <a:t>=(A D)</a:t>
              </a:r>
            </a:p>
          </p:txBody>
        </p:sp>
        <p:sp>
          <p:nvSpPr>
            <p:cNvPr id="23" name="Rectangle 17">
              <a:extLst>
                <a:ext uri="{FF2B5EF4-FFF2-40B4-BE49-F238E27FC236}">
                  <a16:creationId xmlns:a16="http://schemas.microsoft.com/office/drawing/2014/main" id="{F0B74AF6-4A2C-A275-1220-D45C6F303005}"/>
                </a:ext>
              </a:extLst>
            </p:cNvPr>
            <p:cNvSpPr>
              <a:spLocks noChangeArrowheads="1"/>
            </p:cNvSpPr>
            <p:nvPr/>
          </p:nvSpPr>
          <p:spPr bwMode="auto">
            <a:xfrm>
              <a:off x="6048" y="4896"/>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E </a:t>
              </a:r>
            </a:p>
            <a:p>
              <a:pPr>
                <a:spcBef>
                  <a:spcPct val="0"/>
                </a:spcBef>
                <a:buClrTx/>
                <a:buSzTx/>
                <a:buFontTx/>
                <a:buNone/>
              </a:pPr>
              <a:r>
                <a:rPr lang="en-US" altLang="el-GR" sz="1400">
                  <a:latin typeface="Times New Roman" panose="02020603050405020304" pitchFamily="18" charset="0"/>
                </a:rPr>
                <a:t>=(ABCE) </a:t>
              </a:r>
            </a:p>
          </p:txBody>
        </p:sp>
        <p:sp>
          <p:nvSpPr>
            <p:cNvPr id="24" name="Line 18">
              <a:extLst>
                <a:ext uri="{FF2B5EF4-FFF2-40B4-BE49-F238E27FC236}">
                  <a16:creationId xmlns:a16="http://schemas.microsoft.com/office/drawing/2014/main" id="{77080460-1E08-613F-8944-A7630224753E}"/>
                </a:ext>
              </a:extLst>
            </p:cNvPr>
            <p:cNvSpPr>
              <a:spLocks noChangeShapeType="1"/>
            </p:cNvSpPr>
            <p:nvPr/>
          </p:nvSpPr>
          <p:spPr bwMode="auto">
            <a:xfrm flipV="1">
              <a:off x="6624" y="2880"/>
              <a:ext cx="864"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25" name="Line 19">
              <a:extLst>
                <a:ext uri="{FF2B5EF4-FFF2-40B4-BE49-F238E27FC236}">
                  <a16:creationId xmlns:a16="http://schemas.microsoft.com/office/drawing/2014/main" id="{C2003116-29F8-8AD0-03BF-D1D98E5F1CBC}"/>
                </a:ext>
              </a:extLst>
            </p:cNvPr>
            <p:cNvSpPr>
              <a:spLocks noChangeShapeType="1"/>
            </p:cNvSpPr>
            <p:nvPr/>
          </p:nvSpPr>
          <p:spPr bwMode="auto">
            <a:xfrm flipH="1" flipV="1">
              <a:off x="7632" y="2880"/>
              <a:ext cx="288"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26" name="Line 20">
              <a:extLst>
                <a:ext uri="{FF2B5EF4-FFF2-40B4-BE49-F238E27FC236}">
                  <a16:creationId xmlns:a16="http://schemas.microsoft.com/office/drawing/2014/main" id="{6A19A00E-7560-6156-FC81-8CA23C8C565C}"/>
                </a:ext>
              </a:extLst>
            </p:cNvPr>
            <p:cNvSpPr>
              <a:spLocks noChangeShapeType="1"/>
            </p:cNvSpPr>
            <p:nvPr/>
          </p:nvSpPr>
          <p:spPr bwMode="auto">
            <a:xfrm flipH="1" flipV="1">
              <a:off x="6480" y="4320"/>
              <a:ext cx="14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27" name="Rectangle 21">
              <a:extLst>
                <a:ext uri="{FF2B5EF4-FFF2-40B4-BE49-F238E27FC236}">
                  <a16:creationId xmlns:a16="http://schemas.microsoft.com/office/drawing/2014/main" id="{6472330B-D5F2-D16F-F0B8-EEF37CFFD2E9}"/>
                </a:ext>
              </a:extLst>
            </p:cNvPr>
            <p:cNvSpPr>
              <a:spLocks noChangeArrowheads="1"/>
            </p:cNvSpPr>
            <p:nvPr/>
          </p:nvSpPr>
          <p:spPr bwMode="auto">
            <a:xfrm>
              <a:off x="7776" y="4896"/>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F </a:t>
              </a:r>
            </a:p>
            <a:p>
              <a:pPr>
                <a:spcBef>
                  <a:spcPct val="0"/>
                </a:spcBef>
                <a:buClrTx/>
                <a:buSzTx/>
                <a:buFontTx/>
                <a:buNone/>
              </a:pPr>
              <a:r>
                <a:rPr lang="en-US" altLang="el-GR" sz="1400">
                  <a:latin typeface="Times New Roman" panose="02020603050405020304" pitchFamily="18" charset="0"/>
                </a:rPr>
                <a:t>=(ABCF)</a:t>
              </a:r>
            </a:p>
          </p:txBody>
        </p:sp>
        <p:sp>
          <p:nvSpPr>
            <p:cNvPr id="28" name="Line 22">
              <a:extLst>
                <a:ext uri="{FF2B5EF4-FFF2-40B4-BE49-F238E27FC236}">
                  <a16:creationId xmlns:a16="http://schemas.microsoft.com/office/drawing/2014/main" id="{B9E590DB-8640-FBC9-E897-E0EE340C6FE3}"/>
                </a:ext>
              </a:extLst>
            </p:cNvPr>
            <p:cNvSpPr>
              <a:spLocks noChangeShapeType="1"/>
            </p:cNvSpPr>
            <p:nvPr/>
          </p:nvSpPr>
          <p:spPr bwMode="auto">
            <a:xfrm flipH="1" flipV="1">
              <a:off x="6768" y="4320"/>
              <a:ext cx="158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29" name="Rectangle 23">
              <a:extLst>
                <a:ext uri="{FF2B5EF4-FFF2-40B4-BE49-F238E27FC236}">
                  <a16:creationId xmlns:a16="http://schemas.microsoft.com/office/drawing/2014/main" id="{99F0E539-2F21-A970-B7E7-22389B80C2E8}"/>
                </a:ext>
              </a:extLst>
            </p:cNvPr>
            <p:cNvSpPr>
              <a:spLocks noChangeArrowheads="1"/>
            </p:cNvSpPr>
            <p:nvPr/>
          </p:nvSpPr>
          <p:spPr bwMode="auto">
            <a:xfrm>
              <a:off x="8785" y="3600"/>
              <a:ext cx="1007" cy="720"/>
            </a:xfrm>
            <a:prstGeom prst="rect">
              <a:avLst/>
            </a:prstGeom>
            <a:solidFill>
              <a:srgbClr val="FFFF00"/>
            </a:solidFill>
            <a:ln w="9525">
              <a:solidFill>
                <a:srgbClr val="000000"/>
              </a:solidFill>
              <a:miter lim="800000"/>
              <a:headEnd/>
              <a:tailEnd/>
            </a:ln>
            <a:effectLst>
              <a:outerShdw dist="107763" dir="2700000" algn="ctr" rotWithShape="0">
                <a:srgbClr val="808080"/>
              </a:outerShdw>
            </a:effec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l-GR" sz="1400">
                  <a:latin typeface="Times New Roman" panose="02020603050405020304" pitchFamily="18" charset="0"/>
                </a:rPr>
                <a:t>+ Κ </a:t>
              </a:r>
            </a:p>
            <a:p>
              <a:r>
                <a:rPr lang="en-US" altLang="el-GR" sz="1400">
                  <a:latin typeface="Times New Roman" panose="02020603050405020304" pitchFamily="18" charset="0"/>
                </a:rPr>
                <a:t>=(A Κ)</a:t>
              </a:r>
            </a:p>
          </p:txBody>
        </p:sp>
        <p:sp>
          <p:nvSpPr>
            <p:cNvPr id="30" name="Line 24">
              <a:extLst>
                <a:ext uri="{FF2B5EF4-FFF2-40B4-BE49-F238E27FC236}">
                  <a16:creationId xmlns:a16="http://schemas.microsoft.com/office/drawing/2014/main" id="{9DD08C51-7140-3A87-6884-3A4C6189FA48}"/>
                </a:ext>
              </a:extLst>
            </p:cNvPr>
            <p:cNvSpPr>
              <a:spLocks noChangeShapeType="1"/>
            </p:cNvSpPr>
            <p:nvPr/>
          </p:nvSpPr>
          <p:spPr bwMode="auto">
            <a:xfrm flipH="1" flipV="1">
              <a:off x="7920" y="2880"/>
              <a:ext cx="1440"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grpSp>
      <p:sp>
        <p:nvSpPr>
          <p:cNvPr id="4" name="Callout: Line 3">
            <a:extLst>
              <a:ext uri="{FF2B5EF4-FFF2-40B4-BE49-F238E27FC236}">
                <a16:creationId xmlns:a16="http://schemas.microsoft.com/office/drawing/2014/main" id="{10E0089F-90A0-CC3E-9977-32A267CC82CF}"/>
              </a:ext>
            </a:extLst>
          </p:cNvPr>
          <p:cNvSpPr/>
          <p:nvPr/>
        </p:nvSpPr>
        <p:spPr>
          <a:xfrm>
            <a:off x="8529403" y="1903751"/>
            <a:ext cx="3490913" cy="735707"/>
          </a:xfrm>
          <a:prstGeom prst="borderCallout1">
            <a:avLst>
              <a:gd name="adj1" fmla="val 100251"/>
              <a:gd name="adj2" fmla="val 62089"/>
              <a:gd name="adj3" fmla="val 308102"/>
              <a:gd name="adj4" fmla="val 72883"/>
            </a:avLst>
          </a:prstGeom>
          <a:solidFill>
            <a:srgbClr val="FFFF00"/>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l-GR" altLang="el-GR" sz="2000" b="0" i="0" u="none" strike="noStrike" kern="1200" cap="none" spc="0" normalizeH="0" baseline="0" noProof="0">
                <a:ln>
                  <a:noFill/>
                </a:ln>
                <a:solidFill>
                  <a:srgbClr val="FF0000"/>
                </a:solidFill>
                <a:effectLst/>
                <a:uLnTx/>
                <a:uFillTx/>
                <a:latin typeface="Tahoma" panose="020B0604030504040204" pitchFamily="34" charset="0"/>
                <a:ea typeface="+mn-ea"/>
                <a:cs typeface="+mn-cs"/>
              </a:rPr>
              <a:t>Προσθήκη κλάσης με χαρακτηριστικά (Α Κ)</a:t>
            </a:r>
            <a:endParaRPr kumimoji="0" lang="en-GB" altLang="el-GR" sz="2000" b="0" i="0" u="none" strike="noStrike" kern="1200" cap="none" spc="0" normalizeH="0" baseline="0" noProof="0" dirty="0">
              <a:ln>
                <a:noFill/>
              </a:ln>
              <a:solidFill>
                <a:srgbClr val="FF0000"/>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14987802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Προσθήκη νέας κλάσης - επιλογές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Rectangle 3">
            <a:extLst>
              <a:ext uri="{FF2B5EF4-FFF2-40B4-BE49-F238E27FC236}">
                <a16:creationId xmlns:a16="http://schemas.microsoft.com/office/drawing/2014/main" id="{C3B43D0F-A81D-D318-A0CB-0AD0DD72FD81}"/>
              </a:ext>
            </a:extLst>
          </p:cNvPr>
          <p:cNvSpPr txBox="1">
            <a:spLocks noChangeArrowheads="1"/>
          </p:cNvSpPr>
          <p:nvPr/>
        </p:nvSpPr>
        <p:spPr bwMode="auto">
          <a:xfrm>
            <a:off x="171684" y="906963"/>
            <a:ext cx="3646337" cy="4787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533400" marR="0" lvl="0" indent="-533400" defTabSz="914400" rtl="0" eaLnBrk="1" fontAlgn="base" latinLnBrk="0" hangingPunct="1">
              <a:lnSpc>
                <a:spcPct val="90000"/>
              </a:lnSpc>
              <a:spcBef>
                <a:spcPct val="20000"/>
              </a:spcBef>
              <a:spcAft>
                <a:spcPct val="0"/>
              </a:spcAft>
              <a:buClr>
                <a:srgbClr val="3333CC"/>
              </a:buClr>
              <a:buSzTx/>
              <a:buFont typeface="+mj-lt"/>
              <a:buAutoNum type="arabicPeriod" startAt="3"/>
              <a:tabLst/>
              <a:defRPr/>
            </a:pPr>
            <a:r>
              <a:rPr kumimoji="0" lang="el-GR" altLang="el-GR" sz="24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αναδομούμε την ιεραρχία κληρονομικότητας</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ώστε να δημιουργήσουμε μια κατάλληλη πρόγονο</a:t>
            </a:r>
          </a:p>
          <a:p>
            <a:pPr marL="533400" marR="0" lvl="0" indent="-533400" defTabSz="914400" rtl="0" eaLnBrk="1" fontAlgn="base" latinLnBrk="0" hangingPunct="1">
              <a:lnSpc>
                <a:spcPct val="90000"/>
              </a:lnSpc>
              <a:spcBef>
                <a:spcPct val="20000"/>
              </a:spcBef>
              <a:spcAft>
                <a:spcPct val="0"/>
              </a:spcAft>
              <a:buClr>
                <a:srgbClr val="3333CC"/>
              </a:buClr>
              <a:buSzTx/>
              <a:buFont typeface="+mj-lt"/>
              <a:buAutoNum type="arabicPeriod" startAt="3"/>
              <a:tabLst/>
              <a:defRPr/>
            </a:pPr>
            <a:r>
              <a:rPr kumimoji="0" lang="el-GR" altLang="el-GR" sz="2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Επανορίζουμε</a:t>
            </a:r>
            <a:r>
              <a:rPr lang="en-GB" altLang="el-GR" sz="2400" kern="0" dirty="0">
                <a:solidFill>
                  <a:srgbClr val="000000"/>
                </a:solidFill>
                <a:latin typeface="Times New Roman" panose="02020603050405020304" pitchFamily="18" charset="0"/>
              </a:rPr>
              <a:t> </a:t>
            </a: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τα χαρακτηριστικά που δεν θέλουμε να κληρονομηθούν ως έχουν </a:t>
            </a:r>
            <a:endParaRPr kumimoji="0" lang="en-US"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a:p>
            <a:pPr marL="533400" marR="0" lvl="0" indent="-5334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n-US"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grpSp>
        <p:nvGrpSpPr>
          <p:cNvPr id="6" name="Group 3">
            <a:extLst>
              <a:ext uri="{FF2B5EF4-FFF2-40B4-BE49-F238E27FC236}">
                <a16:creationId xmlns:a16="http://schemas.microsoft.com/office/drawing/2014/main" id="{88116E09-B424-D4C0-DE4F-5CF37C641FA7}"/>
              </a:ext>
            </a:extLst>
          </p:cNvPr>
          <p:cNvGrpSpPr>
            <a:grpSpLocks/>
          </p:cNvGrpSpPr>
          <p:nvPr/>
        </p:nvGrpSpPr>
        <p:grpSpPr bwMode="auto">
          <a:xfrm>
            <a:off x="4846303" y="906963"/>
            <a:ext cx="2209800" cy="2971800"/>
            <a:chOff x="2016" y="2394"/>
            <a:chExt cx="3024" cy="3168"/>
          </a:xfrm>
        </p:grpSpPr>
        <p:sp>
          <p:nvSpPr>
            <p:cNvPr id="7" name="Rectangle 4">
              <a:extLst>
                <a:ext uri="{FF2B5EF4-FFF2-40B4-BE49-F238E27FC236}">
                  <a16:creationId xmlns:a16="http://schemas.microsoft.com/office/drawing/2014/main" id="{413D5677-3156-03EB-DEB5-79D0F6978CCC}"/>
                </a:ext>
              </a:extLst>
            </p:cNvPr>
            <p:cNvSpPr>
              <a:spLocks noChangeArrowheads="1"/>
            </p:cNvSpPr>
            <p:nvPr/>
          </p:nvSpPr>
          <p:spPr bwMode="auto">
            <a:xfrm>
              <a:off x="2736" y="2394"/>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l-GR" altLang="el-GR" sz="1400">
                  <a:latin typeface="Times New Roman" panose="02020603050405020304" pitchFamily="18" charset="0"/>
                </a:rPr>
                <a:t>   Α</a:t>
              </a:r>
            </a:p>
            <a:p>
              <a:pPr>
                <a:spcBef>
                  <a:spcPct val="0"/>
                </a:spcBef>
                <a:buClrTx/>
                <a:buSzTx/>
                <a:buFontTx/>
                <a:buNone/>
              </a:pPr>
              <a:endParaRPr lang="el-GR" altLang="el-GR" sz="1400">
                <a:latin typeface="Times New Roman" panose="02020603050405020304" pitchFamily="18" charset="0"/>
              </a:endParaRPr>
            </a:p>
          </p:txBody>
        </p:sp>
        <p:sp>
          <p:nvSpPr>
            <p:cNvPr id="9" name="Rectangle 5">
              <a:extLst>
                <a:ext uri="{FF2B5EF4-FFF2-40B4-BE49-F238E27FC236}">
                  <a16:creationId xmlns:a16="http://schemas.microsoft.com/office/drawing/2014/main" id="{F4616D59-32CF-0793-AEA4-7D75FABBA1E2}"/>
                </a:ext>
              </a:extLst>
            </p:cNvPr>
            <p:cNvSpPr>
              <a:spLocks noChangeArrowheads="1"/>
            </p:cNvSpPr>
            <p:nvPr/>
          </p:nvSpPr>
          <p:spPr bwMode="auto">
            <a:xfrm>
              <a:off x="2016" y="3546"/>
              <a:ext cx="1152"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dirty="0">
                  <a:latin typeface="Times New Roman" panose="02020603050405020304" pitchFamily="18" charset="0"/>
                </a:rPr>
                <a:t>+ BC </a:t>
              </a:r>
            </a:p>
            <a:p>
              <a:pPr>
                <a:spcBef>
                  <a:spcPct val="0"/>
                </a:spcBef>
                <a:buClrTx/>
                <a:buSzTx/>
                <a:buFontTx/>
                <a:buNone/>
              </a:pPr>
              <a:r>
                <a:rPr lang="en-US" altLang="el-GR" sz="1400" dirty="0">
                  <a:latin typeface="Times New Roman" panose="02020603050405020304" pitchFamily="18" charset="0"/>
                </a:rPr>
                <a:t>=(ABC)</a:t>
              </a:r>
            </a:p>
          </p:txBody>
        </p:sp>
        <p:sp>
          <p:nvSpPr>
            <p:cNvPr id="12" name="Rectangle 6">
              <a:extLst>
                <a:ext uri="{FF2B5EF4-FFF2-40B4-BE49-F238E27FC236}">
                  <a16:creationId xmlns:a16="http://schemas.microsoft.com/office/drawing/2014/main" id="{92DC316A-AF6A-7E04-AE4D-3F2A71926BB5}"/>
                </a:ext>
              </a:extLst>
            </p:cNvPr>
            <p:cNvSpPr>
              <a:spLocks noChangeArrowheads="1"/>
            </p:cNvSpPr>
            <p:nvPr/>
          </p:nvSpPr>
          <p:spPr bwMode="auto">
            <a:xfrm>
              <a:off x="3888" y="3546"/>
              <a:ext cx="1008"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D </a:t>
              </a:r>
            </a:p>
            <a:p>
              <a:pPr>
                <a:spcBef>
                  <a:spcPct val="0"/>
                </a:spcBef>
                <a:buClrTx/>
                <a:buSzTx/>
                <a:buFontTx/>
                <a:buNone/>
              </a:pPr>
              <a:r>
                <a:rPr lang="en-US" altLang="el-GR" sz="1400">
                  <a:latin typeface="Times New Roman" panose="02020603050405020304" pitchFamily="18" charset="0"/>
                </a:rPr>
                <a:t>=(A D)</a:t>
              </a:r>
            </a:p>
          </p:txBody>
        </p:sp>
        <p:sp>
          <p:nvSpPr>
            <p:cNvPr id="13" name="Rectangle 7">
              <a:extLst>
                <a:ext uri="{FF2B5EF4-FFF2-40B4-BE49-F238E27FC236}">
                  <a16:creationId xmlns:a16="http://schemas.microsoft.com/office/drawing/2014/main" id="{385981DC-57E8-C6AE-9498-F4F4D38833F0}"/>
                </a:ext>
              </a:extLst>
            </p:cNvPr>
            <p:cNvSpPr>
              <a:spLocks noChangeArrowheads="1"/>
            </p:cNvSpPr>
            <p:nvPr/>
          </p:nvSpPr>
          <p:spPr bwMode="auto">
            <a:xfrm>
              <a:off x="2016" y="4842"/>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E </a:t>
              </a:r>
            </a:p>
            <a:p>
              <a:pPr>
                <a:spcBef>
                  <a:spcPct val="0"/>
                </a:spcBef>
                <a:buClrTx/>
                <a:buSzTx/>
                <a:buFontTx/>
                <a:buNone/>
              </a:pPr>
              <a:r>
                <a:rPr lang="en-US" altLang="el-GR" sz="1400">
                  <a:latin typeface="Times New Roman" panose="02020603050405020304" pitchFamily="18" charset="0"/>
                </a:rPr>
                <a:t>=(ABCE) </a:t>
              </a:r>
            </a:p>
          </p:txBody>
        </p:sp>
        <p:sp>
          <p:nvSpPr>
            <p:cNvPr id="14" name="Line 8">
              <a:extLst>
                <a:ext uri="{FF2B5EF4-FFF2-40B4-BE49-F238E27FC236}">
                  <a16:creationId xmlns:a16="http://schemas.microsoft.com/office/drawing/2014/main" id="{2EBC8AAF-7E24-5683-F522-413CE00CF214}"/>
                </a:ext>
              </a:extLst>
            </p:cNvPr>
            <p:cNvSpPr>
              <a:spLocks noChangeShapeType="1"/>
            </p:cNvSpPr>
            <p:nvPr/>
          </p:nvSpPr>
          <p:spPr bwMode="auto">
            <a:xfrm flipV="1">
              <a:off x="2592" y="2826"/>
              <a:ext cx="576"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15" name="Line 9">
              <a:extLst>
                <a:ext uri="{FF2B5EF4-FFF2-40B4-BE49-F238E27FC236}">
                  <a16:creationId xmlns:a16="http://schemas.microsoft.com/office/drawing/2014/main" id="{CDE4E149-2F4D-7805-C8A0-4C50DDD3415B}"/>
                </a:ext>
              </a:extLst>
            </p:cNvPr>
            <p:cNvSpPr>
              <a:spLocks noChangeShapeType="1"/>
            </p:cNvSpPr>
            <p:nvPr/>
          </p:nvSpPr>
          <p:spPr bwMode="auto">
            <a:xfrm flipH="1" flipV="1">
              <a:off x="3312" y="2826"/>
              <a:ext cx="1008"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16" name="Line 10">
              <a:extLst>
                <a:ext uri="{FF2B5EF4-FFF2-40B4-BE49-F238E27FC236}">
                  <a16:creationId xmlns:a16="http://schemas.microsoft.com/office/drawing/2014/main" id="{AB2FED44-B8C1-F271-87EE-4E266533E077}"/>
                </a:ext>
              </a:extLst>
            </p:cNvPr>
            <p:cNvSpPr>
              <a:spLocks noChangeShapeType="1"/>
            </p:cNvSpPr>
            <p:nvPr/>
          </p:nvSpPr>
          <p:spPr bwMode="auto">
            <a:xfrm flipH="1" flipV="1">
              <a:off x="2448" y="4266"/>
              <a:ext cx="14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sp>
          <p:nvSpPr>
            <p:cNvPr id="17" name="Rectangle 11">
              <a:extLst>
                <a:ext uri="{FF2B5EF4-FFF2-40B4-BE49-F238E27FC236}">
                  <a16:creationId xmlns:a16="http://schemas.microsoft.com/office/drawing/2014/main" id="{03A8E926-A5BE-D970-9842-12917943F9B4}"/>
                </a:ext>
              </a:extLst>
            </p:cNvPr>
            <p:cNvSpPr>
              <a:spLocks noChangeArrowheads="1"/>
            </p:cNvSpPr>
            <p:nvPr/>
          </p:nvSpPr>
          <p:spPr bwMode="auto">
            <a:xfrm>
              <a:off x="3744" y="4842"/>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l-GR" sz="1400">
                  <a:latin typeface="Times New Roman" panose="02020603050405020304" pitchFamily="18" charset="0"/>
                </a:rPr>
                <a:t>+ F </a:t>
              </a:r>
            </a:p>
            <a:p>
              <a:pPr>
                <a:spcBef>
                  <a:spcPct val="0"/>
                </a:spcBef>
                <a:buClrTx/>
                <a:buSzTx/>
                <a:buFontTx/>
                <a:buNone/>
              </a:pPr>
              <a:r>
                <a:rPr lang="en-US" altLang="el-GR" sz="1400">
                  <a:latin typeface="Times New Roman" panose="02020603050405020304" pitchFamily="18" charset="0"/>
                </a:rPr>
                <a:t>=(ABCF)</a:t>
              </a:r>
            </a:p>
          </p:txBody>
        </p:sp>
        <p:sp>
          <p:nvSpPr>
            <p:cNvPr id="18" name="Line 12">
              <a:extLst>
                <a:ext uri="{FF2B5EF4-FFF2-40B4-BE49-F238E27FC236}">
                  <a16:creationId xmlns:a16="http://schemas.microsoft.com/office/drawing/2014/main" id="{BFD1C342-E9E3-A6F9-DE93-4B3F110922A8}"/>
                </a:ext>
              </a:extLst>
            </p:cNvPr>
            <p:cNvSpPr>
              <a:spLocks noChangeShapeType="1"/>
            </p:cNvSpPr>
            <p:nvPr/>
          </p:nvSpPr>
          <p:spPr bwMode="auto">
            <a:xfrm flipH="1" flipV="1">
              <a:off x="2736" y="4266"/>
              <a:ext cx="158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l-GR"/>
            </a:p>
          </p:txBody>
        </p:sp>
      </p:grpSp>
      <p:grpSp>
        <p:nvGrpSpPr>
          <p:cNvPr id="4" name="Group 13">
            <a:extLst>
              <a:ext uri="{FF2B5EF4-FFF2-40B4-BE49-F238E27FC236}">
                <a16:creationId xmlns:a16="http://schemas.microsoft.com/office/drawing/2014/main" id="{A4345E6A-0E58-BBB8-C009-75A2A8945E99}"/>
              </a:ext>
            </a:extLst>
          </p:cNvPr>
          <p:cNvGrpSpPr>
            <a:grpSpLocks/>
          </p:cNvGrpSpPr>
          <p:nvPr/>
        </p:nvGrpSpPr>
        <p:grpSpPr bwMode="auto">
          <a:xfrm>
            <a:off x="8373981" y="2602485"/>
            <a:ext cx="2514600" cy="3505200"/>
            <a:chOff x="2016" y="6768"/>
            <a:chExt cx="3024" cy="4590"/>
          </a:xfrm>
        </p:grpSpPr>
        <p:sp>
          <p:nvSpPr>
            <p:cNvPr id="19" name="Rectangle 14">
              <a:extLst>
                <a:ext uri="{FF2B5EF4-FFF2-40B4-BE49-F238E27FC236}">
                  <a16:creationId xmlns:a16="http://schemas.microsoft.com/office/drawing/2014/main" id="{86D11A71-7F52-E340-9F63-CA52869A7407}"/>
                </a:ext>
              </a:extLst>
            </p:cNvPr>
            <p:cNvSpPr>
              <a:spLocks noChangeArrowheads="1"/>
            </p:cNvSpPr>
            <p:nvPr/>
          </p:nvSpPr>
          <p:spPr bwMode="auto">
            <a:xfrm>
              <a:off x="2736" y="6768"/>
              <a:ext cx="864" cy="43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600">
                  <a:solidFill>
                    <a:srgbClr val="000000"/>
                  </a:solidFill>
                  <a:latin typeface="Times New Roman" panose="02020603050405020304" pitchFamily="18" charset="0"/>
                </a:rPr>
                <a:t>   Α</a:t>
              </a:r>
            </a:p>
            <a:p>
              <a:pPr eaLnBrk="0" fontAlgn="base" hangingPunct="0">
                <a:spcBef>
                  <a:spcPct val="0"/>
                </a:spcBef>
                <a:spcAft>
                  <a:spcPct val="0"/>
                </a:spcAft>
                <a:buClrTx/>
                <a:buSzTx/>
                <a:buFontTx/>
                <a:buNone/>
              </a:pPr>
              <a:endParaRPr lang="el-GR" altLang="el-GR" sz="1600">
                <a:solidFill>
                  <a:srgbClr val="000000"/>
                </a:solidFill>
                <a:latin typeface="Times New Roman" panose="02020603050405020304" pitchFamily="18" charset="0"/>
              </a:endParaRPr>
            </a:p>
          </p:txBody>
        </p:sp>
        <p:sp>
          <p:nvSpPr>
            <p:cNvPr id="20" name="Rectangle 15">
              <a:extLst>
                <a:ext uri="{FF2B5EF4-FFF2-40B4-BE49-F238E27FC236}">
                  <a16:creationId xmlns:a16="http://schemas.microsoft.com/office/drawing/2014/main" id="{C938BEFA-5A4D-792D-2733-5ACF9F8536AF}"/>
                </a:ext>
              </a:extLst>
            </p:cNvPr>
            <p:cNvSpPr>
              <a:spLocks noChangeArrowheads="1"/>
            </p:cNvSpPr>
            <p:nvPr/>
          </p:nvSpPr>
          <p:spPr bwMode="auto">
            <a:xfrm>
              <a:off x="2016" y="9342"/>
              <a:ext cx="1152"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600">
                  <a:solidFill>
                    <a:srgbClr val="000000"/>
                  </a:solidFill>
                  <a:latin typeface="Times New Roman" panose="02020603050405020304" pitchFamily="18" charset="0"/>
                </a:rPr>
                <a:t>+ C </a:t>
              </a:r>
            </a:p>
            <a:p>
              <a:pPr eaLnBrk="0" fontAlgn="base" hangingPunct="0">
                <a:spcBef>
                  <a:spcPct val="0"/>
                </a:spcBef>
                <a:spcAft>
                  <a:spcPct val="0"/>
                </a:spcAft>
                <a:buClrTx/>
                <a:buSzTx/>
                <a:buFontTx/>
                <a:buNone/>
              </a:pPr>
              <a:r>
                <a:rPr lang="en-US" altLang="el-GR" sz="1600">
                  <a:solidFill>
                    <a:srgbClr val="000000"/>
                  </a:solidFill>
                  <a:latin typeface="Times New Roman" panose="02020603050405020304" pitchFamily="18" charset="0"/>
                </a:rPr>
                <a:t>=(ABC)</a:t>
              </a:r>
            </a:p>
          </p:txBody>
        </p:sp>
        <p:sp>
          <p:nvSpPr>
            <p:cNvPr id="21" name="Rectangle 16">
              <a:extLst>
                <a:ext uri="{FF2B5EF4-FFF2-40B4-BE49-F238E27FC236}">
                  <a16:creationId xmlns:a16="http://schemas.microsoft.com/office/drawing/2014/main" id="{ABE4CE01-5018-A3B2-E118-ACCC640BD255}"/>
                </a:ext>
              </a:extLst>
            </p:cNvPr>
            <p:cNvSpPr>
              <a:spLocks noChangeArrowheads="1"/>
            </p:cNvSpPr>
            <p:nvPr/>
          </p:nvSpPr>
          <p:spPr bwMode="auto">
            <a:xfrm>
              <a:off x="3888" y="7920"/>
              <a:ext cx="1008"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600">
                  <a:solidFill>
                    <a:srgbClr val="000000"/>
                  </a:solidFill>
                  <a:latin typeface="Times New Roman" panose="02020603050405020304" pitchFamily="18" charset="0"/>
                </a:rPr>
                <a:t>+ D </a:t>
              </a:r>
            </a:p>
            <a:p>
              <a:pPr eaLnBrk="0" fontAlgn="base" hangingPunct="0">
                <a:spcBef>
                  <a:spcPct val="0"/>
                </a:spcBef>
                <a:spcAft>
                  <a:spcPct val="0"/>
                </a:spcAft>
                <a:buClrTx/>
                <a:buSzTx/>
                <a:buFontTx/>
                <a:buNone/>
              </a:pPr>
              <a:r>
                <a:rPr lang="en-US" altLang="el-GR" sz="1600">
                  <a:solidFill>
                    <a:srgbClr val="000000"/>
                  </a:solidFill>
                  <a:latin typeface="Times New Roman" panose="02020603050405020304" pitchFamily="18" charset="0"/>
                </a:rPr>
                <a:t>=(A D)</a:t>
              </a:r>
            </a:p>
          </p:txBody>
        </p:sp>
        <p:sp>
          <p:nvSpPr>
            <p:cNvPr id="22" name="Rectangle 17">
              <a:extLst>
                <a:ext uri="{FF2B5EF4-FFF2-40B4-BE49-F238E27FC236}">
                  <a16:creationId xmlns:a16="http://schemas.microsoft.com/office/drawing/2014/main" id="{697CC689-9AA4-F511-A158-3560A5CCBE03}"/>
                </a:ext>
              </a:extLst>
            </p:cNvPr>
            <p:cNvSpPr>
              <a:spLocks noChangeArrowheads="1"/>
            </p:cNvSpPr>
            <p:nvPr/>
          </p:nvSpPr>
          <p:spPr bwMode="auto">
            <a:xfrm>
              <a:off x="2016" y="10638"/>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600" dirty="0">
                  <a:solidFill>
                    <a:srgbClr val="000000"/>
                  </a:solidFill>
                  <a:latin typeface="Times New Roman" panose="02020603050405020304" pitchFamily="18" charset="0"/>
                </a:rPr>
                <a:t>+  E </a:t>
              </a:r>
            </a:p>
            <a:p>
              <a:pPr eaLnBrk="0" fontAlgn="base" hangingPunct="0">
                <a:spcBef>
                  <a:spcPct val="0"/>
                </a:spcBef>
                <a:spcAft>
                  <a:spcPct val="0"/>
                </a:spcAft>
                <a:buClrTx/>
                <a:buSzTx/>
                <a:buFontTx/>
                <a:buNone/>
              </a:pPr>
              <a:r>
                <a:rPr lang="en-US" altLang="el-GR" sz="1600" dirty="0">
                  <a:solidFill>
                    <a:srgbClr val="000000"/>
                  </a:solidFill>
                  <a:latin typeface="Times New Roman" panose="02020603050405020304" pitchFamily="18" charset="0"/>
                </a:rPr>
                <a:t>=(ABCE)</a:t>
              </a:r>
            </a:p>
          </p:txBody>
        </p:sp>
        <p:sp>
          <p:nvSpPr>
            <p:cNvPr id="23" name="Line 18">
              <a:extLst>
                <a:ext uri="{FF2B5EF4-FFF2-40B4-BE49-F238E27FC236}">
                  <a16:creationId xmlns:a16="http://schemas.microsoft.com/office/drawing/2014/main" id="{0B03E586-F7B6-68CC-54FF-FC431368F65A}"/>
                </a:ext>
              </a:extLst>
            </p:cNvPr>
            <p:cNvSpPr>
              <a:spLocks noChangeShapeType="1"/>
            </p:cNvSpPr>
            <p:nvPr/>
          </p:nvSpPr>
          <p:spPr bwMode="auto">
            <a:xfrm flipV="1">
              <a:off x="2592" y="7200"/>
              <a:ext cx="576"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24" name="Line 19">
              <a:extLst>
                <a:ext uri="{FF2B5EF4-FFF2-40B4-BE49-F238E27FC236}">
                  <a16:creationId xmlns:a16="http://schemas.microsoft.com/office/drawing/2014/main" id="{98061003-7365-9FF7-BE80-5145E70F584F}"/>
                </a:ext>
              </a:extLst>
            </p:cNvPr>
            <p:cNvSpPr>
              <a:spLocks noChangeShapeType="1"/>
            </p:cNvSpPr>
            <p:nvPr/>
          </p:nvSpPr>
          <p:spPr bwMode="auto">
            <a:xfrm flipH="1" flipV="1">
              <a:off x="3312" y="7200"/>
              <a:ext cx="1008"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25" name="Line 20">
              <a:extLst>
                <a:ext uri="{FF2B5EF4-FFF2-40B4-BE49-F238E27FC236}">
                  <a16:creationId xmlns:a16="http://schemas.microsoft.com/office/drawing/2014/main" id="{45CE5DD7-98E5-C793-5CB3-08169B2D5AB4}"/>
                </a:ext>
              </a:extLst>
            </p:cNvPr>
            <p:cNvSpPr>
              <a:spLocks noChangeShapeType="1"/>
            </p:cNvSpPr>
            <p:nvPr/>
          </p:nvSpPr>
          <p:spPr bwMode="auto">
            <a:xfrm flipH="1" flipV="1">
              <a:off x="2448" y="10062"/>
              <a:ext cx="14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26" name="Rectangle 21">
              <a:extLst>
                <a:ext uri="{FF2B5EF4-FFF2-40B4-BE49-F238E27FC236}">
                  <a16:creationId xmlns:a16="http://schemas.microsoft.com/office/drawing/2014/main" id="{2F541A3C-44EC-598F-8E66-12C129E3F822}"/>
                </a:ext>
              </a:extLst>
            </p:cNvPr>
            <p:cNvSpPr>
              <a:spLocks noChangeArrowheads="1"/>
            </p:cNvSpPr>
            <p:nvPr/>
          </p:nvSpPr>
          <p:spPr bwMode="auto">
            <a:xfrm>
              <a:off x="3744" y="10638"/>
              <a:ext cx="1296" cy="720"/>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n-US" altLang="el-GR" sz="1600">
                  <a:solidFill>
                    <a:srgbClr val="000000"/>
                  </a:solidFill>
                  <a:latin typeface="Times New Roman" panose="02020603050405020304" pitchFamily="18" charset="0"/>
                </a:rPr>
                <a:t>+ F </a:t>
              </a:r>
            </a:p>
            <a:p>
              <a:pPr eaLnBrk="0" fontAlgn="base" hangingPunct="0">
                <a:spcBef>
                  <a:spcPct val="0"/>
                </a:spcBef>
                <a:spcAft>
                  <a:spcPct val="0"/>
                </a:spcAft>
                <a:buClrTx/>
                <a:buSzTx/>
                <a:buFontTx/>
                <a:buNone/>
              </a:pPr>
              <a:r>
                <a:rPr lang="en-US" altLang="el-GR" sz="1600">
                  <a:solidFill>
                    <a:srgbClr val="000000"/>
                  </a:solidFill>
                  <a:latin typeface="Times New Roman" panose="02020603050405020304" pitchFamily="18" charset="0"/>
                </a:rPr>
                <a:t>=(ABCF)</a:t>
              </a:r>
            </a:p>
          </p:txBody>
        </p:sp>
        <p:sp>
          <p:nvSpPr>
            <p:cNvPr id="27" name="Line 22">
              <a:extLst>
                <a:ext uri="{FF2B5EF4-FFF2-40B4-BE49-F238E27FC236}">
                  <a16:creationId xmlns:a16="http://schemas.microsoft.com/office/drawing/2014/main" id="{DB414FC7-EFEC-A249-B656-D20453E97A89}"/>
                </a:ext>
              </a:extLst>
            </p:cNvPr>
            <p:cNvSpPr>
              <a:spLocks noChangeShapeType="1"/>
            </p:cNvSpPr>
            <p:nvPr/>
          </p:nvSpPr>
          <p:spPr bwMode="auto">
            <a:xfrm flipH="1" flipV="1">
              <a:off x="2736" y="10062"/>
              <a:ext cx="1584"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28" name="Rectangle 23">
              <a:extLst>
                <a:ext uri="{FF2B5EF4-FFF2-40B4-BE49-F238E27FC236}">
                  <a16:creationId xmlns:a16="http://schemas.microsoft.com/office/drawing/2014/main" id="{E71BBD40-01D2-2556-06BE-6067B8AA3DE4}"/>
                </a:ext>
              </a:extLst>
            </p:cNvPr>
            <p:cNvSpPr>
              <a:spLocks noChangeArrowheads="1"/>
            </p:cNvSpPr>
            <p:nvPr/>
          </p:nvSpPr>
          <p:spPr bwMode="auto">
            <a:xfrm>
              <a:off x="2016" y="7901"/>
              <a:ext cx="1152" cy="720"/>
            </a:xfrm>
            <a:prstGeom prst="rect">
              <a:avLst/>
            </a:prstGeom>
            <a:solidFill>
              <a:srgbClr val="00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0" fontAlgn="base" hangingPunct="0">
                <a:spcBef>
                  <a:spcPct val="0"/>
                </a:spcBef>
                <a:spcAft>
                  <a:spcPct val="0"/>
                </a:spcAft>
                <a:buClrTx/>
                <a:buSzTx/>
                <a:buFontTx/>
                <a:buNone/>
              </a:pPr>
              <a:r>
                <a:rPr lang="el-GR" altLang="el-GR" sz="1600">
                  <a:solidFill>
                    <a:srgbClr val="000000"/>
                  </a:solidFill>
                  <a:latin typeface="Times New Roman" panose="02020603050405020304" pitchFamily="18" charset="0"/>
                </a:rPr>
                <a:t>+ Β</a:t>
              </a:r>
            </a:p>
            <a:p>
              <a:pPr eaLnBrk="0" fontAlgn="base" hangingPunct="0">
                <a:spcBef>
                  <a:spcPct val="0"/>
                </a:spcBef>
                <a:spcAft>
                  <a:spcPct val="0"/>
                </a:spcAft>
                <a:buClrTx/>
                <a:buSzTx/>
                <a:buFontTx/>
                <a:buNone/>
              </a:pPr>
              <a:r>
                <a:rPr lang="el-GR" altLang="el-GR" sz="1600">
                  <a:solidFill>
                    <a:srgbClr val="000000"/>
                  </a:solidFill>
                  <a:latin typeface="Times New Roman" panose="02020603050405020304" pitchFamily="18" charset="0"/>
                </a:rPr>
                <a:t>= (Α Β)</a:t>
              </a:r>
            </a:p>
          </p:txBody>
        </p:sp>
        <p:sp>
          <p:nvSpPr>
            <p:cNvPr id="29" name="Line 24">
              <a:extLst>
                <a:ext uri="{FF2B5EF4-FFF2-40B4-BE49-F238E27FC236}">
                  <a16:creationId xmlns:a16="http://schemas.microsoft.com/office/drawing/2014/main" id="{D52BC1E4-1635-A6BB-17CC-F48C828BBD06}"/>
                </a:ext>
              </a:extLst>
            </p:cNvPr>
            <p:cNvSpPr>
              <a:spLocks noChangeShapeType="1"/>
            </p:cNvSpPr>
            <p:nvPr/>
          </p:nvSpPr>
          <p:spPr bwMode="auto">
            <a:xfrm flipV="1">
              <a:off x="2592" y="8622"/>
              <a:ext cx="0"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sp>
          <p:nvSpPr>
            <p:cNvPr id="30" name="Rectangle 25">
              <a:extLst>
                <a:ext uri="{FF2B5EF4-FFF2-40B4-BE49-F238E27FC236}">
                  <a16:creationId xmlns:a16="http://schemas.microsoft.com/office/drawing/2014/main" id="{93FEE290-CDB6-D1DF-28BD-B070C8942FA4}"/>
                </a:ext>
              </a:extLst>
            </p:cNvPr>
            <p:cNvSpPr>
              <a:spLocks noChangeArrowheads="1"/>
            </p:cNvSpPr>
            <p:nvPr/>
          </p:nvSpPr>
          <p:spPr bwMode="auto">
            <a:xfrm>
              <a:off x="3744" y="9342"/>
              <a:ext cx="1296" cy="721"/>
            </a:xfrm>
            <a:prstGeom prst="rect">
              <a:avLst/>
            </a:prstGeom>
            <a:solidFill>
              <a:srgbClr val="FFFF00"/>
            </a:solidFill>
            <a:ln w="9525">
              <a:solidFill>
                <a:srgbClr val="000000"/>
              </a:solidFill>
              <a:miter lim="800000"/>
              <a:headEnd/>
              <a:tailEnd/>
            </a:ln>
            <a:effectLst>
              <a:outerShdw dist="107763" dir="2700000" algn="ctr" rotWithShape="0">
                <a:srgbClr val="808080"/>
              </a:outerShdw>
            </a:effec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pPr>
              <a:r>
                <a:rPr lang="el-GR" altLang="el-GR" sz="1600">
                  <a:solidFill>
                    <a:srgbClr val="000000"/>
                  </a:solidFill>
                  <a:latin typeface="Times New Roman" panose="02020603050405020304" pitchFamily="18" charset="0"/>
                </a:rPr>
                <a:t>+ Κ</a:t>
              </a:r>
            </a:p>
            <a:p>
              <a:pPr eaLnBrk="0" fontAlgn="base" hangingPunct="0">
                <a:spcBef>
                  <a:spcPct val="0"/>
                </a:spcBef>
                <a:spcAft>
                  <a:spcPct val="0"/>
                </a:spcAft>
              </a:pPr>
              <a:r>
                <a:rPr lang="el-GR" altLang="el-GR" sz="1600">
                  <a:solidFill>
                    <a:srgbClr val="000000"/>
                  </a:solidFill>
                  <a:latin typeface="Times New Roman" panose="02020603050405020304" pitchFamily="18" charset="0"/>
                </a:rPr>
                <a:t>= (ΑΒΚ)</a:t>
              </a:r>
            </a:p>
          </p:txBody>
        </p:sp>
        <p:sp>
          <p:nvSpPr>
            <p:cNvPr id="31" name="Line 26">
              <a:extLst>
                <a:ext uri="{FF2B5EF4-FFF2-40B4-BE49-F238E27FC236}">
                  <a16:creationId xmlns:a16="http://schemas.microsoft.com/office/drawing/2014/main" id="{CE99472D-35FE-6D05-5217-EDC00C176F53}"/>
                </a:ext>
              </a:extLst>
            </p:cNvPr>
            <p:cNvSpPr>
              <a:spLocks noChangeShapeType="1"/>
            </p:cNvSpPr>
            <p:nvPr/>
          </p:nvSpPr>
          <p:spPr bwMode="auto">
            <a:xfrm flipH="1" flipV="1">
              <a:off x="2880" y="8622"/>
              <a:ext cx="1440"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l-GR" sz="2400">
                <a:solidFill>
                  <a:srgbClr val="000000"/>
                </a:solidFill>
                <a:latin typeface="Tahoma" panose="020B0604030504040204" pitchFamily="34" charset="0"/>
              </a:endParaRPr>
            </a:p>
          </p:txBody>
        </p:sp>
      </p:grpSp>
      <p:sp>
        <p:nvSpPr>
          <p:cNvPr id="33" name="Callout: Line 32">
            <a:extLst>
              <a:ext uri="{FF2B5EF4-FFF2-40B4-BE49-F238E27FC236}">
                <a16:creationId xmlns:a16="http://schemas.microsoft.com/office/drawing/2014/main" id="{671F8270-5698-7EF0-8D3B-963331AE61E1}"/>
              </a:ext>
            </a:extLst>
          </p:cNvPr>
          <p:cNvSpPr/>
          <p:nvPr/>
        </p:nvSpPr>
        <p:spPr>
          <a:xfrm>
            <a:off x="8604281" y="1386198"/>
            <a:ext cx="3490913" cy="735707"/>
          </a:xfrm>
          <a:prstGeom prst="borderCallout1">
            <a:avLst>
              <a:gd name="adj1" fmla="val 94139"/>
              <a:gd name="adj2" fmla="val 89142"/>
              <a:gd name="adj3" fmla="val 416091"/>
              <a:gd name="adj4" fmla="val 60430"/>
            </a:avLst>
          </a:prstGeom>
          <a:solidFill>
            <a:srgbClr val="FFFF00"/>
          </a:solid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l-GR" altLang="el-GR" sz="2000" b="0" i="0" u="none" strike="noStrike" kern="1200" cap="none" spc="0" normalizeH="0" baseline="0" noProof="0" dirty="0">
                <a:ln>
                  <a:noFill/>
                </a:ln>
                <a:solidFill>
                  <a:srgbClr val="FF0000"/>
                </a:solidFill>
                <a:effectLst/>
                <a:uLnTx/>
                <a:uFillTx/>
                <a:latin typeface="Tahoma" panose="020B0604030504040204" pitchFamily="34" charset="0"/>
                <a:ea typeface="+mn-ea"/>
                <a:cs typeface="+mn-cs"/>
              </a:rPr>
              <a:t>Προσθήκη κλάσης με χαρακτηριστικά (Α Β Κ)</a:t>
            </a:r>
            <a:endParaRPr kumimoji="0" lang="en-GB" altLang="el-GR" sz="2000" b="0" i="0" u="none" strike="noStrike" kern="1200" cap="none" spc="0" normalizeH="0" baseline="0" noProof="0" dirty="0">
              <a:ln>
                <a:noFill/>
              </a:ln>
              <a:solidFill>
                <a:srgbClr val="FF0000"/>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9928035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Ορατότητα μελών </a:t>
            </a:r>
            <a:r>
              <a:rPr lang="el-GR" sz="4000" b="1" dirty="0" err="1">
                <a:solidFill>
                  <a:srgbClr val="F9853D"/>
                </a:solidFill>
                <a:latin typeface="Bahnschrift" panose="020B0502040204020203" pitchFamily="34" charset="0"/>
              </a:rPr>
              <a:t>πρόγονης</a:t>
            </a:r>
            <a:r>
              <a:rPr lang="el-GR" sz="4000" b="1" dirty="0">
                <a:solidFill>
                  <a:srgbClr val="F9853D"/>
                </a:solidFill>
                <a:latin typeface="Bahnschrift" panose="020B0502040204020203" pitchFamily="34" charset="0"/>
              </a:rPr>
              <a:t> κλάσης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pic>
        <p:nvPicPr>
          <p:cNvPr id="5" name="Picture 5">
            <a:extLst>
              <a:ext uri="{FF2B5EF4-FFF2-40B4-BE49-F238E27FC236}">
                <a16:creationId xmlns:a16="http://schemas.microsoft.com/office/drawing/2014/main" id="{7B0EA88E-1808-BCCF-0BA4-D43520AE2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196975"/>
            <a:ext cx="5126037"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9">
            <a:extLst>
              <a:ext uri="{FF2B5EF4-FFF2-40B4-BE49-F238E27FC236}">
                <a16:creationId xmlns:a16="http://schemas.microsoft.com/office/drawing/2014/main" id="{38E1B58C-8CF2-77CD-5E08-74C000335595}"/>
              </a:ext>
            </a:extLst>
          </p:cNvPr>
          <p:cNvGrpSpPr>
            <a:grpSpLocks/>
          </p:cNvGrpSpPr>
          <p:nvPr/>
        </p:nvGrpSpPr>
        <p:grpSpPr bwMode="auto">
          <a:xfrm>
            <a:off x="2700338" y="3789363"/>
            <a:ext cx="5703806" cy="2663825"/>
            <a:chOff x="1187624" y="3356992"/>
            <a:chExt cx="5704994" cy="2664296"/>
          </a:xfrm>
        </p:grpSpPr>
        <p:pic>
          <p:nvPicPr>
            <p:cNvPr id="7" name="Picture 4">
              <a:extLst>
                <a:ext uri="{FF2B5EF4-FFF2-40B4-BE49-F238E27FC236}">
                  <a16:creationId xmlns:a16="http://schemas.microsoft.com/office/drawing/2014/main" id="{34EAD9F9-5725-0D55-CD61-0E045318A6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3789040"/>
              <a:ext cx="5304149"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7">
              <a:extLst>
                <a:ext uri="{FF2B5EF4-FFF2-40B4-BE49-F238E27FC236}">
                  <a16:creationId xmlns:a16="http://schemas.microsoft.com/office/drawing/2014/main" id="{B6E3E7F5-F9C8-DE8F-4FC1-98CE70E7CDE4}"/>
                </a:ext>
              </a:extLst>
            </p:cNvPr>
            <p:cNvSpPr txBox="1">
              <a:spLocks noChangeArrowheads="1"/>
            </p:cNvSpPr>
            <p:nvPr/>
          </p:nvSpPr>
          <p:spPr bwMode="auto">
            <a:xfrm>
              <a:off x="1187624" y="3356992"/>
              <a:ext cx="5704994" cy="46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dirty="0">
                  <a:ln>
                    <a:noFill/>
                  </a:ln>
                  <a:solidFill>
                    <a:srgbClr val="C00000"/>
                  </a:solidFill>
                  <a:effectLst/>
                  <a:uLnTx/>
                  <a:uFillTx/>
                  <a:latin typeface="Tahoma" panose="020B0604030504040204" pitchFamily="34" charset="0"/>
                </a:rPr>
                <a:t>Ορατότητα των μελών της κλάσης </a:t>
              </a:r>
              <a:r>
                <a:rPr kumimoji="0" lang="en-US" altLang="el-GR" sz="2400" b="0" i="0" u="none" strike="noStrike" kern="0" cap="none" spc="0" normalizeH="0" baseline="0" noProof="0" dirty="0">
                  <a:ln>
                    <a:noFill/>
                  </a:ln>
                  <a:solidFill>
                    <a:srgbClr val="C00000"/>
                  </a:solidFill>
                  <a:effectLst/>
                  <a:uLnTx/>
                  <a:uFillTx/>
                  <a:latin typeface="Tahoma" panose="020B0604030504040204" pitchFamily="34" charset="0"/>
                </a:rPr>
                <a:t>Alpha</a:t>
              </a:r>
              <a:endParaRPr kumimoji="0" lang="el-GR" altLang="el-GR" sz="2400" b="0" i="0" u="none" strike="noStrike" kern="0" cap="none" spc="0" normalizeH="0" baseline="0" noProof="0" dirty="0">
                <a:ln>
                  <a:noFill/>
                </a:ln>
                <a:solidFill>
                  <a:srgbClr val="C00000"/>
                </a:solidFill>
                <a:effectLst/>
                <a:uLnTx/>
                <a:uFillTx/>
                <a:latin typeface="Tahoma" panose="020B0604030504040204" pitchFamily="34" charset="0"/>
              </a:endParaRPr>
            </a:p>
          </p:txBody>
        </p:sp>
      </p:grpSp>
    </p:spTree>
    <p:extLst>
      <p:ext uri="{BB962C8B-B14F-4D97-AF65-F5344CB8AC3E}">
        <p14:creationId xmlns:p14="http://schemas.microsoft.com/office/powerpoint/2010/main" val="202059075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Επιλογές στο ορισμό </a:t>
            </a:r>
            <a:r>
              <a:rPr lang="el-GR" sz="4000" b="1" dirty="0" err="1">
                <a:solidFill>
                  <a:srgbClr val="F9853D"/>
                </a:solidFill>
                <a:latin typeface="Bahnschrift" panose="020B0502040204020203" pitchFamily="34" charset="0"/>
              </a:rPr>
              <a:t>απόγονης</a:t>
            </a:r>
            <a:r>
              <a:rPr lang="el-GR" sz="4000" b="1" dirty="0">
                <a:solidFill>
                  <a:srgbClr val="F9853D"/>
                </a:solidFill>
                <a:latin typeface="Bahnschrift" panose="020B0502040204020203" pitchFamily="34" charset="0"/>
              </a:rPr>
              <a:t> κλάσης</a:t>
            </a:r>
            <a:r>
              <a:rPr lang="en-GB" sz="4000" b="1" dirty="0">
                <a:solidFill>
                  <a:srgbClr val="F9853D"/>
                </a:solidFill>
                <a:latin typeface="Bahnschrift" panose="020B0502040204020203" pitchFamily="34" charset="0"/>
              </a:rPr>
              <a:t> 1</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5" name="Rectangle 3">
            <a:extLst>
              <a:ext uri="{FF2B5EF4-FFF2-40B4-BE49-F238E27FC236}">
                <a16:creationId xmlns:a16="http://schemas.microsoft.com/office/drawing/2014/main" id="{53892AC3-78F7-F946-1F1D-363E2FA708AC}"/>
              </a:ext>
            </a:extLst>
          </p:cNvPr>
          <p:cNvSpPr txBox="1">
            <a:spLocks noChangeArrowheads="1"/>
          </p:cNvSpPr>
          <p:nvPr/>
        </p:nvSpPr>
        <p:spPr bwMode="auto">
          <a:xfrm>
            <a:off x="0" y="1196975"/>
            <a:ext cx="968943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mn-cs"/>
              </a:rPr>
              <a:t>Μια </a:t>
            </a:r>
            <a:r>
              <a:rPr kumimoji="0" lang="el-GR" altLang="el-GR" sz="2800" b="0" i="0" u="none" strike="noStrike" kern="0" cap="none" spc="0" normalizeH="0" baseline="0" noProof="0" dirty="0" err="1">
                <a:ln>
                  <a:noFill/>
                </a:ln>
                <a:solidFill>
                  <a:srgbClr val="000000"/>
                </a:solidFill>
                <a:effectLst/>
                <a:uLnTx/>
                <a:uFillTx/>
                <a:latin typeface="Tahoma"/>
                <a:ea typeface="+mn-ea"/>
                <a:cs typeface="+mn-cs"/>
              </a:rPr>
              <a:t>υποκλάση</a:t>
            </a:r>
            <a:r>
              <a:rPr kumimoji="0" lang="el-GR" altLang="el-GR" sz="2800" b="0" i="0" u="none" strike="noStrike" kern="0" cap="none" spc="0" normalizeH="0" baseline="0" noProof="0" dirty="0">
                <a:ln>
                  <a:noFill/>
                </a:ln>
                <a:solidFill>
                  <a:srgbClr val="000000"/>
                </a:solidFill>
                <a:effectLst/>
                <a:uLnTx/>
                <a:uFillTx/>
                <a:latin typeface="Tahoma"/>
                <a:ea typeface="+mn-ea"/>
                <a:cs typeface="+mn-cs"/>
              </a:rPr>
              <a:t> κληρονομεί όλα τα </a:t>
            </a:r>
            <a:r>
              <a:rPr kumimoji="0" lang="en-US" altLang="el-GR" sz="2800" b="1" i="1" u="none" strike="noStrike" kern="0" cap="none" spc="0" normalizeH="0" baseline="0" noProof="0" dirty="0">
                <a:ln>
                  <a:noFill/>
                </a:ln>
                <a:solidFill>
                  <a:srgbClr val="000000"/>
                </a:solidFill>
                <a:effectLst/>
                <a:uLnTx/>
                <a:uFillTx/>
                <a:latin typeface="Tahoma"/>
                <a:ea typeface="+mn-ea"/>
                <a:cs typeface="+mn-cs"/>
              </a:rPr>
              <a:t>public</a:t>
            </a:r>
            <a:r>
              <a:rPr kumimoji="0" lang="en-US" altLang="el-GR" sz="2800" b="0" i="0" u="none" strike="noStrike" kern="0" cap="none" spc="0" normalizeH="0" baseline="0" noProof="0" dirty="0">
                <a:ln>
                  <a:noFill/>
                </a:ln>
                <a:solidFill>
                  <a:srgbClr val="000000"/>
                </a:solidFill>
                <a:effectLst/>
                <a:uLnTx/>
                <a:uFillTx/>
                <a:latin typeface="Tahoma"/>
                <a:ea typeface="+mn-ea"/>
                <a:cs typeface="+mn-cs"/>
              </a:rPr>
              <a:t> and </a:t>
            </a:r>
            <a:r>
              <a:rPr kumimoji="0" lang="en-US" altLang="el-GR" sz="2800" b="1" i="1" u="none" strike="noStrike" kern="0" cap="none" spc="0" normalizeH="0" baseline="0" noProof="0" dirty="0">
                <a:ln>
                  <a:noFill/>
                </a:ln>
                <a:solidFill>
                  <a:srgbClr val="000000"/>
                </a:solidFill>
                <a:effectLst/>
                <a:uLnTx/>
                <a:uFillTx/>
                <a:latin typeface="Tahoma"/>
                <a:ea typeface="+mn-ea"/>
                <a:cs typeface="+mn-cs"/>
              </a:rPr>
              <a:t>protected</a:t>
            </a:r>
            <a:r>
              <a:rPr kumimoji="0" lang="en-US" altLang="el-GR" sz="2800" b="0" i="0" u="none" strike="noStrike" kern="0" cap="none" spc="0" normalizeH="0" baseline="0" noProof="0" dirty="0">
                <a:ln>
                  <a:noFill/>
                </a:ln>
                <a:solidFill>
                  <a:srgbClr val="000000"/>
                </a:solidFill>
                <a:effectLst/>
                <a:uLnTx/>
                <a:uFillTx/>
                <a:latin typeface="Tahoma"/>
                <a:ea typeface="+mn-ea"/>
                <a:cs typeface="+mn-cs"/>
              </a:rPr>
              <a:t> </a:t>
            </a:r>
            <a:r>
              <a:rPr kumimoji="0" lang="el-GR" altLang="el-GR" sz="2800" b="0" i="0" u="none" strike="noStrike" kern="0" cap="none" spc="0" normalizeH="0" baseline="0" noProof="0" dirty="0">
                <a:ln>
                  <a:noFill/>
                </a:ln>
                <a:solidFill>
                  <a:srgbClr val="000000"/>
                </a:solidFill>
                <a:effectLst/>
                <a:uLnTx/>
                <a:uFillTx/>
                <a:latin typeface="Tahoma"/>
                <a:ea typeface="+mn-ea"/>
                <a:cs typeface="+mn-cs"/>
              </a:rPr>
              <a:t>μέλη της </a:t>
            </a:r>
            <a:r>
              <a:rPr kumimoji="0" lang="el-GR" altLang="el-GR" sz="2800" b="0" i="0" u="none" strike="noStrike" kern="0" cap="none" spc="0" normalizeH="0" baseline="0" noProof="0" dirty="0" err="1">
                <a:ln>
                  <a:noFill/>
                </a:ln>
                <a:solidFill>
                  <a:srgbClr val="000000"/>
                </a:solidFill>
                <a:effectLst/>
                <a:uLnTx/>
                <a:uFillTx/>
                <a:latin typeface="Tahoma"/>
                <a:ea typeface="+mn-ea"/>
                <a:cs typeface="+mn-cs"/>
              </a:rPr>
              <a:t>πρόγονης</a:t>
            </a:r>
            <a:r>
              <a:rPr kumimoji="0" lang="el-GR" altLang="el-GR" sz="2800" b="0" i="0" u="none" strike="noStrike" kern="0" cap="none" spc="0" normalizeH="0" baseline="0" noProof="0" dirty="0">
                <a:ln>
                  <a:noFill/>
                </a:ln>
                <a:solidFill>
                  <a:srgbClr val="000000"/>
                </a:solidFill>
                <a:effectLst/>
                <a:uLnTx/>
                <a:uFillTx/>
                <a:latin typeface="Tahoma"/>
                <a:ea typeface="+mn-ea"/>
                <a:cs typeface="+mn-cs"/>
              </a:rPr>
              <a:t> κλάσης της. </a:t>
            </a:r>
            <a:endParaRPr kumimoji="0" lang="en-US" altLang="el-GR" sz="2800" b="0" i="0" u="none" strike="noStrike" kern="0" cap="none" spc="0" normalizeH="0" baseline="0" noProof="0" dirty="0">
              <a:ln>
                <a:noFill/>
              </a:ln>
              <a:solidFill>
                <a:srgbClr val="000000"/>
              </a:solidFill>
              <a:effectLst/>
              <a:uLnTx/>
              <a:uFillTx/>
              <a:latin typeface="Tahoma"/>
              <a:ea typeface="+mn-ea"/>
              <a:cs typeface="+mn-cs"/>
            </a:endParaRPr>
          </a:p>
          <a:p>
            <a:pPr lvl="0">
              <a:buClr>
                <a:srgbClr val="3333CC"/>
              </a:buClr>
            </a:pPr>
            <a:r>
              <a:rPr kumimoji="0" lang="el-GR" altLang="el-GR" sz="2800" b="0" i="0" u="none" strike="noStrike" kern="0" cap="none" spc="0" normalizeH="0" baseline="0" noProof="0" dirty="0">
                <a:ln>
                  <a:noFill/>
                </a:ln>
                <a:solidFill>
                  <a:srgbClr val="000000"/>
                </a:solidFill>
                <a:effectLst/>
                <a:uLnTx/>
                <a:uFillTx/>
                <a:latin typeface="Tahoma"/>
                <a:ea typeface="+mn-ea"/>
                <a:cs typeface="+mn-cs"/>
              </a:rPr>
              <a:t>Εάν δε</a:t>
            </a:r>
            <a:r>
              <a:rPr kumimoji="0" lang="el-GR" altLang="el-GR" sz="2800" b="0" i="0" u="none" strike="noStrike" kern="0" cap="none" spc="0" normalizeH="0" noProof="0" dirty="0">
                <a:ln>
                  <a:noFill/>
                </a:ln>
                <a:solidFill>
                  <a:srgbClr val="000000"/>
                </a:solidFill>
                <a:effectLst/>
                <a:uLnTx/>
                <a:uFillTx/>
                <a:latin typeface="Tahoma"/>
                <a:ea typeface="+mn-ea"/>
                <a:cs typeface="+mn-cs"/>
              </a:rPr>
              <a:t> είναι στο ίδιο πακέτο με την </a:t>
            </a:r>
            <a:r>
              <a:rPr kumimoji="0" lang="el-GR" altLang="el-GR" sz="2800" b="0" i="0" u="none" strike="noStrike" kern="0" cap="none" spc="0" normalizeH="0" noProof="0" dirty="0" err="1">
                <a:ln>
                  <a:noFill/>
                </a:ln>
                <a:solidFill>
                  <a:srgbClr val="000000"/>
                </a:solidFill>
                <a:effectLst/>
                <a:uLnTx/>
                <a:uFillTx/>
                <a:latin typeface="Tahoma"/>
                <a:ea typeface="+mn-ea"/>
                <a:cs typeface="+mn-cs"/>
              </a:rPr>
              <a:t>πρόγονη</a:t>
            </a:r>
            <a:r>
              <a:rPr kumimoji="0" lang="el-GR" altLang="el-GR" sz="2800" b="0" i="0" u="none" strike="noStrike" kern="0" cap="none" spc="0" normalizeH="0" noProof="0" dirty="0">
                <a:ln>
                  <a:noFill/>
                </a:ln>
                <a:solidFill>
                  <a:srgbClr val="000000"/>
                </a:solidFill>
                <a:effectLst/>
                <a:uLnTx/>
                <a:uFillTx/>
                <a:latin typeface="Tahoma"/>
                <a:ea typeface="+mn-ea"/>
                <a:cs typeface="+mn-cs"/>
              </a:rPr>
              <a:t> κληρονομεί επιπλέον και τα </a:t>
            </a:r>
            <a:r>
              <a:rPr kumimoji="0" lang="en-US" altLang="el-GR" sz="2800" b="1" i="1" u="none" strike="noStrike" kern="0" cap="none" spc="0" normalizeH="0" baseline="0" noProof="0" dirty="0">
                <a:ln>
                  <a:noFill/>
                </a:ln>
                <a:solidFill>
                  <a:srgbClr val="000000"/>
                </a:solidFill>
                <a:effectLst/>
                <a:uLnTx/>
                <a:uFillTx/>
                <a:latin typeface="Tahoma"/>
                <a:ea typeface="+mn-ea"/>
                <a:cs typeface="+mn-cs"/>
              </a:rPr>
              <a:t>package-private</a:t>
            </a:r>
            <a:r>
              <a:rPr kumimoji="0" lang="en-US" altLang="el-GR" sz="2800" b="0" i="0" u="none" strike="noStrike" kern="0" cap="none" spc="0" normalizeH="0" baseline="0" noProof="0" dirty="0">
                <a:ln>
                  <a:noFill/>
                </a:ln>
                <a:solidFill>
                  <a:srgbClr val="000000"/>
                </a:solidFill>
                <a:effectLst/>
                <a:uLnTx/>
                <a:uFillTx/>
                <a:latin typeface="Tahoma"/>
                <a:ea typeface="+mn-ea"/>
                <a:cs typeface="+mn-cs"/>
              </a:rPr>
              <a:t> </a:t>
            </a:r>
            <a:r>
              <a:rPr lang="el-GR" altLang="el-GR" sz="2800" kern="0" dirty="0">
                <a:solidFill>
                  <a:srgbClr val="000000"/>
                </a:solidFill>
                <a:latin typeface="Tahoma"/>
              </a:rPr>
              <a:t>μέλη της </a:t>
            </a:r>
            <a:r>
              <a:rPr lang="el-GR" altLang="el-GR" sz="2800" kern="0" dirty="0" err="1">
                <a:solidFill>
                  <a:srgbClr val="000000"/>
                </a:solidFill>
                <a:latin typeface="Tahoma"/>
              </a:rPr>
              <a:t>πρόγονης</a:t>
            </a:r>
            <a:r>
              <a:rPr lang="el-GR" altLang="el-GR" sz="2800" kern="0" dirty="0">
                <a:solidFill>
                  <a:srgbClr val="000000"/>
                </a:solidFill>
                <a:latin typeface="Tahoma"/>
              </a:rPr>
              <a:t> κλάσης της. </a:t>
            </a:r>
            <a:endParaRPr kumimoji="0" lang="en-US" altLang="el-GR" sz="28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endParaRPr kumimoji="0" lang="en-US" altLang="el-GR" sz="28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6" name="Rectangle 3">
            <a:extLst>
              <a:ext uri="{FF2B5EF4-FFF2-40B4-BE49-F238E27FC236}">
                <a16:creationId xmlns:a16="http://schemas.microsoft.com/office/drawing/2014/main" id="{AF974B65-BD96-6FF7-EBBE-C2866A4F2311}"/>
              </a:ext>
            </a:extLst>
          </p:cNvPr>
          <p:cNvSpPr>
            <a:spLocks noChangeArrowheads="1"/>
          </p:cNvSpPr>
          <p:nvPr/>
        </p:nvSpPr>
        <p:spPr bwMode="auto">
          <a:xfrm>
            <a:off x="1626333" y="4043169"/>
            <a:ext cx="4608513" cy="2016125"/>
          </a:xfrm>
          <a:prstGeom prst="rect">
            <a:avLst/>
          </a:prstGeom>
          <a:solidFill>
            <a:srgbClr val="FFFFFF"/>
          </a:solidFill>
          <a:ln w="9525" algn="ctr">
            <a:solidFill>
              <a:srgbClr val="000000"/>
            </a:solidFill>
            <a:prstDash val="lgDashDot"/>
            <a:miter lim="800000"/>
            <a:headEnd/>
            <a:tailEnd/>
          </a:ln>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Rectangle 4">
            <a:extLst>
              <a:ext uri="{FF2B5EF4-FFF2-40B4-BE49-F238E27FC236}">
                <a16:creationId xmlns:a16="http://schemas.microsoft.com/office/drawing/2014/main" id="{78A46299-8AF8-1A0B-2D42-4FACBB33E840}"/>
              </a:ext>
            </a:extLst>
          </p:cNvPr>
          <p:cNvSpPr>
            <a:spLocks noChangeArrowheads="1"/>
          </p:cNvSpPr>
          <p:nvPr/>
        </p:nvSpPr>
        <p:spPr bwMode="auto">
          <a:xfrm>
            <a:off x="1699358" y="4116194"/>
            <a:ext cx="1584325" cy="1150938"/>
          </a:xfrm>
          <a:prstGeom prst="rect">
            <a:avLst/>
          </a:prstGeom>
          <a:solidFill>
            <a:srgbClr val="FFFFFF"/>
          </a:solidFill>
          <a:ln w="9525" algn="ctr">
            <a:solidFill>
              <a:srgbClr val="000000"/>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600" b="0" i="0" u="none" strike="noStrike" kern="0" cap="none" spc="0" normalizeH="0" baseline="0" noProof="0">
                <a:ln>
                  <a:noFill/>
                </a:ln>
                <a:solidFill>
                  <a:srgbClr val="1BDD07"/>
                </a:solidFill>
                <a:effectLst/>
                <a:uLnTx/>
                <a:uFillTx/>
                <a:latin typeface="Tahoma" panose="020B0604030504040204" pitchFamily="34" charset="0"/>
              </a:rPr>
              <a:t>public</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600" b="0" i="0" u="none" strike="noStrike" kern="0" cap="none" spc="0" normalizeH="0" baseline="0" noProof="0">
                <a:ln>
                  <a:noFill/>
                </a:ln>
                <a:solidFill>
                  <a:srgbClr val="1BDD07"/>
                </a:solidFill>
                <a:effectLst/>
                <a:uLnTx/>
                <a:uFillTx/>
                <a:latin typeface="Tahoma" panose="020B0604030504040204" pitchFamily="34" charset="0"/>
              </a:rPr>
              <a:t>protected</a:t>
            </a:r>
            <a:endParaRPr kumimoji="0" lang="el-GR" altLang="el-GR" sz="1600" b="0" i="0" u="none" strike="noStrike" kern="0" cap="none" spc="0" normalizeH="0" baseline="0" noProof="0">
              <a:ln>
                <a:noFill/>
              </a:ln>
              <a:solidFill>
                <a:srgbClr val="1BDD07"/>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600" b="0" i="0" u="none" strike="noStrike" kern="0" cap="none" spc="0" normalizeH="0" baseline="0" noProof="0">
                <a:ln>
                  <a:noFill/>
                </a:ln>
                <a:solidFill>
                  <a:srgbClr val="FFC000"/>
                </a:solidFill>
                <a:effectLst/>
                <a:uLnTx/>
                <a:uFillTx/>
                <a:latin typeface="Tahoma" panose="020B0604030504040204" pitchFamily="34" charset="0"/>
              </a:rPr>
              <a:t>package-private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600" b="0" i="0" u="none" strike="noStrike" kern="0" cap="none" spc="0" normalizeH="0" baseline="0" noProof="0">
                <a:ln>
                  <a:noFill/>
                </a:ln>
                <a:solidFill>
                  <a:srgbClr val="FF0000"/>
                </a:solidFill>
                <a:effectLst/>
                <a:uLnTx/>
                <a:uFillTx/>
                <a:latin typeface="Tahoma" panose="020B0604030504040204" pitchFamily="34" charset="0"/>
              </a:rPr>
              <a:t>private</a:t>
            </a:r>
            <a:endParaRPr kumimoji="0" lang="el-GR" altLang="el-GR" sz="1600" b="0" i="0" u="none" strike="noStrike" kern="0" cap="none" spc="0" normalizeH="0" baseline="0" noProof="0">
              <a:ln>
                <a:noFill/>
              </a:ln>
              <a:solidFill>
                <a:srgbClr val="FF0000"/>
              </a:solidFill>
              <a:effectLst/>
              <a:uLnTx/>
              <a:uFillTx/>
              <a:latin typeface="Tahoma" panose="020B0604030504040204" pitchFamily="34" charset="0"/>
            </a:endParaRPr>
          </a:p>
        </p:txBody>
      </p:sp>
      <p:sp>
        <p:nvSpPr>
          <p:cNvPr id="9" name="Rectangle 7">
            <a:extLst>
              <a:ext uri="{FF2B5EF4-FFF2-40B4-BE49-F238E27FC236}">
                <a16:creationId xmlns:a16="http://schemas.microsoft.com/office/drawing/2014/main" id="{0BC68859-3F49-1B89-CE78-91C87824CB7F}"/>
              </a:ext>
            </a:extLst>
          </p:cNvPr>
          <p:cNvSpPr>
            <a:spLocks noChangeArrowheads="1"/>
          </p:cNvSpPr>
          <p:nvPr/>
        </p:nvSpPr>
        <p:spPr bwMode="auto">
          <a:xfrm>
            <a:off x="4507646" y="5124257"/>
            <a:ext cx="1295400" cy="863600"/>
          </a:xfrm>
          <a:prstGeom prst="rect">
            <a:avLst/>
          </a:prstGeom>
          <a:solidFill>
            <a:srgbClr val="FFFFFF"/>
          </a:solidFill>
          <a:ln w="9525" algn="ctr">
            <a:solidFill>
              <a:srgbClr val="000000"/>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cxnSp>
        <p:nvCxnSpPr>
          <p:cNvPr id="12" name="Straight Arrow Connector 12">
            <a:extLst>
              <a:ext uri="{FF2B5EF4-FFF2-40B4-BE49-F238E27FC236}">
                <a16:creationId xmlns:a16="http://schemas.microsoft.com/office/drawing/2014/main" id="{75E19442-364C-DE45-707F-90DB148525BF}"/>
              </a:ext>
            </a:extLst>
          </p:cNvPr>
          <p:cNvCxnSpPr>
            <a:cxnSpLocks noChangeShapeType="1"/>
          </p:cNvCxnSpPr>
          <p:nvPr/>
        </p:nvCxnSpPr>
        <p:spPr bwMode="auto">
          <a:xfrm>
            <a:off x="2418496" y="4332094"/>
            <a:ext cx="2736850" cy="935038"/>
          </a:xfrm>
          <a:prstGeom prst="straightConnector1">
            <a:avLst/>
          </a:prstGeom>
          <a:noFill/>
          <a:ln w="19050" algn="ctr">
            <a:solidFill>
              <a:srgbClr val="00B050"/>
            </a:solidFill>
            <a:prstDash val="lgDash"/>
            <a:miter lim="800000"/>
            <a:headEnd/>
            <a:tailEnd type="arrow" w="med" len="med"/>
          </a:ln>
          <a:extLst>
            <a:ext uri="{909E8E84-426E-40DD-AFC4-6F175D3DCCD1}">
              <a14:hiddenFill xmlns:a14="http://schemas.microsoft.com/office/drawing/2010/main">
                <a:noFill/>
              </a14:hiddenFill>
            </a:ext>
          </a:extLst>
        </p:spPr>
      </p:cxnSp>
      <p:cxnSp>
        <p:nvCxnSpPr>
          <p:cNvPr id="13" name="Straight Arrow Connector 14">
            <a:extLst>
              <a:ext uri="{FF2B5EF4-FFF2-40B4-BE49-F238E27FC236}">
                <a16:creationId xmlns:a16="http://schemas.microsoft.com/office/drawing/2014/main" id="{018E586D-B436-8C65-C412-C10AA9E37A1C}"/>
              </a:ext>
            </a:extLst>
          </p:cNvPr>
          <p:cNvCxnSpPr>
            <a:cxnSpLocks noChangeShapeType="1"/>
          </p:cNvCxnSpPr>
          <p:nvPr/>
        </p:nvCxnSpPr>
        <p:spPr bwMode="auto">
          <a:xfrm>
            <a:off x="2707421" y="4547994"/>
            <a:ext cx="2232025" cy="863600"/>
          </a:xfrm>
          <a:prstGeom prst="straightConnector1">
            <a:avLst/>
          </a:prstGeom>
          <a:noFill/>
          <a:ln w="19050" algn="ctr">
            <a:solidFill>
              <a:srgbClr val="00B050"/>
            </a:solidFill>
            <a:prstDash val="lgDash"/>
            <a:miter lim="800000"/>
            <a:headEnd/>
            <a:tailEnd type="arrow" w="med" len="med"/>
          </a:ln>
          <a:extLst>
            <a:ext uri="{909E8E84-426E-40DD-AFC4-6F175D3DCCD1}">
              <a14:hiddenFill xmlns:a14="http://schemas.microsoft.com/office/drawing/2010/main">
                <a:noFill/>
              </a14:hiddenFill>
            </a:ext>
          </a:extLst>
        </p:spPr>
      </p:cxnSp>
      <p:cxnSp>
        <p:nvCxnSpPr>
          <p:cNvPr id="14" name="Straight Arrow Connector 16">
            <a:extLst>
              <a:ext uri="{FF2B5EF4-FFF2-40B4-BE49-F238E27FC236}">
                <a16:creationId xmlns:a16="http://schemas.microsoft.com/office/drawing/2014/main" id="{CFDDA323-DDA2-6CCB-7F54-B2DD6BAF9F12}"/>
              </a:ext>
            </a:extLst>
          </p:cNvPr>
          <p:cNvCxnSpPr>
            <a:cxnSpLocks noChangeShapeType="1"/>
          </p:cNvCxnSpPr>
          <p:nvPr/>
        </p:nvCxnSpPr>
        <p:spPr bwMode="auto">
          <a:xfrm>
            <a:off x="2562958" y="4835332"/>
            <a:ext cx="2447925" cy="720725"/>
          </a:xfrm>
          <a:prstGeom prst="straightConnector1">
            <a:avLst/>
          </a:prstGeom>
          <a:noFill/>
          <a:ln w="38100" algn="ctr">
            <a:solidFill>
              <a:srgbClr val="FFC000"/>
            </a:solidFill>
            <a:prstDash val="lgDash"/>
            <a:miter lim="800000"/>
            <a:headEnd/>
            <a:tailEnd type="arrow" w="med" len="med"/>
          </a:ln>
          <a:extLst>
            <a:ext uri="{909E8E84-426E-40DD-AFC4-6F175D3DCCD1}">
              <a14:hiddenFill xmlns:a14="http://schemas.microsoft.com/office/drawing/2010/main">
                <a:noFill/>
              </a14:hiddenFill>
            </a:ext>
          </a:extLst>
        </p:spPr>
      </p:cxnSp>
      <p:sp>
        <p:nvSpPr>
          <p:cNvPr id="15" name="Rectangle 18">
            <a:extLst>
              <a:ext uri="{FF2B5EF4-FFF2-40B4-BE49-F238E27FC236}">
                <a16:creationId xmlns:a16="http://schemas.microsoft.com/office/drawing/2014/main" id="{CD80FEF6-3C00-4B17-1A31-1C8C34D14C3E}"/>
              </a:ext>
            </a:extLst>
          </p:cNvPr>
          <p:cNvSpPr>
            <a:spLocks noChangeArrowheads="1"/>
          </p:cNvSpPr>
          <p:nvPr/>
        </p:nvSpPr>
        <p:spPr bwMode="auto">
          <a:xfrm>
            <a:off x="6452333" y="4403532"/>
            <a:ext cx="1295400" cy="863600"/>
          </a:xfrm>
          <a:prstGeom prst="rect">
            <a:avLst/>
          </a:prstGeom>
          <a:solidFill>
            <a:srgbClr val="FFFFFF"/>
          </a:solidFill>
          <a:ln w="9525" algn="ctr">
            <a:solidFill>
              <a:srgbClr val="000000"/>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16" name="Group 23">
            <a:extLst>
              <a:ext uri="{FF2B5EF4-FFF2-40B4-BE49-F238E27FC236}">
                <a16:creationId xmlns:a16="http://schemas.microsoft.com/office/drawing/2014/main" id="{E1AFEFE9-EF1B-F2BB-6753-88DCD299C968}"/>
              </a:ext>
            </a:extLst>
          </p:cNvPr>
          <p:cNvGrpSpPr>
            <a:grpSpLocks/>
          </p:cNvGrpSpPr>
          <p:nvPr/>
        </p:nvGrpSpPr>
        <p:grpSpPr bwMode="auto">
          <a:xfrm>
            <a:off x="3324958" y="4193982"/>
            <a:ext cx="3127375" cy="425450"/>
            <a:chOff x="1949467" y="4227035"/>
            <a:chExt cx="3126589" cy="426101"/>
          </a:xfrm>
        </p:grpSpPr>
        <p:sp>
          <p:nvSpPr>
            <p:cNvPr id="17" name="Isosceles Triangle 20">
              <a:extLst>
                <a:ext uri="{FF2B5EF4-FFF2-40B4-BE49-F238E27FC236}">
                  <a16:creationId xmlns:a16="http://schemas.microsoft.com/office/drawing/2014/main" id="{EEAB5395-63B2-FC3B-F31F-4D954C523D3B}"/>
                </a:ext>
              </a:extLst>
            </p:cNvPr>
            <p:cNvSpPr>
              <a:spLocks noChangeArrowheads="1"/>
            </p:cNvSpPr>
            <p:nvPr/>
          </p:nvSpPr>
          <p:spPr bwMode="auto">
            <a:xfrm rot="-5094345">
              <a:off x="1954089" y="4222413"/>
              <a:ext cx="267270" cy="276514"/>
            </a:xfrm>
            <a:prstGeom prst="triangle">
              <a:avLst>
                <a:gd name="adj" fmla="val 50000"/>
              </a:avLst>
            </a:prstGeom>
            <a:solidFill>
              <a:srgbClr val="FFFFFF"/>
            </a:solidFill>
            <a:ln w="28575" algn="ctr">
              <a:solidFill>
                <a:srgbClr val="000000"/>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cxnSp>
          <p:nvCxnSpPr>
            <p:cNvPr id="18" name="Straight Connector 22">
              <a:extLst>
                <a:ext uri="{FF2B5EF4-FFF2-40B4-BE49-F238E27FC236}">
                  <a16:creationId xmlns:a16="http://schemas.microsoft.com/office/drawing/2014/main" id="{19291183-C064-F668-22D4-AA6C8F66F72D}"/>
                </a:ext>
              </a:extLst>
            </p:cNvPr>
            <p:cNvCxnSpPr>
              <a:cxnSpLocks noChangeShapeType="1"/>
              <a:stCxn id="17" idx="3"/>
            </p:cNvCxnSpPr>
            <p:nvPr/>
          </p:nvCxnSpPr>
          <p:spPr bwMode="auto">
            <a:xfrm>
              <a:off x="2225435" y="4372946"/>
              <a:ext cx="2850621" cy="280190"/>
            </a:xfrm>
            <a:prstGeom prst="line">
              <a:avLst/>
            </a:prstGeom>
            <a:noFill/>
            <a:ln w="28575" algn="ctr">
              <a:solidFill>
                <a:srgbClr val="000000"/>
              </a:solidFill>
              <a:miter lim="800000"/>
              <a:headEnd/>
              <a:tailEnd/>
            </a:ln>
            <a:extLst>
              <a:ext uri="{909E8E84-426E-40DD-AFC4-6F175D3DCCD1}">
                <a14:hiddenFill xmlns:a14="http://schemas.microsoft.com/office/drawing/2010/main">
                  <a:noFill/>
                </a14:hiddenFill>
              </a:ext>
            </a:extLst>
          </p:spPr>
        </p:cxnSp>
      </p:grpSp>
      <p:sp>
        <p:nvSpPr>
          <p:cNvPr id="19" name="Isosceles Triangle 24">
            <a:extLst>
              <a:ext uri="{FF2B5EF4-FFF2-40B4-BE49-F238E27FC236}">
                <a16:creationId xmlns:a16="http://schemas.microsoft.com/office/drawing/2014/main" id="{8F60084C-0845-FC1C-BF82-246B6F06597C}"/>
              </a:ext>
            </a:extLst>
          </p:cNvPr>
          <p:cNvSpPr>
            <a:spLocks noChangeArrowheads="1"/>
          </p:cNvSpPr>
          <p:nvPr/>
        </p:nvSpPr>
        <p:spPr bwMode="auto">
          <a:xfrm rot="-4117115">
            <a:off x="3239233" y="4867082"/>
            <a:ext cx="304800" cy="266700"/>
          </a:xfrm>
          <a:prstGeom prst="triangle">
            <a:avLst>
              <a:gd name="adj" fmla="val 50000"/>
            </a:avLst>
          </a:prstGeom>
          <a:solidFill>
            <a:srgbClr val="FFFFFF"/>
          </a:solidFill>
          <a:ln w="28575" algn="ctr">
            <a:solidFill>
              <a:srgbClr val="000000"/>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cxnSp>
        <p:nvCxnSpPr>
          <p:cNvPr id="20" name="Straight Connector 26">
            <a:extLst>
              <a:ext uri="{FF2B5EF4-FFF2-40B4-BE49-F238E27FC236}">
                <a16:creationId xmlns:a16="http://schemas.microsoft.com/office/drawing/2014/main" id="{77BD6BA3-2907-66BB-9858-812B6CB0CE07}"/>
              </a:ext>
            </a:extLst>
          </p:cNvPr>
          <p:cNvCxnSpPr>
            <a:cxnSpLocks noChangeShapeType="1"/>
            <a:stCxn id="19" idx="3"/>
          </p:cNvCxnSpPr>
          <p:nvPr/>
        </p:nvCxnSpPr>
        <p:spPr bwMode="auto">
          <a:xfrm>
            <a:off x="3515458" y="5049644"/>
            <a:ext cx="992188" cy="290513"/>
          </a:xfrm>
          <a:prstGeom prst="line">
            <a:avLst/>
          </a:prstGeom>
          <a:noFill/>
          <a:ln w="28575"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21" name="Straight Arrow Connector 27">
            <a:extLst>
              <a:ext uri="{FF2B5EF4-FFF2-40B4-BE49-F238E27FC236}">
                <a16:creationId xmlns:a16="http://schemas.microsoft.com/office/drawing/2014/main" id="{F38BEC85-FC1A-43EA-0327-512B43C7D6FF}"/>
              </a:ext>
            </a:extLst>
          </p:cNvPr>
          <p:cNvCxnSpPr>
            <a:cxnSpLocks noChangeShapeType="1"/>
          </p:cNvCxnSpPr>
          <p:nvPr/>
        </p:nvCxnSpPr>
        <p:spPr bwMode="auto">
          <a:xfrm>
            <a:off x="2418496" y="4332094"/>
            <a:ext cx="4249737" cy="431800"/>
          </a:xfrm>
          <a:prstGeom prst="straightConnector1">
            <a:avLst/>
          </a:prstGeom>
          <a:noFill/>
          <a:ln w="19050" algn="ctr">
            <a:solidFill>
              <a:srgbClr val="00B050"/>
            </a:solidFill>
            <a:prstDash val="lgDash"/>
            <a:miter lim="800000"/>
            <a:headEnd/>
            <a:tailEnd type="arrow" w="med" len="med"/>
          </a:ln>
          <a:extLst>
            <a:ext uri="{909E8E84-426E-40DD-AFC4-6F175D3DCCD1}">
              <a14:hiddenFill xmlns:a14="http://schemas.microsoft.com/office/drawing/2010/main">
                <a:noFill/>
              </a14:hiddenFill>
            </a:ext>
          </a:extLst>
        </p:spPr>
      </p:cxnSp>
      <p:cxnSp>
        <p:nvCxnSpPr>
          <p:cNvPr id="22" name="Straight Arrow Connector 31">
            <a:extLst>
              <a:ext uri="{FF2B5EF4-FFF2-40B4-BE49-F238E27FC236}">
                <a16:creationId xmlns:a16="http://schemas.microsoft.com/office/drawing/2014/main" id="{A7C3A762-DB0D-4BF5-3E12-192CAFD7C797}"/>
              </a:ext>
            </a:extLst>
          </p:cNvPr>
          <p:cNvCxnSpPr>
            <a:cxnSpLocks noChangeShapeType="1"/>
          </p:cNvCxnSpPr>
          <p:nvPr/>
        </p:nvCxnSpPr>
        <p:spPr bwMode="auto">
          <a:xfrm>
            <a:off x="2778858" y="4547994"/>
            <a:ext cx="3960813" cy="431800"/>
          </a:xfrm>
          <a:prstGeom prst="straightConnector1">
            <a:avLst/>
          </a:prstGeom>
          <a:noFill/>
          <a:ln w="19050" algn="ctr">
            <a:solidFill>
              <a:srgbClr val="00B050"/>
            </a:solidFill>
            <a:prstDash val="lgDash"/>
            <a:miter lim="800000"/>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60939438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kumimoji="0" lang="el-GR" sz="40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Επιλογές στο ορισμό </a:t>
            </a:r>
            <a:r>
              <a:rPr kumimoji="0" lang="el-GR" sz="4000" b="1" i="0" u="none" strike="noStrike" kern="1200" cap="none" spc="0" normalizeH="0" baseline="0" noProof="0" dirty="0" err="1">
                <a:ln>
                  <a:noFill/>
                </a:ln>
                <a:solidFill>
                  <a:srgbClr val="F9853D"/>
                </a:solidFill>
                <a:effectLst/>
                <a:uLnTx/>
                <a:uFillTx/>
                <a:latin typeface="Bahnschrift" panose="020B0502040204020203" pitchFamily="34" charset="0"/>
                <a:ea typeface="+mj-ea"/>
                <a:cs typeface="+mj-cs"/>
              </a:rPr>
              <a:t>απόγονης</a:t>
            </a:r>
            <a:r>
              <a:rPr kumimoji="0" lang="el-GR" sz="40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 κλάσης </a:t>
            </a:r>
            <a:r>
              <a:rPr lang="en-GB" sz="4000" b="1" dirty="0">
                <a:solidFill>
                  <a:srgbClr val="F9853D"/>
                </a:solidFill>
                <a:latin typeface="Bahnschrift" panose="020B0502040204020203" pitchFamily="34" charset="0"/>
              </a:rPr>
              <a:t>2</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4" name="Rectangle 3">
            <a:extLst>
              <a:ext uri="{FF2B5EF4-FFF2-40B4-BE49-F238E27FC236}">
                <a16:creationId xmlns:a16="http://schemas.microsoft.com/office/drawing/2014/main" id="{8796D309-F70C-7766-4C5E-7E5624780CD7}"/>
              </a:ext>
            </a:extLst>
          </p:cNvPr>
          <p:cNvSpPr txBox="1">
            <a:spLocks noChangeArrowheads="1"/>
          </p:cNvSpPr>
          <p:nvPr/>
        </p:nvSpPr>
        <p:spPr bwMode="auto">
          <a:xfrm>
            <a:off x="107950" y="956343"/>
            <a:ext cx="10056921"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mn-cs"/>
              </a:rPr>
              <a:t>Στην απόγονο κλάση τα χαρακτηριστικά που κληρονομούνται μπορούν να: </a:t>
            </a:r>
          </a:p>
          <a:p>
            <a:pPr lvl="1" indent="-342900">
              <a:buClr>
                <a:srgbClr val="3333CC"/>
              </a:buClr>
              <a:buSzPct val="60000"/>
            </a:pPr>
            <a:r>
              <a:rPr kumimoji="0" lang="el-GR" altLang="el-GR" sz="2400" b="0" i="0" u="none" strike="noStrike" kern="0" cap="none" spc="0" normalizeH="0" baseline="0" noProof="0" dirty="0">
                <a:ln>
                  <a:noFill/>
                </a:ln>
                <a:solidFill>
                  <a:srgbClr val="000000"/>
                </a:solidFill>
                <a:effectLst/>
                <a:uLnTx/>
                <a:uFillTx/>
                <a:latin typeface="Tahoma"/>
                <a:ea typeface="+mn-ea"/>
                <a:cs typeface="+mn-cs"/>
              </a:rPr>
              <a:t>χρησιμοποιηθούν ως έχουν (μέθοδοι </a:t>
            </a:r>
            <a:r>
              <a:rPr kumimoji="0" lang="el-GR" altLang="el-GR" sz="2400" b="0" i="0" u="none" strike="noStrike" kern="0" cap="none" spc="0" normalizeH="0" baseline="0" noProof="0" dirty="0" err="1">
                <a:ln>
                  <a:noFill/>
                </a:ln>
                <a:solidFill>
                  <a:srgbClr val="000000"/>
                </a:solidFill>
                <a:effectLst/>
                <a:uLnTx/>
                <a:uFillTx/>
                <a:latin typeface="Tahoma"/>
                <a:ea typeface="+mn-ea"/>
                <a:cs typeface="+mn-cs"/>
              </a:rPr>
              <a:t>πρόγονης</a:t>
            </a:r>
            <a:r>
              <a:rPr kumimoji="0" lang="el-GR" altLang="el-GR" sz="2400" b="0" i="0" u="none" strike="noStrike" kern="0" cap="none" spc="0" normalizeH="0" noProof="0" dirty="0">
                <a:ln>
                  <a:noFill/>
                </a:ln>
                <a:solidFill>
                  <a:srgbClr val="000000"/>
                </a:solidFill>
                <a:effectLst/>
                <a:uLnTx/>
                <a:uFillTx/>
                <a:latin typeface="Tahoma"/>
                <a:ea typeface="+mn-ea"/>
                <a:cs typeface="+mn-cs"/>
              </a:rPr>
              <a:t> κλάσης μπορούν να χρησιμοποιηθούν ως έχουν</a:t>
            </a:r>
            <a:r>
              <a:rPr kumimoji="0" lang="el-GR" altLang="el-GR" sz="2400" b="0" i="0" u="none" strike="noStrike" kern="0" cap="none" spc="0" normalizeH="0" baseline="0" noProof="0" dirty="0">
                <a:ln>
                  <a:noFill/>
                </a:ln>
                <a:solidFill>
                  <a:srgbClr val="000000"/>
                </a:solidFill>
                <a:effectLst/>
                <a:uLnTx/>
                <a:uFillTx/>
                <a:latin typeface="Tahoma"/>
                <a:ea typeface="+mn-ea"/>
                <a:cs typeface="+mn-cs"/>
              </a:rPr>
              <a:t>), </a:t>
            </a:r>
          </a:p>
          <a:p>
            <a:pPr lvl="1" indent="-342900">
              <a:buClr>
                <a:srgbClr val="3333CC"/>
              </a:buClr>
              <a:buSzPct val="60000"/>
            </a:pPr>
            <a:r>
              <a:rPr kumimoji="0" lang="el-GR" altLang="el-GR" sz="2400" b="0" i="0" u="none" strike="noStrike" kern="0" cap="none" spc="0" normalizeH="0" baseline="0" noProof="0" dirty="0">
                <a:ln>
                  <a:noFill/>
                </a:ln>
                <a:solidFill>
                  <a:srgbClr val="000000"/>
                </a:solidFill>
                <a:effectLst/>
                <a:uLnTx/>
                <a:uFillTx/>
                <a:latin typeface="Tahoma"/>
                <a:ea typeface="+mn-ea"/>
                <a:cs typeface="+mn-cs"/>
              </a:rPr>
              <a:t>να αντικατασταθούν</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 (</a:t>
            </a:r>
            <a:r>
              <a:rPr lang="en-GB" altLang="el-GR" sz="2400" kern="0" dirty="0">
                <a:solidFill>
                  <a:srgbClr val="000000"/>
                </a:solidFill>
                <a:latin typeface="Tahoma"/>
              </a:rPr>
              <a:t>instance </a:t>
            </a:r>
            <a:r>
              <a:rPr lang="el-GR" altLang="el-GR" sz="2400" kern="0" dirty="0">
                <a:solidFill>
                  <a:srgbClr val="000000"/>
                </a:solidFill>
                <a:latin typeface="Tahoma"/>
              </a:rPr>
              <a:t>μέθοδος σε </a:t>
            </a:r>
            <a:r>
              <a:rPr lang="el-GR" altLang="el-GR" sz="2400" kern="0" dirty="0" err="1">
                <a:solidFill>
                  <a:srgbClr val="000000"/>
                </a:solidFill>
                <a:latin typeface="Tahoma"/>
              </a:rPr>
              <a:t>υποκλάση</a:t>
            </a:r>
            <a:r>
              <a:rPr lang="el-GR" altLang="el-GR" sz="2400" kern="0" dirty="0">
                <a:solidFill>
                  <a:srgbClr val="000000"/>
                </a:solidFill>
                <a:latin typeface="Tahoma"/>
              </a:rPr>
              <a:t> με ίδιο όνομα με μέθοδο της </a:t>
            </a:r>
            <a:r>
              <a:rPr lang="el-GR" altLang="el-GR" sz="2400" kern="0" dirty="0" err="1">
                <a:solidFill>
                  <a:srgbClr val="000000"/>
                </a:solidFill>
                <a:latin typeface="Tahoma"/>
              </a:rPr>
              <a:t>πρόγονης</a:t>
            </a:r>
            <a:r>
              <a:rPr lang="el-GR" altLang="el-GR" sz="2400" kern="0" dirty="0">
                <a:solidFill>
                  <a:srgbClr val="000000"/>
                </a:solidFill>
                <a:latin typeface="Tahoma"/>
              </a:rPr>
              <a:t> κλάσης την υπερκαλύπτει (</a:t>
            </a:r>
            <a:r>
              <a:rPr lang="en-GB" altLang="el-GR" sz="2400" b="1" kern="0" dirty="0">
                <a:solidFill>
                  <a:srgbClr val="C00000"/>
                </a:solidFill>
                <a:latin typeface="Tahoma"/>
              </a:rPr>
              <a:t>overrides</a:t>
            </a:r>
            <a:r>
              <a:rPr lang="el-GR" altLang="el-GR" sz="2400" kern="0" dirty="0">
                <a:solidFill>
                  <a:srgbClr val="000000"/>
                </a:solidFill>
                <a:latin typeface="Tahoma"/>
              </a:rPr>
              <a:t>)).</a:t>
            </a:r>
            <a:r>
              <a:rPr kumimoji="0" lang="el-GR" altLang="el-GR" sz="2400" b="0" i="0" u="none" strike="noStrike" kern="0" cap="none" spc="0" normalizeH="0" baseline="0" noProof="0" dirty="0">
                <a:ln>
                  <a:noFill/>
                </a:ln>
                <a:solidFill>
                  <a:srgbClr val="000000"/>
                </a:solidFill>
                <a:effectLst/>
                <a:uLnTx/>
                <a:uFillTx/>
                <a:latin typeface="Tahoma"/>
                <a:ea typeface="+mn-ea"/>
                <a:cs typeface="+mn-cs"/>
              </a:rPr>
              <a:t> </a:t>
            </a:r>
          </a:p>
          <a:p>
            <a:pPr lvl="1" indent="-342900">
              <a:buClr>
                <a:srgbClr val="3333CC"/>
              </a:buClr>
              <a:buSzPct val="60000"/>
            </a:pPr>
            <a:r>
              <a:rPr kumimoji="0" lang="el-GR" altLang="el-GR" sz="2400" b="0" i="0" u="none" strike="noStrike" kern="0" cap="none" spc="0" normalizeH="0" baseline="0" noProof="0" dirty="0">
                <a:ln>
                  <a:noFill/>
                </a:ln>
                <a:solidFill>
                  <a:srgbClr val="000000"/>
                </a:solidFill>
                <a:effectLst/>
                <a:uLnTx/>
                <a:uFillTx/>
                <a:latin typeface="Tahoma"/>
                <a:ea typeface="+mn-ea"/>
                <a:cs typeface="+mn-cs"/>
              </a:rPr>
              <a:t>να επισκιασθούν </a:t>
            </a:r>
            <a:r>
              <a:rPr kumimoji="0" lang="en-GB" altLang="el-GR" sz="2400" b="0" i="0" u="none" strike="noStrike" kern="0" cap="none" spc="0" normalizeH="0" baseline="0" noProof="0" dirty="0">
                <a:ln>
                  <a:noFill/>
                </a:ln>
                <a:solidFill>
                  <a:srgbClr val="000000"/>
                </a:solidFill>
                <a:effectLst/>
                <a:uLnTx/>
                <a:uFillTx/>
                <a:latin typeface="Tahoma"/>
                <a:ea typeface="+mn-ea"/>
                <a:cs typeface="+mn-cs"/>
              </a:rPr>
              <a:t>(</a:t>
            </a:r>
            <a:r>
              <a:rPr lang="en-GB" altLang="el-GR" sz="2400" kern="0" dirty="0">
                <a:solidFill>
                  <a:srgbClr val="000000"/>
                </a:solidFill>
                <a:latin typeface="Tahoma"/>
              </a:rPr>
              <a:t>instance data member</a:t>
            </a:r>
            <a:r>
              <a:rPr lang="el-GR" altLang="el-GR" sz="2400" kern="0" dirty="0">
                <a:solidFill>
                  <a:srgbClr val="000000"/>
                </a:solidFill>
                <a:latin typeface="Tahoma"/>
              </a:rPr>
              <a:t> σε </a:t>
            </a:r>
            <a:r>
              <a:rPr lang="el-GR" altLang="el-GR" sz="2400" kern="0" dirty="0" err="1">
                <a:solidFill>
                  <a:srgbClr val="000000"/>
                </a:solidFill>
                <a:latin typeface="Tahoma"/>
              </a:rPr>
              <a:t>υποκλάση</a:t>
            </a:r>
            <a:r>
              <a:rPr lang="el-GR" altLang="el-GR" sz="2400" kern="0" dirty="0">
                <a:solidFill>
                  <a:srgbClr val="000000"/>
                </a:solidFill>
                <a:latin typeface="Tahoma"/>
              </a:rPr>
              <a:t> με ίδιο όνομα με αυτό </a:t>
            </a:r>
            <a:r>
              <a:rPr lang="el-GR" altLang="el-GR" sz="2400" kern="0" dirty="0" err="1">
                <a:solidFill>
                  <a:srgbClr val="000000"/>
                </a:solidFill>
                <a:latin typeface="Tahoma"/>
              </a:rPr>
              <a:t>πρόγονης</a:t>
            </a:r>
            <a:r>
              <a:rPr lang="el-GR" altLang="el-GR" sz="2400" kern="0" dirty="0">
                <a:solidFill>
                  <a:srgbClr val="000000"/>
                </a:solidFill>
                <a:latin typeface="Tahoma"/>
              </a:rPr>
              <a:t> κλάσης το επισκιάζει </a:t>
            </a:r>
            <a:r>
              <a:rPr kumimoji="0" lang="el-GR" altLang="el-GR" sz="2400" b="0" i="0" u="none" strike="noStrike" kern="0" cap="none" spc="0" normalizeH="0" baseline="0" noProof="0" dirty="0">
                <a:ln>
                  <a:noFill/>
                </a:ln>
                <a:solidFill>
                  <a:srgbClr val="000000"/>
                </a:solidFill>
                <a:effectLst/>
                <a:uLnTx/>
                <a:uFillTx/>
                <a:latin typeface="Tahoma"/>
                <a:ea typeface="+mn-ea"/>
                <a:cs typeface="+mn-cs"/>
              </a:rPr>
              <a:t>(</a:t>
            </a:r>
            <a:r>
              <a:rPr lang="en-GB" altLang="el-GR" sz="2400" b="1" kern="0" noProof="0" dirty="0">
                <a:solidFill>
                  <a:srgbClr val="C00000"/>
                </a:solidFill>
                <a:latin typeface="Tahoma"/>
              </a:rPr>
              <a:t>shadows</a:t>
            </a:r>
            <a:r>
              <a:rPr lang="en-GB" altLang="el-GR" sz="2400" kern="0" dirty="0">
                <a:solidFill>
                  <a:srgbClr val="000000"/>
                </a:solidFill>
                <a:latin typeface="Tahoma"/>
              </a:rPr>
              <a:t>)</a:t>
            </a:r>
            <a:r>
              <a:rPr lang="el-GR" altLang="el-GR" sz="2400" kern="0" dirty="0">
                <a:solidFill>
                  <a:srgbClr val="000000"/>
                </a:solidFill>
                <a:latin typeface="Tahoma"/>
              </a:rPr>
              <a:t>)</a:t>
            </a:r>
            <a:r>
              <a:rPr lang="en-GB" altLang="el-GR" sz="2400" kern="0" dirty="0">
                <a:solidFill>
                  <a:srgbClr val="000000"/>
                </a:solidFill>
                <a:latin typeface="Tahoma"/>
              </a:rPr>
              <a:t> </a:t>
            </a:r>
            <a:endParaRPr lang="el-GR" altLang="el-GR" sz="2400" kern="0" dirty="0">
              <a:solidFill>
                <a:srgbClr val="000000"/>
              </a:solidFill>
              <a:latin typeface="Tahoma"/>
            </a:endParaRPr>
          </a:p>
          <a:p>
            <a:pPr lvl="1" indent="-342900">
              <a:buClr>
                <a:srgbClr val="3333CC"/>
              </a:buClr>
              <a:buSzPct val="60000"/>
            </a:pPr>
            <a:r>
              <a:rPr lang="el-GR" altLang="el-GR" sz="2400" kern="0" dirty="0">
                <a:solidFill>
                  <a:srgbClr val="000000"/>
                </a:solidFill>
                <a:latin typeface="Tahoma"/>
              </a:rPr>
              <a:t>να συμπληρωθούν με νέα μέλη (νέες μεθόδους, νέα </a:t>
            </a:r>
            <a:r>
              <a:rPr lang="en-GB" altLang="el-GR" sz="2400" kern="0" dirty="0">
                <a:solidFill>
                  <a:srgbClr val="000000"/>
                </a:solidFill>
                <a:latin typeface="Tahoma"/>
              </a:rPr>
              <a:t>data members)</a:t>
            </a:r>
            <a:endParaRPr kumimoji="0" lang="en-US"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1AA2B2E3-6F92-F26B-F3C8-38F5467650D5}"/>
              </a:ext>
            </a:extLst>
          </p:cNvPr>
          <p:cNvSpPr txBox="1"/>
          <p:nvPr/>
        </p:nvSpPr>
        <p:spPr>
          <a:xfrm>
            <a:off x="-1" y="5220304"/>
            <a:ext cx="12191999" cy="1015663"/>
          </a:xfrm>
          <a:prstGeom prst="rect">
            <a:avLst/>
          </a:prstGeom>
          <a:solidFill>
            <a:schemeClr val="accent6">
              <a:lumMod val="75000"/>
            </a:schemeClr>
          </a:solidFill>
          <a:ln>
            <a:solidFill>
              <a:schemeClr val="accent6">
                <a:lumMod val="75000"/>
              </a:schemeClr>
            </a:solidFill>
          </a:ln>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A nested class has access to all the private members of its enclosing class—Both fields and methods.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Therefore, </a:t>
            </a:r>
            <a:r>
              <a:rPr kumimoji="0" lang="en-US" altLang="el-GR" sz="2000" b="1" i="0" u="none" strike="noStrike" kern="0" cap="none" spc="0" normalizeH="0" baseline="0" noProof="0" dirty="0">
                <a:ln>
                  <a:noFill/>
                </a:ln>
                <a:solidFill>
                  <a:srgbClr val="000000"/>
                </a:solidFill>
                <a:effectLst/>
                <a:uLnTx/>
                <a:uFillTx/>
                <a:latin typeface="Tahoma" panose="020B0604030504040204" pitchFamily="34" charset="0"/>
              </a:rPr>
              <a:t>a public or protected nested class inherited by a subclass </a:t>
            </a:r>
            <a:r>
              <a:rPr kumimoji="0" lang="en-US" altLang="el-GR" sz="2000" b="1" i="0" u="none" strike="noStrike" kern="0" cap="none" spc="0" normalizeH="0" baseline="0" noProof="0" dirty="0">
                <a:ln>
                  <a:noFill/>
                </a:ln>
                <a:solidFill>
                  <a:srgbClr val="FF0000"/>
                </a:solidFill>
                <a:effectLst/>
                <a:uLnTx/>
                <a:uFillTx/>
                <a:latin typeface="Tahoma" panose="020B0604030504040204" pitchFamily="34" charset="0"/>
              </a:rPr>
              <a:t>has indirect access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dirty="0">
                <a:ln>
                  <a:noFill/>
                </a:ln>
                <a:solidFill>
                  <a:srgbClr val="000000"/>
                </a:solidFill>
                <a:effectLst/>
                <a:uLnTx/>
                <a:uFillTx/>
                <a:latin typeface="Tahoma" panose="020B0604030504040204" pitchFamily="34" charset="0"/>
              </a:rPr>
              <a:t>to all of the private members of the superclass</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a:t>
            </a:r>
            <a:endParaRPr lang="en-GB" sz="2000" dirty="0"/>
          </a:p>
        </p:txBody>
      </p:sp>
    </p:spTree>
    <p:extLst>
      <p:ext uri="{BB962C8B-B14F-4D97-AF65-F5344CB8AC3E}">
        <p14:creationId xmlns:p14="http://schemas.microsoft.com/office/powerpoint/2010/main" val="350698962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linds(horizontal)">
                                      <p:cBhvr>
                                        <p:cTn id="10" dur="500"/>
                                        <p:tgtEl>
                                          <p:spTgt spid="4">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linds(horizontal)">
                                      <p:cBhvr>
                                        <p:cTn id="13" dur="500"/>
                                        <p:tgtEl>
                                          <p:spTgt spid="4">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linds(horizontal)">
                                      <p:cBhvr>
                                        <p:cTn id="16" dur="500"/>
                                        <p:tgtEl>
                                          <p:spTgt spid="4">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blinds(horizontal)">
                                      <p:cBhvr>
                                        <p:cTn id="19"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kumimoji="0" lang="el-GR" sz="40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Επιλογές στο ορισμό </a:t>
            </a:r>
            <a:r>
              <a:rPr kumimoji="0" lang="el-GR" sz="4000" b="1" i="0" u="none" strike="noStrike" kern="1200" cap="none" spc="0" normalizeH="0" baseline="0" noProof="0" dirty="0" err="1">
                <a:ln>
                  <a:noFill/>
                </a:ln>
                <a:solidFill>
                  <a:srgbClr val="F9853D"/>
                </a:solidFill>
                <a:effectLst/>
                <a:uLnTx/>
                <a:uFillTx/>
                <a:latin typeface="Bahnschrift" panose="020B0502040204020203" pitchFamily="34" charset="0"/>
                <a:ea typeface="+mj-ea"/>
                <a:cs typeface="+mj-cs"/>
              </a:rPr>
              <a:t>απόγονης</a:t>
            </a:r>
            <a:r>
              <a:rPr kumimoji="0" lang="el-GR" sz="40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 κλάσης </a:t>
            </a:r>
            <a:r>
              <a:rPr lang="en-GB" sz="4000" b="1" dirty="0">
                <a:solidFill>
                  <a:srgbClr val="F9853D"/>
                </a:solidFill>
                <a:latin typeface="Bahnschrift" panose="020B0502040204020203" pitchFamily="34" charset="0"/>
              </a:rPr>
              <a:t>(3/3)</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99941DAE-B4B2-AAA4-8AAA-D78B2D03235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
        <p:nvSpPr>
          <p:cNvPr id="4" name="Rectangle 3">
            <a:extLst>
              <a:ext uri="{FF2B5EF4-FFF2-40B4-BE49-F238E27FC236}">
                <a16:creationId xmlns:a16="http://schemas.microsoft.com/office/drawing/2014/main" id="{E211A789-0DC1-35FB-9FB3-1E0CFADE2547}"/>
              </a:ext>
            </a:extLst>
          </p:cNvPr>
          <p:cNvSpPr txBox="1">
            <a:spLocks noChangeArrowheads="1"/>
          </p:cNvSpPr>
          <p:nvPr/>
        </p:nvSpPr>
        <p:spPr bwMode="auto">
          <a:xfrm>
            <a:off x="107950" y="1196975"/>
            <a:ext cx="871220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rPr>
              <a:t>You can write a new </a:t>
            </a:r>
            <a:r>
              <a:rPr kumimoji="0" lang="en-US" altLang="el-GR" sz="2400" b="0" i="1" u="none" strike="noStrike" kern="0" cap="none" spc="0" normalizeH="0" baseline="0" noProof="0" dirty="0">
                <a:ln>
                  <a:noFill/>
                </a:ln>
                <a:solidFill>
                  <a:srgbClr val="C00000"/>
                </a:solidFill>
                <a:effectLst/>
                <a:uLnTx/>
                <a:uFillTx/>
                <a:latin typeface="Tahoma"/>
              </a:rPr>
              <a:t>static</a:t>
            </a:r>
            <a:r>
              <a:rPr kumimoji="0" lang="en-US" altLang="el-GR" sz="2400" b="0" i="0" u="none" strike="noStrike" kern="0" cap="none" spc="0" normalizeH="0" baseline="0" noProof="0" dirty="0">
                <a:ln>
                  <a:noFill/>
                </a:ln>
                <a:solidFill>
                  <a:srgbClr val="C00000"/>
                </a:solidFill>
                <a:effectLst/>
                <a:uLnTx/>
                <a:uFillTx/>
                <a:latin typeface="Tahoma"/>
              </a:rPr>
              <a:t> method </a:t>
            </a:r>
            <a:r>
              <a:rPr kumimoji="0" lang="en-US" altLang="el-GR" sz="2400" b="0" i="0" u="none" strike="noStrike" kern="0" cap="none" spc="0" normalizeH="0" baseline="0" noProof="0" dirty="0">
                <a:ln>
                  <a:noFill/>
                </a:ln>
                <a:solidFill>
                  <a:srgbClr val="000000"/>
                </a:solidFill>
                <a:effectLst/>
                <a:uLnTx/>
                <a:uFillTx/>
                <a:latin typeface="Tahoma"/>
              </a:rPr>
              <a:t>in the subclass that has the same signature as the one in the superclass, thus </a:t>
            </a:r>
            <a:r>
              <a:rPr kumimoji="0" lang="en-US" altLang="el-GR" sz="2400" b="1" i="1" u="none" strike="noStrike" kern="0" cap="none" spc="0" normalizeH="0" baseline="0" noProof="0" dirty="0">
                <a:ln>
                  <a:noFill/>
                </a:ln>
                <a:solidFill>
                  <a:srgbClr val="C00000"/>
                </a:solidFill>
                <a:effectLst/>
                <a:uLnTx/>
                <a:uFillTx/>
                <a:latin typeface="Tahoma"/>
              </a:rPr>
              <a:t>hiding</a:t>
            </a:r>
            <a:r>
              <a:rPr kumimoji="0" lang="en-US" altLang="el-GR" sz="2400" b="0" i="0" u="none" strike="noStrike" kern="0" cap="none" spc="0" normalizeH="0" baseline="0" noProof="0" dirty="0">
                <a:ln>
                  <a:noFill/>
                </a:ln>
                <a:solidFill>
                  <a:srgbClr val="000000"/>
                </a:solidFill>
                <a:effectLst/>
                <a:uLnTx/>
                <a:uFillTx/>
                <a:latin typeface="Tahoma"/>
              </a:rPr>
              <a:t> it.</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rPr>
              <a:t>You can declare new methods in the subclass that are not in the superclass.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rPr>
              <a:t>You can write a subclass constructor that invokes the constructor of the superclass, either implicitly or by using the keyword super.</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6" name="Rectangle 5">
            <a:extLst>
              <a:ext uri="{FF2B5EF4-FFF2-40B4-BE49-F238E27FC236}">
                <a16:creationId xmlns:a16="http://schemas.microsoft.com/office/drawing/2014/main" id="{4C66383B-8EC4-D2DB-7469-EF51D776EDBB}"/>
              </a:ext>
            </a:extLst>
          </p:cNvPr>
          <p:cNvSpPr>
            <a:spLocks noChangeArrowheads="1"/>
          </p:cNvSpPr>
          <p:nvPr/>
        </p:nvSpPr>
        <p:spPr bwMode="auto">
          <a:xfrm>
            <a:off x="179388" y="4797425"/>
            <a:ext cx="8748712" cy="1439863"/>
          </a:xfrm>
          <a:prstGeom prst="rect">
            <a:avLst/>
          </a:prstGeom>
          <a:solidFill>
            <a:srgbClr val="FFFF00"/>
          </a:solidFill>
          <a:ln w="9525" algn="ctr">
            <a:solidFill>
              <a:srgbClr val="000000"/>
            </a:solidFill>
            <a:miter lim="800000"/>
            <a:headEnd/>
            <a:tailEnd/>
          </a:ln>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A nested class has access to all the private members of its enclosing class—</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Both fields and methods. Therefore, </a:t>
            </a:r>
            <a:r>
              <a:rPr kumimoji="0" lang="en-US" altLang="el-GR" sz="2000" b="1" i="0" u="none" strike="noStrike" kern="0" cap="none" spc="0" normalizeH="0" baseline="0" noProof="0">
                <a:ln>
                  <a:noFill/>
                </a:ln>
                <a:solidFill>
                  <a:srgbClr val="000000"/>
                </a:solidFill>
                <a:effectLst/>
                <a:uLnTx/>
                <a:uFillTx/>
                <a:latin typeface="Tahoma" panose="020B0604030504040204" pitchFamily="34" charset="0"/>
              </a:rPr>
              <a:t>a public or protected nested class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a:ln>
                  <a:noFill/>
                </a:ln>
                <a:solidFill>
                  <a:srgbClr val="000000"/>
                </a:solidFill>
                <a:effectLst/>
                <a:uLnTx/>
                <a:uFillTx/>
                <a:latin typeface="Tahoma" panose="020B0604030504040204" pitchFamily="34" charset="0"/>
              </a:rPr>
              <a:t>inherited by a subclass </a:t>
            </a:r>
            <a:r>
              <a:rPr kumimoji="0" lang="en-US" altLang="el-GR" sz="2000" b="1" i="0" u="none" strike="noStrike" kern="0" cap="none" spc="0" normalizeH="0" baseline="0" noProof="0">
                <a:ln>
                  <a:noFill/>
                </a:ln>
                <a:solidFill>
                  <a:srgbClr val="FF0000"/>
                </a:solidFill>
                <a:effectLst/>
                <a:uLnTx/>
                <a:uFillTx/>
                <a:latin typeface="Tahoma" panose="020B0604030504040204" pitchFamily="34" charset="0"/>
              </a:rPr>
              <a:t>has indirect access </a:t>
            </a:r>
            <a:r>
              <a:rPr kumimoji="0" lang="en-US" altLang="el-GR" sz="2000" b="1" i="0" u="none" strike="noStrike" kern="0" cap="none" spc="0" normalizeH="0" baseline="0" noProof="0">
                <a:ln>
                  <a:noFill/>
                </a:ln>
                <a:solidFill>
                  <a:srgbClr val="000000"/>
                </a:solidFill>
                <a:effectLst/>
                <a:uLnTx/>
                <a:uFillTx/>
                <a:latin typeface="Tahoma" panose="020B0604030504040204" pitchFamily="34" charset="0"/>
              </a:rPr>
              <a:t>to all of the private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1" i="0" u="none" strike="noStrike" kern="0" cap="none" spc="0" normalizeH="0" baseline="0" noProof="0">
                <a:ln>
                  <a:noFill/>
                </a:ln>
                <a:solidFill>
                  <a:srgbClr val="000000"/>
                </a:solidFill>
                <a:effectLst/>
                <a:uLnTx/>
                <a:uFillTx/>
                <a:latin typeface="Tahoma" panose="020B0604030504040204" pitchFamily="34" charset="0"/>
              </a:rPr>
              <a:t>members of the superclass</a:t>
            </a: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a:t>
            </a:r>
          </a:p>
        </p:txBody>
      </p:sp>
    </p:spTree>
    <p:extLst>
      <p:ext uri="{BB962C8B-B14F-4D97-AF65-F5344CB8AC3E}">
        <p14:creationId xmlns:p14="http://schemas.microsoft.com/office/powerpoint/2010/main" val="21370207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linds(horizontal)">
                                      <p:cBhvr>
                                        <p:cTn id="10" dur="500"/>
                                        <p:tgtEl>
                                          <p:spTgt spid="4">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linds(horizontal)">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RPN Calculator: UML class diagram</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pic>
        <p:nvPicPr>
          <p:cNvPr id="5" name="Picture 3">
            <a:extLst>
              <a:ext uri="{FF2B5EF4-FFF2-40B4-BE49-F238E27FC236}">
                <a16:creationId xmlns:a16="http://schemas.microsoft.com/office/drawing/2014/main" id="{ACCDDC63-5F6E-86C4-B7D4-D953F9EC4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871" y="1649867"/>
            <a:ext cx="9144000"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D662197D-14AA-4EAB-09F6-47048CB84A4E}"/>
              </a:ext>
            </a:extLst>
          </p:cNvPr>
          <p:cNvSpPr txBox="1">
            <a:spLocks noChangeArrowheads="1"/>
          </p:cNvSpPr>
          <p:nvPr/>
        </p:nvSpPr>
        <p:spPr bwMode="auto">
          <a:xfrm>
            <a:off x="1020871" y="5755142"/>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800" b="0" i="0" u="none" strike="noStrike" kern="0" cap="none" spc="0" normalizeH="0" baseline="0" noProof="0">
                <a:ln>
                  <a:noFill/>
                </a:ln>
                <a:solidFill>
                  <a:srgbClr val="800000"/>
                </a:solidFill>
                <a:effectLst/>
                <a:uLnTx/>
                <a:uFillTx/>
                <a:latin typeface="Tahoma" panose="020B0604030504040204" pitchFamily="34" charset="0"/>
              </a:rPr>
              <a:t>Υπάρχει σχέση Γενίκευσης/Εξειδίκευσης; </a:t>
            </a:r>
            <a:endParaRPr kumimoji="0" lang="en-US" altLang="el-GR" sz="2800" b="0" i="0" u="none" strike="noStrike" kern="0" cap="none" spc="0" normalizeH="0" baseline="0" noProof="0">
              <a:ln>
                <a:noFill/>
              </a:ln>
              <a:solidFill>
                <a:srgbClr val="800000"/>
              </a:solidFill>
              <a:effectLst/>
              <a:uLnTx/>
              <a:uFillTx/>
              <a:latin typeface="Tahoma" panose="020B0604030504040204" pitchFamily="34" charset="0"/>
            </a:endParaRPr>
          </a:p>
        </p:txBody>
      </p:sp>
      <p:sp>
        <p:nvSpPr>
          <p:cNvPr id="3" name="Θέση υποσέλιδου 4">
            <a:extLst>
              <a:ext uri="{FF2B5EF4-FFF2-40B4-BE49-F238E27FC236}">
                <a16:creationId xmlns:a16="http://schemas.microsoft.com/office/drawing/2014/main" id="{903775EB-DCC4-998A-A86E-C4BEA78F6155}"/>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196232648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RpnCalculator</a:t>
            </a:r>
            <a:r>
              <a:rPr lang="en-GB" sz="4000" b="1" dirty="0">
                <a:solidFill>
                  <a:srgbClr val="F9853D"/>
                </a:solidFill>
                <a:latin typeface="Bahnschrift" panose="020B0502040204020203" pitchFamily="34" charset="0"/>
              </a:rPr>
              <a:t>: Iteration No 4 –using inheritance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pic>
        <p:nvPicPr>
          <p:cNvPr id="4" name="Picture 4">
            <a:extLst>
              <a:ext uri="{FF2B5EF4-FFF2-40B4-BE49-F238E27FC236}">
                <a16:creationId xmlns:a16="http://schemas.microsoft.com/office/drawing/2014/main" id="{8092D0F6-3DDA-048A-A5B3-94FCD8F26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41438"/>
            <a:ext cx="9144000" cy="471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96836F86-282A-557D-AED3-41B100EB4D39}"/>
              </a:ext>
            </a:extLst>
          </p:cNvPr>
          <p:cNvSpPr>
            <a:spLocks noChangeArrowheads="1"/>
          </p:cNvSpPr>
          <p:nvPr/>
        </p:nvSpPr>
        <p:spPr bwMode="auto">
          <a:xfrm>
            <a:off x="2411413" y="3644900"/>
            <a:ext cx="2592387" cy="1152525"/>
          </a:xfrm>
          <a:prstGeom prst="rect">
            <a:avLst/>
          </a:prstGeom>
          <a:solidFill>
            <a:srgbClr val="FF0000">
              <a:alpha val="23921"/>
            </a:srgbClr>
          </a:solidFill>
          <a:ln w="9525">
            <a:solidFill>
              <a:srgbClr val="FFFFFF"/>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 name="Θέση υποσέλιδου 4">
            <a:extLst>
              <a:ext uri="{FF2B5EF4-FFF2-40B4-BE49-F238E27FC236}">
                <a16:creationId xmlns:a16="http://schemas.microsoft.com/office/drawing/2014/main" id="{B32A56BC-D016-B080-25EB-35B5587C5749}"/>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96505353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Alternative designs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Bahnschrift Light" panose="020B0502040204020203" pitchFamily="34" charset="0"/>
              <a:ea typeface="+mn-ea"/>
              <a:cs typeface="Arial" pitchFamily="34" charset="0"/>
            </a:endParaRPr>
          </a:p>
        </p:txBody>
      </p:sp>
      <p:sp>
        <p:nvSpPr>
          <p:cNvPr id="5" name="TextBox 5">
            <a:extLst>
              <a:ext uri="{FF2B5EF4-FFF2-40B4-BE49-F238E27FC236}">
                <a16:creationId xmlns:a16="http://schemas.microsoft.com/office/drawing/2014/main" id="{8BB45FD7-88CA-8D33-9F12-3DB37F85C7F9}"/>
              </a:ext>
            </a:extLst>
          </p:cNvPr>
          <p:cNvSpPr txBox="1">
            <a:spLocks noChangeArrowheads="1"/>
          </p:cNvSpPr>
          <p:nvPr/>
        </p:nvSpPr>
        <p:spPr bwMode="auto">
          <a:xfrm>
            <a:off x="918322" y="843137"/>
            <a:ext cx="770572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public abstract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BinaryStackOperator</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operate(){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op1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op2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applyOperator</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abstract protected int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applyOperator</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public class Adder extends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BinaryStackOperator</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applyOperator</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return op1+op2;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endPar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6" name="Θέση υποσέλιδου 4">
            <a:extLst>
              <a:ext uri="{FF2B5EF4-FFF2-40B4-BE49-F238E27FC236}">
                <a16:creationId xmlns:a16="http://schemas.microsoft.com/office/drawing/2014/main" id="{07B5A2A7-40F0-EC3D-438B-243FA81317BF}"/>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Inheritance</a:t>
            </a:r>
            <a:endParaRPr lang="en-US" sz="11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901889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28112</TotalTime>
  <Words>3489</Words>
  <Application>Microsoft Office PowerPoint</Application>
  <PresentationFormat>Widescreen</PresentationFormat>
  <Paragraphs>661</Paragraphs>
  <Slides>47</Slides>
  <Notes>47</Notes>
  <HiddenSlides>7</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47</vt:i4>
      </vt:variant>
    </vt:vector>
  </HeadingPairs>
  <TitlesOfParts>
    <vt:vector size="62" baseType="lpstr">
      <vt:lpstr>Arial</vt:lpstr>
      <vt:lpstr>Bahnschrift</vt:lpstr>
      <vt:lpstr>Bahnschrift Light</vt:lpstr>
      <vt:lpstr>Calibri</vt:lpstr>
      <vt:lpstr>Calibri Light</vt:lpstr>
      <vt:lpstr>Consolas</vt:lpstr>
      <vt:lpstr>Courier New</vt:lpstr>
      <vt:lpstr>Monotype Sorts</vt:lpstr>
      <vt:lpstr>Tahoma</vt:lpstr>
      <vt:lpstr>Times New Roman</vt:lpstr>
      <vt:lpstr>Times New Roman Greek</vt:lpstr>
      <vt:lpstr>Verdana</vt:lpstr>
      <vt:lpstr>Wingdings</vt:lpstr>
      <vt:lpstr>Προσαρμοσμένη σχεδίαση</vt:lpstr>
      <vt:lpstr>Θέμα του Office</vt:lpstr>
      <vt:lpstr>PowerPoint Presentation</vt:lpstr>
      <vt:lpstr>Οργάνωση Διάλεξης</vt:lpstr>
      <vt:lpstr>Σχέση Γενίκευσης-Εξειδίκευσης</vt:lpstr>
      <vt:lpstr>H κλάση GraphicCircle              H κλάση Circle </vt:lpstr>
      <vt:lpstr>Ορισμός ως απόγονης κλάσης</vt:lpstr>
      <vt:lpstr>Subclass constructor - Super</vt:lpstr>
      <vt:lpstr>Αναπαράσταση στο Διάγραμμα Κλάσεων </vt:lpstr>
      <vt:lpstr>Java Platform Class Hierarchy</vt:lpstr>
      <vt:lpstr>Κληρονομικότητα</vt:lpstr>
      <vt:lpstr>Οργάνωση Διάλεξης</vt:lpstr>
      <vt:lpstr>WindowsApp – Identify Inheritance</vt:lpstr>
      <vt:lpstr>WindowsApp – Inheritance Tree </vt:lpstr>
      <vt:lpstr>Abstract Methods and Abstract Classes</vt:lpstr>
      <vt:lpstr>επισκιαζόμενες μεταβλητές (shadowed variables)</vt:lpstr>
      <vt:lpstr>αναφορά σε επισκιαζόμενες μεταβλητές</vt:lpstr>
      <vt:lpstr>Overriding methods (επικαλυπτόμενες  μέθοδοι)</vt:lpstr>
      <vt:lpstr>Παράδειγμα 1 – instance fields and methods</vt:lpstr>
      <vt:lpstr>overriding – hiding methods</vt:lpstr>
      <vt:lpstr>Παράδειγμα 2 - methods</vt:lpstr>
      <vt:lpstr>Method Overriding at Instance creation</vt:lpstr>
      <vt:lpstr>Οργάνωση Διάλεξης</vt:lpstr>
      <vt:lpstr>Πολλαπλή Κληρονομικότητα</vt:lpstr>
      <vt:lpstr>Multiple inheritance … το πρόβλημα</vt:lpstr>
      <vt:lpstr>The Diamond Problem</vt:lpstr>
      <vt:lpstr>Πολλαπλή Κληρονομικότητα στην Java - Interfaces</vt:lpstr>
      <vt:lpstr>Interface Collection &lt;E&gt;</vt:lpstr>
      <vt:lpstr>Iterator</vt:lpstr>
      <vt:lpstr>Interface Iterator&lt;E&gt;</vt:lpstr>
      <vt:lpstr>For-Each Loop (Enhanced for statement)</vt:lpstr>
      <vt:lpstr>Οργάνωση Διάλεξης</vt:lpstr>
      <vt:lpstr>Πολυμορφισμός – Μέσα από ένα παράδειγμα</vt:lpstr>
      <vt:lpstr>HandleShapes</vt:lpstr>
      <vt:lpstr>Early binding vs late binding</vt:lpstr>
      <vt:lpstr>Virtual Methods</vt:lpstr>
      <vt:lpstr>Operation vs. Method</vt:lpstr>
      <vt:lpstr>Polymorphism - Inheritance</vt:lpstr>
      <vt:lpstr>Polymorphism in Python</vt:lpstr>
      <vt:lpstr>Οργάνωση Διάλεξης</vt:lpstr>
      <vt:lpstr>Προσθήκη νέας κλάσης - επιλογές</vt:lpstr>
      <vt:lpstr>Προσθήκη νέας κλάσης - επιλογές</vt:lpstr>
      <vt:lpstr>Ορατότητα μελών πρόγονης κλάσης</vt:lpstr>
      <vt:lpstr>Επιλογές στο ορισμό απόγονης κλάσης 1</vt:lpstr>
      <vt:lpstr>Επιλογές στο ορισμό απόγονης κλάσης 2</vt:lpstr>
      <vt:lpstr>Επιλογές στο ορισμό απόγονης κλάσης (3/3)</vt:lpstr>
      <vt:lpstr>RPN Calculator: UML class diagram</vt:lpstr>
      <vt:lpstr>RpnCalculator: Iteration No 4 –using inheritance </vt:lpstr>
      <vt:lpstr>Alternative designs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Ch7-PartA_Inheritance</dc:title>
  <dc:creator>Kleanthis Thramboulidis</dc:creator>
  <cp:lastModifiedBy>thrambo@ece.upatras.gr</cp:lastModifiedBy>
  <cp:revision>112</cp:revision>
  <cp:lastPrinted>2023-03-31T10:54:23Z</cp:lastPrinted>
  <dcterms:created xsi:type="dcterms:W3CDTF">2020-03-13T12:21:17Z</dcterms:created>
  <dcterms:modified xsi:type="dcterms:W3CDTF">2024-10-09T06:04:22Z</dcterms:modified>
</cp:coreProperties>
</file>