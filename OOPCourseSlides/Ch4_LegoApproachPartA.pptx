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27"/>
  </p:notesMasterIdLst>
  <p:sldIdLst>
    <p:sldId id="262" r:id="rId3"/>
    <p:sldId id="760" r:id="rId4"/>
    <p:sldId id="827" r:id="rId5"/>
    <p:sldId id="826" r:id="rId6"/>
    <p:sldId id="829" r:id="rId7"/>
    <p:sldId id="840" r:id="rId8"/>
    <p:sldId id="828" r:id="rId9"/>
    <p:sldId id="835" r:id="rId10"/>
    <p:sldId id="793" r:id="rId11"/>
    <p:sldId id="794" r:id="rId12"/>
    <p:sldId id="797" r:id="rId13"/>
    <p:sldId id="842" r:id="rId14"/>
    <p:sldId id="795" r:id="rId15"/>
    <p:sldId id="796" r:id="rId16"/>
    <p:sldId id="841" r:id="rId17"/>
    <p:sldId id="838" r:id="rId18"/>
    <p:sldId id="831" r:id="rId19"/>
    <p:sldId id="836" r:id="rId20"/>
    <p:sldId id="839" r:id="rId21"/>
    <p:sldId id="830" r:id="rId22"/>
    <p:sldId id="833" r:id="rId23"/>
    <p:sldId id="832" r:id="rId24"/>
    <p:sldId id="834" r:id="rId25"/>
    <p:sldId id="837" r:id="rId2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49" autoAdjust="0"/>
    <p:restoredTop sz="84676" autoAdjust="0"/>
  </p:normalViewPr>
  <p:slideViewPr>
    <p:cSldViewPr snapToGrid="0">
      <p:cViewPr varScale="1">
        <p:scale>
          <a:sx n="58" d="100"/>
          <a:sy n="58" d="100"/>
        </p:scale>
        <p:origin x="42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788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593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38299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254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571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4076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8692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395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237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183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1728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0025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82658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23983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7957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8622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6220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6615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913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5396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642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222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06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cs.oracle.com/javase/7/docs/api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bluej.org/" TargetMode="External"/><Relationship Id="rId4" Type="http://schemas.openxmlformats.org/officeDocument/2006/relationships/hyperlink" Target="https://en.wikipedia.org/wiki/BlueJ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java/javaOO/classdecl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 dirty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 dirty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 dirty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 dirty="0">
                <a:latin typeface="Times New Roman" panose="02020603050405020304" pitchFamily="18" charset="0"/>
              </a:rPr>
              <a:t> </a:t>
            </a:r>
            <a:endParaRPr lang="en-US" altLang="el-GR" sz="1800" b="0" i="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dirty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 dirty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3193576" y="1257787"/>
            <a:ext cx="8998424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Η ΠΡΟΣΕΓΓΙΣΗ </a:t>
            </a:r>
            <a:r>
              <a:rPr lang="en-US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LEGO </a:t>
            </a: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Παίζοντας με τα “τουβλάκια” - </a:t>
            </a:r>
            <a:r>
              <a:rPr lang="el-GR" sz="40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Part</a:t>
            </a:r>
            <a:r>
              <a:rPr lang="el-GR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A</a:t>
            </a:r>
            <a:endParaRPr lang="el-GR" sz="4000" b="1" dirty="0">
              <a:solidFill>
                <a:schemeClr val="accent1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</a:t>
            </a:r>
            <a:r>
              <a:rPr lang="en-US" sz="1600" dirty="0"/>
              <a:t>4</a:t>
            </a:r>
            <a:endParaRPr lang="el-GR" sz="1600" dirty="0"/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B2F63C07-2E5A-3DFC-8018-E09F68C8D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312" y="3081938"/>
            <a:ext cx="4906687" cy="3280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265853-6E3A-054B-2FAD-552C220A1F2C}"/>
              </a:ext>
            </a:extLst>
          </p:cNvPr>
          <p:cNvSpPr txBox="1"/>
          <p:nvPr/>
        </p:nvSpPr>
        <p:spPr>
          <a:xfrm>
            <a:off x="2551505" y="3081938"/>
            <a:ext cx="50553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Μια </a:t>
            </a:r>
            <a:r>
              <a:rPr lang="el-GR" sz="24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εισαγωγή στις βασικές έννοιες της ανάπτυξης προγράμματος 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με βάση το αντικειμενοστρεφές παράδειγμα προγραμματισμού χρησιμοποιώντας την προσέγγιση </a:t>
            </a:r>
            <a:r>
              <a:rPr lang="en-US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Lego</a:t>
            </a:r>
            <a:r>
              <a:rPr lang="el-GR" sz="24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endParaRPr lang="el-GR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6ED2FB-7A83-E175-7A72-F57AFD50995C}"/>
              </a:ext>
            </a:extLst>
          </p:cNvPr>
          <p:cNvSpPr txBox="1"/>
          <p:nvPr/>
        </p:nvSpPr>
        <p:spPr>
          <a:xfrm>
            <a:off x="236045" y="4193197"/>
            <a:ext cx="96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4.1-4.4</a:t>
            </a: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6" y="1042970"/>
            <a:ext cx="10165491" cy="50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προσέγγιση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LEGO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Βασική βιβλιοθήκη της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(Java API)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Μια πρώτη επαφή μέσα από το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BlueJ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κλάση στην Βασική Βιβλιοθήκη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Fields and methods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(πεδία και μέθοδοι)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signature (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υπογραφή μεθόδου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Constructors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(Δημιουργοί)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Παράδειγμα κλάσης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Student)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" indent="0" eaLnBrk="1" hangingPunct="1">
              <a:buNone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6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 </a:t>
            </a:r>
            <a:r>
              <a:rPr kumimoji="0" lang="el-GR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προσέγγιση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LEGO</a:t>
            </a:r>
            <a:r>
              <a:rPr kumimoji="0" lang="el-GR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 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559C5D-0E22-FEBA-86E2-194BAD024F97}"/>
              </a:ext>
            </a:extLst>
          </p:cNvPr>
          <p:cNvSpPr txBox="1"/>
          <p:nvPr/>
        </p:nvSpPr>
        <p:spPr>
          <a:xfrm>
            <a:off x="227753" y="1022286"/>
            <a:ext cx="677462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“Lego, consists of variously </a:t>
            </a:r>
            <a:r>
              <a:rPr lang="en-US" sz="3200" i="1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coloured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3200" i="1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interlocking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plastic </a:t>
            </a:r>
            <a:r>
              <a:rPr lang="en-US" sz="3200" b="1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bricks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accompanying an array of gears, figurines called </a:t>
            </a:r>
            <a:r>
              <a:rPr lang="en-US" sz="3200" i="1" u="none" strike="noStrike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minifigures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various other parts. Lego pieces can be </a:t>
            </a:r>
            <a:r>
              <a:rPr lang="en-US" sz="3200" b="1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assembled and connected in many ways to construct objects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including vehicles, buildings, and working robots. Anything constructed can be taken apart again, and the </a:t>
            </a:r>
            <a:r>
              <a:rPr lang="en-US" sz="3200" b="1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pieces reused to make new things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.” </a:t>
            </a:r>
            <a:r>
              <a:rPr lang="el-GR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Πηγή: </a:t>
            </a:r>
            <a:r>
              <a:rPr lang="en-US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Wikipedia</a:t>
            </a:r>
            <a:r>
              <a:rPr lang="el-GR" sz="3200" i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l-GR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FBD29E-A5F4-8551-67DC-6E739D033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379" y="758816"/>
            <a:ext cx="5189620" cy="27944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E057C5-D95D-C9A7-6339-70001B88F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4173" y="3707269"/>
            <a:ext cx="2833480" cy="265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52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προσέγγιση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LEGO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- </a:t>
            </a:r>
            <a:r>
              <a:rPr lang="el-GR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Προυποθέσεις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A3AA1A-5105-58C7-38EB-3F2241AC6C66}"/>
              </a:ext>
            </a:extLst>
          </p:cNvPr>
          <p:cNvSpPr txBox="1"/>
          <p:nvPr/>
        </p:nvSpPr>
        <p:spPr>
          <a:xfrm>
            <a:off x="202225" y="802231"/>
            <a:ext cx="68093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Ένα περιβάλλον ανάπτυξης κατασκευών θα πρέπει να διαθέτει (με βάση την προσέγγιση </a:t>
            </a:r>
            <a:r>
              <a:rPr lang="el-GR" sz="2400" dirty="0" err="1"/>
              <a:t>Lego</a:t>
            </a:r>
            <a:r>
              <a:rPr lang="el-GR" sz="2400" dirty="0"/>
              <a:t>)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ένα σύνολο από “</a:t>
            </a:r>
            <a:r>
              <a:rPr lang="el-GR" sz="2400" dirty="0" err="1"/>
              <a:t>plastic</a:t>
            </a:r>
            <a:r>
              <a:rPr lang="el-GR" sz="2400" dirty="0"/>
              <a:t> </a:t>
            </a:r>
            <a:r>
              <a:rPr lang="el-GR" sz="2400" dirty="0" err="1"/>
              <a:t>bricks</a:t>
            </a:r>
            <a:r>
              <a:rPr lang="el-GR" sz="2400" dirty="0"/>
              <a:t>”,  τα οποία θα είναι τα πρωτογενή δομικά στοιχεία (</a:t>
            </a:r>
            <a:r>
              <a:rPr lang="el-GR" sz="2400" b="1" dirty="0" err="1"/>
              <a:t>primitive</a:t>
            </a:r>
            <a:r>
              <a:rPr lang="el-GR" sz="2400" b="1" dirty="0"/>
              <a:t> </a:t>
            </a:r>
            <a:r>
              <a:rPr lang="el-GR" sz="2400" b="1" dirty="0" err="1"/>
              <a:t>components</a:t>
            </a:r>
            <a:r>
              <a:rPr lang="el-GR" sz="2400" dirty="0"/>
              <a:t>), και</a:t>
            </a:r>
            <a:r>
              <a:rPr lang="en-US" sz="2400" dirty="0"/>
              <a:t>,</a:t>
            </a:r>
            <a:r>
              <a:rPr lang="el-GR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μηχανισμούς που θα επιτρέπουν τη σύνθεση των πρωτογενών δομικών στοιχείων μεταξύ τους (</a:t>
            </a:r>
            <a:r>
              <a:rPr lang="en-US" sz="2400" b="1" dirty="0"/>
              <a:t>integration</a:t>
            </a:r>
            <a:r>
              <a:rPr lang="el-GR" sz="2400" dirty="0"/>
              <a:t> </a:t>
            </a:r>
            <a:r>
              <a:rPr lang="en-US" sz="2400" b="1" dirty="0"/>
              <a:t>mechanisms</a:t>
            </a:r>
            <a:r>
              <a:rPr lang="el-GR" sz="2400" dirty="0"/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E1A478-B487-E374-74AB-75FCF9A00A97}"/>
              </a:ext>
            </a:extLst>
          </p:cNvPr>
          <p:cNvSpPr txBox="1"/>
          <p:nvPr/>
        </p:nvSpPr>
        <p:spPr>
          <a:xfrm>
            <a:off x="7834321" y="5650755"/>
            <a:ext cx="3534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Σύνθεση δομικών στοιχείων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b="1" dirty="0"/>
              <a:t>Integration of components</a:t>
            </a:r>
            <a:r>
              <a:rPr lang="en-US" dirty="0"/>
              <a:t>)</a:t>
            </a:r>
            <a:endParaRPr lang="el-G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E5A05-FDE8-D9CA-55A2-38820955CAC9}"/>
              </a:ext>
            </a:extLst>
          </p:cNvPr>
          <p:cNvSpPr txBox="1"/>
          <p:nvPr/>
        </p:nvSpPr>
        <p:spPr>
          <a:xfrm>
            <a:off x="7834321" y="2875002"/>
            <a:ext cx="3534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Αποθήκη δομικών στοιχείων</a:t>
            </a:r>
          </a:p>
          <a:p>
            <a:pPr algn="ctr"/>
            <a:r>
              <a:rPr lang="el-GR" dirty="0"/>
              <a:t>(</a:t>
            </a:r>
            <a:r>
              <a:rPr lang="en-US" b="1" dirty="0"/>
              <a:t>repository of components</a:t>
            </a:r>
            <a:r>
              <a:rPr lang="en-US" dirty="0"/>
              <a:t>)</a:t>
            </a:r>
            <a:endParaRPr lang="el-G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C9A8F-DA55-3067-F291-5D96E0BBE99D}"/>
              </a:ext>
            </a:extLst>
          </p:cNvPr>
          <p:cNvSpPr/>
          <p:nvPr/>
        </p:nvSpPr>
        <p:spPr>
          <a:xfrm>
            <a:off x="234176" y="4047893"/>
            <a:ext cx="7359804" cy="1862253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>
                <a:solidFill>
                  <a:srgbClr val="FF0000"/>
                </a:solidFill>
              </a:rPr>
              <a:t>Βασικός Περιορισμός</a:t>
            </a:r>
          </a:p>
          <a:p>
            <a:pPr algn="ctr"/>
            <a:r>
              <a:rPr lang="el-GR" sz="2400" dirty="0"/>
              <a:t>Πεπερασμένος αριθμός προκατασκευασμένων συνθετικών στοιχείων.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5ED52B4E-A948-0255-A4BF-D360A2B17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185" y="719330"/>
            <a:ext cx="2733210" cy="2230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1880772D-6C88-C5E9-6369-4431D863B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185" y="3465008"/>
            <a:ext cx="2733210" cy="2242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27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">
            <a:extLst>
              <a:ext uri="{FF2B5EF4-FFF2-40B4-BE49-F238E27FC236}">
                <a16:creationId xmlns:a16="http://schemas.microsoft.com/office/drawing/2014/main" id="{C9FAEA48-EC24-E661-0A2F-6FE7ED4CF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302" y="3573554"/>
            <a:ext cx="3505733" cy="2875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3200" b="1" dirty="0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Προσέγγιση … στην ανάπτυξη Συστήματος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C416F-E779-2560-8C88-685DA6322845}"/>
              </a:ext>
            </a:extLst>
          </p:cNvPr>
          <p:cNvSpPr txBox="1"/>
          <p:nvPr/>
        </p:nvSpPr>
        <p:spPr>
          <a:xfrm>
            <a:off x="59965" y="1368760"/>
            <a:ext cx="60855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Βασικές έννοιες: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Βασική Βιβλιοθήκη της </a:t>
            </a:r>
            <a:r>
              <a:rPr lang="en-US" sz="2400" dirty="0"/>
              <a:t>Java,</a:t>
            </a:r>
            <a:r>
              <a:rPr lang="el-GR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Αξιοποίηση συνθετικών στοιχείων της βασικής Βιβλιοθήκης (το παράδειγμα του </a:t>
            </a:r>
            <a:r>
              <a:rPr lang="en-US" sz="2400" dirty="0" err="1"/>
              <a:t>BlueJ</a:t>
            </a:r>
            <a:r>
              <a:rPr lang="en-US" sz="2400" dirty="0"/>
              <a:t>)</a:t>
            </a:r>
            <a:endParaRPr lang="el-G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Μηχανισμοί που επιτρέπουν τη σύνθεση των πρωτογενών δομικών στοιχείων μεταξύ τους (</a:t>
            </a:r>
            <a:r>
              <a:rPr lang="en-US" sz="2400" b="1" dirty="0"/>
              <a:t>integration</a:t>
            </a:r>
            <a:r>
              <a:rPr lang="el-GR" sz="2400" dirty="0"/>
              <a:t> </a:t>
            </a:r>
            <a:r>
              <a:rPr lang="en-US" sz="2400" b="1" dirty="0"/>
              <a:t>mechanisms</a:t>
            </a:r>
            <a:r>
              <a:rPr lang="el-GR" sz="2400" dirty="0"/>
              <a:t>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CFA13A-2B41-4171-4089-D684DD44CED4}"/>
              </a:ext>
            </a:extLst>
          </p:cNvPr>
          <p:cNvSpPr/>
          <p:nvPr/>
        </p:nvSpPr>
        <p:spPr>
          <a:xfrm>
            <a:off x="0" y="719330"/>
            <a:ext cx="6920869" cy="409376"/>
          </a:xfrm>
          <a:prstGeom prst="rect">
            <a:avLst/>
          </a:prstGeom>
          <a:solidFill>
            <a:srgbClr val="FDCBAD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l-GR" sz="2800" b="1" dirty="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rPr>
              <a:t>Η περίπτωση της </a:t>
            </a:r>
            <a:r>
              <a:rPr lang="en-US" sz="2800" b="1" dirty="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rPr>
              <a:t>Java</a:t>
            </a:r>
            <a:endParaRPr lang="el-GR" sz="2800" b="1" dirty="0">
              <a:solidFill>
                <a:schemeClr val="bg1"/>
              </a:solidFill>
              <a:latin typeface="Bahnschrift" panose="020B0502040204020203" pitchFamily="34" charset="0"/>
              <a:ea typeface="+mj-ea"/>
              <a:cs typeface="+mj-cs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1AD4D72E-BDFA-BAE0-1558-756B8D2DB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759" y="719330"/>
            <a:ext cx="3149240" cy="2569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80F5407-6FD5-D320-2D7D-BAD75C5BA4E1}"/>
              </a:ext>
            </a:extLst>
          </p:cNvPr>
          <p:cNvGrpSpPr/>
          <p:nvPr/>
        </p:nvGrpSpPr>
        <p:grpSpPr>
          <a:xfrm>
            <a:off x="4039737" y="723124"/>
            <a:ext cx="6972515" cy="2436033"/>
            <a:chOff x="4039737" y="723124"/>
            <a:chExt cx="6972515" cy="243603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483509-680B-DD7A-1168-2458BBA9B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5548" y="723124"/>
              <a:ext cx="5256704" cy="2436033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1EF3477-00C2-C824-D033-760F367EBA24}"/>
                </a:ext>
              </a:extLst>
            </p:cNvPr>
            <p:cNvCxnSpPr/>
            <p:nvPr/>
          </p:nvCxnSpPr>
          <p:spPr>
            <a:xfrm flipV="1">
              <a:off x="4039737" y="1678675"/>
              <a:ext cx="1715811" cy="31389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7728E3-A9AA-09B7-45C6-DEDE3DF78149}"/>
              </a:ext>
            </a:extLst>
          </p:cNvPr>
          <p:cNvGrpSpPr/>
          <p:nvPr/>
        </p:nvGrpSpPr>
        <p:grpSpPr>
          <a:xfrm>
            <a:off x="1386946" y="3131861"/>
            <a:ext cx="9939517" cy="2901282"/>
            <a:chOff x="1386946" y="3131861"/>
            <a:chExt cx="9939517" cy="290128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13DD7FB-5631-BAB8-82EE-F38A74CE3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90702" y="3268521"/>
              <a:ext cx="5035761" cy="2764622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BEE88BD-E868-1F1E-472D-00A1D0873029}"/>
                </a:ext>
              </a:extLst>
            </p:cNvPr>
            <p:cNvCxnSpPr>
              <a:cxnSpLocks/>
            </p:cNvCxnSpPr>
            <p:nvPr/>
          </p:nvCxnSpPr>
          <p:spPr>
            <a:xfrm>
              <a:off x="1386946" y="3131861"/>
              <a:ext cx="4978684" cy="794192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1D19ACF-EE74-A237-324D-940808E3716A}"/>
              </a:ext>
            </a:extLst>
          </p:cNvPr>
          <p:cNvSpPr/>
          <p:nvPr/>
        </p:nvSpPr>
        <p:spPr>
          <a:xfrm>
            <a:off x="0" y="4897483"/>
            <a:ext cx="6686693" cy="1260087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b="1" dirty="0">
                <a:solidFill>
                  <a:srgbClr val="FF0000"/>
                </a:solidFill>
              </a:rPr>
              <a:t>Πρόσθετη ευελιξία</a:t>
            </a:r>
          </a:p>
          <a:p>
            <a:pPr algn="ctr"/>
            <a:r>
              <a:rPr lang="el-GR" sz="2400" dirty="0"/>
              <a:t>Μηχανισμός για τη δημιουργία νέων πρωτογενών δομικών στοιχείων</a:t>
            </a:r>
          </a:p>
        </p:txBody>
      </p:sp>
    </p:spTree>
    <p:extLst>
      <p:ext uri="{BB962C8B-B14F-4D97-AF65-F5344CB8AC3E}">
        <p14:creationId xmlns:p14="http://schemas.microsoft.com/office/powerpoint/2010/main" val="294787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6" y="1042970"/>
            <a:ext cx="10165491" cy="50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προσέγγιση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LEGO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Βασική βιβλιοθήκη της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(Java API)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Μια πρώτη επαφή μέσα από το </a:t>
            </a:r>
            <a:r>
              <a:rPr lang="en-U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BlueJ</a:t>
            </a:r>
            <a:endParaRPr lang="el-GR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κλάση στην Βασική Βιβλιοθήκη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Fields and methods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(πεδία και μέθοδοι)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signature (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υπογραφή μεθόδου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Constructors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(Δημιουργοί)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Παράδειγμα κλάσης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Student)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" indent="0" eaLnBrk="1" hangingPunct="1">
              <a:buNone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68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kumimoji="0" lang="el-GR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Η Βασική Βιβλιοθήκη της </a:t>
            </a:r>
            <a:r>
              <a:rPr kumimoji="0" lang="el-GR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Java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 – Java API</a:t>
            </a:r>
            <a:endParaRPr kumimoji="0" lang="el-GR" sz="40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12C7F-8832-B10A-549E-A253C2CFA3B7}"/>
              </a:ext>
            </a:extLst>
          </p:cNvPr>
          <p:cNvSpPr txBox="1"/>
          <p:nvPr/>
        </p:nvSpPr>
        <p:spPr>
          <a:xfrm>
            <a:off x="104088" y="874719"/>
            <a:ext cx="52884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Βασικές έννοιες: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Κλάση (</a:t>
            </a:r>
            <a:r>
              <a:rPr lang="en-US" sz="2400" b="1" dirty="0"/>
              <a:t>Class</a:t>
            </a:r>
            <a:r>
              <a:rPr lang="en-US" sz="2400" dirty="0"/>
              <a:t>): </a:t>
            </a:r>
            <a:r>
              <a:rPr lang="el-GR" sz="2400" dirty="0"/>
              <a:t>το βασικό πρωτογενές δομικό στοιχείο</a:t>
            </a:r>
            <a:r>
              <a:rPr lang="en-US" sz="2400" dirty="0"/>
              <a:t>,</a:t>
            </a:r>
            <a:r>
              <a:rPr lang="el-GR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Πακέτο (</a:t>
            </a:r>
            <a:r>
              <a:rPr lang="en-US" sz="2400" b="1" dirty="0"/>
              <a:t>package</a:t>
            </a:r>
            <a:r>
              <a:rPr lang="el-GR" sz="2400" dirty="0"/>
              <a:t>):</a:t>
            </a:r>
            <a:r>
              <a:rPr lang="en-US" sz="2400" dirty="0"/>
              <a:t> </a:t>
            </a:r>
            <a:r>
              <a:rPr lang="el-GR" sz="2400" dirty="0"/>
              <a:t>Μηχανισμός για την οργάνωση των δομικών στοιχείων.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1F98E5-DCAC-969F-CFC8-789C688ACD90}"/>
              </a:ext>
            </a:extLst>
          </p:cNvPr>
          <p:cNvSpPr txBox="1"/>
          <p:nvPr/>
        </p:nvSpPr>
        <p:spPr>
          <a:xfrm>
            <a:off x="10555" y="4918871"/>
            <a:ext cx="5381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Επισκεφθείτε την ιστοσελίδα της τεκμηρίωσης της βασικής βιβλιοθήκης της </a:t>
            </a:r>
            <a:r>
              <a:rPr lang="el-GR" sz="200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</a:t>
            </a:r>
            <a:r>
              <a:rPr lang="el-GR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και αναζητήστε βασικές κλάσεις όπως η </a:t>
            </a:r>
            <a:r>
              <a:rPr lang="el-GR" sz="200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</a:t>
            </a:r>
            <a:r>
              <a:rPr lang="el-GR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l-GR" sz="200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Integer</a:t>
            </a:r>
            <a:r>
              <a:rPr lang="el-GR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και </a:t>
            </a:r>
            <a:r>
              <a:rPr lang="el-GR" sz="200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Boolean</a:t>
            </a:r>
            <a:r>
              <a:rPr lang="el-GR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Εξοικειωθείτε </a:t>
            </a:r>
            <a:r>
              <a:rPr lang="en-US" sz="20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lang="el-GR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B93A89-B942-33D1-DC9A-92138FFF8941}"/>
              </a:ext>
            </a:extLst>
          </p:cNvPr>
          <p:cNvSpPr/>
          <p:nvPr/>
        </p:nvSpPr>
        <p:spPr>
          <a:xfrm>
            <a:off x="10555" y="3470306"/>
            <a:ext cx="5475514" cy="123463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Δραστηριότητα 4.1 </a:t>
            </a:r>
            <a:endParaRPr lang="en-US" sz="2800" b="1" i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Εξοικείωση με την </a:t>
            </a:r>
            <a:r>
              <a:rPr lang="en-US" sz="2800" b="1" i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 Java library</a:t>
            </a:r>
            <a:endParaRPr lang="el-GR" sz="2400" b="1" i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E0EAD47-3258-753D-77D2-FB0858E16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669" y="719331"/>
            <a:ext cx="6752332" cy="424455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F5E8CA9-904D-40C2-4A54-FAEFF5BDB637}"/>
              </a:ext>
            </a:extLst>
          </p:cNvPr>
          <p:cNvSpPr txBox="1"/>
          <p:nvPr/>
        </p:nvSpPr>
        <p:spPr>
          <a:xfrm>
            <a:off x="6799466" y="5282833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linkClick r:id="rId4"/>
              </a:rPr>
              <a:t>https://docs.oracle.com/javase/7/docs/api/</a:t>
            </a:r>
            <a:endParaRPr lang="el-GR" b="1" dirty="0"/>
          </a:p>
        </p:txBody>
      </p:sp>
    </p:spTree>
    <p:extLst>
      <p:ext uri="{BB962C8B-B14F-4D97-AF65-F5344CB8AC3E}">
        <p14:creationId xmlns:p14="http://schemas.microsoft.com/office/powerpoint/2010/main" val="342880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C2FEB95-B247-9478-2423-FEE33371F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049" y="719331"/>
            <a:ext cx="7475664" cy="33628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BlueJ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EB890-E2B4-C422-80BC-455D12DED509}"/>
              </a:ext>
            </a:extLst>
          </p:cNvPr>
          <p:cNvSpPr txBox="1"/>
          <p:nvPr/>
        </p:nvSpPr>
        <p:spPr>
          <a:xfrm>
            <a:off x="0" y="4866422"/>
            <a:ext cx="51271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0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Κατεβάστε και εγκαταστήστε το BlueJ.6 Στη συνέχεια χρησιμοποιήστε κλάσεις της</a:t>
            </a:r>
            <a:r>
              <a:rPr lang="en-US" sz="20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20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βασικής βιβλιοθήκης της </a:t>
            </a:r>
            <a:r>
              <a:rPr lang="el-GR" sz="2000" dirty="0" err="1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Java</a:t>
            </a:r>
            <a:r>
              <a:rPr lang="el-GR" sz="2000" dirty="0">
                <a:solidFill>
                  <a:srgbClr val="20212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για να δημιουργήσετε στιγμιότυπα και να αλληλοεπιδράσετε με αυτά.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8FD1C-F4DE-7057-D5FE-E9C571AFC762}"/>
              </a:ext>
            </a:extLst>
          </p:cNvPr>
          <p:cNvSpPr/>
          <p:nvPr/>
        </p:nvSpPr>
        <p:spPr>
          <a:xfrm>
            <a:off x="0" y="3445496"/>
            <a:ext cx="4931229" cy="133658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Δραστηριότητα 4.</a:t>
            </a:r>
            <a:r>
              <a:rPr lang="en-US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800" b="1" i="1" dirty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Εγκατάσταση και χρήση του </a:t>
            </a:r>
            <a:r>
              <a:rPr lang="el-GR" sz="2800" b="1" i="1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BlueJ</a:t>
            </a:r>
            <a:r>
              <a:rPr lang="el-GR" sz="2800" b="1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AA8500-A979-4F66-75EE-7F0BF33DDBCA}"/>
              </a:ext>
            </a:extLst>
          </p:cNvPr>
          <p:cNvSpPr txBox="1"/>
          <p:nvPr/>
        </p:nvSpPr>
        <p:spPr>
          <a:xfrm>
            <a:off x="141514" y="1001486"/>
            <a:ext cx="45341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 err="1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BlueJ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 is an integrated development environment for the Java programming language, </a:t>
            </a:r>
            <a:r>
              <a:rPr lang="en-US" b="1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developed mainly for educational purposes</a:t>
            </a:r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, but also suitable for small-scale software development. </a:t>
            </a:r>
          </a:p>
          <a:p>
            <a:r>
              <a:rPr lang="en-US" b="0" i="0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It runs with the help of Java Development Kit. </a:t>
            </a:r>
            <a:r>
              <a:rPr lang="en-US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4"/>
              </a:rPr>
              <a:t>Wikipedia</a:t>
            </a:r>
            <a:endParaRPr lang="el-G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4EE43-9BBC-D989-F865-B04FF4C96CC1}"/>
              </a:ext>
            </a:extLst>
          </p:cNvPr>
          <p:cNvSpPr txBox="1"/>
          <p:nvPr/>
        </p:nvSpPr>
        <p:spPr>
          <a:xfrm>
            <a:off x="7434943" y="4527868"/>
            <a:ext cx="418011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linkClick r:id="rId5"/>
              </a:rPr>
              <a:t>https://www.bluej.org/</a:t>
            </a:r>
            <a:endParaRPr lang="en-US" sz="2000" b="1" dirty="0"/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605504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Απλές ερωτήσεις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3AD38FE-E643-1336-9740-EE91B40DD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62" y="684451"/>
            <a:ext cx="979290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Που θα βρω την </a:t>
            </a:r>
            <a:r>
              <a:rPr lang="el-GR" kern="0" dirty="0">
                <a:solidFill>
                  <a:srgbClr val="000000"/>
                </a:solidFill>
                <a:latin typeface="Tahoma"/>
              </a:rPr>
              <a:t>κλάση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class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Stack;</a:t>
            </a:r>
          </a:p>
          <a:p>
            <a:pPr lvl="0" eaLnBrk="1" hangingPunct="1">
              <a:lnSpc>
                <a:spcPct val="150000"/>
              </a:lnSpc>
              <a:buClr>
                <a:srgbClr val="3333CC"/>
              </a:buClr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Πως μπορώ να χρησιμοποιήσω</a:t>
            </a:r>
            <a:r>
              <a:rPr lang="el-GR" kern="0" dirty="0">
                <a:solidFill>
                  <a:srgbClr val="000000"/>
                </a:solidFill>
                <a:latin typeface="Tahoma"/>
              </a:rPr>
              <a:t> την κλάση 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Stack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Που θα βρω τα στιγμιότυπα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st1, st2, st3 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ή κάποιο στιγμιότυπο;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Πως μπορώ να χρησιμοποιήσω τα στιγμιότυπα της κλάσης </a:t>
            </a: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Stack</a:t>
            </a:r>
            <a:r>
              <a:rPr kumimoji="0" 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1D828409-0382-A18B-28CF-0D26E9A64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86" y="5500655"/>
            <a:ext cx="11441236" cy="719331"/>
          </a:xfrm>
          <a:prstGeom prst="wedgeRoundRectCallout">
            <a:avLst>
              <a:gd name="adj1" fmla="val -47813"/>
              <a:gd name="adj2" fmla="val 108296"/>
              <a:gd name="adj3" fmla="val 16667"/>
            </a:avLst>
          </a:prstGeom>
          <a:solidFill>
            <a:srgbClr val="FCFF8D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Χρησιμοποίησε το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BlueJ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σε συνδυασμό με την βασική βιβλιοθήκη της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Java (Java API) </a:t>
            </a:r>
            <a:r>
              <a:rPr kumimoji="0" 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για την εξοικείωση σου με τις έννοιες αυτές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rPr>
              <a:t>.</a:t>
            </a:r>
            <a:endParaRPr kumimoji="0" 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58AA9638-C7B6-BFD5-6FEA-B138F039051E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55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κλάση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Stack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στην βασική βιβλιοθήκη της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AE4232-5B74-EF06-B92B-97D6D80C7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0060"/>
            <a:ext cx="12192000" cy="552832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E636A6-4376-F482-D7A3-B1DFABD8B40B}"/>
              </a:ext>
            </a:extLst>
          </p:cNvPr>
          <p:cNvCxnSpPr>
            <a:cxnSpLocks/>
          </p:cNvCxnSpPr>
          <p:nvPr/>
        </p:nvCxnSpPr>
        <p:spPr>
          <a:xfrm flipH="1">
            <a:off x="618025" y="1274578"/>
            <a:ext cx="1333605" cy="5636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AA104C-D513-0F2C-B223-6CBCA6F83B06}"/>
              </a:ext>
            </a:extLst>
          </p:cNvPr>
          <p:cNvCxnSpPr>
            <a:cxnSpLocks/>
          </p:cNvCxnSpPr>
          <p:nvPr/>
        </p:nvCxnSpPr>
        <p:spPr>
          <a:xfrm flipH="1">
            <a:off x="490308" y="3771479"/>
            <a:ext cx="1333605" cy="5636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640702E3-5289-1708-862A-D0D2D562F794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54711C-448C-00F6-BF6F-358D64748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88687">
            <a:off x="5445097" y="3032598"/>
            <a:ext cx="6782868" cy="49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85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κλάση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Double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στην βασική βιβλιοθήκη της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8D7A9-D2EB-245D-666F-3629C2FDF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1534"/>
            <a:ext cx="12158479" cy="475199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E6627A7-4EF3-5723-3888-6613170CDE43}"/>
              </a:ext>
            </a:extLst>
          </p:cNvPr>
          <p:cNvCxnSpPr>
            <a:cxnSpLocks/>
          </p:cNvCxnSpPr>
          <p:nvPr/>
        </p:nvCxnSpPr>
        <p:spPr>
          <a:xfrm flipH="1">
            <a:off x="686264" y="944476"/>
            <a:ext cx="1333605" cy="5636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A1DB5B-D48D-8B60-E11D-418C31D41DA3}"/>
              </a:ext>
            </a:extLst>
          </p:cNvPr>
          <p:cNvCxnSpPr>
            <a:cxnSpLocks/>
          </p:cNvCxnSpPr>
          <p:nvPr/>
        </p:nvCxnSpPr>
        <p:spPr>
          <a:xfrm flipH="1">
            <a:off x="490308" y="2865340"/>
            <a:ext cx="1333605" cy="5636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A903D09E-F1B9-5267-16B5-7C99FE7FAD9A}"/>
              </a:ext>
            </a:extLst>
          </p:cNvPr>
          <p:cNvSpPr/>
          <p:nvPr/>
        </p:nvSpPr>
        <p:spPr>
          <a:xfrm>
            <a:off x="4188608" y="5597653"/>
            <a:ext cx="3583792" cy="699308"/>
          </a:xfrm>
          <a:prstGeom prst="wedgeRoundRectCallout">
            <a:avLst>
              <a:gd name="adj1" fmla="val -120038"/>
              <a:gd name="adj2" fmla="val 113399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tx1"/>
                </a:solidFill>
              </a:rPr>
              <a:t>Δημιουργήστε </a:t>
            </a:r>
            <a:r>
              <a:rPr lang="en-US" dirty="0">
                <a:solidFill>
                  <a:schemeClr val="tx1"/>
                </a:solidFill>
              </a:rPr>
              <a:t>2 </a:t>
            </a:r>
            <a:r>
              <a:rPr lang="el-GR" dirty="0">
                <a:solidFill>
                  <a:schemeClr val="tx1"/>
                </a:solidFill>
              </a:rPr>
              <a:t>στιγμιότυπα της </a:t>
            </a:r>
            <a:r>
              <a:rPr lang="en-US" dirty="0">
                <a:solidFill>
                  <a:schemeClr val="tx1"/>
                </a:solidFill>
              </a:rPr>
              <a:t>Double, </a:t>
            </a:r>
            <a:r>
              <a:rPr lang="el-GR" dirty="0">
                <a:solidFill>
                  <a:schemeClr val="tx1"/>
                </a:solidFill>
              </a:rPr>
              <a:t>τα </a:t>
            </a:r>
            <a:r>
              <a:rPr lang="en-US" dirty="0">
                <a:solidFill>
                  <a:schemeClr val="tx1"/>
                </a:solidFill>
              </a:rPr>
              <a:t>d1 </a:t>
            </a:r>
            <a:r>
              <a:rPr lang="el-GR" dirty="0">
                <a:solidFill>
                  <a:schemeClr val="tx1"/>
                </a:solidFill>
              </a:rPr>
              <a:t>και </a:t>
            </a:r>
            <a:r>
              <a:rPr lang="en-US" dirty="0">
                <a:solidFill>
                  <a:schemeClr val="tx1"/>
                </a:solidFill>
              </a:rPr>
              <a:t>d2.</a:t>
            </a:r>
            <a:endParaRPr lang="el-GR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313CC6-C05B-65CB-5371-69D7A15E2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323" y="5547732"/>
            <a:ext cx="3407334" cy="1022200"/>
          </a:xfrm>
          <a:prstGeom prst="rect">
            <a:avLst/>
          </a:prstGeom>
        </p:spPr>
      </p:pic>
      <p:sp>
        <p:nvSpPr>
          <p:cNvPr id="6" name="Θέση υποσέλιδου 4">
            <a:extLst>
              <a:ext uri="{FF2B5EF4-FFF2-40B4-BE49-F238E27FC236}">
                <a16:creationId xmlns:a16="http://schemas.microsoft.com/office/drawing/2014/main" id="{957B15C3-3068-0231-6C65-80EF999C5FB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251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Τίτλος 1">
            <a:extLst>
              <a:ext uri="{FF2B5EF4-FFF2-40B4-BE49-F238E27FC236}">
                <a16:creationId xmlns:a16="http://schemas.microsoft.com/office/drawing/2014/main" id="{15C85B7C-04C1-2BCF-65C4-3F7C0A6F6EA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19331"/>
          </a:xfrm>
          <a:prstGeom prst="rect">
            <a:avLst/>
          </a:prstGeom>
          <a:solidFill>
            <a:srgbClr val="FDCBAD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Βασική Βιβλιοθήκη της </a:t>
            </a:r>
            <a:r>
              <a:rPr lang="el-GR" sz="36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Java</a:t>
            </a:r>
            <a:endParaRPr lang="el-GR" sz="36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7C24C-E2FD-458F-3ECC-CFB3F0BB62D6}"/>
              </a:ext>
            </a:extLst>
          </p:cNvPr>
          <p:cNvSpPr txBox="1"/>
          <p:nvPr/>
        </p:nvSpPr>
        <p:spPr>
          <a:xfrm>
            <a:off x="10025166" y="6391830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solidFill>
                  <a:schemeClr val="bg2"/>
                </a:solidFill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solidFill>
                  <a:schemeClr val="bg2"/>
                </a:solidFill>
                <a:latin typeface="Bahnschrift Light" panose="020B0502040204020203" pitchFamily="34" charset="0"/>
                <a:cs typeface="Arial" pitchFamily="34" charset="0"/>
              </a:rPr>
              <a:pPr algn="r"/>
              <a:t>12</a:t>
            </a:fld>
            <a:endParaRPr lang="en-US" sz="1200" dirty="0">
              <a:solidFill>
                <a:schemeClr val="bg2"/>
              </a:solidFill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354F8-D895-DF1C-A2BB-697C951CE487}"/>
              </a:ext>
            </a:extLst>
          </p:cNvPr>
          <p:cNvSpPr txBox="1"/>
          <p:nvPr/>
        </p:nvSpPr>
        <p:spPr>
          <a:xfrm>
            <a:off x="234177" y="1318193"/>
            <a:ext cx="4068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</a:t>
            </a:r>
            <a:r>
              <a:rPr lang="el-GR" sz="2400" dirty="0"/>
              <a:t>Δημιουργούμε ένα </a:t>
            </a:r>
            <a:r>
              <a:rPr lang="en-US" sz="2400" dirty="0"/>
              <a:t>Project</a:t>
            </a:r>
          </a:p>
          <a:p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D9F9DF-8CA9-ADE7-52BD-D8EAD5974423}"/>
              </a:ext>
            </a:extLst>
          </p:cNvPr>
          <p:cNvSpPr/>
          <p:nvPr/>
        </p:nvSpPr>
        <p:spPr>
          <a:xfrm>
            <a:off x="0" y="719330"/>
            <a:ext cx="6920869" cy="409376"/>
          </a:xfrm>
          <a:prstGeom prst="rect">
            <a:avLst/>
          </a:prstGeom>
          <a:solidFill>
            <a:srgbClr val="FDCBAD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l-GR" sz="2800" b="1" dirty="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rPr>
              <a:t>Παράδειγμα αξιοποίησης με το </a:t>
            </a:r>
            <a:r>
              <a:rPr lang="en-US" sz="2800" b="1" dirty="0" err="1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rPr>
              <a:t>BlueJ</a:t>
            </a:r>
            <a:endParaRPr lang="el-GR" sz="2800" b="1" dirty="0">
              <a:solidFill>
                <a:schemeClr val="bg1"/>
              </a:solidFill>
              <a:latin typeface="Bahnschrift" panose="020B0502040204020203" pitchFamily="34" charset="0"/>
              <a:ea typeface="+mj-ea"/>
              <a:cs typeface="+mj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4F026D-AB14-76BE-3A4F-366A22CAD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40" y="1770879"/>
            <a:ext cx="3627434" cy="21795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8A7F607-BDAF-B70E-114A-217DEBBF5CFD}"/>
              </a:ext>
            </a:extLst>
          </p:cNvPr>
          <p:cNvSpPr txBox="1"/>
          <p:nvPr/>
        </p:nvSpPr>
        <p:spPr>
          <a:xfrm>
            <a:off x="4115265" y="1315111"/>
            <a:ext cx="6405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2.</a:t>
            </a:r>
            <a:r>
              <a:rPr lang="en-US" sz="2400" dirty="0"/>
              <a:t> </a:t>
            </a:r>
            <a:r>
              <a:rPr lang="el-GR" sz="2400" dirty="0"/>
              <a:t>Επιλέγουμε την κλάση της βιβλιοθήκης που θα χρησιμοποιήσουμε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53110A-2934-CBC2-CB06-BA0091FDC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9704" y="2206973"/>
            <a:ext cx="2804403" cy="16155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EDD5ED-09C0-AEBE-99F6-946DCD176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779" y="2063930"/>
            <a:ext cx="3627434" cy="22852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F5E11D-6B1D-8A6B-93DB-BA049AC7BC38}"/>
              </a:ext>
            </a:extLst>
          </p:cNvPr>
          <p:cNvSpPr txBox="1"/>
          <p:nvPr/>
        </p:nvSpPr>
        <p:spPr>
          <a:xfrm>
            <a:off x="328040" y="4165861"/>
            <a:ext cx="7051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  <a:r>
              <a:rPr lang="el-GR" sz="2400" dirty="0"/>
              <a:t>.</a:t>
            </a:r>
            <a:r>
              <a:rPr lang="en-US" sz="2400" dirty="0"/>
              <a:t> </a:t>
            </a:r>
            <a:r>
              <a:rPr lang="el-GR" sz="2400" dirty="0"/>
              <a:t>Επιλέγουμε τον ένα από τους δύο Δημιουργούς</a:t>
            </a:r>
          </a:p>
          <a:p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F310FA-68CE-C894-AFFB-BF31F922B6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0" y="4648776"/>
            <a:ext cx="2705334" cy="16917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D42163-AB66-535F-F8FA-9FB4AE7B30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80" y="4648776"/>
            <a:ext cx="1931284" cy="15149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7561586-7A47-E7FC-DD61-415B453BCEA8}"/>
              </a:ext>
            </a:extLst>
          </p:cNvPr>
          <p:cNvSpPr txBox="1"/>
          <p:nvPr/>
        </p:nvSpPr>
        <p:spPr>
          <a:xfrm>
            <a:off x="5561704" y="4523763"/>
            <a:ext cx="68375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  <a:r>
              <a:rPr lang="el-GR" sz="2400" dirty="0"/>
              <a:t>. Δημιουργούμε ακόμη ένα στιγμιότυπο της </a:t>
            </a:r>
            <a:r>
              <a:rPr lang="en-US" sz="2400" dirty="0"/>
              <a:t>Double</a:t>
            </a:r>
            <a:endParaRPr lang="el-GR" sz="2400" dirty="0"/>
          </a:p>
          <a:p>
            <a:endParaRPr lang="en-US" sz="2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5599B77-1512-F579-262C-C7E2E39004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826" y="4963375"/>
            <a:ext cx="2327218" cy="127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94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8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Δημιουργία στοίβας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(Stack instance)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στο </a:t>
            </a:r>
            <a:r>
              <a:rPr lang="en-US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BlueJ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C4C41B-75DD-F9AC-FC89-7D6B1F674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767" y="3453938"/>
            <a:ext cx="4357997" cy="27827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94474B-7058-9D13-5053-80F01247C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2" y="4875656"/>
            <a:ext cx="3744708" cy="170399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FC59265-C4D6-D4B0-2608-DF64030DBF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65" y="782934"/>
            <a:ext cx="4320914" cy="31625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063ABF-53D5-22D3-DBF3-A358A99645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7977" y="1526323"/>
            <a:ext cx="4816043" cy="1808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288736-1017-F430-A28D-743009DCC7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116582">
            <a:off x="1583609" y="4503901"/>
            <a:ext cx="6256943" cy="785503"/>
          </a:xfrm>
          <a:prstGeom prst="rect">
            <a:avLst/>
          </a:prstGeom>
        </p:spPr>
      </p:pic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CB0EB90E-E599-5DC9-6510-B79447D3AA5B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93324-34F0-183E-C044-4395FBCE2F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761912">
            <a:off x="4622914" y="1673480"/>
            <a:ext cx="7472449" cy="43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Add 2 instances of Double in st1:Stack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BAEE2-8140-668E-AFE7-B313FF0E0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4551" y="917500"/>
            <a:ext cx="8474174" cy="5662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A84D24-D143-CFF5-F656-D9FC21FAB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75762">
            <a:off x="-255019" y="4010074"/>
            <a:ext cx="4783051" cy="600440"/>
          </a:xfrm>
          <a:prstGeom prst="rect">
            <a:avLst/>
          </a:prstGeom>
        </p:spPr>
      </p:pic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3A5EA431-B91C-EFAD-E59A-4B15DD847ACF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3098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A6131CC-51AC-7772-5DFB-DAF535789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126" y="1042970"/>
            <a:ext cx="10165491" cy="50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προσέγγιση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LEGO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Βασική βιβλιοθήκη της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(Java API)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Μια πρώτη επαφή μέσα από το </a:t>
            </a:r>
            <a:r>
              <a:rPr lang="en-U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BlueJ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Η κλάση στην Βασική Βιβλιοθήκη</a:t>
            </a: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Fields and methods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(πεδία και μέθοδοι)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Operation signature (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υπογραφή μεθόδου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14400" lvl="1" indent="-457200" eaLnBrk="1" hangingPunct="1">
              <a:defRPr/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Constructors</a:t>
            </a: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(Δημιουργοί)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r>
              <a:rPr lang="el-G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Παράδειγμα κλάσης (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class Student)</a:t>
            </a: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7150" indent="0" eaLnBrk="1" hangingPunct="1">
              <a:buNone/>
              <a:defRPr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457200" eaLnBrk="1" hangingPunct="1">
              <a:buClr>
                <a:schemeClr val="hlink"/>
              </a:buClr>
              <a:defRPr/>
            </a:pPr>
            <a:endParaRPr lang="el-GR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80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H </a:t>
            </a:r>
            <a:r>
              <a:rPr kumimoji="0" lang="el-GR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κλάση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9853D"/>
                </a:solidFill>
                <a:effectLst/>
                <a:uLnTx/>
                <a:uFillTx/>
                <a:latin typeface="Bahnschrift" panose="020B0502040204020203" pitchFamily="34" charset="0"/>
                <a:ea typeface="+mj-ea"/>
                <a:cs typeface="+mj-cs"/>
              </a:rPr>
              <a:t>Double </a:t>
            </a:r>
            <a:endParaRPr kumimoji="0" lang="el-GR" sz="4000" b="1" i="0" u="none" strike="noStrike" kern="1200" cap="none" spc="0" normalizeH="0" baseline="0" noProof="0" dirty="0">
              <a:ln>
                <a:noFill/>
              </a:ln>
              <a:solidFill>
                <a:srgbClr val="F9853D"/>
              </a:solidFill>
              <a:effectLst/>
              <a:uLnTx/>
              <a:uFillTx/>
              <a:latin typeface="Bahnschrift" panose="020B0502040204020203" pitchFamily="34" charset="0"/>
              <a:ea typeface="+mj-ea"/>
              <a:cs typeface="+mj-cs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12C7F-8832-B10A-549E-A253C2CFA3B7}"/>
              </a:ext>
            </a:extLst>
          </p:cNvPr>
          <p:cNvSpPr txBox="1"/>
          <p:nvPr/>
        </p:nvSpPr>
        <p:spPr>
          <a:xfrm>
            <a:off x="104088" y="874719"/>
            <a:ext cx="52884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Βασικές έννοιες: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Κλάση (</a:t>
            </a:r>
            <a:r>
              <a:rPr lang="en-US" sz="2400" b="1" dirty="0"/>
              <a:t>Class</a:t>
            </a:r>
            <a:r>
              <a:rPr lang="en-US" sz="2400" dirty="0"/>
              <a:t>): </a:t>
            </a:r>
            <a:r>
              <a:rPr lang="el-GR" sz="2400" dirty="0"/>
              <a:t>το βασικό πρωτογενές δομικό στοιχείο</a:t>
            </a:r>
            <a:r>
              <a:rPr lang="en-US" sz="2400" dirty="0"/>
              <a:t>,</a:t>
            </a:r>
            <a:r>
              <a:rPr lang="el-GR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Πακέτο (</a:t>
            </a:r>
            <a:r>
              <a:rPr lang="en-US" sz="2400" b="1" dirty="0"/>
              <a:t>package</a:t>
            </a:r>
            <a:r>
              <a:rPr lang="el-GR" sz="2400" dirty="0"/>
              <a:t>):</a:t>
            </a:r>
            <a:r>
              <a:rPr lang="en-US" sz="2400" dirty="0"/>
              <a:t> </a:t>
            </a:r>
            <a:r>
              <a:rPr lang="el-GR" sz="2400" dirty="0"/>
              <a:t>Μηχανισμός για την οργάνωση των δομικών στοιχείων.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Fields</a:t>
            </a:r>
            <a:r>
              <a:rPr lang="en-US" sz="2400" dirty="0"/>
              <a:t>, </a:t>
            </a:r>
            <a:r>
              <a:rPr lang="en-US" sz="2400" b="1" dirty="0"/>
              <a:t>Constructors</a:t>
            </a:r>
            <a:r>
              <a:rPr lang="el-GR" sz="2400" b="1" dirty="0"/>
              <a:t>,</a:t>
            </a:r>
            <a:r>
              <a:rPr lang="en-US" sz="2400" dirty="0"/>
              <a:t> </a:t>
            </a:r>
            <a:r>
              <a:rPr lang="en-US" sz="2400" b="1" dirty="0"/>
              <a:t>Methods</a:t>
            </a:r>
            <a:r>
              <a:rPr lang="el-GR" sz="2400" b="1" dirty="0"/>
              <a:t>, </a:t>
            </a:r>
            <a:r>
              <a:rPr lang="en-US" sz="2400" b="1" dirty="0"/>
              <a:t>Operation/Method signature</a:t>
            </a:r>
            <a:endParaRPr lang="el-GR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E07881-FA18-23EE-661B-03FED7875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89" y="3246516"/>
            <a:ext cx="5052407" cy="13503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6ED0E-20B3-6DDD-0480-7477CDB98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4883" y="4691641"/>
            <a:ext cx="4946743" cy="141806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D252290-1FF6-6136-C922-302B18E41E64}"/>
              </a:ext>
            </a:extLst>
          </p:cNvPr>
          <p:cNvGrpSpPr/>
          <p:nvPr/>
        </p:nvGrpSpPr>
        <p:grpSpPr>
          <a:xfrm>
            <a:off x="260519" y="4449256"/>
            <a:ext cx="5845047" cy="1505029"/>
            <a:chOff x="61493" y="4106118"/>
            <a:chExt cx="5845047" cy="1505029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45A463-928C-BA90-32C3-0AD050A4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493" y="4106118"/>
              <a:ext cx="5845047" cy="100592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C157E5C-7B6F-15E4-6B48-59FAC1272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9319" y="5098053"/>
              <a:ext cx="5757221" cy="513094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668E30F0-214E-3BCC-3A47-6C2733B52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6647" y="641893"/>
            <a:ext cx="6686693" cy="255650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7B8D79-CC60-CAD7-0AC8-37D20DEF9A89}"/>
              </a:ext>
            </a:extLst>
          </p:cNvPr>
          <p:cNvCxnSpPr>
            <a:cxnSpLocks/>
          </p:cNvCxnSpPr>
          <p:nvPr/>
        </p:nvCxnSpPr>
        <p:spPr>
          <a:xfrm flipH="1">
            <a:off x="5973159" y="855346"/>
            <a:ext cx="1333605" cy="5636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16298B2-005E-EFBC-5BF4-67273722E4BD}"/>
              </a:ext>
            </a:extLst>
          </p:cNvPr>
          <p:cNvCxnSpPr>
            <a:cxnSpLocks/>
          </p:cNvCxnSpPr>
          <p:nvPr/>
        </p:nvCxnSpPr>
        <p:spPr>
          <a:xfrm flipH="1">
            <a:off x="5973158" y="1724285"/>
            <a:ext cx="1333605" cy="5636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863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Μέθοδος στιγμιότυπου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instance method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48CCE-54F0-DD06-8774-76A561DF3E02}"/>
              </a:ext>
            </a:extLst>
          </p:cNvPr>
          <p:cNvSpPr txBox="1"/>
          <p:nvPr/>
        </p:nvSpPr>
        <p:spPr>
          <a:xfrm>
            <a:off x="10025166" y="6391830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solidFill>
                  <a:schemeClr val="bg2"/>
                </a:solidFill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solidFill>
                  <a:schemeClr val="bg2"/>
                </a:solidFill>
                <a:latin typeface="Bahnschrift Light" panose="020B0502040204020203" pitchFamily="34" charset="0"/>
                <a:cs typeface="Arial" pitchFamily="34" charset="0"/>
              </a:rPr>
              <a:pPr algn="r"/>
              <a:t>17</a:t>
            </a:fld>
            <a:endParaRPr lang="en-US" sz="1200" dirty="0">
              <a:solidFill>
                <a:schemeClr val="bg2"/>
              </a:solidFill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DC2A4-DBDC-DEDB-94D5-420E8BC32C7E}"/>
              </a:ext>
            </a:extLst>
          </p:cNvPr>
          <p:cNvSpPr txBox="1"/>
          <p:nvPr/>
        </p:nvSpPr>
        <p:spPr>
          <a:xfrm>
            <a:off x="88928" y="4752908"/>
            <a:ext cx="11962403" cy="1738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360"/>
              </a:lnSpc>
            </a:pPr>
            <a:r>
              <a:rPr lang="el-GR" sz="2800" dirty="0"/>
              <a:t>Μέθοδος που δεν έχει στη δήλωση της τον προσδιοριστή </a:t>
            </a:r>
            <a:r>
              <a:rPr lang="en-US" sz="2800" dirty="0"/>
              <a:t>static </a:t>
            </a:r>
            <a:r>
              <a:rPr lang="el-GR" sz="2800" dirty="0"/>
              <a:t>ορίζει </a:t>
            </a:r>
            <a:r>
              <a:rPr lang="el-GR" sz="2800" b="1" dirty="0"/>
              <a:t>συμπεριφορά</a:t>
            </a:r>
            <a:r>
              <a:rPr lang="en-US" sz="2800" b="1" dirty="0"/>
              <a:t> </a:t>
            </a:r>
            <a:r>
              <a:rPr lang="el-GR" sz="2800" b="1" dirty="0"/>
              <a:t>στιγμιότυπου</a:t>
            </a:r>
            <a:r>
              <a:rPr lang="el-GR" sz="2800" dirty="0"/>
              <a:t> </a:t>
            </a:r>
          </a:p>
          <a:p>
            <a:pPr>
              <a:lnSpc>
                <a:spcPts val="4360"/>
              </a:lnSpc>
            </a:pPr>
            <a:r>
              <a:rPr lang="el-GR" sz="2800" dirty="0"/>
              <a:t>Καλείται και </a:t>
            </a:r>
            <a:r>
              <a:rPr lang="en-US" sz="2800" dirty="0"/>
              <a:t>non-static method </a:t>
            </a:r>
            <a:r>
              <a:rPr lang="el-GR" sz="2800" dirty="0"/>
              <a:t>ή </a:t>
            </a:r>
            <a:r>
              <a:rPr lang="el-GR" sz="2800" u="sng" dirty="0"/>
              <a:t>μέθοδος </a:t>
            </a:r>
            <a:r>
              <a:rPr lang="el-GR" sz="2800" u="sng" dirty="0" err="1"/>
              <a:t>στιγμιοτύπου</a:t>
            </a:r>
            <a:r>
              <a:rPr lang="el-GR" sz="2800" u="sng" dirty="0"/>
              <a:t>.</a:t>
            </a:r>
            <a:endParaRPr lang="el-GR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C95D09-813B-E75E-8F1C-D2FD8162A1EF}"/>
              </a:ext>
            </a:extLst>
          </p:cNvPr>
          <p:cNvSpPr/>
          <p:nvPr/>
        </p:nvSpPr>
        <p:spPr>
          <a:xfrm>
            <a:off x="0" y="1249024"/>
            <a:ext cx="4501430" cy="2358113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19F47C-B03C-0115-B8F4-6A1248A9B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447" y="1599999"/>
            <a:ext cx="7406591" cy="16258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D48245-D17F-1320-E399-F2EBE8DE94E6}"/>
              </a:ext>
            </a:extLst>
          </p:cNvPr>
          <p:cNvSpPr txBox="1"/>
          <p:nvPr/>
        </p:nvSpPr>
        <p:spPr>
          <a:xfrm>
            <a:off x="157545" y="2792737"/>
            <a:ext cx="1078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Instance</a:t>
            </a:r>
            <a:endParaRPr lang="el-GR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986E9-DA13-B139-79FD-1F793C6432C1}"/>
              </a:ext>
            </a:extLst>
          </p:cNvPr>
          <p:cNvSpPr txBox="1"/>
          <p:nvPr/>
        </p:nvSpPr>
        <p:spPr>
          <a:xfrm>
            <a:off x="131932" y="1733541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Class</a:t>
            </a:r>
            <a:endParaRPr lang="el-GR" sz="20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FCD268-C136-EA1E-E4AE-97974F749039}"/>
              </a:ext>
            </a:extLst>
          </p:cNvPr>
          <p:cNvCxnSpPr>
            <a:cxnSpLocks/>
          </p:cNvCxnSpPr>
          <p:nvPr/>
        </p:nvCxnSpPr>
        <p:spPr>
          <a:xfrm>
            <a:off x="489562" y="2133651"/>
            <a:ext cx="0" cy="70324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5C2715-1ACC-BFF5-1B09-7C092CEDE2E9}"/>
              </a:ext>
            </a:extLst>
          </p:cNvPr>
          <p:cNvSpPr txBox="1"/>
          <p:nvPr/>
        </p:nvSpPr>
        <p:spPr>
          <a:xfrm>
            <a:off x="1523064" y="1428111"/>
            <a:ext cx="2753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Ορίζει τη συμπεριφορά τ</a:t>
            </a:r>
            <a:r>
              <a:rPr lang="el-GR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ων στιγμιότυπων της κλάσης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l-G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011141-A334-0FA4-C46E-BDC9311B633B}"/>
              </a:ext>
            </a:extLst>
          </p:cNvPr>
          <p:cNvSpPr txBox="1"/>
          <p:nvPr/>
        </p:nvSpPr>
        <p:spPr>
          <a:xfrm>
            <a:off x="1569033" y="2657384"/>
            <a:ext cx="2753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Συμπεριφέρεται όπως ορίζει η κλάση του.</a:t>
            </a:r>
            <a:endParaRPr lang="el-GR" dirty="0"/>
          </a:p>
        </p:txBody>
      </p:sp>
      <p:sp>
        <p:nvSpPr>
          <p:cNvPr id="28" name="Callout: Bent Line 27">
            <a:extLst>
              <a:ext uri="{FF2B5EF4-FFF2-40B4-BE49-F238E27FC236}">
                <a16:creationId xmlns:a16="http://schemas.microsoft.com/office/drawing/2014/main" id="{7433F59F-17BA-2764-3CCA-8402575A6F03}"/>
              </a:ext>
            </a:extLst>
          </p:cNvPr>
          <p:cNvSpPr/>
          <p:nvPr/>
        </p:nvSpPr>
        <p:spPr>
          <a:xfrm>
            <a:off x="4816784" y="2495213"/>
            <a:ext cx="7406591" cy="959414"/>
          </a:xfrm>
          <a:prstGeom prst="borderCallout2">
            <a:avLst>
              <a:gd name="adj1" fmla="val 100442"/>
              <a:gd name="adj2" fmla="val 48251"/>
              <a:gd name="adj3" fmla="val 169655"/>
              <a:gd name="adj4" fmla="val 32715"/>
              <a:gd name="adj5" fmla="val 249789"/>
              <a:gd name="adj6" fmla="val -32116"/>
            </a:avLst>
          </a:prstGeom>
          <a:solidFill>
            <a:schemeClr val="accent1">
              <a:alpha val="3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90DD9E-0951-5D6F-16F0-D9B025F6E1CF}"/>
              </a:ext>
            </a:extLst>
          </p:cNvPr>
          <p:cNvSpPr txBox="1"/>
          <p:nvPr/>
        </p:nvSpPr>
        <p:spPr>
          <a:xfrm>
            <a:off x="4833447" y="1057037"/>
            <a:ext cx="735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/>
              <a:t>Μέθοδοι κλάσης </a:t>
            </a:r>
            <a:r>
              <a:rPr lang="en-US" sz="2800" b="1" dirty="0"/>
              <a:t>Double</a:t>
            </a:r>
            <a:r>
              <a:rPr lang="el-GR" sz="28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609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Η Κλάση ως αντικείμενο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A6A62A-C7EB-844B-4161-36DEA748B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283" y="955292"/>
            <a:ext cx="7829831" cy="1136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Που θα βάλω τη γνώση δημιουργίας </a:t>
            </a:r>
            <a:r>
              <a:rPr kumimoji="0" 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στιγμιοτύπου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;</a:t>
            </a:r>
            <a:endParaRPr kumimoji="0" 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endParaRPr lang="el-GR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1D1B82-9CE7-BFAB-E850-F7A17FFAE5F7}"/>
              </a:ext>
            </a:extLst>
          </p:cNvPr>
          <p:cNvSpPr/>
          <p:nvPr/>
        </p:nvSpPr>
        <p:spPr>
          <a:xfrm>
            <a:off x="8572098" y="2794785"/>
            <a:ext cx="36199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5400" b="1" dirty="0" err="1">
                <a:ln w="12700">
                  <a:solidFill>
                    <a:srgbClr val="00E4A8"/>
                  </a:solidFill>
                  <a:prstDash val="solid"/>
                </a:ln>
                <a:pattFill prst="pct50">
                  <a:fgClr>
                    <a:srgbClr val="00E4A8"/>
                  </a:fgClr>
                  <a:bgClr>
                    <a:srgbClr val="00E4A8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00E4A8"/>
                  </a:outerShdw>
                </a:effectLst>
                <a:latin typeface="Tahoma" pitchFamily="34" charset="0"/>
              </a:rPr>
              <a:t>Metaclass</a:t>
            </a:r>
            <a:endParaRPr lang="en-US" sz="5400" b="1" dirty="0">
              <a:ln w="12700">
                <a:solidFill>
                  <a:srgbClr val="00E4A8"/>
                </a:solidFill>
                <a:prstDash val="solid"/>
              </a:ln>
              <a:pattFill prst="pct50">
                <a:fgClr>
                  <a:srgbClr val="00E4A8"/>
                </a:fgClr>
                <a:bgClr>
                  <a:srgbClr val="00E4A8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00E4A8"/>
                </a:outerShdw>
              </a:effectLst>
              <a:latin typeface="Tahoma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8E39E-D104-2F64-EE0E-C1A247C07FB3}"/>
              </a:ext>
            </a:extLst>
          </p:cNvPr>
          <p:cNvSpPr/>
          <p:nvPr/>
        </p:nvSpPr>
        <p:spPr>
          <a:xfrm>
            <a:off x="6874519" y="4916172"/>
            <a:ext cx="53174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5400" b="1" dirty="0">
                <a:ln w="12700">
                  <a:solidFill>
                    <a:srgbClr val="00E4A8"/>
                  </a:solidFill>
                  <a:prstDash val="solid"/>
                </a:ln>
                <a:solidFill>
                  <a:srgbClr val="800000"/>
                </a:solidFill>
                <a:effectLst>
                  <a:outerShdw dist="38100" dir="2640000" algn="bl" rotWithShape="0">
                    <a:srgbClr val="00E4A8"/>
                  </a:outerShdw>
                </a:effectLst>
                <a:latin typeface="Tahoma" pitchFamily="34" charset="0"/>
              </a:rPr>
              <a:t>static keyword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61ED9F3C-058B-6158-94FF-00493EF4E47B}"/>
              </a:ext>
            </a:extLst>
          </p:cNvPr>
          <p:cNvSpPr/>
          <p:nvPr/>
        </p:nvSpPr>
        <p:spPr>
          <a:xfrm>
            <a:off x="266891" y="4837141"/>
            <a:ext cx="5520759" cy="1147077"/>
          </a:xfrm>
          <a:prstGeom prst="wedgeRoundRectCallout">
            <a:avLst>
              <a:gd name="adj1" fmla="val -49977"/>
              <a:gd name="adj2" fmla="val 85714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Java </a:t>
            </a:r>
            <a:r>
              <a:rPr lang="el-GR" dirty="0">
                <a:solidFill>
                  <a:schemeClr val="tx1"/>
                </a:solidFill>
              </a:rPr>
              <a:t>και </a:t>
            </a:r>
            <a:r>
              <a:rPr lang="en-US" dirty="0">
                <a:solidFill>
                  <a:schemeClr val="tx1"/>
                </a:solidFill>
              </a:rPr>
              <a:t>C++ </a:t>
            </a:r>
            <a:r>
              <a:rPr lang="el-GR" dirty="0">
                <a:solidFill>
                  <a:schemeClr val="tx1"/>
                </a:solidFill>
              </a:rPr>
              <a:t>δεν υποστηρίζουν την έννοια της </a:t>
            </a:r>
            <a:r>
              <a:rPr lang="el-GR" dirty="0" err="1">
                <a:solidFill>
                  <a:schemeClr val="tx1"/>
                </a:solidFill>
              </a:rPr>
              <a:t>μετακλάσης</a:t>
            </a:r>
            <a:r>
              <a:rPr lang="el-GR" dirty="0">
                <a:solidFill>
                  <a:schemeClr val="tx1"/>
                </a:solidFill>
              </a:rPr>
              <a:t>. Χρησιμοποιούν το </a:t>
            </a:r>
            <a:r>
              <a:rPr lang="en-US" dirty="0">
                <a:solidFill>
                  <a:schemeClr val="tx1"/>
                </a:solidFill>
              </a:rPr>
              <a:t>keyword static </a:t>
            </a:r>
            <a:r>
              <a:rPr lang="el-GR" dirty="0">
                <a:solidFill>
                  <a:schemeClr val="tx1"/>
                </a:solidFill>
              </a:rPr>
              <a:t>για να ορίσουν μέσα στην κλάση την δομή και την συμπεριφορά της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B5E4519-BB4A-0271-0F8A-7BD9C658D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283" y="2460330"/>
            <a:ext cx="8831317" cy="38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Έχει δομή και συμπεριφορά μια κλάση;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endParaRPr lang="el-GR" kern="0" dirty="0">
              <a:solidFill>
                <a:srgbClr val="000000"/>
              </a:solidFill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r>
              <a:rPr kumimoji="0" 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Που ορίζεται η δομή και η συμπεριφορά μιας κλάσης;</a:t>
            </a: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tabLst/>
              <a:defRPr/>
            </a:pPr>
            <a:endParaRPr kumimoji="0" 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193DBD-9D7F-2453-EA6E-8FBD912F2686}"/>
              </a:ext>
            </a:extLst>
          </p:cNvPr>
          <p:cNvSpPr/>
          <p:nvPr/>
        </p:nvSpPr>
        <p:spPr>
          <a:xfrm>
            <a:off x="7903646" y="914105"/>
            <a:ext cx="42883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5400" b="1" dirty="0">
                <a:ln w="12700">
                  <a:solidFill>
                    <a:srgbClr val="00E4A8"/>
                  </a:solidFill>
                  <a:prstDash val="solid"/>
                </a:ln>
                <a:pattFill prst="pct50">
                  <a:fgClr>
                    <a:srgbClr val="00E4A8"/>
                  </a:fgClr>
                  <a:bgClr>
                    <a:srgbClr val="00E4A8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00E4A8"/>
                  </a:outerShdw>
                </a:effectLst>
                <a:latin typeface="Tahoma" pitchFamily="34" charset="0"/>
              </a:rPr>
              <a:t>Constructor</a:t>
            </a:r>
          </a:p>
        </p:txBody>
      </p:sp>
    </p:spTree>
    <p:extLst>
      <p:ext uri="{BB962C8B-B14F-4D97-AF65-F5344CB8AC3E}">
        <p14:creationId xmlns:p14="http://schemas.microsoft.com/office/powerpoint/2010/main" val="255440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Μέθοδος Κλάσης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method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 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48CCE-54F0-DD06-8774-76A561DF3E02}"/>
              </a:ext>
            </a:extLst>
          </p:cNvPr>
          <p:cNvSpPr txBox="1"/>
          <p:nvPr/>
        </p:nvSpPr>
        <p:spPr>
          <a:xfrm>
            <a:off x="10025166" y="6391830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l-GR" sz="1200" dirty="0">
                <a:solidFill>
                  <a:schemeClr val="bg2"/>
                </a:solidFill>
                <a:latin typeface="Bahnschrift Light" panose="020B0502040204020203" pitchFamily="34" charset="0"/>
                <a:cs typeface="Arial" pitchFamily="34" charset="0"/>
              </a:rPr>
              <a:t>Διαφάνεια </a:t>
            </a:r>
            <a:fld id="{7C15C5B5-03C6-48D8-B20F-65D93A6CF09E}" type="slidenum">
              <a:rPr lang="en-US" sz="1200" smtClean="0">
                <a:solidFill>
                  <a:schemeClr val="bg2"/>
                </a:solidFill>
                <a:latin typeface="Bahnschrift Light" panose="020B0502040204020203" pitchFamily="34" charset="0"/>
                <a:cs typeface="Arial" pitchFamily="34" charset="0"/>
              </a:rPr>
              <a:pPr algn="r"/>
              <a:t>19</a:t>
            </a:fld>
            <a:endParaRPr lang="en-US" sz="1200" dirty="0">
              <a:solidFill>
                <a:schemeClr val="bg2"/>
              </a:solidFill>
              <a:latin typeface="Bahnschrift Light" panose="020B0502040204020203" pitchFamily="34" charset="0"/>
              <a:cs typeface="Arial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C95D09-813B-E75E-8F1C-D2FD8162A1EF}"/>
              </a:ext>
            </a:extLst>
          </p:cNvPr>
          <p:cNvSpPr/>
          <p:nvPr/>
        </p:nvSpPr>
        <p:spPr>
          <a:xfrm>
            <a:off x="0" y="1249024"/>
            <a:ext cx="4501430" cy="2358113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 dirty="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19F47C-B03C-0115-B8F4-6A1248A9B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427" y="1593342"/>
            <a:ext cx="7406591" cy="16258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A986E9-DA13-B139-79FD-1F793C6432C1}"/>
              </a:ext>
            </a:extLst>
          </p:cNvPr>
          <p:cNvSpPr txBox="1"/>
          <p:nvPr/>
        </p:nvSpPr>
        <p:spPr>
          <a:xfrm>
            <a:off x="208132" y="2095103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Class</a:t>
            </a:r>
            <a:endParaRPr lang="el-GR" sz="20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5C2715-1ACC-BFF5-1B09-7C092CEDE2E9}"/>
              </a:ext>
            </a:extLst>
          </p:cNvPr>
          <p:cNvSpPr txBox="1"/>
          <p:nvPr/>
        </p:nvSpPr>
        <p:spPr>
          <a:xfrm>
            <a:off x="1533950" y="1640829"/>
            <a:ext cx="27539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Ορίζει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εκτός από την συμπεριφορά τ</a:t>
            </a:r>
            <a:r>
              <a:rPr lang="el-GR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ων στιγμιότυπων της κλάσης </a:t>
            </a:r>
            <a:r>
              <a:rPr lang="el-GR" b="1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και την συμπεριφορά της Κλάσης 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l-GR" dirty="0"/>
          </a:p>
        </p:txBody>
      </p:sp>
      <p:sp>
        <p:nvSpPr>
          <p:cNvPr id="28" name="Callout: Bent Line 27">
            <a:extLst>
              <a:ext uri="{FF2B5EF4-FFF2-40B4-BE49-F238E27FC236}">
                <a16:creationId xmlns:a16="http://schemas.microsoft.com/office/drawing/2014/main" id="{7433F59F-17BA-2764-3CCA-8402575A6F03}"/>
              </a:ext>
            </a:extLst>
          </p:cNvPr>
          <p:cNvSpPr/>
          <p:nvPr/>
        </p:nvSpPr>
        <p:spPr>
          <a:xfrm>
            <a:off x="4809427" y="1552310"/>
            <a:ext cx="7406591" cy="959414"/>
          </a:xfrm>
          <a:prstGeom prst="borderCallout2">
            <a:avLst>
              <a:gd name="adj1" fmla="val 99307"/>
              <a:gd name="adj2" fmla="val 18856"/>
              <a:gd name="adj3" fmla="val 177597"/>
              <a:gd name="adj4" fmla="val 9788"/>
              <a:gd name="adj5" fmla="val 355309"/>
              <a:gd name="adj6" fmla="val -39906"/>
            </a:avLst>
          </a:prstGeom>
          <a:solidFill>
            <a:schemeClr val="accent1">
              <a:alpha val="30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90DD9E-0951-5D6F-16F0-D9B025F6E1CF}"/>
              </a:ext>
            </a:extLst>
          </p:cNvPr>
          <p:cNvSpPr txBox="1"/>
          <p:nvPr/>
        </p:nvSpPr>
        <p:spPr>
          <a:xfrm>
            <a:off x="4833447" y="1057037"/>
            <a:ext cx="735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/>
              <a:t>Μέθοδοι κλάσης </a:t>
            </a:r>
            <a:r>
              <a:rPr lang="en-US" sz="2800" b="1" dirty="0"/>
              <a:t>Double</a:t>
            </a:r>
            <a:r>
              <a:rPr lang="el-GR" sz="2800" b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C9C637-0F1B-E090-F2AB-8831FB236E3F}"/>
              </a:ext>
            </a:extLst>
          </p:cNvPr>
          <p:cNvSpPr txBox="1"/>
          <p:nvPr/>
        </p:nvSpPr>
        <p:spPr>
          <a:xfrm>
            <a:off x="88928" y="4752908"/>
            <a:ext cx="11962403" cy="1738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360"/>
              </a:lnSpc>
            </a:pPr>
            <a:r>
              <a:rPr lang="el-GR" sz="2800" dirty="0"/>
              <a:t>Μέθοδος που έχει στη δήλωση της τον προσδιοριστή </a:t>
            </a:r>
            <a:r>
              <a:rPr lang="en-US" sz="2800" dirty="0"/>
              <a:t>static </a:t>
            </a:r>
            <a:r>
              <a:rPr lang="el-GR" sz="2800" dirty="0"/>
              <a:t>ορίζει </a:t>
            </a:r>
            <a:r>
              <a:rPr lang="el-GR" sz="2800" b="1" dirty="0"/>
              <a:t>συμπεριφορά</a:t>
            </a:r>
            <a:r>
              <a:rPr lang="en-US" sz="2800" b="1" dirty="0"/>
              <a:t> </a:t>
            </a:r>
            <a:r>
              <a:rPr lang="el-GR" sz="2800" b="1" dirty="0"/>
              <a:t>Κλάσης.</a:t>
            </a:r>
            <a:r>
              <a:rPr lang="el-GR" sz="2800" dirty="0"/>
              <a:t> </a:t>
            </a:r>
          </a:p>
          <a:p>
            <a:pPr>
              <a:lnSpc>
                <a:spcPts val="4360"/>
              </a:lnSpc>
            </a:pPr>
            <a:r>
              <a:rPr lang="el-GR" sz="2800" dirty="0"/>
              <a:t>Καλείται και </a:t>
            </a:r>
            <a:r>
              <a:rPr lang="en-US" sz="2800" dirty="0"/>
              <a:t>static method </a:t>
            </a:r>
            <a:r>
              <a:rPr lang="el-GR" sz="2800" dirty="0"/>
              <a:t>ή </a:t>
            </a:r>
            <a:r>
              <a:rPr lang="el-GR" sz="2800" u="sng" dirty="0"/>
              <a:t>μέθοδος κλάσης.</a:t>
            </a:r>
            <a:endParaRPr lang="el-GR" sz="2400" dirty="0"/>
          </a:p>
        </p:txBody>
      </p:sp>
    </p:spTree>
    <p:extLst>
      <p:ext uri="{BB962C8B-B14F-4D97-AF65-F5344CB8AC3E}">
        <p14:creationId xmlns:p14="http://schemas.microsoft.com/office/powerpoint/2010/main" val="287439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Υπογραφή μεθόδου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Method Signature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4FB3C-AE0C-62D3-19D6-54596A96DA27}"/>
              </a:ext>
            </a:extLst>
          </p:cNvPr>
          <p:cNvSpPr txBox="1"/>
          <p:nvPr/>
        </p:nvSpPr>
        <p:spPr>
          <a:xfrm>
            <a:off x="32638" y="3649789"/>
            <a:ext cx="1087946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/>
              <a:t>Ορίζει</a:t>
            </a:r>
            <a:r>
              <a:rPr lang="el-GR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το όνομα της μεθόδου</a:t>
            </a:r>
            <a:r>
              <a:rPr lang="en-US" sz="2400" dirty="0"/>
              <a:t> (</a:t>
            </a:r>
            <a:r>
              <a:rPr lang="en-US" sz="2400" dirty="0" err="1">
                <a:solidFill>
                  <a:schemeClr val="accent5"/>
                </a:solidFill>
              </a:rPr>
              <a:t>toString</a:t>
            </a:r>
            <a:r>
              <a:rPr lang="en-US" sz="2400" dirty="0"/>
              <a:t>)</a:t>
            </a:r>
            <a:r>
              <a:rPr lang="el-GR" sz="2400" dirty="0"/>
              <a:t>, το οποίο καλό είναι να προσδιορίζει αφαιρετικά τη λειτουργικότητα που υλοποιεί η μέθοδος,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τον αριθμό και τον τύπο των ορισμάτων που η μέθοδος δέχεται</a:t>
            </a:r>
            <a:r>
              <a:rPr lang="en-US" sz="2400" dirty="0"/>
              <a:t> (</a:t>
            </a:r>
            <a:r>
              <a:rPr lang="en-US" sz="2400" dirty="0">
                <a:solidFill>
                  <a:schemeClr val="accent5"/>
                </a:solidFill>
              </a:rPr>
              <a:t>double d</a:t>
            </a:r>
            <a:r>
              <a:rPr lang="en-US" sz="2400" dirty="0"/>
              <a:t>) </a:t>
            </a:r>
            <a:r>
              <a:rPr lang="el-GR" sz="2400" dirty="0"/>
              <a:t>, και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τον τύπο της επιστρεφόμενης τιμής</a:t>
            </a:r>
            <a:r>
              <a:rPr lang="en-US" sz="2400" dirty="0"/>
              <a:t> (</a:t>
            </a:r>
            <a:r>
              <a:rPr lang="en-US" sz="2400" dirty="0">
                <a:solidFill>
                  <a:schemeClr val="accent5"/>
                </a:solidFill>
              </a:rPr>
              <a:t>String</a:t>
            </a:r>
            <a:r>
              <a:rPr lang="en-US" sz="2400" dirty="0"/>
              <a:t>),</a:t>
            </a:r>
          </a:p>
          <a:p>
            <a:endParaRPr lang="el-GR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3AC64A-1786-F049-7229-BEF3197CA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642" y="719329"/>
            <a:ext cx="7646720" cy="30568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02F146-98A8-C6A3-CF7C-B20CC7F0922B}"/>
              </a:ext>
            </a:extLst>
          </p:cNvPr>
          <p:cNvSpPr/>
          <p:nvPr/>
        </p:nvSpPr>
        <p:spPr>
          <a:xfrm>
            <a:off x="0" y="1249024"/>
            <a:ext cx="4501430" cy="2358113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>
                <a:solidFill>
                  <a:schemeClr val="bg1"/>
                </a:solidFill>
              </a:rPr>
              <a:t>Αντίστοιχο στην </a:t>
            </a:r>
            <a:r>
              <a:rPr lang="en-US" sz="2800" dirty="0">
                <a:solidFill>
                  <a:schemeClr val="bg1"/>
                </a:solidFill>
              </a:rPr>
              <a:t>C</a:t>
            </a:r>
            <a:endParaRPr lang="el-GR" sz="2800" dirty="0">
              <a:solidFill>
                <a:schemeClr val="bg1"/>
              </a:solidFill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Function Prototype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“function prototype or function interface is a declaration of a function that specifies the function’s name and type signature (arity, data types of parameters, and return type), but omits the function body.” Wikipedia</a:t>
            </a:r>
            <a:endParaRPr lang="el-GR" sz="24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6CEAFA-4693-270F-B335-74D98A3978C4}"/>
              </a:ext>
            </a:extLst>
          </p:cNvPr>
          <p:cNvSpPr/>
          <p:nvPr/>
        </p:nvSpPr>
        <p:spPr>
          <a:xfrm>
            <a:off x="0" y="5608976"/>
            <a:ext cx="12159362" cy="575289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Method declaration</a:t>
            </a:r>
            <a:r>
              <a:rPr lang="en-US" sz="2000" dirty="0">
                <a:solidFill>
                  <a:schemeClr val="tx1"/>
                </a:solidFill>
              </a:rPr>
              <a:t>:  </a:t>
            </a:r>
            <a:r>
              <a:rPr lang="en-US" sz="2000" i="1" dirty="0">
                <a:solidFill>
                  <a:schemeClr val="tx1"/>
                </a:solidFill>
              </a:rPr>
              <a:t>method-modifiers return-type </a:t>
            </a:r>
            <a:r>
              <a:rPr lang="en-US" sz="2000" i="1" dirty="0" err="1">
                <a:solidFill>
                  <a:schemeClr val="tx1"/>
                </a:solidFill>
              </a:rPr>
              <a:t>methodName</a:t>
            </a:r>
            <a:r>
              <a:rPr lang="en-US" sz="2000" i="1" dirty="0">
                <a:solidFill>
                  <a:schemeClr val="tx1"/>
                </a:solidFill>
              </a:rPr>
              <a:t>(formal-list) throws-clause</a:t>
            </a:r>
          </a:p>
          <a:p>
            <a:r>
              <a:rPr lang="en-US" sz="2000" i="1" dirty="0">
                <a:solidFill>
                  <a:schemeClr val="tx1"/>
                </a:solidFill>
              </a:rPr>
              <a:t>				Method-body</a:t>
            </a:r>
            <a:endParaRPr lang="el-GR" sz="2000" i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CA21A0-7971-1B00-B052-90A1188A02E2}"/>
              </a:ext>
            </a:extLst>
          </p:cNvPr>
          <p:cNvCxnSpPr/>
          <p:nvPr/>
        </p:nvCxnSpPr>
        <p:spPr>
          <a:xfrm flipV="1">
            <a:off x="3808207" y="1656678"/>
            <a:ext cx="2743200" cy="2431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EB4E34-5B9B-E746-7D58-97490D064616}"/>
              </a:ext>
            </a:extLst>
          </p:cNvPr>
          <p:cNvCxnSpPr/>
          <p:nvPr/>
        </p:nvCxnSpPr>
        <p:spPr>
          <a:xfrm flipH="1" flipV="1">
            <a:off x="7799294" y="1656678"/>
            <a:ext cx="1344706" cy="3184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DC2B16-BF4F-49F2-5958-3604581B80D0}"/>
              </a:ext>
            </a:extLst>
          </p:cNvPr>
          <p:cNvCxnSpPr/>
          <p:nvPr/>
        </p:nvCxnSpPr>
        <p:spPr>
          <a:xfrm flipV="1">
            <a:off x="5400339" y="1656678"/>
            <a:ext cx="122286" cy="36038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082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Δημιουργοί (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Constructors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023960-5DA8-50D1-86EF-E534BCC1816D}"/>
              </a:ext>
            </a:extLst>
          </p:cNvPr>
          <p:cNvSpPr txBox="1"/>
          <p:nvPr/>
        </p:nvSpPr>
        <p:spPr>
          <a:xfrm>
            <a:off x="84243" y="3360599"/>
            <a:ext cx="1202351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 </a:t>
            </a:r>
            <a:r>
              <a:rPr lang="el-GR" sz="2800" b="1" dirty="0"/>
              <a:t>δημιουργός </a:t>
            </a:r>
            <a:r>
              <a:rPr lang="el-GR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είναι η </a:t>
            </a:r>
            <a:r>
              <a:rPr lang="el-GR" sz="2400" b="1" dirty="0"/>
              <a:t>ειδική</a:t>
            </a:r>
            <a:r>
              <a:rPr lang="el-GR" sz="2400" dirty="0"/>
              <a:t> εκείνη </a:t>
            </a:r>
            <a:r>
              <a:rPr lang="el-GR" sz="2400" b="1" dirty="0"/>
              <a:t>μέθοδος κλάσης</a:t>
            </a:r>
            <a:r>
              <a:rPr lang="el-GR" sz="2400" dirty="0"/>
              <a:t> που έχει τη γνώση δημιουργίας στιγμιότυπων της κλάσης,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έχει το όνομα της κλάσης (με το πρώτο γράμμα κεφαλαίο αντίθετα από την σύμβαση ορισμού ονόματος μεθόδου),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δεν ορίζει επιστρεφόμενη τιμή,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dirty="0"/>
              <a:t>δεν έχει τον προσδιοριστή </a:t>
            </a:r>
            <a:r>
              <a:rPr lang="en-US" sz="2400" dirty="0"/>
              <a:t>static </a:t>
            </a:r>
            <a:r>
              <a:rPr lang="el-GR" sz="2400" dirty="0"/>
              <a:t>στη δήλωση της.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E5AE9-E8EB-7844-08BC-2D85D471F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45" y="725200"/>
            <a:ext cx="7544454" cy="24995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75D50A-0FE1-79B8-131F-180794BD899D}"/>
              </a:ext>
            </a:extLst>
          </p:cNvPr>
          <p:cNvSpPr/>
          <p:nvPr/>
        </p:nvSpPr>
        <p:spPr>
          <a:xfrm>
            <a:off x="0" y="1249025"/>
            <a:ext cx="4501430" cy="1829744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800" dirty="0">
                <a:solidFill>
                  <a:schemeClr val="bg1"/>
                </a:solidFill>
              </a:rPr>
              <a:t>Δημιουργία στιγμιότυπου</a:t>
            </a:r>
          </a:p>
          <a:p>
            <a:pPr algn="ctr"/>
            <a:r>
              <a:rPr lang="el-GR" dirty="0">
                <a:solidFill>
                  <a:schemeClr val="tx1"/>
                </a:solidFill>
              </a:rPr>
              <a:t>Για την δημιουργία στιγμιότυπου θα πρέπει να αποσταλεί μήνυμα στην κλάση για την ενεργοποίηση του κατάλληλου δημιουργού, ή αλλιώς, να κληθεί ο κατάλληλος δημιουργός.</a:t>
            </a:r>
            <a:endParaRPr lang="el-GR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38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Fields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πεδία)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B7DE67-2DD2-2C4B-B483-914ED5F00264}"/>
              </a:ext>
            </a:extLst>
          </p:cNvPr>
          <p:cNvSpPr txBox="1"/>
          <p:nvPr/>
        </p:nvSpPr>
        <p:spPr>
          <a:xfrm>
            <a:off x="82891" y="4353588"/>
            <a:ext cx="108794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 Τα πεδία (</a:t>
            </a:r>
            <a:r>
              <a:rPr lang="en-US" sz="2400" dirty="0"/>
              <a:t>fields</a:t>
            </a:r>
            <a:r>
              <a:rPr lang="el-GR" sz="2400" dirty="0"/>
              <a:t>) ορίζουν δομή (</a:t>
            </a:r>
            <a:r>
              <a:rPr lang="en-US" sz="2400" dirty="0"/>
              <a:t>structure</a:t>
            </a:r>
            <a:r>
              <a:rPr lang="el-GR" sz="2400" dirty="0"/>
              <a:t>)</a:t>
            </a:r>
            <a:r>
              <a:rPr lang="el-GR" sz="2400" b="1" dirty="0"/>
              <a:t> </a:t>
            </a:r>
            <a:r>
              <a:rPr lang="el-GR" sz="24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b="1" dirty="0"/>
              <a:t>Κλάσης</a:t>
            </a:r>
            <a:r>
              <a:rPr lang="el-GR" sz="2400" dirty="0"/>
              <a:t> - αν έχει στη δήλωση της τον προσδιοριστή </a:t>
            </a:r>
            <a:r>
              <a:rPr lang="en-US" sz="2400" b="1" dirty="0">
                <a:solidFill>
                  <a:srgbClr val="FF0000"/>
                </a:solidFill>
              </a:rPr>
              <a:t>static</a:t>
            </a:r>
            <a:r>
              <a:rPr lang="en-US" sz="2400" dirty="0"/>
              <a:t> (</a:t>
            </a:r>
            <a:r>
              <a:rPr lang="el-GR" sz="2400" dirty="0"/>
              <a:t>καλείται και </a:t>
            </a:r>
            <a:r>
              <a:rPr lang="en-US" sz="2400" dirty="0"/>
              <a:t>static data member </a:t>
            </a:r>
            <a:r>
              <a:rPr lang="el-GR" sz="2400" dirty="0"/>
              <a:t>ή </a:t>
            </a:r>
            <a:r>
              <a:rPr lang="el-GR" sz="2400" u="sng" dirty="0"/>
              <a:t>μεταβλητή κλάσης</a:t>
            </a:r>
            <a:r>
              <a:rPr lang="el-GR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b="1" dirty="0"/>
              <a:t>Στιγμιότυπου</a:t>
            </a:r>
            <a:r>
              <a:rPr lang="el-GR" sz="2400" dirty="0"/>
              <a:t> - αν δεν έχει στη δήλωση της τον προσδιοριστή </a:t>
            </a:r>
            <a:r>
              <a:rPr lang="en-US" sz="2400" dirty="0"/>
              <a:t>static (</a:t>
            </a:r>
            <a:r>
              <a:rPr lang="el-GR" sz="2400" dirty="0"/>
              <a:t>καλείται και </a:t>
            </a:r>
            <a:r>
              <a:rPr lang="en-US" sz="2400" dirty="0"/>
              <a:t>non-static data member </a:t>
            </a:r>
            <a:r>
              <a:rPr lang="el-GR" sz="2400" dirty="0"/>
              <a:t>ή </a:t>
            </a:r>
            <a:r>
              <a:rPr lang="el-GR" sz="2400" u="sng" dirty="0"/>
              <a:t>μεταβλητή </a:t>
            </a:r>
            <a:r>
              <a:rPr lang="el-GR" sz="2400" u="sng" dirty="0" err="1"/>
              <a:t>στιγμιοτύπου</a:t>
            </a:r>
            <a:r>
              <a:rPr lang="el-GR" sz="2400" dirty="0"/>
              <a:t>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87A35B-1871-19AF-A362-22316E8F3E15}"/>
              </a:ext>
            </a:extLst>
          </p:cNvPr>
          <p:cNvSpPr/>
          <p:nvPr/>
        </p:nvSpPr>
        <p:spPr>
          <a:xfrm>
            <a:off x="0" y="1249025"/>
            <a:ext cx="4501430" cy="2055637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92A02-E4BC-1AF9-463C-EBBD19D3CBA7}"/>
              </a:ext>
            </a:extLst>
          </p:cNvPr>
          <p:cNvSpPr txBox="1"/>
          <p:nvPr/>
        </p:nvSpPr>
        <p:spPr>
          <a:xfrm>
            <a:off x="157545" y="2792737"/>
            <a:ext cx="10785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Instance</a:t>
            </a:r>
            <a:endParaRPr lang="el-GR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8DD15-6AE5-315A-55F9-028834D48410}"/>
              </a:ext>
            </a:extLst>
          </p:cNvPr>
          <p:cNvSpPr txBox="1"/>
          <p:nvPr/>
        </p:nvSpPr>
        <p:spPr>
          <a:xfrm>
            <a:off x="150607" y="2159218"/>
            <a:ext cx="71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Class</a:t>
            </a:r>
            <a:endParaRPr lang="el-GR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40EC5F-2368-A218-FA9F-0603BA210BA9}"/>
              </a:ext>
            </a:extLst>
          </p:cNvPr>
          <p:cNvSpPr txBox="1"/>
          <p:nvPr/>
        </p:nvSpPr>
        <p:spPr>
          <a:xfrm>
            <a:off x="150607" y="1515946"/>
            <a:ext cx="1358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Meta-Class</a:t>
            </a:r>
            <a:endParaRPr lang="el-GR" sz="2000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11C94D-0001-E039-9680-CD15E874D303}"/>
              </a:ext>
            </a:extLst>
          </p:cNvPr>
          <p:cNvCxnSpPr/>
          <p:nvPr/>
        </p:nvCxnSpPr>
        <p:spPr>
          <a:xfrm>
            <a:off x="508237" y="1881649"/>
            <a:ext cx="0" cy="2775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2EEE47-F355-1935-241D-82B27907C825}"/>
              </a:ext>
            </a:extLst>
          </p:cNvPr>
          <p:cNvCxnSpPr/>
          <p:nvPr/>
        </p:nvCxnSpPr>
        <p:spPr>
          <a:xfrm>
            <a:off x="489562" y="2559328"/>
            <a:ext cx="0" cy="2775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A7A0F43-7724-E8E4-3FD1-E6E5C65C495F}"/>
              </a:ext>
            </a:extLst>
          </p:cNvPr>
          <p:cNvSpPr txBox="1"/>
          <p:nvPr/>
        </p:nvSpPr>
        <p:spPr>
          <a:xfrm>
            <a:off x="1666794" y="1406316"/>
            <a:ext cx="27539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Η </a:t>
            </a: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Java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όπως και η </a:t>
            </a:r>
            <a:r>
              <a:rPr lang="en-US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++, δεν υποστηρίζει την έννοια της </a:t>
            </a:r>
            <a:r>
              <a:rPr lang="el-GR" sz="1800" dirty="0" err="1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μετακλάσης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endParaRPr lang="en-US" sz="1800" dirty="0">
              <a:solidFill>
                <a:srgbClr val="202122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Ορίζει τη </a:t>
            </a:r>
            <a:r>
              <a:rPr lang="el-GR" b="1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δομή (</a:t>
            </a:r>
            <a:r>
              <a:rPr lang="en-US" b="1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structure</a:t>
            </a:r>
            <a:r>
              <a:rPr lang="el-GR" b="1" dirty="0">
                <a:solidFill>
                  <a:srgbClr val="202122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  <a:r>
              <a:rPr lang="el-GR" sz="1800" b="1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l-GR" sz="1800" dirty="0">
                <a:solidFill>
                  <a:srgbClr val="2021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της κλάσης μέσα στο ίδιο της το σώμα.</a:t>
            </a:r>
            <a:endParaRPr lang="el-GR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20AEBF4-7853-88CF-B0F2-676039FE1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645" y="644265"/>
            <a:ext cx="6848992" cy="407284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364AED4-30BA-1EB9-AE2D-32941CF570F0}"/>
              </a:ext>
            </a:extLst>
          </p:cNvPr>
          <p:cNvSpPr/>
          <p:nvPr/>
        </p:nvSpPr>
        <p:spPr>
          <a:xfrm>
            <a:off x="11213" y="3382334"/>
            <a:ext cx="5364432" cy="981228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Double class wraps a value of the primitive type double in an object. An object of type Double contains </a:t>
            </a:r>
            <a:r>
              <a:rPr lang="en-US" b="1" dirty="0">
                <a:solidFill>
                  <a:schemeClr val="tx1"/>
                </a:solidFill>
              </a:rPr>
              <a:t>a single field whose type is double.</a:t>
            </a:r>
            <a:endParaRPr lang="el-G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23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4" grpId="0"/>
      <p:bldP spid="15" grpId="0"/>
      <p:bldP spid="16" grpId="0"/>
      <p:bldP spid="19" grpId="0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Ένα παράδειγμα κλάσης – Η κλάση </a:t>
            </a:r>
            <a:r>
              <a:rPr lang="en-US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Student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11A34D-37E2-946E-85A3-BB1C6044955B}"/>
              </a:ext>
            </a:extLst>
          </p:cNvPr>
          <p:cNvSpPr txBox="1"/>
          <p:nvPr/>
        </p:nvSpPr>
        <p:spPr>
          <a:xfrm>
            <a:off x="202225" y="1128706"/>
            <a:ext cx="714524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sz="2800" dirty="0">
                <a:solidFill>
                  <a:schemeClr val="tx2"/>
                </a:solidFill>
              </a:rPr>
              <a:t>class </a:t>
            </a:r>
            <a:r>
              <a:rPr lang="en-US" altLang="el-GR" sz="2800" b="1" dirty="0">
                <a:solidFill>
                  <a:schemeClr val="tx2"/>
                </a:solidFill>
              </a:rPr>
              <a:t>Student</a:t>
            </a:r>
            <a:r>
              <a:rPr lang="en-US" altLang="el-GR" sz="2800" dirty="0">
                <a:solidFill>
                  <a:schemeClr val="tx2"/>
                </a:solidFill>
              </a:rPr>
              <a:t> {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2800" dirty="0">
                <a:solidFill>
                  <a:srgbClr val="1BDD07"/>
                </a:solidFill>
              </a:rPr>
              <a:t>int am;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2800" b="1" dirty="0">
                <a:solidFill>
                  <a:srgbClr val="800000"/>
                </a:solidFill>
              </a:rPr>
              <a:t>static</a:t>
            </a:r>
            <a:r>
              <a:rPr lang="en-US" altLang="el-GR" sz="2800" dirty="0">
                <a:solidFill>
                  <a:schemeClr val="hlink"/>
                </a:solidFill>
              </a:rPr>
              <a:t> int </a:t>
            </a:r>
            <a:r>
              <a:rPr lang="en-US" altLang="el-GR" sz="2800" dirty="0" err="1">
                <a:solidFill>
                  <a:schemeClr val="hlink"/>
                </a:solidFill>
              </a:rPr>
              <a:t>numOfInstances</a:t>
            </a:r>
            <a:r>
              <a:rPr lang="en-US" altLang="el-GR" sz="2800" dirty="0">
                <a:solidFill>
                  <a:schemeClr val="hlink"/>
                </a:solidFill>
              </a:rPr>
              <a:t>;</a:t>
            </a:r>
            <a:endParaRPr lang="el-GR" altLang="el-GR" sz="2800" dirty="0">
              <a:solidFill>
                <a:schemeClr val="hlink"/>
              </a:solidFill>
            </a:endParaRPr>
          </a:p>
          <a:p>
            <a:pPr lvl="1"/>
            <a:r>
              <a:rPr lang="en-US" altLang="el-GR" sz="2800" dirty="0">
                <a:solidFill>
                  <a:schemeClr val="hlink"/>
                </a:solidFill>
              </a:rPr>
              <a:t>public Student(…)</a:t>
            </a:r>
            <a:r>
              <a:rPr lang="el-GR" altLang="el-GR" sz="2800" dirty="0">
                <a:solidFill>
                  <a:schemeClr val="hlink"/>
                </a:solidFill>
              </a:rPr>
              <a:t> {   }</a:t>
            </a:r>
            <a:r>
              <a:rPr lang="en-US" altLang="el-GR" sz="2800" dirty="0">
                <a:solidFill>
                  <a:schemeClr val="hlink"/>
                </a:solidFill>
              </a:rPr>
              <a:t>;</a:t>
            </a:r>
            <a:endParaRPr lang="el-GR" altLang="el-GR" sz="2800" dirty="0">
              <a:solidFill>
                <a:schemeClr val="hlink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2800" dirty="0">
                <a:solidFill>
                  <a:srgbClr val="128F05"/>
                </a:solidFill>
              </a:rPr>
              <a:t>int </a:t>
            </a:r>
            <a:r>
              <a:rPr lang="en-US" altLang="el-GR" sz="2800" dirty="0" err="1">
                <a:solidFill>
                  <a:srgbClr val="128F05"/>
                </a:solidFill>
              </a:rPr>
              <a:t>yearOfStudy</a:t>
            </a:r>
            <a:r>
              <a:rPr lang="en-US" altLang="el-GR" sz="2800" dirty="0">
                <a:solidFill>
                  <a:srgbClr val="128F05"/>
                </a:solidFill>
              </a:rPr>
              <a:t>()</a:t>
            </a:r>
            <a:r>
              <a:rPr lang="el-GR" altLang="el-GR" sz="2800" dirty="0">
                <a:solidFill>
                  <a:srgbClr val="128F05"/>
                </a:solidFill>
              </a:rPr>
              <a:t> {   }</a:t>
            </a:r>
            <a:r>
              <a:rPr lang="en-US" altLang="el-GR" sz="2800" dirty="0">
                <a:solidFill>
                  <a:srgbClr val="128F05"/>
                </a:solidFill>
              </a:rPr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2800" b="1" dirty="0">
                <a:solidFill>
                  <a:srgbClr val="800000"/>
                </a:solidFill>
              </a:rPr>
              <a:t>static</a:t>
            </a:r>
            <a:r>
              <a:rPr lang="en-US" altLang="el-GR" sz="2800" dirty="0">
                <a:solidFill>
                  <a:schemeClr val="hlink"/>
                </a:solidFill>
              </a:rPr>
              <a:t> int </a:t>
            </a:r>
            <a:r>
              <a:rPr lang="en-US" altLang="el-GR" sz="2800" dirty="0" err="1">
                <a:solidFill>
                  <a:schemeClr val="hlink"/>
                </a:solidFill>
              </a:rPr>
              <a:t>getNumOfInstances</a:t>
            </a:r>
            <a:r>
              <a:rPr lang="en-US" altLang="el-GR" sz="2800" dirty="0">
                <a:solidFill>
                  <a:schemeClr val="hlink"/>
                </a:solidFill>
              </a:rPr>
              <a:t>()</a:t>
            </a:r>
            <a:r>
              <a:rPr lang="el-GR" altLang="el-GR" sz="2800" dirty="0">
                <a:solidFill>
                  <a:schemeClr val="hlink"/>
                </a:solidFill>
              </a:rPr>
              <a:t> {   }</a:t>
            </a:r>
            <a:r>
              <a:rPr lang="en-US" altLang="el-GR" sz="2800" dirty="0">
                <a:solidFill>
                  <a:schemeClr val="hlink"/>
                </a:solidFill>
              </a:rPr>
              <a:t>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2800" dirty="0">
                <a:solidFill>
                  <a:schemeClr val="tx2"/>
                </a:solidFill>
              </a:rPr>
              <a:t>}</a:t>
            </a:r>
            <a:endParaRPr lang="en-GB" altLang="el-GR" sz="2800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175F81-9CAE-1980-924E-7BCECAEE80C6}"/>
              </a:ext>
            </a:extLst>
          </p:cNvPr>
          <p:cNvSpPr/>
          <p:nvPr/>
        </p:nvSpPr>
        <p:spPr>
          <a:xfrm>
            <a:off x="263579" y="4280726"/>
            <a:ext cx="7359804" cy="1636895"/>
          </a:xfrm>
          <a:prstGeom prst="rect">
            <a:avLst/>
          </a:prstGeom>
          <a:solidFill>
            <a:srgbClr val="B3CDB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Class Declaration</a:t>
            </a:r>
            <a:endParaRPr lang="el-GR" sz="2400" dirty="0"/>
          </a:p>
          <a:p>
            <a:r>
              <a:rPr lang="en-US" sz="2400" i="1" dirty="0"/>
              <a:t>class-modifier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C00000"/>
                </a:solidFill>
              </a:rPr>
              <a:t>class</a:t>
            </a:r>
            <a:r>
              <a:rPr lang="en-US" sz="2400" dirty="0"/>
              <a:t> </a:t>
            </a:r>
            <a:r>
              <a:rPr lang="en-US" sz="2400" dirty="0" err="1"/>
              <a:t>ClassName</a:t>
            </a:r>
            <a:r>
              <a:rPr lang="en-US" sz="2400" dirty="0"/>
              <a:t> </a:t>
            </a:r>
            <a:r>
              <a:rPr lang="en-US" sz="2400" i="1" dirty="0">
                <a:solidFill>
                  <a:srgbClr val="C00000"/>
                </a:solidFill>
              </a:rPr>
              <a:t>extends</a:t>
            </a:r>
            <a:r>
              <a:rPr lang="en-US" sz="2400" dirty="0"/>
              <a:t> …. </a:t>
            </a:r>
            <a:r>
              <a:rPr lang="en-US" sz="2400" i="1" dirty="0">
                <a:solidFill>
                  <a:srgbClr val="C00000"/>
                </a:solidFill>
              </a:rPr>
              <a:t>implements</a:t>
            </a:r>
            <a:r>
              <a:rPr lang="en-US" sz="2400" dirty="0"/>
              <a:t> … </a:t>
            </a:r>
            <a:r>
              <a:rPr lang="en-US" sz="2400" b="1" dirty="0"/>
              <a:t>{</a:t>
            </a:r>
            <a:r>
              <a:rPr lang="en-US" sz="2400" dirty="0"/>
              <a:t> </a:t>
            </a:r>
          </a:p>
          <a:p>
            <a:r>
              <a:rPr lang="en-US" sz="2400" dirty="0"/>
              <a:t>       </a:t>
            </a:r>
            <a:r>
              <a:rPr lang="el-GR" sz="2400" dirty="0"/>
              <a:t>// </a:t>
            </a:r>
            <a:r>
              <a:rPr lang="en-US" sz="2400" dirty="0"/>
              <a:t>Class Body</a:t>
            </a:r>
          </a:p>
          <a:p>
            <a:r>
              <a:rPr lang="en-US" sz="2400" dirty="0"/>
              <a:t>      //declarations of fields,</a:t>
            </a:r>
            <a:r>
              <a:rPr lang="el-GR" sz="2400" dirty="0"/>
              <a:t> </a:t>
            </a:r>
            <a:r>
              <a:rPr lang="en-US" sz="2400" dirty="0"/>
              <a:t>constructors, methods</a:t>
            </a:r>
          </a:p>
          <a:p>
            <a:r>
              <a:rPr lang="en-US" sz="2400" b="1" dirty="0"/>
              <a:t>}</a:t>
            </a:r>
            <a:endParaRPr lang="el-GR" sz="2400" b="1" dirty="0"/>
          </a:p>
          <a:p>
            <a:endParaRPr lang="el-GR" sz="2400" dirty="0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4275A1B4-C773-5397-8936-4587FB35055D}"/>
              </a:ext>
            </a:extLst>
          </p:cNvPr>
          <p:cNvSpPr>
            <a:spLocks/>
          </p:cNvSpPr>
          <p:nvPr/>
        </p:nvSpPr>
        <p:spPr bwMode="auto">
          <a:xfrm>
            <a:off x="5594755" y="1043020"/>
            <a:ext cx="4537075" cy="576262"/>
          </a:xfrm>
          <a:prstGeom prst="borderCallout2">
            <a:avLst>
              <a:gd name="adj1" fmla="val 19833"/>
              <a:gd name="adj2" fmla="val -1681"/>
              <a:gd name="adj3" fmla="val 19833"/>
              <a:gd name="adj4" fmla="val -1681"/>
              <a:gd name="adj5" fmla="val 143390"/>
              <a:gd name="adj6" fmla="val -81590"/>
            </a:avLst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lang="en-US" altLang="el-GR" dirty="0"/>
              <a:t>Data member </a:t>
            </a:r>
            <a:r>
              <a:rPr lang="el-GR" altLang="el-GR" dirty="0"/>
              <a:t>στιγμιότυπου</a:t>
            </a:r>
          </a:p>
          <a:p>
            <a:pPr algn="ctr" eaLnBrk="1" hangingPunct="1">
              <a:lnSpc>
                <a:spcPct val="80000"/>
              </a:lnSpc>
            </a:pPr>
            <a:r>
              <a:rPr lang="el-GR" altLang="el-GR" sz="1800" dirty="0"/>
              <a:t>Προσδιορίζει δομή στιγμιότυπου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9208E49A-A384-F562-5858-33E91136BBDF}"/>
              </a:ext>
            </a:extLst>
          </p:cNvPr>
          <p:cNvSpPr>
            <a:spLocks/>
          </p:cNvSpPr>
          <p:nvPr/>
        </p:nvSpPr>
        <p:spPr bwMode="auto">
          <a:xfrm>
            <a:off x="7500257" y="1789912"/>
            <a:ext cx="4133751" cy="576262"/>
          </a:xfrm>
          <a:prstGeom prst="borderCallout2">
            <a:avLst>
              <a:gd name="adj1" fmla="val 19833"/>
              <a:gd name="adj2" fmla="val -1681"/>
              <a:gd name="adj3" fmla="val 19833"/>
              <a:gd name="adj4" fmla="val -1681"/>
              <a:gd name="adj5" fmla="val 83598"/>
              <a:gd name="adj6" fmla="val -68113"/>
            </a:avLst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n-US" altLang="el-GR" dirty="0"/>
              <a:t>Data member</a:t>
            </a:r>
            <a:r>
              <a:rPr lang="el-GR" altLang="el-GR" dirty="0"/>
              <a:t> κλάσης</a:t>
            </a:r>
          </a:p>
          <a:p>
            <a:pPr algn="ctr">
              <a:lnSpc>
                <a:spcPct val="80000"/>
              </a:lnSpc>
            </a:pPr>
            <a:r>
              <a:rPr lang="el-GR" altLang="el-GR" sz="1800" dirty="0"/>
              <a:t>Προσδιορίζει δομή κλάσης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1D8909BC-FBDC-1647-A061-E3DC5AFCBD04}"/>
              </a:ext>
            </a:extLst>
          </p:cNvPr>
          <p:cNvSpPr>
            <a:spLocks/>
          </p:cNvSpPr>
          <p:nvPr/>
        </p:nvSpPr>
        <p:spPr bwMode="auto">
          <a:xfrm>
            <a:off x="7791523" y="4214102"/>
            <a:ext cx="4259807" cy="647700"/>
          </a:xfrm>
          <a:prstGeom prst="borderCallout2">
            <a:avLst>
              <a:gd name="adj1" fmla="val 17648"/>
              <a:gd name="adj2" fmla="val -2074"/>
              <a:gd name="adj3" fmla="val 17648"/>
              <a:gd name="adj4" fmla="val -2074"/>
              <a:gd name="adj5" fmla="val -95559"/>
              <a:gd name="adj6" fmla="val -51748"/>
            </a:avLst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l-GR" altLang="el-GR" dirty="0"/>
              <a:t>Μέθοδος κλάσης</a:t>
            </a:r>
          </a:p>
          <a:p>
            <a:pPr algn="ctr">
              <a:lnSpc>
                <a:spcPct val="80000"/>
              </a:lnSpc>
            </a:pPr>
            <a:r>
              <a:rPr lang="el-GR" altLang="el-GR" sz="1800" dirty="0"/>
              <a:t>Προσδιορίζει συμπεριφορά μεθόδου</a:t>
            </a:r>
          </a:p>
        </p:txBody>
      </p:sp>
      <p:sp>
        <p:nvSpPr>
          <p:cNvPr id="16" name="AutoShape 8">
            <a:extLst>
              <a:ext uri="{FF2B5EF4-FFF2-40B4-BE49-F238E27FC236}">
                <a16:creationId xmlns:a16="http://schemas.microsoft.com/office/drawing/2014/main" id="{6AC33566-35DE-E462-D24A-E9E78BF937F8}"/>
              </a:ext>
            </a:extLst>
          </p:cNvPr>
          <p:cNvSpPr>
            <a:spLocks/>
          </p:cNvSpPr>
          <p:nvPr/>
        </p:nvSpPr>
        <p:spPr bwMode="auto">
          <a:xfrm>
            <a:off x="7347473" y="3369978"/>
            <a:ext cx="4642301" cy="503237"/>
          </a:xfrm>
          <a:prstGeom prst="borderCallout2">
            <a:avLst>
              <a:gd name="adj1" fmla="val 22713"/>
              <a:gd name="adj2" fmla="val -2116"/>
              <a:gd name="adj3" fmla="val 22713"/>
              <a:gd name="adj4" fmla="val -2116"/>
              <a:gd name="adj5" fmla="val -48471"/>
              <a:gd name="adj6" fmla="val -73991"/>
            </a:avLst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l-GR" altLang="el-GR" dirty="0"/>
              <a:t>Μέθοδος στιγμιότυπου</a:t>
            </a:r>
          </a:p>
          <a:p>
            <a:pPr algn="ctr">
              <a:lnSpc>
                <a:spcPct val="80000"/>
              </a:lnSpc>
            </a:pPr>
            <a:r>
              <a:rPr lang="el-GR" altLang="el-GR" sz="1800" dirty="0"/>
              <a:t>Προσδιορίζει συμπεριφορά στιγμιότυπου</a:t>
            </a:r>
          </a:p>
        </p:txBody>
      </p:sp>
      <p:sp>
        <p:nvSpPr>
          <p:cNvPr id="17" name="AutoShape 9">
            <a:extLst>
              <a:ext uri="{FF2B5EF4-FFF2-40B4-BE49-F238E27FC236}">
                <a16:creationId xmlns:a16="http://schemas.microsoft.com/office/drawing/2014/main" id="{69D3ACB9-2C3D-D3BE-F398-4592C982EDC1}"/>
              </a:ext>
            </a:extLst>
          </p:cNvPr>
          <p:cNvSpPr>
            <a:spLocks/>
          </p:cNvSpPr>
          <p:nvPr/>
        </p:nvSpPr>
        <p:spPr bwMode="auto">
          <a:xfrm>
            <a:off x="7149770" y="2497610"/>
            <a:ext cx="4537075" cy="649288"/>
          </a:xfrm>
          <a:prstGeom prst="borderCallout2">
            <a:avLst>
              <a:gd name="adj1" fmla="val 17602"/>
              <a:gd name="adj2" fmla="val -2157"/>
              <a:gd name="adj3" fmla="val 17602"/>
              <a:gd name="adj4" fmla="val -2157"/>
              <a:gd name="adj5" fmla="val 35772"/>
              <a:gd name="adj6" fmla="val -68477"/>
            </a:avLst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80000"/>
              </a:lnSpc>
            </a:pPr>
            <a:r>
              <a:rPr lang="el-GR" altLang="el-GR" dirty="0"/>
              <a:t>Δημιουργός</a:t>
            </a:r>
          </a:p>
          <a:p>
            <a:pPr algn="ctr">
              <a:lnSpc>
                <a:spcPct val="80000"/>
              </a:lnSpc>
            </a:pPr>
            <a:r>
              <a:rPr lang="el-GR" altLang="el-GR" sz="1800" dirty="0"/>
              <a:t>Μέθοδος για την δημιουργία στιγμιότυπων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1F1769-1CE6-7721-48EF-00757FFEA90C}"/>
              </a:ext>
            </a:extLst>
          </p:cNvPr>
          <p:cNvSpPr txBox="1"/>
          <p:nvPr/>
        </p:nvSpPr>
        <p:spPr>
          <a:xfrm>
            <a:off x="5677268" y="5867377"/>
            <a:ext cx="65147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https://docs.oracle.com/javase/tutorial/java/javaOO/classdecl.html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444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E26DB777-2335-FA66-7A3F-D92F133E0F9D}"/>
              </a:ext>
            </a:extLst>
          </p:cNvPr>
          <p:cNvSpPr txBox="1">
            <a:spLocks/>
          </p:cNvSpPr>
          <p:nvPr/>
        </p:nvSpPr>
        <p:spPr>
          <a:xfrm>
            <a:off x="3305908" y="6559909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LEGO Approach</a:t>
            </a:r>
            <a:endParaRPr kumimoji="0" lang="el-G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68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13376</TotalTime>
  <Words>1576</Words>
  <Application>Microsoft Office PowerPoint</Application>
  <PresentationFormat>Widescreen</PresentationFormat>
  <Paragraphs>271</Paragraphs>
  <Slides>24</Slides>
  <Notes>24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Wingdings</vt:lpstr>
      <vt:lpstr>Προσαρμοσμένη σχεδίαση</vt:lpstr>
      <vt:lpstr>Θέμα του Office</vt:lpstr>
      <vt:lpstr>PowerPoint Presentation</vt:lpstr>
      <vt:lpstr>Οργάνωση Διάλεξης</vt:lpstr>
      <vt:lpstr>H προσέγγιση LEGO </vt:lpstr>
      <vt:lpstr>H προσέγγιση LEGO - Προυποθέσεις </vt:lpstr>
      <vt:lpstr>H Αντικειμενοστρεφής Προσέγγιση … στην ανάπτυξη Συστήματος</vt:lpstr>
      <vt:lpstr>Οργάνωση Διάλεξης</vt:lpstr>
      <vt:lpstr>Η Βασική Βιβλιοθήκη της Java – Java API</vt:lpstr>
      <vt:lpstr>BlueJ</vt:lpstr>
      <vt:lpstr>Απλές ερωτήσεις</vt:lpstr>
      <vt:lpstr>H κλάση Stack στην βασική βιβλιοθήκη της Java</vt:lpstr>
      <vt:lpstr>H κλάση Double στην βασική βιβλιοθήκη της Java</vt:lpstr>
      <vt:lpstr>PowerPoint Presentation</vt:lpstr>
      <vt:lpstr>Δημιουργία στοίβας (Stack instance) στο BlueJ</vt:lpstr>
      <vt:lpstr>Add 2 instances of Double in st1:Stack</vt:lpstr>
      <vt:lpstr>Οργάνωση Διάλεξης</vt:lpstr>
      <vt:lpstr>H κλάση Double </vt:lpstr>
      <vt:lpstr>Μέθοδος στιγμιότυπου (instance method) </vt:lpstr>
      <vt:lpstr>Η Κλάση ως αντικείμενο</vt:lpstr>
      <vt:lpstr>Μέθοδος Κλάσης (class method) </vt:lpstr>
      <vt:lpstr>Υπογραφή μεθόδου (Method Signature)</vt:lpstr>
      <vt:lpstr>Δημιουργοί (Constructors)</vt:lpstr>
      <vt:lpstr>Fields (πεδία)</vt:lpstr>
      <vt:lpstr>Ένα παράδειγμα κλάσης – Η κλάση Student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PCUser</dc:creator>
  <cp:lastModifiedBy>thrambo@ece.upatras.gr</cp:lastModifiedBy>
  <cp:revision>78</cp:revision>
  <cp:lastPrinted>2023-03-03T11:38:56Z</cp:lastPrinted>
  <dcterms:created xsi:type="dcterms:W3CDTF">2020-03-13T12:21:17Z</dcterms:created>
  <dcterms:modified xsi:type="dcterms:W3CDTF">2024-10-09T06:09:50Z</dcterms:modified>
</cp:coreProperties>
</file>