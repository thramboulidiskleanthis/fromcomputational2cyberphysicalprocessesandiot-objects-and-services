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892" r:id="rId2"/>
    <p:sldMasterId id="2147483904" r:id="rId3"/>
  </p:sldMasterIdLst>
  <p:notesMasterIdLst>
    <p:notesMasterId r:id="rId37"/>
  </p:notesMasterIdLst>
  <p:sldIdLst>
    <p:sldId id="262" r:id="rId4"/>
    <p:sldId id="826" r:id="rId5"/>
    <p:sldId id="853" r:id="rId6"/>
    <p:sldId id="760" r:id="rId7"/>
    <p:sldId id="827" r:id="rId8"/>
    <p:sldId id="828" r:id="rId9"/>
    <p:sldId id="829" r:id="rId10"/>
    <p:sldId id="849" r:id="rId11"/>
    <p:sldId id="830" r:id="rId12"/>
    <p:sldId id="832" r:id="rId13"/>
    <p:sldId id="833" r:id="rId14"/>
    <p:sldId id="834" r:id="rId15"/>
    <p:sldId id="850" r:id="rId16"/>
    <p:sldId id="835" r:id="rId17"/>
    <p:sldId id="836" r:id="rId18"/>
    <p:sldId id="837" r:id="rId19"/>
    <p:sldId id="838" r:id="rId20"/>
    <p:sldId id="373" r:id="rId21"/>
    <p:sldId id="374" r:id="rId22"/>
    <p:sldId id="375" r:id="rId23"/>
    <p:sldId id="851" r:id="rId24"/>
    <p:sldId id="841" r:id="rId25"/>
    <p:sldId id="852" r:id="rId26"/>
    <p:sldId id="842" r:id="rId27"/>
    <p:sldId id="840" r:id="rId28"/>
    <p:sldId id="845" r:id="rId29"/>
    <p:sldId id="846" r:id="rId30"/>
    <p:sldId id="847" r:id="rId31"/>
    <p:sldId id="844" r:id="rId32"/>
    <p:sldId id="843" r:id="rId33"/>
    <p:sldId id="848" r:id="rId34"/>
    <p:sldId id="858" r:id="rId35"/>
    <p:sldId id="859" r:id="rId36"/>
  </p:sldIdLst>
  <p:sldSz cx="12192000" cy="6858000"/>
  <p:notesSz cx="6858000" cy="9144000"/>
  <p:defaultTextStyle>
    <a:defPPr>
      <a:defRPr lang="el-G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3CDBB"/>
    <a:srgbClr val="60D69E"/>
    <a:srgbClr val="869391"/>
    <a:srgbClr val="F9853D"/>
    <a:srgbClr val="FDCBAD"/>
    <a:srgbClr val="FBAD7D"/>
    <a:srgbClr val="61649B"/>
    <a:srgbClr val="E49252"/>
    <a:srgbClr val="FFFFFF"/>
    <a:srgbClr val="2E35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353" autoAdjust="0"/>
    <p:restoredTop sz="77956" autoAdjust="0"/>
  </p:normalViewPr>
  <p:slideViewPr>
    <p:cSldViewPr snapToGrid="0">
      <p:cViewPr varScale="1">
        <p:scale>
          <a:sx n="53" d="100"/>
          <a:sy n="53" d="100"/>
        </p:scale>
        <p:origin x="1074" y="5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viewProps" Target="viewProps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κεφαλίδας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3" name="Θέση ημερομηνίας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120127-9FC1-4D44-BFF2-2F77E5433948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4" name="Θέση εικόνας διαφάνειας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l-GR"/>
          </a:p>
        </p:txBody>
      </p:sp>
      <p:sp>
        <p:nvSpPr>
          <p:cNvPr id="5" name="Θέση σημειώσεων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D89646-4F35-49C2-BD28-89287C170EC3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5486651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1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389721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60725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91319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27884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214184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80713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38565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04756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45734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73982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0203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62868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92222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6764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275602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08236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84832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>
            <a:extLst>
              <a:ext uri="{FF2B5EF4-FFF2-40B4-BE49-F238E27FC236}">
                <a16:creationId xmlns:a16="http://schemas.microsoft.com/office/drawing/2014/main" id="{3A0CC24D-6392-4DC0-9685-660BBEEBD49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3AE1DAA-5B73-4267-9CEA-8A506C13903A}" type="slidenum">
              <a:rPr kumimoji="0" lang="en-GB" altLang="el-GR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GB" altLang="el-GR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6E4B0F5A-3D46-4A74-A0A7-3989297FEE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8695BCDE-3145-4D49-918B-B0CAA506EE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l-GR" dirty="0"/>
          </a:p>
        </p:txBody>
      </p:sp>
    </p:spTree>
    <p:extLst>
      <p:ext uri="{BB962C8B-B14F-4D97-AF65-F5344CB8AC3E}">
        <p14:creationId xmlns:p14="http://schemas.microsoft.com/office/powerpoint/2010/main" val="41948645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>
            <a:extLst>
              <a:ext uri="{FF2B5EF4-FFF2-40B4-BE49-F238E27FC236}">
                <a16:creationId xmlns:a16="http://schemas.microsoft.com/office/drawing/2014/main" id="{3A0CC24D-6392-4DC0-9685-660BBEEBD49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3AE1DAA-5B73-4267-9CEA-8A506C13903A}" type="slidenum">
              <a:rPr kumimoji="0" lang="en-GB" altLang="el-GR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GB" altLang="el-GR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6E4B0F5A-3D46-4A74-A0A7-3989297FEE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8695BCDE-3145-4D49-918B-B0CAA506EE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l-GR" dirty="0"/>
          </a:p>
        </p:txBody>
      </p:sp>
    </p:spTree>
    <p:extLst>
      <p:ext uri="{BB962C8B-B14F-4D97-AF65-F5344CB8AC3E}">
        <p14:creationId xmlns:p14="http://schemas.microsoft.com/office/powerpoint/2010/main" val="13518058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>
            <a:extLst>
              <a:ext uri="{FF2B5EF4-FFF2-40B4-BE49-F238E27FC236}">
                <a16:creationId xmlns:a16="http://schemas.microsoft.com/office/drawing/2014/main" id="{3A0CC24D-6392-4DC0-9685-660BBEEBD49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3AE1DAA-5B73-4267-9CEA-8A506C13903A}" type="slidenum">
              <a:rPr kumimoji="0" lang="en-GB" altLang="el-GR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GB" altLang="el-GR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6E4B0F5A-3D46-4A74-A0A7-3989297FEE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8695BCDE-3145-4D49-918B-B0CAA506EE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l-GR" dirty="0"/>
          </a:p>
        </p:txBody>
      </p:sp>
    </p:spTree>
    <p:extLst>
      <p:ext uri="{BB962C8B-B14F-4D97-AF65-F5344CB8AC3E}">
        <p14:creationId xmlns:p14="http://schemas.microsoft.com/office/powerpoint/2010/main" val="42976476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323445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760338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497758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111812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435739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505927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075056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281009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840318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620187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734748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334773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17980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1720F0C6-20AC-41EB-97A9-F4D49B814E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Υπότιτλος 2">
            <a:extLst>
              <a:ext uri="{FF2B5EF4-FFF2-40B4-BE49-F238E27FC236}">
                <a16:creationId xmlns:a16="http://schemas.microsoft.com/office/drawing/2014/main" id="{E32E3D7A-E6B7-4F3B-A3A4-4325517390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l-GR"/>
              <a:t>Κάντε κλικ για να επεξεργαστείτε τον υπότιτλο του υποδείγματος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5913F9FC-9EB9-4B41-B003-FC4C036B1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3FB8E113-6156-4872-81CC-442E8373B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76173B9A-A0EA-47D7-8D18-B6E2BD95D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992271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AFF7B4CC-9312-4102-9C7A-DD5776C36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59207E59-B014-409F-8E39-F07CF6FA45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D28C698E-FDE3-406F-AEF7-58C354D6F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1DBB6EE0-1F7E-4C3D-8524-627F4FAB7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115A0C17-4537-4F4D-B727-1C89BF11B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202150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0FAD7298-5AF8-4835-97EB-C16ED6D23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3D2EC4FE-ACD0-4F71-A34B-36ED905061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/>
              <a:t>Επεξεργασία στυλ υποδείγματος κειμένου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0525369C-E8DA-4A41-A021-C2AFFA6BA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09E6631D-4B2B-42B6-B88C-990FA7605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54B4A319-5C9B-46DF-96B8-F30BC39F7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941774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8DD86A31-D5EC-46FA-A235-F151422FA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052F68FD-8072-4020-B6C4-C8DEF5ACC9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περιεχομένου 3">
            <a:extLst>
              <a:ext uri="{FF2B5EF4-FFF2-40B4-BE49-F238E27FC236}">
                <a16:creationId xmlns:a16="http://schemas.microsoft.com/office/drawing/2014/main" id="{CB43AF00-F0E0-4F57-8814-5AB4B0C031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89D9695B-1677-4255-A36B-ADA53963E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32F05351-67C2-46C6-A91C-414650F2C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7D2959A3-E6A4-4BB0-BE95-F23CF5F56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298740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41550276-9848-4578-8364-691220AD2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11C9CFA5-81EF-4418-9CE2-C9EB8CE5F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Επεξεργασία στυλ υποδείγματος κειμένου</a:t>
            </a:r>
          </a:p>
        </p:txBody>
      </p:sp>
      <p:sp>
        <p:nvSpPr>
          <p:cNvPr id="4" name="Θέση περιεχομένου 3">
            <a:extLst>
              <a:ext uri="{FF2B5EF4-FFF2-40B4-BE49-F238E27FC236}">
                <a16:creationId xmlns:a16="http://schemas.microsoft.com/office/drawing/2014/main" id="{8144BA92-B3F1-426D-9721-D505666C52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5" name="Θέση κειμένου 4">
            <a:extLst>
              <a:ext uri="{FF2B5EF4-FFF2-40B4-BE49-F238E27FC236}">
                <a16:creationId xmlns:a16="http://schemas.microsoft.com/office/drawing/2014/main" id="{34964523-2FE6-420B-BF7F-3ED5906588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Επεξεργασία στυλ υποδείγματος κειμένου</a:t>
            </a:r>
          </a:p>
        </p:txBody>
      </p:sp>
      <p:sp>
        <p:nvSpPr>
          <p:cNvPr id="6" name="Θέση περιεχομένου 5">
            <a:extLst>
              <a:ext uri="{FF2B5EF4-FFF2-40B4-BE49-F238E27FC236}">
                <a16:creationId xmlns:a16="http://schemas.microsoft.com/office/drawing/2014/main" id="{4EE8D821-AC0B-4F1C-AC1B-68CAEA6E8C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7" name="Θέση ημερομηνίας 6">
            <a:extLst>
              <a:ext uri="{FF2B5EF4-FFF2-40B4-BE49-F238E27FC236}">
                <a16:creationId xmlns:a16="http://schemas.microsoft.com/office/drawing/2014/main" id="{0836FDB2-AE28-437A-B450-FC5FA0970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8" name="Θέση υποσέλιδου 7">
            <a:extLst>
              <a:ext uri="{FF2B5EF4-FFF2-40B4-BE49-F238E27FC236}">
                <a16:creationId xmlns:a16="http://schemas.microsoft.com/office/drawing/2014/main" id="{3CC56F37-5360-4ED6-9EFB-B4959D6A0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9" name="Θέση αριθμού διαφάνειας 8">
            <a:extLst>
              <a:ext uri="{FF2B5EF4-FFF2-40B4-BE49-F238E27FC236}">
                <a16:creationId xmlns:a16="http://schemas.microsoft.com/office/drawing/2014/main" id="{8423FDBB-6E0A-4AD0-AD73-FB22040EE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885239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12BE337C-659B-44A0-815E-1CE7F2FDB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ημερομηνίας 2">
            <a:extLst>
              <a:ext uri="{FF2B5EF4-FFF2-40B4-BE49-F238E27FC236}">
                <a16:creationId xmlns:a16="http://schemas.microsoft.com/office/drawing/2014/main" id="{59D7B6A3-3626-4AD7-97D4-F6210A237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D50B290B-CDC6-4F07-927A-EB7F796E2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5AD0E512-8E7A-4A77-8496-D36864CFC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224460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ημερομηνίας 1">
            <a:extLst>
              <a:ext uri="{FF2B5EF4-FFF2-40B4-BE49-F238E27FC236}">
                <a16:creationId xmlns:a16="http://schemas.microsoft.com/office/drawing/2014/main" id="{05F803E6-97F1-4D9B-A18A-566A4A16D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3" name="Θέση υποσέλιδου 2">
            <a:extLst>
              <a:ext uri="{FF2B5EF4-FFF2-40B4-BE49-F238E27FC236}">
                <a16:creationId xmlns:a16="http://schemas.microsoft.com/office/drawing/2014/main" id="{D16003C0-6EB6-4C9B-A531-7B4E3CE4C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2EA301AA-05AA-466A-BB11-E4CEB6F9F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706581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FEAAEFBB-DCF4-46CF-9FC6-8D65BCEB9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DFACB05B-E524-44F7-BF66-694B0E3338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κειμένου 3">
            <a:extLst>
              <a:ext uri="{FF2B5EF4-FFF2-40B4-BE49-F238E27FC236}">
                <a16:creationId xmlns:a16="http://schemas.microsoft.com/office/drawing/2014/main" id="{5473C60C-80C9-4542-852E-B22F6BA607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Επεξεργασία στυλ υποδείγματος κειμένου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5209058B-2FCA-4D37-A928-B77A09F78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2F8D9052-7B1B-4DEA-BE59-76E1CA206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7F7BFCBB-BB2D-41CB-8EF4-1D6154D05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546440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7AA72A12-B4CE-41C0-824E-4DB22C0C5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εικόνας 2">
            <a:extLst>
              <a:ext uri="{FF2B5EF4-FFF2-40B4-BE49-F238E27FC236}">
                <a16:creationId xmlns:a16="http://schemas.microsoft.com/office/drawing/2014/main" id="{4331ABF6-AF41-4DA6-82BC-340BA63822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l-GR"/>
          </a:p>
        </p:txBody>
      </p:sp>
      <p:sp>
        <p:nvSpPr>
          <p:cNvPr id="4" name="Θέση κειμένου 3">
            <a:extLst>
              <a:ext uri="{FF2B5EF4-FFF2-40B4-BE49-F238E27FC236}">
                <a16:creationId xmlns:a16="http://schemas.microsoft.com/office/drawing/2014/main" id="{D4AD854A-F202-4241-AFA5-8F8D5175F3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Επεξεργασία στυλ υποδείγματος κειμένου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D2D25601-E5C6-4DAA-A438-750D7B0C4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C1A411BF-7CE1-4136-85D0-CEA759EB3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EBD64BFB-00A3-49A7-B9AF-C93C938A5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06863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7CBF383B-9D9C-4567-A73F-3964FF66D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ατακόρυφου κειμένου 2">
            <a:extLst>
              <a:ext uri="{FF2B5EF4-FFF2-40B4-BE49-F238E27FC236}">
                <a16:creationId xmlns:a16="http://schemas.microsoft.com/office/drawing/2014/main" id="{42568873-5978-4A13-BA12-F77F173EB2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788EFFCE-A34B-4F95-B3D5-603927E16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1BE576DF-BE6C-4DE7-BDD8-60E8F026D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74B323CB-AAB1-4C9E-AE28-C6179CB9C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99656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Κατακόρυφος τίτλος 1">
            <a:extLst>
              <a:ext uri="{FF2B5EF4-FFF2-40B4-BE49-F238E27FC236}">
                <a16:creationId xmlns:a16="http://schemas.microsoft.com/office/drawing/2014/main" id="{E176F3CB-2A60-46CD-8CF9-DD053E08C8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ατακόρυφου κειμένου 2">
            <a:extLst>
              <a:ext uri="{FF2B5EF4-FFF2-40B4-BE49-F238E27FC236}">
                <a16:creationId xmlns:a16="http://schemas.microsoft.com/office/drawing/2014/main" id="{62F4BEC8-6DEB-41E5-B12D-18B14C6B0A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CC7DD041-7F64-4984-A13C-EE7907028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6502BD5F-24B7-4FDD-BD59-39295F573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4E0B5687-7B67-47CF-995B-36EF0D417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997139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l-GR"/>
              <a:t>Στυλ κύριου τίτλου</a:t>
            </a:r>
          </a:p>
        </p:txBody>
      </p:sp>
      <p:sp>
        <p:nvSpPr>
          <p:cNvPr id="3" name="Υπότιτλος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l-GR"/>
              <a:t>Στυλ κύριου υπότιτλου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424216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περιεχομένου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410095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l-GR"/>
              <a:t>Στυλ κύριου τίτλου</a:t>
            </a:r>
          </a:p>
        </p:txBody>
      </p:sp>
      <p:sp>
        <p:nvSpPr>
          <p:cNvPr id="3" name="Θέση κειμένου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/>
              <a:t>Στυλ υποδείγματος κειμένου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52586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περιεχομένου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περιεχομένου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5" name="Θέση ημερομηνίας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4143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κειμένου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υποδείγματος κειμένου</a:t>
            </a:r>
          </a:p>
        </p:txBody>
      </p:sp>
      <p:sp>
        <p:nvSpPr>
          <p:cNvPr id="4" name="Θέση περιεχομένου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5" name="Θέση κειμένου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υποδείγματος κειμένου</a:t>
            </a:r>
          </a:p>
        </p:txBody>
      </p:sp>
      <p:sp>
        <p:nvSpPr>
          <p:cNvPr id="6" name="Θέση περιεχομένου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7" name="Θέση ημερομηνίας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8" name="Θέση υποσέλιδου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9" name="Θέση αριθμού διαφάνειας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26135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ημερομηνίας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4" name="Θέση υποσέλιδου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5" name="Θέση αριθμού διαφάνειας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127422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ημερομηνίας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3" name="Θέση υποσέλιδου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55293900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Στυλ κύριου τίτλου</a:t>
            </a:r>
          </a:p>
        </p:txBody>
      </p:sp>
      <p:sp>
        <p:nvSpPr>
          <p:cNvPr id="3" name="Θέση περιεχομένου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κειμένου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υποδείγματος κειμένου</a:t>
            </a:r>
          </a:p>
        </p:txBody>
      </p:sp>
      <p:sp>
        <p:nvSpPr>
          <p:cNvPr id="5" name="Θέση ημερομηνίας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076569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Στυλ κύριου τίτλου</a:t>
            </a:r>
          </a:p>
        </p:txBody>
      </p:sp>
      <p:sp>
        <p:nvSpPr>
          <p:cNvPr id="3" name="Θέση εικόνας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l-GR"/>
          </a:p>
        </p:txBody>
      </p:sp>
      <p:sp>
        <p:nvSpPr>
          <p:cNvPr id="4" name="Θέση κειμένου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υποδείγματος κειμένου</a:t>
            </a:r>
          </a:p>
        </p:txBody>
      </p:sp>
      <p:sp>
        <p:nvSpPr>
          <p:cNvPr id="5" name="Θέση ημερομηνίας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457923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κατακόρυφου κειμένου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728904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Κατακόρυφος τίτλος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κατακόρυφου κειμένου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327019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9EFECA5E-957A-4A2D-AB6E-794C7B55FFEF}"/>
              </a:ext>
            </a:extLst>
          </p:cNvPr>
          <p:cNvGrpSpPr>
            <a:grpSpLocks/>
          </p:cNvGrpSpPr>
          <p:nvPr/>
        </p:nvGrpSpPr>
        <p:grpSpPr bwMode="auto">
          <a:xfrm>
            <a:off x="1" y="2438401"/>
            <a:ext cx="12012084" cy="1052513"/>
            <a:chOff x="0" y="1536"/>
            <a:chExt cx="5675" cy="663"/>
          </a:xfrm>
        </p:grpSpPr>
        <p:grpSp>
          <p:nvGrpSpPr>
            <p:cNvPr id="5" name="Group 3">
              <a:extLst>
                <a:ext uri="{FF2B5EF4-FFF2-40B4-BE49-F238E27FC236}">
                  <a16:creationId xmlns:a16="http://schemas.microsoft.com/office/drawing/2014/main" id="{020F7F5A-0282-4C69-B93D-EB2FDD0B50C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>
                <a:extLst>
                  <a:ext uri="{FF2B5EF4-FFF2-40B4-BE49-F238E27FC236}">
                    <a16:creationId xmlns:a16="http://schemas.microsoft.com/office/drawing/2014/main" id="{98610DC5-C0A5-4A12-857A-29EFE85995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l-GR" altLang="el-GR" sz="2400"/>
              </a:p>
            </p:txBody>
          </p:sp>
          <p:sp>
            <p:nvSpPr>
              <p:cNvPr id="13" name="Rectangle 5">
                <a:extLst>
                  <a:ext uri="{FF2B5EF4-FFF2-40B4-BE49-F238E27FC236}">
                    <a16:creationId xmlns:a16="http://schemas.microsoft.com/office/drawing/2014/main" id="{05679BF8-60F7-4A70-A61A-163D0EFFE7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l-GR" altLang="el-GR" sz="2400"/>
              </a:p>
            </p:txBody>
          </p:sp>
        </p:grp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FC653C9D-E691-467B-9BBD-EA673EE8DC1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>
                <a:extLst>
                  <a:ext uri="{FF2B5EF4-FFF2-40B4-BE49-F238E27FC236}">
                    <a16:creationId xmlns:a16="http://schemas.microsoft.com/office/drawing/2014/main" id="{4F1AB646-3BC4-4B8F-B755-C627167E71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l-GR" altLang="el-GR" sz="2400"/>
              </a:p>
            </p:txBody>
          </p:sp>
          <p:sp>
            <p:nvSpPr>
              <p:cNvPr id="11" name="Rectangle 8">
                <a:extLst>
                  <a:ext uri="{FF2B5EF4-FFF2-40B4-BE49-F238E27FC236}">
                    <a16:creationId xmlns:a16="http://schemas.microsoft.com/office/drawing/2014/main" id="{F8A76710-AF37-4255-863C-C465A76942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l-GR" altLang="el-GR" sz="2400"/>
              </a:p>
            </p:txBody>
          </p:sp>
        </p:grpSp>
        <p:sp>
          <p:nvSpPr>
            <p:cNvPr id="7" name="Rectangle 9">
              <a:extLst>
                <a:ext uri="{FF2B5EF4-FFF2-40B4-BE49-F238E27FC236}">
                  <a16:creationId xmlns:a16="http://schemas.microsoft.com/office/drawing/2014/main" id="{4FAFD702-ABD8-44C0-A633-FEC9DD27AC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el-GR" altLang="el-GR" sz="2400"/>
            </a:p>
          </p:txBody>
        </p:sp>
        <p:sp>
          <p:nvSpPr>
            <p:cNvPr id="8" name="Rectangle 10">
              <a:extLst>
                <a:ext uri="{FF2B5EF4-FFF2-40B4-BE49-F238E27FC236}">
                  <a16:creationId xmlns:a16="http://schemas.microsoft.com/office/drawing/2014/main" id="{E49F83FB-D896-4D71-94A8-7CD7BF24CF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el-GR" altLang="el-GR" sz="2400"/>
            </a:p>
          </p:txBody>
        </p:sp>
        <p:sp>
          <p:nvSpPr>
            <p:cNvPr id="9" name="Rectangle 11">
              <a:extLst>
                <a:ext uri="{FF2B5EF4-FFF2-40B4-BE49-F238E27FC236}">
                  <a16:creationId xmlns:a16="http://schemas.microsoft.com/office/drawing/2014/main" id="{1DF31468-85CC-4015-A149-85F3FD17B0F0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el-GR" altLang="el-GR" sz="2400"/>
            </a:p>
          </p:txBody>
        </p:sp>
      </p:grpSp>
      <p:sp>
        <p:nvSpPr>
          <p:cNvPr id="410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1320800" y="182880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410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38DCF2CA-23CC-4063-960E-D02AC3E2B3F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1320800" y="6248400"/>
            <a:ext cx="2540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5" name="Rectangle 15">
            <a:extLst>
              <a:ext uri="{FF2B5EF4-FFF2-40B4-BE49-F238E27FC236}">
                <a16:creationId xmlns:a16="http://schemas.microsoft.com/office/drawing/2014/main" id="{6F745769-06F3-4B72-87B9-941CF2E5E64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4572000" y="6248400"/>
            <a:ext cx="38608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34627C9B-1CA1-466B-B8A2-5304DFBC9F3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9144000" y="6248400"/>
            <a:ext cx="2540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342B63CC-7135-4870-B357-7755F93046E5}" type="slidenum">
              <a:rPr lang="en-GB" altLang="el-GR"/>
              <a:pPr>
                <a:defRPr/>
              </a:pPr>
              <a:t>‹#›</a:t>
            </a:fld>
            <a:endParaRPr lang="en-GB" altLang="el-GR"/>
          </a:p>
        </p:txBody>
      </p:sp>
    </p:spTree>
    <p:extLst>
      <p:ext uri="{BB962C8B-B14F-4D97-AF65-F5344CB8AC3E}">
        <p14:creationId xmlns:p14="http://schemas.microsoft.com/office/powerpoint/2010/main" val="344637628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>
            <a:extLst>
              <a:ext uri="{FF2B5EF4-FFF2-40B4-BE49-F238E27FC236}">
                <a16:creationId xmlns:a16="http://schemas.microsoft.com/office/drawing/2014/main" id="{CFF7FB55-CECB-4C94-8714-17D86F4313F6}"/>
              </a:ext>
            </a:extLst>
          </p:cNvPr>
          <p:cNvSpPr>
            <a:spLocks noChangeArrowheads="1"/>
          </p:cNvSpPr>
          <p:nvPr/>
        </p:nvSpPr>
        <p:spPr bwMode="gray">
          <a:xfrm>
            <a:off x="1" y="785813"/>
            <a:ext cx="10968567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defRPr/>
            </a:pPr>
            <a:endParaRPr kumimoji="1" lang="el-GR" altLang="el-GR" sz="2400"/>
          </a:p>
        </p:txBody>
      </p:sp>
      <p:graphicFrame>
        <p:nvGraphicFramePr>
          <p:cNvPr id="5" name="Group 35">
            <a:extLst>
              <a:ext uri="{FF2B5EF4-FFF2-40B4-BE49-F238E27FC236}">
                <a16:creationId xmlns:a16="http://schemas.microsoft.com/office/drawing/2014/main" id="{01542BC9-FFEC-4495-AF43-7ACCD67521D0}"/>
              </a:ext>
            </a:extLst>
          </p:cNvPr>
          <p:cNvGraphicFramePr>
            <a:graphicFrameLocks noGrp="1"/>
          </p:cNvGraphicFramePr>
          <p:nvPr/>
        </p:nvGraphicFramePr>
        <p:xfrm>
          <a:off x="304800" y="6477000"/>
          <a:ext cx="11684000" cy="381000"/>
        </p:xfrm>
        <a:graphic>
          <a:graphicData uri="http://schemas.openxmlformats.org/drawingml/2006/table">
            <a:tbl>
              <a:tblPr/>
              <a:tblGrid>
                <a:gridCol w="4064000">
                  <a:extLst>
                    <a:ext uri="{9D8B030D-6E8A-4147-A177-3AD203B41FA5}">
                      <a16:colId xmlns:a16="http://schemas.microsoft.com/office/drawing/2014/main" val="2278331505"/>
                    </a:ext>
                  </a:extLst>
                </a:gridCol>
                <a:gridCol w="5791200">
                  <a:extLst>
                    <a:ext uri="{9D8B030D-6E8A-4147-A177-3AD203B41FA5}">
                      <a16:colId xmlns:a16="http://schemas.microsoft.com/office/drawing/2014/main" val="2657087248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1790292615"/>
                    </a:ext>
                  </a:extLst>
                </a:gridCol>
              </a:tblGrid>
              <a:tr h="3810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l-G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©</a:t>
                      </a:r>
                      <a:r>
                        <a:rPr kumimoji="0" lang="en-US" altLang="el-G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el-GR" altLang="el-G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Κλ</a:t>
                      </a:r>
                      <a:r>
                        <a:rPr kumimoji="0" lang="en-US" altLang="el-G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.</a:t>
                      </a:r>
                      <a:r>
                        <a:rPr kumimoji="0" lang="el-GR" altLang="el-G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Θραμπουλίδης</a:t>
                      </a:r>
                      <a:endParaRPr kumimoji="0" lang="en-GB" altLang="el-G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21920" marR="12192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l-G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H Java </a:t>
                      </a:r>
                      <a:r>
                        <a:rPr kumimoji="0" lang="el-GR" altLang="el-G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ως Αντικειμενοστρεφής Γλώσσα - Εισαγωγή</a:t>
                      </a:r>
                      <a:endParaRPr kumimoji="0" lang="en-GB" altLang="el-G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21920" marR="12192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fld id="{371BD286-8B01-4BDA-BA4B-B462D9610D22}" type="slidenum">
                        <a:rPr kumimoji="0" lang="en-GB" altLang="el-G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</a:rPr>
                        <a:pPr marL="0" marR="0" lvl="0" indent="0" algn="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t>‹#›</a:t>
                      </a:fld>
                      <a:endParaRPr kumimoji="0" lang="en-GB" altLang="el-GR" sz="14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121920" marR="12192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3970352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B1026980-9307-40D5-86BE-5D204A3D705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334751" y="6500814"/>
            <a:ext cx="571500" cy="35718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miter lim="800000"/>
            <a:headEnd/>
            <a:tailEnd/>
          </a:ln>
        </p:spPr>
        <p:txBody>
          <a:bodyPr wrap="none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defRPr/>
            </a:pPr>
            <a:endParaRPr lang="el-GR" altLang="el-GR" sz="2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3490AC-6E39-4FBE-BA55-2898B45BD0A2}"/>
              </a:ext>
            </a:extLst>
          </p:cNvPr>
          <p:cNvSpPr txBox="1"/>
          <p:nvPr userDrawn="1"/>
        </p:nvSpPr>
        <p:spPr>
          <a:xfrm>
            <a:off x="11144251" y="6500814"/>
            <a:ext cx="762000" cy="307975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defRPr/>
            </a:pPr>
            <a:fld id="{57F5E015-8A4D-4B5B-A2C2-A6E022019383}" type="slidenum">
              <a:rPr lang="el-GR" altLang="el-GR" sz="1400" smtClean="0"/>
              <a:pPr eaLnBrk="1" hangingPunct="1">
                <a:defRPr/>
              </a:pPr>
              <a:t>‹#›</a:t>
            </a:fld>
            <a:endParaRPr lang="el-GR" altLang="el-GR" sz="14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69542699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929662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76917" y="2017713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60117" y="2017713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65448425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92424572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20600030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260229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0346509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l-GR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1466717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02024775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338733" y="617539"/>
            <a:ext cx="2601384" cy="55149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34584" y="617539"/>
            <a:ext cx="7600949" cy="55149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56790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τίτλου 1">
            <a:extLst>
              <a:ext uri="{FF2B5EF4-FFF2-40B4-BE49-F238E27FC236}">
                <a16:creationId xmlns:a16="http://schemas.microsoft.com/office/drawing/2014/main" id="{992F1800-E376-4EAC-8DCE-EF767BC9F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93EDA18A-E08C-433A-8864-CE510E638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F5AF37D2-402E-4529-9EEC-414BB35C59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3CF16FB6-3B9A-47F7-BC11-0CD0D44781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1A057F2B-A2D8-4FC1-B53F-4487A38756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777641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τίτλου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κειμένου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543682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3" r:id="rId1"/>
    <p:sldLayoutId id="2147483894" r:id="rId2"/>
    <p:sldLayoutId id="2147483895" r:id="rId3"/>
    <p:sldLayoutId id="2147483896" r:id="rId4"/>
    <p:sldLayoutId id="2147483897" r:id="rId5"/>
    <p:sldLayoutId id="2147483898" r:id="rId6"/>
    <p:sldLayoutId id="2147483899" r:id="rId7"/>
    <p:sldLayoutId id="2147483900" r:id="rId8"/>
    <p:sldLayoutId id="2147483901" r:id="rId9"/>
    <p:sldLayoutId id="2147483902" r:id="rId10"/>
    <p:sldLayoutId id="2147483903" r:id="rId11"/>
  </p:sldLayoutIdLst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8">
            <a:extLst>
              <a:ext uri="{FF2B5EF4-FFF2-40B4-BE49-F238E27FC236}">
                <a16:creationId xmlns:a16="http://schemas.microsoft.com/office/drawing/2014/main" id="{E7F7C932-9115-4556-883E-044EE60E2EC4}"/>
              </a:ext>
            </a:extLst>
          </p:cNvPr>
          <p:cNvSpPr>
            <a:spLocks noChangeArrowheads="1"/>
          </p:cNvSpPr>
          <p:nvPr/>
        </p:nvSpPr>
        <p:spPr bwMode="gray">
          <a:xfrm>
            <a:off x="1" y="785813"/>
            <a:ext cx="10968567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defRPr/>
            </a:pPr>
            <a:endParaRPr kumimoji="1" lang="el-GR" altLang="el-GR" sz="2400"/>
          </a:p>
        </p:txBody>
      </p:sp>
      <p:sp>
        <p:nvSpPr>
          <p:cNvPr id="1027" name="Rectangle 9">
            <a:extLst>
              <a:ext uri="{FF2B5EF4-FFF2-40B4-BE49-F238E27FC236}">
                <a16:creationId xmlns:a16="http://schemas.microsoft.com/office/drawing/2014/main" id="{173F695A-36C3-4D3C-B8DD-3FA04D8632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1"/>
            <a:ext cx="10390717" cy="785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l-GR"/>
              <a:t>Click to edit Master title style</a:t>
            </a:r>
          </a:p>
        </p:txBody>
      </p:sp>
      <p:sp>
        <p:nvSpPr>
          <p:cNvPr id="1028" name="Rectangle 10">
            <a:extLst>
              <a:ext uri="{FF2B5EF4-FFF2-40B4-BE49-F238E27FC236}">
                <a16:creationId xmlns:a16="http://schemas.microsoft.com/office/drawing/2014/main" id="{05E77A8B-E090-4774-B57D-79A6A2C7B8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576917" y="2017713"/>
            <a:ext cx="10363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l-GR"/>
              <a:t>Click to edit Master text styles</a:t>
            </a:r>
          </a:p>
          <a:p>
            <a:pPr lvl="1"/>
            <a:r>
              <a:rPr lang="en-GB" altLang="el-GR"/>
              <a:t>Second level</a:t>
            </a:r>
          </a:p>
          <a:p>
            <a:pPr lvl="2"/>
            <a:r>
              <a:rPr lang="en-GB" altLang="el-GR"/>
              <a:t>Third level</a:t>
            </a:r>
          </a:p>
          <a:p>
            <a:pPr lvl="3"/>
            <a:r>
              <a:rPr lang="en-GB" altLang="el-GR"/>
              <a:t>Fourth level</a:t>
            </a:r>
          </a:p>
          <a:p>
            <a:pPr lvl="4"/>
            <a:r>
              <a:rPr lang="en-GB" altLang="el-GR"/>
              <a:t>Fifth level</a:t>
            </a:r>
          </a:p>
        </p:txBody>
      </p:sp>
      <p:graphicFrame>
        <p:nvGraphicFramePr>
          <p:cNvPr id="3107" name="Group 35">
            <a:extLst>
              <a:ext uri="{FF2B5EF4-FFF2-40B4-BE49-F238E27FC236}">
                <a16:creationId xmlns:a16="http://schemas.microsoft.com/office/drawing/2014/main" id="{AC9D53B0-D52F-4C37-B1AA-367A4BCC0BA6}"/>
              </a:ext>
            </a:extLst>
          </p:cNvPr>
          <p:cNvGraphicFramePr>
            <a:graphicFrameLocks noGrp="1"/>
          </p:cNvGraphicFramePr>
          <p:nvPr/>
        </p:nvGraphicFramePr>
        <p:xfrm>
          <a:off x="304800" y="6477000"/>
          <a:ext cx="11684000" cy="381000"/>
        </p:xfrm>
        <a:graphic>
          <a:graphicData uri="http://schemas.openxmlformats.org/drawingml/2006/table">
            <a:tbl>
              <a:tblPr/>
              <a:tblGrid>
                <a:gridCol w="4064000">
                  <a:extLst>
                    <a:ext uri="{9D8B030D-6E8A-4147-A177-3AD203B41FA5}">
                      <a16:colId xmlns:a16="http://schemas.microsoft.com/office/drawing/2014/main" val="311133798"/>
                    </a:ext>
                  </a:extLst>
                </a:gridCol>
                <a:gridCol w="5791200">
                  <a:extLst>
                    <a:ext uri="{9D8B030D-6E8A-4147-A177-3AD203B41FA5}">
                      <a16:colId xmlns:a16="http://schemas.microsoft.com/office/drawing/2014/main" val="198768807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1053356514"/>
                    </a:ext>
                  </a:extLst>
                </a:gridCol>
              </a:tblGrid>
              <a:tr h="3810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l-G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©</a:t>
                      </a:r>
                      <a:r>
                        <a:rPr kumimoji="0" lang="en-US" altLang="el-G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el-GR" altLang="el-G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Κλ</a:t>
                      </a:r>
                      <a:r>
                        <a:rPr kumimoji="0" lang="en-US" altLang="el-G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.</a:t>
                      </a:r>
                      <a:r>
                        <a:rPr kumimoji="0" lang="el-GR" altLang="el-G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Θραμπουλίδης</a:t>
                      </a:r>
                      <a:endParaRPr kumimoji="0" lang="en-GB" altLang="el-G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21920" marR="12192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l-G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H Java </a:t>
                      </a:r>
                      <a:r>
                        <a:rPr kumimoji="0" lang="el-GR" altLang="el-G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ως Αντικειμενοστρεφής Γλώσσα - Εισαγωγή</a:t>
                      </a:r>
                      <a:endParaRPr kumimoji="0" lang="en-GB" altLang="el-G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21920" marR="12192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fld id="{B8106778-CCB4-4AD0-B93D-B940370B70F4}" type="slidenum">
                        <a:rPr kumimoji="0" lang="en-GB" altLang="el-G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</a:rPr>
                        <a:pPr marL="0" marR="0" lvl="0" indent="0" algn="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t>‹#›</a:t>
                      </a:fld>
                      <a:endParaRPr kumimoji="0" lang="en-GB" altLang="el-GR" sz="14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121920" marR="12192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72224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7559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5" r:id="rId1"/>
    <p:sldLayoutId id="2147483906" r:id="rId2"/>
    <p:sldLayoutId id="2147483907" r:id="rId3"/>
    <p:sldLayoutId id="2147483908" r:id="rId4"/>
    <p:sldLayoutId id="2147483909" r:id="rId5"/>
    <p:sldLayoutId id="2147483910" r:id="rId6"/>
    <p:sldLayoutId id="2147483911" r:id="rId7"/>
    <p:sldLayoutId id="2147483912" r:id="rId8"/>
    <p:sldLayoutId id="2147483913" r:id="rId9"/>
    <p:sldLayoutId id="2147483914" r:id="rId10"/>
    <p:sldLayoutId id="2147483915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ites.google.com/site/thramboulidiskleanthis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racle.com/javase/9/docs/api/java/lang/String.html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.cornell.edu/courses/JavaAndDS/JavaStyle.html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Relationship Id="rId5" Type="http://schemas.openxmlformats.org/officeDocument/2006/relationships/hyperlink" Target="https://www.oracle.com/technetwork/java/codeconventions-150003.pdf" TargetMode="External"/><Relationship Id="rId4" Type="http://schemas.openxmlformats.org/officeDocument/2006/relationships/hyperlink" Target="https://google.github.io/styleguide/javaguide.html" TargetMode="Externa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62">
            <a:extLst>
              <a:ext uri="{FF2B5EF4-FFF2-40B4-BE49-F238E27FC236}">
                <a16:creationId xmlns:a16="http://schemas.microsoft.com/office/drawing/2014/main" id="{76E192A2-3ED3-4081-8A86-A22B511417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152902" y="-1181101"/>
            <a:ext cx="3886200" cy="121920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Υπότιτλος 2">
            <a:extLst>
              <a:ext uri="{FF2B5EF4-FFF2-40B4-BE49-F238E27FC236}">
                <a16:creationId xmlns:a16="http://schemas.microsoft.com/office/drawing/2014/main" id="{999AB7B1-2CA7-4F2E-91BE-62A4C3CC57D6}"/>
              </a:ext>
            </a:extLst>
          </p:cNvPr>
          <p:cNvSpPr txBox="1">
            <a:spLocks/>
          </p:cNvSpPr>
          <p:nvPr/>
        </p:nvSpPr>
        <p:spPr>
          <a:xfrm>
            <a:off x="-3" y="48411"/>
            <a:ext cx="12192002" cy="1249811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Αντικειμενοστρεφής Προγραμματισμός </a:t>
            </a:r>
            <a:b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</a:b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(</a:t>
            </a:r>
            <a:r>
              <a:rPr lang="el-GR" sz="4000" b="1" dirty="0" err="1">
                <a:solidFill>
                  <a:srgbClr val="F9853D"/>
                </a:solidFill>
                <a:latin typeface="Bahnschrift" panose="020B0502040204020203" pitchFamily="34" charset="0"/>
              </a:rPr>
              <a:t>Object-Oriented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</a:t>
            </a:r>
            <a:r>
              <a:rPr lang="el-GR" sz="4000" b="1" dirty="0" err="1">
                <a:solidFill>
                  <a:srgbClr val="F9853D"/>
                </a:solidFill>
                <a:latin typeface="Bahnschrift" panose="020B0502040204020203" pitchFamily="34" charset="0"/>
              </a:rPr>
              <a:t>Programming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)</a:t>
            </a:r>
            <a:endParaRPr lang="en-US" sz="28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50C4F10-C081-CD71-17C8-8DAD4C7DEE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5773068"/>
            <a:ext cx="8610600" cy="1417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sz="4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Book Antiqua" panose="02040602050305030304" pitchFamily="18" charset="0"/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 eaLnBrk="1" hangingPunct="1">
              <a:spcBef>
                <a:spcPct val="0"/>
              </a:spcBef>
              <a:defRPr/>
            </a:pPr>
            <a:r>
              <a:rPr lang="en-US" altLang="el-GR" sz="1800" b="0" i="0" kern="0" dirty="0">
                <a:solidFill>
                  <a:srgbClr val="800000"/>
                </a:solidFill>
                <a:latin typeface="Times New Roman" panose="02020603050405020304" pitchFamily="18" charset="0"/>
              </a:rPr>
              <a:t>Kleanthis Thramboulidis</a:t>
            </a:r>
          </a:p>
          <a:p>
            <a:pPr algn="l" eaLnBrk="1" hangingPunct="1">
              <a:spcBef>
                <a:spcPct val="0"/>
              </a:spcBef>
              <a:defRPr/>
            </a:pPr>
            <a:r>
              <a:rPr lang="en-US" altLang="el-GR" sz="1600" i="0" kern="0" dirty="0">
                <a:latin typeface="Times New Roman" panose="02020603050405020304" pitchFamily="18" charset="0"/>
              </a:rPr>
              <a:t>Prof. of Software and System Engineering </a:t>
            </a:r>
          </a:p>
          <a:p>
            <a:pPr algn="l" eaLnBrk="1" hangingPunct="1">
              <a:spcBef>
                <a:spcPct val="0"/>
              </a:spcBef>
              <a:defRPr/>
            </a:pPr>
            <a:r>
              <a:rPr lang="en-US" altLang="el-GR" sz="1600" b="0" i="0" kern="0" dirty="0">
                <a:latin typeface="Times New Roman" panose="02020603050405020304" pitchFamily="18" charset="0"/>
              </a:rPr>
              <a:t>University of Patras</a:t>
            </a:r>
            <a:r>
              <a:rPr lang="el-GR" altLang="el-GR" sz="1800" b="0" i="0" kern="0" dirty="0">
                <a:latin typeface="Times New Roman" panose="02020603050405020304" pitchFamily="18" charset="0"/>
              </a:rPr>
              <a:t> </a:t>
            </a:r>
            <a:endParaRPr lang="en-US" altLang="el-GR" sz="1800" b="0" i="0" kern="0" dirty="0">
              <a:latin typeface="Times New Roman" panose="02020603050405020304" pitchFamily="18" charset="0"/>
            </a:endParaRPr>
          </a:p>
          <a:p>
            <a:pPr algn="l" eaLnBrk="1" hangingPunct="1">
              <a:spcBef>
                <a:spcPct val="0"/>
              </a:spcBef>
              <a:defRPr/>
            </a:pPr>
            <a:r>
              <a:rPr lang="en-US" altLang="el-GR" sz="1600" b="0" i="0" dirty="0">
                <a:latin typeface="Times New Roman" panose="02020603050405020304" pitchFamily="18" charset="0"/>
                <a:hlinkClick r:id="rId3"/>
              </a:rPr>
              <a:t>https://sites.google.com/site/thramboulidiskleanthis/</a:t>
            </a:r>
            <a:endParaRPr lang="en-US" altLang="el-GR" sz="1600" b="0" i="0" dirty="0">
              <a:latin typeface="Times New Roman" panose="02020603050405020304" pitchFamily="18" charset="0"/>
            </a:endParaRPr>
          </a:p>
          <a:p>
            <a:pPr algn="l" eaLnBrk="1" hangingPunct="1">
              <a:spcBef>
                <a:spcPct val="0"/>
              </a:spcBef>
              <a:defRPr/>
            </a:pPr>
            <a:endParaRPr lang="el-GR" altLang="el-GR" sz="1800" kern="0" dirty="0">
              <a:latin typeface="Times New Roman" panose="02020603050405020304" pitchFamily="18" charset="0"/>
            </a:endParaRPr>
          </a:p>
          <a:p>
            <a:pPr algn="l" eaLnBrk="1" hangingPunct="1">
              <a:spcBef>
                <a:spcPct val="0"/>
              </a:spcBef>
              <a:defRPr/>
            </a:pPr>
            <a:endParaRPr lang="en-GB" altLang="el-GR" sz="1800" b="1" kern="0" dirty="0">
              <a:latin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036E0A-62C8-F25D-25D5-595B0B27A6B1}"/>
              </a:ext>
            </a:extLst>
          </p:cNvPr>
          <p:cNvSpPr txBox="1"/>
          <p:nvPr/>
        </p:nvSpPr>
        <p:spPr>
          <a:xfrm>
            <a:off x="0" y="1318086"/>
            <a:ext cx="17695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9853D"/>
                </a:solidFill>
                <a:latin typeface="Bahnschrift" panose="020B0502040204020203" pitchFamily="34" charset="0"/>
              </a:rPr>
              <a:t>(CEID_NNY106)</a:t>
            </a:r>
            <a:endParaRPr lang="el-GR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5F3EE9-A938-D663-D46A-160783F1F27F}"/>
              </a:ext>
            </a:extLst>
          </p:cNvPr>
          <p:cNvSpPr txBox="1"/>
          <p:nvPr/>
        </p:nvSpPr>
        <p:spPr>
          <a:xfrm>
            <a:off x="560303" y="2462259"/>
            <a:ext cx="13145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/>
              <a:t>Κύρια Πηγή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171E6F-8AE9-B75E-1823-7991CADC80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123" y="2741663"/>
            <a:ext cx="1950889" cy="2819644"/>
          </a:xfrm>
          <a:prstGeom prst="rect">
            <a:avLst/>
          </a:prstGeom>
        </p:spPr>
      </p:pic>
      <p:sp>
        <p:nvSpPr>
          <p:cNvPr id="4" name="Υπότιτλος 2">
            <a:extLst>
              <a:ext uri="{FF2B5EF4-FFF2-40B4-BE49-F238E27FC236}">
                <a16:creationId xmlns:a16="http://schemas.microsoft.com/office/drawing/2014/main" id="{1FEF44B4-5484-7F60-BA37-96313DC3B896}"/>
              </a:ext>
            </a:extLst>
          </p:cNvPr>
          <p:cNvSpPr txBox="1">
            <a:spLocks/>
          </p:cNvSpPr>
          <p:nvPr/>
        </p:nvSpPr>
        <p:spPr>
          <a:xfrm>
            <a:off x="-4" y="1296692"/>
            <a:ext cx="7748956" cy="146334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60D69E"/>
                </a:solidFill>
                <a:latin typeface="Bahnschrift" panose="020B0502040204020203" pitchFamily="34" charset="0"/>
              </a:rPr>
              <a:t>Java as an OOP Language </a:t>
            </a:r>
          </a:p>
          <a:p>
            <a:pPr algn="r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Bahnschrift" panose="020B0502040204020203" pitchFamily="34" charset="0"/>
              </a:rPr>
              <a:t>Part B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F3F1DF-97A8-0745-D06F-F345A61D9C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8952" y="1249095"/>
            <a:ext cx="4443044" cy="5019232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71AC6608-7C00-770A-D4FC-06C135BF8CDE}"/>
              </a:ext>
            </a:extLst>
          </p:cNvPr>
          <p:cNvSpPr/>
          <p:nvPr/>
        </p:nvSpPr>
        <p:spPr>
          <a:xfrm>
            <a:off x="239084" y="3913536"/>
            <a:ext cx="1950889" cy="31272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1600" dirty="0"/>
              <a:t>Κεφάλαιο: </a:t>
            </a:r>
            <a:r>
              <a:rPr lang="en-GB" sz="1600" dirty="0"/>
              <a:t>5</a:t>
            </a:r>
            <a:endParaRPr lang="el-GR" sz="16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C96A4A3-88B3-F04A-0B91-01BBBF200BC0}"/>
              </a:ext>
            </a:extLst>
          </p:cNvPr>
          <p:cNvSpPr txBox="1"/>
          <p:nvPr/>
        </p:nvSpPr>
        <p:spPr>
          <a:xfrm>
            <a:off x="192732" y="4202653"/>
            <a:ext cx="10843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5.1-5.2</a:t>
            </a:r>
            <a:endParaRPr lang="el-GR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91D9FF6-25F7-68A5-EFB8-4A1FB62AFB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279" y="3272273"/>
            <a:ext cx="4192620" cy="2599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252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Δραστηριότητα 5.1 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– Circles Sorting App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4AF5A81B-6532-38B1-1CE2-17076041F59F}"/>
              </a:ext>
            </a:extLst>
          </p:cNvPr>
          <p:cNvSpPr txBox="1">
            <a:spLocks/>
          </p:cNvSpPr>
          <p:nvPr/>
        </p:nvSpPr>
        <p:spPr>
          <a:xfrm>
            <a:off x="3344008" y="6599394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Java as an OOP language Part </a:t>
            </a:r>
            <a:r>
              <a:rPr lang="en-US" sz="1100" dirty="0">
                <a:solidFill>
                  <a:prstClr val="black"/>
                </a:solidFill>
                <a:latin typeface="Bahnschrift" panose="020B0502040204020203" pitchFamily="34" charset="0"/>
              </a:rPr>
              <a:t>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484F41C-DD3D-1448-7327-01170DFB9BD2}"/>
              </a:ext>
            </a:extLst>
          </p:cNvPr>
          <p:cNvSpPr/>
          <p:nvPr/>
        </p:nvSpPr>
        <p:spPr>
          <a:xfrm>
            <a:off x="167284" y="710572"/>
            <a:ext cx="6720029" cy="123463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l-GR" sz="2800" b="1" i="1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Δραστηριότητα </a:t>
            </a:r>
            <a:r>
              <a:rPr lang="en-US" sz="2800" b="1" i="1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lang="el-GR" sz="2800" b="1" i="1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.1 </a:t>
            </a:r>
            <a:endParaRPr lang="en-US" sz="2800" b="1" i="1" dirty="0">
              <a:solidFill>
                <a:srgbClr val="C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800" b="1" i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Circles Sorting App</a:t>
            </a:r>
            <a:endParaRPr lang="el-GR" sz="2400" b="1" i="1" dirty="0">
              <a:solidFill>
                <a:srgbClr val="C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A9D668B-C9F9-F0BC-7F07-569676409B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284" y="1953961"/>
            <a:ext cx="11548138" cy="4056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788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Δραστηριότητα 5.1 - </a:t>
            </a:r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The constituent components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305908" y="6559909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Java as an OOP language Part </a:t>
            </a:r>
            <a:r>
              <a:rPr lang="en-US" sz="1100" dirty="0">
                <a:solidFill>
                  <a:prstClr val="black"/>
                </a:solidFill>
                <a:latin typeface="Bahnschrift" panose="020B0502040204020203" pitchFamily="34" charset="0"/>
              </a:rPr>
              <a:t>B</a:t>
            </a: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439A4747-7E26-EBA8-065A-595866D7020B}"/>
              </a:ext>
            </a:extLst>
          </p:cNvPr>
          <p:cNvGrpSpPr>
            <a:grpSpLocks/>
          </p:cNvGrpSpPr>
          <p:nvPr/>
        </p:nvGrpSpPr>
        <p:grpSpPr bwMode="auto">
          <a:xfrm>
            <a:off x="5580064" y="2251276"/>
            <a:ext cx="2089150" cy="1368425"/>
            <a:chOff x="748" y="1434"/>
            <a:chExt cx="1316" cy="862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2F20F0E-D776-6767-FD15-14DD72D538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4" y="1570"/>
              <a:ext cx="907" cy="590"/>
            </a:xfrm>
            <a:prstGeom prst="rect">
              <a:avLst/>
            </a:prstGeom>
            <a:solidFill>
              <a:srgbClr val="00E4A8"/>
            </a:solidFill>
            <a:ln w="9525">
              <a:solidFill>
                <a:srgbClr val="128F05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l-GR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Circle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DC34BA6-3E86-10F0-37C6-60B9886E62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1" y="1979"/>
              <a:ext cx="273" cy="181"/>
            </a:xfrm>
            <a:prstGeom prst="rect">
              <a:avLst/>
            </a:prstGeom>
            <a:solidFill>
              <a:srgbClr val="00E4A8"/>
            </a:solidFill>
            <a:ln w="9525">
              <a:solidFill>
                <a:srgbClr val="128F05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A79E6CA-4FF9-306B-8A03-267334C7D8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1" y="1570"/>
              <a:ext cx="273" cy="181"/>
            </a:xfrm>
            <a:prstGeom prst="rect">
              <a:avLst/>
            </a:prstGeom>
            <a:solidFill>
              <a:srgbClr val="00E4A8"/>
            </a:solidFill>
            <a:ln w="9525">
              <a:solidFill>
                <a:srgbClr val="128F05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9" name="Rectangle 7">
              <a:extLst>
                <a:ext uri="{FF2B5EF4-FFF2-40B4-BE49-F238E27FC236}">
                  <a16:creationId xmlns:a16="http://schemas.microsoft.com/office/drawing/2014/main" id="{59EBBA67-2415-70C7-463C-FC2ECBB830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" y="2160"/>
              <a:ext cx="272" cy="136"/>
            </a:xfrm>
            <a:prstGeom prst="rect">
              <a:avLst/>
            </a:prstGeom>
            <a:solidFill>
              <a:srgbClr val="00E4A8"/>
            </a:solidFill>
            <a:ln w="9525">
              <a:solidFill>
                <a:srgbClr val="128F05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12" name="Rectangle 8">
              <a:extLst>
                <a:ext uri="{FF2B5EF4-FFF2-40B4-BE49-F238E27FC236}">
                  <a16:creationId xmlns:a16="http://schemas.microsoft.com/office/drawing/2014/main" id="{F1855FA9-BD5C-B6AF-651A-DCFB37712E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9" y="2160"/>
              <a:ext cx="272" cy="136"/>
            </a:xfrm>
            <a:prstGeom prst="rect">
              <a:avLst/>
            </a:prstGeom>
            <a:solidFill>
              <a:srgbClr val="00E4A8"/>
            </a:solidFill>
            <a:ln w="9525">
              <a:solidFill>
                <a:srgbClr val="128F05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13" name="Rectangle 9">
              <a:extLst>
                <a:ext uri="{FF2B5EF4-FFF2-40B4-BE49-F238E27FC236}">
                  <a16:creationId xmlns:a16="http://schemas.microsoft.com/office/drawing/2014/main" id="{6E7BABD7-C13C-ABE0-DC39-8D7C4A9BD1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1" y="1434"/>
              <a:ext cx="272" cy="136"/>
            </a:xfrm>
            <a:prstGeom prst="rect">
              <a:avLst/>
            </a:prstGeom>
            <a:solidFill>
              <a:srgbClr val="00E4A8"/>
            </a:solidFill>
            <a:ln w="9525">
              <a:solidFill>
                <a:srgbClr val="128F05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14" name="Rectangle 10">
              <a:extLst>
                <a:ext uri="{FF2B5EF4-FFF2-40B4-BE49-F238E27FC236}">
                  <a16:creationId xmlns:a16="http://schemas.microsoft.com/office/drawing/2014/main" id="{819EFC6F-6BF7-01C3-B709-09FA5E69FC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8" y="1706"/>
              <a:ext cx="136" cy="318"/>
            </a:xfrm>
            <a:prstGeom prst="rect">
              <a:avLst/>
            </a:prstGeom>
            <a:solidFill>
              <a:srgbClr val="00E4A8"/>
            </a:solidFill>
            <a:ln w="9525">
              <a:solidFill>
                <a:srgbClr val="128F05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</p:grpSp>
      <p:grpSp>
        <p:nvGrpSpPr>
          <p:cNvPr id="15" name="Group 19">
            <a:extLst>
              <a:ext uri="{FF2B5EF4-FFF2-40B4-BE49-F238E27FC236}">
                <a16:creationId xmlns:a16="http://schemas.microsoft.com/office/drawing/2014/main" id="{F0C7F0A1-D37A-A6AC-C9C1-7D18E314FC83}"/>
              </a:ext>
            </a:extLst>
          </p:cNvPr>
          <p:cNvGrpSpPr>
            <a:grpSpLocks/>
          </p:cNvGrpSpPr>
          <p:nvPr/>
        </p:nvGrpSpPr>
        <p:grpSpPr bwMode="auto">
          <a:xfrm>
            <a:off x="706597" y="2359226"/>
            <a:ext cx="2089150" cy="1354138"/>
            <a:chOff x="748" y="1443"/>
            <a:chExt cx="1316" cy="853"/>
          </a:xfrm>
        </p:grpSpPr>
        <p:sp>
          <p:nvSpPr>
            <p:cNvPr id="16" name="Rectangle 20">
              <a:extLst>
                <a:ext uri="{FF2B5EF4-FFF2-40B4-BE49-F238E27FC236}">
                  <a16:creationId xmlns:a16="http://schemas.microsoft.com/office/drawing/2014/main" id="{3155FD18-4426-0739-97A5-ED6F3BA5C8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4" y="1570"/>
              <a:ext cx="907" cy="590"/>
            </a:xfrm>
            <a:prstGeom prst="rect">
              <a:avLst/>
            </a:prstGeom>
            <a:solidFill>
              <a:srgbClr val="FFCF01"/>
            </a:solidFill>
            <a:ln w="9525">
              <a:solidFill>
                <a:srgbClr val="128F05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l-GR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System</a:t>
              </a:r>
            </a:p>
          </p:txBody>
        </p:sp>
        <p:sp>
          <p:nvSpPr>
            <p:cNvPr id="17" name="Rectangle 21">
              <a:extLst>
                <a:ext uri="{FF2B5EF4-FFF2-40B4-BE49-F238E27FC236}">
                  <a16:creationId xmlns:a16="http://schemas.microsoft.com/office/drawing/2014/main" id="{7D76DC9B-B039-9694-E21C-417DEEF0E3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1" y="1979"/>
              <a:ext cx="273" cy="181"/>
            </a:xfrm>
            <a:prstGeom prst="rect">
              <a:avLst/>
            </a:prstGeom>
            <a:solidFill>
              <a:srgbClr val="FFCF01"/>
            </a:solidFill>
            <a:ln w="9525">
              <a:solidFill>
                <a:srgbClr val="128F05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18" name="Rectangle 22">
              <a:extLst>
                <a:ext uri="{FF2B5EF4-FFF2-40B4-BE49-F238E27FC236}">
                  <a16:creationId xmlns:a16="http://schemas.microsoft.com/office/drawing/2014/main" id="{93C6B528-AD23-3F1A-A7D2-2D33240D91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1" y="1570"/>
              <a:ext cx="273" cy="181"/>
            </a:xfrm>
            <a:prstGeom prst="rect">
              <a:avLst/>
            </a:prstGeom>
            <a:solidFill>
              <a:srgbClr val="FFCF01"/>
            </a:solidFill>
            <a:ln w="9525">
              <a:solidFill>
                <a:srgbClr val="128F05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19" name="Rectangle 23">
              <a:extLst>
                <a:ext uri="{FF2B5EF4-FFF2-40B4-BE49-F238E27FC236}">
                  <a16:creationId xmlns:a16="http://schemas.microsoft.com/office/drawing/2014/main" id="{F1261DBC-9274-8775-040F-DE96EDA62F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" y="2160"/>
              <a:ext cx="272" cy="136"/>
            </a:xfrm>
            <a:prstGeom prst="rect">
              <a:avLst/>
            </a:prstGeom>
            <a:solidFill>
              <a:srgbClr val="FFCF01"/>
            </a:solidFill>
            <a:ln w="9525">
              <a:solidFill>
                <a:srgbClr val="128F05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20" name="Rectangle 24">
              <a:extLst>
                <a:ext uri="{FF2B5EF4-FFF2-40B4-BE49-F238E27FC236}">
                  <a16:creationId xmlns:a16="http://schemas.microsoft.com/office/drawing/2014/main" id="{209CC2D3-462E-7FD2-9EB5-38DC58533E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9" y="2160"/>
              <a:ext cx="272" cy="136"/>
            </a:xfrm>
            <a:prstGeom prst="rect">
              <a:avLst/>
            </a:prstGeom>
            <a:solidFill>
              <a:srgbClr val="FFCF01"/>
            </a:solidFill>
            <a:ln w="9525">
              <a:solidFill>
                <a:srgbClr val="128F05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21" name="Rectangle 25">
              <a:extLst>
                <a:ext uri="{FF2B5EF4-FFF2-40B4-BE49-F238E27FC236}">
                  <a16:creationId xmlns:a16="http://schemas.microsoft.com/office/drawing/2014/main" id="{4D71F2F2-DD6C-DC46-4A83-872CFF89F4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1" y="1443"/>
              <a:ext cx="272" cy="136"/>
            </a:xfrm>
            <a:prstGeom prst="rect">
              <a:avLst/>
            </a:prstGeom>
            <a:solidFill>
              <a:srgbClr val="FFCF01"/>
            </a:solidFill>
            <a:ln w="9525">
              <a:solidFill>
                <a:srgbClr val="128F05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22" name="Rectangle 26">
              <a:extLst>
                <a:ext uri="{FF2B5EF4-FFF2-40B4-BE49-F238E27FC236}">
                  <a16:creationId xmlns:a16="http://schemas.microsoft.com/office/drawing/2014/main" id="{178A1228-2DB6-1172-FC52-2CF3D9E122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8" y="1706"/>
              <a:ext cx="136" cy="318"/>
            </a:xfrm>
            <a:prstGeom prst="rect">
              <a:avLst/>
            </a:prstGeom>
            <a:solidFill>
              <a:srgbClr val="FFCF01"/>
            </a:solidFill>
            <a:ln w="9525">
              <a:solidFill>
                <a:srgbClr val="128F05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</p:grpSp>
      <p:sp>
        <p:nvSpPr>
          <p:cNvPr id="23" name="Text Box 27">
            <a:extLst>
              <a:ext uri="{FF2B5EF4-FFF2-40B4-BE49-F238E27FC236}">
                <a16:creationId xmlns:a16="http://schemas.microsoft.com/office/drawing/2014/main" id="{96C6B148-7417-FFC8-9958-B71D47E4C9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1484313"/>
            <a:ext cx="18415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Repository</a:t>
            </a:r>
          </a:p>
        </p:txBody>
      </p:sp>
      <p:sp>
        <p:nvSpPr>
          <p:cNvPr id="24" name="Text Box 28">
            <a:extLst>
              <a:ext uri="{FF2B5EF4-FFF2-40B4-BE49-F238E27FC236}">
                <a16:creationId xmlns:a16="http://schemas.microsoft.com/office/drawing/2014/main" id="{804F8B16-E79D-C15B-9E79-5C11CCEF86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7625" y="1568450"/>
            <a:ext cx="25447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New Components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4EB32F9-B5F9-4CC4-8136-7F164FDC24E1}"/>
              </a:ext>
            </a:extLst>
          </p:cNvPr>
          <p:cNvGrpSpPr/>
          <p:nvPr/>
        </p:nvGrpSpPr>
        <p:grpSpPr>
          <a:xfrm>
            <a:off x="5364164" y="4040188"/>
            <a:ext cx="2520950" cy="1944687"/>
            <a:chOff x="5219700" y="2420938"/>
            <a:chExt cx="2520950" cy="1944687"/>
          </a:xfrm>
          <a:solidFill>
            <a:srgbClr val="6699FF"/>
          </a:solidFill>
        </p:grpSpPr>
        <p:sp>
          <p:nvSpPr>
            <p:cNvPr id="26" name="Rectangle 29">
              <a:extLst>
                <a:ext uri="{FF2B5EF4-FFF2-40B4-BE49-F238E27FC236}">
                  <a16:creationId xmlns:a16="http://schemas.microsoft.com/office/drawing/2014/main" id="{B23796C8-85C6-91AE-567C-1BE8CF65BA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08625" y="2708275"/>
              <a:ext cx="1943100" cy="1368425"/>
            </a:xfrm>
            <a:prstGeom prst="rect">
              <a:avLst/>
            </a:prstGeom>
            <a:grpFill/>
            <a:ln w="9525">
              <a:solidFill>
                <a:srgbClr val="F8FF69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l-GR" sz="24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CircleTester</a:t>
              </a:r>
              <a:endPara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27" name="Rectangle 30">
              <a:extLst>
                <a:ext uri="{FF2B5EF4-FFF2-40B4-BE49-F238E27FC236}">
                  <a16:creationId xmlns:a16="http://schemas.microsoft.com/office/drawing/2014/main" id="{E1F85FD5-E74A-38DC-03F2-76D7B39DD9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08625" y="4076700"/>
              <a:ext cx="647700" cy="288925"/>
            </a:xfrm>
            <a:prstGeom prst="rect">
              <a:avLst/>
            </a:prstGeom>
            <a:grpFill/>
            <a:ln w="9525">
              <a:solidFill>
                <a:srgbClr val="F8FF69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28" name="Rectangle 31">
              <a:extLst>
                <a:ext uri="{FF2B5EF4-FFF2-40B4-BE49-F238E27FC236}">
                  <a16:creationId xmlns:a16="http://schemas.microsoft.com/office/drawing/2014/main" id="{26C76FE1-70E4-B939-6F1C-E8A8529B62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8125" y="4076700"/>
              <a:ext cx="647700" cy="288925"/>
            </a:xfrm>
            <a:prstGeom prst="rect">
              <a:avLst/>
            </a:prstGeom>
            <a:grpFill/>
            <a:ln w="9525">
              <a:solidFill>
                <a:srgbClr val="F8FF69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29" name="Rectangle 32">
              <a:extLst>
                <a:ext uri="{FF2B5EF4-FFF2-40B4-BE49-F238E27FC236}">
                  <a16:creationId xmlns:a16="http://schemas.microsoft.com/office/drawing/2014/main" id="{C8C935BD-40A4-A755-E2D7-622C3354ED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9700" y="3141663"/>
              <a:ext cx="288925" cy="574675"/>
            </a:xfrm>
            <a:prstGeom prst="rect">
              <a:avLst/>
            </a:prstGeom>
            <a:grpFill/>
            <a:ln w="9525">
              <a:solidFill>
                <a:srgbClr val="F8FF69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30" name="Rectangle 33">
              <a:extLst>
                <a:ext uri="{FF2B5EF4-FFF2-40B4-BE49-F238E27FC236}">
                  <a16:creationId xmlns:a16="http://schemas.microsoft.com/office/drawing/2014/main" id="{F85DEBC2-B282-497C-D8C7-6CD3CBF7A4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51725" y="2708275"/>
              <a:ext cx="288925" cy="574675"/>
            </a:xfrm>
            <a:prstGeom prst="rect">
              <a:avLst/>
            </a:prstGeom>
            <a:grpFill/>
            <a:ln w="9525">
              <a:solidFill>
                <a:srgbClr val="F8FF69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31" name="Rectangle 34">
              <a:extLst>
                <a:ext uri="{FF2B5EF4-FFF2-40B4-BE49-F238E27FC236}">
                  <a16:creationId xmlns:a16="http://schemas.microsoft.com/office/drawing/2014/main" id="{7A0FE817-6CD8-0E8E-15D0-210254C6B3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51725" y="3500438"/>
              <a:ext cx="288925" cy="574675"/>
            </a:xfrm>
            <a:prstGeom prst="rect">
              <a:avLst/>
            </a:prstGeom>
            <a:grpFill/>
            <a:ln w="9525">
              <a:solidFill>
                <a:srgbClr val="F8FF69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32" name="Rectangle 35">
              <a:extLst>
                <a:ext uri="{FF2B5EF4-FFF2-40B4-BE49-F238E27FC236}">
                  <a16:creationId xmlns:a16="http://schemas.microsoft.com/office/drawing/2014/main" id="{CB461592-A669-B145-ABA9-1A035449DE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56325" y="2420938"/>
              <a:ext cx="647700" cy="288925"/>
            </a:xfrm>
            <a:prstGeom prst="rect">
              <a:avLst/>
            </a:prstGeom>
            <a:grpFill/>
            <a:ln w="9525">
              <a:solidFill>
                <a:srgbClr val="F8FF69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</p:grpSp>
      <p:sp>
        <p:nvSpPr>
          <p:cNvPr id="33" name="TextBox 35">
            <a:extLst>
              <a:ext uri="{FF2B5EF4-FFF2-40B4-BE49-F238E27FC236}">
                <a16:creationId xmlns:a16="http://schemas.microsoft.com/office/drawing/2014/main" id="{414355DE-81D9-FE9C-6342-12788C0DE9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2500" y="908050"/>
            <a:ext cx="31210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4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 panose="020B0604030504040204" pitchFamily="34" charset="0"/>
              </a:rPr>
              <a:t>Edit-time vs. run-time</a:t>
            </a:r>
            <a:endParaRPr kumimoji="0" lang="el-GR" altLang="el-GR" sz="2400" b="0" i="0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grpSp>
        <p:nvGrpSpPr>
          <p:cNvPr id="34" name="Group 19">
            <a:extLst>
              <a:ext uri="{FF2B5EF4-FFF2-40B4-BE49-F238E27FC236}">
                <a16:creationId xmlns:a16="http://schemas.microsoft.com/office/drawing/2014/main" id="{C85AA1E6-FC0E-6FBE-01AC-83955A82A3F1}"/>
              </a:ext>
            </a:extLst>
          </p:cNvPr>
          <p:cNvGrpSpPr>
            <a:grpSpLocks/>
          </p:cNvGrpSpPr>
          <p:nvPr/>
        </p:nvGrpSpPr>
        <p:grpSpPr bwMode="auto">
          <a:xfrm>
            <a:off x="719336" y="4270778"/>
            <a:ext cx="2556519" cy="1606494"/>
            <a:chOff x="748" y="1443"/>
            <a:chExt cx="1316" cy="853"/>
          </a:xfrm>
          <a:solidFill>
            <a:srgbClr val="333399">
              <a:lumMod val="40000"/>
              <a:lumOff val="60000"/>
            </a:srgbClr>
          </a:solidFill>
        </p:grpSpPr>
        <p:sp>
          <p:nvSpPr>
            <p:cNvPr id="35" name="Rectangle 20">
              <a:extLst>
                <a:ext uri="{FF2B5EF4-FFF2-40B4-BE49-F238E27FC236}">
                  <a16:creationId xmlns:a16="http://schemas.microsoft.com/office/drawing/2014/main" id="{2BEFF97F-9BFE-954A-6D82-95BB9C9DD5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4" y="1570"/>
              <a:ext cx="907" cy="590"/>
            </a:xfrm>
            <a:prstGeom prst="rect">
              <a:avLst/>
            </a:prstGeom>
            <a:grpFill/>
            <a:ln w="9525">
              <a:solidFill>
                <a:srgbClr val="128F05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l-GR" sz="24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PrintStream</a:t>
              </a:r>
              <a:endPara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36" name="Rectangle 21">
              <a:extLst>
                <a:ext uri="{FF2B5EF4-FFF2-40B4-BE49-F238E27FC236}">
                  <a16:creationId xmlns:a16="http://schemas.microsoft.com/office/drawing/2014/main" id="{87D86782-F512-855F-8423-000F092D2F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1" y="1979"/>
              <a:ext cx="273" cy="181"/>
            </a:xfrm>
            <a:prstGeom prst="rect">
              <a:avLst/>
            </a:prstGeom>
            <a:grpFill/>
            <a:ln w="9525">
              <a:solidFill>
                <a:srgbClr val="128F05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37" name="Rectangle 22">
              <a:extLst>
                <a:ext uri="{FF2B5EF4-FFF2-40B4-BE49-F238E27FC236}">
                  <a16:creationId xmlns:a16="http://schemas.microsoft.com/office/drawing/2014/main" id="{6C890DE3-1780-21B9-E063-E5A0DBF179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1" y="1570"/>
              <a:ext cx="273" cy="181"/>
            </a:xfrm>
            <a:prstGeom prst="rect">
              <a:avLst/>
            </a:prstGeom>
            <a:grpFill/>
            <a:ln w="9525">
              <a:solidFill>
                <a:srgbClr val="128F05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38" name="Rectangle 23">
              <a:extLst>
                <a:ext uri="{FF2B5EF4-FFF2-40B4-BE49-F238E27FC236}">
                  <a16:creationId xmlns:a16="http://schemas.microsoft.com/office/drawing/2014/main" id="{B36A0637-15F4-F956-4F84-89B829C8A7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" y="2160"/>
              <a:ext cx="272" cy="136"/>
            </a:xfrm>
            <a:prstGeom prst="rect">
              <a:avLst/>
            </a:prstGeom>
            <a:grpFill/>
            <a:ln w="9525">
              <a:solidFill>
                <a:srgbClr val="128F05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39" name="Rectangle 24">
              <a:extLst>
                <a:ext uri="{FF2B5EF4-FFF2-40B4-BE49-F238E27FC236}">
                  <a16:creationId xmlns:a16="http://schemas.microsoft.com/office/drawing/2014/main" id="{8FF31B9E-7DFF-5D3E-968C-D9278FBC76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9" y="2160"/>
              <a:ext cx="272" cy="136"/>
            </a:xfrm>
            <a:prstGeom prst="rect">
              <a:avLst/>
            </a:prstGeom>
            <a:grpFill/>
            <a:ln w="9525">
              <a:solidFill>
                <a:srgbClr val="128F05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40" name="Rectangle 25">
              <a:extLst>
                <a:ext uri="{FF2B5EF4-FFF2-40B4-BE49-F238E27FC236}">
                  <a16:creationId xmlns:a16="http://schemas.microsoft.com/office/drawing/2014/main" id="{C929C749-5F0A-8783-787E-1CB4B6C283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1" y="1443"/>
              <a:ext cx="272" cy="136"/>
            </a:xfrm>
            <a:prstGeom prst="rect">
              <a:avLst/>
            </a:prstGeom>
            <a:grpFill/>
            <a:ln w="9525">
              <a:solidFill>
                <a:srgbClr val="128F05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41" name="Rectangle 26">
              <a:extLst>
                <a:ext uri="{FF2B5EF4-FFF2-40B4-BE49-F238E27FC236}">
                  <a16:creationId xmlns:a16="http://schemas.microsoft.com/office/drawing/2014/main" id="{FD282FFD-BB12-609F-223D-97EAB75253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8" y="1706"/>
              <a:ext cx="136" cy="318"/>
            </a:xfrm>
            <a:prstGeom prst="rect">
              <a:avLst/>
            </a:prstGeom>
            <a:grpFill/>
            <a:ln w="9525">
              <a:solidFill>
                <a:srgbClr val="128F05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27635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Οργάνωση Διάλεξης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DA6131CC-51AC-7772-5DFB-DAF5357892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848" y="1321601"/>
            <a:ext cx="10165491" cy="46755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514350" indent="-457200" eaLnBrk="1" hangingPunct="1">
              <a:buClr>
                <a:schemeClr val="hlink"/>
              </a:buClr>
              <a:defRPr/>
            </a:pPr>
            <a:r>
              <a:rPr lang="el-GR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Δημιουργία Στιγμιότυπων</a:t>
            </a:r>
          </a:p>
          <a:p>
            <a:pPr marL="914400" lvl="1" indent="-457200" eaLnBrk="1" hangingPunct="1">
              <a:defRPr/>
            </a:pPr>
            <a:r>
              <a:rPr lang="el-GR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Πολλαπλοί Δημιουργοί</a:t>
            </a:r>
          </a:p>
          <a:p>
            <a:pPr marL="914400" lvl="1" indent="-457200" eaLnBrk="1" hangingPunct="1">
              <a:defRPr/>
            </a:pPr>
            <a:r>
              <a:rPr lang="el-GR" b="1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Υπερφόρτωση μεθόδων (</a:t>
            </a:r>
            <a:r>
              <a:rPr lang="en-GB" b="1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method overloading</a:t>
            </a:r>
            <a:r>
              <a:rPr lang="el-GR" b="1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endParaRPr lang="en-GB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14400" lvl="1" indent="-457200" eaLnBrk="1" hangingPunct="1">
              <a:defRPr/>
            </a:pPr>
            <a:r>
              <a:rPr lang="en-GB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Keyword this</a:t>
            </a:r>
          </a:p>
          <a:p>
            <a:pPr marL="514350" indent="-457200" eaLnBrk="1" hangingPunct="1">
              <a:buClr>
                <a:schemeClr val="hlink"/>
              </a:buClr>
              <a:defRPr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Class data members, </a:t>
            </a:r>
            <a:r>
              <a:rPr lang="el-G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σταθερές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endParaRPr lang="el-GR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514350" indent="-457200" eaLnBrk="1" hangingPunct="1">
              <a:buClr>
                <a:schemeClr val="hlink"/>
              </a:buClr>
              <a:defRPr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Class methods</a:t>
            </a:r>
            <a:endParaRPr lang="el-GR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14400" lvl="1" indent="-457200" eaLnBrk="1" hangingPunct="1">
              <a:defRPr/>
            </a:pP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Factory methods</a:t>
            </a:r>
          </a:p>
          <a:p>
            <a:pPr marL="514350" indent="-457200" eaLnBrk="1" hangingPunct="1">
              <a:defRPr/>
            </a:pP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Java code style Guidelines</a:t>
            </a:r>
          </a:p>
          <a:p>
            <a:pPr marL="514350" indent="-457200" eaLnBrk="1" hangingPunct="1">
              <a:defRPr/>
            </a:pPr>
            <a:r>
              <a:rPr lang="el-G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Ασκήσεις</a:t>
            </a:r>
            <a:endParaRPr lang="en-GB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514350" indent="-457200" eaLnBrk="1" hangingPunct="1">
              <a:defRPr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514350" indent="-457200" eaLnBrk="1" hangingPunct="1">
              <a:buClr>
                <a:schemeClr val="hlink"/>
              </a:buClr>
              <a:defRPr/>
            </a:pPr>
            <a:endParaRPr lang="en-US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14400" lvl="1" indent="-457200" eaLnBrk="1" hangingPunct="1">
              <a:defRPr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324958" y="6623768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Java as an OOP language Part </a:t>
            </a:r>
            <a:r>
              <a:rPr lang="en-US" sz="1100" dirty="0">
                <a:solidFill>
                  <a:prstClr val="black"/>
                </a:solidFill>
                <a:latin typeface="Bahnschrift" panose="020B0502040204020203" pitchFamily="34" charset="0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1733615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Πολλαπλοί Δημιουργοί – Υπερφόρτωση Μεθόδων 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179824" y="6581001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Java as an OOP language Part </a:t>
            </a:r>
            <a:r>
              <a:rPr lang="en-US" sz="1100" dirty="0">
                <a:solidFill>
                  <a:prstClr val="black"/>
                </a:solidFill>
                <a:latin typeface="Bahnschrift" panose="020B0502040204020203" pitchFamily="34" charset="0"/>
              </a:rPr>
              <a:t>B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8BB4F09D-DFD7-0A9D-432C-EE3D8EA658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130" y="908720"/>
            <a:ext cx="10247589" cy="4104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ανάγκη απόδοσης αρχικών τιμών σε </a:t>
            </a:r>
            <a:r>
              <a:rPr lang="el-GR" altLang="el-GR" sz="2800" kern="0" dirty="0">
                <a:solidFill>
                  <a:srgbClr val="000000"/>
                </a:solidFill>
                <a:latin typeface="Tahoma"/>
              </a:rPr>
              <a:t>στιγμιότυπο</a:t>
            </a: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με διαφορετικούς τρόπους</a:t>
            </a:r>
            <a:endParaRPr kumimoji="0" lang="el-GR" altLang="el-G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εναλλακτικοί</a:t>
            </a:r>
            <a:r>
              <a:rPr kumimoji="0" lang="en-GB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Δημιουργοί της</a:t>
            </a:r>
            <a:r>
              <a:rPr kumimoji="0" lang="en-GB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r>
              <a:rPr kumimoji="0" lang="en-GB" altLang="el-GR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κλάσης</a:t>
            </a:r>
            <a:r>
              <a:rPr kumimoji="0" lang="en-GB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Circle</a:t>
            </a:r>
            <a:endParaRPr kumimoji="0" lang="en-GB" altLang="el-G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GB" altLang="el-GR" sz="2800" b="0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public </a:t>
            </a:r>
            <a:r>
              <a:rPr kumimoji="0" lang="en-GB" altLang="el-GR" sz="28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Circle</a:t>
            </a:r>
            <a:r>
              <a:rPr kumimoji="0" lang="en-GB" altLang="el-GR" sz="2800" b="1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(</a:t>
            </a:r>
            <a:r>
              <a:rPr kumimoji="0" lang="en-GB" altLang="el-GR" sz="2800" b="1" i="1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double r</a:t>
            </a:r>
            <a:r>
              <a:rPr kumimoji="0" lang="en-GB" altLang="el-GR" sz="2800" b="1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)</a:t>
            </a:r>
            <a:endParaRPr kumimoji="0" lang="en-GB" altLang="el-GR" sz="2800" b="0" i="1" u="none" strike="noStrike" kern="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GB" altLang="el-GR" sz="2800" b="0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			 {χ=0.0;y=0.0;this.r=r;}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GB" altLang="el-GR" sz="2800" b="0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public </a:t>
            </a:r>
            <a:r>
              <a:rPr kumimoji="0" lang="en-GB" altLang="el-GR" sz="28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Circle</a:t>
            </a:r>
            <a:r>
              <a:rPr kumimoji="0" lang="en-GB" altLang="el-GR" sz="2800" b="1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(</a:t>
            </a:r>
            <a:r>
              <a:rPr kumimoji="0" lang="en-GB" altLang="el-GR" sz="2800" b="1" i="1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Circle c</a:t>
            </a:r>
            <a:r>
              <a:rPr kumimoji="0" lang="en-GB" altLang="el-GR" sz="2800" b="1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)</a:t>
            </a:r>
            <a:endParaRPr kumimoji="0" lang="en-GB" altLang="el-GR" sz="2800" b="0" i="1" u="none" strike="noStrike" kern="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GB" altLang="el-GR" sz="2800" b="0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			{χ=</a:t>
            </a:r>
            <a:r>
              <a:rPr kumimoji="0" lang="en-GB" altLang="el-GR" sz="2800" b="0" i="1" u="none" strike="noStrike" kern="0" cap="none" spc="0" normalizeH="0" baseline="0" noProof="0" dirty="0" err="1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c.x;y</a:t>
            </a:r>
            <a:r>
              <a:rPr kumimoji="0" lang="en-GB" altLang="el-GR" sz="2800" b="0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=</a:t>
            </a:r>
            <a:r>
              <a:rPr kumimoji="0" lang="en-GB" altLang="el-GR" sz="2800" b="0" i="1" u="none" strike="noStrike" kern="0" cap="none" spc="0" normalizeH="0" baseline="0" noProof="0" dirty="0" err="1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c.y;r</a:t>
            </a:r>
            <a:r>
              <a:rPr kumimoji="0" lang="en-GB" altLang="el-GR" sz="2800" b="0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=</a:t>
            </a:r>
            <a:r>
              <a:rPr kumimoji="0" lang="en-GB" altLang="el-GR" sz="2800" b="0" i="1" u="none" strike="noStrike" kern="0" cap="none" spc="0" normalizeH="0" baseline="0" noProof="0" dirty="0" err="1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c.r</a:t>
            </a:r>
            <a:r>
              <a:rPr kumimoji="0" lang="en-GB" altLang="el-GR" sz="2800" b="0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;}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GB" altLang="el-GR" sz="2800" b="0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public </a:t>
            </a:r>
            <a:r>
              <a:rPr kumimoji="0" lang="en-GB" altLang="el-GR" sz="28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Circle</a:t>
            </a:r>
            <a:r>
              <a:rPr kumimoji="0" lang="en-GB" altLang="el-GR" sz="2800" b="1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()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GB" altLang="el-GR" sz="2800" b="0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			{χ=0.0;y=0.0;r=1.0;}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endParaRPr kumimoji="0" lang="en-GB" altLang="el-GR" sz="3200" b="0" i="0" u="none" strike="noStrike" kern="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7" name="AutoShape 6">
            <a:extLst>
              <a:ext uri="{FF2B5EF4-FFF2-40B4-BE49-F238E27FC236}">
                <a16:creationId xmlns:a16="http://schemas.microsoft.com/office/drawing/2014/main" id="{0159700A-701D-2D3A-C887-0E2FFE368DA6}"/>
              </a:ext>
            </a:extLst>
          </p:cNvPr>
          <p:cNvSpPr>
            <a:spLocks noChangeArrowheads="1"/>
          </p:cNvSpPr>
          <p:nvPr/>
        </p:nvSpPr>
        <p:spPr bwMode="auto">
          <a:xfrm rot="19874037">
            <a:off x="8401398" y="2544914"/>
            <a:ext cx="2862742" cy="1542202"/>
          </a:xfrm>
          <a:prstGeom prst="star16">
            <a:avLst>
              <a:gd name="adj" fmla="val 37500"/>
            </a:avLst>
          </a:prstGeom>
          <a:solidFill>
            <a:srgbClr val="FF000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</a:rPr>
              <a:t>method </a:t>
            </a:r>
          </a:p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</a:rPr>
              <a:t>overloading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82DF52-F0F9-F309-B20B-02D45975F403}"/>
              </a:ext>
            </a:extLst>
          </p:cNvPr>
          <p:cNvSpPr txBox="1"/>
          <p:nvPr/>
        </p:nvSpPr>
        <p:spPr>
          <a:xfrm>
            <a:off x="-1" y="5128801"/>
            <a:ext cx="12191999" cy="1384995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default constructor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If there is no default or parameterized constructor written by user, Java automatically creates default constructor. 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Default constructor initializes member data variable to default values 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444715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47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  <p:bldP spid="17" grpId="0" animBg="1"/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Κλήση δημιουργού</a:t>
            </a:r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– keyword this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DA6131CC-51AC-7772-5DFB-DAF5357892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187" y="1443923"/>
            <a:ext cx="10165491" cy="46755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914400" lvl="1" indent="-457200" eaLnBrk="1" hangingPunct="1">
              <a:defRPr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179824" y="6638880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Java as an OOP language Part </a:t>
            </a:r>
            <a:r>
              <a:rPr lang="en-US" sz="1100" dirty="0">
                <a:solidFill>
                  <a:prstClr val="black"/>
                </a:solidFill>
                <a:latin typeface="Bahnschrift" panose="020B0502040204020203" pitchFamily="34" charset="0"/>
              </a:rPr>
              <a:t>B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98738296-576C-FB9B-011F-46890E5448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187" y="977795"/>
            <a:ext cx="10316437" cy="538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endParaRPr kumimoji="0" lang="el-GR" altLang="el-GR" sz="28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endParaRPr lang="el-GR" altLang="el-GR" sz="2800" i="1" kern="0" dirty="0">
              <a:solidFill>
                <a:srgbClr val="000000"/>
              </a:solidFill>
              <a:latin typeface="Tahom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GB" altLang="el-GR" sz="2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	</a:t>
            </a:r>
            <a:endParaRPr kumimoji="0" lang="el-GR" altLang="el-GR" sz="28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l-GR" altLang="el-GR" sz="2800" b="0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	</a:t>
            </a:r>
            <a:r>
              <a:rPr kumimoji="0" lang="en-GB" altLang="el-GR" sz="2800" b="0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public Circle(double x, double y, double r){ 			</a:t>
            </a:r>
            <a:r>
              <a:rPr kumimoji="0" lang="en-GB" altLang="el-GR" sz="2800" b="0" i="1" u="none" strike="noStrike" kern="0" cap="none" spc="0" normalizeH="0" baseline="0" noProof="0" dirty="0" err="1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this.x</a:t>
            </a:r>
            <a:r>
              <a:rPr kumimoji="0" lang="en-GB" altLang="el-GR" sz="2800" b="0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=x;</a:t>
            </a:r>
            <a:r>
              <a:rPr kumimoji="0" lang="el-GR" altLang="el-GR" sz="2800" b="0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r>
              <a:rPr kumimoji="0" lang="en-GB" altLang="el-GR" sz="2800" b="0" i="1" u="none" strike="noStrike" kern="0" cap="none" spc="0" normalizeH="0" baseline="0" noProof="0" dirty="0" err="1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this.y</a:t>
            </a:r>
            <a:r>
              <a:rPr kumimoji="0" lang="en-GB" altLang="el-GR" sz="2800" b="0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=y;</a:t>
            </a:r>
            <a:r>
              <a:rPr kumimoji="0" lang="el-GR" altLang="el-GR" sz="2800" b="0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r>
              <a:rPr kumimoji="0" lang="en-GB" altLang="el-GR" sz="2800" b="0" i="1" u="none" strike="noStrike" kern="0" cap="none" spc="0" normalizeH="0" baseline="0" noProof="0" dirty="0" err="1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this.r</a:t>
            </a:r>
            <a:r>
              <a:rPr kumimoji="0" lang="en-GB" altLang="el-GR" sz="2800" b="0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=r;}</a:t>
            </a:r>
            <a:endParaRPr kumimoji="0" lang="el-GR" altLang="el-GR" sz="2800" b="0" i="1" u="none" strike="noStrike" kern="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endParaRPr kumimoji="0" lang="en-GB" altLang="el-GR" sz="2800" b="0" i="1" u="none" strike="noStrike" kern="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GB" altLang="el-GR" sz="2800" b="0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	public Circle(double r) {</a:t>
            </a:r>
            <a:endParaRPr kumimoji="0" lang="el-GR" altLang="el-GR" sz="2800" b="0" i="1" u="none" strike="noStrike" kern="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l-GR" altLang="el-GR" sz="28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				</a:t>
            </a:r>
            <a:r>
              <a:rPr kumimoji="0" lang="en-GB" altLang="el-GR" sz="28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this</a:t>
            </a:r>
            <a:r>
              <a:rPr kumimoji="0" lang="en-GB" altLang="el-GR" sz="2800" b="1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(</a:t>
            </a:r>
            <a:r>
              <a:rPr kumimoji="0" lang="en-GB" altLang="el-GR" sz="2800" b="0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0.0,0.0,r);}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endParaRPr kumimoji="0" lang="el-GR" altLang="el-GR" sz="2800" b="0" i="1" u="none" strike="noStrike" kern="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GB" altLang="el-GR" sz="2800" b="0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	public Circle(Circle c) {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GB" altLang="el-GR" sz="2800" b="0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				this</a:t>
            </a:r>
            <a:r>
              <a:rPr kumimoji="0" lang="en-GB" altLang="el-GR" sz="2800" b="0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(</a:t>
            </a:r>
            <a:r>
              <a:rPr kumimoji="0" lang="en-GB" altLang="el-GR" sz="2800" b="0" i="1" u="none" strike="noStrike" kern="0" cap="none" spc="0" normalizeH="0" baseline="0" noProof="0" dirty="0" err="1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c.x,c.y,c.r</a:t>
            </a:r>
            <a:r>
              <a:rPr kumimoji="0" lang="en-GB" altLang="el-GR" sz="2800" b="0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);}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endParaRPr kumimoji="0" lang="el-GR" altLang="el-GR" sz="2800" b="0" i="1" u="none" strike="noStrike" kern="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GB" altLang="el-GR" sz="2800" b="0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	public Circle() {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GB" altLang="el-GR" sz="2800" b="0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				this</a:t>
            </a:r>
            <a:r>
              <a:rPr kumimoji="0" lang="en-GB" altLang="el-GR" sz="2800" b="0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(0.0,0.0,1.0);}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n-GB" altLang="el-GR" sz="3200" b="0" i="0" u="none" strike="noStrike" kern="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A6E09C47-BB2E-BAEB-41C4-402BE92F4A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241" y="919820"/>
            <a:ext cx="10316437" cy="12570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GB" altLang="el-GR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έν</a:t>
            </a:r>
            <a:r>
              <a:rPr kumimoji="0" lang="en-GB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ας constructor </a:t>
            </a: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έχει τη δυνατότητα κλήσης άλλου</a:t>
            </a:r>
            <a:r>
              <a:rPr kumimoji="0" lang="en-GB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constructor</a:t>
            </a:r>
            <a:r>
              <a:rPr kumimoji="0" lang="el-GR" altLang="el-GR" sz="2800" b="0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	</a:t>
            </a:r>
            <a:endParaRPr kumimoji="0" lang="en-GB" altLang="el-GR" sz="3200" b="0" i="0" u="none" strike="noStrike" kern="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9" name="Callout: Line 8">
            <a:extLst>
              <a:ext uri="{FF2B5EF4-FFF2-40B4-BE49-F238E27FC236}">
                <a16:creationId xmlns:a16="http://schemas.microsoft.com/office/drawing/2014/main" id="{36256190-17B7-C55C-6C67-FEA08C6FD16A}"/>
              </a:ext>
            </a:extLst>
          </p:cNvPr>
          <p:cNvSpPr/>
          <p:nvPr/>
        </p:nvSpPr>
        <p:spPr>
          <a:xfrm>
            <a:off x="7294544" y="4597720"/>
            <a:ext cx="4172032" cy="816357"/>
          </a:xfrm>
          <a:prstGeom prst="borderCallout1">
            <a:avLst>
              <a:gd name="adj1" fmla="val 52353"/>
              <a:gd name="adj2" fmla="val 1658"/>
              <a:gd name="adj3" fmla="val -100319"/>
              <a:gd name="adj4" fmla="val -81073"/>
            </a:avLst>
          </a:prstGeom>
          <a:solidFill>
            <a:schemeClr val="accent6"/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μόνο ως πρώτη πρόταση </a:t>
            </a:r>
          </a:p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του νέου </a:t>
            </a:r>
            <a:r>
              <a:rPr kumimoji="0" lang="el-GR" altLang="el-GR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constructor</a:t>
            </a:r>
            <a:endParaRPr kumimoji="0" lang="el-GR" altLang="el-GR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A108B52-59CA-BD8A-0520-1422C6555F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9398" y="1526642"/>
            <a:ext cx="4402601" cy="1902358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9D8D0D28-916B-38D4-5DC3-443BFF392180}"/>
              </a:ext>
            </a:extLst>
          </p:cNvPr>
          <p:cNvSpPr/>
          <p:nvPr/>
        </p:nvSpPr>
        <p:spPr>
          <a:xfrm>
            <a:off x="7789398" y="1404436"/>
            <a:ext cx="4402601" cy="2216587"/>
          </a:xfrm>
          <a:prstGeom prst="rect">
            <a:avLst/>
          </a:prstGeom>
          <a:solidFill>
            <a:srgbClr val="FFFF00">
              <a:alpha val="18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483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  <p:bldP spid="7" grpId="0" build="p"/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Constructor vs. Method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DA6131CC-51AC-7772-5DFB-DAF5357892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187" y="1443923"/>
            <a:ext cx="10165491" cy="46755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914400" lvl="1" indent="-457200" eaLnBrk="1" hangingPunct="1">
              <a:defRPr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308199" y="6646684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Java as an OOP language Part </a:t>
            </a:r>
            <a:r>
              <a:rPr lang="en-US" sz="1100" dirty="0">
                <a:solidFill>
                  <a:prstClr val="black"/>
                </a:solidFill>
                <a:latin typeface="Bahnschrift" panose="020B0502040204020203" pitchFamily="34" charset="0"/>
              </a:rPr>
              <a:t>B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0B77DB-0D45-13E1-2159-BB4A81D298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470" y="697801"/>
            <a:ext cx="8388424" cy="592312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8A34A6A-AAD8-41F8-81C3-977A2AC19D52}"/>
              </a:ext>
            </a:extLst>
          </p:cNvPr>
          <p:cNvSpPr txBox="1"/>
          <p:nvPr/>
        </p:nvSpPr>
        <p:spPr>
          <a:xfrm>
            <a:off x="8953255" y="6302652"/>
            <a:ext cx="34563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rgbClr val="000000"/>
                </a:solidFill>
                <a:latin typeface="Tahoma" panose="020B0604030504040204" pitchFamily="34" charset="0"/>
              </a:rPr>
              <a:t>https://www.javatpoint.com/java-constructor</a:t>
            </a:r>
            <a:endParaRPr lang="el-GR" sz="120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928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Οργάνωση Διάλεξης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DA6131CC-51AC-7772-5DFB-DAF5357892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848" y="1321601"/>
            <a:ext cx="10165491" cy="46755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514350" indent="-457200" eaLnBrk="1" hangingPunct="1">
              <a:buClr>
                <a:schemeClr val="hlink"/>
              </a:buClr>
              <a:defRPr/>
            </a:pPr>
            <a:r>
              <a:rPr lang="el-G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Πολλαπλοί Δημιουργοί</a:t>
            </a:r>
          </a:p>
          <a:p>
            <a:pPr marL="914400" lvl="1" indent="-457200" eaLnBrk="1" hangingPunct="1">
              <a:defRPr/>
            </a:pP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Keyword this</a:t>
            </a:r>
          </a:p>
          <a:p>
            <a:pPr marL="514350" indent="-457200" eaLnBrk="1" hangingPunct="1">
              <a:buClr>
                <a:schemeClr val="hlink"/>
              </a:buClr>
              <a:defRPr/>
            </a:pP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Class data members, </a:t>
            </a:r>
            <a:r>
              <a:rPr lang="el-GR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σταθερές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endParaRPr lang="el-GR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514350" indent="-457200" eaLnBrk="1" hangingPunct="1">
              <a:buClr>
                <a:schemeClr val="hlink"/>
              </a:buClr>
              <a:defRPr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Class methods</a:t>
            </a:r>
            <a:endParaRPr lang="el-GR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14400" lvl="1" indent="-457200" eaLnBrk="1" hangingPunct="1">
              <a:defRPr/>
            </a:pP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Factory methods</a:t>
            </a:r>
          </a:p>
          <a:p>
            <a:pPr marL="514350" indent="-457200" eaLnBrk="1" hangingPunct="1">
              <a:defRPr/>
            </a:pP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Java code style Guidelines</a:t>
            </a:r>
          </a:p>
          <a:p>
            <a:pPr marL="514350" indent="-457200" eaLnBrk="1" hangingPunct="1">
              <a:defRPr/>
            </a:pPr>
            <a:r>
              <a:rPr lang="el-G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Ασκήσεις</a:t>
            </a:r>
            <a:endParaRPr lang="en-GB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514350" indent="-457200" eaLnBrk="1" hangingPunct="1">
              <a:defRPr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514350" indent="-457200" eaLnBrk="1" hangingPunct="1">
              <a:buClr>
                <a:schemeClr val="hlink"/>
              </a:buClr>
              <a:defRPr/>
            </a:pPr>
            <a:endParaRPr lang="en-US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14400" lvl="1" indent="-457200" eaLnBrk="1" hangingPunct="1">
              <a:defRPr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324958" y="6623768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Java as an OOP language Part </a:t>
            </a:r>
            <a:r>
              <a:rPr lang="en-US" sz="1100" dirty="0">
                <a:solidFill>
                  <a:prstClr val="black"/>
                </a:solidFill>
                <a:latin typeface="Bahnschrift" panose="020B0502040204020203" pitchFamily="34" charset="0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3584549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73059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F9853D"/>
                </a:solidFill>
                <a:latin typeface="Bahnschrift" panose="020B0502040204020203" pitchFamily="34" charset="0"/>
              </a:rPr>
              <a:t>class variables</a:t>
            </a:r>
            <a:r>
              <a:rPr 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 - Δήλωση</a:t>
            </a:r>
            <a:r>
              <a:rPr lang="en-GB" b="1" dirty="0">
                <a:solidFill>
                  <a:srgbClr val="F9853D"/>
                </a:solidFill>
                <a:latin typeface="Bahnschrift" panose="020B0502040204020203" pitchFamily="34" charset="0"/>
              </a:rPr>
              <a:t> </a:t>
            </a:r>
            <a:endParaRPr lang="el-GR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669928"/>
            <a:ext cx="2705100" cy="1801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296318" y="6621493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2902797" y="6606851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Java as an OOP language Part </a:t>
            </a:r>
            <a:r>
              <a:rPr lang="en-US" sz="1100" dirty="0">
                <a:solidFill>
                  <a:prstClr val="black"/>
                </a:solidFill>
                <a:latin typeface="Bahnschrift" panose="020B0502040204020203" pitchFamily="34" charset="0"/>
              </a:rPr>
              <a:t>B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97C1E760-7AEC-82EE-476D-13CF008C91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1000918"/>
            <a:ext cx="10877550" cy="4856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GB" altLang="el-GR" sz="4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Πα</a:t>
            </a:r>
            <a:r>
              <a:rPr kumimoji="0" lang="en-GB" altLang="el-GR" sz="4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ράδειγμ</a:t>
            </a:r>
            <a:r>
              <a:rPr kumimoji="0" lang="en-GB" altLang="el-GR" sz="4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α</a:t>
            </a: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kumimoji="0" lang="en-GB" altLang="el-GR" b="0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panose="020B0604020202020204" pitchFamily="34" charset="0"/>
              </a:rPr>
              <a:t>public class</a:t>
            </a:r>
            <a:r>
              <a:rPr kumimoji="0" lang="en-GB" altLang="el-GR" b="1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panose="020B0604020202020204" pitchFamily="34" charset="0"/>
              </a:rPr>
              <a:t> Circle</a:t>
            </a:r>
            <a:r>
              <a:rPr kumimoji="0" lang="en-GB" altLang="el-GR" b="0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panose="020B0604020202020204" pitchFamily="34" charset="0"/>
              </a:rPr>
              <a:t> {</a:t>
            </a: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kumimoji="0" lang="en-GB" altLang="el-GR" b="0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panose="020B0604020202020204" pitchFamily="34" charset="0"/>
              </a:rPr>
              <a:t>	</a:t>
            </a:r>
            <a:r>
              <a:rPr kumimoji="0" lang="en-US" altLang="el-GR" b="0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panose="020B0604020202020204" pitchFamily="34" charset="0"/>
              </a:rPr>
              <a:t>		</a:t>
            </a:r>
            <a:r>
              <a:rPr kumimoji="0" lang="en-GB" altLang="el-GR" b="1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panose="020B0604020202020204" pitchFamily="34" charset="0"/>
              </a:rPr>
              <a:t> int </a:t>
            </a:r>
            <a:r>
              <a:rPr kumimoji="0" lang="en-GB" altLang="el-GR" b="1" i="1" u="none" strike="noStrike" kern="0" cap="none" spc="0" normalizeH="0" baseline="0" noProof="0" dirty="0" err="1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panose="020B0604020202020204" pitchFamily="34" charset="0"/>
              </a:rPr>
              <a:t>num</a:t>
            </a:r>
            <a:r>
              <a:rPr kumimoji="0" lang="en-US" altLang="el-GR" b="1" i="1" u="none" strike="noStrike" kern="0" cap="none" spc="0" normalizeH="0" baseline="0" noProof="0" dirty="0" err="1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panose="020B0604020202020204" pitchFamily="34" charset="0"/>
              </a:rPr>
              <a:t>OfInstances</a:t>
            </a:r>
            <a:r>
              <a:rPr kumimoji="0" lang="en-GB" altLang="el-GR" b="1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panose="020B0604020202020204" pitchFamily="34" charset="0"/>
              </a:rPr>
              <a:t> = 0;</a:t>
            </a:r>
            <a:r>
              <a:rPr kumimoji="0" lang="en-GB" altLang="el-GR" b="0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panose="020B0604020202020204" pitchFamily="34" charset="0"/>
              </a:rPr>
              <a:t>	</a:t>
            </a:r>
            <a:endParaRPr kumimoji="0" lang="el-GR" altLang="el-GR" b="0" i="1" u="none" strike="noStrike" kern="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Arial" panose="020B0604020202020204" pitchFamily="34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kumimoji="0" lang="en-GB" altLang="el-GR" b="0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panose="020B0604020202020204" pitchFamily="34" charset="0"/>
              </a:rPr>
              <a:t>	public double </a:t>
            </a:r>
            <a:r>
              <a:rPr kumimoji="0" lang="en-GB" altLang="el-GR" b="0" i="1" u="none" strike="noStrike" kern="0" cap="none" spc="0" normalizeH="0" baseline="0" noProof="0" dirty="0" err="1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panose="020B0604020202020204" pitchFamily="34" charset="0"/>
              </a:rPr>
              <a:t>x,y,r</a:t>
            </a:r>
            <a:r>
              <a:rPr kumimoji="0" lang="en-GB" altLang="el-GR" b="0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panose="020B0604020202020204" pitchFamily="34" charset="0"/>
              </a:rPr>
              <a:t>;	</a:t>
            </a:r>
            <a:r>
              <a:rPr kumimoji="0" lang="en-US" altLang="el-GR" b="0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panose="020B0604020202020204" pitchFamily="34" charset="0"/>
              </a:rPr>
              <a:t>		</a:t>
            </a:r>
            <a:endParaRPr kumimoji="0" lang="en-GB" altLang="el-GR" b="0" i="1" u="none" strike="noStrike" kern="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Arial" panose="020B0604020202020204" pitchFamily="34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kumimoji="0" lang="en-GB" altLang="el-GR" b="0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panose="020B0604020202020204" pitchFamily="34" charset="0"/>
              </a:rPr>
              <a:t>	</a:t>
            </a:r>
            <a:endParaRPr kumimoji="0" lang="el-GR" altLang="el-GR" b="0" i="1" u="none" strike="noStrike" kern="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Arial" panose="020B0604020202020204" pitchFamily="34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kumimoji="0" lang="en-GB" altLang="el-GR" b="0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panose="020B0604020202020204" pitchFamily="34" charset="0"/>
              </a:rPr>
              <a:t>// methods</a:t>
            </a:r>
            <a:endParaRPr kumimoji="0" lang="el-GR" altLang="el-GR" b="0" i="1" u="none" strike="noStrike" kern="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Arial" panose="020B0604020202020204" pitchFamily="34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kumimoji="0" lang="en-GB" altLang="el-GR" b="0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panose="020B0604020202020204" pitchFamily="34" charset="0"/>
              </a:rPr>
              <a:t>public Circle(double x, double y, double r) {</a:t>
            </a: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kumimoji="0" lang="en-GB" altLang="el-GR" b="0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panose="020B0604020202020204" pitchFamily="34" charset="0"/>
              </a:rPr>
              <a:t>		</a:t>
            </a:r>
            <a:r>
              <a:rPr kumimoji="0" lang="en-GB" altLang="el-GR" b="0" i="1" u="none" strike="noStrike" kern="0" cap="none" spc="0" normalizeH="0" baseline="0" noProof="0" dirty="0" err="1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panose="020B0604020202020204" pitchFamily="34" charset="0"/>
              </a:rPr>
              <a:t>this.x</a:t>
            </a:r>
            <a:r>
              <a:rPr kumimoji="0" lang="en-GB" altLang="el-GR" b="0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panose="020B0604020202020204" pitchFamily="34" charset="0"/>
              </a:rPr>
              <a:t>=</a:t>
            </a:r>
            <a:r>
              <a:rPr kumimoji="0" lang="en-GB" altLang="el-GR" b="0" i="1" u="none" strike="noStrike" kern="0" cap="none" spc="0" normalizeH="0" baseline="0" noProof="0" dirty="0" err="1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panose="020B0604020202020204" pitchFamily="34" charset="0"/>
              </a:rPr>
              <a:t>x;this.y</a:t>
            </a:r>
            <a:r>
              <a:rPr kumimoji="0" lang="en-GB" altLang="el-GR" b="0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panose="020B0604020202020204" pitchFamily="34" charset="0"/>
              </a:rPr>
              <a:t>=</a:t>
            </a:r>
            <a:r>
              <a:rPr kumimoji="0" lang="en-GB" altLang="el-GR" b="0" i="1" u="none" strike="noStrike" kern="0" cap="none" spc="0" normalizeH="0" baseline="0" noProof="0" dirty="0" err="1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panose="020B0604020202020204" pitchFamily="34" charset="0"/>
              </a:rPr>
              <a:t>y;this.r</a:t>
            </a:r>
            <a:r>
              <a:rPr kumimoji="0" lang="en-GB" altLang="el-GR" b="0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panose="020B0604020202020204" pitchFamily="34" charset="0"/>
              </a:rPr>
              <a:t>=r;</a:t>
            </a: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kumimoji="0" lang="en-GB" altLang="el-GR" b="0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panose="020B0604020202020204" pitchFamily="34" charset="0"/>
              </a:rPr>
              <a:t>		 </a:t>
            </a:r>
            <a:r>
              <a:rPr kumimoji="0" lang="en-GB" altLang="el-GR" b="1" i="1" u="none" strike="noStrike" kern="0" cap="none" spc="0" normalizeH="0" baseline="0" noProof="0" dirty="0" err="1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panose="020B0604020202020204" pitchFamily="34" charset="0"/>
              </a:rPr>
              <a:t>num</a:t>
            </a:r>
            <a:r>
              <a:rPr kumimoji="0" lang="en-US" altLang="el-GR" b="1" i="1" u="none" strike="noStrike" kern="0" cap="none" spc="0" normalizeH="0" baseline="0" noProof="0" dirty="0" err="1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panose="020B0604020202020204" pitchFamily="34" charset="0"/>
              </a:rPr>
              <a:t>OfInstances</a:t>
            </a:r>
            <a:r>
              <a:rPr kumimoji="0" lang="en-GB" altLang="el-GR" b="0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panose="020B0604020202020204" pitchFamily="34" charset="0"/>
              </a:rPr>
              <a:t>++;</a:t>
            </a: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kumimoji="0" lang="en-GB" altLang="el-GR" b="0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panose="020B0604020202020204" pitchFamily="34" charset="0"/>
              </a:rPr>
              <a:t>		}</a:t>
            </a: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kumimoji="0" lang="en-GB" altLang="el-GR" b="0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panose="020B0604020202020204" pitchFamily="34" charset="0"/>
              </a:rPr>
              <a:t>	public double circumference(){return 2*3,14*r;}</a:t>
            </a: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kumimoji="0" lang="en-GB" altLang="el-GR" b="0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panose="020B0604020202020204" pitchFamily="34" charset="0"/>
              </a:rPr>
              <a:t>	public double area() {return 3.14*r*r;}</a:t>
            </a: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endParaRPr lang="en-GB" altLang="el-GR" i="1" kern="0" dirty="0">
              <a:solidFill>
                <a:srgbClr val="3333CC"/>
              </a:solidFill>
              <a:latin typeface="Arial" panose="020B0604020202020204" pitchFamily="34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endParaRPr kumimoji="0" lang="en-GB" altLang="el-GR" b="0" i="1" u="none" strike="noStrike" kern="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Arial" panose="020B0604020202020204" pitchFamily="34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endParaRPr kumimoji="0" lang="el-GR" altLang="el-GR" b="0" i="1" u="none" strike="noStrike" kern="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Arial" panose="020B0604020202020204" pitchFamily="34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kumimoji="0" lang="en-GB" altLang="el-GR" b="0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panose="020B0604020202020204" pitchFamily="34" charset="0"/>
              </a:rPr>
              <a:t>	}</a:t>
            </a:r>
          </a:p>
        </p:txBody>
      </p:sp>
      <p:sp>
        <p:nvSpPr>
          <p:cNvPr id="9" name="Text Box 4">
            <a:extLst>
              <a:ext uri="{FF2B5EF4-FFF2-40B4-BE49-F238E27FC236}">
                <a16:creationId xmlns:a16="http://schemas.microsoft.com/office/drawing/2014/main" id="{92C147E5-D4F8-7F2F-5D93-2DA32B4D4D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8305" y="1672235"/>
            <a:ext cx="182679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</a:rPr>
              <a:t>static</a:t>
            </a:r>
            <a:endParaRPr kumimoji="0" lang="en-GB" altLang="el-GR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12" name="Text Box 5">
            <a:extLst>
              <a:ext uri="{FF2B5EF4-FFF2-40B4-BE49-F238E27FC236}">
                <a16:creationId xmlns:a16="http://schemas.microsoft.com/office/drawing/2014/main" id="{71A9A01F-0E89-C88C-B2F9-BEA1F1DA6C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9616" y="1672235"/>
            <a:ext cx="95181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altLang="el-GR" sz="3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</a:rPr>
              <a:t>?</a:t>
            </a:r>
            <a:endParaRPr kumimoji="0" lang="en-GB" altLang="el-GR" sz="36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13" name="Text Box 6">
            <a:extLst>
              <a:ext uri="{FF2B5EF4-FFF2-40B4-BE49-F238E27FC236}">
                <a16:creationId xmlns:a16="http://schemas.microsoft.com/office/drawing/2014/main" id="{91B53550-BDCE-F8FC-D4EB-5B1B6EB677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611" y="3695022"/>
            <a:ext cx="95181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altLang="el-GR" sz="36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</a:rPr>
              <a:t>?</a:t>
            </a:r>
            <a:endParaRPr kumimoji="0" lang="en-GB" altLang="el-GR" sz="36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grpSp>
        <p:nvGrpSpPr>
          <p:cNvPr id="14" name="Group 9">
            <a:extLst>
              <a:ext uri="{FF2B5EF4-FFF2-40B4-BE49-F238E27FC236}">
                <a16:creationId xmlns:a16="http://schemas.microsoft.com/office/drawing/2014/main" id="{78392F88-3396-618F-1A94-285538CFBA62}"/>
              </a:ext>
            </a:extLst>
          </p:cNvPr>
          <p:cNvGrpSpPr>
            <a:grpSpLocks/>
          </p:cNvGrpSpPr>
          <p:nvPr/>
        </p:nvGrpSpPr>
        <p:grpSpPr bwMode="auto">
          <a:xfrm>
            <a:off x="6285798" y="1746025"/>
            <a:ext cx="832840" cy="539574"/>
            <a:chOff x="3527" y="1428"/>
            <a:chExt cx="336" cy="288"/>
          </a:xfrm>
        </p:grpSpPr>
        <p:sp>
          <p:nvSpPr>
            <p:cNvPr id="15" name="Line 7">
              <a:extLst>
                <a:ext uri="{FF2B5EF4-FFF2-40B4-BE49-F238E27FC236}">
                  <a16:creationId xmlns:a16="http://schemas.microsoft.com/office/drawing/2014/main" id="{45DB17DC-AFAB-BC3B-32C2-FC5EEFA55A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7" y="1428"/>
              <a:ext cx="288" cy="28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16" name="Line 8">
              <a:extLst>
                <a:ext uri="{FF2B5EF4-FFF2-40B4-BE49-F238E27FC236}">
                  <a16:creationId xmlns:a16="http://schemas.microsoft.com/office/drawing/2014/main" id="{908C9CA5-847B-B84A-34CD-6A0449502B3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27" y="1428"/>
              <a:ext cx="336" cy="28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</p:grpSp>
      <p:grpSp>
        <p:nvGrpSpPr>
          <p:cNvPr id="17" name="Group 10">
            <a:extLst>
              <a:ext uri="{FF2B5EF4-FFF2-40B4-BE49-F238E27FC236}">
                <a16:creationId xmlns:a16="http://schemas.microsoft.com/office/drawing/2014/main" id="{EAAFCEBC-E429-5DC5-F193-82E7ECA260FF}"/>
              </a:ext>
            </a:extLst>
          </p:cNvPr>
          <p:cNvGrpSpPr>
            <a:grpSpLocks/>
          </p:cNvGrpSpPr>
          <p:nvPr/>
        </p:nvGrpSpPr>
        <p:grpSpPr bwMode="auto">
          <a:xfrm>
            <a:off x="5391163" y="3748400"/>
            <a:ext cx="832840" cy="539574"/>
            <a:chOff x="3459" y="1582"/>
            <a:chExt cx="336" cy="288"/>
          </a:xfrm>
        </p:grpSpPr>
        <p:sp>
          <p:nvSpPr>
            <p:cNvPr id="18" name="Line 11">
              <a:extLst>
                <a:ext uri="{FF2B5EF4-FFF2-40B4-BE49-F238E27FC236}">
                  <a16:creationId xmlns:a16="http://schemas.microsoft.com/office/drawing/2014/main" id="{74FB907C-586C-3F83-3EC6-1227009B88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9" y="1582"/>
              <a:ext cx="288" cy="28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19" name="Line 12">
              <a:extLst>
                <a:ext uri="{FF2B5EF4-FFF2-40B4-BE49-F238E27FC236}">
                  <a16:creationId xmlns:a16="http://schemas.microsoft.com/office/drawing/2014/main" id="{BECDD89B-0FAB-BEAF-D20B-992B711F43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59" y="1582"/>
              <a:ext cx="336" cy="28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</p:grpSp>
      <p:sp>
        <p:nvSpPr>
          <p:cNvPr id="20" name="Text Box 13">
            <a:extLst>
              <a:ext uri="{FF2B5EF4-FFF2-40B4-BE49-F238E27FC236}">
                <a16:creationId xmlns:a16="http://schemas.microsoft.com/office/drawing/2014/main" id="{A5A1D672-8C2E-0C2B-AFA1-17656A2A02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5731" y="1746100"/>
            <a:ext cx="4159243" cy="4370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1" indent="0" defTabSz="91440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kumimoji="0" lang="en-GB" altLang="el-GR" b="0" i="1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 panose="020B0604030504040204" pitchFamily="34" charset="0"/>
              </a:rPr>
              <a:t>//class variable</a:t>
            </a:r>
            <a:endParaRPr kumimoji="0" lang="el-GR" altLang="el-GR" b="0" i="0" u="none" strike="noStrike" kern="0" cap="none" spc="0" normalizeH="0" baseline="0" noProof="0" dirty="0">
              <a:ln>
                <a:noFill/>
              </a:ln>
              <a:solidFill>
                <a:srgbClr val="8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E397043-FDFC-92A5-384F-8704B58F5F16}"/>
              </a:ext>
            </a:extLst>
          </p:cNvPr>
          <p:cNvSpPr txBox="1"/>
          <p:nvPr/>
        </p:nvSpPr>
        <p:spPr>
          <a:xfrm>
            <a:off x="306847" y="5303083"/>
            <a:ext cx="4338047" cy="9294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lang="en-GB" altLang="el-GR" sz="2400" i="1" kern="0" dirty="0">
                <a:solidFill>
                  <a:srgbClr val="C00000"/>
                </a:solidFill>
                <a:latin typeface="Arial" panose="020B0604020202020204" pitchFamily="34" charset="0"/>
              </a:rPr>
              <a:t>protected void </a:t>
            </a:r>
            <a:r>
              <a:rPr lang="en-GB" altLang="el-GR" sz="2400" b="1" i="1" kern="0" dirty="0">
                <a:solidFill>
                  <a:srgbClr val="C00000"/>
                </a:solidFill>
                <a:latin typeface="Arial" panose="020B0604020202020204" pitchFamily="34" charset="0"/>
              </a:rPr>
              <a:t>finalize(){ </a:t>
            </a: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kumimoji="0" lang="en-GB" altLang="el-GR" b="0" i="1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</a:rPr>
              <a:t>			</a:t>
            </a:r>
            <a:r>
              <a:rPr kumimoji="0" lang="en-GB" altLang="el-GR" sz="1600" b="1" i="1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</a:rPr>
              <a:t> </a:t>
            </a:r>
            <a:r>
              <a:rPr kumimoji="0" lang="en-GB" altLang="el-GR" sz="2000" b="1" i="1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</a:rPr>
              <a:t>num</a:t>
            </a:r>
            <a:r>
              <a:rPr kumimoji="0" lang="en-US" altLang="el-GR" sz="2000" b="1" i="1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</a:rPr>
              <a:t>OfInstances</a:t>
            </a:r>
            <a:r>
              <a:rPr lang="en-GB" altLang="el-GR" sz="2000" i="1" kern="0" dirty="0">
                <a:solidFill>
                  <a:srgbClr val="C00000"/>
                </a:solidFill>
                <a:latin typeface="Arial" panose="020B0604020202020204" pitchFamily="34" charset="0"/>
              </a:rPr>
              <a:t>--</a:t>
            </a:r>
            <a:r>
              <a:rPr kumimoji="0" lang="en-GB" altLang="el-GR" sz="2000" b="0" i="1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</a:rPr>
              <a:t>;</a:t>
            </a:r>
            <a:endParaRPr kumimoji="0" lang="en-GB" altLang="el-GR" b="0" i="1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lang="en-GB" altLang="el-GR" i="1" kern="0" dirty="0">
                <a:solidFill>
                  <a:srgbClr val="C00000"/>
                </a:solidFill>
                <a:latin typeface="Arial" panose="020B0604020202020204" pitchFamily="34" charset="0"/>
              </a:rPr>
              <a:t>			</a:t>
            </a:r>
            <a:r>
              <a:rPr lang="en-GB" altLang="el-GR" sz="2400" i="1" kern="0" dirty="0">
                <a:solidFill>
                  <a:srgbClr val="C00000"/>
                </a:solidFill>
                <a:latin typeface="Arial" panose="020B0604020202020204" pitchFamily="34" charset="0"/>
              </a:rPr>
              <a:t>}</a:t>
            </a:r>
            <a:endParaRPr kumimoji="0" lang="en-GB" altLang="el-GR" b="0" i="1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22" name="Callout: Line 21">
            <a:extLst>
              <a:ext uri="{FF2B5EF4-FFF2-40B4-BE49-F238E27FC236}">
                <a16:creationId xmlns:a16="http://schemas.microsoft.com/office/drawing/2014/main" id="{B02104E9-BA91-7E60-49FD-2CD6D74972AD}"/>
              </a:ext>
            </a:extLst>
          </p:cNvPr>
          <p:cNvSpPr/>
          <p:nvPr/>
        </p:nvSpPr>
        <p:spPr>
          <a:xfrm>
            <a:off x="5962519" y="5303083"/>
            <a:ext cx="5922634" cy="1236185"/>
          </a:xfrm>
          <a:prstGeom prst="borderCallout1">
            <a:avLst>
              <a:gd name="adj1" fmla="val 53178"/>
              <a:gd name="adj2" fmla="val 673"/>
              <a:gd name="adj3" fmla="val 33051"/>
              <a:gd name="adj4" fmla="val -29005"/>
            </a:avLst>
          </a:prstGeom>
          <a:solidFill>
            <a:srgbClr val="92D050"/>
          </a:solidFill>
          <a:ln w="571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finalize(): </a:t>
            </a:r>
            <a:r>
              <a:rPr lang="el-GR" sz="2400" dirty="0"/>
              <a:t>Δεσμευμένη λέξη της </a:t>
            </a:r>
            <a:r>
              <a:rPr lang="en-GB" sz="2400" dirty="0"/>
              <a:t>Java </a:t>
            </a:r>
            <a:r>
              <a:rPr lang="el-GR" sz="2400" dirty="0"/>
              <a:t>για να αναθέσουμε έργο στον συλλογέα σκουπιδιών</a:t>
            </a:r>
            <a:r>
              <a:rPr lang="en-GB" sz="2400" dirty="0"/>
              <a:t> (Garbage Collector)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CD8AEB-8AEF-44A3-A538-D1BB763C2779}"/>
              </a:ext>
            </a:extLst>
          </p:cNvPr>
          <p:cNvSpPr txBox="1"/>
          <p:nvPr/>
        </p:nvSpPr>
        <p:spPr>
          <a:xfrm>
            <a:off x="7682661" y="244545"/>
            <a:ext cx="44103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2800" b="1" dirty="0"/>
              <a:t>Requirement No 2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CDCD5C-A627-02DD-C292-8BB9B655E4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7829" y="-479383"/>
            <a:ext cx="6335009" cy="1990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760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0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/>
      <p:bldP spid="9" grpId="0"/>
      <p:bldP spid="12" grpId="0"/>
      <p:bldP spid="13" grpId="0"/>
      <p:bldP spid="20" grpId="0"/>
      <p:bldP spid="21" grpId="0"/>
      <p:bldP spid="2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class variables -  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Τρόπος Αναφοράς</a:t>
            </a:r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305908" y="6559909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Java as an OOP language Part </a:t>
            </a:r>
            <a:r>
              <a:rPr lang="en-US" sz="1100" dirty="0">
                <a:solidFill>
                  <a:prstClr val="black"/>
                </a:solidFill>
                <a:latin typeface="Bahnschrift" panose="020B0502040204020203" pitchFamily="34" charset="0"/>
              </a:rPr>
              <a:t>B</a:t>
            </a:r>
          </a:p>
        </p:txBody>
      </p:sp>
      <p:sp>
        <p:nvSpPr>
          <p:cNvPr id="3" name="Rectangle 1027">
            <a:extLst>
              <a:ext uri="{FF2B5EF4-FFF2-40B4-BE49-F238E27FC236}">
                <a16:creationId xmlns:a16="http://schemas.microsoft.com/office/drawing/2014/main" id="{FD6E4C61-E81A-8990-AB44-5AF132715E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03" y="1030989"/>
            <a:ext cx="6528897" cy="411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indent="-285750" eaLnBrk="1" hangingPunct="1">
              <a:lnSpc>
                <a:spcPct val="90000"/>
              </a:lnSpc>
              <a:buClr>
                <a:srgbClr val="FF0000"/>
              </a:buClr>
              <a:buSzPct val="55000"/>
            </a:pPr>
            <a:r>
              <a:rPr lang="el-GR" altLang="el-GR" i="1" kern="0" dirty="0">
                <a:solidFill>
                  <a:srgbClr val="000000"/>
                </a:solidFill>
                <a:latin typeface="Tahoma"/>
              </a:rPr>
              <a:t>α</a:t>
            </a:r>
            <a:r>
              <a:rPr kumimoji="0" lang="el-GR" altLang="el-GR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πό άλλο αντικείμενο</a:t>
            </a:r>
          </a:p>
          <a:p>
            <a:pPr marL="57150" indent="0" eaLnBrk="1" hangingPunct="1">
              <a:lnSpc>
                <a:spcPct val="90000"/>
              </a:lnSpc>
              <a:buClr>
                <a:srgbClr val="FF0000"/>
              </a:buClr>
              <a:buSzPct val="55000"/>
              <a:buNone/>
            </a:pPr>
            <a:r>
              <a:rPr kumimoji="0" lang="en-GB" altLang="el-GR" sz="4000" b="1" i="1" u="none" strike="noStrike" kern="0" cap="none" spc="0" normalizeH="0" baseline="0" noProof="0" dirty="0" err="1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/>
              </a:rPr>
              <a:t>Circle</a:t>
            </a:r>
            <a:r>
              <a:rPr kumimoji="0" lang="en-GB" altLang="el-GR" b="1" i="1" u="none" strike="noStrike" kern="0" cap="none" spc="0" normalizeH="0" baseline="0" noProof="0" dirty="0" err="1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</a:rPr>
              <a:t>.</a:t>
            </a:r>
            <a:r>
              <a:rPr kumimoji="0" lang="en-GB" altLang="el-GR" b="1" i="1" u="none" strike="noStrike" kern="0" cap="none" spc="0" normalizeH="0" baseline="0" noProof="0" dirty="0" err="1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panose="020B0604020202020204" pitchFamily="34" charset="0"/>
              </a:rPr>
              <a:t>num</a:t>
            </a:r>
            <a:r>
              <a:rPr kumimoji="0" lang="en-US" altLang="el-GR" b="1" i="1" u="none" strike="noStrike" kern="0" cap="none" spc="0" normalizeH="0" baseline="0" noProof="0" dirty="0" err="1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panose="020B0604020202020204" pitchFamily="34" charset="0"/>
              </a:rPr>
              <a:t>OfInstances</a:t>
            </a:r>
            <a:endParaRPr kumimoji="0" lang="en-GB" altLang="el-GR" b="0" i="1" u="none" strike="noStrike" kern="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Tahom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endParaRPr kumimoji="0" lang="en-GB" altLang="el-GR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</a:endParaRPr>
          </a:p>
          <a:p>
            <a:pPr indent="-285750" eaLnBrk="1" hangingPunct="1">
              <a:lnSpc>
                <a:spcPct val="90000"/>
              </a:lnSpc>
              <a:buClr>
                <a:srgbClr val="FF0000"/>
              </a:buClr>
              <a:buSzPct val="55000"/>
            </a:pPr>
            <a:r>
              <a:rPr kumimoji="0" lang="en-GB" altLang="el-GR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στον</a:t>
            </a:r>
            <a:r>
              <a:rPr kumimoji="0" lang="en-GB" altLang="el-GR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 ορισμό της κλάσης </a:t>
            </a:r>
            <a:r>
              <a:rPr kumimoji="0" lang="en-GB" altLang="el-GR" b="1" i="1" u="none" strike="noStrike" kern="0" cap="none" spc="0" normalizeH="0" baseline="0" noProof="0" dirty="0" err="1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panose="020B0604020202020204" pitchFamily="34" charset="0"/>
              </a:rPr>
              <a:t>num</a:t>
            </a:r>
            <a:r>
              <a:rPr kumimoji="0" lang="en-US" altLang="el-GR" b="1" i="1" u="none" strike="noStrike" kern="0" cap="none" spc="0" normalizeH="0" baseline="0" noProof="0" dirty="0" err="1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panose="020B0604020202020204" pitchFamily="34" charset="0"/>
              </a:rPr>
              <a:t>OfInstances</a:t>
            </a:r>
            <a:endParaRPr lang="el-GR" altLang="el-GR" sz="3600" b="1" kern="0" dirty="0">
              <a:solidFill>
                <a:srgbClr val="3333CC"/>
              </a:solidFill>
              <a:latin typeface="Tahoma"/>
            </a:endParaRPr>
          </a:p>
          <a:p>
            <a:pPr marL="57150" indent="0" eaLnBrk="1" hangingPunct="1">
              <a:lnSpc>
                <a:spcPct val="90000"/>
              </a:lnSpc>
              <a:buClr>
                <a:srgbClr val="FF0000"/>
              </a:buClr>
              <a:buSzPct val="55000"/>
              <a:buNone/>
            </a:pPr>
            <a:r>
              <a:rPr kumimoji="0" lang="en-GB" altLang="el-GR" sz="2400" b="0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panose="020B0604020202020204" pitchFamily="34" charset="0"/>
              </a:rPr>
              <a:t>public Circle(double x, double y, double r) {</a:t>
            </a: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kumimoji="0" lang="en-GB" altLang="el-GR" sz="2400" b="0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panose="020B0604020202020204" pitchFamily="34" charset="0"/>
              </a:rPr>
              <a:t>		</a:t>
            </a:r>
            <a:r>
              <a:rPr kumimoji="0" lang="en-GB" altLang="el-GR" sz="2400" b="0" i="1" u="none" strike="noStrike" kern="0" cap="none" spc="0" normalizeH="0" baseline="0" noProof="0" dirty="0" err="1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panose="020B0604020202020204" pitchFamily="34" charset="0"/>
              </a:rPr>
              <a:t>this.x;this.y;this.r</a:t>
            </a:r>
            <a:r>
              <a:rPr kumimoji="0" lang="en-GB" altLang="el-GR" sz="2400" b="0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panose="020B0604020202020204" pitchFamily="34" charset="0"/>
              </a:rPr>
              <a:t>;</a:t>
            </a: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kumimoji="0" lang="en-GB" altLang="el-GR" sz="2400" b="0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panose="020B0604020202020204" pitchFamily="34" charset="0"/>
              </a:rPr>
              <a:t>		 </a:t>
            </a:r>
            <a:r>
              <a:rPr kumimoji="0" lang="en-GB" altLang="el-GR" b="1" i="1" u="none" strike="noStrike" kern="0" cap="none" spc="0" normalizeH="0" baseline="0" noProof="0" dirty="0" err="1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panose="020B0604020202020204" pitchFamily="34" charset="0"/>
              </a:rPr>
              <a:t>num</a:t>
            </a:r>
            <a:r>
              <a:rPr kumimoji="0" lang="en-US" altLang="el-GR" b="1" i="1" u="none" strike="noStrike" kern="0" cap="none" spc="0" normalizeH="0" baseline="0" noProof="0" dirty="0" err="1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panose="020B0604020202020204" pitchFamily="34" charset="0"/>
              </a:rPr>
              <a:t>OfInstances</a:t>
            </a:r>
            <a:r>
              <a:rPr kumimoji="0" lang="en-GB" altLang="el-GR" sz="2400" b="1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panose="020B0604020202020204" pitchFamily="34" charset="0"/>
              </a:rPr>
              <a:t> </a:t>
            </a:r>
            <a:r>
              <a:rPr kumimoji="0" lang="en-GB" altLang="el-GR" sz="2400" b="0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panose="020B0604020202020204" pitchFamily="34" charset="0"/>
              </a:rPr>
              <a:t>++;</a:t>
            </a: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kumimoji="0" lang="en-GB" altLang="el-GR" sz="2400" b="0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panose="020B0604020202020204" pitchFamily="34" charset="0"/>
              </a:rPr>
              <a:t>		}</a:t>
            </a:r>
          </a:p>
        </p:txBody>
      </p:sp>
      <p:sp>
        <p:nvSpPr>
          <p:cNvPr id="5" name="Text Box 1028">
            <a:extLst>
              <a:ext uri="{FF2B5EF4-FFF2-40B4-BE49-F238E27FC236}">
                <a16:creationId xmlns:a16="http://schemas.microsoft.com/office/drawing/2014/main" id="{7275FDF1-65DF-0F64-AAF2-404F703408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0810" y="5457477"/>
            <a:ext cx="324682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Monotype Sorts" pitchFamily="2" charset="2"/>
              <a:buNone/>
              <a:tabLst/>
              <a:defRPr/>
            </a:pPr>
            <a:r>
              <a:rPr kumimoji="0" lang="en-US" altLang="el-GR" sz="2400" b="0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 panose="020B0604030504040204" pitchFamily="34" charset="0"/>
              </a:rPr>
              <a:t>c1.</a:t>
            </a:r>
            <a:r>
              <a:rPr kumimoji="0" lang="en-GB" altLang="el-GR" sz="2400" b="0" i="1" u="none" strike="noStrike" kern="0" cap="none" spc="0" normalizeH="0" baseline="0" noProof="0" dirty="0" err="1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 panose="020B0604030504040204" pitchFamily="34" charset="0"/>
              </a:rPr>
              <a:t>num</a:t>
            </a:r>
            <a:r>
              <a:rPr kumimoji="0" lang="en-US" altLang="el-GR" sz="2400" b="0" i="1" u="none" strike="noStrike" kern="0" cap="none" spc="0" normalizeH="0" baseline="0" noProof="0" dirty="0" err="1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 panose="020B0604030504040204" pitchFamily="34" charset="0"/>
              </a:rPr>
              <a:t>OfInstances</a:t>
            </a:r>
            <a:endParaRPr kumimoji="0" lang="en-GB" altLang="el-GR" sz="2400" b="0" i="1" u="none" strike="noStrike" kern="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grpSp>
        <p:nvGrpSpPr>
          <p:cNvPr id="7" name="Group 1032">
            <a:extLst>
              <a:ext uri="{FF2B5EF4-FFF2-40B4-BE49-F238E27FC236}">
                <a16:creationId xmlns:a16="http://schemas.microsoft.com/office/drawing/2014/main" id="{8BC15174-0D25-6F44-8757-B0086E5E18A3}"/>
              </a:ext>
            </a:extLst>
          </p:cNvPr>
          <p:cNvGrpSpPr>
            <a:grpSpLocks/>
          </p:cNvGrpSpPr>
          <p:nvPr/>
        </p:nvGrpSpPr>
        <p:grpSpPr bwMode="auto">
          <a:xfrm>
            <a:off x="563270" y="5352858"/>
            <a:ext cx="3132137" cy="609600"/>
            <a:chOff x="3379" y="3339"/>
            <a:chExt cx="1584" cy="384"/>
          </a:xfrm>
        </p:grpSpPr>
        <p:sp>
          <p:nvSpPr>
            <p:cNvPr id="9" name="Line 1029">
              <a:extLst>
                <a:ext uri="{FF2B5EF4-FFF2-40B4-BE49-F238E27FC236}">
                  <a16:creationId xmlns:a16="http://schemas.microsoft.com/office/drawing/2014/main" id="{0AA7800A-A01F-403E-BD1E-5AFF2ED0A5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79" y="3430"/>
              <a:ext cx="1584" cy="288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12" name="Line 1030">
              <a:extLst>
                <a:ext uri="{FF2B5EF4-FFF2-40B4-BE49-F238E27FC236}">
                  <a16:creationId xmlns:a16="http://schemas.microsoft.com/office/drawing/2014/main" id="{D1A3ED2E-3B3F-0FC1-88B3-CBA75EFE0F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70" y="3339"/>
              <a:ext cx="1248" cy="384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</p:grpSp>
      <p:sp>
        <p:nvSpPr>
          <p:cNvPr id="15" name="Rectangle 3">
            <a:extLst>
              <a:ext uri="{FF2B5EF4-FFF2-40B4-BE49-F238E27FC236}">
                <a16:creationId xmlns:a16="http://schemas.microsoft.com/office/drawing/2014/main" id="{169AAE4D-B11D-DAEB-81BC-AA8CB94A04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0476" y="1272148"/>
            <a:ext cx="5209754" cy="524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αντίθετα με τις instance variables υπάρχουν και μπορούν να χρησιμοποιηθούν χωρίς να απαιτείται instantiation της κλάσης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n-US" alt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καλούνται και </a:t>
            </a:r>
            <a:r>
              <a:rPr kumimoji="0" lang="el-GR" altLang="el-GR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static variables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n-US" alt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αντικαθιστούν τις γενικές μεταβλητές της C χωρίς το πρόβλημα  της σύγκρουσης ονομάτων</a:t>
            </a:r>
            <a:r>
              <a:rPr kumimoji="0" lang="en-GB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(name conflict)</a:t>
            </a:r>
            <a:endParaRPr kumimoji="0" lang="en-GB" alt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 Greek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n-GB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3546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15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Σταθερές  (</a:t>
            </a:r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Constants)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305908" y="6559909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Java as an OOP language Part </a:t>
            </a:r>
            <a:r>
              <a:rPr lang="en-US" sz="1100" dirty="0">
                <a:solidFill>
                  <a:prstClr val="black"/>
                </a:solidFill>
                <a:latin typeface="Bahnschrift" panose="020B0502040204020203" pitchFamily="34" charset="0"/>
              </a:rPr>
              <a:t>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89AD55-5EC9-7B52-3493-CAD405D20C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52407"/>
            <a:ext cx="8501743" cy="2210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742950" marR="0" lvl="1" indent="-285750" defTabSz="91440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kumimoji="0" lang="en-GB" altLang="el-GR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public class</a:t>
            </a:r>
            <a:r>
              <a:rPr kumimoji="0" lang="en-GB" altLang="el-GR" sz="20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 Circle</a:t>
            </a:r>
            <a:r>
              <a:rPr kumimoji="0" lang="en-GB" altLang="el-GR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 {</a:t>
            </a:r>
          </a:p>
          <a:p>
            <a:pPr marL="742950" marR="0" lvl="1" indent="-285750" defTabSz="91440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endParaRPr kumimoji="0" lang="en-GB" altLang="el-GR" sz="20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  <a:p>
            <a:pPr marL="742950" marR="0" lvl="1" indent="-285750" defTabSz="91440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kumimoji="0" lang="en-GB" altLang="el-GR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	</a:t>
            </a:r>
            <a:r>
              <a:rPr kumimoji="0" lang="en-GB" altLang="el-GR" sz="20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public </a:t>
            </a:r>
            <a:r>
              <a:rPr kumimoji="0" lang="en-GB" altLang="el-GR" sz="24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</a:rPr>
              <a:t>static final</a:t>
            </a:r>
            <a:r>
              <a:rPr kumimoji="0" lang="en-GB" altLang="el-GR" sz="20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 double PI</a:t>
            </a:r>
            <a:r>
              <a:rPr kumimoji="0" lang="en-GB" altLang="el-GR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 = 3.1415926535;</a:t>
            </a:r>
          </a:p>
          <a:p>
            <a:pPr marL="742950" marR="0" lvl="1" indent="-285750" defTabSz="91440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endParaRPr kumimoji="0" lang="en-GB" altLang="el-GR" sz="20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  <a:p>
            <a:pPr marL="742950" marR="0" lvl="1" indent="-285750" defTabSz="91440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kumimoji="0" lang="en-GB" altLang="el-GR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	public double </a:t>
            </a:r>
            <a:r>
              <a:rPr kumimoji="0" lang="en-GB" altLang="el-GR" sz="20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x,y,r</a:t>
            </a:r>
            <a:r>
              <a:rPr kumimoji="0" lang="en-GB" altLang="el-GR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;			 //instance variables</a:t>
            </a:r>
          </a:p>
          <a:p>
            <a:pPr marL="742950" marR="0" lvl="1" indent="-28575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endParaRPr kumimoji="0" lang="en-GB" altLang="el-G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  <a:p>
            <a:pPr marL="742950" marR="0" lvl="1" indent="-28575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endParaRPr kumimoji="0" lang="en-GB" altLang="el-G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7" name="AutoShape 5">
            <a:extLst>
              <a:ext uri="{FF2B5EF4-FFF2-40B4-BE49-F238E27FC236}">
                <a16:creationId xmlns:a16="http://schemas.microsoft.com/office/drawing/2014/main" id="{26C7E63C-D4BC-A002-A183-BDAE95A7CC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2227" y="688749"/>
            <a:ext cx="4113125" cy="522648"/>
          </a:xfrm>
          <a:prstGeom prst="wedgeRoundRectCallout">
            <a:avLst>
              <a:gd name="adj1" fmla="val -69289"/>
              <a:gd name="adj2" fmla="val 115490"/>
              <a:gd name="adj3" fmla="val 16667"/>
            </a:avLst>
          </a:prstGeom>
          <a:solidFill>
            <a:srgbClr val="FFFF00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1C1C1C"/>
            </a:outerShdw>
          </a:effec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l-G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Χρήση</a:t>
            </a:r>
            <a:r>
              <a:rPr kumimoji="0" lang="en-GB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 </a:t>
            </a:r>
            <a:r>
              <a:rPr kumimoji="0" lang="en-GB" altLang="el-G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κεφ</a:t>
            </a:r>
            <a:r>
              <a:rPr kumimoji="0" lang="en-GB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αλαίων όπως στη C</a:t>
            </a:r>
            <a:endParaRPr kumimoji="0" lang="en-GB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 Greek" panose="02020603050405020304" pitchFamily="18" charset="0"/>
            </a:endParaRP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CCA4BA94-8389-81A6-2BE7-52DF94E496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464" y="4334101"/>
            <a:ext cx="11134531" cy="183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GB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ο compiler π</a:t>
            </a:r>
            <a:r>
              <a:rPr kumimoji="0" lang="en-GB" altLang="el-GR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ροϋ</a:t>
            </a:r>
            <a:r>
              <a:rPr kumimoji="0" lang="en-GB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πολογίζει τιμές εκφράσεων που περιέχουν τη σταθερά, </a:t>
            </a: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π.χ.</a:t>
            </a:r>
            <a:r>
              <a:rPr kumimoji="0" lang="en-GB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 </a:t>
            </a:r>
          </a:p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GB" altLang="el-GR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			</a:t>
            </a:r>
            <a:r>
              <a:rPr kumimoji="0" lang="en-GB" altLang="el-GR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2*</a:t>
            </a:r>
            <a:r>
              <a:rPr kumimoji="0" lang="en-GB" altLang="el-GR" b="0" i="1" u="none" strike="noStrike" kern="0" cap="none" spc="0" normalizeH="0" baseline="0" noProof="0" dirty="0" err="1">
                <a:ln>
                  <a:noFill/>
                </a:ln>
                <a:solidFill>
                  <a:srgbClr val="1BDD07"/>
                </a:solidFill>
                <a:effectLst/>
                <a:uLnTx/>
                <a:uFillTx/>
                <a:latin typeface="Tahoma" panose="020B0604030504040204" pitchFamily="34" charset="0"/>
              </a:rPr>
              <a:t>Cirlce.</a:t>
            </a:r>
            <a:r>
              <a:rPr kumimoji="0" lang="en-GB" altLang="el-GR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PI</a:t>
            </a:r>
            <a:r>
              <a:rPr kumimoji="0" lang="en-GB" altLang="el-GR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*r</a:t>
            </a:r>
            <a:endParaRPr kumimoji="0" lang="en-GB" altLang="el-GR" sz="4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GB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απ</a:t>
            </a:r>
            <a:r>
              <a:rPr kumimoji="0" lang="en-GB" altLang="el-GR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οτελούν</a:t>
            </a:r>
            <a:r>
              <a:rPr kumimoji="0" lang="en-GB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 α</a:t>
            </a:r>
            <a:r>
              <a:rPr kumimoji="0" lang="en-GB" altLang="el-GR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ντικ</a:t>
            </a:r>
            <a:r>
              <a:rPr kumimoji="0" lang="en-GB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ατάστατο της #define της C</a:t>
            </a:r>
            <a:endParaRPr kumimoji="0" lang="en-GB" altLang="el-GR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 Greek" panose="02020603050405020304" pitchFamily="18" charset="0"/>
            </a:endParaRPr>
          </a:p>
        </p:txBody>
      </p:sp>
      <p:sp>
        <p:nvSpPr>
          <p:cNvPr id="16" name="Callout: Line 15">
            <a:extLst>
              <a:ext uri="{FF2B5EF4-FFF2-40B4-BE49-F238E27FC236}">
                <a16:creationId xmlns:a16="http://schemas.microsoft.com/office/drawing/2014/main" id="{B69179D5-A1A6-1DAB-2225-6712EB40E53B}"/>
              </a:ext>
            </a:extLst>
          </p:cNvPr>
          <p:cNvSpPr/>
          <p:nvPr/>
        </p:nvSpPr>
        <p:spPr>
          <a:xfrm>
            <a:off x="2314222" y="3000261"/>
            <a:ext cx="9373927" cy="1057396"/>
          </a:xfrm>
          <a:prstGeom prst="borderCallout1">
            <a:avLst>
              <a:gd name="adj1" fmla="val 69"/>
              <a:gd name="adj2" fmla="val 48642"/>
              <a:gd name="adj3" fmla="val -112590"/>
              <a:gd name="adj4" fmla="val 5611"/>
            </a:avLst>
          </a:prstGeom>
          <a:solidFill>
            <a:schemeClr val="accent6"/>
          </a:solidFill>
          <a:ln w="571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l-GR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o προσδιοριστής </a:t>
            </a:r>
            <a:r>
              <a:rPr kumimoji="0" lang="en-GB" altLang="el-GR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final</a:t>
            </a:r>
            <a:r>
              <a:rPr kumimoji="0" lang="en-GB" altLang="el-GR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 απαγορεύει εκφράσεις της μορφής</a:t>
            </a:r>
          </a:p>
          <a:p>
            <a:pPr marL="0" marR="0" lvl="1" indent="0" algn="ctr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l-GR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Circle.PI = 2;</a:t>
            </a:r>
            <a:endParaRPr kumimoji="0" lang="en-GB" altLang="el-GR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 Greek" panose="02020603050405020304" pitchFamily="18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54FF66B-0139-4019-E800-5786F6B8C399}"/>
              </a:ext>
            </a:extLst>
          </p:cNvPr>
          <p:cNvGrpSpPr/>
          <p:nvPr/>
        </p:nvGrpSpPr>
        <p:grpSpPr>
          <a:xfrm>
            <a:off x="6095999" y="3528959"/>
            <a:ext cx="2057400" cy="533400"/>
            <a:chOff x="3819330" y="3276600"/>
            <a:chExt cx="2057400" cy="533400"/>
          </a:xfrm>
        </p:grpSpPr>
        <p:sp>
          <p:nvSpPr>
            <p:cNvPr id="13" name="Line 9">
              <a:extLst>
                <a:ext uri="{FF2B5EF4-FFF2-40B4-BE49-F238E27FC236}">
                  <a16:creationId xmlns:a16="http://schemas.microsoft.com/office/drawing/2014/main" id="{170AA9F0-8191-8F67-6D89-D7D8617766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19330" y="3352800"/>
              <a:ext cx="2057400" cy="38100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14" name="Line 10">
              <a:extLst>
                <a:ext uri="{FF2B5EF4-FFF2-40B4-BE49-F238E27FC236}">
                  <a16:creationId xmlns:a16="http://schemas.microsoft.com/office/drawing/2014/main" id="{8EC515D7-1106-4FC2-F51F-3486E0A15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71730" y="3276600"/>
              <a:ext cx="1828800" cy="53340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52226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7" grpId="0" animBg="1" autoUpdateAnimBg="0"/>
      <p:bldP spid="9" grpId="0" autoUpdateAnimBg="0"/>
      <p:bldP spid="1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variables in Python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305908" y="6559909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Java as an OOP language Part </a:t>
            </a:r>
            <a:r>
              <a:rPr lang="en-US" sz="1100" dirty="0">
                <a:solidFill>
                  <a:prstClr val="black"/>
                </a:solidFill>
                <a:latin typeface="Bahnschrift" panose="020B0502040204020203" pitchFamily="34" charset="0"/>
              </a:rPr>
              <a:t>B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623654F7-A6B0-1A19-59C4-7D94063CA6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732" y="740882"/>
            <a:ext cx="11209356" cy="46002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No static Keyword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sz="40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class variables </a:t>
            </a:r>
            <a:r>
              <a:rPr kumimoji="0" lang="en-US" sz="40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: </a:t>
            </a:r>
            <a:r>
              <a:rPr kumimoji="0" lang="en-US" sz="4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variables which are assigned a value in class declaration. 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sz="4000" b="1" i="1" u="none" strike="noStrike" kern="1200" cap="none" spc="0" normalizeH="0" baseline="0" noProof="0" dirty="0">
                <a:ln>
                  <a:noFill/>
                </a:ln>
                <a:solidFill>
                  <a:srgbClr val="00E4A8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instance variables </a:t>
            </a:r>
            <a:r>
              <a:rPr kumimoji="0" lang="en-US" sz="40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: </a:t>
            </a:r>
            <a:r>
              <a:rPr kumimoji="0" lang="en-US" sz="4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variables which are assigned values inside class methods.</a:t>
            </a:r>
            <a:r>
              <a:rPr kumimoji="0" lang="en-GB" altLang="el-GR" sz="4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27E57F6-A8AD-6650-BE53-A80BD25FD5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161" y="3933056"/>
            <a:ext cx="7773325" cy="2735059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2FBC76F-38A9-F649-10D0-401886D8C1E3}"/>
              </a:ext>
            </a:extLst>
          </p:cNvPr>
          <p:cNvCxnSpPr/>
          <p:nvPr/>
        </p:nvCxnSpPr>
        <p:spPr bwMode="auto">
          <a:xfrm>
            <a:off x="1475656" y="4869160"/>
            <a:ext cx="1368152" cy="0"/>
          </a:xfrm>
          <a:prstGeom prst="line">
            <a:avLst/>
          </a:prstGeom>
          <a:solidFill>
            <a:srgbClr val="00E4A8"/>
          </a:solidFill>
          <a:ln w="3810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53B49AC-F15A-B60D-D369-A76F99DC9BF7}"/>
              </a:ext>
            </a:extLst>
          </p:cNvPr>
          <p:cNvCxnSpPr/>
          <p:nvPr/>
        </p:nvCxnSpPr>
        <p:spPr bwMode="auto">
          <a:xfrm>
            <a:off x="1475656" y="5117232"/>
            <a:ext cx="1368152" cy="0"/>
          </a:xfrm>
          <a:prstGeom prst="line">
            <a:avLst/>
          </a:prstGeom>
          <a:solidFill>
            <a:srgbClr val="00E4A8"/>
          </a:solidFill>
          <a:ln w="3810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E2C670F-24B2-F14D-76E9-FBDAC09E995D}"/>
              </a:ext>
            </a:extLst>
          </p:cNvPr>
          <p:cNvCxnSpPr/>
          <p:nvPr/>
        </p:nvCxnSpPr>
        <p:spPr bwMode="auto">
          <a:xfrm>
            <a:off x="7020272" y="6453336"/>
            <a:ext cx="1368152" cy="0"/>
          </a:xfrm>
          <a:prstGeom prst="line">
            <a:avLst/>
          </a:prstGeom>
          <a:solidFill>
            <a:srgbClr val="00E4A8"/>
          </a:solidFill>
          <a:ln w="38100" cap="flat" cmpd="sng" algn="ctr">
            <a:solidFill>
              <a:srgbClr val="00E4A8">
                <a:lumMod val="60000"/>
                <a:lumOff val="40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076B032-8500-B0D5-3D97-801AB4C6CA3C}"/>
              </a:ext>
            </a:extLst>
          </p:cNvPr>
          <p:cNvCxnSpPr/>
          <p:nvPr/>
        </p:nvCxnSpPr>
        <p:spPr bwMode="auto">
          <a:xfrm>
            <a:off x="7020272" y="6741368"/>
            <a:ext cx="1368152" cy="0"/>
          </a:xfrm>
          <a:prstGeom prst="line">
            <a:avLst/>
          </a:prstGeom>
          <a:solidFill>
            <a:srgbClr val="00E4A8"/>
          </a:solidFill>
          <a:ln w="38100" cap="flat" cmpd="sng" algn="ctr">
            <a:solidFill>
              <a:srgbClr val="00E4A8">
                <a:lumMod val="60000"/>
                <a:lumOff val="40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CCDCA90-6768-581A-2A4B-1C657219226C}"/>
              </a:ext>
            </a:extLst>
          </p:cNvPr>
          <p:cNvCxnSpPr>
            <a:cxnSpLocks/>
          </p:cNvCxnSpPr>
          <p:nvPr/>
        </p:nvCxnSpPr>
        <p:spPr bwMode="auto">
          <a:xfrm>
            <a:off x="4542791" y="6290313"/>
            <a:ext cx="2088232" cy="0"/>
          </a:xfrm>
          <a:prstGeom prst="line">
            <a:avLst/>
          </a:prstGeom>
          <a:solidFill>
            <a:srgbClr val="00E4A8"/>
          </a:solidFill>
          <a:ln w="3810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781629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Οργάνωση Διάλεξης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DA6131CC-51AC-7772-5DFB-DAF5357892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848" y="1321601"/>
            <a:ext cx="10165491" cy="46755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514350" indent="-457200" eaLnBrk="1" hangingPunct="1">
              <a:buClr>
                <a:schemeClr val="hlink"/>
              </a:buClr>
              <a:defRPr/>
            </a:pPr>
            <a:r>
              <a:rPr lang="el-G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Πολλαπλοί Δημιουργοί</a:t>
            </a:r>
          </a:p>
          <a:p>
            <a:pPr marL="914400" lvl="1" indent="-457200" eaLnBrk="1" hangingPunct="1">
              <a:defRPr/>
            </a:pP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Keyword this</a:t>
            </a:r>
          </a:p>
          <a:p>
            <a:pPr marL="514350" indent="-457200" eaLnBrk="1" hangingPunct="1">
              <a:buClr>
                <a:schemeClr val="hlink"/>
              </a:buClr>
              <a:defRPr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Class data members, </a:t>
            </a:r>
            <a:r>
              <a:rPr lang="el-G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σταθερές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endParaRPr lang="el-GR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514350" indent="-457200" eaLnBrk="1" hangingPunct="1">
              <a:buClr>
                <a:schemeClr val="hlink"/>
              </a:buClr>
              <a:defRPr/>
            </a:pP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Class methods</a:t>
            </a:r>
            <a:endParaRPr lang="el-GR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14400" lvl="1" indent="-457200" eaLnBrk="1" hangingPunct="1">
              <a:defRPr/>
            </a:pPr>
            <a:r>
              <a:rPr lang="en-GB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Factory methods</a:t>
            </a:r>
          </a:p>
          <a:p>
            <a:pPr marL="514350" indent="-457200" eaLnBrk="1" hangingPunct="1">
              <a:defRPr/>
            </a:pP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Java code style Guidelines</a:t>
            </a:r>
          </a:p>
          <a:p>
            <a:pPr marL="514350" indent="-457200" eaLnBrk="1" hangingPunct="1">
              <a:defRPr/>
            </a:pPr>
            <a:r>
              <a:rPr lang="el-G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Ασκήσεις</a:t>
            </a:r>
            <a:endParaRPr lang="en-GB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514350" indent="-457200" eaLnBrk="1" hangingPunct="1">
              <a:defRPr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514350" indent="-457200" eaLnBrk="1" hangingPunct="1">
              <a:buClr>
                <a:schemeClr val="hlink"/>
              </a:buClr>
              <a:defRPr/>
            </a:pPr>
            <a:endParaRPr lang="en-US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14400" lvl="1" indent="-457200" eaLnBrk="1" hangingPunct="1">
              <a:defRPr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324958" y="6623768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Java as an OOP language Part </a:t>
            </a:r>
            <a:r>
              <a:rPr lang="en-US" sz="1100" dirty="0">
                <a:solidFill>
                  <a:prstClr val="black"/>
                </a:solidFill>
                <a:latin typeface="Bahnschrift" panose="020B0502040204020203" pitchFamily="34" charset="0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3961813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Μέθοδος Κλάσης (</a:t>
            </a:r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class method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)</a:t>
            </a:r>
            <a:endParaRPr lang="en-GB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305908" y="6559909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Java as an OOP language Part </a:t>
            </a:r>
            <a:r>
              <a:rPr lang="en-US" sz="1100" dirty="0">
                <a:solidFill>
                  <a:prstClr val="black"/>
                </a:solidFill>
                <a:latin typeface="Bahnschrift" panose="020B0502040204020203" pitchFamily="34" charset="0"/>
              </a:rPr>
              <a:t>B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AE2A973D-FD9F-A3EE-2CCF-2EFA85882B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378226"/>
            <a:ext cx="8534400" cy="4522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GB" altLang="el-GR" sz="2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public class Circle {</a:t>
            </a:r>
          </a:p>
          <a:p>
            <a:pPr marL="342900" marR="0" lvl="0" indent="-342900" algn="l" defTabSz="914400" rtl="0" eaLnBrk="1" fontAlgn="base" latinLnBrk="0" hangingPunct="1">
              <a:lnSpc>
                <a:spcPct val="85000"/>
              </a:lnSpc>
              <a:spcBef>
                <a:spcPts val="6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GB" altLang="el-GR" sz="2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	public double </a:t>
            </a:r>
            <a:r>
              <a:rPr kumimoji="0" lang="en-GB" altLang="el-GR" sz="28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x,y,r</a:t>
            </a:r>
            <a:r>
              <a:rPr kumimoji="0" lang="en-GB" altLang="el-GR" sz="2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;</a:t>
            </a:r>
            <a:endParaRPr kumimoji="0" lang="el-GR" altLang="el-GR" sz="28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eaLnBrk="1" hangingPunct="1">
              <a:lnSpc>
                <a:spcPct val="85000"/>
              </a:lnSpc>
              <a:spcBef>
                <a:spcPts val="600"/>
              </a:spcBef>
              <a:buClr>
                <a:srgbClr val="3333CC"/>
              </a:buClr>
              <a:buNone/>
            </a:pPr>
            <a:r>
              <a:rPr lang="el-GR" altLang="el-GR" sz="2800" i="1" kern="0" dirty="0">
                <a:solidFill>
                  <a:srgbClr val="1BDD07"/>
                </a:solidFill>
                <a:latin typeface="Tahoma"/>
              </a:rPr>
              <a:t>    // ως μέθοδος στιγμιότυπου</a:t>
            </a:r>
            <a:endParaRPr lang="en-GB" altLang="el-GR" sz="2800" i="1" kern="0" dirty="0">
              <a:solidFill>
                <a:srgbClr val="1BDD07"/>
              </a:solidFill>
              <a:latin typeface="Tahom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5000"/>
              </a:lnSpc>
              <a:spcBef>
                <a:spcPts val="6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GB" altLang="el-GR" sz="2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	</a:t>
            </a:r>
            <a:r>
              <a:rPr kumimoji="0" lang="en-GB" altLang="el-GR" sz="2800" b="1" i="1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public Circle bigger</a:t>
            </a:r>
            <a:r>
              <a:rPr kumimoji="0" lang="en-GB" altLang="el-GR" sz="2800" b="0" i="1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(Circle c){</a:t>
            </a:r>
            <a:endParaRPr kumimoji="0" lang="el-GR" altLang="el-GR" sz="2800" b="0" i="1" u="none" strike="noStrike" kern="0" cap="none" spc="0" normalizeH="0" baseline="0" noProof="0" dirty="0">
              <a:ln>
                <a:noFill/>
              </a:ln>
              <a:solidFill>
                <a:srgbClr val="8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lvl="0" eaLnBrk="1" hangingPunct="1">
              <a:lnSpc>
                <a:spcPct val="85000"/>
              </a:lnSpc>
              <a:spcBef>
                <a:spcPts val="600"/>
              </a:spcBef>
              <a:buClr>
                <a:srgbClr val="3333CC"/>
              </a:buClr>
              <a:buNone/>
            </a:pPr>
            <a:r>
              <a:rPr kumimoji="0" lang="el-GR" altLang="el-GR" sz="2800" b="0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		</a:t>
            </a:r>
            <a:r>
              <a:rPr kumimoji="0" lang="en-GB" altLang="el-GR" sz="2800" b="0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return </a:t>
            </a:r>
            <a:r>
              <a:rPr kumimoji="0" lang="el-GR" altLang="el-GR" sz="2800" b="0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(</a:t>
            </a:r>
            <a:r>
              <a:rPr lang="en-GB" altLang="el-GR" sz="2800" i="1" kern="0" dirty="0" err="1">
                <a:solidFill>
                  <a:srgbClr val="3333CC"/>
                </a:solidFill>
                <a:latin typeface="Tahoma"/>
              </a:rPr>
              <a:t>c.r</a:t>
            </a:r>
            <a:r>
              <a:rPr lang="en-GB" altLang="el-GR" sz="2800" i="1" kern="0" dirty="0">
                <a:solidFill>
                  <a:srgbClr val="3333CC"/>
                </a:solidFill>
                <a:latin typeface="Tahoma"/>
              </a:rPr>
              <a:t>&gt;r</a:t>
            </a:r>
            <a:r>
              <a:rPr kumimoji="0" lang="el-GR" altLang="el-GR" sz="2800" b="0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) ? </a:t>
            </a:r>
            <a:r>
              <a:rPr lang="en-GB" altLang="el-GR" sz="2800" i="1" kern="0" dirty="0">
                <a:solidFill>
                  <a:srgbClr val="3333CC"/>
                </a:solidFill>
                <a:latin typeface="Tahoma"/>
              </a:rPr>
              <a:t>c</a:t>
            </a:r>
            <a:r>
              <a:rPr kumimoji="0" lang="el-GR" altLang="el-GR" sz="2800" b="0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r>
              <a:rPr kumimoji="0" lang="en-GB" altLang="el-GR" sz="2800" b="0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:</a:t>
            </a:r>
            <a:r>
              <a:rPr kumimoji="0" lang="en-GB" altLang="el-GR" sz="2800" b="0" i="1" u="none" strike="noStrike" kern="0" cap="none" spc="0" normalizeH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r>
              <a:rPr kumimoji="0" lang="en-GB" altLang="el-GR" sz="28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this</a:t>
            </a:r>
            <a:r>
              <a:rPr kumimoji="0" lang="en-GB" altLang="el-GR" sz="2800" b="0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;</a:t>
            </a:r>
            <a:endParaRPr kumimoji="0" lang="el-GR" altLang="el-GR" sz="2800" b="0" i="1" u="none" strike="noStrike" kern="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5000"/>
              </a:lnSpc>
              <a:spcBef>
                <a:spcPts val="6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lang="el-GR" altLang="el-GR" sz="2800" i="1" kern="0" dirty="0">
                <a:solidFill>
                  <a:srgbClr val="3333CC"/>
                </a:solidFill>
                <a:latin typeface="Tahoma"/>
              </a:rPr>
              <a:t>		</a:t>
            </a:r>
            <a:r>
              <a:rPr kumimoji="0" lang="en-GB" altLang="el-GR" sz="2800" b="0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}</a:t>
            </a:r>
            <a:endParaRPr kumimoji="0" lang="el-GR" altLang="el-GR" sz="2800" b="0" i="1" u="none" strike="noStrike" kern="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5000"/>
              </a:lnSpc>
              <a:spcBef>
                <a:spcPts val="6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l-GR" altLang="el-GR" sz="2800" b="0" i="1" u="none" strike="noStrike" kern="0" cap="none" spc="0" normalizeH="0" baseline="0" noProof="0" dirty="0">
                <a:ln>
                  <a:noFill/>
                </a:ln>
                <a:solidFill>
                  <a:srgbClr val="1BDD07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 // ή εναλλακτικά </a:t>
            </a:r>
            <a:r>
              <a:rPr kumimoji="0" lang="el-GR" altLang="el-GR" sz="2800" b="1" i="1" u="none" strike="noStrike" kern="0" cap="none" spc="0" normalizeH="0" baseline="0" noProof="0" dirty="0">
                <a:ln>
                  <a:noFill/>
                </a:ln>
                <a:solidFill>
                  <a:srgbClr val="1BDD07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ως μέθοδος κλάσης</a:t>
            </a:r>
            <a:endParaRPr kumimoji="0" lang="en-GB" altLang="el-GR" sz="2800" b="1" i="1" u="none" strike="noStrike" kern="0" cap="none" spc="0" normalizeH="0" baseline="0" noProof="0" dirty="0">
              <a:ln>
                <a:noFill/>
              </a:ln>
              <a:solidFill>
                <a:srgbClr val="1BDD07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5000"/>
              </a:lnSpc>
              <a:spcBef>
                <a:spcPts val="6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GB" altLang="el-GR" sz="2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	</a:t>
            </a:r>
            <a:r>
              <a:rPr kumimoji="0" lang="en-GB" altLang="el-GR" sz="2800" b="1" i="1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public</a:t>
            </a:r>
            <a:r>
              <a:rPr kumimoji="0" lang="en-GB" altLang="el-GR" sz="2800" b="1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r>
              <a:rPr kumimoji="0" lang="en-GB" altLang="el-GR" sz="28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static </a:t>
            </a:r>
            <a:r>
              <a:rPr kumimoji="0" lang="en-GB" altLang="el-GR" sz="2800" b="1" i="1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Circle bigger</a:t>
            </a:r>
            <a:r>
              <a:rPr kumimoji="0" lang="en-GB" altLang="el-GR" sz="2800" b="0" i="1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(Circle a, Circle b)</a:t>
            </a:r>
            <a:r>
              <a:rPr kumimoji="0" lang="en-GB" altLang="el-GR" sz="2800" b="0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{</a:t>
            </a:r>
          </a:p>
          <a:p>
            <a:pPr marL="342900" marR="0" lvl="0" indent="-342900" algn="l" defTabSz="914400" rtl="0" eaLnBrk="1" fontAlgn="base" latinLnBrk="0" hangingPunct="1">
              <a:lnSpc>
                <a:spcPct val="85000"/>
              </a:lnSpc>
              <a:spcBef>
                <a:spcPts val="6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GB" altLang="el-GR" sz="2800" b="0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		return (</a:t>
            </a:r>
            <a:r>
              <a:rPr kumimoji="0" lang="en-GB" altLang="el-GR" sz="2800" b="0" i="1" u="none" strike="noStrike" kern="0" cap="none" spc="0" normalizeH="0" baseline="0" noProof="0" dirty="0" err="1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a.r</a:t>
            </a:r>
            <a:r>
              <a:rPr kumimoji="0" lang="en-GB" altLang="el-GR" sz="2800" b="0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&gt;</a:t>
            </a:r>
            <a:r>
              <a:rPr kumimoji="0" lang="en-GB" altLang="el-GR" sz="2800" b="0" i="1" u="none" strike="noStrike" kern="0" cap="none" spc="0" normalizeH="0" baseline="0" noProof="0" dirty="0" err="1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b.r</a:t>
            </a:r>
            <a:r>
              <a:rPr kumimoji="0" lang="en-GB" altLang="el-GR" sz="2800" b="0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) ? a : b;</a:t>
            </a:r>
            <a:endParaRPr kumimoji="0" lang="el-GR" altLang="el-GR" sz="2800" b="0" i="1" u="none" strike="noStrike" kern="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5000"/>
              </a:lnSpc>
              <a:spcBef>
                <a:spcPts val="6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lang="el-GR" altLang="el-GR" sz="2800" i="1" kern="0" dirty="0">
                <a:solidFill>
                  <a:srgbClr val="3333CC"/>
                </a:solidFill>
                <a:latin typeface="Tahoma"/>
              </a:rPr>
              <a:t>		</a:t>
            </a:r>
            <a:r>
              <a:rPr kumimoji="0" lang="en-GB" altLang="el-GR" sz="2800" b="0" i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}</a:t>
            </a:r>
          </a:p>
          <a:p>
            <a:pPr marL="342900" marR="0" lvl="0" indent="-342900" algn="l" defTabSz="914400" rtl="0" eaLnBrk="1" fontAlgn="base" latinLnBrk="0" hangingPunct="1">
              <a:lnSpc>
                <a:spcPct val="85000"/>
              </a:lnSpc>
              <a:spcBef>
                <a:spcPts val="6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GB" altLang="el-GR" sz="2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	:</a:t>
            </a:r>
          </a:p>
          <a:p>
            <a:pPr marL="342900" marR="0" lvl="0" indent="-342900" algn="l" defTabSz="914400" rtl="0" eaLnBrk="1" fontAlgn="base" latinLnBrk="0" hangingPunct="1">
              <a:lnSpc>
                <a:spcPct val="85000"/>
              </a:lnSpc>
              <a:spcBef>
                <a:spcPts val="6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GB" altLang="el-GR" sz="2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	}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endParaRPr kumimoji="0" lang="en-GB" altLang="el-GR" sz="28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 Greek" panose="02020603050405020304" pitchFamily="18" charset="0"/>
              <a:ea typeface="+mn-ea"/>
              <a:cs typeface="+mn-cs"/>
            </a:endParaRPr>
          </a:p>
        </p:txBody>
      </p:sp>
      <p:sp>
        <p:nvSpPr>
          <p:cNvPr id="12" name="Text Box 5">
            <a:extLst>
              <a:ext uri="{FF2B5EF4-FFF2-40B4-BE49-F238E27FC236}">
                <a16:creationId xmlns:a16="http://schemas.microsoft.com/office/drawing/2014/main" id="{D2C0EAAF-9AE3-82B4-7EBB-6EB472A6EE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39073"/>
            <a:ext cx="579357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alt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Σύγκριση στιγμιότυπων τύπου </a:t>
            </a:r>
            <a:r>
              <a:rPr kumimoji="0" lang="en-US" alt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Circle</a:t>
            </a:r>
            <a:endParaRPr kumimoji="0" lang="el-GR" altLang="el-GR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B6CB981-4C32-9704-1C80-2FFFAF52922C}"/>
              </a:ext>
            </a:extLst>
          </p:cNvPr>
          <p:cNvSpPr txBox="1"/>
          <p:nvPr/>
        </p:nvSpPr>
        <p:spPr>
          <a:xfrm>
            <a:off x="6318250" y="1417712"/>
            <a:ext cx="5873749" cy="1077218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l-GR" sz="3200" dirty="0">
                <a:solidFill>
                  <a:schemeClr val="bg1"/>
                </a:solidFill>
              </a:rPr>
              <a:t>Η μέθοδος Κλάσης προσδιορίζει συμπεριφορά Κλάσης</a:t>
            </a:r>
            <a:endParaRPr lang="en-GB" sz="3200" dirty="0">
              <a:solidFill>
                <a:schemeClr val="bg1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483FA5F-F888-8846-9B25-4F518FC222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5347" y="2574765"/>
            <a:ext cx="3542841" cy="154261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E057D56-A171-CDCB-170F-41FED152D1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0992" y="4815758"/>
            <a:ext cx="3916013" cy="17638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6A745CC-C6FD-4458-ACD3-074D9046A8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8990" y="753907"/>
            <a:ext cx="5973009" cy="40963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CB1773C-9AE3-CBE4-C8DB-26EE7D4F0A32}"/>
              </a:ext>
            </a:extLst>
          </p:cNvPr>
          <p:cNvSpPr txBox="1"/>
          <p:nvPr/>
        </p:nvSpPr>
        <p:spPr>
          <a:xfrm>
            <a:off x="7682661" y="244545"/>
            <a:ext cx="44103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2800" b="1" dirty="0"/>
              <a:t>Requirement No 3</a:t>
            </a:r>
          </a:p>
        </p:txBody>
      </p:sp>
    </p:spTree>
    <p:extLst>
      <p:ext uri="{BB962C8B-B14F-4D97-AF65-F5344CB8AC3E}">
        <p14:creationId xmlns:p14="http://schemas.microsoft.com/office/powerpoint/2010/main" val="3330647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12" grpId="0"/>
      <p:bldP spid="1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class methods / static methods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305908" y="6559909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Java as an OOP language Part </a:t>
            </a:r>
            <a:r>
              <a:rPr lang="en-US" sz="1100" dirty="0">
                <a:solidFill>
                  <a:prstClr val="black"/>
                </a:solidFill>
                <a:latin typeface="Bahnschrift" panose="020B0502040204020203" pitchFamily="34" charset="0"/>
              </a:rPr>
              <a:t>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3CE5BF-A8A8-D68A-A29A-243312E14324}"/>
              </a:ext>
            </a:extLst>
          </p:cNvPr>
          <p:cNvSpPr txBox="1"/>
          <p:nvPr/>
        </p:nvSpPr>
        <p:spPr>
          <a:xfrm>
            <a:off x="284591" y="1246864"/>
            <a:ext cx="10991461" cy="436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αντικαθιστούν τις γενικές functions της C αποφεύγοντας το  πρόβλημα  της σύγκρουσης ονομάτων (name conflict)</a:t>
            </a:r>
            <a:endParaRPr kumimoji="0" lang="en-GB" altLang="el-GR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l-GR" altLang="el-GR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δεν σχετίζονται με συγκεκριμένο στιγμιότυπο και άρα δεν μπορούν να αναφερθούν στον τελεστή this όπως οι instance methods</a:t>
            </a:r>
            <a:endParaRPr kumimoji="0" lang="en-GB" altLang="el-GR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l-GR" altLang="el-GR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καλούνται διαμέσου της κλάσης 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όνομα-κλάσης</a:t>
            </a:r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.όνομα-μεθόδου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στο εσωτερικό της κλάσης αναφέρονται μόνο με το όνομα τους</a:t>
            </a:r>
            <a:endParaRPr kumimoji="0" lang="el-GR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 Greek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l-GR" altLang="el-GR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3882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static factory methods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305908" y="6559909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Java as an OOP language Part </a:t>
            </a:r>
            <a:r>
              <a:rPr lang="en-US" sz="1100" dirty="0">
                <a:solidFill>
                  <a:prstClr val="black"/>
                </a:solidFill>
                <a:latin typeface="Bahnschrift" panose="020B0502040204020203" pitchFamily="34" charset="0"/>
              </a:rPr>
              <a:t>B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462B73EA-8C4D-20DD-2A6C-9980E1EC59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600" y="4375332"/>
            <a:ext cx="8269287" cy="13815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353833"/>
                </a:solidFill>
                <a:effectLst/>
                <a:uLnTx/>
                <a:uFillTx/>
                <a:latin typeface="DejaVu Sans Mono"/>
                <a:ea typeface="+mn-ea"/>
                <a:cs typeface="+mn-cs"/>
              </a:rPr>
              <a:t>public static </a:t>
            </a: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4A6782"/>
                </a:solidFill>
                <a:effectLst/>
                <a:uLnTx/>
                <a:uFillTx/>
                <a:latin typeface="DejaVu Sans Mono"/>
                <a:ea typeface="+mn-ea"/>
                <a:cs typeface="+mn-cs"/>
              </a:rPr>
              <a:t>Double</a:t>
            </a: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353833"/>
                </a:solidFill>
                <a:effectLst/>
                <a:uLnTx/>
                <a:uFillTx/>
                <a:latin typeface="DejaVu Sans Mono"/>
                <a:ea typeface="+mn-ea"/>
                <a:cs typeface="+mn-cs"/>
              </a:rPr>
              <a:t> </a:t>
            </a:r>
            <a:r>
              <a:rPr kumimoji="0" lang="el-GR" altLang="el-GR" sz="2800" b="1" i="0" u="none" strike="noStrike" kern="0" cap="none" spc="0" normalizeH="0" baseline="0" noProof="0" dirty="0">
                <a:ln>
                  <a:noFill/>
                </a:ln>
                <a:solidFill>
                  <a:srgbClr val="353833"/>
                </a:solidFill>
                <a:effectLst/>
                <a:uLnTx/>
                <a:uFillTx/>
                <a:latin typeface="DejaVu Sans Mono"/>
                <a:ea typeface="+mn-ea"/>
                <a:cs typeface="+mn-cs"/>
              </a:rPr>
              <a:t>valueOf</a:t>
            </a: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353833"/>
                </a:solidFill>
                <a:effectLst/>
                <a:uLnTx/>
                <a:uFillTx/>
                <a:latin typeface="DejaVu Sans Mono"/>
                <a:ea typeface="+mn-ea"/>
                <a:cs typeface="+mn-cs"/>
              </a:rPr>
              <a:t>​(double d)</a:t>
            </a:r>
            <a:endParaRPr kumimoji="0" lang="en-US" altLang="el-GR" sz="2800" b="0" i="0" u="none" strike="noStrike" kern="0" cap="none" spc="0" normalizeH="0" baseline="0" noProof="0" dirty="0">
              <a:ln>
                <a:noFill/>
              </a:ln>
              <a:solidFill>
                <a:srgbClr val="353833"/>
              </a:solidFill>
              <a:effectLst/>
              <a:uLnTx/>
              <a:uFillTx/>
              <a:latin typeface="DejaVu Sans Mono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353833"/>
                </a:solidFill>
                <a:effectLst/>
                <a:uLnTx/>
                <a:uFillTx/>
                <a:latin typeface="DejaVu Sans Mono"/>
                <a:ea typeface="+mn-ea"/>
                <a:cs typeface="+mn-cs"/>
              </a:rPr>
              <a:t>public static </a:t>
            </a: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4A6782"/>
                </a:solidFill>
                <a:effectLst/>
                <a:uLnTx/>
                <a:uFillTx/>
                <a:latin typeface="DejaVu Sans Mono"/>
                <a:ea typeface="+mn-ea"/>
                <a:cs typeface="+mn-cs"/>
              </a:rPr>
              <a:t>Double</a:t>
            </a: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353833"/>
                </a:solidFill>
                <a:effectLst/>
                <a:uLnTx/>
                <a:uFillTx/>
                <a:latin typeface="DejaVu Sans Mono"/>
                <a:ea typeface="+mn-ea"/>
                <a:cs typeface="+mn-cs"/>
              </a:rPr>
              <a:t> </a:t>
            </a:r>
            <a:r>
              <a:rPr kumimoji="0" lang="el-GR" altLang="el-GR" sz="2800" b="1" i="0" u="none" strike="noStrike" kern="0" cap="none" spc="0" normalizeH="0" baseline="0" noProof="0" dirty="0">
                <a:ln>
                  <a:noFill/>
                </a:ln>
                <a:solidFill>
                  <a:srgbClr val="353833"/>
                </a:solidFill>
                <a:effectLst/>
                <a:uLnTx/>
                <a:uFillTx/>
                <a:latin typeface="DejaVu Sans Mono"/>
                <a:ea typeface="+mn-ea"/>
                <a:cs typeface="+mn-cs"/>
              </a:rPr>
              <a:t>valueOf</a:t>
            </a: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353833"/>
                </a:solidFill>
                <a:effectLst/>
                <a:uLnTx/>
                <a:uFillTx/>
                <a:latin typeface="DejaVu Sans Mono"/>
                <a:ea typeface="+mn-ea"/>
                <a:cs typeface="+mn-cs"/>
              </a:rPr>
              <a:t>​(</a:t>
            </a:r>
            <a:r>
              <a:rPr kumimoji="0" lang="en-US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353833"/>
                </a:solidFill>
                <a:effectLst/>
                <a:uLnTx/>
                <a:uFillTx/>
                <a:latin typeface="DejaVu Sans Mono"/>
                <a:ea typeface="+mn-ea"/>
                <a:cs typeface="+mn-cs"/>
              </a:rPr>
              <a:t>String</a:t>
            </a: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353833"/>
                </a:solidFill>
                <a:effectLst/>
                <a:uLnTx/>
                <a:uFillTx/>
                <a:latin typeface="DejaVu Sans Mono"/>
                <a:ea typeface="+mn-ea"/>
                <a:cs typeface="+mn-cs"/>
              </a:rPr>
              <a:t> </a:t>
            </a:r>
            <a:r>
              <a:rPr kumimoji="0" lang="en-US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353833"/>
                </a:solidFill>
                <a:effectLst/>
                <a:uLnTx/>
                <a:uFillTx/>
                <a:latin typeface="DejaVu Sans Mono"/>
                <a:ea typeface="+mn-ea"/>
                <a:cs typeface="+mn-cs"/>
              </a:rPr>
              <a:t>s</a:t>
            </a: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353833"/>
                </a:solidFill>
                <a:effectLst/>
                <a:uLnTx/>
                <a:uFillTx/>
                <a:latin typeface="DejaVu Sans Mono"/>
                <a:ea typeface="+mn-ea"/>
                <a:cs typeface="+mn-cs"/>
              </a:rPr>
              <a:t>)</a:t>
            </a:r>
            <a:endParaRPr kumimoji="0" lang="en-US" altLang="el-GR" sz="2800" b="0" i="0" u="none" strike="noStrike" kern="0" cap="none" spc="0" normalizeH="0" baseline="0" noProof="0" dirty="0">
              <a:ln>
                <a:noFill/>
              </a:ln>
              <a:solidFill>
                <a:srgbClr val="353833"/>
              </a:solidFill>
              <a:effectLst/>
              <a:uLnTx/>
              <a:uFillTx/>
              <a:latin typeface="DejaVu Sans Mono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Unicode MS"/>
                <a:ea typeface="+mn-ea"/>
                <a:cs typeface="+mn-cs"/>
              </a:rPr>
              <a:t>public static double </a:t>
            </a:r>
            <a:r>
              <a:rPr kumimoji="0" lang="el-GR" altLang="el-GR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Unicode MS"/>
                <a:ea typeface="+mn-ea"/>
                <a:cs typeface="+mn-cs"/>
              </a:rPr>
              <a:t>parseDouble</a:t>
            </a: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Unicode MS"/>
                <a:ea typeface="+mn-ea"/>
                <a:cs typeface="+mn-cs"/>
              </a:rPr>
              <a:t>​(</a:t>
            </a: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Unicode MS"/>
                <a:ea typeface="+mn-ea"/>
                <a:cs typeface="+mn-cs"/>
                <a:hlinkClick r:id="rId3" tooltip="class in java.lang"/>
              </a:rPr>
              <a:t>String</a:t>
            </a: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Unicode MS"/>
                <a:ea typeface="+mn-ea"/>
                <a:cs typeface="+mn-cs"/>
              </a:rPr>
              <a:t> s)</a:t>
            </a:r>
            <a:r>
              <a:rPr kumimoji="0" lang="el-GR" altLang="el-G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endParaRPr kumimoji="0" lang="el-GR" altLang="el-GR" sz="5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endParaRPr kumimoji="0" lang="en-US" altLang="el-GR" sz="2800" b="0" i="0" u="none" strike="noStrike" kern="0" cap="none" spc="0" normalizeH="0" baseline="0" noProof="0" dirty="0">
              <a:ln>
                <a:noFill/>
              </a:ln>
              <a:solidFill>
                <a:srgbClr val="353833"/>
              </a:solidFill>
              <a:effectLst/>
              <a:uLnTx/>
              <a:uFillTx/>
              <a:latin typeface="DejaVu Sans Mono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n-US" altLang="el-GR" sz="2800" b="0" i="0" u="none" strike="noStrike" kern="0" cap="none" spc="0" normalizeH="0" baseline="0" noProof="0" dirty="0">
              <a:ln>
                <a:noFill/>
              </a:ln>
              <a:solidFill>
                <a:srgbClr val="353833"/>
              </a:solidFill>
              <a:effectLst/>
              <a:uLnTx/>
              <a:uFillTx/>
              <a:latin typeface="DejaVu Sans Mono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l-GR" altLang="el-GR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n-US" altLang="el-GR" sz="2800" b="0" i="0" u="none" strike="noStrike" kern="0" cap="none" spc="0" normalizeH="0" baseline="0" noProof="0" dirty="0">
              <a:ln>
                <a:noFill/>
              </a:ln>
              <a:solidFill>
                <a:srgbClr val="353833"/>
              </a:solidFill>
              <a:effectLst/>
              <a:uLnTx/>
              <a:uFillTx/>
              <a:latin typeface="DejaVu Sans Mono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l-GR" altLang="el-GR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l-GR" altLang="el-GR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D0FC0AC-0DDC-59D5-5A01-BD658760EB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56703"/>
            <a:ext cx="11927400" cy="358125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04CDA68-6B81-131D-4B2E-4A5D4DE23B2E}"/>
              </a:ext>
            </a:extLst>
          </p:cNvPr>
          <p:cNvSpPr txBox="1"/>
          <p:nvPr/>
        </p:nvSpPr>
        <p:spPr>
          <a:xfrm>
            <a:off x="8987277" y="676719"/>
            <a:ext cx="32047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000000"/>
                </a:solidFill>
                <a:latin typeface="Tahoma" panose="020B0604030504040204" pitchFamily="34" charset="0"/>
              </a:rPr>
              <a:t>Double in Java SE 9</a:t>
            </a:r>
            <a:endParaRPr lang="el-GR" sz="2400" b="1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2784DB7-4A94-6B2E-B924-A53DAD49898E}"/>
              </a:ext>
            </a:extLst>
          </p:cNvPr>
          <p:cNvSpPr txBox="1"/>
          <p:nvPr/>
        </p:nvSpPr>
        <p:spPr>
          <a:xfrm>
            <a:off x="1" y="5779270"/>
            <a:ext cx="12191999" cy="707886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r>
              <a:rPr lang="en-US" sz="2000" b="1" i="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Factory Method</a:t>
            </a:r>
            <a:r>
              <a:rPr lang="en-US" sz="2000" b="0" i="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 is a creational design pattern that provides an interface for creating objects in a superclass but allows subclasses to alter the type of objects that will be created.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118216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1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Methods in Python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305908" y="6559909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Java as an OOP language Part </a:t>
            </a:r>
            <a:r>
              <a:rPr lang="en-US" sz="1100" dirty="0">
                <a:solidFill>
                  <a:prstClr val="black"/>
                </a:solidFill>
                <a:latin typeface="Bahnschrift" panose="020B0502040204020203" pitchFamily="34" charset="0"/>
              </a:rPr>
              <a:t>B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F70914BC-BFBA-42CB-0992-D815D0A384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2878" y="1891912"/>
            <a:ext cx="8269287" cy="5072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two ways to call print_time.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&gt;&gt;&gt; Time.print_time(start)  </a:t>
            </a:r>
            <a:r>
              <a:rPr kumimoji="0" lang="en-US" sz="28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# use of dot notation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l-GR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09:45:00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&gt;&gt;&gt; start.print_time()  </a:t>
            </a:r>
            <a:r>
              <a:rPr kumimoji="0" lang="en-US" sz="28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# use of method syntax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l-GR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09:45:00</a:t>
            </a:r>
            <a:endParaRPr kumimoji="0" lang="el-GR" altLang="el-GR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 Greek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l-GR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AC31081-6C1C-0F84-CDD7-63E0323AC6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3322" y="912804"/>
            <a:ext cx="9027175" cy="95286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38D8F96-139E-1DE9-CDAC-C1C46733A1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3321" y="5229200"/>
            <a:ext cx="9496908" cy="952867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3927CCC-4ADA-EA69-3B2B-DF12F65A18BD}"/>
              </a:ext>
            </a:extLst>
          </p:cNvPr>
          <p:cNvCxnSpPr/>
          <p:nvPr/>
        </p:nvCxnSpPr>
        <p:spPr bwMode="auto">
          <a:xfrm>
            <a:off x="4007768" y="5805264"/>
            <a:ext cx="792088" cy="0"/>
          </a:xfrm>
          <a:prstGeom prst="line">
            <a:avLst/>
          </a:prstGeom>
          <a:solidFill>
            <a:srgbClr val="00E4A8"/>
          </a:solidFill>
          <a:ln w="571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893834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0A0D51E8-6203-42FC-B6CE-2F24DDFF26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1" y="1"/>
            <a:ext cx="7993063" cy="714375"/>
          </a:xfrm>
        </p:spPr>
        <p:txBody>
          <a:bodyPr/>
          <a:lstStyle/>
          <a:p>
            <a:pPr eaLnBrk="1" hangingPunct="1"/>
            <a:r>
              <a:rPr lang="en-GB" altLang="el-GR" dirty="0"/>
              <a:t>Methods in Python</a:t>
            </a:r>
          </a:p>
        </p:txBody>
      </p:sp>
      <p:sp>
        <p:nvSpPr>
          <p:cNvPr id="164867" name="Rectangle 3">
            <a:extLst>
              <a:ext uri="{FF2B5EF4-FFF2-40B4-BE49-F238E27FC236}">
                <a16:creationId xmlns:a16="http://schemas.microsoft.com/office/drawing/2014/main" id="{7C43CBA1-08D3-478E-A5D7-72A0F5B2A8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33322" y="3169601"/>
            <a:ext cx="8269287" cy="50720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&gt;&gt;&gt; end = </a:t>
            </a:r>
            <a:r>
              <a:rPr lang="en-US" dirty="0" err="1"/>
              <a:t>start.increment</a:t>
            </a:r>
            <a:r>
              <a:rPr lang="en-US" dirty="0"/>
              <a:t>(1337)</a:t>
            </a:r>
          </a:p>
          <a:p>
            <a:pPr marL="0" indent="0">
              <a:buNone/>
            </a:pPr>
            <a:endParaRPr lang="en-US" sz="2800" dirty="0"/>
          </a:p>
          <a:p>
            <a:pPr lvl="1"/>
            <a:r>
              <a:rPr lang="en-US" dirty="0"/>
              <a:t>start is assigned to the first parameter, self. </a:t>
            </a:r>
          </a:p>
          <a:p>
            <a:pPr lvl="1"/>
            <a:r>
              <a:rPr lang="en-US" dirty="0"/>
              <a:t>1337, is assigned to the second parameter, seconds</a:t>
            </a:r>
            <a:endParaRPr lang="en-US" sz="2400" dirty="0"/>
          </a:p>
          <a:p>
            <a:endParaRPr lang="el-GR" altLang="el-GR" sz="2000" dirty="0">
              <a:latin typeface="Times New Roman Greek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endParaRPr lang="el-GR" altLang="el-GR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CA28D1-5A82-41D6-A29A-9D14312E31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883799"/>
            <a:ext cx="6505686" cy="201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821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4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64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64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867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0A0D51E8-6203-42FC-B6CE-2F24DDFF26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1" y="1"/>
            <a:ext cx="7993063" cy="714375"/>
          </a:xfrm>
        </p:spPr>
        <p:txBody>
          <a:bodyPr/>
          <a:lstStyle/>
          <a:p>
            <a:pPr eaLnBrk="1" hangingPunct="1"/>
            <a:r>
              <a:rPr lang="en-GB" altLang="el-GR" dirty="0"/>
              <a:t>The </a:t>
            </a:r>
            <a:r>
              <a:rPr lang="en-GB" altLang="el-GR" dirty="0" err="1"/>
              <a:t>init</a:t>
            </a:r>
            <a:r>
              <a:rPr lang="en-GB" altLang="el-GR" dirty="0"/>
              <a:t> method in Python</a:t>
            </a:r>
          </a:p>
        </p:txBody>
      </p:sp>
      <p:sp>
        <p:nvSpPr>
          <p:cNvPr id="164867" name="Rectangle 3">
            <a:extLst>
              <a:ext uri="{FF2B5EF4-FFF2-40B4-BE49-F238E27FC236}">
                <a16:creationId xmlns:a16="http://schemas.microsoft.com/office/drawing/2014/main" id="{7C43CBA1-08D3-478E-A5D7-72A0F5B2A8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0" y="3140651"/>
            <a:ext cx="9144000" cy="1296144"/>
          </a:xfrm>
        </p:spPr>
        <p:txBody>
          <a:bodyPr/>
          <a:lstStyle/>
          <a:p>
            <a:r>
              <a:rPr lang="en-US" dirty="0"/>
              <a:t>a special method that gets invoked when an object is instantiated. </a:t>
            </a:r>
            <a:endParaRPr lang="en-US" altLang="el-GR" sz="2000" dirty="0">
              <a:latin typeface="Times New Roman Greek" panose="02020603050405020304" pitchFamily="18" charset="0"/>
            </a:endParaRPr>
          </a:p>
          <a:p>
            <a:pPr lvl="1"/>
            <a:r>
              <a:rPr lang="en-US" dirty="0"/>
              <a:t>parameters are optional</a:t>
            </a:r>
          </a:p>
          <a:p>
            <a:pPr marL="0" indent="0">
              <a:buNone/>
            </a:pPr>
            <a:r>
              <a:rPr lang="en-US" dirty="0"/>
              <a:t>	&gt;&gt;&gt; time = Time()</a:t>
            </a:r>
          </a:p>
          <a:p>
            <a:pPr marL="0" indent="0">
              <a:buNone/>
            </a:pPr>
            <a:r>
              <a:rPr lang="en-US" dirty="0"/>
              <a:t>	&gt;&gt;&gt; time = Time (9)</a:t>
            </a:r>
          </a:p>
          <a:p>
            <a:pPr marL="0" indent="0">
              <a:buNone/>
            </a:pPr>
            <a:r>
              <a:rPr lang="en-US" dirty="0"/>
              <a:t>	&gt;&gt;&gt; time = Time(9, 45)</a:t>
            </a:r>
          </a:p>
          <a:p>
            <a:pPr marL="0" indent="0">
              <a:buNone/>
            </a:pPr>
            <a:endParaRPr lang="el-GR" altLang="el-GR" sz="2000" dirty="0">
              <a:latin typeface="Times New Roman Greek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endParaRPr lang="el-GR" altLang="el-GR" sz="24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74D9FFB-815E-4738-991B-7D79703D08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2696" y="836713"/>
            <a:ext cx="8354636" cy="2287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8218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0A0D51E8-6203-42FC-B6CE-2F24DDFF26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1"/>
            <a:ext cx="9144000" cy="714375"/>
          </a:xfrm>
        </p:spPr>
        <p:txBody>
          <a:bodyPr/>
          <a:lstStyle/>
          <a:p>
            <a:pPr eaLnBrk="1" hangingPunct="1"/>
            <a:r>
              <a:rPr lang="en-GB" altLang="el-GR" b="1" dirty="0"/>
              <a:t>Operator Overloading </a:t>
            </a:r>
            <a:r>
              <a:rPr lang="en-GB" altLang="el-GR" dirty="0"/>
              <a:t>in Python</a:t>
            </a:r>
          </a:p>
        </p:txBody>
      </p:sp>
      <p:sp>
        <p:nvSpPr>
          <p:cNvPr id="164867" name="Rectangle 3">
            <a:extLst>
              <a:ext uri="{FF2B5EF4-FFF2-40B4-BE49-F238E27FC236}">
                <a16:creationId xmlns:a16="http://schemas.microsoft.com/office/drawing/2014/main" id="{7C43CBA1-08D3-478E-A5D7-72A0F5B2A8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0" y="980728"/>
            <a:ext cx="9144000" cy="1296144"/>
          </a:xfrm>
        </p:spPr>
        <p:txBody>
          <a:bodyPr/>
          <a:lstStyle/>
          <a:p>
            <a:r>
              <a:rPr lang="en-US" dirty="0"/>
              <a:t>if you define a method named </a:t>
            </a:r>
            <a:r>
              <a:rPr lang="en-US" b="1" dirty="0"/>
              <a:t>__add__ </a:t>
            </a:r>
            <a:r>
              <a:rPr lang="en-US" dirty="0"/>
              <a:t>for the  Time class, you can use the + operator on Time objects.</a:t>
            </a:r>
          </a:p>
          <a:p>
            <a:pPr marL="400050" lvl="1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start = Time(9, 45)</a:t>
            </a:r>
          </a:p>
          <a:p>
            <a:pPr marL="400050" lvl="1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duration = Time(1, 35)</a:t>
            </a:r>
          </a:p>
          <a:p>
            <a:pPr marL="400050" lvl="1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print(start + duration)</a:t>
            </a:r>
          </a:p>
          <a:p>
            <a:pPr marL="400050" lvl="1" indent="0">
              <a:buNone/>
            </a:pPr>
            <a:r>
              <a:rPr lang="el-G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11:20:00</a:t>
            </a:r>
            <a:endParaRPr lang="el-GR" altLang="el-GR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</a:pPr>
            <a:endParaRPr lang="en-US" sz="2400" b="1" dirty="0"/>
          </a:p>
          <a:p>
            <a:pPr eaLnBrk="1" hangingPunct="1">
              <a:lnSpc>
                <a:spcPct val="90000"/>
              </a:lnSpc>
            </a:pPr>
            <a:endParaRPr lang="en-US" sz="2400" b="1" dirty="0"/>
          </a:p>
          <a:p>
            <a:pPr eaLnBrk="1" hangingPunct="1">
              <a:lnSpc>
                <a:spcPct val="90000"/>
              </a:lnSpc>
            </a:pPr>
            <a:r>
              <a:rPr lang="en-US" sz="2400" b="1" dirty="0"/>
              <a:t>Java</a:t>
            </a:r>
            <a:r>
              <a:rPr lang="en-US" sz="2400" dirty="0"/>
              <a:t> does not support </a:t>
            </a:r>
            <a:r>
              <a:rPr lang="en-US" sz="2400" b="1" dirty="0"/>
              <a:t>operator overloading</a:t>
            </a:r>
            <a:r>
              <a:rPr lang="en-US" sz="2400" dirty="0"/>
              <a:t>, except for string concatenation for which it </a:t>
            </a:r>
            <a:r>
              <a:rPr lang="en-US" sz="2400" b="1" dirty="0"/>
              <a:t>overloads</a:t>
            </a:r>
            <a:r>
              <a:rPr lang="en-US" sz="2400" dirty="0"/>
              <a:t> the + </a:t>
            </a:r>
            <a:r>
              <a:rPr lang="en-US" sz="2400" b="1" dirty="0"/>
              <a:t>operator</a:t>
            </a:r>
            <a:r>
              <a:rPr lang="en-US" sz="2400" dirty="0"/>
              <a:t> internally</a:t>
            </a:r>
            <a:endParaRPr lang="el-GR" altLang="el-GR" sz="1800" dirty="0"/>
          </a:p>
        </p:txBody>
      </p:sp>
    </p:spTree>
    <p:extLst>
      <p:ext uri="{BB962C8B-B14F-4D97-AF65-F5344CB8AC3E}">
        <p14:creationId xmlns:p14="http://schemas.microsoft.com/office/powerpoint/2010/main" val="39677761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Οργάνωση Διάλεξης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DA6131CC-51AC-7772-5DFB-DAF5357892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848" y="1321601"/>
            <a:ext cx="10165491" cy="46755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51435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563C1"/>
              </a:buClr>
              <a:buSzPct val="60000"/>
              <a:buFont typeface="Wingdings" pitchFamily="2" charset="2"/>
              <a:buChar char="n"/>
              <a:tabLst/>
              <a:defRPr/>
            </a:pPr>
            <a:r>
              <a:rPr kumimoji="0" lang="el-G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Πολλαπλοί Δημιουργοί</a:t>
            </a:r>
          </a:p>
          <a:p>
            <a:pPr marL="914400" marR="0" lvl="1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563C1"/>
              </a:buClr>
              <a:buSzPct val="55000"/>
              <a:buFont typeface="Wingdings" pitchFamily="2" charset="2"/>
              <a:buChar char="n"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Keyword this</a:t>
            </a:r>
          </a:p>
          <a:p>
            <a:pPr marL="51435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563C1"/>
              </a:buClr>
              <a:buSzPct val="60000"/>
              <a:buFont typeface="Wingdings" pitchFamily="2" charset="2"/>
              <a:buChar char="n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Class data members, </a:t>
            </a:r>
            <a:r>
              <a:rPr kumimoji="0" lang="el-G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σταθερές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endParaRPr kumimoji="0" lang="el-GR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51435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563C1"/>
              </a:buClr>
              <a:buSzPct val="60000"/>
              <a:buFont typeface="Wingdings" pitchFamily="2" charset="2"/>
              <a:buChar char="n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Class methods</a:t>
            </a:r>
            <a:endParaRPr kumimoji="0" lang="el-GR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14400" marR="0" lvl="1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563C1"/>
              </a:buClr>
              <a:buSzPct val="55000"/>
              <a:buFont typeface="Wingdings" pitchFamily="2" charset="2"/>
              <a:buChar char="n"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Factory methods</a:t>
            </a:r>
          </a:p>
          <a:p>
            <a:pPr marL="51435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54F72"/>
              </a:buClr>
              <a:buSzPct val="60000"/>
              <a:buFont typeface="Wingdings" pitchFamily="2" charset="2"/>
              <a:buChar char="n"/>
              <a:tabLst/>
              <a:defRPr/>
            </a:pPr>
            <a:r>
              <a:rPr kumimoji="0" lang="en-GB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Java code style Guidelines</a:t>
            </a:r>
          </a:p>
          <a:p>
            <a:pPr marL="51435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54F72"/>
              </a:buClr>
              <a:buSzPct val="60000"/>
              <a:buFont typeface="Wingdings" pitchFamily="2" charset="2"/>
              <a:buChar char="n"/>
              <a:tabLst/>
              <a:defRPr/>
            </a:pPr>
            <a:r>
              <a:rPr kumimoji="0" lang="el-G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Ασκήσεις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51435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54F72"/>
              </a:buClr>
              <a:buSzPct val="60000"/>
              <a:buFont typeface="Wingdings" pitchFamily="2" charset="2"/>
              <a:buChar char="n"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51435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563C1"/>
              </a:buClr>
              <a:buSzPct val="60000"/>
              <a:buFont typeface="Wingdings" pitchFamily="2" charset="2"/>
              <a:buChar char="n"/>
              <a:tabLst/>
              <a:defRPr/>
            </a:pP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14400" marR="0" lvl="1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563C1"/>
              </a:buClr>
              <a:buSzPct val="55000"/>
              <a:buFont typeface="Wingdings" pitchFamily="2" charset="2"/>
              <a:buChar char="n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324958" y="6623768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Java as an OOP language Part B</a:t>
            </a:r>
          </a:p>
        </p:txBody>
      </p:sp>
    </p:spTree>
    <p:extLst>
      <p:ext uri="{BB962C8B-B14F-4D97-AF65-F5344CB8AC3E}">
        <p14:creationId xmlns:p14="http://schemas.microsoft.com/office/powerpoint/2010/main" val="1081741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Java Code Style Guidelines 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305908" y="6559909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Java as an OOP language Part </a:t>
            </a:r>
            <a:r>
              <a:rPr lang="en-US" sz="1100" dirty="0">
                <a:solidFill>
                  <a:prstClr val="black"/>
                </a:solidFill>
                <a:latin typeface="Bahnschrift" panose="020B0502040204020203" pitchFamily="34" charset="0"/>
              </a:rPr>
              <a:t>B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907BD601-490D-0261-01CF-C38BB8B453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087015"/>
            <a:ext cx="10498494" cy="52204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ts val="12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Class and Interface </a:t>
            </a: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names should be </a:t>
            </a:r>
            <a:r>
              <a:rPr kumimoji="0" lang="en-US" alt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capitalized</a:t>
            </a: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. 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ts val="12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Data members should be private </a:t>
            </a:r>
            <a:endParaRPr kumimoji="0" lang="en-GB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ts val="12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All alphabetic characters in </a:t>
            </a:r>
            <a:r>
              <a:rPr kumimoji="0" lang="en-US" alt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static final data member </a:t>
            </a: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identifiers should be </a:t>
            </a:r>
            <a:r>
              <a:rPr kumimoji="0" lang="en-US" alt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upper-case</a:t>
            </a: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endParaRPr kumimoji="0" lang="en-GB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ts val="12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Data member and local variable </a:t>
            </a: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identifiers should start with lower-case alphabetic characters. </a:t>
            </a:r>
            <a:endParaRPr kumimoji="0" lang="en-GB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ts val="12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All </a:t>
            </a:r>
            <a:r>
              <a:rPr kumimoji="0" lang="en-US" alt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method names </a:t>
            </a: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should start with lower-case alphabetic characters 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ts val="12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Do not wrap lines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ts val="12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lang="en-US" altLang="el-GR" sz="2400" kern="0" dirty="0">
                <a:solidFill>
                  <a:srgbClr val="000000"/>
                </a:solidFill>
                <a:latin typeface="Tahoma"/>
              </a:rPr>
              <a:t>….</a:t>
            </a: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endParaRPr kumimoji="0" lang="en-GB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lvl="0" eaLnBrk="1" hangingPunct="1">
              <a:lnSpc>
                <a:spcPct val="80000"/>
              </a:lnSpc>
              <a:spcBef>
                <a:spcPts val="1200"/>
              </a:spcBef>
              <a:buClr>
                <a:srgbClr val="3333CC"/>
              </a:buClr>
            </a:pPr>
            <a:r>
              <a:rPr lang="en-GB" altLang="el-GR" sz="2400" i="1" kern="0" dirty="0">
                <a:solidFill>
                  <a:srgbClr val="000000"/>
                </a:solidFill>
                <a:latin typeface="Tahoma"/>
              </a:rPr>
              <a:t>See </a:t>
            </a:r>
            <a:r>
              <a:rPr lang="en-GB" altLang="el-GR" sz="2000" i="1" kern="0" dirty="0">
                <a:solidFill>
                  <a:srgbClr val="000000"/>
                </a:solidFill>
                <a:latin typeface="Tahoma"/>
              </a:rPr>
              <a:t>Java Code Style Guidelines </a:t>
            </a:r>
          </a:p>
          <a:p>
            <a:pPr lvl="1" eaLnBrk="1" hangingPunct="1">
              <a:lnSpc>
                <a:spcPct val="80000"/>
              </a:lnSpc>
              <a:spcBef>
                <a:spcPts val="1200"/>
              </a:spcBef>
              <a:buClr>
                <a:srgbClr val="3333CC"/>
              </a:buClr>
            </a:pPr>
            <a:r>
              <a:rPr lang="en-GB" altLang="el-GR" sz="1600" i="1" kern="0" dirty="0">
                <a:solidFill>
                  <a:srgbClr val="000000"/>
                </a:solidFill>
                <a:latin typeface="Tahoma"/>
                <a:hlinkClick r:id="rId3"/>
              </a:rPr>
              <a:t>https://www.cs.cornell.edu/courses/JavaAndDS/JavaStyle.html</a:t>
            </a:r>
            <a:endParaRPr lang="en-GB" altLang="el-GR" sz="1600" i="1" kern="0" dirty="0">
              <a:solidFill>
                <a:srgbClr val="000000"/>
              </a:solidFill>
              <a:latin typeface="Tahoma"/>
            </a:endParaRPr>
          </a:p>
          <a:p>
            <a:pPr lvl="1" eaLnBrk="1" hangingPunct="1">
              <a:lnSpc>
                <a:spcPct val="80000"/>
              </a:lnSpc>
              <a:spcBef>
                <a:spcPts val="1200"/>
              </a:spcBef>
              <a:buClr>
                <a:srgbClr val="3333CC"/>
              </a:buClr>
            </a:pPr>
            <a:r>
              <a:rPr lang="en-GB" altLang="el-GR" sz="1600" i="1" kern="0" dirty="0">
                <a:solidFill>
                  <a:srgbClr val="000000"/>
                </a:solidFill>
                <a:latin typeface="Tahoma"/>
                <a:hlinkClick r:id="rId4"/>
              </a:rPr>
              <a:t>https://google.github.io/styleguide/javaguide.html</a:t>
            </a:r>
            <a:endParaRPr lang="en-GB" altLang="el-GR" sz="1600" i="1" kern="0" dirty="0">
              <a:solidFill>
                <a:srgbClr val="000000"/>
              </a:solidFill>
              <a:latin typeface="Tahoma"/>
            </a:endParaRPr>
          </a:p>
          <a:p>
            <a:pPr lvl="1" eaLnBrk="1" hangingPunct="1">
              <a:lnSpc>
                <a:spcPct val="80000"/>
              </a:lnSpc>
              <a:spcBef>
                <a:spcPts val="1200"/>
              </a:spcBef>
              <a:buClr>
                <a:srgbClr val="3333CC"/>
              </a:buClr>
            </a:pPr>
            <a:r>
              <a:rPr lang="en-GB" altLang="el-GR" sz="1600" i="1" kern="0" dirty="0">
                <a:solidFill>
                  <a:srgbClr val="000000"/>
                </a:solidFill>
                <a:latin typeface="Tahoma"/>
                <a:hlinkClick r:id="rId5"/>
              </a:rPr>
              <a:t>https://www.oracle.com/technetwork/java/codeconventions-150003.pdf</a:t>
            </a:r>
            <a:endParaRPr lang="en-GB" altLang="el-GR" sz="1600" i="1" kern="0" dirty="0">
              <a:solidFill>
                <a:srgbClr val="000000"/>
              </a:solidFill>
              <a:latin typeface="Tahom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ts val="12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n-GB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0480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Οργάνωση Διάλεξης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DA6131CC-51AC-7772-5DFB-DAF5357892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848" y="1321601"/>
            <a:ext cx="10165491" cy="46755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51435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563C1"/>
              </a:buClr>
              <a:buSzPct val="60000"/>
              <a:buFont typeface="Wingdings" pitchFamily="2" charset="2"/>
              <a:buChar char="n"/>
              <a:tabLst/>
              <a:defRPr/>
            </a:pPr>
            <a:r>
              <a:rPr kumimoji="0" lang="el-G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Πολλαπλοί Δημιουργοί</a:t>
            </a:r>
          </a:p>
          <a:p>
            <a:pPr marL="914400" marR="0" lvl="1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563C1"/>
              </a:buClr>
              <a:buSzPct val="55000"/>
              <a:buFont typeface="Wingdings" pitchFamily="2" charset="2"/>
              <a:buChar char="n"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Keyword this</a:t>
            </a:r>
            <a:endParaRPr kumimoji="0" lang="el-G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51435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563C1"/>
              </a:buClr>
              <a:buSzPct val="60000"/>
              <a:buFont typeface="Wingdings" pitchFamily="2" charset="2"/>
              <a:buChar char="n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Class data members, </a:t>
            </a:r>
            <a:r>
              <a:rPr kumimoji="0" lang="el-G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σταθερές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endParaRPr kumimoji="0" lang="el-GR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51435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563C1"/>
              </a:buClr>
              <a:buSzPct val="60000"/>
              <a:buFont typeface="Wingdings" pitchFamily="2" charset="2"/>
              <a:buChar char="n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Class methods</a:t>
            </a:r>
            <a:endParaRPr kumimoji="0" lang="el-GR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14400" marR="0" lvl="1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563C1"/>
              </a:buClr>
              <a:buSzPct val="55000"/>
              <a:buFont typeface="Wingdings" pitchFamily="2" charset="2"/>
              <a:buChar char="n"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Factory methods</a:t>
            </a:r>
          </a:p>
          <a:p>
            <a:pPr marL="51435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54F72"/>
              </a:buClr>
              <a:buSzPct val="60000"/>
              <a:buFont typeface="Wingdings" pitchFamily="2" charset="2"/>
              <a:buChar char="n"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Java code style Guidelines</a:t>
            </a:r>
          </a:p>
          <a:p>
            <a:pPr marL="51435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54F72"/>
              </a:buClr>
              <a:buSzPct val="60000"/>
              <a:buFont typeface="Wingdings" pitchFamily="2" charset="2"/>
              <a:buChar char="n"/>
              <a:tabLst/>
              <a:defRPr/>
            </a:pPr>
            <a:r>
              <a:rPr kumimoji="0" lang="el-G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Ασκήσεις</a:t>
            </a:r>
          </a:p>
          <a:p>
            <a:pPr marL="914400" lvl="1" indent="-457200" eaLnBrk="1" hangingPunct="1">
              <a:buClr>
                <a:srgbClr val="954F72"/>
              </a:buClr>
              <a:buSzPct val="60000"/>
              <a:defRPr/>
            </a:pPr>
            <a:r>
              <a:rPr lang="el-GR" b="1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Πρωτογενής τύπος </a:t>
            </a:r>
            <a:r>
              <a:rPr lang="en-GB" b="1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double</a:t>
            </a:r>
          </a:p>
          <a:p>
            <a:pPr marL="914400" lvl="1" indent="-457200" eaLnBrk="1" hangingPunct="1">
              <a:buClr>
                <a:srgbClr val="954F72"/>
              </a:buClr>
              <a:buSzPct val="60000"/>
              <a:defRPr/>
            </a:pPr>
            <a:r>
              <a:rPr kumimoji="0" lang="el-GR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Τύπος </a:t>
            </a:r>
            <a:r>
              <a:rPr kumimoji="0" lang="en-GB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Double</a:t>
            </a:r>
          </a:p>
          <a:p>
            <a:pPr marL="51435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54F72"/>
              </a:buClr>
              <a:buSzPct val="60000"/>
              <a:buFont typeface="Wingdings" pitchFamily="2" charset="2"/>
              <a:buChar char="n"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51435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563C1"/>
              </a:buClr>
              <a:buSzPct val="60000"/>
              <a:buFont typeface="Wingdings" pitchFamily="2" charset="2"/>
              <a:buChar char="n"/>
              <a:tabLst/>
              <a:defRPr/>
            </a:pP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14400" marR="0" lvl="1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563C1"/>
              </a:buClr>
              <a:buSzPct val="55000"/>
              <a:buFont typeface="Wingdings" pitchFamily="2" charset="2"/>
              <a:buChar char="n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324958" y="6623768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Java as an OOP language Part B</a:t>
            </a:r>
          </a:p>
        </p:txBody>
      </p:sp>
    </p:spTree>
    <p:extLst>
      <p:ext uri="{BB962C8B-B14F-4D97-AF65-F5344CB8AC3E}">
        <p14:creationId xmlns:p14="http://schemas.microsoft.com/office/powerpoint/2010/main" val="1608155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Άσκηση 1 – Πρωτογενής τύπος </a:t>
            </a:r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double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305908" y="6559909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Java as an OOP language Part </a:t>
            </a:r>
            <a:r>
              <a:rPr lang="en-US" sz="1100" dirty="0">
                <a:solidFill>
                  <a:prstClr val="black"/>
                </a:solidFill>
                <a:latin typeface="Bahnschrift" panose="020B0502040204020203" pitchFamily="34" charset="0"/>
              </a:rPr>
              <a:t>B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463A33E3-86D4-B929-BBB5-1097207103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937438"/>
            <a:ext cx="11612880" cy="4906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cs typeface="Times New Roman" panose="02020603050405020304" pitchFamily="18" charset="0"/>
              </a:rPr>
              <a:t>Αναπτύξτε ένα πρόγραμμα σε </a:t>
            </a:r>
            <a:r>
              <a:rPr kumimoji="0" lang="en-GB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cs typeface="Times New Roman" panose="02020603050405020304" pitchFamily="18" charset="0"/>
              </a:rPr>
              <a:t>Java</a:t>
            </a:r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cs typeface="Times New Roman" panose="02020603050405020304" pitchFamily="18" charset="0"/>
              </a:rPr>
              <a:t> σύμφωνα με το οποίο το σύστημα θα προσθέτει τους αριθμούς 12.0 και 24.0 και θα δίνει στην κύρια έξοδο το αποτέλεσμα της άθροισης.</a:t>
            </a:r>
            <a:endParaRPr kumimoji="0" lang="en-GB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lang="el-GR" altLang="el-GR" sz="2400" kern="0" dirty="0">
                <a:solidFill>
                  <a:srgbClr val="000000"/>
                </a:solidFill>
                <a:latin typeface="Tahoma"/>
                <a:cs typeface="Times New Roman" panose="02020603050405020304" pitchFamily="18" charset="0"/>
              </a:rPr>
              <a:t>Διαμορφώστε τον πηγαίο κώδικα έτσι ώστε το σύστημα να εκτελεί τις παρακάτω ενέργειες: </a:t>
            </a:r>
            <a:endParaRPr lang="en-US" altLang="el-GR" sz="2400" kern="0" dirty="0">
              <a:solidFill>
                <a:srgbClr val="000000"/>
              </a:solidFill>
              <a:latin typeface="Tahoma"/>
              <a:cs typeface="Times New Roman" panose="02020603050405020304" pitchFamily="18" charset="0"/>
            </a:endParaRPr>
          </a:p>
          <a:p>
            <a:pPr lvl="1" algn="just" eaLnBrk="1" hangingPunct="1">
              <a:buClr>
                <a:srgbClr val="FF0000"/>
              </a:buClr>
              <a:buFont typeface="Wingdings" panose="05000000000000000000" pitchFamily="2" charset="2"/>
              <a:buAutoNum type="arabicPeriod"/>
              <a:defRPr/>
            </a:pPr>
            <a:r>
              <a:rPr lang="el-GR" altLang="el-GR" sz="2400" kern="0" dirty="0">
                <a:solidFill>
                  <a:srgbClr val="000000"/>
                </a:solidFill>
                <a:latin typeface="Tahoma"/>
                <a:cs typeface="Times New Roman" panose="02020603050405020304" pitchFamily="18" charset="0"/>
              </a:rPr>
              <a:t>Να ορίζει μια μεταβλητή τύπου </a:t>
            </a:r>
            <a:r>
              <a:rPr lang="en-GB" altLang="el-GR" sz="2400" kern="0" dirty="0">
                <a:solidFill>
                  <a:srgbClr val="000000"/>
                </a:solidFill>
                <a:latin typeface="Tahoma"/>
                <a:cs typeface="Times New Roman" panose="02020603050405020304" pitchFamily="18" charset="0"/>
              </a:rPr>
              <a:t>double</a:t>
            </a:r>
            <a:r>
              <a:rPr lang="el-GR" altLang="el-GR" sz="2400" kern="0" dirty="0">
                <a:solidFill>
                  <a:srgbClr val="000000"/>
                </a:solidFill>
                <a:latin typeface="Tahoma"/>
                <a:cs typeface="Times New Roman" panose="02020603050405020304" pitchFamily="18" charset="0"/>
              </a:rPr>
              <a:t> και να της αναθέτει αρχική τιμή 12.0.</a:t>
            </a:r>
            <a:endParaRPr lang="en-GB" altLang="el-GR" sz="2400" kern="0" dirty="0">
              <a:solidFill>
                <a:srgbClr val="000000"/>
              </a:solidFill>
              <a:latin typeface="Tahoma"/>
              <a:cs typeface="Times New Roman" panose="02020603050405020304" pitchFamily="18" charset="0"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AutoNum type="arabicPeriod"/>
              <a:tabLst/>
              <a:defRPr/>
            </a:pPr>
            <a:r>
              <a:rPr lang="el-GR" altLang="el-GR" sz="2400" kern="0" dirty="0">
                <a:solidFill>
                  <a:srgbClr val="000000"/>
                </a:solidFill>
                <a:latin typeface="Tahoma"/>
                <a:cs typeface="Times New Roman" panose="02020603050405020304" pitchFamily="18" charset="0"/>
              </a:rPr>
              <a:t>Να ορίζει μια δεύτερη μεταβλητή τύπου </a:t>
            </a:r>
            <a:r>
              <a:rPr lang="en-GB" altLang="el-GR" sz="2400" kern="0" dirty="0">
                <a:solidFill>
                  <a:srgbClr val="000000"/>
                </a:solidFill>
                <a:latin typeface="Tahoma"/>
                <a:cs typeface="Times New Roman" panose="02020603050405020304" pitchFamily="18" charset="0"/>
              </a:rPr>
              <a:t>double</a:t>
            </a:r>
            <a:r>
              <a:rPr lang="el-GR" altLang="el-GR" sz="2400" kern="0" dirty="0">
                <a:solidFill>
                  <a:srgbClr val="000000"/>
                </a:solidFill>
                <a:latin typeface="Tahoma"/>
                <a:cs typeface="Times New Roman" panose="02020603050405020304" pitchFamily="18" charset="0"/>
              </a:rPr>
              <a:t> και να της αναθέτει αρχική τιμή 24.0.</a:t>
            </a:r>
            <a:endParaRPr lang="en-GB" altLang="el-GR" sz="2400" kern="0" dirty="0">
              <a:solidFill>
                <a:srgbClr val="000000"/>
              </a:solidFill>
              <a:latin typeface="Tahoma"/>
              <a:cs typeface="Times New Roman" panose="02020603050405020304" pitchFamily="18" charset="0"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AutoNum type="arabicPeriod"/>
              <a:tabLst/>
              <a:defRPr/>
            </a:pPr>
            <a:r>
              <a:rPr lang="el-GR" altLang="el-GR" sz="2400" kern="0" dirty="0">
                <a:solidFill>
                  <a:srgbClr val="000000"/>
                </a:solidFill>
                <a:latin typeface="Tahoma"/>
                <a:cs typeface="Times New Roman" panose="02020603050405020304" pitchFamily="18" charset="0"/>
              </a:rPr>
              <a:t>Να υπολογίζει το άθροισμα των δύο παραπάνω και να εκχωρεί το αποτέλεσμα σε μια τρίτη μεταβλητή.</a:t>
            </a:r>
            <a:endParaRPr lang="en-GB" altLang="el-GR" sz="2400" kern="0" dirty="0">
              <a:solidFill>
                <a:srgbClr val="000000"/>
              </a:solidFill>
              <a:latin typeface="Tahoma"/>
              <a:cs typeface="Times New Roman" panose="02020603050405020304" pitchFamily="18" charset="0"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AutoNum type="arabicPeriod"/>
              <a:tabLst/>
              <a:defRPr/>
            </a:pPr>
            <a:r>
              <a:rPr lang="el-GR" altLang="el-GR" sz="2400" kern="0" dirty="0">
                <a:solidFill>
                  <a:srgbClr val="000000"/>
                </a:solidFill>
                <a:latin typeface="Tahoma"/>
                <a:cs typeface="Times New Roman" panose="02020603050405020304" pitchFamily="18" charset="0"/>
              </a:rPr>
              <a:t>Να τυπώνει την τιμή της τρίτης μεταβλητής  (αποτέλεσμα της άθροισης).</a:t>
            </a:r>
            <a:endParaRPr lang="en-GB" altLang="el-GR" sz="2400" kern="0" dirty="0">
              <a:solidFill>
                <a:srgbClr val="000000"/>
              </a:solidFill>
              <a:latin typeface="Tahoma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8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/>
                <a:ea typeface="+mn-ea"/>
                <a:cs typeface="Times New Roman" panose="02020603050405020304" pitchFamily="18" charset="0"/>
              </a:rPr>
              <a:t>Δώστε εναλλακτικές υλοποιήσεις</a:t>
            </a:r>
            <a:endParaRPr kumimoji="0" lang="en-GB" altLang="el-GR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825846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Άσκηση 1 – Έκδοση 1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305908" y="6559909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Java as an OOP language Part </a:t>
            </a:r>
            <a:r>
              <a:rPr lang="en-US" sz="1100" dirty="0">
                <a:solidFill>
                  <a:prstClr val="black"/>
                </a:solidFill>
                <a:latin typeface="Bahnschrift" panose="020B0502040204020203" pitchFamily="34" charset="0"/>
              </a:rPr>
              <a:t>B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EC03A50D-6182-3790-F996-0F685FE653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111" y="2139696"/>
            <a:ext cx="8726488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GB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Courier New" panose="02070309020205020404" pitchFamily="49" charset="0"/>
              </a:rPr>
              <a:t>class Ex1a {</a:t>
            </a:r>
            <a:endParaRPr kumimoji="0" lang="en-GB" altLang="el-GR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GB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Courier New" panose="02070309020205020404" pitchFamily="49" charset="0"/>
              </a:rPr>
              <a:t>	public static void main(String[] </a:t>
            </a:r>
            <a:r>
              <a:rPr kumimoji="0" lang="en-GB" altLang="el-GR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Courier New" panose="02070309020205020404" pitchFamily="49" charset="0"/>
              </a:rPr>
              <a:t>argv</a:t>
            </a:r>
            <a:r>
              <a:rPr kumimoji="0" lang="en-GB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Courier New" panose="02070309020205020404" pitchFamily="49" charset="0"/>
              </a:rPr>
              <a:t>) {</a:t>
            </a:r>
            <a:endParaRPr kumimoji="0" lang="el-GR" altLang="el-GR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Courier New" panose="02070309020205020404" pitchFamily="49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GB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Courier New" panose="02070309020205020404" pitchFamily="49" charset="0"/>
              </a:rPr>
              <a:t>		</a:t>
            </a:r>
            <a:r>
              <a:rPr kumimoji="0" lang="en-GB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+mn-ea"/>
                <a:cs typeface="Courier New" panose="02070309020205020404" pitchFamily="49" charset="0"/>
              </a:rPr>
              <a:t>double d1</a:t>
            </a:r>
            <a:r>
              <a:rPr kumimoji="0" lang="en-GB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Courier New" panose="02070309020205020404" pitchFamily="49" charset="0"/>
              </a:rPr>
              <a:t> = 12.0;</a:t>
            </a:r>
            <a:endParaRPr kumimoji="0" lang="en-GB" altLang="el-GR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GB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Courier New" panose="02070309020205020404" pitchFamily="49" charset="0"/>
              </a:rPr>
              <a:t>		</a:t>
            </a:r>
            <a:r>
              <a:rPr kumimoji="0" lang="en-GB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+mn-ea"/>
                <a:cs typeface="Courier New" panose="02070309020205020404" pitchFamily="49" charset="0"/>
              </a:rPr>
              <a:t>double d2</a:t>
            </a:r>
            <a:r>
              <a:rPr kumimoji="0" lang="en-GB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Courier New" panose="02070309020205020404" pitchFamily="49" charset="0"/>
              </a:rPr>
              <a:t> = 24.0;</a:t>
            </a:r>
            <a:endParaRPr kumimoji="0" lang="en-GB" altLang="el-GR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GB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Courier New" panose="02070309020205020404" pitchFamily="49" charset="0"/>
              </a:rPr>
              <a:t>		</a:t>
            </a:r>
            <a:r>
              <a:rPr kumimoji="0" lang="en-GB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+mn-ea"/>
                <a:cs typeface="Courier New" panose="02070309020205020404" pitchFamily="49" charset="0"/>
              </a:rPr>
              <a:t>double d3</a:t>
            </a:r>
            <a:r>
              <a:rPr kumimoji="0" lang="en-GB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Courier New" panose="02070309020205020404" pitchFamily="49" charset="0"/>
              </a:rPr>
              <a:t> = d1 + d2;</a:t>
            </a:r>
            <a:endParaRPr kumimoji="0" lang="en-GB" altLang="el-GR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GB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Courier New" panose="02070309020205020404" pitchFamily="49" charset="0"/>
              </a:rPr>
              <a:t>		</a:t>
            </a:r>
            <a:r>
              <a:rPr kumimoji="0" lang="en-GB" altLang="el-GR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Courier New" panose="02070309020205020404" pitchFamily="49" charset="0"/>
              </a:rPr>
              <a:t>System.out.println</a:t>
            </a:r>
            <a:r>
              <a:rPr kumimoji="0" lang="en-GB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Courier New" panose="02070309020205020404" pitchFamily="49" charset="0"/>
              </a:rPr>
              <a:t>(d1 + "+" + d2 + "=" + d3);</a:t>
            </a:r>
            <a:endParaRPr kumimoji="0" lang="en-GB" altLang="el-GR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GB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Courier New" panose="02070309020205020404" pitchFamily="49" charset="0"/>
              </a:rPr>
              <a:t>		</a:t>
            </a: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Courier New" panose="02070309020205020404" pitchFamily="49" charset="0"/>
              </a:rPr>
              <a:t>}</a:t>
            </a:r>
            <a:endParaRPr kumimoji="0" lang="en-GB" altLang="el-GR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Courier New" panose="02070309020205020404" pitchFamily="49" charset="0"/>
              </a:rPr>
              <a:t>	}</a:t>
            </a:r>
            <a:r>
              <a:rPr kumimoji="0" lang="en-GB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2F718A-D458-4BB7-DAFC-3034E9FAA9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8418" y="823151"/>
            <a:ext cx="9303582" cy="131654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F10B56A-326D-1498-5F92-738F9E348D79}"/>
              </a:ext>
            </a:extLst>
          </p:cNvPr>
          <p:cNvSpPr txBox="1"/>
          <p:nvPr/>
        </p:nvSpPr>
        <p:spPr>
          <a:xfrm>
            <a:off x="3029087" y="5945537"/>
            <a:ext cx="9162913" cy="46166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cs typeface="Times New Roman" panose="02020603050405020304" pitchFamily="18" charset="0"/>
              </a:rPr>
              <a:t>οι τρεις μεταβλητές είναι </a:t>
            </a:r>
            <a:r>
              <a:rPr kumimoji="0" lang="el-GR" alt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cs typeface="Times New Roman" panose="02020603050405020304" pitchFamily="18" charset="0"/>
              </a:rPr>
              <a:t>τοπικές μεταβλητές μεθόδου</a:t>
            </a:r>
            <a:endParaRPr lang="en-GB" sz="2400" b="1" dirty="0"/>
          </a:p>
        </p:txBody>
      </p:sp>
    </p:spTree>
    <p:extLst>
      <p:ext uri="{BB962C8B-B14F-4D97-AF65-F5344CB8AC3E}">
        <p14:creationId xmlns:p14="http://schemas.microsoft.com/office/powerpoint/2010/main" val="1082703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Άσκηση 1 – Έκδοση 2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305908" y="6559909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Java as an OOP language Part </a:t>
            </a:r>
            <a:r>
              <a:rPr lang="en-US" sz="1100" dirty="0">
                <a:solidFill>
                  <a:prstClr val="black"/>
                </a:solidFill>
                <a:latin typeface="Bahnschrift" panose="020B0502040204020203" pitchFamily="34" charset="0"/>
              </a:rPr>
              <a:t>B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7B794872-E420-8237-414B-2D7F468227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865" y="1371600"/>
            <a:ext cx="8726488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GB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Courier New" panose="02070309020205020404" pitchFamily="49" charset="0"/>
              </a:rPr>
              <a:t>class Ex1b {</a:t>
            </a:r>
            <a:endParaRPr kumimoji="0" lang="en-GB" altLang="el-GR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GB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Courier New" panose="02070309020205020404" pitchFamily="49" charset="0"/>
              </a:rPr>
              <a:t>	</a:t>
            </a:r>
            <a:r>
              <a:rPr kumimoji="0" lang="en-GB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+mn-ea"/>
                <a:cs typeface="Courier New" panose="02070309020205020404" pitchFamily="49" charset="0"/>
              </a:rPr>
              <a:t>static double d1, d2, d3;</a:t>
            </a:r>
            <a:endParaRPr kumimoji="0" lang="en-GB" altLang="el-GR" sz="28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GB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Courier New" panose="02070309020205020404" pitchFamily="49" charset="0"/>
              </a:rPr>
              <a:t>	public static void main(String[] </a:t>
            </a:r>
            <a:r>
              <a:rPr kumimoji="0" lang="en-GB" altLang="el-GR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Courier New" panose="02070309020205020404" pitchFamily="49" charset="0"/>
              </a:rPr>
              <a:t>argv</a:t>
            </a:r>
            <a:r>
              <a:rPr kumimoji="0" lang="en-GB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Courier New" panose="02070309020205020404" pitchFamily="49" charset="0"/>
              </a:rPr>
              <a:t>) {</a:t>
            </a:r>
            <a:endParaRPr kumimoji="0" lang="en-GB" altLang="el-GR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GB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Courier New" panose="02070309020205020404" pitchFamily="49" charset="0"/>
              </a:rPr>
              <a:t>		d1 = 12.0;</a:t>
            </a:r>
            <a:endParaRPr kumimoji="0" lang="en-GB" altLang="el-GR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GB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Courier New" panose="02070309020205020404" pitchFamily="49" charset="0"/>
              </a:rPr>
              <a:t>		d2 = 24.0;</a:t>
            </a:r>
            <a:endParaRPr kumimoji="0" lang="en-GB" altLang="el-GR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GB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Courier New" panose="02070309020205020404" pitchFamily="49" charset="0"/>
              </a:rPr>
              <a:t>		d3 = d1 + d2;</a:t>
            </a:r>
            <a:endParaRPr kumimoji="0" lang="en-GB" altLang="el-GR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GB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Courier New" panose="02070309020205020404" pitchFamily="49" charset="0"/>
              </a:rPr>
              <a:t>		</a:t>
            </a:r>
            <a:r>
              <a:rPr kumimoji="0" lang="en-GB" altLang="el-GR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Courier New" panose="02070309020205020404" pitchFamily="49" charset="0"/>
              </a:rPr>
              <a:t>System.out.println</a:t>
            </a:r>
            <a:r>
              <a:rPr kumimoji="0" lang="en-GB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Courier New" panose="02070309020205020404" pitchFamily="49" charset="0"/>
              </a:rPr>
              <a:t>(d1 + "+" + d2 + "=" + d3);</a:t>
            </a:r>
            <a:endParaRPr kumimoji="0" lang="en-GB" altLang="el-GR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GB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Courier New" panose="02070309020205020404" pitchFamily="49" charset="0"/>
              </a:rPr>
              <a:t>		</a:t>
            </a: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Courier New" panose="02070309020205020404" pitchFamily="49" charset="0"/>
              </a:rPr>
              <a:t>}</a:t>
            </a:r>
            <a:endParaRPr kumimoji="0" lang="en-GB" altLang="el-GR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Courier New" panose="02070309020205020404" pitchFamily="49" charset="0"/>
              </a:rPr>
              <a:t>	}</a:t>
            </a:r>
            <a:endParaRPr kumimoji="0" lang="en-GB" altLang="el-GR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3E0849-324A-97EF-7146-9948F4FD10A7}"/>
              </a:ext>
            </a:extLst>
          </p:cNvPr>
          <p:cNvSpPr txBox="1"/>
          <p:nvPr/>
        </p:nvSpPr>
        <p:spPr>
          <a:xfrm>
            <a:off x="3029087" y="5945537"/>
            <a:ext cx="9162913" cy="46166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cs typeface="Times New Roman" panose="02020603050405020304" pitchFamily="18" charset="0"/>
              </a:rPr>
              <a:t>οι τρεις μεταβλητές είναι </a:t>
            </a:r>
            <a:r>
              <a:rPr kumimoji="0" lang="el-GR" alt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cs typeface="Times New Roman" panose="02020603050405020304" pitchFamily="18" charset="0"/>
              </a:rPr>
              <a:t>μεταβλητές κλάσης</a:t>
            </a:r>
            <a:endParaRPr lang="en-GB" sz="2400" b="1" dirty="0"/>
          </a:p>
        </p:txBody>
      </p:sp>
    </p:spTree>
    <p:extLst>
      <p:ext uri="{BB962C8B-B14F-4D97-AF65-F5344CB8AC3E}">
        <p14:creationId xmlns:p14="http://schemas.microsoft.com/office/powerpoint/2010/main" val="1931878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Άσκηση 1 – Έκδοση 3</a:t>
            </a:r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a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305908" y="6559909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Java as an OOP language Part </a:t>
            </a:r>
            <a:r>
              <a:rPr lang="en-US" sz="1100" dirty="0">
                <a:solidFill>
                  <a:prstClr val="black"/>
                </a:solidFill>
                <a:latin typeface="Bahnschrift" panose="020B0502040204020203" pitchFamily="34" charset="0"/>
              </a:rPr>
              <a:t>B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D85FE2CC-2373-C622-8F00-02512D15D3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2535" y="1177958"/>
            <a:ext cx="8726488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Courier New" panose="02070309020205020404" pitchFamily="49" charset="0"/>
              </a:rPr>
              <a:t>class Ex1c {</a:t>
            </a:r>
            <a:endParaRPr kumimoji="0" lang="en-GB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Courier New" panose="02070309020205020404" pitchFamily="49" charset="0"/>
              </a:rPr>
              <a:t>	</a:t>
            </a: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+mn-ea"/>
                <a:cs typeface="Courier New" panose="02070309020205020404" pitchFamily="49" charset="0"/>
              </a:rPr>
              <a:t>double d1, d2, d3;</a:t>
            </a:r>
            <a:endParaRPr kumimoji="0" lang="en-GB" altLang="el-GR" sz="24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Courier New" panose="02070309020205020404" pitchFamily="49" charset="0"/>
              </a:rPr>
              <a:t>	public static void main(String[] </a:t>
            </a:r>
            <a:r>
              <a:rPr kumimoji="0" lang="en-US" altLang="el-G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Courier New" panose="02070309020205020404" pitchFamily="49" charset="0"/>
              </a:rPr>
              <a:t>argv</a:t>
            </a: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Courier New" panose="02070309020205020404" pitchFamily="49" charset="0"/>
              </a:rPr>
              <a:t>) {</a:t>
            </a:r>
            <a:endParaRPr kumimoji="0" lang="en-GB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Courier New" panose="02070309020205020404" pitchFamily="49" charset="0"/>
              </a:rPr>
              <a:t>		</a:t>
            </a: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+mn-ea"/>
                <a:cs typeface="Courier New" panose="02070309020205020404" pitchFamily="49" charset="0"/>
              </a:rPr>
              <a:t>Ex1c </a:t>
            </a:r>
            <a:r>
              <a:rPr kumimoji="0" lang="en-US" altLang="el-G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+mn-ea"/>
                <a:cs typeface="Courier New" panose="02070309020205020404" pitchFamily="49" charset="0"/>
              </a:rPr>
              <a:t>myObject</a:t>
            </a: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+mn-ea"/>
                <a:cs typeface="Courier New" panose="02070309020205020404" pitchFamily="49" charset="0"/>
              </a:rPr>
              <a:t> = new Ex1c();</a:t>
            </a:r>
            <a:endParaRPr kumimoji="0" lang="en-GB" altLang="el-GR" sz="24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Courier New" panose="02070309020205020404" pitchFamily="49" charset="0"/>
              </a:rPr>
              <a:t>		myObject.d1 = 12.0;</a:t>
            </a:r>
            <a:endParaRPr kumimoji="0" lang="en-GB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Courier New" panose="02070309020205020404" pitchFamily="49" charset="0"/>
              </a:rPr>
              <a:t>		myObject.d2= 24.0;</a:t>
            </a:r>
            <a:endParaRPr kumimoji="0" lang="en-GB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Courier New" panose="02070309020205020404" pitchFamily="49" charset="0"/>
              </a:rPr>
              <a:t>		myObject.d3 = myObject.d1 + myObject.d2;</a:t>
            </a:r>
            <a:endParaRPr kumimoji="0" lang="en-GB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Courier New" panose="02070309020205020404" pitchFamily="49" charset="0"/>
              </a:rPr>
              <a:t>		</a:t>
            </a:r>
            <a:r>
              <a:rPr kumimoji="0" lang="en-US" altLang="el-G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Courier New" panose="02070309020205020404" pitchFamily="49" charset="0"/>
              </a:rPr>
              <a:t>System.out.println</a:t>
            </a: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Courier New" panose="02070309020205020404" pitchFamily="49" charset="0"/>
              </a:rPr>
              <a:t>(myObject.d1 + "+" + </a:t>
            </a:r>
            <a:endParaRPr kumimoji="0" lang="en-GB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				</a:t>
            </a: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Courier New" panose="02070309020205020404" pitchFamily="49" charset="0"/>
              </a:rPr>
              <a:t>myObject.d2 + "=" + myObject.d3);</a:t>
            </a:r>
            <a:endParaRPr kumimoji="0" lang="en-GB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Courier New" panose="02070309020205020404" pitchFamily="49" charset="0"/>
              </a:rPr>
              <a:t>		</a:t>
            </a:r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Courier New" panose="02070309020205020404" pitchFamily="49" charset="0"/>
              </a:rPr>
              <a:t>}</a:t>
            </a:r>
            <a:endParaRPr kumimoji="0" lang="en-GB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Courier New" panose="02070309020205020404" pitchFamily="49" charset="0"/>
              </a:rPr>
              <a:t>	}</a:t>
            </a:r>
            <a:endParaRPr kumimoji="0" lang="en-GB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4D36C1-4531-946F-5322-DADBE4B12ECF}"/>
              </a:ext>
            </a:extLst>
          </p:cNvPr>
          <p:cNvSpPr txBox="1"/>
          <p:nvPr/>
        </p:nvSpPr>
        <p:spPr>
          <a:xfrm>
            <a:off x="3029087" y="5945537"/>
            <a:ext cx="9162913" cy="46166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cs typeface="Times New Roman" panose="02020603050405020304" pitchFamily="18" charset="0"/>
              </a:rPr>
              <a:t>οι τρεις μεταβλητές είναι </a:t>
            </a:r>
            <a:r>
              <a:rPr kumimoji="0" lang="el-GR" alt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cs typeface="Times New Roman" panose="02020603050405020304" pitchFamily="18" charset="0"/>
              </a:rPr>
              <a:t>μεταβλητές στιγμιότυπου</a:t>
            </a:r>
            <a:endParaRPr lang="en-GB" sz="2400" b="1" dirty="0"/>
          </a:p>
        </p:txBody>
      </p:sp>
    </p:spTree>
    <p:extLst>
      <p:ext uri="{BB962C8B-B14F-4D97-AF65-F5344CB8AC3E}">
        <p14:creationId xmlns:p14="http://schemas.microsoft.com/office/powerpoint/2010/main" val="918483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Άσκηση 1 – Έκδοση 3</a:t>
            </a:r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b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305908" y="6559909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Java as an OOP language Part </a:t>
            </a:r>
            <a:r>
              <a:rPr lang="en-US" sz="1100" dirty="0">
                <a:solidFill>
                  <a:prstClr val="black"/>
                </a:solidFill>
                <a:latin typeface="Bahnschrift" panose="020B0502040204020203" pitchFamily="34" charset="0"/>
              </a:rPr>
              <a:t>B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E55EA7E-19B3-E477-FBEA-79CF805605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518" y="1017036"/>
            <a:ext cx="8726488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Courier New" panose="02070309020205020404" pitchFamily="49" charset="0"/>
              </a:rPr>
              <a:t>class Ex1c2 {</a:t>
            </a:r>
            <a:endParaRPr kumimoji="0" lang="en-GB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Courier New" panose="02070309020205020404" pitchFamily="49" charset="0"/>
              </a:rPr>
              <a:t>	public static void main(String[] </a:t>
            </a:r>
            <a:r>
              <a:rPr kumimoji="0" lang="en-US" altLang="el-G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Courier New" panose="02070309020205020404" pitchFamily="49" charset="0"/>
              </a:rPr>
              <a:t>argv</a:t>
            </a: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Courier New" panose="02070309020205020404" pitchFamily="49" charset="0"/>
              </a:rPr>
              <a:t>) {</a:t>
            </a:r>
            <a:endParaRPr kumimoji="0" lang="en-GB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Courier New" panose="02070309020205020404" pitchFamily="49" charset="0"/>
              </a:rPr>
              <a:t>		</a:t>
            </a:r>
            <a:r>
              <a:rPr kumimoji="0" lang="en-US" altLang="el-G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+mn-ea"/>
                <a:cs typeface="Courier New" panose="02070309020205020404" pitchFamily="49" charset="0"/>
              </a:rPr>
              <a:t>MyClass</a:t>
            </a: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+mn-ea"/>
                <a:cs typeface="Courier New" panose="02070309020205020404" pitchFamily="49" charset="0"/>
              </a:rPr>
              <a:t> </a:t>
            </a:r>
            <a:r>
              <a:rPr kumimoji="0" lang="en-US" altLang="el-G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+mn-ea"/>
                <a:cs typeface="Courier New" panose="02070309020205020404" pitchFamily="49" charset="0"/>
              </a:rPr>
              <a:t>myObject</a:t>
            </a: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+mn-ea"/>
                <a:cs typeface="Courier New" panose="02070309020205020404" pitchFamily="49" charset="0"/>
              </a:rPr>
              <a:t> = new </a:t>
            </a:r>
            <a:r>
              <a:rPr kumimoji="0" lang="en-US" altLang="el-G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+mn-ea"/>
                <a:cs typeface="Courier New" panose="02070309020205020404" pitchFamily="49" charset="0"/>
              </a:rPr>
              <a:t>MyClass</a:t>
            </a: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+mn-ea"/>
                <a:cs typeface="Courier New" panose="02070309020205020404" pitchFamily="49" charset="0"/>
              </a:rPr>
              <a:t>();</a:t>
            </a:r>
            <a:endParaRPr kumimoji="0" lang="en-GB" altLang="el-GR" sz="24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Courier New" panose="02070309020205020404" pitchFamily="49" charset="0"/>
              </a:rPr>
              <a:t>		myObject.d1 = 12.0;</a:t>
            </a:r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</a:rPr>
              <a:t> </a:t>
            </a: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Courier New" panose="02070309020205020404" pitchFamily="49" charset="0"/>
              </a:rPr>
              <a:t>	myObject.d2= 24.0;</a:t>
            </a:r>
            <a:endParaRPr kumimoji="0" lang="en-GB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Courier New" panose="02070309020205020404" pitchFamily="49" charset="0"/>
              </a:rPr>
              <a:t>		myObject.d3 = myObject.d1 + myObject.d2;</a:t>
            </a:r>
            <a:endParaRPr kumimoji="0" lang="en-GB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Courier New" panose="02070309020205020404" pitchFamily="49" charset="0"/>
              </a:rPr>
              <a:t>		</a:t>
            </a:r>
            <a:r>
              <a:rPr kumimoji="0" lang="en-US" altLang="el-G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Courier New" panose="02070309020205020404" pitchFamily="49" charset="0"/>
              </a:rPr>
              <a:t>System.out.println</a:t>
            </a: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Courier New" panose="02070309020205020404" pitchFamily="49" charset="0"/>
              </a:rPr>
              <a:t>(myObject.d1 + "+" + </a:t>
            </a:r>
            <a:endParaRPr kumimoji="0" lang="en-GB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</a:rPr>
              <a:t>					</a:t>
            </a: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Courier New" panose="02070309020205020404" pitchFamily="49" charset="0"/>
              </a:rPr>
              <a:t>myObject.d2 + "=" + myObject.d3);</a:t>
            </a:r>
            <a:endParaRPr kumimoji="0" lang="en-GB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Courier New" panose="02070309020205020404" pitchFamily="49" charset="0"/>
              </a:rPr>
              <a:t>		}</a:t>
            </a:r>
            <a:endParaRPr kumimoji="0" lang="en-GB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Courier New" panose="02070309020205020404" pitchFamily="49" charset="0"/>
              </a:rPr>
              <a:t>	}</a:t>
            </a:r>
            <a:endParaRPr kumimoji="0" lang="en-GB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endParaRPr kumimoji="0" lang="en-GB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DDAE6F-4830-5876-D8A5-E67CFB0AA7E9}"/>
              </a:ext>
            </a:extLst>
          </p:cNvPr>
          <p:cNvSpPr txBox="1"/>
          <p:nvPr/>
        </p:nvSpPr>
        <p:spPr>
          <a:xfrm>
            <a:off x="3029087" y="4689914"/>
            <a:ext cx="9162913" cy="46166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cs typeface="Times New Roman" panose="02020603050405020304" pitchFamily="18" charset="0"/>
              </a:rPr>
              <a:t>οι τρεις μεταβλητές είναι </a:t>
            </a:r>
            <a:r>
              <a:rPr kumimoji="0" lang="el-GR" alt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cs typeface="Times New Roman" panose="02020603050405020304" pitchFamily="18" charset="0"/>
              </a:rPr>
              <a:t>μεταβλητές στιγμιότυπου</a:t>
            </a:r>
            <a:endParaRPr lang="en-GB" sz="2400" b="1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6A67B4CE-29BB-ECBE-F389-6E3D94CEAF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310" y="5332464"/>
            <a:ext cx="8726488" cy="1693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+mn-ea"/>
                <a:cs typeface="Courier New" panose="02070309020205020404" pitchFamily="49" charset="0"/>
              </a:rPr>
              <a:t>class </a:t>
            </a:r>
            <a:r>
              <a:rPr kumimoji="0" lang="en-US" altLang="el-GR" sz="2400" b="1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+mn-ea"/>
                <a:cs typeface="Courier New" panose="02070309020205020404" pitchFamily="49" charset="0"/>
              </a:rPr>
              <a:t>MyClass</a:t>
            </a:r>
            <a:r>
              <a:rPr kumimoji="0" lang="en-US" alt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+mn-ea"/>
                <a:cs typeface="Courier New" panose="02070309020205020404" pitchFamily="49" charset="0"/>
              </a:rPr>
              <a:t> {</a:t>
            </a:r>
            <a:endParaRPr kumimoji="0" lang="en-GB" altLang="el-GR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+mn-ea"/>
                <a:cs typeface="Courier New" panose="02070309020205020404" pitchFamily="49" charset="0"/>
              </a:rPr>
              <a:t>	double d1, d2, d3;	</a:t>
            </a:r>
            <a:endParaRPr kumimoji="0" lang="en-GB" altLang="el-GR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+mn-ea"/>
                <a:cs typeface="Courier New" panose="02070309020205020404" pitchFamily="49" charset="0"/>
              </a:rPr>
              <a:t>	</a:t>
            </a:r>
            <a:r>
              <a:rPr kumimoji="0" lang="el-GR" alt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+mn-ea"/>
                <a:cs typeface="Courier New" panose="02070309020205020404" pitchFamily="49" charset="0"/>
              </a:rPr>
              <a:t>}</a:t>
            </a:r>
            <a:endParaRPr kumimoji="0" lang="en-GB" altLang="el-GR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/>
              <a:ea typeface="+mn-ea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3329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3" grpId="0" animBg="1"/>
      <p:bldP spid="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Άσκηση 2 – τύπος </a:t>
            </a:r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Double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305908" y="6559909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Java as an OOP language Part </a:t>
            </a:r>
            <a:r>
              <a:rPr lang="en-US" sz="1100" dirty="0">
                <a:solidFill>
                  <a:prstClr val="black"/>
                </a:solidFill>
                <a:latin typeface="Bahnschrift" panose="020B0502040204020203" pitchFamily="34" charset="0"/>
              </a:rPr>
              <a:t>B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463A33E3-86D4-B929-BBB5-1097207103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937438"/>
            <a:ext cx="11362061" cy="4906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imes New Roman" panose="02020603050405020304" pitchFamily="18" charset="0"/>
              </a:rPr>
              <a:t>Αναπτύξτε ένα πρόγραμμα σε </a:t>
            </a:r>
            <a:r>
              <a:rPr kumimoji="0" lang="en-GB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imes New Roman" panose="02020603050405020304" pitchFamily="18" charset="0"/>
              </a:rPr>
              <a:t>Java</a:t>
            </a:r>
            <a:r>
              <a:rPr kumimoji="0" lang="el-GR" altLang="el-GR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imes New Roman" panose="02020603050405020304" pitchFamily="18" charset="0"/>
              </a:rPr>
              <a:t> σύμφωνα με το οποίο το σύστημα θα προσθέτει τους αριθμούς </a:t>
            </a:r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imes New Roman" panose="02020603050405020304" pitchFamily="18" charset="0"/>
              </a:rPr>
              <a:t>12.0</a:t>
            </a:r>
            <a:r>
              <a:rPr kumimoji="0" lang="el-GR" altLang="el-GR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imes New Roman" panose="02020603050405020304" pitchFamily="18" charset="0"/>
              </a:rPr>
              <a:t> και </a:t>
            </a:r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imes New Roman" panose="02020603050405020304" pitchFamily="18" charset="0"/>
              </a:rPr>
              <a:t>24.0</a:t>
            </a:r>
            <a:r>
              <a:rPr kumimoji="0" lang="el-GR" altLang="el-GR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imes New Roman" panose="02020603050405020304" pitchFamily="18" charset="0"/>
              </a:rPr>
              <a:t> και θα δίνει στην κύρια έξοδο το αποτέλεσμα της άθροισης.</a:t>
            </a:r>
            <a:endParaRPr kumimoji="0" lang="en-GB" altLang="el-GR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Διαμορφώστε τον πηγαίο κώδικα έτσι ώστε το σύστημα να εκτελεί τις παρακάτω ενέργειες: </a:t>
            </a:r>
            <a:endParaRPr kumimoji="0" lang="en-US" altLang="el-GR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Times New Roman" panose="02020603050405020304" pitchFamily="18" charset="0"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AutoNum type="arabicPeriod"/>
              <a:tabLst/>
              <a:defRPr/>
            </a:pPr>
            <a:r>
              <a:rPr kumimoji="0" lang="el-GR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Να ορίζει μια μεταβλητή τύπου </a:t>
            </a:r>
            <a:r>
              <a:rPr lang="en-GB" altLang="el-GR" sz="2400" b="1" kern="0" dirty="0">
                <a:solidFill>
                  <a:srgbClr val="00000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kumimoji="0" lang="en-GB" altLang="el-GR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ouble</a:t>
            </a:r>
            <a:r>
              <a:rPr kumimoji="0" lang="el-GR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 και να της αναθέτει αρχική τιμή 12.0.</a:t>
            </a:r>
            <a:endParaRPr kumimoji="0" lang="en-GB" altLang="el-GR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AutoNum type="arabicPeriod"/>
              <a:tabLst/>
              <a:defRPr/>
            </a:pPr>
            <a:r>
              <a:rPr kumimoji="0" lang="el-GR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Να ορίζει μια δεύτερη μεταβλητή τύπου </a:t>
            </a:r>
            <a:r>
              <a:rPr lang="en-GB" altLang="el-GR" sz="2400" b="1" kern="0" dirty="0">
                <a:solidFill>
                  <a:srgbClr val="00000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kumimoji="0" lang="en-GB" altLang="el-GR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ouble</a:t>
            </a:r>
            <a:r>
              <a:rPr kumimoji="0" lang="el-GR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 και να της αναθέτει αρχική τιμή 24.0.</a:t>
            </a:r>
            <a:endParaRPr kumimoji="0" lang="en-GB" altLang="el-GR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AutoNum type="arabicPeriod"/>
              <a:tabLst/>
              <a:defRPr/>
            </a:pPr>
            <a:r>
              <a:rPr kumimoji="0" lang="el-GR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Να υπολογίζει το άθροισμα των δύο παραπάνω και να εκχωρεί το αποτέλεσμα σε μια τρίτη μεταβλητή.</a:t>
            </a:r>
            <a:endParaRPr kumimoji="0" lang="en-GB" altLang="el-GR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AutoNum type="arabicPeriod"/>
              <a:tabLst/>
              <a:defRPr/>
            </a:pPr>
            <a:r>
              <a:rPr kumimoji="0" lang="el-GR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Να τυπώνει την τιμή της τρίτης μεταβλητής  (αποτέλεσμα της άθροισης).</a:t>
            </a:r>
            <a:endParaRPr kumimoji="0" lang="en-GB" altLang="el-GR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929441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Άσκηση 2 – Εναλλακτικές Υλοποιήσεις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305908" y="6559909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Java as an OOP language Part </a:t>
            </a:r>
            <a:r>
              <a:rPr lang="en-US" sz="1100" dirty="0">
                <a:solidFill>
                  <a:prstClr val="black"/>
                </a:solidFill>
                <a:latin typeface="Bahnschrift" panose="020B0502040204020203" pitchFamily="34" charset="0"/>
              </a:rPr>
              <a:t>B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B0D955-5187-F9D3-ECE1-149F3D867A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97101"/>
            <a:ext cx="4416372" cy="21073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DE8A4EF-81F1-8E9E-3E2F-347D43B3E9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1459" y="758815"/>
            <a:ext cx="4731107" cy="224564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DF9EC7A-762D-3BF6-DD74-D458038C53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429000"/>
            <a:ext cx="5528949" cy="287882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936BC81-8BE9-D7A7-1BF8-24622EA910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5096" y="3092475"/>
            <a:ext cx="5528949" cy="3427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167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Δραστηριότητα 5.2 </a:t>
            </a:r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Object state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305908" y="6559909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Java as an OOP language Part </a:t>
            </a:r>
            <a:r>
              <a:rPr lang="en-US" sz="1100" dirty="0">
                <a:solidFill>
                  <a:prstClr val="black"/>
                </a:solidFill>
                <a:latin typeface="Bahnschrift" panose="020B0502040204020203" pitchFamily="34" charset="0"/>
              </a:rPr>
              <a:t>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4D87C9-5DF6-EF5A-E1B1-12A2B6520B9C}"/>
              </a:ext>
            </a:extLst>
          </p:cNvPr>
          <p:cNvSpPr txBox="1"/>
          <p:nvPr/>
        </p:nvSpPr>
        <p:spPr>
          <a:xfrm>
            <a:off x="278359" y="888112"/>
            <a:ext cx="11635279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l-GR" sz="2400" b="1" i="1" u="none" strike="noStrike" baseline="0" dirty="0">
                <a:latin typeface="Calibri" panose="020F0502020204030204" pitchFamily="34" charset="0"/>
              </a:rPr>
              <a:t>Δραστηριότητα 5.2 Κατάσταση Αντικειμένου (</a:t>
            </a:r>
            <a:r>
              <a:rPr lang="el-GR" sz="2400" b="1" i="1" u="none" strike="noStrike" baseline="0" dirty="0" err="1">
                <a:latin typeface="Calibri" panose="020F0502020204030204" pitchFamily="34" charset="0"/>
              </a:rPr>
              <a:t>Object</a:t>
            </a:r>
            <a:r>
              <a:rPr lang="el-GR" sz="2400" b="1" i="1" u="none" strike="noStrike" baseline="0" dirty="0">
                <a:latin typeface="Calibri" panose="020F0502020204030204" pitchFamily="34" charset="0"/>
              </a:rPr>
              <a:t> </a:t>
            </a:r>
            <a:r>
              <a:rPr lang="el-GR" sz="2400" b="1" i="1" u="none" strike="noStrike" baseline="0" dirty="0" err="1">
                <a:latin typeface="Calibri" panose="020F0502020204030204" pitchFamily="34" charset="0"/>
              </a:rPr>
              <a:t>State</a:t>
            </a:r>
            <a:r>
              <a:rPr lang="el-GR" sz="2400" b="1" i="1" u="none" strike="noStrike" baseline="0" dirty="0">
                <a:latin typeface="Calibri" panose="020F0502020204030204" pitchFamily="34" charset="0"/>
              </a:rPr>
              <a:t>) </a:t>
            </a:r>
            <a:endParaRPr lang="el-GR" sz="2400" b="0" i="0" u="none" strike="noStrike" baseline="0" dirty="0">
              <a:latin typeface="Calibri" panose="020F0502020204030204" pitchFamily="34" charset="0"/>
            </a:endParaRPr>
          </a:p>
          <a:p>
            <a:pPr algn="just"/>
            <a:r>
              <a:rPr lang="el-GR" sz="2400" b="0" i="1" u="none" strike="noStrike" baseline="0" dirty="0">
                <a:latin typeface="Calibri" panose="020F0502020204030204" pitchFamily="34" charset="0"/>
              </a:rPr>
              <a:t>Αναπτύξτε ένα πρόγραμμα </a:t>
            </a:r>
            <a:r>
              <a:rPr lang="el-GR" sz="2400" b="0" i="1" u="none" strike="noStrike" baseline="0" dirty="0" err="1">
                <a:latin typeface="Courier New" panose="02070309020205020404" pitchFamily="49" charset="0"/>
              </a:rPr>
              <a:t>ObjectState</a:t>
            </a:r>
            <a:r>
              <a:rPr lang="el-GR" sz="2400" b="0" i="1" u="none" strike="noStrike" baseline="0" dirty="0">
                <a:latin typeface="Courier New" panose="02070309020205020404" pitchFamily="49" charset="0"/>
              </a:rPr>
              <a:t> </a:t>
            </a:r>
            <a:r>
              <a:rPr lang="el-GR" sz="2400" b="0" i="1" u="none" strike="noStrike" baseline="0" dirty="0">
                <a:latin typeface="Calibri" panose="020F0502020204030204" pitchFamily="34" charset="0"/>
              </a:rPr>
              <a:t>σύμφωνα με το οποίο το σύστημα θα δημιουργεί ένα αντικείμενο obj1 που θα έχει 2 καταστάσεις: ΟΝ και OFF. Η αρχική κατάσταση του obj1 τη στιγμή της δημιουργίας του είναι OFF. </a:t>
            </a:r>
            <a:endParaRPr lang="el-GR" sz="2400" b="0" i="0" u="none" strike="noStrike" baseline="0" dirty="0">
              <a:latin typeface="Calibri" panose="020F0502020204030204" pitchFamily="34" charset="0"/>
            </a:endParaRPr>
          </a:p>
          <a:p>
            <a:pPr algn="just"/>
            <a:r>
              <a:rPr lang="el-GR" sz="2400" b="0" i="1" u="none" strike="noStrike" baseline="0" dirty="0">
                <a:latin typeface="Calibri" panose="020F0502020204030204" pitchFamily="34" charset="0"/>
              </a:rPr>
              <a:t>Στη συνέχεια, το σύστημα θα δημιουργεί ένα άλλο αντικείμενο obj2 και θα του στέλνει το μήνυμα </a:t>
            </a:r>
            <a:r>
              <a:rPr lang="el-GR" sz="2400" b="0" i="1" u="none" strike="noStrike" baseline="0" dirty="0" err="1">
                <a:latin typeface="Calibri" panose="020F0502020204030204" pitchFamily="34" charset="0"/>
              </a:rPr>
              <a:t>press</a:t>
            </a:r>
            <a:r>
              <a:rPr lang="el-GR" sz="2400" b="0" i="1" u="none" strike="noStrike" baseline="0" dirty="0">
                <a:latin typeface="Calibri" panose="020F0502020204030204" pitchFamily="34" charset="0"/>
              </a:rPr>
              <a:t>. Η συμπεριφορά του obj2 στο μήνυμα </a:t>
            </a:r>
            <a:r>
              <a:rPr lang="el-GR" sz="2400" b="0" i="1" u="none" strike="noStrike" baseline="0" dirty="0" err="1">
                <a:latin typeface="Calibri" panose="020F0502020204030204" pitchFamily="34" charset="0"/>
              </a:rPr>
              <a:t>press</a:t>
            </a:r>
            <a:r>
              <a:rPr lang="el-GR" sz="2400" b="0" i="1" u="none" strike="noStrike" baseline="0" dirty="0">
                <a:latin typeface="Calibri" panose="020F0502020204030204" pitchFamily="34" charset="0"/>
              </a:rPr>
              <a:t> περιγράφεται στη συνέχεια. </a:t>
            </a:r>
            <a:endParaRPr lang="el-GR" sz="2400" b="0" i="0" u="none" strike="noStrike" baseline="0" dirty="0">
              <a:latin typeface="Calibri" panose="020F0502020204030204" pitchFamily="34" charset="0"/>
            </a:endParaRPr>
          </a:p>
          <a:p>
            <a:pPr algn="just"/>
            <a:r>
              <a:rPr lang="el-GR" sz="2400" b="0" i="1" u="none" strike="noStrike" baseline="0" dirty="0">
                <a:latin typeface="Calibri" panose="020F0502020204030204" pitchFamily="34" charset="0"/>
              </a:rPr>
              <a:t>α) Ζητάει από το obj1 να τυπώσει την κατάστασή του. </a:t>
            </a:r>
            <a:endParaRPr lang="el-GR" sz="2400" b="0" i="0" u="none" strike="noStrike" baseline="0" dirty="0">
              <a:latin typeface="Calibri" panose="020F0502020204030204" pitchFamily="34" charset="0"/>
            </a:endParaRPr>
          </a:p>
          <a:p>
            <a:pPr algn="just"/>
            <a:r>
              <a:rPr lang="el-GR" sz="2400" b="0" i="1" u="none" strike="noStrike" baseline="0" dirty="0">
                <a:latin typeface="Calibri" panose="020F0502020204030204" pitchFamily="34" charset="0"/>
              </a:rPr>
              <a:t>β) Ζητάει από το obj1 να αλλάξει την κατάστασή του σε ΟΝ. </a:t>
            </a:r>
            <a:endParaRPr lang="el-GR" sz="2400" b="0" i="0" u="none" strike="noStrike" baseline="0" dirty="0">
              <a:latin typeface="Calibri" panose="020F0502020204030204" pitchFamily="34" charset="0"/>
            </a:endParaRPr>
          </a:p>
          <a:p>
            <a:pPr algn="just"/>
            <a:r>
              <a:rPr lang="el-GR" sz="2400" b="0" i="1" u="none" strike="noStrike" baseline="0" dirty="0">
                <a:latin typeface="Calibri" panose="020F0502020204030204" pitchFamily="34" charset="0"/>
              </a:rPr>
              <a:t>γ) Ζητάει από το obj1 να τυπώσει την κατάστασή του. </a:t>
            </a:r>
            <a:endParaRPr lang="el-GR" sz="2400" b="0" i="0" u="none" strike="noStrike" baseline="0" dirty="0">
              <a:latin typeface="Calibri" panose="020F0502020204030204" pitchFamily="34" charset="0"/>
            </a:endParaRPr>
          </a:p>
          <a:p>
            <a:pPr algn="just"/>
            <a:r>
              <a:rPr lang="el-GR" sz="2400" b="0" i="1" u="none" strike="noStrike" baseline="0" dirty="0">
                <a:latin typeface="Calibri" panose="020F0502020204030204" pitchFamily="34" charset="0"/>
              </a:rPr>
              <a:t>δ) Ζητάει από το obj1 να αλλάξει την κατάστασή του σε OFF. </a:t>
            </a:r>
            <a:endParaRPr lang="el-GR" sz="2400" b="0" i="0" u="none" strike="noStrike" baseline="0" dirty="0">
              <a:latin typeface="Calibri" panose="020F0502020204030204" pitchFamily="34" charset="0"/>
            </a:endParaRPr>
          </a:p>
          <a:p>
            <a:pPr algn="just"/>
            <a:r>
              <a:rPr lang="el-GR" sz="2400" b="0" i="1" u="none" strike="noStrike" baseline="0" dirty="0">
                <a:latin typeface="Calibri" panose="020F0502020204030204" pitchFamily="34" charset="0"/>
              </a:rPr>
              <a:t>ε) Ενημερώνει τον χρήστη πως η συμπεριφορά στο μήνυμα </a:t>
            </a:r>
            <a:r>
              <a:rPr lang="el-GR" sz="2400" b="0" i="1" u="none" strike="noStrike" baseline="0" dirty="0" err="1">
                <a:latin typeface="Calibri" panose="020F0502020204030204" pitchFamily="34" charset="0"/>
              </a:rPr>
              <a:t>press</a:t>
            </a:r>
            <a:r>
              <a:rPr lang="el-GR" sz="2400" b="0" i="1" u="none" strike="noStrike" baseline="0" dirty="0">
                <a:latin typeface="Calibri" panose="020F0502020204030204" pitchFamily="34" charset="0"/>
              </a:rPr>
              <a:t> ολοκληρώθηκε επιτυχώς. </a:t>
            </a:r>
            <a:endParaRPr lang="el-GR" sz="2400" b="0" i="0" u="none" strike="noStrike" baseline="0" dirty="0">
              <a:latin typeface="Calibri" panose="020F0502020204030204" pitchFamily="34" charset="0"/>
            </a:endParaRPr>
          </a:p>
          <a:p>
            <a:pPr algn="just"/>
            <a:endParaRPr lang="en-GB" sz="2400" b="0" i="1" u="none" strike="noStrike" baseline="0" dirty="0">
              <a:latin typeface="Calibri" panose="020F0502020204030204" pitchFamily="34" charset="0"/>
            </a:endParaRPr>
          </a:p>
          <a:p>
            <a:pPr algn="just"/>
            <a:r>
              <a:rPr lang="el-GR" sz="2400" b="0" i="1" u="none" strike="noStrike" baseline="0" dirty="0">
                <a:latin typeface="Calibri" panose="020F0502020204030204" pitchFamily="34" charset="0"/>
              </a:rPr>
              <a:t>Τέλος, το σύστημα ενημερώνει τον χρήστη πως η εκτέλεση του προγράμματος </a:t>
            </a:r>
            <a:r>
              <a:rPr lang="el-GR" sz="2400" b="0" i="1" u="none" strike="noStrike" baseline="0" dirty="0" err="1">
                <a:latin typeface="Courier New" panose="02070309020205020404" pitchFamily="49" charset="0"/>
              </a:rPr>
              <a:t>ΟbjectState</a:t>
            </a:r>
            <a:r>
              <a:rPr lang="el-GR" sz="2400" b="0" i="1" u="none" strike="noStrike" baseline="0" dirty="0">
                <a:latin typeface="Courier New" panose="02070309020205020404" pitchFamily="49" charset="0"/>
              </a:rPr>
              <a:t> </a:t>
            </a:r>
            <a:r>
              <a:rPr lang="el-GR" sz="2400" b="0" i="1" u="none" strike="noStrike" baseline="0" dirty="0">
                <a:latin typeface="Calibri" panose="020F0502020204030204" pitchFamily="34" charset="0"/>
              </a:rPr>
              <a:t>ολοκληρώθηκε. </a:t>
            </a:r>
            <a:endParaRPr lang="el-GR" sz="2400" b="0" i="0" u="none" strike="noStrike" baseline="0" dirty="0">
              <a:latin typeface="Calibri" panose="020F0502020204030204" pitchFamily="34" charset="0"/>
            </a:endParaRPr>
          </a:p>
          <a:p>
            <a:pPr algn="just"/>
            <a:r>
              <a:rPr lang="el-GR" sz="2400" b="1" i="1" u="none" strike="noStrike" baseline="0" dirty="0">
                <a:latin typeface="Calibri" panose="020F0502020204030204" pitchFamily="34" charset="0"/>
              </a:rPr>
              <a:t>Δώστε ένα πρόχειρο διάγραμμα κλάσεων για την εφαρμογή σας. </a:t>
            </a:r>
            <a:endParaRPr lang="en-GB" sz="2400" b="1" dirty="0"/>
          </a:p>
        </p:txBody>
      </p:sp>
    </p:spTree>
    <p:extLst>
      <p:ext uri="{BB962C8B-B14F-4D97-AF65-F5344CB8AC3E}">
        <p14:creationId xmlns:p14="http://schemas.microsoft.com/office/powerpoint/2010/main" val="1404460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Object state - Identify Objects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305908" y="6559909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Java as an OOP language Part </a:t>
            </a:r>
            <a:r>
              <a:rPr lang="en-US" sz="1100" dirty="0">
                <a:solidFill>
                  <a:prstClr val="black"/>
                </a:solidFill>
                <a:latin typeface="Bahnschrift" panose="020B0502040204020203" pitchFamily="34" charset="0"/>
              </a:rPr>
              <a:t>B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389586-B778-1782-F2F0-4351006FDD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719331"/>
            <a:ext cx="6039693" cy="2133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95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Object state - Identify Objects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305908" y="6559909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Java as an OOP language Part </a:t>
            </a:r>
            <a:r>
              <a:rPr lang="en-US" sz="1100" dirty="0">
                <a:solidFill>
                  <a:prstClr val="black"/>
                </a:solidFill>
                <a:latin typeface="Bahnschrift" panose="020B0502040204020203" pitchFamily="34" charset="0"/>
              </a:rPr>
              <a:t>B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389586-B778-1782-F2F0-4351006FDD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719331"/>
            <a:ext cx="6039693" cy="213389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DBCB1AB-3163-8105-AE9F-9A853D43FE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785" y="846929"/>
            <a:ext cx="8998181" cy="5706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318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Προσαρμοσμένη σχεδίαση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12554</TotalTime>
  <Words>2490</Words>
  <Application>Microsoft Office PowerPoint</Application>
  <PresentationFormat>Widescreen</PresentationFormat>
  <Paragraphs>432</Paragraphs>
  <Slides>33</Slides>
  <Notes>33</Notes>
  <HiddenSlides>6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33</vt:i4>
      </vt:variant>
    </vt:vector>
  </HeadingPairs>
  <TitlesOfParts>
    <vt:vector size="50" baseType="lpstr">
      <vt:lpstr>Arial</vt:lpstr>
      <vt:lpstr>Arial Black</vt:lpstr>
      <vt:lpstr>Arial Unicode MS</vt:lpstr>
      <vt:lpstr>Bahnschrift</vt:lpstr>
      <vt:lpstr>Bahnschrift Light</vt:lpstr>
      <vt:lpstr>Calibri</vt:lpstr>
      <vt:lpstr>Calibri Light</vt:lpstr>
      <vt:lpstr>Courier New</vt:lpstr>
      <vt:lpstr>DejaVu Sans Mono</vt:lpstr>
      <vt:lpstr>Monotype Sorts</vt:lpstr>
      <vt:lpstr>Tahoma</vt:lpstr>
      <vt:lpstr>Times New Roman</vt:lpstr>
      <vt:lpstr>Times New Roman Greek</vt:lpstr>
      <vt:lpstr>Wingdings</vt:lpstr>
      <vt:lpstr>Προσαρμοσμένη σχεδίαση</vt:lpstr>
      <vt:lpstr>Θέμα του Office</vt:lpstr>
      <vt:lpstr>Blends</vt:lpstr>
      <vt:lpstr>PowerPoint Presentation</vt:lpstr>
      <vt:lpstr>Δραστηριότητα 5.1 – Circles Sorting App</vt:lpstr>
      <vt:lpstr>Δραστηριότητα 5.1 - The constituent components</vt:lpstr>
      <vt:lpstr>Οργάνωση Διάλεξης</vt:lpstr>
      <vt:lpstr>Πολλαπλοί Δημιουργοί – Υπερφόρτωση Μεθόδων </vt:lpstr>
      <vt:lpstr>Κλήση δημιουργού – keyword this</vt:lpstr>
      <vt:lpstr>Constructor vs. Method</vt:lpstr>
      <vt:lpstr>Οργάνωση Διάλεξης</vt:lpstr>
      <vt:lpstr>class variables - Δήλωση </vt:lpstr>
      <vt:lpstr>class variables -  Τρόπος Αναφοράς </vt:lpstr>
      <vt:lpstr>Σταθερές  (Constants)</vt:lpstr>
      <vt:lpstr>variables in Python</vt:lpstr>
      <vt:lpstr>Οργάνωση Διάλεξης</vt:lpstr>
      <vt:lpstr>Μέθοδος Κλάσης (class method)</vt:lpstr>
      <vt:lpstr>class methods / static methods</vt:lpstr>
      <vt:lpstr>static factory methods</vt:lpstr>
      <vt:lpstr>Methods in Python</vt:lpstr>
      <vt:lpstr>Methods in Python</vt:lpstr>
      <vt:lpstr>The init method in Python</vt:lpstr>
      <vt:lpstr>Operator Overloading in Python</vt:lpstr>
      <vt:lpstr>Οργάνωση Διάλεξης</vt:lpstr>
      <vt:lpstr>Java Code Style Guidelines </vt:lpstr>
      <vt:lpstr>Οργάνωση Διάλεξης</vt:lpstr>
      <vt:lpstr>Άσκηση 1 – Πρωτογενής τύπος double</vt:lpstr>
      <vt:lpstr>Άσκηση 1 – Έκδοση 1</vt:lpstr>
      <vt:lpstr>Άσκηση 1 – Έκδοση 2</vt:lpstr>
      <vt:lpstr>Άσκηση 1 – Έκδοση 3a</vt:lpstr>
      <vt:lpstr>Άσκηση 1 – Έκδοση 3b</vt:lpstr>
      <vt:lpstr>Άσκηση 2 – τύπος Double</vt:lpstr>
      <vt:lpstr>Άσκηση 2 – Εναλλακτικές Υλοποιήσεις</vt:lpstr>
      <vt:lpstr>Δραστηριότητα 5.2 Object state</vt:lpstr>
      <vt:lpstr>Object state - Identify Objects</vt:lpstr>
      <vt:lpstr>Object state - Identify Objects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Παρουσίαση του PowerPoint</dc:title>
  <dc:creator>PCUser</dc:creator>
  <cp:lastModifiedBy>thrambo@ece.upatras.gr</cp:lastModifiedBy>
  <cp:revision>82</cp:revision>
  <cp:lastPrinted>2023-03-17T11:55:39Z</cp:lastPrinted>
  <dcterms:created xsi:type="dcterms:W3CDTF">2020-03-13T12:21:17Z</dcterms:created>
  <dcterms:modified xsi:type="dcterms:W3CDTF">2024-10-09T06:05:50Z</dcterms:modified>
</cp:coreProperties>
</file>