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892" r:id="rId2"/>
  </p:sldMasterIdLst>
  <p:notesMasterIdLst>
    <p:notesMasterId r:id="rId17"/>
  </p:notesMasterIdLst>
  <p:sldIdLst>
    <p:sldId id="262" r:id="rId3"/>
    <p:sldId id="760" r:id="rId4"/>
    <p:sldId id="833" r:id="rId5"/>
    <p:sldId id="836" r:id="rId6"/>
    <p:sldId id="834" r:id="rId7"/>
    <p:sldId id="838" r:id="rId8"/>
    <p:sldId id="837" r:id="rId9"/>
    <p:sldId id="835" r:id="rId10"/>
    <p:sldId id="839" r:id="rId11"/>
    <p:sldId id="840" r:id="rId12"/>
    <p:sldId id="841" r:id="rId13"/>
    <p:sldId id="842" r:id="rId14"/>
    <p:sldId id="843" r:id="rId15"/>
    <p:sldId id="844" r:id="rId16"/>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CDBB"/>
    <a:srgbClr val="60D69E"/>
    <a:srgbClr val="869391"/>
    <a:srgbClr val="F9853D"/>
    <a:srgbClr val="FDCBAD"/>
    <a:srgbClr val="FBAD7D"/>
    <a:srgbClr val="61649B"/>
    <a:srgbClr val="E49252"/>
    <a:srgbClr val="FFFFFF"/>
    <a:srgbClr val="2E35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353" autoAdjust="0"/>
    <p:restoredTop sz="81563" autoAdjust="0"/>
  </p:normalViewPr>
  <p:slideViewPr>
    <p:cSldViewPr snapToGrid="0">
      <p:cViewPr varScale="1">
        <p:scale>
          <a:sx n="56" d="100"/>
          <a:sy n="56" d="100"/>
        </p:scale>
        <p:origin x="954" y="5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120127-9FC1-4D44-BFF2-2F77E5433948}" type="datetimeFigureOut">
              <a:rPr lang="el-GR" smtClean="0"/>
              <a:t>9/10/2024</a:t>
            </a:fld>
            <a:endParaRPr lang="el-GR"/>
          </a:p>
        </p:txBody>
      </p:sp>
      <p:sp>
        <p:nvSpPr>
          <p:cNvPr id="4" name="Θέση εικόνας διαφάνειας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D89646-4F35-49C2-BD28-89287C170EC3}" type="slidenum">
              <a:rPr lang="el-GR" smtClean="0"/>
              <a:t>‹#›</a:t>
            </a:fld>
            <a:endParaRPr lang="el-GR"/>
          </a:p>
        </p:txBody>
      </p:sp>
    </p:spTree>
    <p:extLst>
      <p:ext uri="{BB962C8B-B14F-4D97-AF65-F5344CB8AC3E}">
        <p14:creationId xmlns:p14="http://schemas.microsoft.com/office/powerpoint/2010/main" val="548665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l-GR" dirty="0"/>
          </a:p>
        </p:txBody>
      </p:sp>
      <p:sp>
        <p:nvSpPr>
          <p:cNvPr id="4" name="Θέση αριθμού διαφάνειας 3"/>
          <p:cNvSpPr>
            <a:spLocks noGrp="1"/>
          </p:cNvSpPr>
          <p:nvPr>
            <p:ph type="sldNum" sz="quarter" idx="10"/>
          </p:nvPr>
        </p:nvSpPr>
        <p:spPr/>
        <p:txBody>
          <a:bodyPr/>
          <a:lstStyle/>
          <a:p>
            <a:fld id="{C9D89646-4F35-49C2-BD28-89287C170EC3}" type="slidenum">
              <a:rPr lang="el-GR" smtClean="0"/>
              <a:t>1</a:t>
            </a:fld>
            <a:endParaRPr lang="el-GR"/>
          </a:p>
        </p:txBody>
      </p:sp>
    </p:spTree>
    <p:extLst>
      <p:ext uri="{BB962C8B-B14F-4D97-AF65-F5344CB8AC3E}">
        <p14:creationId xmlns:p14="http://schemas.microsoft.com/office/powerpoint/2010/main" val="338972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27884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5020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045014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904484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06378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27252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17189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5568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12687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10289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74064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65487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18385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720F0C6-20AC-41EB-97A9-F4D49B814E72}"/>
              </a:ext>
            </a:extLst>
          </p:cNvPr>
          <p:cNvSpPr>
            <a:spLocks noGrp="1"/>
          </p:cNvSpPr>
          <p:nvPr>
            <p:ph type="ctrTitle"/>
          </p:nvPr>
        </p:nvSpPr>
        <p:spPr>
          <a:xfrm>
            <a:off x="1524000" y="1122363"/>
            <a:ext cx="9144000" cy="2387600"/>
          </a:xfrm>
        </p:spPr>
        <p:txBody>
          <a:bodyPr anchor="b"/>
          <a:lstStyle>
            <a:lvl1pPr algn="ctr">
              <a:defRPr sz="6000"/>
            </a:lvl1pPr>
          </a:lstStyle>
          <a:p>
            <a:r>
              <a:rPr lang="el-GR"/>
              <a:t>Κάντε κλικ για να επεξεργαστείτε τον τίτλο υποδείγματος</a:t>
            </a:r>
          </a:p>
        </p:txBody>
      </p:sp>
      <p:sp>
        <p:nvSpPr>
          <p:cNvPr id="3" name="Υπότιτλος 2">
            <a:extLst>
              <a:ext uri="{FF2B5EF4-FFF2-40B4-BE49-F238E27FC236}">
                <a16:creationId xmlns:a16="http://schemas.microsoft.com/office/drawing/2014/main" id="{E32E3D7A-E6B7-4F3B-A3A4-4325517390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p>
        </p:txBody>
      </p:sp>
      <p:sp>
        <p:nvSpPr>
          <p:cNvPr id="4" name="Θέση ημερομηνίας 3">
            <a:extLst>
              <a:ext uri="{FF2B5EF4-FFF2-40B4-BE49-F238E27FC236}">
                <a16:creationId xmlns:a16="http://schemas.microsoft.com/office/drawing/2014/main" id="{5913F9FC-9EB9-4B41-B003-FC4C036B10AF}"/>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3FB8E113-6156-4872-81CC-442E8373B36D}"/>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76173B9A-A0EA-47D7-8D18-B6E2BD95D9D4}"/>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99227115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FF7B4CC-9312-4102-9C7A-DD5776C36EC4}"/>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59207E59-B014-409F-8E39-F07CF6FA4572}"/>
              </a:ext>
            </a:extLst>
          </p:cNvPr>
          <p:cNvSpPr>
            <a:spLocks noGrp="1"/>
          </p:cNvSpPr>
          <p:nvPr>
            <p:ph idx="1"/>
          </p:nvPr>
        </p:nvSpPr>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D28C698E-FDE3-406F-AEF7-58C354D6FB0E}"/>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1DBB6EE0-1F7E-4C3D-8524-627F4FAB7F04}"/>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115A0C17-4537-4F4D-B727-1C89BF11BF9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2021505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FAD7298-5AF8-4835-97EB-C16ED6D23C12}"/>
              </a:ext>
            </a:extLst>
          </p:cNvPr>
          <p:cNvSpPr>
            <a:spLocks noGrp="1"/>
          </p:cNvSpPr>
          <p:nvPr>
            <p:ph type="title"/>
          </p:nvPr>
        </p:nvSpPr>
        <p:spPr>
          <a:xfrm>
            <a:off x="831850" y="1709738"/>
            <a:ext cx="10515600" cy="2852737"/>
          </a:xfrm>
        </p:spPr>
        <p:txBody>
          <a:bodyPr anchor="b"/>
          <a:lstStyle>
            <a:lvl1pPr>
              <a:defRPr sz="6000"/>
            </a:lvl1p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3D2EC4FE-ACD0-4F71-A34B-36ED905061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Επεξεργασία στυλ υποδείγματος κειμένου</a:t>
            </a:r>
          </a:p>
        </p:txBody>
      </p:sp>
      <p:sp>
        <p:nvSpPr>
          <p:cNvPr id="4" name="Θέση ημερομηνίας 3">
            <a:extLst>
              <a:ext uri="{FF2B5EF4-FFF2-40B4-BE49-F238E27FC236}">
                <a16:creationId xmlns:a16="http://schemas.microsoft.com/office/drawing/2014/main" id="{0525369C-E8DA-4A41-A021-C2AFFA6BA4A0}"/>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09E6631D-4B2B-42B6-B88C-990FA7605C60}"/>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54B4A319-5C9B-46DF-96B8-F30BC39F7913}"/>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94177447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DD86A31-D5EC-46FA-A235-F151422FA948}"/>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052F68FD-8072-4020-B6C4-C8DEF5ACC9D2}"/>
              </a:ext>
            </a:extLst>
          </p:cNvPr>
          <p:cNvSpPr>
            <a:spLocks noGrp="1"/>
          </p:cNvSpPr>
          <p:nvPr>
            <p:ph sz="half" idx="1"/>
          </p:nvPr>
        </p:nvSpPr>
        <p:spPr>
          <a:xfrm>
            <a:off x="838200" y="1825625"/>
            <a:ext cx="5181600" cy="435133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περιεχομένου 3">
            <a:extLst>
              <a:ext uri="{FF2B5EF4-FFF2-40B4-BE49-F238E27FC236}">
                <a16:creationId xmlns:a16="http://schemas.microsoft.com/office/drawing/2014/main" id="{CB43AF00-F0E0-4F57-8814-5AB4B0C031DB}"/>
              </a:ext>
            </a:extLst>
          </p:cNvPr>
          <p:cNvSpPr>
            <a:spLocks noGrp="1"/>
          </p:cNvSpPr>
          <p:nvPr>
            <p:ph sz="half" idx="2"/>
          </p:nvPr>
        </p:nvSpPr>
        <p:spPr>
          <a:xfrm>
            <a:off x="6172200" y="1825625"/>
            <a:ext cx="5181600" cy="435133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ημερομηνίας 4">
            <a:extLst>
              <a:ext uri="{FF2B5EF4-FFF2-40B4-BE49-F238E27FC236}">
                <a16:creationId xmlns:a16="http://schemas.microsoft.com/office/drawing/2014/main" id="{89D9695B-1677-4255-A36B-ADA53963E256}"/>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6" name="Θέση υποσέλιδου 5">
            <a:extLst>
              <a:ext uri="{FF2B5EF4-FFF2-40B4-BE49-F238E27FC236}">
                <a16:creationId xmlns:a16="http://schemas.microsoft.com/office/drawing/2014/main" id="{32F05351-67C2-46C6-A91C-414650F2CC4A}"/>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7D2959A3-E6A4-4BB0-BE95-F23CF5F5668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29874069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1550276-9848-4578-8364-691220AD21E6}"/>
              </a:ext>
            </a:extLst>
          </p:cNvPr>
          <p:cNvSpPr>
            <a:spLocks noGrp="1"/>
          </p:cNvSpPr>
          <p:nvPr>
            <p:ph type="title"/>
          </p:nvPr>
        </p:nvSpPr>
        <p:spPr>
          <a:xfrm>
            <a:off x="839788" y="365125"/>
            <a:ext cx="10515600" cy="1325563"/>
          </a:xfrm>
        </p:spPr>
        <p:txBody>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11C9CFA5-81EF-4418-9CE2-C9EB8CE5F8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Επεξεργασία στυλ υποδείγματος κειμένου</a:t>
            </a:r>
          </a:p>
        </p:txBody>
      </p:sp>
      <p:sp>
        <p:nvSpPr>
          <p:cNvPr id="4" name="Θέση περιεχομένου 3">
            <a:extLst>
              <a:ext uri="{FF2B5EF4-FFF2-40B4-BE49-F238E27FC236}">
                <a16:creationId xmlns:a16="http://schemas.microsoft.com/office/drawing/2014/main" id="{8144BA92-B3F1-426D-9721-D505666C5228}"/>
              </a:ext>
            </a:extLst>
          </p:cNvPr>
          <p:cNvSpPr>
            <a:spLocks noGrp="1"/>
          </p:cNvSpPr>
          <p:nvPr>
            <p:ph sz="half" idx="2"/>
          </p:nvPr>
        </p:nvSpPr>
        <p:spPr>
          <a:xfrm>
            <a:off x="839788" y="2505075"/>
            <a:ext cx="5157787" cy="368458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κειμένου 4">
            <a:extLst>
              <a:ext uri="{FF2B5EF4-FFF2-40B4-BE49-F238E27FC236}">
                <a16:creationId xmlns:a16="http://schemas.microsoft.com/office/drawing/2014/main" id="{34964523-2FE6-420B-BF7F-3ED5906588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Επεξεργασία στυλ υποδείγματος κειμένου</a:t>
            </a:r>
          </a:p>
        </p:txBody>
      </p:sp>
      <p:sp>
        <p:nvSpPr>
          <p:cNvPr id="6" name="Θέση περιεχομένου 5">
            <a:extLst>
              <a:ext uri="{FF2B5EF4-FFF2-40B4-BE49-F238E27FC236}">
                <a16:creationId xmlns:a16="http://schemas.microsoft.com/office/drawing/2014/main" id="{4EE8D821-AC0B-4F1C-AC1B-68CAEA6E8CA5}"/>
              </a:ext>
            </a:extLst>
          </p:cNvPr>
          <p:cNvSpPr>
            <a:spLocks noGrp="1"/>
          </p:cNvSpPr>
          <p:nvPr>
            <p:ph sz="quarter" idx="4"/>
          </p:nvPr>
        </p:nvSpPr>
        <p:spPr>
          <a:xfrm>
            <a:off x="6172200" y="2505075"/>
            <a:ext cx="5183188" cy="368458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7" name="Θέση ημερομηνίας 6">
            <a:extLst>
              <a:ext uri="{FF2B5EF4-FFF2-40B4-BE49-F238E27FC236}">
                <a16:creationId xmlns:a16="http://schemas.microsoft.com/office/drawing/2014/main" id="{0836FDB2-AE28-437A-B450-FC5FA0970633}"/>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8" name="Θέση υποσέλιδου 7">
            <a:extLst>
              <a:ext uri="{FF2B5EF4-FFF2-40B4-BE49-F238E27FC236}">
                <a16:creationId xmlns:a16="http://schemas.microsoft.com/office/drawing/2014/main" id="{3CC56F37-5360-4ED6-9EFB-B4959D6A052A}"/>
              </a:ext>
            </a:extLst>
          </p:cNvPr>
          <p:cNvSpPr>
            <a:spLocks noGrp="1"/>
          </p:cNvSpPr>
          <p:nvPr>
            <p:ph type="ftr" sz="quarter" idx="11"/>
          </p:nvPr>
        </p:nvSpPr>
        <p:spPr/>
        <p:txBody>
          <a:bodyPr/>
          <a:lstStyle/>
          <a:p>
            <a:endParaRPr lang="el-GR"/>
          </a:p>
        </p:txBody>
      </p:sp>
      <p:sp>
        <p:nvSpPr>
          <p:cNvPr id="9" name="Θέση αριθμού διαφάνειας 8">
            <a:extLst>
              <a:ext uri="{FF2B5EF4-FFF2-40B4-BE49-F238E27FC236}">
                <a16:creationId xmlns:a16="http://schemas.microsoft.com/office/drawing/2014/main" id="{8423FDBB-6E0A-4AD0-AD73-FB22040EE5F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188523971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2BE337C-659B-44A0-815E-1CE7F2FDBE91}"/>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ημερομηνίας 2">
            <a:extLst>
              <a:ext uri="{FF2B5EF4-FFF2-40B4-BE49-F238E27FC236}">
                <a16:creationId xmlns:a16="http://schemas.microsoft.com/office/drawing/2014/main" id="{59D7B6A3-3626-4AD7-97D4-F6210A23721E}"/>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4" name="Θέση υποσέλιδου 3">
            <a:extLst>
              <a:ext uri="{FF2B5EF4-FFF2-40B4-BE49-F238E27FC236}">
                <a16:creationId xmlns:a16="http://schemas.microsoft.com/office/drawing/2014/main" id="{D50B290B-CDC6-4F07-927A-EB7F796E2DA3}"/>
              </a:ext>
            </a:extLst>
          </p:cNvPr>
          <p:cNvSpPr>
            <a:spLocks noGrp="1"/>
          </p:cNvSpPr>
          <p:nvPr>
            <p:ph type="ftr" sz="quarter" idx="11"/>
          </p:nvPr>
        </p:nvSpPr>
        <p:spPr/>
        <p:txBody>
          <a:bodyPr/>
          <a:lstStyle/>
          <a:p>
            <a:endParaRPr lang="el-GR"/>
          </a:p>
        </p:txBody>
      </p:sp>
      <p:sp>
        <p:nvSpPr>
          <p:cNvPr id="5" name="Θέση αριθμού διαφάνειας 4">
            <a:extLst>
              <a:ext uri="{FF2B5EF4-FFF2-40B4-BE49-F238E27FC236}">
                <a16:creationId xmlns:a16="http://schemas.microsoft.com/office/drawing/2014/main" id="{5AD0E512-8E7A-4A77-8496-D36864CFC6EE}"/>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22446073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Θέση ημερομηνίας 1">
            <a:extLst>
              <a:ext uri="{FF2B5EF4-FFF2-40B4-BE49-F238E27FC236}">
                <a16:creationId xmlns:a16="http://schemas.microsoft.com/office/drawing/2014/main" id="{05F803E6-97F1-4D9B-A18A-566A4A16D1A4}"/>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3" name="Θέση υποσέλιδου 2">
            <a:extLst>
              <a:ext uri="{FF2B5EF4-FFF2-40B4-BE49-F238E27FC236}">
                <a16:creationId xmlns:a16="http://schemas.microsoft.com/office/drawing/2014/main" id="{D16003C0-6EB6-4C9B-A531-7B4E3CE4C6EF}"/>
              </a:ext>
            </a:extLst>
          </p:cNvPr>
          <p:cNvSpPr>
            <a:spLocks noGrp="1"/>
          </p:cNvSpPr>
          <p:nvPr>
            <p:ph type="ftr" sz="quarter" idx="11"/>
          </p:nvPr>
        </p:nvSpPr>
        <p:spPr/>
        <p:txBody>
          <a:bodyPr/>
          <a:lstStyle/>
          <a:p>
            <a:endParaRPr lang="el-GR"/>
          </a:p>
        </p:txBody>
      </p:sp>
      <p:sp>
        <p:nvSpPr>
          <p:cNvPr id="4" name="Θέση αριθμού διαφάνειας 3">
            <a:extLst>
              <a:ext uri="{FF2B5EF4-FFF2-40B4-BE49-F238E27FC236}">
                <a16:creationId xmlns:a16="http://schemas.microsoft.com/office/drawing/2014/main" id="{2EA301AA-05AA-466A-BB11-E4CEB6F9F9F8}"/>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70658160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EAAEFBB-DCF4-46CF-9FC6-8D65BCEB99F2}"/>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DFACB05B-E524-44F7-BF66-694B0E3338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κειμένου 3">
            <a:extLst>
              <a:ext uri="{FF2B5EF4-FFF2-40B4-BE49-F238E27FC236}">
                <a16:creationId xmlns:a16="http://schemas.microsoft.com/office/drawing/2014/main" id="{5473C60C-80C9-4542-852E-B22F6BA607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Επεξεργασία στυλ υποδείγματος κειμένου</a:t>
            </a:r>
          </a:p>
        </p:txBody>
      </p:sp>
      <p:sp>
        <p:nvSpPr>
          <p:cNvPr id="5" name="Θέση ημερομηνίας 4">
            <a:extLst>
              <a:ext uri="{FF2B5EF4-FFF2-40B4-BE49-F238E27FC236}">
                <a16:creationId xmlns:a16="http://schemas.microsoft.com/office/drawing/2014/main" id="{5209058B-2FCA-4D37-A928-B77A09F78313}"/>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6" name="Θέση υποσέλιδου 5">
            <a:extLst>
              <a:ext uri="{FF2B5EF4-FFF2-40B4-BE49-F238E27FC236}">
                <a16:creationId xmlns:a16="http://schemas.microsoft.com/office/drawing/2014/main" id="{2F8D9052-7B1B-4DEA-BE59-76E1CA206034}"/>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7F7BFCBB-BB2D-41CB-8EF4-1D6154D0585F}"/>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54644047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AA72A12-B4CE-41C0-824E-4DB22C0C50F5}"/>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εικόνας 2">
            <a:extLst>
              <a:ext uri="{FF2B5EF4-FFF2-40B4-BE49-F238E27FC236}">
                <a16:creationId xmlns:a16="http://schemas.microsoft.com/office/drawing/2014/main" id="{4331ABF6-AF41-4DA6-82BC-340BA63822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a:extLst>
              <a:ext uri="{FF2B5EF4-FFF2-40B4-BE49-F238E27FC236}">
                <a16:creationId xmlns:a16="http://schemas.microsoft.com/office/drawing/2014/main" id="{D4AD854A-F202-4241-AFA5-8F8D5175F3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Επεξεργασία στυλ υποδείγματος κειμένου</a:t>
            </a:r>
          </a:p>
        </p:txBody>
      </p:sp>
      <p:sp>
        <p:nvSpPr>
          <p:cNvPr id="5" name="Θέση ημερομηνίας 4">
            <a:extLst>
              <a:ext uri="{FF2B5EF4-FFF2-40B4-BE49-F238E27FC236}">
                <a16:creationId xmlns:a16="http://schemas.microsoft.com/office/drawing/2014/main" id="{D2D25601-E5C6-4DAA-A438-750D7B0C4393}"/>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6" name="Θέση υποσέλιδου 5">
            <a:extLst>
              <a:ext uri="{FF2B5EF4-FFF2-40B4-BE49-F238E27FC236}">
                <a16:creationId xmlns:a16="http://schemas.microsoft.com/office/drawing/2014/main" id="{C1A411BF-7CE1-4136-85D0-CEA759EB38CE}"/>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EBD64BFB-00A3-49A7-B9AF-C93C938A5D40}"/>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068634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CBF383B-9D9C-4567-A73F-3964FF66D08D}"/>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42568873-5978-4A13-BA12-F77F173EB2AE}"/>
              </a:ext>
            </a:extLst>
          </p:cNvPr>
          <p:cNvSpPr>
            <a:spLocks noGrp="1"/>
          </p:cNvSpPr>
          <p:nvPr>
            <p:ph type="body" orient="vert" idx="1"/>
          </p:nvPr>
        </p:nvSpPr>
        <p:spPr/>
        <p:txBody>
          <a:bodyPr vert="eaVert"/>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788EFFCE-A34B-4F95-B3D5-603927E16998}"/>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1BE576DF-BE6C-4DE7-BDD8-60E8F026DE82}"/>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74B323CB-AAB1-4C9E-AE28-C6179CB9C31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9965647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a:extLst>
              <a:ext uri="{FF2B5EF4-FFF2-40B4-BE49-F238E27FC236}">
                <a16:creationId xmlns:a16="http://schemas.microsoft.com/office/drawing/2014/main" id="{E176F3CB-2A60-46CD-8CF9-DD053E08C844}"/>
              </a:ext>
            </a:extLst>
          </p:cNvPr>
          <p:cNvSpPr>
            <a:spLocks noGrp="1"/>
          </p:cNvSpPr>
          <p:nvPr>
            <p:ph type="title" orient="vert"/>
          </p:nvPr>
        </p:nvSpPr>
        <p:spPr>
          <a:xfrm>
            <a:off x="8724900" y="365125"/>
            <a:ext cx="2628900" cy="5811838"/>
          </a:xfrm>
        </p:spPr>
        <p:txBody>
          <a:bodyPr vert="eaVert"/>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62F4BEC8-6DEB-41E5-B12D-18B14C6B0A04}"/>
              </a:ext>
            </a:extLst>
          </p:cNvPr>
          <p:cNvSpPr>
            <a:spLocks noGrp="1"/>
          </p:cNvSpPr>
          <p:nvPr>
            <p:ph type="body" orient="vert" idx="1"/>
          </p:nvPr>
        </p:nvSpPr>
        <p:spPr>
          <a:xfrm>
            <a:off x="838200" y="365125"/>
            <a:ext cx="7734300" cy="5811838"/>
          </a:xfrm>
        </p:spPr>
        <p:txBody>
          <a:bodyPr vert="eaVert"/>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CC7DD041-7F64-4984-A13C-EE7907028650}"/>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6502BD5F-24B7-4FDD-BD59-39295F5737B5}"/>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4E0B5687-7B67-47CF-995B-36EF0D417F48}"/>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99713989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p:cNvSpPr>
            <a:spLocks noGrp="1"/>
          </p:cNvSpPr>
          <p:nvPr>
            <p:ph type="ctrTitle"/>
          </p:nvPr>
        </p:nvSpPr>
        <p:spPr>
          <a:xfrm>
            <a:off x="1524000" y="1122363"/>
            <a:ext cx="9144000" cy="2387600"/>
          </a:xfrm>
        </p:spPr>
        <p:txBody>
          <a:bodyPr anchor="b"/>
          <a:lstStyle>
            <a:lvl1pPr algn="ctr">
              <a:defRPr sz="6000"/>
            </a:lvl1pPr>
          </a:lstStyle>
          <a:p>
            <a:r>
              <a:rPr lang="el-GR"/>
              <a:t>Στυλ κύριου τίτλου</a:t>
            </a:r>
          </a:p>
        </p:txBody>
      </p:sp>
      <p:sp>
        <p:nvSpPr>
          <p:cNvPr id="3" name="Υπότιτλος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Στυλ κύριου υπότιτλου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9/10/2024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242166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περιεχομένου 2"/>
          <p:cNvSpPr>
            <a:spLocks noGrp="1"/>
          </p:cNvSpPr>
          <p:nvPr>
            <p:ph idx="1"/>
          </p:nvPr>
        </p:nvSpPr>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9/10/2024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1009571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p:cNvSpPr>
            <a:spLocks noGrp="1"/>
          </p:cNvSpPr>
          <p:nvPr>
            <p:ph type="title"/>
          </p:nvPr>
        </p:nvSpPr>
        <p:spPr>
          <a:xfrm>
            <a:off x="831850" y="1709738"/>
            <a:ext cx="10515600" cy="2852737"/>
          </a:xfrm>
        </p:spPr>
        <p:txBody>
          <a:bodyPr anchor="b"/>
          <a:lstStyle>
            <a:lvl1pPr>
              <a:defRPr sz="6000"/>
            </a:lvl1pPr>
          </a:lstStyle>
          <a:p>
            <a:r>
              <a:rPr lang="el-GR"/>
              <a:t>Στυλ κύριου τίτλου</a:t>
            </a:r>
          </a:p>
        </p:txBody>
      </p:sp>
      <p:sp>
        <p:nvSpPr>
          <p:cNvPr id="3" name="Θέση κειμένου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Στυλ υποδείγματος κειμένου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9/10/2024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5258685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περιεχομένου 2"/>
          <p:cNvSpPr>
            <a:spLocks noGrp="1"/>
          </p:cNvSpPr>
          <p:nvPr>
            <p:ph sz="half" idx="1"/>
          </p:nvPr>
        </p:nvSpPr>
        <p:spPr>
          <a:xfrm>
            <a:off x="838200" y="1825625"/>
            <a:ext cx="5181600" cy="435133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περιεχομένου 3"/>
          <p:cNvSpPr>
            <a:spLocks noGrp="1"/>
          </p:cNvSpPr>
          <p:nvPr>
            <p:ph sz="half" idx="2"/>
          </p:nvPr>
        </p:nvSpPr>
        <p:spPr>
          <a:xfrm>
            <a:off x="6172200" y="1825625"/>
            <a:ext cx="5181600" cy="435133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9/10/2024</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2414378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365125"/>
            <a:ext cx="10515600" cy="1325563"/>
          </a:xfrm>
        </p:spPr>
        <p:txBody>
          <a:bodyPr/>
          <a:lstStyle/>
          <a:p>
            <a:r>
              <a:rPr lang="el-GR"/>
              <a:t>Στυλ κύριου τίτλου</a:t>
            </a:r>
          </a:p>
        </p:txBody>
      </p:sp>
      <p:sp>
        <p:nvSpPr>
          <p:cNvPr id="3" name="Θέση κειμένου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υποδείγματος κειμένου</a:t>
            </a:r>
          </a:p>
        </p:txBody>
      </p:sp>
      <p:sp>
        <p:nvSpPr>
          <p:cNvPr id="4" name="Θέση περιεχομένου 3"/>
          <p:cNvSpPr>
            <a:spLocks noGrp="1"/>
          </p:cNvSpPr>
          <p:nvPr>
            <p:ph sz="half" idx="2"/>
          </p:nvPr>
        </p:nvSpPr>
        <p:spPr>
          <a:xfrm>
            <a:off x="839788" y="2505075"/>
            <a:ext cx="5157787" cy="368458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κειμένου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υποδείγματος κειμένου</a:t>
            </a:r>
          </a:p>
        </p:txBody>
      </p:sp>
      <p:sp>
        <p:nvSpPr>
          <p:cNvPr id="6" name="Θέση περιεχομένου 5"/>
          <p:cNvSpPr>
            <a:spLocks noGrp="1"/>
          </p:cNvSpPr>
          <p:nvPr>
            <p:ph sz="quarter" idx="4"/>
          </p:nvPr>
        </p:nvSpPr>
        <p:spPr>
          <a:xfrm>
            <a:off x="6172200" y="2505075"/>
            <a:ext cx="5183188" cy="368458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7" name="Θέση ημερομηνίας 6"/>
          <p:cNvSpPr>
            <a:spLocks noGrp="1"/>
          </p:cNvSpPr>
          <p:nvPr>
            <p:ph type="dt" sz="half" idx="10"/>
          </p:nvPr>
        </p:nvSpPr>
        <p:spPr/>
        <p:txBody>
          <a:bodyPr/>
          <a:lstStyle/>
          <a:p>
            <a:fld id="{C858F2E9-5724-40D7-A084-8A9A9CED4F62}" type="datetimeFigureOut">
              <a:rPr lang="el-GR" smtClean="0"/>
              <a:t>9/10/2024</a:t>
            </a:fld>
            <a:endParaRPr lang="el-GR"/>
          </a:p>
        </p:txBody>
      </p:sp>
      <p:sp>
        <p:nvSpPr>
          <p:cNvPr id="8" name="Θέση υποσέλιδου 7"/>
          <p:cNvSpPr>
            <a:spLocks noGrp="1"/>
          </p:cNvSpPr>
          <p:nvPr>
            <p:ph type="ftr" sz="quarter" idx="11"/>
          </p:nvPr>
        </p:nvSpPr>
        <p:spPr/>
        <p:txBody>
          <a:bodyPr/>
          <a:lstStyle/>
          <a:p>
            <a:endParaRPr lang="el-GR"/>
          </a:p>
        </p:txBody>
      </p:sp>
      <p:sp>
        <p:nvSpPr>
          <p:cNvPr id="9" name="Θέση αριθμού διαφάνειας 8"/>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32613590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ημερομηνίας 2"/>
          <p:cNvSpPr>
            <a:spLocks noGrp="1"/>
          </p:cNvSpPr>
          <p:nvPr>
            <p:ph type="dt" sz="half" idx="10"/>
          </p:nvPr>
        </p:nvSpPr>
        <p:spPr/>
        <p:txBody>
          <a:bodyPr/>
          <a:lstStyle/>
          <a:p>
            <a:fld id="{C858F2E9-5724-40D7-A084-8A9A9CED4F62}" type="datetimeFigureOut">
              <a:rPr lang="el-GR" smtClean="0"/>
              <a:t>9/10/2024</a:t>
            </a:fld>
            <a:endParaRPr lang="el-GR"/>
          </a:p>
        </p:txBody>
      </p:sp>
      <p:sp>
        <p:nvSpPr>
          <p:cNvPr id="4" name="Θέση υποσέλιδου 3"/>
          <p:cNvSpPr>
            <a:spLocks noGrp="1"/>
          </p:cNvSpPr>
          <p:nvPr>
            <p:ph type="ftr" sz="quarter" idx="11"/>
          </p:nvPr>
        </p:nvSpPr>
        <p:spPr/>
        <p:txBody>
          <a:bodyPr/>
          <a:lstStyle/>
          <a:p>
            <a:endParaRPr lang="el-GR"/>
          </a:p>
        </p:txBody>
      </p:sp>
      <p:sp>
        <p:nvSpPr>
          <p:cNvPr id="5" name="Θέση αριθμού διαφάνειας 4"/>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312742299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Κενή">
    <p:spTree>
      <p:nvGrpSpPr>
        <p:cNvPr id="1" name=""/>
        <p:cNvGrpSpPr/>
        <p:nvPr/>
      </p:nvGrpSpPr>
      <p:grpSpPr>
        <a:xfrm>
          <a:off x="0" y="0"/>
          <a:ext cx="0" cy="0"/>
          <a:chOff x="0" y="0"/>
          <a:chExt cx="0" cy="0"/>
        </a:xfrm>
      </p:grpSpPr>
      <p:sp>
        <p:nvSpPr>
          <p:cNvPr id="2" name="Θέση ημερομηνίας 1"/>
          <p:cNvSpPr>
            <a:spLocks noGrp="1"/>
          </p:cNvSpPr>
          <p:nvPr>
            <p:ph type="dt" sz="half" idx="10"/>
          </p:nvPr>
        </p:nvSpPr>
        <p:spPr/>
        <p:txBody>
          <a:bodyPr/>
          <a:lstStyle/>
          <a:p>
            <a:fld id="{77C47DEE-5753-44EA-A073-053903F4D65C}" type="datetimeFigureOut">
              <a:rPr lang="el-GR" smtClean="0"/>
              <a:t>9/10/2024</a:t>
            </a:fld>
            <a:endParaRPr lang="el-GR"/>
          </a:p>
        </p:txBody>
      </p:sp>
      <p:sp>
        <p:nvSpPr>
          <p:cNvPr id="3" name="Θέση υποσέλιδου 2"/>
          <p:cNvSpPr>
            <a:spLocks noGrp="1"/>
          </p:cNvSpPr>
          <p:nvPr>
            <p:ph type="ftr" sz="quarter" idx="11"/>
          </p:nvPr>
        </p:nvSpPr>
        <p:spPr/>
        <p:txBody>
          <a:bodyPr/>
          <a:lstStyle/>
          <a:p>
            <a:endParaRPr lang="el-GR"/>
          </a:p>
        </p:txBody>
      </p:sp>
      <p:sp>
        <p:nvSpPr>
          <p:cNvPr id="4" name="Θέση αριθμού διαφάνειας 3"/>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5529390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457200"/>
            <a:ext cx="3932237" cy="1600200"/>
          </a:xfrm>
        </p:spPr>
        <p:txBody>
          <a:bodyPr anchor="b"/>
          <a:lstStyle>
            <a:lvl1pPr>
              <a:defRPr sz="3200"/>
            </a:lvl1pPr>
          </a:lstStyle>
          <a:p>
            <a:r>
              <a:rPr lang="el-GR"/>
              <a:t>Στυλ κύριου τίτλου</a:t>
            </a:r>
          </a:p>
        </p:txBody>
      </p:sp>
      <p:sp>
        <p:nvSpPr>
          <p:cNvPr id="3" name="Θέση περιεχομένου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κειμένου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υποδείγματος κειμένου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9/10/2024</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407656930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457200"/>
            <a:ext cx="3932237" cy="1600200"/>
          </a:xfrm>
        </p:spPr>
        <p:txBody>
          <a:bodyPr anchor="b"/>
          <a:lstStyle>
            <a:lvl1pPr>
              <a:defRPr sz="3200"/>
            </a:lvl1pPr>
          </a:lstStyle>
          <a:p>
            <a:r>
              <a:rPr lang="el-GR"/>
              <a:t>Στυλ κύριου τίτλου</a:t>
            </a:r>
          </a:p>
        </p:txBody>
      </p:sp>
      <p:sp>
        <p:nvSpPr>
          <p:cNvPr id="3" name="Θέση εικόνας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υποδείγματος κειμένου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9/10/2024</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579238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κατακόρυφου κειμένου 2"/>
          <p:cNvSpPr>
            <a:spLocks noGrp="1"/>
          </p:cNvSpPr>
          <p:nvPr>
            <p:ph type="body" orient="vert" idx="1"/>
          </p:nvPr>
        </p:nvSpPr>
        <p:spPr/>
        <p:txBody>
          <a:bodyPr vert="eaVert"/>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9/10/2024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72890431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p:cNvSpPr>
            <a:spLocks noGrp="1"/>
          </p:cNvSpPr>
          <p:nvPr>
            <p:ph type="title" orient="vert"/>
          </p:nvPr>
        </p:nvSpPr>
        <p:spPr>
          <a:xfrm>
            <a:off x="8724900" y="365125"/>
            <a:ext cx="2628900" cy="5811838"/>
          </a:xfrm>
        </p:spPr>
        <p:txBody>
          <a:bodyPr vert="eaVert"/>
          <a:lstStyle/>
          <a:p>
            <a:r>
              <a:rPr lang="el-GR"/>
              <a:t>Στυλ κύριου τίτλου</a:t>
            </a:r>
          </a:p>
        </p:txBody>
      </p:sp>
      <p:sp>
        <p:nvSpPr>
          <p:cNvPr id="3" name="Θέση κατακόρυφου κειμένου 2"/>
          <p:cNvSpPr>
            <a:spLocks noGrp="1"/>
          </p:cNvSpPr>
          <p:nvPr>
            <p:ph type="body" orient="vert" idx="1"/>
          </p:nvPr>
        </p:nvSpPr>
        <p:spPr>
          <a:xfrm>
            <a:off x="838200" y="365125"/>
            <a:ext cx="7734300" cy="5811838"/>
          </a:xfrm>
        </p:spPr>
        <p:txBody>
          <a:bodyPr vert="eaVert"/>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9/10/2024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232701990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Θέση τίτλου 1">
            <a:extLst>
              <a:ext uri="{FF2B5EF4-FFF2-40B4-BE49-F238E27FC236}">
                <a16:creationId xmlns:a16="http://schemas.microsoft.com/office/drawing/2014/main" id="{992F1800-E376-4EAC-8DCE-EF767BC9FA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93EDA18A-E08C-433A-8864-CE510E638F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F5AF37D2-402E-4529-9EEC-414BB35C59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3CF16FB6-3B9A-47F7-BC11-0CD0D44781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Θέση αριθμού διαφάνειας 5">
            <a:extLst>
              <a:ext uri="{FF2B5EF4-FFF2-40B4-BE49-F238E27FC236}">
                <a16:creationId xmlns:a16="http://schemas.microsoft.com/office/drawing/2014/main" id="{1A057F2B-A2D8-4FC1-B53F-4487A38756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C6C20E-1D6A-4E7C-944C-DE305A6F1CA5}" type="slidenum">
              <a:rPr lang="el-GR" smtClean="0"/>
              <a:t>‹#›</a:t>
            </a:fld>
            <a:endParaRPr lang="el-GR"/>
          </a:p>
        </p:txBody>
      </p:sp>
    </p:spTree>
    <p:extLst>
      <p:ext uri="{BB962C8B-B14F-4D97-AF65-F5344CB8AC3E}">
        <p14:creationId xmlns:p14="http://schemas.microsoft.com/office/powerpoint/2010/main" val="17776414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Στυλ κύριου τίτλου</a:t>
            </a:r>
          </a:p>
        </p:txBody>
      </p:sp>
      <p:sp>
        <p:nvSpPr>
          <p:cNvPr id="3" name="Θέση κειμένου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47DEE-5753-44EA-A073-053903F4D65C}" type="datetimeFigureOut">
              <a:rPr lang="el-GR" smtClean="0"/>
              <a:t>9/10/2024</a:t>
            </a:fld>
            <a:endParaRPr lang="el-GR"/>
          </a:p>
        </p:txBody>
      </p:sp>
      <p:sp>
        <p:nvSpPr>
          <p:cNvPr id="5" name="Θέση υποσέλιδου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Θέση αριθμού διαφάνειας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C6C20E-1D6A-4E7C-944C-DE305A6F1CA5}" type="slidenum">
              <a:rPr lang="el-GR" smtClean="0"/>
              <a:t>‹#›</a:t>
            </a:fld>
            <a:endParaRPr lang="el-GR"/>
          </a:p>
        </p:txBody>
      </p:sp>
    </p:spTree>
    <p:extLst>
      <p:ext uri="{BB962C8B-B14F-4D97-AF65-F5344CB8AC3E}">
        <p14:creationId xmlns:p14="http://schemas.microsoft.com/office/powerpoint/2010/main" val="2543682789"/>
      </p:ext>
    </p:extLst>
  </p:cSld>
  <p:clrMap bg1="lt1" tx1="dk1" bg2="lt2" tx2="dk2" accent1="accent1" accent2="accent2" accent3="accent3" accent4="accent4" accent5="accent5" accent6="accent6" hlink="hlink" folHlink="folHlink"/>
  <p:sldLayoutIdLst>
    <p:sldLayoutId id="2147483893" r:id="rId1"/>
    <p:sldLayoutId id="2147483894" r:id="rId2"/>
    <p:sldLayoutId id="2147483895" r:id="rId3"/>
    <p:sldLayoutId id="2147483896" r:id="rId4"/>
    <p:sldLayoutId id="2147483897" r:id="rId5"/>
    <p:sldLayoutId id="2147483898" r:id="rId6"/>
    <p:sldLayoutId id="2147483899" r:id="rId7"/>
    <p:sldLayoutId id="2147483900" r:id="rId8"/>
    <p:sldLayoutId id="2147483901" r:id="rId9"/>
    <p:sldLayoutId id="2147483902" r:id="rId10"/>
    <p:sldLayoutId id="2147483903" r:id="rId11"/>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ites.google.com/site/thramboulidiskleanthis/"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hyperlink" Target="http://www.ibm.com/developerworks/java/library/j-jtp10283/" TargetMode="External"/><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hyperlink" Target="http://www.oracle.com/webfolder/technetwork/tutorials/obe/java/gc01/index.html"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hyperlink" Target="http://www.ibm.com/developerworks/java/library/j-jtp10283/" TargetMode="External"/><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hyperlink" Target="http://www.oracle.com/webfolder/technetwork/tutorials/obe/java/gc01/index.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76E192A2-3ED3-4081-8A86-A22B51141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152902" y="-1181101"/>
            <a:ext cx="3886200" cy="121920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Υπότιτλος 2">
            <a:extLst>
              <a:ext uri="{FF2B5EF4-FFF2-40B4-BE49-F238E27FC236}">
                <a16:creationId xmlns:a16="http://schemas.microsoft.com/office/drawing/2014/main" id="{999AB7B1-2CA7-4F2E-91BE-62A4C3CC57D6}"/>
              </a:ext>
            </a:extLst>
          </p:cNvPr>
          <p:cNvSpPr txBox="1">
            <a:spLocks/>
          </p:cNvSpPr>
          <p:nvPr/>
        </p:nvSpPr>
        <p:spPr>
          <a:xfrm>
            <a:off x="-3" y="48411"/>
            <a:ext cx="12192002" cy="1249811"/>
          </a:xfrm>
          <a:prstGeom prst="rect">
            <a:avLst/>
          </a:prstGeom>
        </p:spPr>
        <p:txBody>
          <a:bodyPr vert="horz" lIns="91440" tIns="45720" rIns="91440" bIns="45720" rtlCol="0" anchor="b">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ct val="0"/>
              </a:spcBef>
              <a:spcAft>
                <a:spcPts val="600"/>
              </a:spcAft>
            </a:pPr>
            <a:r>
              <a:rPr lang="el-GR" sz="4000" b="1" dirty="0">
                <a:solidFill>
                  <a:srgbClr val="F9853D"/>
                </a:solidFill>
                <a:latin typeface="Bahnschrift" panose="020B0502040204020203" pitchFamily="34" charset="0"/>
              </a:rPr>
              <a:t>Αντικειμενοστρεφής Προγραμματισμός </a:t>
            </a:r>
            <a:br>
              <a:rPr lang="el-GR" sz="4000" b="1" dirty="0">
                <a:solidFill>
                  <a:srgbClr val="F9853D"/>
                </a:solidFill>
                <a:latin typeface="Bahnschrift" panose="020B0502040204020203" pitchFamily="34" charset="0"/>
              </a:rPr>
            </a:br>
            <a:r>
              <a:rPr lang="el-GR" sz="4000" b="1" dirty="0">
                <a:solidFill>
                  <a:srgbClr val="F9853D"/>
                </a:solidFill>
                <a:latin typeface="Bahnschrift" panose="020B0502040204020203" pitchFamily="34" charset="0"/>
              </a:rPr>
              <a:t>(</a:t>
            </a:r>
            <a:r>
              <a:rPr lang="el-GR" sz="4000" b="1" dirty="0" err="1">
                <a:solidFill>
                  <a:srgbClr val="F9853D"/>
                </a:solidFill>
                <a:latin typeface="Bahnschrift" panose="020B0502040204020203" pitchFamily="34" charset="0"/>
              </a:rPr>
              <a:t>Object-Oriented</a:t>
            </a:r>
            <a:r>
              <a:rPr lang="el-GR" sz="4000" b="1" dirty="0">
                <a:solidFill>
                  <a:srgbClr val="F9853D"/>
                </a:solidFill>
                <a:latin typeface="Bahnschrift" panose="020B0502040204020203" pitchFamily="34" charset="0"/>
              </a:rPr>
              <a:t> </a:t>
            </a:r>
            <a:r>
              <a:rPr lang="el-GR" sz="4000" b="1" dirty="0" err="1">
                <a:solidFill>
                  <a:srgbClr val="F9853D"/>
                </a:solidFill>
                <a:latin typeface="Bahnschrift" panose="020B0502040204020203" pitchFamily="34" charset="0"/>
              </a:rPr>
              <a:t>Programming</a:t>
            </a:r>
            <a:r>
              <a:rPr lang="el-GR" sz="4000" b="1" dirty="0">
                <a:solidFill>
                  <a:srgbClr val="F9853D"/>
                </a:solidFill>
                <a:latin typeface="Bahnschrift" panose="020B0502040204020203" pitchFamily="34" charset="0"/>
              </a:rPr>
              <a:t>)</a:t>
            </a:r>
            <a:endParaRPr lang="en-US" sz="2800" b="1" dirty="0">
              <a:solidFill>
                <a:srgbClr val="F9853D"/>
              </a:solidFill>
              <a:latin typeface="Bahnschrift" panose="020B0502040204020203" pitchFamily="34" charset="0"/>
            </a:endParaRPr>
          </a:p>
        </p:txBody>
      </p:sp>
      <p:sp>
        <p:nvSpPr>
          <p:cNvPr id="5" name="Rectangle 3">
            <a:extLst>
              <a:ext uri="{FF2B5EF4-FFF2-40B4-BE49-F238E27FC236}">
                <a16:creationId xmlns:a16="http://schemas.microsoft.com/office/drawing/2014/main" id="{850C4F10-C081-CD71-17C8-8DAD4C7DEEF4}"/>
              </a:ext>
            </a:extLst>
          </p:cNvPr>
          <p:cNvSpPr txBox="1">
            <a:spLocks noChangeArrowheads="1"/>
          </p:cNvSpPr>
          <p:nvPr/>
        </p:nvSpPr>
        <p:spPr bwMode="auto">
          <a:xfrm>
            <a:off x="0" y="5773068"/>
            <a:ext cx="8610600" cy="1417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ctr" rtl="0" eaLnBrk="0" fontAlgn="base" hangingPunct="0">
              <a:spcBef>
                <a:spcPct val="20000"/>
              </a:spcBef>
              <a:spcAft>
                <a:spcPct val="0"/>
              </a:spcAft>
              <a:buFont typeface="Wingdings" pitchFamily="2" charset="2"/>
              <a:buNone/>
              <a:defRPr sz="4000">
                <a:solidFill>
                  <a:schemeClr val="tx1"/>
                </a:solidFill>
                <a:latin typeface="+mn-lt"/>
                <a:ea typeface="+mn-ea"/>
                <a:cs typeface="+mn-cs"/>
              </a:defRPr>
            </a:lvl1pPr>
            <a:lvl2pPr marL="742950" indent="-285750" algn="l" rtl="0" eaLnBrk="0" fontAlgn="base" hangingPunct="0">
              <a:spcBef>
                <a:spcPct val="20000"/>
              </a:spcBef>
              <a:spcAft>
                <a:spcPct val="0"/>
              </a:spcAft>
              <a:buFont typeface="Book Antiqua" panose="02040602050305030304" pitchFamily="18" charset="0"/>
              <a:buChar char="–"/>
              <a:defRPr sz="2800">
                <a:solidFill>
                  <a:schemeClr val="tx1"/>
                </a:solidFill>
                <a:latin typeface="+mn-lt"/>
              </a:defRPr>
            </a:lvl2pPr>
            <a:lvl3pPr marL="1143000" indent="-228600" algn="l" rtl="0" eaLnBrk="0" fontAlgn="base" hangingPunct="0">
              <a:spcBef>
                <a:spcPct val="20000"/>
              </a:spcBef>
              <a:spcAft>
                <a:spcPct val="0"/>
              </a:spcAft>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algn="l" eaLnBrk="1" hangingPunct="1">
              <a:spcBef>
                <a:spcPct val="0"/>
              </a:spcBef>
              <a:defRPr/>
            </a:pPr>
            <a:r>
              <a:rPr lang="en-US" altLang="el-GR" sz="1800" b="0" i="0" kern="0" dirty="0">
                <a:solidFill>
                  <a:srgbClr val="800000"/>
                </a:solidFill>
                <a:latin typeface="Times New Roman" panose="02020603050405020304" pitchFamily="18" charset="0"/>
              </a:rPr>
              <a:t>Kleanthis Thramboulidis</a:t>
            </a:r>
          </a:p>
          <a:p>
            <a:pPr algn="l" eaLnBrk="1" hangingPunct="1">
              <a:spcBef>
                <a:spcPct val="0"/>
              </a:spcBef>
              <a:defRPr/>
            </a:pPr>
            <a:r>
              <a:rPr lang="en-US" altLang="el-GR" sz="1600" i="0" kern="0" dirty="0">
                <a:latin typeface="Times New Roman" panose="02020603050405020304" pitchFamily="18" charset="0"/>
              </a:rPr>
              <a:t>Prof. of Software and System Engineering </a:t>
            </a:r>
          </a:p>
          <a:p>
            <a:pPr algn="l" eaLnBrk="1" hangingPunct="1">
              <a:spcBef>
                <a:spcPct val="0"/>
              </a:spcBef>
              <a:defRPr/>
            </a:pPr>
            <a:r>
              <a:rPr lang="en-US" altLang="el-GR" sz="1600" b="0" i="0" kern="0" dirty="0">
                <a:latin typeface="Times New Roman" panose="02020603050405020304" pitchFamily="18" charset="0"/>
              </a:rPr>
              <a:t>University of Patras</a:t>
            </a:r>
            <a:r>
              <a:rPr lang="el-GR" altLang="el-GR" sz="1800" b="0" i="0" kern="0" dirty="0">
                <a:latin typeface="Times New Roman" panose="02020603050405020304" pitchFamily="18" charset="0"/>
              </a:rPr>
              <a:t> </a:t>
            </a:r>
            <a:endParaRPr lang="en-US" altLang="el-GR" sz="1800" b="0" i="0" kern="0" dirty="0">
              <a:latin typeface="Times New Roman" panose="02020603050405020304" pitchFamily="18" charset="0"/>
            </a:endParaRPr>
          </a:p>
          <a:p>
            <a:pPr algn="l" eaLnBrk="1" hangingPunct="1">
              <a:spcBef>
                <a:spcPct val="0"/>
              </a:spcBef>
              <a:defRPr/>
            </a:pPr>
            <a:r>
              <a:rPr lang="en-US" altLang="el-GR" sz="1600" b="0" i="0" dirty="0">
                <a:latin typeface="Times New Roman" panose="02020603050405020304" pitchFamily="18" charset="0"/>
                <a:hlinkClick r:id="rId3"/>
              </a:rPr>
              <a:t>https://sites.google.com/site/thramboulidiskleanthis/</a:t>
            </a:r>
            <a:endParaRPr lang="en-US" altLang="el-GR" sz="1600" b="0" i="0" dirty="0">
              <a:latin typeface="Times New Roman" panose="02020603050405020304" pitchFamily="18" charset="0"/>
            </a:endParaRPr>
          </a:p>
          <a:p>
            <a:pPr algn="l" eaLnBrk="1" hangingPunct="1">
              <a:spcBef>
                <a:spcPct val="0"/>
              </a:spcBef>
              <a:defRPr/>
            </a:pPr>
            <a:endParaRPr lang="el-GR" altLang="el-GR" sz="1800" kern="0" dirty="0">
              <a:latin typeface="Times New Roman" panose="02020603050405020304" pitchFamily="18" charset="0"/>
            </a:endParaRPr>
          </a:p>
          <a:p>
            <a:pPr algn="l" eaLnBrk="1" hangingPunct="1">
              <a:spcBef>
                <a:spcPct val="0"/>
              </a:spcBef>
              <a:defRPr/>
            </a:pPr>
            <a:endParaRPr lang="en-GB" altLang="el-GR" sz="1800" b="1" kern="0" dirty="0">
              <a:latin typeface="Times New Roman" panose="02020603050405020304" pitchFamily="18" charset="0"/>
            </a:endParaRPr>
          </a:p>
        </p:txBody>
      </p:sp>
      <p:sp>
        <p:nvSpPr>
          <p:cNvPr id="16" name="TextBox 15">
            <a:extLst>
              <a:ext uri="{FF2B5EF4-FFF2-40B4-BE49-F238E27FC236}">
                <a16:creationId xmlns:a16="http://schemas.microsoft.com/office/drawing/2014/main" id="{D3036E0A-62C8-F25D-25D5-595B0B27A6B1}"/>
              </a:ext>
            </a:extLst>
          </p:cNvPr>
          <p:cNvSpPr txBox="1"/>
          <p:nvPr/>
        </p:nvSpPr>
        <p:spPr>
          <a:xfrm>
            <a:off x="0" y="1318086"/>
            <a:ext cx="1769534" cy="369332"/>
          </a:xfrm>
          <a:prstGeom prst="rect">
            <a:avLst/>
          </a:prstGeom>
          <a:noFill/>
        </p:spPr>
        <p:txBody>
          <a:bodyPr wrap="square">
            <a:spAutoFit/>
          </a:bodyPr>
          <a:lstStyle/>
          <a:p>
            <a:r>
              <a:rPr lang="en-US" dirty="0">
                <a:solidFill>
                  <a:srgbClr val="F9853D"/>
                </a:solidFill>
                <a:latin typeface="Bahnschrift" panose="020B0502040204020203" pitchFamily="34" charset="0"/>
              </a:rPr>
              <a:t>(CEID_NNY106)</a:t>
            </a:r>
            <a:endParaRPr lang="el-GR" dirty="0">
              <a:solidFill>
                <a:srgbClr val="F9853D"/>
              </a:solidFill>
              <a:latin typeface="Bahnschrift" panose="020B0502040204020203" pitchFamily="34" charset="0"/>
            </a:endParaRPr>
          </a:p>
        </p:txBody>
      </p:sp>
      <p:sp>
        <p:nvSpPr>
          <p:cNvPr id="2" name="TextBox 1">
            <a:extLst>
              <a:ext uri="{FF2B5EF4-FFF2-40B4-BE49-F238E27FC236}">
                <a16:creationId xmlns:a16="http://schemas.microsoft.com/office/drawing/2014/main" id="{515F3EE9-A938-D663-D46A-160783F1F27F}"/>
              </a:ext>
            </a:extLst>
          </p:cNvPr>
          <p:cNvSpPr txBox="1"/>
          <p:nvPr/>
        </p:nvSpPr>
        <p:spPr>
          <a:xfrm>
            <a:off x="560303" y="2462259"/>
            <a:ext cx="1314527" cy="369332"/>
          </a:xfrm>
          <a:prstGeom prst="rect">
            <a:avLst/>
          </a:prstGeom>
          <a:noFill/>
        </p:spPr>
        <p:txBody>
          <a:bodyPr wrap="none" rtlCol="0">
            <a:spAutoFit/>
          </a:bodyPr>
          <a:lstStyle/>
          <a:p>
            <a:r>
              <a:rPr lang="el-GR" dirty="0"/>
              <a:t>Κύρια Πηγή</a:t>
            </a:r>
          </a:p>
        </p:txBody>
      </p:sp>
      <p:pic>
        <p:nvPicPr>
          <p:cNvPr id="6" name="Picture 5">
            <a:extLst>
              <a:ext uri="{FF2B5EF4-FFF2-40B4-BE49-F238E27FC236}">
                <a16:creationId xmlns:a16="http://schemas.microsoft.com/office/drawing/2014/main" id="{06171E6F-8AE9-B75E-1823-7991CADC80F8}"/>
              </a:ext>
            </a:extLst>
          </p:cNvPr>
          <p:cNvPicPr>
            <a:picLocks noChangeAspect="1"/>
          </p:cNvPicPr>
          <p:nvPr/>
        </p:nvPicPr>
        <p:blipFill>
          <a:blip r:embed="rId4"/>
          <a:stretch>
            <a:fillRect/>
          </a:stretch>
        </p:blipFill>
        <p:spPr>
          <a:xfrm>
            <a:off x="242123" y="2741663"/>
            <a:ext cx="1950889" cy="2819644"/>
          </a:xfrm>
          <a:prstGeom prst="rect">
            <a:avLst/>
          </a:prstGeom>
        </p:spPr>
      </p:pic>
      <p:sp>
        <p:nvSpPr>
          <p:cNvPr id="4" name="Υπότιτλος 2">
            <a:extLst>
              <a:ext uri="{FF2B5EF4-FFF2-40B4-BE49-F238E27FC236}">
                <a16:creationId xmlns:a16="http://schemas.microsoft.com/office/drawing/2014/main" id="{1FEF44B4-5484-7F60-BA37-96313DC3B896}"/>
              </a:ext>
            </a:extLst>
          </p:cNvPr>
          <p:cNvSpPr txBox="1">
            <a:spLocks/>
          </p:cNvSpPr>
          <p:nvPr/>
        </p:nvSpPr>
        <p:spPr>
          <a:xfrm>
            <a:off x="-4" y="1296692"/>
            <a:ext cx="7748956" cy="1463345"/>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spcBef>
                <a:spcPct val="0"/>
              </a:spcBef>
              <a:spcAft>
                <a:spcPts val="600"/>
              </a:spcAft>
            </a:pPr>
            <a:r>
              <a:rPr lang="en-US" sz="4000" b="1" dirty="0">
                <a:solidFill>
                  <a:srgbClr val="60D69E"/>
                </a:solidFill>
                <a:latin typeface="Bahnschrift" panose="020B0502040204020203" pitchFamily="34" charset="0"/>
              </a:rPr>
              <a:t>Java as an OOP Language </a:t>
            </a:r>
          </a:p>
          <a:p>
            <a:pPr algn="r">
              <a:lnSpc>
                <a:spcPct val="100000"/>
              </a:lnSpc>
              <a:spcBef>
                <a:spcPct val="0"/>
              </a:spcBef>
              <a:spcAft>
                <a:spcPts val="600"/>
              </a:spcAft>
            </a:pPr>
            <a:r>
              <a:rPr lang="en-US" sz="4000" b="1" dirty="0">
                <a:solidFill>
                  <a:schemeClr val="accent1">
                    <a:lumMod val="60000"/>
                    <a:lumOff val="40000"/>
                  </a:schemeClr>
                </a:solidFill>
                <a:latin typeface="Bahnschrift" panose="020B0502040204020203" pitchFamily="34" charset="0"/>
              </a:rPr>
              <a:t>Garbage Collector</a:t>
            </a:r>
          </a:p>
        </p:txBody>
      </p:sp>
      <p:pic>
        <p:nvPicPr>
          <p:cNvPr id="7" name="Picture 6">
            <a:extLst>
              <a:ext uri="{FF2B5EF4-FFF2-40B4-BE49-F238E27FC236}">
                <a16:creationId xmlns:a16="http://schemas.microsoft.com/office/drawing/2014/main" id="{58F3F1DF-97A8-0745-D06F-F345A61D9C83}"/>
              </a:ext>
            </a:extLst>
          </p:cNvPr>
          <p:cNvPicPr>
            <a:picLocks noChangeAspect="1"/>
          </p:cNvPicPr>
          <p:nvPr/>
        </p:nvPicPr>
        <p:blipFill>
          <a:blip r:embed="rId5"/>
          <a:stretch>
            <a:fillRect/>
          </a:stretch>
        </p:blipFill>
        <p:spPr>
          <a:xfrm>
            <a:off x="7748952" y="1249095"/>
            <a:ext cx="4443044" cy="5019232"/>
          </a:xfrm>
          <a:prstGeom prst="rect">
            <a:avLst/>
          </a:prstGeom>
        </p:spPr>
      </p:pic>
      <p:sp>
        <p:nvSpPr>
          <p:cNvPr id="20" name="Rectangle 19">
            <a:extLst>
              <a:ext uri="{FF2B5EF4-FFF2-40B4-BE49-F238E27FC236}">
                <a16:creationId xmlns:a16="http://schemas.microsoft.com/office/drawing/2014/main" id="{71AC6608-7C00-770A-D4FC-06C135BF8CDE}"/>
              </a:ext>
            </a:extLst>
          </p:cNvPr>
          <p:cNvSpPr/>
          <p:nvPr/>
        </p:nvSpPr>
        <p:spPr>
          <a:xfrm>
            <a:off x="239084" y="3913536"/>
            <a:ext cx="1950889" cy="31272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sz="1600" dirty="0"/>
              <a:t>Κεφάλαιο: </a:t>
            </a:r>
            <a:r>
              <a:rPr lang="en-GB" sz="1600" dirty="0"/>
              <a:t>5</a:t>
            </a:r>
            <a:endParaRPr lang="el-GR" sz="1600" dirty="0"/>
          </a:p>
        </p:txBody>
      </p:sp>
      <p:sp>
        <p:nvSpPr>
          <p:cNvPr id="21" name="TextBox 20">
            <a:extLst>
              <a:ext uri="{FF2B5EF4-FFF2-40B4-BE49-F238E27FC236}">
                <a16:creationId xmlns:a16="http://schemas.microsoft.com/office/drawing/2014/main" id="{2C96A4A3-88B3-F04A-0B91-01BBBF200BC0}"/>
              </a:ext>
            </a:extLst>
          </p:cNvPr>
          <p:cNvSpPr txBox="1"/>
          <p:nvPr/>
        </p:nvSpPr>
        <p:spPr>
          <a:xfrm>
            <a:off x="192732" y="4202653"/>
            <a:ext cx="1084390" cy="369332"/>
          </a:xfrm>
          <a:prstGeom prst="rect">
            <a:avLst/>
          </a:prstGeom>
          <a:noFill/>
        </p:spPr>
        <p:txBody>
          <a:bodyPr wrap="square" rtlCol="0">
            <a:spAutoFit/>
          </a:bodyPr>
          <a:lstStyle/>
          <a:p>
            <a:r>
              <a:rPr lang="en-US" dirty="0"/>
              <a:t>5.18</a:t>
            </a:r>
            <a:endParaRPr lang="el-GR" dirty="0"/>
          </a:p>
        </p:txBody>
      </p:sp>
      <p:pic>
        <p:nvPicPr>
          <p:cNvPr id="3" name="Picture 1027">
            <a:extLst>
              <a:ext uri="{FF2B5EF4-FFF2-40B4-BE49-F238E27FC236}">
                <a16:creationId xmlns:a16="http://schemas.microsoft.com/office/drawing/2014/main" id="{38109F90-9567-6765-EAC4-C1F4C49D45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04360" y="3267010"/>
            <a:ext cx="4265690" cy="2688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Tree>
    <p:extLst>
      <p:ext uri="{BB962C8B-B14F-4D97-AF65-F5344CB8AC3E}">
        <p14:creationId xmlns:p14="http://schemas.microsoft.com/office/powerpoint/2010/main" val="307325276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6" name="Rectangle 3">
            <a:extLst>
              <a:ext uri="{FF2B5EF4-FFF2-40B4-BE49-F238E27FC236}">
                <a16:creationId xmlns:a16="http://schemas.microsoft.com/office/drawing/2014/main" id="{DA6131CC-51AC-7772-5DFB-DAF535789200}"/>
              </a:ext>
            </a:extLst>
          </p:cNvPr>
          <p:cNvSpPr txBox="1">
            <a:spLocks noChangeArrowheads="1"/>
          </p:cNvSpPr>
          <p:nvPr/>
        </p:nvSpPr>
        <p:spPr bwMode="auto">
          <a:xfrm>
            <a:off x="0" y="1082117"/>
            <a:ext cx="4595811" cy="46755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514350" indent="-457200" eaLnBrk="1" hangingPunct="1">
              <a:buClr>
                <a:schemeClr val="hlink"/>
              </a:buClr>
              <a:defRPr/>
            </a:pPr>
            <a:r>
              <a:rPr kumimoji="0" lang="el-GR" altLang="el-GR" sz="3200" b="1" i="0" u="none" strike="noStrike" kern="0" cap="none" spc="0" normalizeH="0" baseline="0" noProof="0" dirty="0">
                <a:ln>
                  <a:noFill/>
                </a:ln>
                <a:solidFill>
                  <a:srgbClr val="FF0000"/>
                </a:solidFill>
                <a:effectLst/>
                <a:uLnTx/>
                <a:uFillTx/>
                <a:latin typeface="Tahoma"/>
                <a:ea typeface="+mn-ea"/>
                <a:cs typeface="+mn-cs"/>
              </a:rPr>
              <a:t>To πρόβλημα των ξεχασμένων αντικειμένων</a:t>
            </a:r>
            <a:endParaRPr kumimoji="0" lang="el-GR" altLang="el-GR" sz="4000" b="1" i="0" u="none" strike="noStrike" kern="0" cap="none" spc="0" normalizeH="0" baseline="0" noProof="0" dirty="0">
              <a:ln>
                <a:noFill/>
              </a:ln>
              <a:solidFill>
                <a:srgbClr val="FF0000"/>
              </a:solidFill>
              <a:effectLst/>
              <a:uLnTx/>
              <a:uFillTx/>
              <a:latin typeface="Tahoma"/>
              <a:ea typeface="+mn-ea"/>
              <a:cs typeface="+mn-cs"/>
            </a:endParaRPr>
          </a:p>
          <a:p>
            <a:pPr marL="914400" lvl="1" indent="-457200" eaLnBrk="1" hangingPunct="1">
              <a:defRPr/>
            </a:pPr>
            <a:r>
              <a:rPr lang="el-GR" b="1" dirty="0">
                <a:latin typeface="Tahoma" panose="020B0604030504040204" pitchFamily="34" charset="0"/>
                <a:ea typeface="Tahoma" panose="020B0604030504040204" pitchFamily="34" charset="0"/>
                <a:cs typeface="Tahoma" panose="020B0604030504040204" pitchFamily="34" charset="0"/>
              </a:rPr>
              <a:t>ποιο είναι; </a:t>
            </a:r>
          </a:p>
          <a:p>
            <a:pPr marL="914400" lvl="1" indent="-457200" eaLnBrk="1" hangingPunct="1">
              <a:defRPr/>
            </a:pPr>
            <a:r>
              <a:rPr lang="el-GR" b="1" dirty="0">
                <a:latin typeface="Tahoma" panose="020B0604030504040204" pitchFamily="34" charset="0"/>
                <a:ea typeface="Tahoma" panose="020B0604030504040204" pitchFamily="34" charset="0"/>
                <a:cs typeface="Tahoma" panose="020B0604030504040204" pitchFamily="34" charset="0"/>
              </a:rPr>
              <a:t>τι συνέπειες έχει;</a:t>
            </a:r>
          </a:p>
          <a:p>
            <a:pPr marL="914400" lvl="1" indent="-457200" eaLnBrk="1" hangingPunct="1">
              <a:defRPr/>
            </a:pPr>
            <a:r>
              <a:rPr lang="el-GR" b="1" dirty="0">
                <a:latin typeface="Tahoma" panose="020B0604030504040204" pitchFamily="34" charset="0"/>
                <a:ea typeface="Tahoma" panose="020B0604030504040204" pitchFamily="34" charset="0"/>
                <a:cs typeface="Tahoma" panose="020B0604030504040204" pitchFamily="34" charset="0"/>
              </a:rPr>
              <a:t>πως αντιμετωπίζεται;</a:t>
            </a:r>
            <a:endParaRPr lang="en-GB" b="1" dirty="0">
              <a:latin typeface="Tahoma" panose="020B0604030504040204" pitchFamily="34" charset="0"/>
              <a:ea typeface="Tahoma" panose="020B0604030504040204" pitchFamily="34" charset="0"/>
              <a:cs typeface="Tahoma" panose="020B0604030504040204" pitchFamily="34" charset="0"/>
            </a:endParaRPr>
          </a:p>
          <a:p>
            <a:pPr marL="57150" indent="0" eaLnBrk="1" hangingPunct="1">
              <a:buClr>
                <a:schemeClr val="hlink"/>
              </a:buClr>
              <a:buNone/>
              <a:defRPr/>
            </a:pPr>
            <a:endParaRPr lang="en-US" b="1" dirty="0">
              <a:latin typeface="Tahoma" panose="020B0604030504040204" pitchFamily="34" charset="0"/>
              <a:ea typeface="Tahoma" panose="020B0604030504040204" pitchFamily="34" charset="0"/>
              <a:cs typeface="Tahoma" panose="020B0604030504040204" pitchFamily="34" charset="0"/>
            </a:endParaRPr>
          </a:p>
          <a:p>
            <a:pPr marL="914400" lvl="1" indent="-457200" eaLnBrk="1" hangingPunct="1">
              <a:defRPr/>
            </a:pPr>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4" name="Θέση υποσέλιδου 4">
            <a:extLst>
              <a:ext uri="{FF2B5EF4-FFF2-40B4-BE49-F238E27FC236}">
                <a16:creationId xmlns:a16="http://schemas.microsoft.com/office/drawing/2014/main" id="{7F6942A4-157B-B348-EE86-A8A686FE3BF3}"/>
              </a:ext>
            </a:extLst>
          </p:cNvPr>
          <p:cNvSpPr txBox="1">
            <a:spLocks/>
          </p:cNvSpPr>
          <p:nvPr/>
        </p:nvSpPr>
        <p:spPr>
          <a:xfrm>
            <a:off x="3324958" y="6623768"/>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Java as an OOP language Part </a:t>
            </a:r>
            <a:r>
              <a:rPr lang="en-US" sz="1100" noProof="0" dirty="0">
                <a:solidFill>
                  <a:prstClr val="black"/>
                </a:solidFill>
                <a:latin typeface="Bahnschrift" panose="020B0502040204020203" pitchFamily="34" charset="0"/>
              </a:rPr>
              <a:t>D</a:t>
            </a:r>
            <a:endParaRPr lang="en-US" sz="1100" dirty="0">
              <a:solidFill>
                <a:prstClr val="black"/>
              </a:solidFill>
              <a:latin typeface="Bahnschrift" panose="020B0502040204020203" pitchFamily="34" charset="0"/>
            </a:endParaRPr>
          </a:p>
        </p:txBody>
      </p:sp>
      <p:pic>
        <p:nvPicPr>
          <p:cNvPr id="3" name="Picture 7" descr="PAGoodys002">
            <a:extLst>
              <a:ext uri="{FF2B5EF4-FFF2-40B4-BE49-F238E27FC236}">
                <a16:creationId xmlns:a16="http://schemas.microsoft.com/office/drawing/2014/main" id="{D1AAB98B-CEB6-3810-1EDC-2BAE537D67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5811" y="772696"/>
            <a:ext cx="7596188" cy="569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7DB15CE1-6D5C-BDCB-E930-ED6EBD2DB60E}"/>
              </a:ext>
            </a:extLst>
          </p:cNvPr>
          <p:cNvSpPr txBox="1"/>
          <p:nvPr/>
        </p:nvSpPr>
        <p:spPr>
          <a:xfrm>
            <a:off x="4595811" y="743705"/>
            <a:ext cx="4362450" cy="1077218"/>
          </a:xfrm>
          <a:prstGeom prst="rect">
            <a:avLst/>
          </a:prstGeom>
          <a:noFill/>
        </p:spPr>
        <p:txBody>
          <a:bodyPr wrap="square" rtlCol="0">
            <a:spAutoFit/>
          </a:bodyPr>
          <a:lstStyle/>
          <a:p>
            <a:r>
              <a:rPr lang="en-GB" sz="3200" b="1" dirty="0"/>
              <a:t>Garbage in Olga Square Goody’s</a:t>
            </a:r>
          </a:p>
        </p:txBody>
      </p:sp>
    </p:spTree>
    <p:extLst>
      <p:ext uri="{BB962C8B-B14F-4D97-AF65-F5344CB8AC3E}">
        <p14:creationId xmlns:p14="http://schemas.microsoft.com/office/powerpoint/2010/main" val="173361590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Πως αντιμετωπίζεται;  </a:t>
            </a:r>
            <a:r>
              <a:rPr lang="en-GB" sz="4000" b="1" dirty="0">
                <a:solidFill>
                  <a:srgbClr val="F9853D"/>
                </a:solidFill>
                <a:latin typeface="Bahnschrift" panose="020B0502040204020203" pitchFamily="34" charset="0"/>
              </a:rPr>
              <a:t>Goody’s vs. C/C++</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4" name="Θέση υποσέλιδου 4">
            <a:extLst>
              <a:ext uri="{FF2B5EF4-FFF2-40B4-BE49-F238E27FC236}">
                <a16:creationId xmlns:a16="http://schemas.microsoft.com/office/drawing/2014/main" id="{7F6942A4-157B-B348-EE86-A8A686FE3BF3}"/>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Java as an OOP language Part </a:t>
            </a:r>
            <a:r>
              <a:rPr lang="en-US" sz="1100" noProof="0" dirty="0">
                <a:solidFill>
                  <a:prstClr val="black"/>
                </a:solidFill>
                <a:latin typeface="Bahnschrift" panose="020B0502040204020203" pitchFamily="34" charset="0"/>
              </a:rPr>
              <a:t>D</a:t>
            </a:r>
            <a:endParaRPr lang="en-US" sz="1100" dirty="0">
              <a:solidFill>
                <a:prstClr val="black"/>
              </a:solidFill>
              <a:latin typeface="Bahnschrift" panose="020B0502040204020203" pitchFamily="34" charset="0"/>
            </a:endParaRPr>
          </a:p>
        </p:txBody>
      </p:sp>
      <p:sp>
        <p:nvSpPr>
          <p:cNvPr id="3" name="Rectangle 3">
            <a:extLst>
              <a:ext uri="{FF2B5EF4-FFF2-40B4-BE49-F238E27FC236}">
                <a16:creationId xmlns:a16="http://schemas.microsoft.com/office/drawing/2014/main" id="{B1B9835C-072C-9190-B85B-E401BF75FA68}"/>
              </a:ext>
            </a:extLst>
          </p:cNvPr>
          <p:cNvSpPr txBox="1">
            <a:spLocks noChangeArrowheads="1"/>
          </p:cNvSpPr>
          <p:nvPr/>
        </p:nvSpPr>
        <p:spPr bwMode="auto">
          <a:xfrm>
            <a:off x="84139" y="857406"/>
            <a:ext cx="8534400" cy="353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3600" b="0" i="0" u="none" strike="noStrike" kern="0" cap="none" spc="0" normalizeH="0" baseline="0" noProof="0" dirty="0">
                <a:ln>
                  <a:noFill/>
                </a:ln>
                <a:solidFill>
                  <a:srgbClr val="000000"/>
                </a:solidFill>
                <a:effectLst/>
                <a:uLnTx/>
                <a:uFillTx/>
                <a:latin typeface="Tahoma"/>
                <a:ea typeface="+mn-ea"/>
                <a:cs typeface="+mn-cs"/>
              </a:rPr>
              <a:t>ευθύνη του προγραμματιστή</a:t>
            </a:r>
            <a:endParaRPr kumimoji="0" lang="el-GR" altLang="el-GR" sz="4000" b="0" i="0" u="none" strike="noStrike" kern="0" cap="none" spc="0" normalizeH="0" baseline="0" noProof="0" dirty="0">
              <a:ln>
                <a:noFill/>
              </a:ln>
              <a:solidFill>
                <a:srgbClr val="000000"/>
              </a:solidFill>
              <a:effectLst/>
              <a:uLnTx/>
              <a:uFillTx/>
              <a:latin typeface="Tahoma"/>
              <a:ea typeface="+mn-ea"/>
              <a:cs typeface="+mn-cs"/>
            </a:endParaRP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l-GR" altLang="el-GR" sz="2800" b="0" i="0" u="none" strike="noStrike" kern="0" cap="none" spc="0" normalizeH="0" baseline="0" noProof="0" dirty="0">
                <a:ln>
                  <a:noFill/>
                </a:ln>
                <a:solidFill>
                  <a:srgbClr val="000000"/>
                </a:solidFill>
                <a:effectLst/>
                <a:uLnTx/>
                <a:uFillTx/>
                <a:latin typeface="Tahoma"/>
              </a:rPr>
              <a:t>μηχανιστική διαδικασία, </a:t>
            </a:r>
            <a:endParaRPr kumimoji="0" lang="en-US" altLang="el-GR" sz="2800" b="0" i="0" u="none" strike="noStrike" kern="0" cap="none" spc="0" normalizeH="0" baseline="0" noProof="0" dirty="0">
              <a:ln>
                <a:noFill/>
              </a:ln>
              <a:solidFill>
                <a:srgbClr val="000000"/>
              </a:solidFill>
              <a:effectLst/>
              <a:uLnTx/>
              <a:uFillTx/>
              <a:latin typeface="Tahoma"/>
            </a:endParaRPr>
          </a:p>
          <a:p>
            <a:pPr marL="1143000" marR="0" lvl="2" indent="-228600" algn="l" defTabSz="914400" rtl="0" eaLnBrk="1" fontAlgn="base" latinLnBrk="0" hangingPunct="1">
              <a:lnSpc>
                <a:spcPct val="100000"/>
              </a:lnSpc>
              <a:spcBef>
                <a:spcPct val="20000"/>
              </a:spcBef>
              <a:spcAft>
                <a:spcPct val="0"/>
              </a:spcAft>
              <a:buClr>
                <a:srgbClr val="3333CC"/>
              </a:buClr>
              <a:buSzPct val="50000"/>
              <a:buFont typeface="Wingdings" panose="05000000000000000000" pitchFamily="2" charset="2"/>
              <a:buChar char="n"/>
              <a:tabLst/>
              <a:defRPr/>
            </a:pPr>
            <a:r>
              <a:rPr kumimoji="0" lang="en-US" altLang="el-GR" sz="2400" b="0" i="0" u="none" strike="noStrike" kern="0" cap="none" spc="0" normalizeH="0" baseline="0" noProof="0" dirty="0">
                <a:ln>
                  <a:noFill/>
                </a:ln>
                <a:solidFill>
                  <a:srgbClr val="000000"/>
                </a:solidFill>
                <a:effectLst/>
                <a:uLnTx/>
                <a:uFillTx/>
                <a:latin typeface="Tahoma"/>
              </a:rPr>
              <a:t>malloc/free</a:t>
            </a:r>
          </a:p>
          <a:p>
            <a:pPr marL="1143000" marR="0" lvl="2" indent="-228600" algn="l" defTabSz="914400" rtl="0" eaLnBrk="1" fontAlgn="base" latinLnBrk="0" hangingPunct="1">
              <a:lnSpc>
                <a:spcPct val="100000"/>
              </a:lnSpc>
              <a:spcBef>
                <a:spcPct val="20000"/>
              </a:spcBef>
              <a:spcAft>
                <a:spcPct val="0"/>
              </a:spcAft>
              <a:buClr>
                <a:srgbClr val="3333CC"/>
              </a:buClr>
              <a:buSzPct val="50000"/>
              <a:buFont typeface="Wingdings" panose="05000000000000000000" pitchFamily="2" charset="2"/>
              <a:buChar char="n"/>
              <a:tabLst/>
              <a:defRPr/>
            </a:pPr>
            <a:r>
              <a:rPr kumimoji="0" lang="el-GR" altLang="el-GR" sz="2400" b="0" i="0" u="none" strike="noStrike" kern="0" cap="none" spc="0" normalizeH="0" baseline="0" noProof="0" dirty="0">
                <a:ln>
                  <a:noFill/>
                </a:ln>
                <a:solidFill>
                  <a:srgbClr val="000000"/>
                </a:solidFill>
                <a:effectLst/>
                <a:uLnTx/>
                <a:uFillTx/>
                <a:latin typeface="Tahoma"/>
              </a:rPr>
              <a:t>new/delete</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l-GR" altLang="el-GR" sz="2800" b="0" i="0" u="none" strike="noStrike" kern="0" cap="none" spc="0" normalizeH="0" baseline="0" noProof="0" dirty="0">
                <a:ln>
                  <a:noFill/>
                </a:ln>
                <a:solidFill>
                  <a:srgbClr val="000000"/>
                </a:solidFill>
                <a:effectLst/>
                <a:uLnTx/>
                <a:uFillTx/>
                <a:latin typeface="Tahoma"/>
              </a:rPr>
              <a:t>επιρρεπής σε (καταστροφικά) σφάλματα</a:t>
            </a:r>
            <a:endParaRPr kumimoji="0" lang="en-US" altLang="el-GR" sz="2800" b="0" i="0" u="none" strike="noStrike" kern="0" cap="none" spc="0" normalizeH="0" baseline="0" noProof="0" dirty="0">
              <a:ln>
                <a:noFill/>
              </a:ln>
              <a:solidFill>
                <a:srgbClr val="000000"/>
              </a:solidFill>
              <a:effectLst/>
              <a:uLnTx/>
              <a:uFillTx/>
              <a:latin typeface="Tahoma"/>
            </a:endParaRPr>
          </a:p>
          <a:p>
            <a:pPr marL="1143000" marR="0" lvl="2" indent="-228600" algn="l" defTabSz="914400" rtl="0" eaLnBrk="1" fontAlgn="base" latinLnBrk="0" hangingPunct="1">
              <a:lnSpc>
                <a:spcPct val="100000"/>
              </a:lnSpc>
              <a:spcBef>
                <a:spcPct val="20000"/>
              </a:spcBef>
              <a:spcAft>
                <a:spcPct val="0"/>
              </a:spcAft>
              <a:buClr>
                <a:srgbClr val="3333CC"/>
              </a:buClr>
              <a:buSzPct val="50000"/>
              <a:buFont typeface="Wingdings" panose="05000000000000000000" pitchFamily="2" charset="2"/>
              <a:buChar char="n"/>
              <a:tabLst/>
              <a:defRPr/>
            </a:pPr>
            <a:r>
              <a:rPr kumimoji="0" lang="en-US" altLang="el-GR" sz="2400" b="0" i="0" u="none" strike="noStrike" kern="0" cap="none" spc="0" normalizeH="0" baseline="0" noProof="0" dirty="0">
                <a:ln>
                  <a:noFill/>
                </a:ln>
                <a:solidFill>
                  <a:srgbClr val="000000"/>
                </a:solidFill>
                <a:effectLst/>
                <a:uLnTx/>
                <a:uFillTx/>
                <a:latin typeface="Tahoma"/>
              </a:rPr>
              <a:t>?</a:t>
            </a:r>
            <a:endParaRPr kumimoji="0" lang="el-GR" altLang="el-GR" sz="2400" b="0" i="0" u="none" strike="noStrike" kern="0" cap="none" spc="0" normalizeH="0" baseline="0" noProof="0" dirty="0">
              <a:ln>
                <a:noFill/>
              </a:ln>
              <a:solidFill>
                <a:srgbClr val="000000"/>
              </a:solidFill>
              <a:effectLst/>
              <a:uLnTx/>
              <a:uFillTx/>
              <a:latin typeface="Tahoma"/>
            </a:endParaRPr>
          </a:p>
        </p:txBody>
      </p:sp>
      <p:pic>
        <p:nvPicPr>
          <p:cNvPr id="5" name="Picture 4" descr="PAGoodys003">
            <a:extLst>
              <a:ext uri="{FF2B5EF4-FFF2-40B4-BE49-F238E27FC236}">
                <a16:creationId xmlns:a16="http://schemas.microsoft.com/office/drawing/2014/main" id="{BDA153E0-0B62-4CA1-0523-41FDFD3041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4222" y="3606979"/>
            <a:ext cx="3841750"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descr="PAGoodys002">
            <a:extLst>
              <a:ext uri="{FF2B5EF4-FFF2-40B4-BE49-F238E27FC236}">
                <a16:creationId xmlns:a16="http://schemas.microsoft.com/office/drawing/2014/main" id="{4BA05F00-EFDF-21ED-70D3-7616B05C7C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19999" y="29845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AutoShape 4">
            <a:extLst>
              <a:ext uri="{FF2B5EF4-FFF2-40B4-BE49-F238E27FC236}">
                <a16:creationId xmlns:a16="http://schemas.microsoft.com/office/drawing/2014/main" id="{FF364B37-F76E-DF46-6E9F-4FD48C5D5275}"/>
              </a:ext>
            </a:extLst>
          </p:cNvPr>
          <p:cNvSpPr>
            <a:spLocks noChangeArrowheads="1"/>
          </p:cNvSpPr>
          <p:nvPr/>
        </p:nvSpPr>
        <p:spPr bwMode="auto">
          <a:xfrm>
            <a:off x="10018711" y="1485107"/>
            <a:ext cx="2089150" cy="995362"/>
          </a:xfrm>
          <a:prstGeom prst="wedgeRoundRectCallout">
            <a:avLst>
              <a:gd name="adj1" fmla="val -59824"/>
              <a:gd name="adj2" fmla="val 231319"/>
              <a:gd name="adj3" fmla="val 16667"/>
            </a:avLst>
          </a:prstGeom>
          <a:solidFill>
            <a:srgbClr val="FFFFFF"/>
          </a:solidFill>
          <a:ln w="12700" cap="sq">
            <a:solidFill>
              <a:srgbClr val="000000"/>
            </a:solidFill>
            <a:miter lim="800000"/>
            <a:headEnd type="none" w="sm" len="sm"/>
            <a:tailEnd type="none" w="sm" len="sm"/>
          </a:ln>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800" b="1" i="0" u="none" strike="noStrike" kern="0" cap="none" spc="0" normalizeH="0" baseline="0" noProof="0" dirty="0">
                <a:ln>
                  <a:noFill/>
                </a:ln>
                <a:solidFill>
                  <a:srgbClr val="1C1C1C"/>
                </a:solidFill>
                <a:effectLst/>
                <a:uLnTx/>
                <a:uFillTx/>
                <a:latin typeface="Times New Roman" panose="02020603050405020304" pitchFamily="18" charset="0"/>
              </a:rPr>
              <a:t>Memory</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800" b="1" i="0" u="none" strike="noStrike" kern="0" cap="none" spc="0" normalizeH="0" baseline="0" noProof="0" dirty="0">
                <a:ln>
                  <a:noFill/>
                </a:ln>
                <a:solidFill>
                  <a:srgbClr val="1C1C1C"/>
                </a:solidFill>
                <a:effectLst/>
                <a:uLnTx/>
                <a:uFillTx/>
                <a:latin typeface="Times New Roman" panose="02020603050405020304" pitchFamily="18" charset="0"/>
              </a:rPr>
              <a:t>leaks</a:t>
            </a:r>
            <a:endParaRPr kumimoji="0" lang="en-GB" altLang="el-GR" sz="2800" b="1" i="0" u="none" strike="noStrike" kern="0" cap="none" spc="0" normalizeH="0" baseline="0" noProof="0" dirty="0">
              <a:ln>
                <a:noFill/>
              </a:ln>
              <a:solidFill>
                <a:srgbClr val="1C1C1C"/>
              </a:solidFill>
              <a:effectLst/>
              <a:uLnTx/>
              <a:uFillTx/>
              <a:latin typeface="Times New Roman" panose="02020603050405020304" pitchFamily="18" charset="0"/>
            </a:endParaRPr>
          </a:p>
        </p:txBody>
      </p:sp>
    </p:spTree>
    <p:extLst>
      <p:ext uri="{BB962C8B-B14F-4D97-AF65-F5344CB8AC3E}">
        <p14:creationId xmlns:p14="http://schemas.microsoft.com/office/powerpoint/2010/main" val="305222661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dissolve">
                                      <p:cBhvr>
                                        <p:cTn id="21" dur="500"/>
                                        <p:tgtEl>
                                          <p:spTgt spid="3">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3">
                                            <p:txEl>
                                              <p:pRg st="1" end="1"/>
                                            </p:txEl>
                                          </p:spTgt>
                                        </p:tgtEl>
                                        <p:attrNameLst>
                                          <p:attrName>style.visibility</p:attrName>
                                        </p:attrNameLst>
                                      </p:cBhvr>
                                      <p:to>
                                        <p:strVal val="visible"/>
                                      </p:to>
                                    </p:set>
                                    <p:animEffect transition="in" filter="dissolve">
                                      <p:cBhvr>
                                        <p:cTn id="26" dur="500"/>
                                        <p:tgtEl>
                                          <p:spTgt spid="3">
                                            <p:txEl>
                                              <p:pRg st="1" end="1"/>
                                            </p:txEl>
                                          </p:spTgt>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dissolve">
                                      <p:cBhvr>
                                        <p:cTn id="29" dur="500"/>
                                        <p:tgtEl>
                                          <p:spTgt spid="3">
                                            <p:txEl>
                                              <p:pRg st="2" end="2"/>
                                            </p:txEl>
                                          </p:spTgt>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dissolve">
                                      <p:cBhvr>
                                        <p:cTn id="32" dur="5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dissolve">
                                      <p:cBhvr>
                                        <p:cTn id="37" dur="500"/>
                                        <p:tgtEl>
                                          <p:spTgt spid="3">
                                            <p:txEl>
                                              <p:pRg st="4" end="4"/>
                                            </p:txEl>
                                          </p:spTgt>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dissolve">
                                      <p:cBhvr>
                                        <p:cTn id="4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autoUpdateAnimBg="0"/>
      <p:bldP spid="9" grpId="0" animBg="1"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Πως αντιμετωπίζεται;  </a:t>
            </a:r>
            <a:r>
              <a:rPr lang="en-GB" sz="4000" b="1" dirty="0">
                <a:solidFill>
                  <a:srgbClr val="F9853D"/>
                </a:solidFill>
                <a:latin typeface="Bahnschrift" panose="020B0502040204020203" pitchFamily="34" charset="0"/>
              </a:rPr>
              <a:t>Goody’s vs. C/C++</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4" name="Θέση υποσέλιδου 4">
            <a:extLst>
              <a:ext uri="{FF2B5EF4-FFF2-40B4-BE49-F238E27FC236}">
                <a16:creationId xmlns:a16="http://schemas.microsoft.com/office/drawing/2014/main" id="{7F6942A4-157B-B348-EE86-A8A686FE3BF3}"/>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Java as an OOP language Part </a:t>
            </a:r>
            <a:r>
              <a:rPr lang="en-US" sz="1100" noProof="0" dirty="0">
                <a:solidFill>
                  <a:prstClr val="black"/>
                </a:solidFill>
                <a:latin typeface="Bahnschrift" panose="020B0502040204020203" pitchFamily="34" charset="0"/>
              </a:rPr>
              <a:t>D</a:t>
            </a:r>
            <a:endParaRPr lang="en-US" sz="1100" dirty="0">
              <a:solidFill>
                <a:prstClr val="black"/>
              </a:solidFill>
              <a:latin typeface="Bahnschrift" panose="020B0502040204020203" pitchFamily="34" charset="0"/>
            </a:endParaRPr>
          </a:p>
        </p:txBody>
      </p:sp>
      <p:pic>
        <p:nvPicPr>
          <p:cNvPr id="7" name="Picture 5" descr="PAGoodys002">
            <a:extLst>
              <a:ext uri="{FF2B5EF4-FFF2-40B4-BE49-F238E27FC236}">
                <a16:creationId xmlns:a16="http://schemas.microsoft.com/office/drawing/2014/main" id="{4BA05F00-EFDF-21ED-70D3-7616B05C7C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9999" y="29845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AutoShape 4">
            <a:extLst>
              <a:ext uri="{FF2B5EF4-FFF2-40B4-BE49-F238E27FC236}">
                <a16:creationId xmlns:a16="http://schemas.microsoft.com/office/drawing/2014/main" id="{FF364B37-F76E-DF46-6E9F-4FD48C5D5275}"/>
              </a:ext>
            </a:extLst>
          </p:cNvPr>
          <p:cNvSpPr>
            <a:spLocks noChangeArrowheads="1"/>
          </p:cNvSpPr>
          <p:nvPr/>
        </p:nvSpPr>
        <p:spPr bwMode="auto">
          <a:xfrm>
            <a:off x="10018711" y="1485107"/>
            <a:ext cx="2089150" cy="995362"/>
          </a:xfrm>
          <a:prstGeom prst="wedgeRoundRectCallout">
            <a:avLst>
              <a:gd name="adj1" fmla="val -59824"/>
              <a:gd name="adj2" fmla="val 231319"/>
              <a:gd name="adj3" fmla="val 16667"/>
            </a:avLst>
          </a:prstGeom>
          <a:solidFill>
            <a:srgbClr val="FFFFFF"/>
          </a:solidFill>
          <a:ln w="12700" cap="sq">
            <a:solidFill>
              <a:srgbClr val="000000"/>
            </a:solidFill>
            <a:miter lim="800000"/>
            <a:headEnd type="none" w="sm" len="sm"/>
            <a:tailEnd type="none" w="sm" len="sm"/>
          </a:ln>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800" b="1" i="0" u="none" strike="noStrike" kern="0" cap="none" spc="0" normalizeH="0" baseline="0" noProof="0" dirty="0">
                <a:ln>
                  <a:noFill/>
                </a:ln>
                <a:solidFill>
                  <a:srgbClr val="1C1C1C"/>
                </a:solidFill>
                <a:effectLst/>
                <a:uLnTx/>
                <a:uFillTx/>
                <a:latin typeface="Times New Roman" panose="02020603050405020304" pitchFamily="18" charset="0"/>
              </a:rPr>
              <a:t>Memory</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800" b="1" i="0" u="none" strike="noStrike" kern="0" cap="none" spc="0" normalizeH="0" baseline="0" noProof="0" dirty="0">
                <a:ln>
                  <a:noFill/>
                </a:ln>
                <a:solidFill>
                  <a:srgbClr val="1C1C1C"/>
                </a:solidFill>
                <a:effectLst/>
                <a:uLnTx/>
                <a:uFillTx/>
                <a:latin typeface="Times New Roman" panose="02020603050405020304" pitchFamily="18" charset="0"/>
              </a:rPr>
              <a:t>leaks</a:t>
            </a:r>
            <a:endParaRPr kumimoji="0" lang="en-GB" altLang="el-GR" sz="2800" b="1" i="0" u="none" strike="noStrike" kern="0" cap="none" spc="0" normalizeH="0" baseline="0" noProof="0" dirty="0">
              <a:ln>
                <a:noFill/>
              </a:ln>
              <a:solidFill>
                <a:srgbClr val="1C1C1C"/>
              </a:solidFill>
              <a:effectLst/>
              <a:uLnTx/>
              <a:uFillTx/>
              <a:latin typeface="Times New Roman" panose="02020603050405020304" pitchFamily="18" charset="0"/>
            </a:endParaRPr>
          </a:p>
        </p:txBody>
      </p:sp>
      <p:pic>
        <p:nvPicPr>
          <p:cNvPr id="6" name="Picture 1027">
            <a:extLst>
              <a:ext uri="{FF2B5EF4-FFF2-40B4-BE49-F238E27FC236}">
                <a16:creationId xmlns:a16="http://schemas.microsoft.com/office/drawing/2014/main" id="{0EB8AC99-0D03-D05C-CB52-AC827D5C63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650" y="1334674"/>
            <a:ext cx="7086600" cy="446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
        <p:nvSpPr>
          <p:cNvPr id="12" name="AutoShape 1028">
            <a:extLst>
              <a:ext uri="{FF2B5EF4-FFF2-40B4-BE49-F238E27FC236}">
                <a16:creationId xmlns:a16="http://schemas.microsoft.com/office/drawing/2014/main" id="{2DFAF8E5-3DA5-B1E2-608A-3FFE68202C12}"/>
              </a:ext>
            </a:extLst>
          </p:cNvPr>
          <p:cNvSpPr>
            <a:spLocks noChangeArrowheads="1"/>
          </p:cNvSpPr>
          <p:nvPr/>
        </p:nvSpPr>
        <p:spPr bwMode="auto">
          <a:xfrm>
            <a:off x="5734050" y="725074"/>
            <a:ext cx="2819400" cy="1447800"/>
          </a:xfrm>
          <a:prstGeom prst="wedgeRoundRectCallout">
            <a:avLst>
              <a:gd name="adj1" fmla="val -94199"/>
              <a:gd name="adj2" fmla="val 71602"/>
              <a:gd name="adj3" fmla="val 16667"/>
            </a:avLst>
          </a:prstGeom>
          <a:solidFill>
            <a:srgbClr val="FFFFFF"/>
          </a:solidFill>
          <a:ln w="12700" cap="sq">
            <a:solidFill>
              <a:srgbClr val="000000"/>
            </a:solidFill>
            <a:miter lim="800000"/>
            <a:headEnd type="none" w="sm" len="sm"/>
            <a:tailEnd type="none" w="sm" len="sm"/>
          </a:ln>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800" b="1" i="0" u="none" strike="noStrike" kern="0" cap="none" spc="0" normalizeH="0" baseline="0" noProof="0">
                <a:ln>
                  <a:noFill/>
                </a:ln>
                <a:solidFill>
                  <a:srgbClr val="1C1C1C"/>
                </a:solidFill>
                <a:effectLst/>
                <a:uLnTx/>
                <a:uFillTx/>
                <a:latin typeface="Times New Roman" panose="02020603050405020304" pitchFamily="18" charset="0"/>
              </a:rPr>
              <a:t>Garbage</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800" b="1" i="0" u="none" strike="noStrike" kern="0" cap="none" spc="0" normalizeH="0" baseline="0" noProof="0">
                <a:ln>
                  <a:noFill/>
                </a:ln>
                <a:solidFill>
                  <a:srgbClr val="1C1C1C"/>
                </a:solidFill>
                <a:effectLst/>
                <a:uLnTx/>
                <a:uFillTx/>
                <a:latin typeface="Times New Roman" panose="02020603050405020304" pitchFamily="18" charset="0"/>
              </a:rPr>
              <a:t>Collector in action</a:t>
            </a:r>
            <a:endParaRPr kumimoji="0" lang="en-GB" altLang="el-GR" sz="2800" b="1" i="0" u="none" strike="noStrike" kern="0" cap="none" spc="0" normalizeH="0" baseline="0" noProof="0">
              <a:ln>
                <a:noFill/>
              </a:ln>
              <a:solidFill>
                <a:srgbClr val="1C1C1C"/>
              </a:solidFill>
              <a:effectLst/>
              <a:uLnTx/>
              <a:uFillTx/>
              <a:latin typeface="Times New Roman" panose="02020603050405020304" pitchFamily="18" charset="0"/>
            </a:endParaRPr>
          </a:p>
        </p:txBody>
      </p:sp>
    </p:spTree>
    <p:extLst>
      <p:ext uri="{BB962C8B-B14F-4D97-AF65-F5344CB8AC3E}">
        <p14:creationId xmlns:p14="http://schemas.microsoft.com/office/powerpoint/2010/main" val="408195397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9" presetClass="entr" presetSubtype="10" fill="hold" grpId="0" nodeType="after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0" fill="hold"/>
                                        <p:tgtEl>
                                          <p:spTgt spid="12"/>
                                        </p:tgtEl>
                                        <p:attrNameLst>
                                          <p:attrName>ppt_w</p:attrName>
                                        </p:attrNameLst>
                                      </p:cBhvr>
                                      <p:tavLst>
                                        <p:tav tm="0" fmla="#ppt_w*sin(2.5*pi*$)">
                                          <p:val>
                                            <p:fltVal val="0"/>
                                          </p:val>
                                        </p:tav>
                                        <p:tav tm="100000">
                                          <p:val>
                                            <p:fltVal val="1"/>
                                          </p:val>
                                        </p:tav>
                                      </p:tavLst>
                                    </p:anim>
                                    <p:anim calcmode="lin" valueType="num">
                                      <p:cBhvr>
                                        <p:cTn id="13" dur="5000" fill="hold"/>
                                        <p:tgtEl>
                                          <p:spTgt spid="1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garbage collection</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4" name="Θέση υποσέλιδου 4">
            <a:extLst>
              <a:ext uri="{FF2B5EF4-FFF2-40B4-BE49-F238E27FC236}">
                <a16:creationId xmlns:a16="http://schemas.microsoft.com/office/drawing/2014/main" id="{7F6942A4-157B-B348-EE86-A8A686FE3BF3}"/>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Java as an OOP language Part </a:t>
            </a:r>
            <a:r>
              <a:rPr lang="en-US" sz="1100" dirty="0">
                <a:solidFill>
                  <a:prstClr val="black"/>
                </a:solidFill>
                <a:latin typeface="Bahnschrift" panose="020B0502040204020203" pitchFamily="34" charset="0"/>
              </a:rPr>
              <a:t>D</a:t>
            </a:r>
          </a:p>
        </p:txBody>
      </p:sp>
      <p:sp>
        <p:nvSpPr>
          <p:cNvPr id="5" name="Rectangle 1027">
            <a:extLst>
              <a:ext uri="{FF2B5EF4-FFF2-40B4-BE49-F238E27FC236}">
                <a16:creationId xmlns:a16="http://schemas.microsoft.com/office/drawing/2014/main" id="{A85E05B5-BCBE-7262-061A-C5D6EB0F5CD3}"/>
              </a:ext>
            </a:extLst>
          </p:cNvPr>
          <p:cNvSpPr txBox="1">
            <a:spLocks noChangeArrowheads="1"/>
          </p:cNvSpPr>
          <p:nvPr/>
        </p:nvSpPr>
        <p:spPr bwMode="auto">
          <a:xfrm>
            <a:off x="140669" y="977484"/>
            <a:ext cx="11144250" cy="528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3200" b="0" i="0" u="none" strike="noStrike" kern="0" cap="none" spc="0" normalizeH="0" baseline="0" noProof="0" dirty="0">
                <a:ln>
                  <a:noFill/>
                </a:ln>
                <a:solidFill>
                  <a:srgbClr val="FF0000"/>
                </a:solidFill>
                <a:effectLst/>
                <a:uLnTx/>
                <a:uFillTx/>
                <a:latin typeface="Tahoma"/>
                <a:ea typeface="+mn-ea"/>
                <a:cs typeface="+mn-cs"/>
              </a:rPr>
              <a:t>είναι</a:t>
            </a:r>
            <a:endParaRPr kumimoji="0" lang="el-GR" altLang="el-GR" sz="2800" b="0" i="0" u="none" strike="noStrike" kern="0" cap="none" spc="0" normalizeH="0" baseline="0" noProof="0" dirty="0">
              <a:ln>
                <a:noFill/>
              </a:ln>
              <a:solidFill>
                <a:srgbClr val="FF0000"/>
              </a:solidFill>
              <a:effectLst/>
              <a:uLnTx/>
              <a:uFillTx/>
              <a:latin typeface="Tahoma"/>
              <a:ea typeface="+mn-ea"/>
              <a:cs typeface="+mn-cs"/>
            </a:endParaRP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l-GR" altLang="el-GR" sz="2400" b="0" i="0" u="none" strike="noStrike" kern="0" cap="none" spc="0" normalizeH="0" baseline="0" noProof="0" dirty="0">
                <a:ln>
                  <a:noFill/>
                </a:ln>
                <a:solidFill>
                  <a:srgbClr val="000000"/>
                </a:solidFill>
                <a:effectLst/>
                <a:uLnTx/>
                <a:uFillTx/>
                <a:latin typeface="Tahoma"/>
              </a:rPr>
              <a:t>Ο μηχανισμός που αναλαμβάνει τη  διαγραφή των αντικείμενων αφού προσδιορίσει ότι αυτά δεν χρησιμοποιούνται πλέον.</a:t>
            </a:r>
            <a:endParaRPr kumimoji="0" lang="en-US" altLang="el-GR" sz="2400" b="0" i="0" u="none" strike="noStrike" kern="0" cap="none" spc="0" normalizeH="0" baseline="0" noProof="0" dirty="0">
              <a:ln>
                <a:noFill/>
              </a:ln>
              <a:solidFill>
                <a:srgbClr val="000000"/>
              </a:solidFill>
              <a:effectLst/>
              <a:uLnTx/>
              <a:uFillTx/>
              <a:latin typeface="Tahoma"/>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2800" b="1" i="0" u="none" strike="noStrike" kern="0" cap="none" spc="0" normalizeH="0" baseline="0" noProof="0" dirty="0">
                <a:ln>
                  <a:noFill/>
                </a:ln>
                <a:solidFill>
                  <a:srgbClr val="000000"/>
                </a:solidFill>
                <a:effectLst/>
                <a:uLnTx/>
                <a:uFillTx/>
                <a:latin typeface="Tahoma"/>
                <a:ea typeface="+mn-ea"/>
                <a:cs typeface="+mn-cs"/>
              </a:rPr>
              <a:t>Java, Lisp, …</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l-GR" altLang="el-GR" sz="3200" b="0" i="0" u="none" strike="noStrike" kern="0" cap="none" spc="0" normalizeH="0" baseline="0" noProof="0" dirty="0">
                <a:ln>
                  <a:noFill/>
                </a:ln>
                <a:solidFill>
                  <a:srgbClr val="FF0000"/>
                </a:solidFill>
                <a:effectLst/>
                <a:uLnTx/>
                <a:uFillTx/>
                <a:latin typeface="Tahoma"/>
              </a:rPr>
              <a:t>αυτοματοποιημένη διαδικασία</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n-US" altLang="el-GR" sz="2400" b="0" i="0" u="none" strike="noStrike" kern="0" cap="none" spc="0" normalizeH="0" baseline="0" noProof="0" dirty="0">
                <a:ln>
                  <a:noFill/>
                </a:ln>
                <a:solidFill>
                  <a:srgbClr val="000000"/>
                </a:solidFill>
                <a:effectLst/>
                <a:uLnTx/>
                <a:uFillTx/>
                <a:latin typeface="Tahoma"/>
              </a:rPr>
              <a:t>“The Java language may be the most widely used programming language to rely on garbage collection, but it is by no means the first. Garbage collection has been an integral part of many programming languages, including Lisp, Smalltalk, Eiffel, Haskell, ML, Scheme, and Modula-3, and has been in use since the early 1960s.” IBM</a:t>
            </a:r>
            <a:endParaRPr kumimoji="0" lang="el-GR" altLang="el-GR" sz="2400" b="0" i="0" u="none" strike="noStrike" kern="0" cap="none" spc="0" normalizeH="0" baseline="0" noProof="0" dirty="0">
              <a:ln>
                <a:noFill/>
              </a:ln>
              <a:solidFill>
                <a:srgbClr val="000000"/>
              </a:solidFill>
              <a:effectLst/>
              <a:uLnTx/>
              <a:uFillTx/>
              <a:latin typeface="Tahoma"/>
            </a:endParaRP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endParaRPr kumimoji="0" lang="el-GR" altLang="el-GR" sz="2400" b="0" i="0" u="none" strike="noStrike" kern="0" cap="none" spc="0" normalizeH="0" baseline="0" noProof="0" dirty="0">
              <a:ln>
                <a:noFill/>
              </a:ln>
              <a:solidFill>
                <a:srgbClr val="000000"/>
              </a:solidFill>
              <a:effectLst/>
              <a:uLnTx/>
              <a:uFillTx/>
              <a:latin typeface="Tahoma"/>
            </a:endParaRPr>
          </a:p>
        </p:txBody>
      </p:sp>
      <p:sp>
        <p:nvSpPr>
          <p:cNvPr id="3" name="TextBox 2">
            <a:extLst>
              <a:ext uri="{FF2B5EF4-FFF2-40B4-BE49-F238E27FC236}">
                <a16:creationId xmlns:a16="http://schemas.microsoft.com/office/drawing/2014/main" id="{5B6A337C-4CA8-9669-A42C-C82DDDC9DF38}"/>
              </a:ext>
            </a:extLst>
          </p:cNvPr>
          <p:cNvSpPr txBox="1">
            <a:spLocks noChangeArrowheads="1"/>
          </p:cNvSpPr>
          <p:nvPr/>
        </p:nvSpPr>
        <p:spPr bwMode="auto">
          <a:xfrm>
            <a:off x="5329781" y="5460344"/>
            <a:ext cx="7358062" cy="141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most common techniques for garbage collection </a:t>
            </a:r>
            <a:r>
              <a:rPr kumimoji="0" lang="en-US" altLang="el-GR" sz="1600" b="0" i="0" u="none" strike="noStrike" kern="0" cap="none" spc="0" normalizeH="0" baseline="0" noProof="0" dirty="0">
                <a:ln>
                  <a:noFill/>
                </a:ln>
                <a:solidFill>
                  <a:srgbClr val="000000"/>
                </a:solidFill>
                <a:effectLst/>
                <a:uLnTx/>
                <a:uFillTx/>
                <a:latin typeface="Tahoma" panose="020B0604030504040204" pitchFamily="34" charset="0"/>
                <a:hlinkClick r:id="rId3"/>
              </a:rPr>
              <a:t>http://www.ibm.com/developerworks/java/library/j-jtp10283/</a:t>
            </a:r>
            <a:endPar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400" b="1" i="0" u="none" strike="noStrike" kern="0" cap="none" spc="0" normalizeH="0" baseline="0" noProof="0" dirty="0">
                <a:ln>
                  <a:noFill/>
                </a:ln>
                <a:solidFill>
                  <a:srgbClr val="000000"/>
                </a:solidFill>
                <a:effectLst/>
                <a:uLnTx/>
                <a:uFillTx/>
                <a:latin typeface="Tahoma" panose="020B0604030504040204" pitchFamily="34" charset="0"/>
              </a:rPr>
              <a:t>Java Garbage Collection Basics</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400" b="0" i="0" u="none" strike="noStrike" kern="0" cap="none" spc="0" normalizeH="0" baseline="0" noProof="0" dirty="0">
                <a:ln>
                  <a:noFill/>
                </a:ln>
                <a:solidFill>
                  <a:srgbClr val="000000"/>
                </a:solidFill>
                <a:effectLst/>
                <a:uLnTx/>
                <a:uFillTx/>
                <a:latin typeface="Tahoma" panose="020B0604030504040204" pitchFamily="34" charset="0"/>
                <a:hlinkClick r:id="rId4"/>
              </a:rPr>
              <a:t>http://www.oracle.com/webfolder/technetwork/tutorials/obe/java/gc01/index.html</a:t>
            </a:r>
            <a:endParaRPr kumimoji="0" lang="en-US" altLang="el-GR" sz="1400" b="0" i="0" u="none" strike="noStrike" kern="0" cap="none" spc="0" normalizeH="0" baseline="0" noProof="0" dirty="0">
              <a:ln>
                <a:noFill/>
              </a:ln>
              <a:solidFill>
                <a:srgbClr val="000000"/>
              </a:solidFill>
              <a:effectLst/>
              <a:uLnTx/>
              <a:uFillTx/>
              <a:latin typeface="Tahoma" panose="020B060403050404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endParaRPr>
          </a:p>
        </p:txBody>
      </p:sp>
    </p:spTree>
    <p:extLst>
      <p:ext uri="{BB962C8B-B14F-4D97-AF65-F5344CB8AC3E}">
        <p14:creationId xmlns:p14="http://schemas.microsoft.com/office/powerpoint/2010/main" val="28432946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dissolv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dissolv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dissolv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dissolv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checkerboard(across)">
                                      <p:cBhvr>
                                        <p:cTn id="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2" autoUpdateAnimBg="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strategies for garbage collection</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4" name="Θέση υποσέλιδου 4">
            <a:extLst>
              <a:ext uri="{FF2B5EF4-FFF2-40B4-BE49-F238E27FC236}">
                <a16:creationId xmlns:a16="http://schemas.microsoft.com/office/drawing/2014/main" id="{7F6942A4-157B-B348-EE86-A8A686FE3BF3}"/>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Java as an OOP language Part D</a:t>
            </a:r>
            <a:endParaRPr lang="en-US" sz="1100" dirty="0">
              <a:solidFill>
                <a:prstClr val="black"/>
              </a:solidFill>
              <a:latin typeface="Bahnschrift" panose="020B0502040204020203" pitchFamily="34" charset="0"/>
            </a:endParaRPr>
          </a:p>
        </p:txBody>
      </p:sp>
      <p:sp>
        <p:nvSpPr>
          <p:cNvPr id="5" name="Rectangle 3">
            <a:extLst>
              <a:ext uri="{FF2B5EF4-FFF2-40B4-BE49-F238E27FC236}">
                <a16:creationId xmlns:a16="http://schemas.microsoft.com/office/drawing/2014/main" id="{64E5D48B-5921-3714-8C80-0B6CA7343666}"/>
              </a:ext>
            </a:extLst>
          </p:cNvPr>
          <p:cNvSpPr txBox="1">
            <a:spLocks noChangeArrowheads="1"/>
          </p:cNvSpPr>
          <p:nvPr/>
        </p:nvSpPr>
        <p:spPr bwMode="auto">
          <a:xfrm>
            <a:off x="0" y="1052513"/>
            <a:ext cx="12191998" cy="5190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2400" b="0" i="0" u="none" strike="noStrike" kern="0" cap="none" spc="0" normalizeH="0" baseline="0" noProof="0" dirty="0">
                <a:ln>
                  <a:noFill/>
                </a:ln>
                <a:solidFill>
                  <a:srgbClr val="000000"/>
                </a:solidFill>
                <a:effectLst/>
                <a:uLnTx/>
                <a:uFillTx/>
                <a:latin typeface="Tahoma"/>
                <a:ea typeface="+mn-ea"/>
                <a:cs typeface="+mn-cs"/>
              </a:rPr>
              <a:t>There are several basic strategies for garbage collection: </a:t>
            </a:r>
            <a:r>
              <a:rPr kumimoji="0" lang="en-US" altLang="el-GR" sz="2400" b="1" i="0" u="none" strike="noStrike" kern="0" cap="none" spc="0" normalizeH="0" baseline="0" noProof="0" dirty="0">
                <a:ln>
                  <a:noFill/>
                </a:ln>
                <a:solidFill>
                  <a:srgbClr val="000000"/>
                </a:solidFill>
                <a:effectLst/>
                <a:uLnTx/>
                <a:uFillTx/>
                <a:latin typeface="Tahoma"/>
                <a:ea typeface="+mn-ea"/>
                <a:cs typeface="+mn-cs"/>
              </a:rPr>
              <a:t>reference counting</a:t>
            </a:r>
            <a:r>
              <a:rPr kumimoji="0" lang="en-US" altLang="el-GR" sz="2400" b="0" i="0" u="none" strike="noStrike" kern="0" cap="none" spc="0" normalizeH="0" baseline="0" noProof="0" dirty="0">
                <a:ln>
                  <a:noFill/>
                </a:ln>
                <a:solidFill>
                  <a:srgbClr val="000000"/>
                </a:solidFill>
                <a:effectLst/>
                <a:uLnTx/>
                <a:uFillTx/>
                <a:latin typeface="Tahoma"/>
                <a:ea typeface="+mn-ea"/>
                <a:cs typeface="+mn-cs"/>
              </a:rPr>
              <a:t>, </a:t>
            </a:r>
            <a:r>
              <a:rPr kumimoji="0" lang="en-US" altLang="el-GR" sz="2400" b="1" i="0" u="none" strike="noStrike" kern="0" cap="none" spc="0" normalizeH="0" baseline="0" noProof="0" dirty="0">
                <a:ln>
                  <a:noFill/>
                </a:ln>
                <a:solidFill>
                  <a:srgbClr val="000000"/>
                </a:solidFill>
                <a:effectLst/>
                <a:uLnTx/>
                <a:uFillTx/>
                <a:latin typeface="Tahoma"/>
                <a:ea typeface="+mn-ea"/>
                <a:cs typeface="+mn-cs"/>
              </a:rPr>
              <a:t>tracing collectors </a:t>
            </a:r>
            <a:r>
              <a:rPr kumimoji="0" lang="en-US" altLang="el-GR" sz="2400" b="0" i="0" u="none" strike="noStrike" kern="0" cap="none" spc="0" normalizeH="0" baseline="0" noProof="0" dirty="0">
                <a:ln>
                  <a:noFill/>
                </a:ln>
                <a:solidFill>
                  <a:srgbClr val="000000"/>
                </a:solidFill>
                <a:effectLst/>
                <a:uLnTx/>
                <a:uFillTx/>
                <a:latin typeface="Tahoma"/>
                <a:ea typeface="+mn-ea"/>
                <a:cs typeface="+mn-cs"/>
              </a:rPr>
              <a:t>(mark-sweep), </a:t>
            </a:r>
            <a:r>
              <a:rPr kumimoji="0" lang="en-US" altLang="el-GR" sz="2400" b="1" i="0" u="none" strike="noStrike" kern="0" cap="none" spc="0" normalizeH="0" baseline="0" noProof="0" dirty="0">
                <a:ln>
                  <a:noFill/>
                </a:ln>
                <a:solidFill>
                  <a:srgbClr val="000000"/>
                </a:solidFill>
                <a:effectLst/>
                <a:uLnTx/>
                <a:uFillTx/>
                <a:latin typeface="Tahoma"/>
                <a:ea typeface="+mn-ea"/>
                <a:cs typeface="+mn-cs"/>
              </a:rPr>
              <a:t>copying</a:t>
            </a:r>
            <a:r>
              <a:rPr kumimoji="0" lang="en-US" altLang="el-GR" sz="2400" b="0" i="0" u="none" strike="noStrike" kern="0" cap="none" spc="0" normalizeH="0" baseline="0" noProof="0" dirty="0">
                <a:ln>
                  <a:noFill/>
                </a:ln>
                <a:solidFill>
                  <a:srgbClr val="000000"/>
                </a:solidFill>
                <a:effectLst/>
                <a:uLnTx/>
                <a:uFillTx/>
                <a:latin typeface="Tahoma"/>
                <a:ea typeface="+mn-ea"/>
                <a:cs typeface="+mn-cs"/>
              </a:rPr>
              <a:t>,..</a:t>
            </a:r>
            <a:endParaRPr kumimoji="0" lang="el-GR" altLang="el-GR" sz="24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2400" b="0" i="0" u="none" strike="noStrike" kern="0" cap="none" spc="0" normalizeH="0" baseline="0" noProof="0" dirty="0">
                <a:ln>
                  <a:noFill/>
                </a:ln>
                <a:solidFill>
                  <a:srgbClr val="002060"/>
                </a:solidFill>
                <a:effectLst/>
                <a:uLnTx/>
                <a:uFillTx/>
                <a:latin typeface="Tahoma"/>
                <a:ea typeface="+mn-ea"/>
                <a:cs typeface="+mn-cs"/>
              </a:rPr>
              <a:t>The </a:t>
            </a:r>
            <a:r>
              <a:rPr kumimoji="0" lang="en-US" altLang="el-GR" sz="2400" b="1" i="0" u="none" strike="noStrike" kern="0" cap="none" spc="0" normalizeH="0" baseline="0" noProof="0" dirty="0">
                <a:ln>
                  <a:noFill/>
                </a:ln>
                <a:solidFill>
                  <a:srgbClr val="002060"/>
                </a:solidFill>
                <a:effectLst/>
                <a:uLnTx/>
                <a:uFillTx/>
                <a:latin typeface="Tahoma"/>
                <a:ea typeface="+mn-ea"/>
                <a:cs typeface="+mn-cs"/>
              </a:rPr>
              <a:t>mark-and-sweep algorithm </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anose="05000000000000000000" pitchFamily="2" charset="2"/>
              <a:buChar char="n"/>
              <a:tabLst/>
              <a:defRPr/>
            </a:pPr>
            <a:r>
              <a:rPr kumimoji="0" lang="en-US" altLang="el-GR" sz="2000" b="0" i="0" u="none" strike="noStrike" kern="0" cap="none" spc="0" normalizeH="0" baseline="0" noProof="0" dirty="0">
                <a:ln>
                  <a:noFill/>
                </a:ln>
                <a:solidFill>
                  <a:srgbClr val="002060"/>
                </a:solidFill>
                <a:effectLst/>
                <a:uLnTx/>
                <a:uFillTx/>
                <a:latin typeface="Tahoma"/>
              </a:rPr>
              <a:t>was the first garbage collection algorithm to be developed that is able to reclaim cyclic data structures. </a:t>
            </a:r>
          </a:p>
          <a:p>
            <a:pPr marL="457200" marR="0" lvl="1" indent="0" algn="l" defTabSz="914400" rtl="0" eaLnBrk="0" fontAlgn="base" latinLnBrk="0" hangingPunct="0">
              <a:lnSpc>
                <a:spcPct val="100000"/>
              </a:lnSpc>
              <a:spcBef>
                <a:spcPct val="20000"/>
              </a:spcBef>
              <a:spcAft>
                <a:spcPct val="0"/>
              </a:spcAft>
              <a:buClr>
                <a:srgbClr val="FF0000"/>
              </a:buClr>
              <a:buSzPct val="55000"/>
              <a:buFont typeface="Wingdings" panose="05000000000000000000" pitchFamily="2" charset="2"/>
              <a:buNone/>
              <a:tabLst/>
              <a:defRPr/>
            </a:pPr>
            <a:r>
              <a:rPr kumimoji="0" lang="el-GR" altLang="el-GR" sz="2000" b="0" i="0" u="none" strike="noStrike" kern="0" cap="none" spc="0" normalizeH="0" baseline="0" noProof="0" dirty="0">
                <a:ln>
                  <a:noFill/>
                </a:ln>
                <a:solidFill>
                  <a:srgbClr val="000000"/>
                </a:solidFill>
                <a:effectLst/>
                <a:uLnTx/>
                <a:uFillTx/>
                <a:latin typeface="Tahoma"/>
              </a:rPr>
              <a:t>αποτελείται από δύο στάδια:</a:t>
            </a:r>
          </a:p>
          <a:p>
            <a:pPr marL="742950" marR="0" lvl="1" indent="-285750" algn="l" defTabSz="914400" rtl="0" eaLnBrk="0" fontAlgn="base" latinLnBrk="0" hangingPunct="0">
              <a:lnSpc>
                <a:spcPct val="100000"/>
              </a:lnSpc>
              <a:spcBef>
                <a:spcPct val="20000"/>
              </a:spcBef>
              <a:spcAft>
                <a:spcPct val="0"/>
              </a:spcAft>
              <a:buClr>
                <a:srgbClr val="FF0000"/>
              </a:buClr>
              <a:buSzPct val="55000"/>
              <a:buFont typeface="Wingdings" panose="05000000000000000000" pitchFamily="2" charset="2"/>
              <a:buChar char="n"/>
              <a:tabLst/>
              <a:defRPr/>
            </a:pPr>
            <a:r>
              <a:rPr kumimoji="0" lang="el-GR" altLang="el-GR" sz="2000" b="0" i="0" u="none" strike="noStrike" kern="0" cap="none" spc="0" normalizeH="0" baseline="0" noProof="0" dirty="0">
                <a:ln>
                  <a:noFill/>
                </a:ln>
                <a:solidFill>
                  <a:srgbClr val="000000"/>
                </a:solidFill>
                <a:effectLst/>
                <a:uLnTx/>
                <a:uFillTx/>
                <a:latin typeface="Tahoma"/>
              </a:rPr>
              <a:t>Σημειώνονται τα αντικείμενα στα οποία αναφέρονται οι μεταβλητές</a:t>
            </a:r>
          </a:p>
          <a:p>
            <a:pPr marL="1143000" marR="0" lvl="2" indent="-228600" algn="l" defTabSz="914400" rtl="0" eaLnBrk="1" fontAlgn="base" latinLnBrk="0" hangingPunct="1">
              <a:lnSpc>
                <a:spcPct val="100000"/>
              </a:lnSpc>
              <a:spcBef>
                <a:spcPct val="20000"/>
              </a:spcBef>
              <a:spcAft>
                <a:spcPct val="0"/>
              </a:spcAft>
              <a:buClr>
                <a:srgbClr val="3333CC"/>
              </a:buClr>
              <a:buSzPct val="50000"/>
              <a:buFont typeface="Wingdings" panose="05000000000000000000" pitchFamily="2" charset="2"/>
              <a:buChar char="n"/>
              <a:tabLst/>
              <a:defRPr/>
            </a:pPr>
            <a:r>
              <a:rPr kumimoji="0" lang="el-GR" altLang="el-GR" sz="1800" b="0" i="0" u="none" strike="noStrike" kern="0" cap="none" spc="0" normalizeH="0" baseline="0" noProof="0" dirty="0">
                <a:ln>
                  <a:noFill/>
                </a:ln>
                <a:solidFill>
                  <a:srgbClr val="000000"/>
                </a:solidFill>
                <a:effectLst/>
                <a:uLnTx/>
                <a:uFillTx/>
                <a:latin typeface="Tahoma"/>
              </a:rPr>
              <a:t>άμεσα ή</a:t>
            </a:r>
          </a:p>
          <a:p>
            <a:pPr marL="1143000" marR="0" lvl="2" indent="-228600" algn="l" defTabSz="914400" rtl="0" eaLnBrk="1" fontAlgn="base" latinLnBrk="0" hangingPunct="1">
              <a:lnSpc>
                <a:spcPct val="100000"/>
              </a:lnSpc>
              <a:spcBef>
                <a:spcPct val="20000"/>
              </a:spcBef>
              <a:spcAft>
                <a:spcPct val="0"/>
              </a:spcAft>
              <a:buClr>
                <a:srgbClr val="3333CC"/>
              </a:buClr>
              <a:buSzPct val="50000"/>
              <a:buFont typeface="Wingdings" panose="05000000000000000000" pitchFamily="2" charset="2"/>
              <a:buChar char="n"/>
              <a:tabLst/>
              <a:defRPr/>
            </a:pPr>
            <a:r>
              <a:rPr kumimoji="0" lang="el-GR" altLang="el-GR" sz="1800" b="0" i="0" u="none" strike="noStrike" kern="0" cap="none" spc="0" normalizeH="0" baseline="0" noProof="0" dirty="0">
                <a:ln>
                  <a:noFill/>
                </a:ln>
                <a:solidFill>
                  <a:srgbClr val="000000"/>
                </a:solidFill>
                <a:effectLst/>
                <a:uLnTx/>
                <a:uFillTx/>
                <a:latin typeface="Tahoma"/>
              </a:rPr>
              <a:t>έμμεσα (διαμέσου άλλων αντικείμενων του σωρού).</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l-GR" altLang="el-GR" sz="2000" b="0" i="0" u="none" strike="noStrike" kern="0" cap="none" spc="0" normalizeH="0" baseline="0" noProof="0" dirty="0">
                <a:ln>
                  <a:noFill/>
                </a:ln>
                <a:solidFill>
                  <a:srgbClr val="000000"/>
                </a:solidFill>
                <a:effectLst/>
                <a:uLnTx/>
                <a:uFillTx/>
                <a:latin typeface="Tahoma"/>
              </a:rPr>
              <a:t>Αφού όλες οι πιθανές διαδρομές σε αντικείμενα ερευνηθούν, τα μη σημειωμένα αντικείμενα (garbage) συλλέγονται</a:t>
            </a:r>
            <a:r>
              <a:rPr kumimoji="0" lang="en-US" altLang="el-GR" sz="2000" b="0" i="0" u="none" strike="noStrike" kern="0" cap="none" spc="0" normalizeH="0" baseline="0" noProof="0" dirty="0">
                <a:ln>
                  <a:noFill/>
                </a:ln>
                <a:solidFill>
                  <a:srgbClr val="000000"/>
                </a:solidFill>
                <a:effectLst/>
                <a:uLnTx/>
                <a:uFillTx/>
                <a:latin typeface="Tahoma"/>
              </a:rPr>
              <a:t>.</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2400" b="0" i="0" u="none" strike="noStrike" kern="0" cap="none" spc="0" normalizeH="0" baseline="0" noProof="0" dirty="0">
                <a:ln>
                  <a:noFill/>
                </a:ln>
                <a:solidFill>
                  <a:srgbClr val="002060"/>
                </a:solidFill>
                <a:effectLst/>
                <a:uLnTx/>
                <a:uFillTx/>
                <a:latin typeface="Tahoma"/>
                <a:ea typeface="+mn-ea"/>
                <a:cs typeface="+mn-cs"/>
              </a:rPr>
              <a:t>Variations of the mark-and-sweep algorithm continue to be among the most commonly used garbage collection techniques. </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endParaRPr kumimoji="0" lang="el-GR" altLang="el-GR" sz="2000" b="0" i="0" u="none" strike="noStrike" kern="0" cap="none" spc="0" normalizeH="0" baseline="0" noProof="0" dirty="0">
              <a:ln>
                <a:noFill/>
              </a:ln>
              <a:solidFill>
                <a:srgbClr val="000000"/>
              </a:solidFill>
              <a:effectLst/>
              <a:uLnTx/>
              <a:uFillTx/>
              <a:latin typeface="Tahoma"/>
            </a:endParaRP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endParaRPr kumimoji="0" lang="el-GR" altLang="el-GR" sz="2400" b="0" i="0" u="none" strike="noStrike" kern="0" cap="none" spc="0" normalizeH="0" baseline="0" noProof="0" dirty="0">
              <a:ln>
                <a:noFill/>
              </a:ln>
              <a:solidFill>
                <a:srgbClr val="002060"/>
              </a:solidFill>
              <a:effectLst/>
              <a:uLnTx/>
              <a:uFillTx/>
              <a:latin typeface="Tahoma"/>
              <a:ea typeface="+mn-ea"/>
              <a:cs typeface="+mn-cs"/>
            </a:endParaRPr>
          </a:p>
        </p:txBody>
      </p:sp>
    </p:spTree>
    <p:extLst>
      <p:ext uri="{BB962C8B-B14F-4D97-AF65-F5344CB8AC3E}">
        <p14:creationId xmlns:p14="http://schemas.microsoft.com/office/powerpoint/2010/main" val="81168069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dissolv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dissolv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dissolv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dissolve">
                                      <p:cBhvr>
                                        <p:cTn id="27" dur="500"/>
                                        <p:tgtEl>
                                          <p:spTgt spid="5">
                                            <p:txEl>
                                              <p:pRg st="4" end="4"/>
                                            </p:txEl>
                                          </p:spTgt>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5">
                                            <p:txEl>
                                              <p:pRg st="5" end="5"/>
                                            </p:txEl>
                                          </p:spTgt>
                                        </p:tgtEl>
                                        <p:attrNameLst>
                                          <p:attrName>style.visibility</p:attrName>
                                        </p:attrNameLst>
                                      </p:cBhvr>
                                      <p:to>
                                        <p:strVal val="visible"/>
                                      </p:to>
                                    </p:set>
                                    <p:animEffect transition="in" filter="dissolve">
                                      <p:cBhvr>
                                        <p:cTn id="30" dur="500"/>
                                        <p:tgtEl>
                                          <p:spTgt spid="5">
                                            <p:txEl>
                                              <p:pRg st="5" end="5"/>
                                            </p:txEl>
                                          </p:spTgt>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5">
                                            <p:txEl>
                                              <p:pRg st="6" end="6"/>
                                            </p:txEl>
                                          </p:spTgt>
                                        </p:tgtEl>
                                        <p:attrNameLst>
                                          <p:attrName>style.visibility</p:attrName>
                                        </p:attrNameLst>
                                      </p:cBhvr>
                                      <p:to>
                                        <p:strVal val="visible"/>
                                      </p:to>
                                    </p:set>
                                    <p:animEffect transition="in" filter="dissolve">
                                      <p:cBhvr>
                                        <p:cTn id="33" dur="500"/>
                                        <p:tgtEl>
                                          <p:spTgt spid="5">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5">
                                            <p:txEl>
                                              <p:pRg st="7" end="7"/>
                                            </p:txEl>
                                          </p:spTgt>
                                        </p:tgtEl>
                                        <p:attrNameLst>
                                          <p:attrName>style.visibility</p:attrName>
                                        </p:attrNameLst>
                                      </p:cBhvr>
                                      <p:to>
                                        <p:strVal val="visible"/>
                                      </p:to>
                                    </p:set>
                                    <p:animEffect transition="in" filter="dissolve">
                                      <p:cBhvr>
                                        <p:cTn id="38" dur="500"/>
                                        <p:tgtEl>
                                          <p:spTgt spid="5">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5">
                                            <p:txEl>
                                              <p:pRg st="8" end="8"/>
                                            </p:txEl>
                                          </p:spTgt>
                                        </p:tgtEl>
                                        <p:attrNameLst>
                                          <p:attrName>style.visibility</p:attrName>
                                        </p:attrNameLst>
                                      </p:cBhvr>
                                      <p:to>
                                        <p:strVal val="visible"/>
                                      </p:to>
                                    </p:set>
                                    <p:animEffect transition="in" filter="dissolve">
                                      <p:cBhvr>
                                        <p:cTn id="43"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2"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Λειτουργία του </a:t>
            </a:r>
            <a:r>
              <a:rPr lang="en-GB" sz="4000" b="1" dirty="0">
                <a:solidFill>
                  <a:srgbClr val="F9853D"/>
                </a:solidFill>
                <a:latin typeface="Bahnschrift" panose="020B0502040204020203" pitchFamily="34" charset="0"/>
              </a:rPr>
              <a:t>Garbage Collector</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4" name="Θέση υποσέλιδου 4">
            <a:extLst>
              <a:ext uri="{FF2B5EF4-FFF2-40B4-BE49-F238E27FC236}">
                <a16:creationId xmlns:a16="http://schemas.microsoft.com/office/drawing/2014/main" id="{7F6942A4-157B-B348-EE86-A8A686FE3BF3}"/>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Java as an OOP language Part </a:t>
            </a:r>
            <a:r>
              <a:rPr lang="en-US" sz="1100" dirty="0">
                <a:solidFill>
                  <a:prstClr val="black"/>
                </a:solidFill>
                <a:latin typeface="Bahnschrift" panose="020B0502040204020203" pitchFamily="34" charset="0"/>
              </a:rPr>
              <a:t>D</a:t>
            </a:r>
          </a:p>
        </p:txBody>
      </p:sp>
      <p:sp>
        <p:nvSpPr>
          <p:cNvPr id="3" name="Rectangle 2">
            <a:extLst>
              <a:ext uri="{FF2B5EF4-FFF2-40B4-BE49-F238E27FC236}">
                <a16:creationId xmlns:a16="http://schemas.microsoft.com/office/drawing/2014/main" id="{2746E470-621D-AE38-36E3-052396E7A4F6}"/>
              </a:ext>
            </a:extLst>
          </p:cNvPr>
          <p:cNvSpPr>
            <a:spLocks noChangeArrowheads="1"/>
          </p:cNvSpPr>
          <p:nvPr/>
        </p:nvSpPr>
        <p:spPr bwMode="auto">
          <a:xfrm>
            <a:off x="2984500" y="1757363"/>
            <a:ext cx="5245100" cy="34925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6" name="Rectangle 4">
            <a:extLst>
              <a:ext uri="{FF2B5EF4-FFF2-40B4-BE49-F238E27FC236}">
                <a16:creationId xmlns:a16="http://schemas.microsoft.com/office/drawing/2014/main" id="{8BFE8000-114A-0F66-6C7D-DC8B9C683C9C}"/>
              </a:ext>
            </a:extLst>
          </p:cNvPr>
          <p:cNvSpPr>
            <a:spLocks noChangeArrowheads="1"/>
          </p:cNvSpPr>
          <p:nvPr/>
        </p:nvSpPr>
        <p:spPr bwMode="auto">
          <a:xfrm>
            <a:off x="1612900" y="2138363"/>
            <a:ext cx="673100" cy="292100"/>
          </a:xfrm>
          <a:prstGeom prst="rect">
            <a:avLst/>
          </a:prstGeom>
          <a:solidFill>
            <a:srgbClr val="00E4A8"/>
          </a:solidFill>
          <a:ln w="12700">
            <a:solidFill>
              <a:srgbClr val="00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7" name="Rectangle 5">
            <a:extLst>
              <a:ext uri="{FF2B5EF4-FFF2-40B4-BE49-F238E27FC236}">
                <a16:creationId xmlns:a16="http://schemas.microsoft.com/office/drawing/2014/main" id="{85353D68-F5E1-1A38-5D7E-AA47D7DB0646}"/>
              </a:ext>
            </a:extLst>
          </p:cNvPr>
          <p:cNvSpPr>
            <a:spLocks noChangeArrowheads="1"/>
          </p:cNvSpPr>
          <p:nvPr/>
        </p:nvSpPr>
        <p:spPr bwMode="auto">
          <a:xfrm>
            <a:off x="1612900" y="2443163"/>
            <a:ext cx="673100" cy="292100"/>
          </a:xfrm>
          <a:prstGeom prst="rect">
            <a:avLst/>
          </a:prstGeom>
          <a:solidFill>
            <a:srgbClr val="00E4A8"/>
          </a:solidFill>
          <a:ln w="12700">
            <a:solidFill>
              <a:srgbClr val="00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9" name="Rectangle 6">
            <a:extLst>
              <a:ext uri="{FF2B5EF4-FFF2-40B4-BE49-F238E27FC236}">
                <a16:creationId xmlns:a16="http://schemas.microsoft.com/office/drawing/2014/main" id="{93B110ED-96C3-1B0C-A2EB-5C832E5292F8}"/>
              </a:ext>
            </a:extLst>
          </p:cNvPr>
          <p:cNvSpPr>
            <a:spLocks noChangeArrowheads="1"/>
          </p:cNvSpPr>
          <p:nvPr/>
        </p:nvSpPr>
        <p:spPr bwMode="auto">
          <a:xfrm>
            <a:off x="1612900" y="2747963"/>
            <a:ext cx="673100" cy="292100"/>
          </a:xfrm>
          <a:prstGeom prst="rect">
            <a:avLst/>
          </a:prstGeom>
          <a:solidFill>
            <a:srgbClr val="00E4A8"/>
          </a:solidFill>
          <a:ln w="12700">
            <a:solidFill>
              <a:srgbClr val="00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2" name="Rectangle 7">
            <a:extLst>
              <a:ext uri="{FF2B5EF4-FFF2-40B4-BE49-F238E27FC236}">
                <a16:creationId xmlns:a16="http://schemas.microsoft.com/office/drawing/2014/main" id="{1781E981-9377-C8FD-83A7-142293F3F41C}"/>
              </a:ext>
            </a:extLst>
          </p:cNvPr>
          <p:cNvSpPr>
            <a:spLocks noChangeArrowheads="1"/>
          </p:cNvSpPr>
          <p:nvPr/>
        </p:nvSpPr>
        <p:spPr bwMode="auto">
          <a:xfrm>
            <a:off x="1612900" y="3052763"/>
            <a:ext cx="673100" cy="292100"/>
          </a:xfrm>
          <a:prstGeom prst="rect">
            <a:avLst/>
          </a:prstGeom>
          <a:solidFill>
            <a:srgbClr val="00E4A8"/>
          </a:solidFill>
          <a:ln w="12700">
            <a:solidFill>
              <a:srgbClr val="00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3" name="Rectangle 8">
            <a:extLst>
              <a:ext uri="{FF2B5EF4-FFF2-40B4-BE49-F238E27FC236}">
                <a16:creationId xmlns:a16="http://schemas.microsoft.com/office/drawing/2014/main" id="{0777EE16-EC98-6C83-FD32-D988638E5C11}"/>
              </a:ext>
            </a:extLst>
          </p:cNvPr>
          <p:cNvSpPr>
            <a:spLocks noChangeArrowheads="1"/>
          </p:cNvSpPr>
          <p:nvPr/>
        </p:nvSpPr>
        <p:spPr bwMode="auto">
          <a:xfrm>
            <a:off x="3670300" y="1985963"/>
            <a:ext cx="673100" cy="292100"/>
          </a:xfrm>
          <a:prstGeom prst="rect">
            <a:avLst/>
          </a:prstGeom>
          <a:solidFill>
            <a:srgbClr val="00E4A8"/>
          </a:solidFill>
          <a:ln w="12700">
            <a:solidFill>
              <a:srgbClr val="00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4" name="Rectangle 9">
            <a:extLst>
              <a:ext uri="{FF2B5EF4-FFF2-40B4-BE49-F238E27FC236}">
                <a16:creationId xmlns:a16="http://schemas.microsoft.com/office/drawing/2014/main" id="{39AD7870-522F-1D98-2E7A-B60587CF84DF}"/>
              </a:ext>
            </a:extLst>
          </p:cNvPr>
          <p:cNvSpPr>
            <a:spLocks noChangeArrowheads="1"/>
          </p:cNvSpPr>
          <p:nvPr/>
        </p:nvSpPr>
        <p:spPr bwMode="auto">
          <a:xfrm>
            <a:off x="3670300" y="2290763"/>
            <a:ext cx="673100" cy="292100"/>
          </a:xfrm>
          <a:prstGeom prst="rect">
            <a:avLst/>
          </a:prstGeom>
          <a:solidFill>
            <a:srgbClr val="00E4A8"/>
          </a:solidFill>
          <a:ln w="12700">
            <a:solidFill>
              <a:srgbClr val="00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5" name="Rectangle 10">
            <a:extLst>
              <a:ext uri="{FF2B5EF4-FFF2-40B4-BE49-F238E27FC236}">
                <a16:creationId xmlns:a16="http://schemas.microsoft.com/office/drawing/2014/main" id="{CD4EA05D-BB55-E6D1-C514-E1FB2B201DAF}"/>
              </a:ext>
            </a:extLst>
          </p:cNvPr>
          <p:cNvSpPr>
            <a:spLocks noChangeArrowheads="1"/>
          </p:cNvSpPr>
          <p:nvPr/>
        </p:nvSpPr>
        <p:spPr bwMode="auto">
          <a:xfrm>
            <a:off x="3670300" y="2595563"/>
            <a:ext cx="673100" cy="292100"/>
          </a:xfrm>
          <a:prstGeom prst="rect">
            <a:avLst/>
          </a:prstGeom>
          <a:solidFill>
            <a:srgbClr val="00E4A8"/>
          </a:solidFill>
          <a:ln w="12700">
            <a:solidFill>
              <a:srgbClr val="00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6" name="Rectangle 11">
            <a:extLst>
              <a:ext uri="{FF2B5EF4-FFF2-40B4-BE49-F238E27FC236}">
                <a16:creationId xmlns:a16="http://schemas.microsoft.com/office/drawing/2014/main" id="{B4DB7B4F-628E-1060-329B-C135993F61DE}"/>
              </a:ext>
            </a:extLst>
          </p:cNvPr>
          <p:cNvSpPr>
            <a:spLocks noChangeArrowheads="1"/>
          </p:cNvSpPr>
          <p:nvPr/>
        </p:nvSpPr>
        <p:spPr bwMode="auto">
          <a:xfrm>
            <a:off x="3670300" y="2900363"/>
            <a:ext cx="673100" cy="292100"/>
          </a:xfrm>
          <a:prstGeom prst="rect">
            <a:avLst/>
          </a:prstGeom>
          <a:solidFill>
            <a:srgbClr val="00E4A8"/>
          </a:solidFill>
          <a:ln w="12700">
            <a:solidFill>
              <a:srgbClr val="00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7" name="Rectangle 12">
            <a:extLst>
              <a:ext uri="{FF2B5EF4-FFF2-40B4-BE49-F238E27FC236}">
                <a16:creationId xmlns:a16="http://schemas.microsoft.com/office/drawing/2014/main" id="{D1FE0DDB-A5D9-6DCE-F054-B1EFD6BBFAE0}"/>
              </a:ext>
            </a:extLst>
          </p:cNvPr>
          <p:cNvSpPr>
            <a:spLocks noChangeArrowheads="1"/>
          </p:cNvSpPr>
          <p:nvPr/>
        </p:nvSpPr>
        <p:spPr bwMode="auto">
          <a:xfrm>
            <a:off x="3670300" y="3967163"/>
            <a:ext cx="673100" cy="292100"/>
          </a:xfrm>
          <a:prstGeom prst="rect">
            <a:avLst/>
          </a:prstGeom>
          <a:solidFill>
            <a:srgbClr val="FFFFFF"/>
          </a:solidFill>
          <a:ln w="12700">
            <a:solidFill>
              <a:srgbClr val="00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8" name="Rectangle 13">
            <a:extLst>
              <a:ext uri="{FF2B5EF4-FFF2-40B4-BE49-F238E27FC236}">
                <a16:creationId xmlns:a16="http://schemas.microsoft.com/office/drawing/2014/main" id="{54916969-C6A7-CBD2-07AA-F7798DD9C18B}"/>
              </a:ext>
            </a:extLst>
          </p:cNvPr>
          <p:cNvSpPr>
            <a:spLocks noChangeArrowheads="1"/>
          </p:cNvSpPr>
          <p:nvPr/>
        </p:nvSpPr>
        <p:spPr bwMode="auto">
          <a:xfrm>
            <a:off x="3670300" y="4271963"/>
            <a:ext cx="673100" cy="292100"/>
          </a:xfrm>
          <a:prstGeom prst="rect">
            <a:avLst/>
          </a:prstGeom>
          <a:solidFill>
            <a:srgbClr val="FFFFFF"/>
          </a:solidFill>
          <a:ln w="12700">
            <a:solidFill>
              <a:srgbClr val="00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9" name="Rectangle 14">
            <a:extLst>
              <a:ext uri="{FF2B5EF4-FFF2-40B4-BE49-F238E27FC236}">
                <a16:creationId xmlns:a16="http://schemas.microsoft.com/office/drawing/2014/main" id="{874B81BD-440A-545A-5730-0D3BC61541D5}"/>
              </a:ext>
            </a:extLst>
          </p:cNvPr>
          <p:cNvSpPr>
            <a:spLocks noChangeArrowheads="1"/>
          </p:cNvSpPr>
          <p:nvPr/>
        </p:nvSpPr>
        <p:spPr bwMode="auto">
          <a:xfrm>
            <a:off x="3670300" y="4729163"/>
            <a:ext cx="673100" cy="292100"/>
          </a:xfrm>
          <a:prstGeom prst="rect">
            <a:avLst/>
          </a:prstGeom>
          <a:solidFill>
            <a:srgbClr val="00E4A8"/>
          </a:solidFill>
          <a:ln w="12700">
            <a:solidFill>
              <a:srgbClr val="00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0" name="Rectangle 15">
            <a:extLst>
              <a:ext uri="{FF2B5EF4-FFF2-40B4-BE49-F238E27FC236}">
                <a16:creationId xmlns:a16="http://schemas.microsoft.com/office/drawing/2014/main" id="{039CDE52-485D-A59B-7773-5B69BEFC58E3}"/>
              </a:ext>
            </a:extLst>
          </p:cNvPr>
          <p:cNvSpPr>
            <a:spLocks noChangeArrowheads="1"/>
          </p:cNvSpPr>
          <p:nvPr/>
        </p:nvSpPr>
        <p:spPr bwMode="auto">
          <a:xfrm>
            <a:off x="5575300" y="2290763"/>
            <a:ext cx="673100" cy="292100"/>
          </a:xfrm>
          <a:prstGeom prst="rect">
            <a:avLst/>
          </a:prstGeom>
          <a:solidFill>
            <a:srgbClr val="00E4A8"/>
          </a:solidFill>
          <a:ln w="12700">
            <a:solidFill>
              <a:srgbClr val="00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1" name="Rectangle 16">
            <a:extLst>
              <a:ext uri="{FF2B5EF4-FFF2-40B4-BE49-F238E27FC236}">
                <a16:creationId xmlns:a16="http://schemas.microsoft.com/office/drawing/2014/main" id="{5EB73494-2480-BC65-D243-613024ABEBEB}"/>
              </a:ext>
            </a:extLst>
          </p:cNvPr>
          <p:cNvSpPr>
            <a:spLocks noChangeArrowheads="1"/>
          </p:cNvSpPr>
          <p:nvPr/>
        </p:nvSpPr>
        <p:spPr bwMode="auto">
          <a:xfrm>
            <a:off x="6032500" y="3967163"/>
            <a:ext cx="673100" cy="292100"/>
          </a:xfrm>
          <a:prstGeom prst="rect">
            <a:avLst/>
          </a:prstGeom>
          <a:solidFill>
            <a:srgbClr val="FFFFFF"/>
          </a:solidFill>
          <a:ln w="12700">
            <a:solidFill>
              <a:srgbClr val="00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2" name="Rectangle 17">
            <a:extLst>
              <a:ext uri="{FF2B5EF4-FFF2-40B4-BE49-F238E27FC236}">
                <a16:creationId xmlns:a16="http://schemas.microsoft.com/office/drawing/2014/main" id="{37783CD5-D2F3-51FE-C910-1F5879A4652B}"/>
              </a:ext>
            </a:extLst>
          </p:cNvPr>
          <p:cNvSpPr>
            <a:spLocks noChangeArrowheads="1"/>
          </p:cNvSpPr>
          <p:nvPr/>
        </p:nvSpPr>
        <p:spPr bwMode="auto">
          <a:xfrm>
            <a:off x="5422900" y="4576763"/>
            <a:ext cx="673100" cy="292100"/>
          </a:xfrm>
          <a:prstGeom prst="rect">
            <a:avLst/>
          </a:prstGeom>
          <a:solidFill>
            <a:srgbClr val="FFFFFF"/>
          </a:solidFill>
          <a:ln w="12700">
            <a:solidFill>
              <a:srgbClr val="00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3" name="Rectangle 18">
            <a:extLst>
              <a:ext uri="{FF2B5EF4-FFF2-40B4-BE49-F238E27FC236}">
                <a16:creationId xmlns:a16="http://schemas.microsoft.com/office/drawing/2014/main" id="{0606CFF9-7D26-EBD3-7E04-11C292D62DB9}"/>
              </a:ext>
            </a:extLst>
          </p:cNvPr>
          <p:cNvSpPr>
            <a:spLocks noChangeArrowheads="1"/>
          </p:cNvSpPr>
          <p:nvPr/>
        </p:nvSpPr>
        <p:spPr bwMode="auto">
          <a:xfrm>
            <a:off x="6718300" y="4576763"/>
            <a:ext cx="673100" cy="292100"/>
          </a:xfrm>
          <a:prstGeom prst="rect">
            <a:avLst/>
          </a:prstGeom>
          <a:solidFill>
            <a:srgbClr val="FFFFFF"/>
          </a:solidFill>
          <a:ln w="12700">
            <a:solidFill>
              <a:srgbClr val="00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4" name="Line 19">
            <a:extLst>
              <a:ext uri="{FF2B5EF4-FFF2-40B4-BE49-F238E27FC236}">
                <a16:creationId xmlns:a16="http://schemas.microsoft.com/office/drawing/2014/main" id="{C27B2129-DBD7-FA06-B219-41E9C0296FDD}"/>
              </a:ext>
            </a:extLst>
          </p:cNvPr>
          <p:cNvSpPr>
            <a:spLocks noChangeShapeType="1"/>
          </p:cNvSpPr>
          <p:nvPr/>
        </p:nvSpPr>
        <p:spPr bwMode="auto">
          <a:xfrm flipH="1">
            <a:off x="6102350" y="4722813"/>
            <a:ext cx="609600" cy="0"/>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5" name="Line 20">
            <a:extLst>
              <a:ext uri="{FF2B5EF4-FFF2-40B4-BE49-F238E27FC236}">
                <a16:creationId xmlns:a16="http://schemas.microsoft.com/office/drawing/2014/main" id="{E415975C-0530-8D6A-C9AF-4DD084970151}"/>
              </a:ext>
            </a:extLst>
          </p:cNvPr>
          <p:cNvSpPr>
            <a:spLocks noChangeShapeType="1"/>
          </p:cNvSpPr>
          <p:nvPr/>
        </p:nvSpPr>
        <p:spPr bwMode="auto">
          <a:xfrm flipV="1">
            <a:off x="2292350" y="2132013"/>
            <a:ext cx="1371600" cy="457200"/>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6" name="Line 21">
            <a:extLst>
              <a:ext uri="{FF2B5EF4-FFF2-40B4-BE49-F238E27FC236}">
                <a16:creationId xmlns:a16="http://schemas.microsoft.com/office/drawing/2014/main" id="{455FFB9B-7820-B557-990D-7613AB05F13F}"/>
              </a:ext>
            </a:extLst>
          </p:cNvPr>
          <p:cNvSpPr>
            <a:spLocks noChangeShapeType="1"/>
          </p:cNvSpPr>
          <p:nvPr/>
        </p:nvSpPr>
        <p:spPr bwMode="auto">
          <a:xfrm>
            <a:off x="2292350" y="3198813"/>
            <a:ext cx="1371600" cy="1676400"/>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7" name="Line 22">
            <a:extLst>
              <a:ext uri="{FF2B5EF4-FFF2-40B4-BE49-F238E27FC236}">
                <a16:creationId xmlns:a16="http://schemas.microsoft.com/office/drawing/2014/main" id="{38AD7EBA-9670-B70F-F89B-B8367585F11F}"/>
              </a:ext>
            </a:extLst>
          </p:cNvPr>
          <p:cNvSpPr>
            <a:spLocks noChangeShapeType="1"/>
          </p:cNvSpPr>
          <p:nvPr/>
        </p:nvSpPr>
        <p:spPr bwMode="auto">
          <a:xfrm flipV="1">
            <a:off x="4349750" y="2436813"/>
            <a:ext cx="1219200" cy="2438400"/>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8" name="Line 23">
            <a:extLst>
              <a:ext uri="{FF2B5EF4-FFF2-40B4-BE49-F238E27FC236}">
                <a16:creationId xmlns:a16="http://schemas.microsoft.com/office/drawing/2014/main" id="{CF8A0584-6446-2146-01B4-7A936E2E831C}"/>
              </a:ext>
            </a:extLst>
          </p:cNvPr>
          <p:cNvSpPr>
            <a:spLocks noChangeShapeType="1"/>
          </p:cNvSpPr>
          <p:nvPr/>
        </p:nvSpPr>
        <p:spPr bwMode="auto">
          <a:xfrm flipV="1">
            <a:off x="4349750" y="2436813"/>
            <a:ext cx="1219200" cy="609600"/>
          </a:xfrm>
          <a:prstGeom prst="line">
            <a:avLst/>
          </a:prstGeom>
          <a:noFill/>
          <a:ln w="127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9" name="Freeform 24">
            <a:extLst>
              <a:ext uri="{FF2B5EF4-FFF2-40B4-BE49-F238E27FC236}">
                <a16:creationId xmlns:a16="http://schemas.microsoft.com/office/drawing/2014/main" id="{4694116D-FD6A-01D2-939B-D1F4B9B45DC1}"/>
              </a:ext>
            </a:extLst>
          </p:cNvPr>
          <p:cNvSpPr>
            <a:spLocks/>
          </p:cNvSpPr>
          <p:nvPr/>
        </p:nvSpPr>
        <p:spPr bwMode="auto">
          <a:xfrm>
            <a:off x="5721350" y="4113213"/>
            <a:ext cx="306388" cy="458787"/>
          </a:xfrm>
          <a:custGeom>
            <a:avLst/>
            <a:gdLst>
              <a:gd name="T0" fmla="*/ 0 w 193"/>
              <a:gd name="T1" fmla="*/ 2147483647 h 289"/>
              <a:gd name="T2" fmla="*/ 0 w 193"/>
              <a:gd name="T3" fmla="*/ 0 h 289"/>
              <a:gd name="T4" fmla="*/ 2147483647 w 193"/>
              <a:gd name="T5" fmla="*/ 0 h 289"/>
              <a:gd name="T6" fmla="*/ 0 60000 65536"/>
              <a:gd name="T7" fmla="*/ 0 60000 65536"/>
              <a:gd name="T8" fmla="*/ 0 60000 65536"/>
              <a:gd name="T9" fmla="*/ 0 w 193"/>
              <a:gd name="T10" fmla="*/ 0 h 289"/>
              <a:gd name="T11" fmla="*/ 193 w 193"/>
              <a:gd name="T12" fmla="*/ 289 h 289"/>
            </a:gdLst>
            <a:ahLst/>
            <a:cxnLst>
              <a:cxn ang="T6">
                <a:pos x="T0" y="T1"/>
              </a:cxn>
              <a:cxn ang="T7">
                <a:pos x="T2" y="T3"/>
              </a:cxn>
              <a:cxn ang="T8">
                <a:pos x="T4" y="T5"/>
              </a:cxn>
            </a:cxnLst>
            <a:rect l="T9" t="T10" r="T11" b="T12"/>
            <a:pathLst>
              <a:path w="193" h="289">
                <a:moveTo>
                  <a:pt x="0" y="288"/>
                </a:moveTo>
                <a:lnTo>
                  <a:pt x="0" y="0"/>
                </a:lnTo>
                <a:lnTo>
                  <a:pt x="192" y="0"/>
                </a:lnTo>
              </a:path>
            </a:pathLst>
          </a:custGeom>
          <a:noFill/>
          <a:ln w="12700" cap="rnd" cmpd="sng">
            <a:solidFill>
              <a:srgbClr val="000000"/>
            </a:solidFill>
            <a:prstDash val="solid"/>
            <a:round/>
            <a:headEnd type="none" w="sm" len="sm"/>
            <a:tailEnd type="stealth"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0" name="Freeform 25">
            <a:extLst>
              <a:ext uri="{FF2B5EF4-FFF2-40B4-BE49-F238E27FC236}">
                <a16:creationId xmlns:a16="http://schemas.microsoft.com/office/drawing/2014/main" id="{5730241E-7514-7A2F-8B1E-BCB3D86ACB84}"/>
              </a:ext>
            </a:extLst>
          </p:cNvPr>
          <p:cNvSpPr>
            <a:spLocks/>
          </p:cNvSpPr>
          <p:nvPr/>
        </p:nvSpPr>
        <p:spPr bwMode="auto">
          <a:xfrm>
            <a:off x="6711950" y="4113213"/>
            <a:ext cx="382588" cy="458787"/>
          </a:xfrm>
          <a:custGeom>
            <a:avLst/>
            <a:gdLst>
              <a:gd name="T0" fmla="*/ 0 w 241"/>
              <a:gd name="T1" fmla="*/ 0 h 289"/>
              <a:gd name="T2" fmla="*/ 2147483647 w 241"/>
              <a:gd name="T3" fmla="*/ 0 h 289"/>
              <a:gd name="T4" fmla="*/ 2147483647 w 241"/>
              <a:gd name="T5" fmla="*/ 2147483647 h 289"/>
              <a:gd name="T6" fmla="*/ 0 60000 65536"/>
              <a:gd name="T7" fmla="*/ 0 60000 65536"/>
              <a:gd name="T8" fmla="*/ 0 60000 65536"/>
              <a:gd name="T9" fmla="*/ 0 w 241"/>
              <a:gd name="T10" fmla="*/ 0 h 289"/>
              <a:gd name="T11" fmla="*/ 241 w 241"/>
              <a:gd name="T12" fmla="*/ 289 h 289"/>
            </a:gdLst>
            <a:ahLst/>
            <a:cxnLst>
              <a:cxn ang="T6">
                <a:pos x="T0" y="T1"/>
              </a:cxn>
              <a:cxn ang="T7">
                <a:pos x="T2" y="T3"/>
              </a:cxn>
              <a:cxn ang="T8">
                <a:pos x="T4" y="T5"/>
              </a:cxn>
            </a:cxnLst>
            <a:rect l="T9" t="T10" r="T11" b="T12"/>
            <a:pathLst>
              <a:path w="241" h="289">
                <a:moveTo>
                  <a:pt x="0" y="0"/>
                </a:moveTo>
                <a:lnTo>
                  <a:pt x="240" y="0"/>
                </a:lnTo>
                <a:lnTo>
                  <a:pt x="240" y="288"/>
                </a:lnTo>
              </a:path>
            </a:pathLst>
          </a:custGeom>
          <a:noFill/>
          <a:ln w="12700" cap="rnd" cmpd="sng">
            <a:solidFill>
              <a:srgbClr val="000000"/>
            </a:solidFill>
            <a:prstDash val="solid"/>
            <a:round/>
            <a:headEnd type="none" w="sm" len="sm"/>
            <a:tailEnd type="stealth"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1" name="Rectangle 26">
            <a:extLst>
              <a:ext uri="{FF2B5EF4-FFF2-40B4-BE49-F238E27FC236}">
                <a16:creationId xmlns:a16="http://schemas.microsoft.com/office/drawing/2014/main" id="{639281C1-8506-586E-C598-49B6C0474AFA}"/>
              </a:ext>
            </a:extLst>
          </p:cNvPr>
          <p:cNvSpPr>
            <a:spLocks noChangeArrowheads="1"/>
          </p:cNvSpPr>
          <p:nvPr/>
        </p:nvSpPr>
        <p:spPr bwMode="auto">
          <a:xfrm>
            <a:off x="3419475" y="1125538"/>
            <a:ext cx="827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fontAlgn="base">
              <a:spcBef>
                <a:spcPct val="0"/>
              </a:spcBef>
              <a:spcAft>
                <a:spcPct val="0"/>
              </a:spcAft>
            </a:pPr>
            <a:r>
              <a:rPr lang="en-GB" altLang="el-GR">
                <a:solidFill>
                  <a:srgbClr val="000000"/>
                </a:solidFill>
                <a:latin typeface="Times New Roman" panose="02020603050405020304" pitchFamily="18" charset="0"/>
              </a:rPr>
              <a:t>Heap</a:t>
            </a:r>
            <a:endParaRPr lang="en-GB" altLang="el-GR">
              <a:solidFill>
                <a:srgbClr val="000000"/>
              </a:solidFill>
              <a:latin typeface="Times New Roman Greek" panose="02020603050405020304" pitchFamily="18" charset="0"/>
            </a:endParaRPr>
          </a:p>
        </p:txBody>
      </p:sp>
      <p:sp>
        <p:nvSpPr>
          <p:cNvPr id="32" name="Rectangle 27">
            <a:extLst>
              <a:ext uri="{FF2B5EF4-FFF2-40B4-BE49-F238E27FC236}">
                <a16:creationId xmlns:a16="http://schemas.microsoft.com/office/drawing/2014/main" id="{E105722E-4B42-0ABE-7B74-15C254127CEB}"/>
              </a:ext>
            </a:extLst>
          </p:cNvPr>
          <p:cNvSpPr>
            <a:spLocks noChangeArrowheads="1"/>
          </p:cNvSpPr>
          <p:nvPr/>
        </p:nvSpPr>
        <p:spPr bwMode="auto">
          <a:xfrm>
            <a:off x="1209675" y="1430338"/>
            <a:ext cx="1352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fontAlgn="base">
              <a:spcBef>
                <a:spcPct val="0"/>
              </a:spcBef>
              <a:spcAft>
                <a:spcPct val="0"/>
              </a:spcAft>
            </a:pPr>
            <a:r>
              <a:rPr lang="en-GB" altLang="el-GR">
                <a:solidFill>
                  <a:srgbClr val="000000"/>
                </a:solidFill>
                <a:latin typeface="Times New Roman" panose="02020603050405020304" pitchFamily="18" charset="0"/>
              </a:rPr>
              <a:t>Variables</a:t>
            </a:r>
            <a:endParaRPr lang="en-GB" altLang="el-GR">
              <a:solidFill>
                <a:srgbClr val="000000"/>
              </a:solidFill>
              <a:latin typeface="Times New Roman Greek" panose="02020603050405020304" pitchFamily="18" charset="0"/>
            </a:endParaRPr>
          </a:p>
        </p:txBody>
      </p:sp>
      <p:sp>
        <p:nvSpPr>
          <p:cNvPr id="34" name="Rounded Rectangular Callout 29">
            <a:extLst>
              <a:ext uri="{FF2B5EF4-FFF2-40B4-BE49-F238E27FC236}">
                <a16:creationId xmlns:a16="http://schemas.microsoft.com/office/drawing/2014/main" id="{36C44209-CD0F-4223-86FE-F33052F11E09}"/>
              </a:ext>
            </a:extLst>
          </p:cNvPr>
          <p:cNvSpPr>
            <a:spLocks noChangeArrowheads="1"/>
          </p:cNvSpPr>
          <p:nvPr/>
        </p:nvSpPr>
        <p:spPr bwMode="auto">
          <a:xfrm>
            <a:off x="7812088" y="1341438"/>
            <a:ext cx="1331912" cy="1079500"/>
          </a:xfrm>
          <a:prstGeom prst="wedgeRoundRectCallout">
            <a:avLst>
              <a:gd name="adj1" fmla="val -104764"/>
              <a:gd name="adj2" fmla="val 189806"/>
              <a:gd name="adj3" fmla="val 16667"/>
            </a:avLst>
          </a:prstGeom>
          <a:solidFill>
            <a:srgbClr val="F5FE4A"/>
          </a:solidFill>
          <a:ln w="9525" algn="ctr">
            <a:solidFill>
              <a:srgbClr val="000000"/>
            </a:solidFill>
            <a:miter lim="800000"/>
            <a:headEnd/>
            <a:tailEnd/>
          </a:ln>
        </p:spPr>
        <p:txBody>
          <a:bodyPr wrap="none"/>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a:ln>
                  <a:noFill/>
                </a:ln>
                <a:solidFill>
                  <a:srgbClr val="002060"/>
                </a:solidFill>
                <a:effectLst/>
                <a:uLnTx/>
                <a:uFillTx/>
                <a:latin typeface="Tahoma" panose="020B0604030504040204" pitchFamily="34" charset="0"/>
              </a:rPr>
              <a:t>cyclic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a:ln>
                  <a:noFill/>
                </a:ln>
                <a:solidFill>
                  <a:srgbClr val="002060"/>
                </a:solidFill>
                <a:effectLst/>
                <a:uLnTx/>
                <a:uFillTx/>
                <a:latin typeface="Tahoma" panose="020B0604030504040204" pitchFamily="34" charset="0"/>
              </a:rPr>
              <a:t>data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a:ln>
                  <a:noFill/>
                </a:ln>
                <a:solidFill>
                  <a:srgbClr val="002060"/>
                </a:solidFill>
                <a:effectLst/>
                <a:uLnTx/>
                <a:uFillTx/>
                <a:latin typeface="Tahoma" panose="020B0604030504040204" pitchFamily="34" charset="0"/>
              </a:rPr>
              <a:t>structures</a:t>
            </a:r>
            <a:endParaRPr kumimoji="0" lang="el-GR" altLang="el-GR" sz="20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5" name="TextBox 34">
            <a:extLst>
              <a:ext uri="{FF2B5EF4-FFF2-40B4-BE49-F238E27FC236}">
                <a16:creationId xmlns:a16="http://schemas.microsoft.com/office/drawing/2014/main" id="{85B1FD82-7E2B-2BFB-2A3C-DF7CE14A5ACD}"/>
              </a:ext>
            </a:extLst>
          </p:cNvPr>
          <p:cNvSpPr txBox="1"/>
          <p:nvPr/>
        </p:nvSpPr>
        <p:spPr>
          <a:xfrm>
            <a:off x="6350" y="5408613"/>
            <a:ext cx="12192000" cy="1138773"/>
          </a:xfrm>
          <a:prstGeom prst="rect">
            <a:avLst/>
          </a:prstGeom>
          <a:solidFill>
            <a:schemeClr val="accent6"/>
          </a:solidFill>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l-GR" altLang="el-GR" sz="2000" b="0" i="0" u="none" strike="noStrike" kern="0" cap="none" spc="0" normalizeH="0" baseline="0" noProof="0" dirty="0">
                <a:ln>
                  <a:noFill/>
                </a:ln>
                <a:solidFill>
                  <a:srgbClr val="000000"/>
                </a:solidFill>
                <a:effectLst/>
                <a:uLnTx/>
                <a:uFillTx/>
                <a:latin typeface="+mn-lt"/>
              </a:rPr>
              <a:t>Ο συλλογέας απορριμμάτων αναλύει συνεχώς τις δομές δεδομένων του προγράμματος,  και επιστρέφει στο σύστημα την μνήμη που δεν χρησιμοποιείται</a:t>
            </a:r>
            <a:r>
              <a:rPr kumimoji="0" lang="el-GR" altLang="el-GR" sz="2400" b="0" i="0" u="none" strike="noStrike" kern="0" cap="none" spc="0" normalizeH="0" baseline="0" noProof="0" dirty="0">
                <a:ln>
                  <a:noFill/>
                </a:ln>
                <a:solidFill>
                  <a:srgbClr val="000000"/>
                </a:solidFill>
                <a:effectLst/>
                <a:uLnTx/>
                <a:uFillTx/>
                <a:latin typeface="+mn-lt"/>
              </a:rPr>
              <a:t>.</a:t>
            </a:r>
          </a:p>
          <a:p>
            <a:pPr marL="0" marR="0" lvl="0" indent="0" defTabSz="914400" eaLnBrk="0" fontAlgn="base" latinLnBrk="0" hangingPunct="0">
              <a:lnSpc>
                <a:spcPct val="100000"/>
              </a:lnSpc>
              <a:spcBef>
                <a:spcPct val="0"/>
              </a:spcBef>
              <a:spcAft>
                <a:spcPct val="0"/>
              </a:spcAft>
              <a:buClrTx/>
              <a:buSzTx/>
              <a:buFontTx/>
              <a:buNone/>
              <a:tabLst/>
              <a:defRPr/>
            </a:pPr>
            <a:r>
              <a:rPr kumimoji="0" lang="en-US" altLang="el-GR" sz="2400" b="0" i="1" u="none" strike="noStrike" kern="0" cap="none" spc="0" normalizeH="0" baseline="0" noProof="0" dirty="0">
                <a:ln>
                  <a:noFill/>
                </a:ln>
                <a:solidFill>
                  <a:srgbClr val="000000"/>
                </a:solidFill>
                <a:effectLst/>
                <a:uLnTx/>
                <a:uFillTx/>
                <a:latin typeface="+mn-lt"/>
              </a:rPr>
              <a:t>GC strategies: Incrementally</a:t>
            </a:r>
            <a:r>
              <a:rPr kumimoji="0" lang="el-GR" altLang="el-GR" sz="2400" b="0" i="1" u="none" strike="noStrike" kern="0" cap="none" spc="0" normalizeH="0" baseline="0" noProof="0" dirty="0">
                <a:ln>
                  <a:noFill/>
                </a:ln>
                <a:solidFill>
                  <a:srgbClr val="000000"/>
                </a:solidFill>
                <a:effectLst/>
                <a:uLnTx/>
                <a:uFillTx/>
                <a:latin typeface="+mn-lt"/>
              </a:rPr>
              <a:t>, </a:t>
            </a:r>
            <a:r>
              <a:rPr kumimoji="0" lang="en-US" altLang="el-GR" sz="2400" b="0" i="1" u="none" strike="noStrike" kern="0" cap="none" spc="0" normalizeH="0" baseline="0" noProof="0" dirty="0">
                <a:ln>
                  <a:noFill/>
                </a:ln>
                <a:solidFill>
                  <a:srgbClr val="000000"/>
                </a:solidFill>
                <a:effectLst/>
                <a:uLnTx/>
                <a:uFillTx/>
                <a:latin typeface="+mn-lt"/>
              </a:rPr>
              <a:t>stop-the-world</a:t>
            </a:r>
            <a:r>
              <a:rPr kumimoji="0" lang="en-US" altLang="el-GR" sz="2400" b="0" i="0" u="none" strike="noStrike" kern="0" cap="none" spc="0" normalizeH="0" baseline="0" noProof="0" dirty="0">
                <a:ln>
                  <a:noFill/>
                </a:ln>
                <a:solidFill>
                  <a:srgbClr val="000000"/>
                </a:solidFill>
                <a:effectLst/>
                <a:uLnTx/>
                <a:uFillTx/>
                <a:latin typeface="+mn-lt"/>
              </a:rPr>
              <a:t> collectors, </a:t>
            </a:r>
            <a:r>
              <a:rPr kumimoji="0" lang="en-US" altLang="el-GR" sz="2400" b="0" i="1" u="none" strike="noStrike" kern="0" cap="none" spc="0" normalizeH="0" baseline="0" noProof="0" dirty="0">
                <a:ln>
                  <a:noFill/>
                </a:ln>
                <a:solidFill>
                  <a:srgbClr val="000000"/>
                </a:solidFill>
                <a:effectLst/>
                <a:uLnTx/>
                <a:uFillTx/>
                <a:latin typeface="+mn-lt"/>
              </a:rPr>
              <a:t>concurrent</a:t>
            </a:r>
            <a:r>
              <a:rPr kumimoji="0" lang="en-US" altLang="el-GR" sz="2400" b="0" i="0" u="none" strike="noStrike" kern="0" cap="none" spc="0" normalizeH="0" baseline="0" noProof="0" dirty="0">
                <a:ln>
                  <a:noFill/>
                </a:ln>
                <a:solidFill>
                  <a:srgbClr val="000000"/>
                </a:solidFill>
                <a:effectLst/>
                <a:uLnTx/>
                <a:uFillTx/>
                <a:latin typeface="+mn-lt"/>
              </a:rPr>
              <a:t> collectors</a:t>
            </a:r>
            <a:r>
              <a:rPr kumimoji="0" lang="el-GR" altLang="el-GR" sz="2400" b="0" i="0" u="none" strike="noStrike" kern="0" cap="none" spc="0" normalizeH="0" baseline="0" noProof="0" dirty="0">
                <a:ln>
                  <a:noFill/>
                </a:ln>
                <a:solidFill>
                  <a:srgbClr val="000000"/>
                </a:solidFill>
                <a:effectLst/>
                <a:uLnTx/>
                <a:uFillTx/>
                <a:latin typeface="+mn-lt"/>
              </a:rPr>
              <a:t>,</a:t>
            </a:r>
            <a:endParaRPr lang="en-GB" sz="2000" dirty="0"/>
          </a:p>
        </p:txBody>
      </p:sp>
    </p:spTree>
    <p:extLst>
      <p:ext uri="{BB962C8B-B14F-4D97-AF65-F5344CB8AC3E}">
        <p14:creationId xmlns:p14="http://schemas.microsoft.com/office/powerpoint/2010/main" val="178083925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blinds(horizontal)">
                                      <p:cBhvr>
                                        <p:cTn id="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Reachable and unreachable objects</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4" name="Θέση υποσέλιδου 4">
            <a:extLst>
              <a:ext uri="{FF2B5EF4-FFF2-40B4-BE49-F238E27FC236}">
                <a16:creationId xmlns:a16="http://schemas.microsoft.com/office/drawing/2014/main" id="{7F6942A4-157B-B348-EE86-A8A686FE3BF3}"/>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Java as an OOP language Part D</a:t>
            </a:r>
            <a:endParaRPr lang="en-US" sz="1100" dirty="0">
              <a:solidFill>
                <a:prstClr val="black"/>
              </a:solidFill>
              <a:latin typeface="Bahnschrift" panose="020B0502040204020203" pitchFamily="34" charset="0"/>
            </a:endParaRPr>
          </a:p>
        </p:txBody>
      </p:sp>
      <p:pic>
        <p:nvPicPr>
          <p:cNvPr id="3" name="Picture 2">
            <a:extLst>
              <a:ext uri="{FF2B5EF4-FFF2-40B4-BE49-F238E27FC236}">
                <a16:creationId xmlns:a16="http://schemas.microsoft.com/office/drawing/2014/main" id="{8EC0BCB7-8CFF-5E48-71BA-5C06BA2527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09105"/>
            <a:ext cx="8837238" cy="5711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6EC8FCD1-6C81-DE74-93AF-F499DB9B28DF}"/>
              </a:ext>
            </a:extLst>
          </p:cNvPr>
          <p:cNvSpPr txBox="1"/>
          <p:nvPr/>
        </p:nvSpPr>
        <p:spPr>
          <a:xfrm>
            <a:off x="9566021" y="1622976"/>
            <a:ext cx="2625978" cy="4401205"/>
          </a:xfrm>
          <a:prstGeom prst="rect">
            <a:avLst/>
          </a:prstGeom>
          <a:solidFill>
            <a:schemeClr val="accent6"/>
          </a:solidFill>
        </p:spPr>
        <p:txBody>
          <a:bodyPr wrap="square" rtlCol="0">
            <a:spAutoFit/>
          </a:bodyPr>
          <a:lstStyle/>
          <a:p>
            <a:r>
              <a:rPr lang="en-US" altLang="el-GR" sz="2800" dirty="0"/>
              <a:t>In a Java program, </a:t>
            </a:r>
            <a:r>
              <a:rPr lang="en-US" altLang="el-GR" sz="2800" b="1" dirty="0"/>
              <a:t>a root is </a:t>
            </a:r>
            <a:r>
              <a:rPr lang="en-US" altLang="el-GR" sz="2800" dirty="0"/>
              <a:t>a reference to an object held in a static variable or in a local variable on an active stack frame.</a:t>
            </a:r>
            <a:endParaRPr lang="el-GR" altLang="el-GR" sz="2800" dirty="0"/>
          </a:p>
          <a:p>
            <a:endParaRPr lang="en-GB" sz="2800" dirty="0"/>
          </a:p>
        </p:txBody>
      </p:sp>
    </p:spTree>
    <p:extLst>
      <p:ext uri="{BB962C8B-B14F-4D97-AF65-F5344CB8AC3E}">
        <p14:creationId xmlns:p14="http://schemas.microsoft.com/office/powerpoint/2010/main" val="250809643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Λειτουργία του </a:t>
            </a:r>
            <a:r>
              <a:rPr lang="en-GB" sz="4000" b="1" dirty="0">
                <a:solidFill>
                  <a:srgbClr val="F9853D"/>
                </a:solidFill>
                <a:latin typeface="Bahnschrift" panose="020B0502040204020203" pitchFamily="34" charset="0"/>
              </a:rPr>
              <a:t>Garbage Collector</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4" name="Θέση υποσέλιδου 4">
            <a:extLst>
              <a:ext uri="{FF2B5EF4-FFF2-40B4-BE49-F238E27FC236}">
                <a16:creationId xmlns:a16="http://schemas.microsoft.com/office/drawing/2014/main" id="{7F6942A4-157B-B348-EE86-A8A686FE3BF3}"/>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Java as an OOP language Part </a:t>
            </a:r>
            <a:r>
              <a:rPr lang="en-US" sz="1100" dirty="0">
                <a:solidFill>
                  <a:prstClr val="black"/>
                </a:solidFill>
                <a:latin typeface="Bahnschrift" panose="020B0502040204020203" pitchFamily="34" charset="0"/>
              </a:rPr>
              <a:t>D</a:t>
            </a:r>
          </a:p>
        </p:txBody>
      </p:sp>
      <p:pic>
        <p:nvPicPr>
          <p:cNvPr id="5" name="Picture 2">
            <a:extLst>
              <a:ext uri="{FF2B5EF4-FFF2-40B4-BE49-F238E27FC236}">
                <a16:creationId xmlns:a16="http://schemas.microsoft.com/office/drawing/2014/main" id="{5C0DBE81-A845-AE86-2031-BF95E375CA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032428"/>
            <a:ext cx="5257800" cy="138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a:extLst>
              <a:ext uri="{FF2B5EF4-FFF2-40B4-BE49-F238E27FC236}">
                <a16:creationId xmlns:a16="http://schemas.microsoft.com/office/drawing/2014/main" id="{D6C38154-0B28-95D8-A7D0-D10EB90BB6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1400" y="2688190"/>
            <a:ext cx="52197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0B9A809A-A0FC-B58E-85EB-FF00873571C7}"/>
              </a:ext>
            </a:extLst>
          </p:cNvPr>
          <p:cNvSpPr txBox="1">
            <a:spLocks noChangeArrowheads="1"/>
          </p:cNvSpPr>
          <p:nvPr/>
        </p:nvSpPr>
        <p:spPr bwMode="auto">
          <a:xfrm>
            <a:off x="6938963" y="1608690"/>
            <a:ext cx="17097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a:ln>
                  <a:noFill/>
                </a:ln>
                <a:solidFill>
                  <a:srgbClr val="000000"/>
                </a:solidFill>
                <a:effectLst/>
                <a:uLnTx/>
                <a:uFillTx/>
                <a:latin typeface="Tahoma" panose="020B0604030504040204" pitchFamily="34" charset="0"/>
              </a:rPr>
              <a:t>Initial state</a:t>
            </a: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9" name="TextBox 8">
            <a:extLst>
              <a:ext uri="{FF2B5EF4-FFF2-40B4-BE49-F238E27FC236}">
                <a16:creationId xmlns:a16="http://schemas.microsoft.com/office/drawing/2014/main" id="{FBCC7B09-AB0C-2A04-40AA-A4C397B800AC}"/>
              </a:ext>
            </a:extLst>
          </p:cNvPr>
          <p:cNvSpPr txBox="1">
            <a:spLocks noChangeArrowheads="1"/>
          </p:cNvSpPr>
          <p:nvPr/>
        </p:nvSpPr>
        <p:spPr bwMode="auto">
          <a:xfrm>
            <a:off x="1322388" y="3264453"/>
            <a:ext cx="30543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a:ln>
                  <a:noFill/>
                </a:ln>
                <a:solidFill>
                  <a:srgbClr val="000000"/>
                </a:solidFill>
                <a:effectLst/>
                <a:uLnTx/>
                <a:uFillTx/>
                <a:latin typeface="Tahoma" panose="020B0604030504040204" pitchFamily="34" charset="0"/>
              </a:rPr>
              <a:t>After the mark phase</a:t>
            </a: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pic>
        <p:nvPicPr>
          <p:cNvPr id="12" name="Picture 4">
            <a:extLst>
              <a:ext uri="{FF2B5EF4-FFF2-40B4-BE49-F238E27FC236}">
                <a16:creationId xmlns:a16="http://schemas.microsoft.com/office/drawing/2014/main" id="{29A11E7D-07AA-FE71-270B-ACF52564EE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93825" y="4416978"/>
            <a:ext cx="5229225"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7C878877-1884-934D-4C5E-6FCB6F3A427F}"/>
              </a:ext>
            </a:extLst>
          </p:cNvPr>
          <p:cNvSpPr txBox="1">
            <a:spLocks noChangeArrowheads="1"/>
          </p:cNvSpPr>
          <p:nvPr/>
        </p:nvSpPr>
        <p:spPr bwMode="auto">
          <a:xfrm>
            <a:off x="6723063" y="5137703"/>
            <a:ext cx="32305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After the sweep phase</a:t>
            </a:r>
            <a:endParaRPr kumimoji="0" lang="el-GR" altLang="el-GR" sz="24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14" name="TextBox 34">
            <a:extLst>
              <a:ext uri="{FF2B5EF4-FFF2-40B4-BE49-F238E27FC236}">
                <a16:creationId xmlns:a16="http://schemas.microsoft.com/office/drawing/2014/main" id="{5DB55AD2-3AE2-CA0E-F75D-3863FF49FE2A}"/>
              </a:ext>
            </a:extLst>
          </p:cNvPr>
          <p:cNvSpPr txBox="1">
            <a:spLocks noChangeArrowheads="1"/>
          </p:cNvSpPr>
          <p:nvPr/>
        </p:nvSpPr>
        <p:spPr bwMode="auto">
          <a:xfrm>
            <a:off x="0" y="5929865"/>
            <a:ext cx="12191998" cy="338554"/>
          </a:xfrm>
          <a:prstGeom prst="rect">
            <a:avLst/>
          </a:prstGeom>
          <a:solidFill>
            <a:schemeClr val="accent6"/>
          </a:solidFill>
          <a:ln>
            <a:noFill/>
          </a:ln>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600" b="0" i="0" u="none" strike="noStrike" kern="0" cap="none" spc="0" normalizeH="0" baseline="0" noProof="0" dirty="0">
                <a:ln>
                  <a:noFill/>
                </a:ln>
                <a:solidFill>
                  <a:srgbClr val="000000"/>
                </a:solidFill>
                <a:effectLst/>
                <a:uLnTx/>
                <a:uFillTx/>
                <a:latin typeface="Tahoma" panose="020B0604030504040204" pitchFamily="34" charset="0"/>
              </a:rPr>
              <a:t>In a Java program, </a:t>
            </a:r>
            <a:r>
              <a:rPr kumimoji="0" lang="en-US" altLang="el-GR" sz="1600" b="1" i="0" u="none" strike="noStrike" kern="0" cap="none" spc="0" normalizeH="0" baseline="0" noProof="0" dirty="0">
                <a:ln>
                  <a:noFill/>
                </a:ln>
                <a:solidFill>
                  <a:srgbClr val="000000"/>
                </a:solidFill>
                <a:effectLst/>
                <a:uLnTx/>
                <a:uFillTx/>
                <a:latin typeface="Tahoma" panose="020B0604030504040204" pitchFamily="34" charset="0"/>
              </a:rPr>
              <a:t>a root is </a:t>
            </a:r>
            <a:r>
              <a:rPr kumimoji="0" lang="en-US" altLang="el-GR" sz="1600" b="0" i="0" u="none" strike="noStrike" kern="0" cap="none" spc="0" normalizeH="0" baseline="0" noProof="0" dirty="0">
                <a:ln>
                  <a:noFill/>
                </a:ln>
                <a:solidFill>
                  <a:srgbClr val="000000"/>
                </a:solidFill>
                <a:effectLst/>
                <a:uLnTx/>
                <a:uFillTx/>
                <a:latin typeface="Tahoma" panose="020B0604030504040204" pitchFamily="34" charset="0"/>
              </a:rPr>
              <a:t>a reference to an object held in a static variable or in a local variable on an active stack frame.</a:t>
            </a:r>
            <a:endParaRPr kumimoji="0" lang="el-GR" altLang="el-GR" sz="1600" b="0" i="0" u="none" strike="noStrike" kern="0" cap="none" spc="0" normalizeH="0" baseline="0" noProof="0" dirty="0">
              <a:ln>
                <a:noFill/>
              </a:ln>
              <a:solidFill>
                <a:srgbClr val="000000"/>
              </a:solidFill>
              <a:effectLst/>
              <a:uLnTx/>
              <a:uFillTx/>
              <a:latin typeface="Tahoma" panose="020B0604030504040204" pitchFamily="34" charset="0"/>
            </a:endParaRPr>
          </a:p>
        </p:txBody>
      </p:sp>
    </p:spTree>
    <p:extLst>
      <p:ext uri="{BB962C8B-B14F-4D97-AF65-F5344CB8AC3E}">
        <p14:creationId xmlns:p14="http://schemas.microsoft.com/office/powerpoint/2010/main" val="92744365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1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checkerboard(across)">
                                      <p:cBhvr>
                                        <p:cTn id="18" dur="500"/>
                                        <p:tgtEl>
                                          <p:spTgt spid="9"/>
                                        </p:tgtEl>
                                      </p:cBhvr>
                                    </p:animEffect>
                                  </p:childTnLst>
                                </p:cTn>
                              </p:par>
                              <p:par>
                                <p:cTn id="19" presetID="5" presetClass="entr" presetSubtype="1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checkerboard(across)">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blinds(horizontal)">
                                      <p:cBhvr>
                                        <p:cTn id="26" dur="500"/>
                                        <p:tgtEl>
                                          <p:spTgt spid="12"/>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blinds(horizontal)">
                                      <p:cBhvr>
                                        <p:cTn id="2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3" grpId="0"/>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GC – The basic process</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4" name="Θέση υποσέλιδου 4">
            <a:extLst>
              <a:ext uri="{FF2B5EF4-FFF2-40B4-BE49-F238E27FC236}">
                <a16:creationId xmlns:a16="http://schemas.microsoft.com/office/drawing/2014/main" id="{7F6942A4-157B-B348-EE86-A8A686FE3BF3}"/>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Java as an OOP language Part </a:t>
            </a:r>
            <a:r>
              <a:rPr lang="en-US" sz="1100" dirty="0">
                <a:solidFill>
                  <a:prstClr val="black"/>
                </a:solidFill>
                <a:latin typeface="Bahnschrift" panose="020B0502040204020203" pitchFamily="34" charset="0"/>
              </a:rPr>
              <a:t>B</a:t>
            </a:r>
          </a:p>
        </p:txBody>
      </p:sp>
      <p:sp>
        <p:nvSpPr>
          <p:cNvPr id="5" name="Rectangle 2051">
            <a:extLst>
              <a:ext uri="{FF2B5EF4-FFF2-40B4-BE49-F238E27FC236}">
                <a16:creationId xmlns:a16="http://schemas.microsoft.com/office/drawing/2014/main" id="{8476F0B8-9299-D36C-2CC1-D1B96DCA24B4}"/>
              </a:ext>
            </a:extLst>
          </p:cNvPr>
          <p:cNvSpPr txBox="1">
            <a:spLocks noChangeArrowheads="1"/>
          </p:cNvSpPr>
          <p:nvPr/>
        </p:nvSpPr>
        <p:spPr bwMode="auto">
          <a:xfrm>
            <a:off x="0" y="821967"/>
            <a:ext cx="8458200"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3200" b="0" i="0" u="none" strike="noStrike" kern="0" cap="none" spc="0" normalizeH="0" baseline="0" noProof="0" dirty="0">
                <a:ln>
                  <a:noFill/>
                </a:ln>
                <a:solidFill>
                  <a:srgbClr val="000000"/>
                </a:solidFill>
                <a:effectLst/>
                <a:uLnTx/>
                <a:uFillTx/>
                <a:latin typeface="Tahoma"/>
                <a:ea typeface="+mn-ea"/>
                <a:cs typeface="+mn-cs"/>
              </a:rPr>
              <a:t>Step 1 </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3200" b="1" i="0" u="none" strike="noStrike" kern="0" cap="none" spc="0" normalizeH="0" baseline="0" noProof="0" dirty="0">
                <a:ln>
                  <a:noFill/>
                </a:ln>
                <a:solidFill>
                  <a:srgbClr val="000000"/>
                </a:solidFill>
                <a:effectLst/>
                <a:uLnTx/>
                <a:uFillTx/>
                <a:latin typeface="Tahoma"/>
                <a:ea typeface="+mn-ea"/>
                <a:cs typeface="+mn-cs"/>
              </a:rPr>
              <a:t>	Marking</a:t>
            </a:r>
          </a:p>
        </p:txBody>
      </p:sp>
      <p:pic>
        <p:nvPicPr>
          <p:cNvPr id="6" name="Picture 2">
            <a:extLst>
              <a:ext uri="{FF2B5EF4-FFF2-40B4-BE49-F238E27FC236}">
                <a16:creationId xmlns:a16="http://schemas.microsoft.com/office/drawing/2014/main" id="{BF90EC58-657D-9BDE-3FA5-E97552544C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825" y="644853"/>
            <a:ext cx="4067175" cy="206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051">
            <a:extLst>
              <a:ext uri="{FF2B5EF4-FFF2-40B4-BE49-F238E27FC236}">
                <a16:creationId xmlns:a16="http://schemas.microsoft.com/office/drawing/2014/main" id="{F3804286-F5BE-20F4-4509-136455A6A77B}"/>
              </a:ext>
            </a:extLst>
          </p:cNvPr>
          <p:cNvSpPr txBox="1">
            <a:spLocks noChangeArrowheads="1"/>
          </p:cNvSpPr>
          <p:nvPr/>
        </p:nvSpPr>
        <p:spPr bwMode="auto">
          <a:xfrm>
            <a:off x="0" y="2636658"/>
            <a:ext cx="8458200" cy="1727200"/>
          </a:xfrm>
          <a:prstGeom prst="rect">
            <a:avLst/>
          </a:prstGeom>
          <a:noFill/>
          <a:ln w="9525">
            <a:noFill/>
            <a:miter lim="800000"/>
            <a:headEnd/>
            <a:tailEnd/>
          </a:ln>
        </p:spPr>
        <p:txBody>
          <a:bodyPr lIns="92075" tIns="46038" rIns="92075" bIns="46038"/>
          <a:lstStyle/>
          <a:p>
            <a:pPr marL="342900" indent="-342900" eaLnBrk="0" fontAlgn="base" hangingPunct="0">
              <a:spcBef>
                <a:spcPct val="20000"/>
              </a:spcBef>
              <a:spcAft>
                <a:spcPct val="0"/>
              </a:spcAft>
              <a:buClr>
                <a:srgbClr val="3333CC"/>
              </a:buClr>
              <a:buSzPct val="60000"/>
              <a:buFont typeface="Wingdings" pitchFamily="2" charset="2"/>
              <a:buChar char="n"/>
              <a:defRPr/>
            </a:pPr>
            <a:r>
              <a:rPr lang="en-US" sz="3200" kern="0" dirty="0">
                <a:solidFill>
                  <a:srgbClr val="000000"/>
                </a:solidFill>
                <a:latin typeface="Tahoma"/>
              </a:rPr>
              <a:t>Step 2a </a:t>
            </a:r>
          </a:p>
          <a:p>
            <a:pPr marL="342900" indent="-342900" eaLnBrk="0" fontAlgn="base" hangingPunct="0">
              <a:spcBef>
                <a:spcPct val="20000"/>
              </a:spcBef>
              <a:spcAft>
                <a:spcPct val="0"/>
              </a:spcAft>
              <a:buClr>
                <a:srgbClr val="3333CC"/>
              </a:buClr>
              <a:buSzPct val="60000"/>
              <a:defRPr/>
            </a:pPr>
            <a:r>
              <a:rPr lang="en-US" sz="3200" b="1" kern="0" dirty="0">
                <a:solidFill>
                  <a:srgbClr val="000000"/>
                </a:solidFill>
                <a:latin typeface="Tahoma"/>
              </a:rPr>
              <a:t>	Normal Deletion</a:t>
            </a:r>
          </a:p>
        </p:txBody>
      </p:sp>
      <p:pic>
        <p:nvPicPr>
          <p:cNvPr id="9" name="Picture 3">
            <a:extLst>
              <a:ext uri="{FF2B5EF4-FFF2-40B4-BE49-F238E27FC236}">
                <a16:creationId xmlns:a16="http://schemas.microsoft.com/office/drawing/2014/main" id="{7C0FD01F-A86E-59E6-1FED-E5459187D2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39340" y="2811283"/>
            <a:ext cx="4772025" cy="192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2051">
            <a:extLst>
              <a:ext uri="{FF2B5EF4-FFF2-40B4-BE49-F238E27FC236}">
                <a16:creationId xmlns:a16="http://schemas.microsoft.com/office/drawing/2014/main" id="{0FDE8DBE-5D06-A36C-434D-FD4651B02537}"/>
              </a:ext>
            </a:extLst>
          </p:cNvPr>
          <p:cNvSpPr txBox="1">
            <a:spLocks noChangeArrowheads="1"/>
          </p:cNvSpPr>
          <p:nvPr/>
        </p:nvSpPr>
        <p:spPr bwMode="auto">
          <a:xfrm>
            <a:off x="0" y="4560073"/>
            <a:ext cx="8458200" cy="1728788"/>
          </a:xfrm>
          <a:prstGeom prst="rect">
            <a:avLst/>
          </a:prstGeom>
          <a:noFill/>
          <a:ln w="9525">
            <a:noFill/>
            <a:miter lim="800000"/>
            <a:headEnd/>
            <a:tailEnd/>
          </a:ln>
        </p:spPr>
        <p:txBody>
          <a:bodyPr lIns="92075" tIns="46038" rIns="92075" bIns="46038"/>
          <a:lstStyle/>
          <a:p>
            <a:pPr marL="342900" indent="-342900" eaLnBrk="0" fontAlgn="base" hangingPunct="0">
              <a:spcBef>
                <a:spcPct val="20000"/>
              </a:spcBef>
              <a:spcAft>
                <a:spcPct val="0"/>
              </a:spcAft>
              <a:buClr>
                <a:srgbClr val="3333CC"/>
              </a:buClr>
              <a:buSzPct val="60000"/>
              <a:buFont typeface="Wingdings" pitchFamily="2" charset="2"/>
              <a:buChar char="n"/>
              <a:defRPr/>
            </a:pPr>
            <a:r>
              <a:rPr lang="en-US" sz="3200" kern="0" dirty="0">
                <a:solidFill>
                  <a:srgbClr val="000000"/>
                </a:solidFill>
                <a:latin typeface="Tahoma"/>
              </a:rPr>
              <a:t>Step 2b </a:t>
            </a:r>
          </a:p>
          <a:p>
            <a:pPr marL="342900" indent="-342900" eaLnBrk="0" fontAlgn="base" hangingPunct="0">
              <a:spcBef>
                <a:spcPct val="20000"/>
              </a:spcBef>
              <a:spcAft>
                <a:spcPct val="0"/>
              </a:spcAft>
              <a:buClr>
                <a:srgbClr val="3333CC"/>
              </a:buClr>
              <a:buSzPct val="60000"/>
              <a:defRPr/>
            </a:pPr>
            <a:r>
              <a:rPr lang="en-US" sz="3200" b="1" kern="0" dirty="0">
                <a:solidFill>
                  <a:srgbClr val="000000"/>
                </a:solidFill>
                <a:latin typeface="Tahoma"/>
              </a:rPr>
              <a:t>	</a:t>
            </a:r>
            <a:r>
              <a:rPr lang="en-US" sz="3200" b="1" dirty="0">
                <a:solidFill>
                  <a:srgbClr val="000000"/>
                </a:solidFill>
                <a:latin typeface="Tahoma" panose="020B0604030504040204" pitchFamily="34" charset="0"/>
              </a:rPr>
              <a:t>Deletion with </a:t>
            </a:r>
          </a:p>
          <a:p>
            <a:pPr marL="342900" indent="-342900" eaLnBrk="0" fontAlgn="base" hangingPunct="0">
              <a:spcBef>
                <a:spcPct val="20000"/>
              </a:spcBef>
              <a:spcAft>
                <a:spcPct val="0"/>
              </a:spcAft>
              <a:buClr>
                <a:srgbClr val="3333CC"/>
              </a:buClr>
              <a:buSzPct val="60000"/>
              <a:defRPr/>
            </a:pPr>
            <a:r>
              <a:rPr lang="en-US" sz="3200" b="1" dirty="0">
                <a:solidFill>
                  <a:srgbClr val="000000"/>
                </a:solidFill>
                <a:latin typeface="Tahoma" panose="020B0604030504040204" pitchFamily="34" charset="0"/>
              </a:rPr>
              <a:t>	Compacting</a:t>
            </a:r>
          </a:p>
          <a:p>
            <a:pPr marL="342900" indent="-342900" eaLnBrk="0" fontAlgn="base" hangingPunct="0">
              <a:spcBef>
                <a:spcPct val="20000"/>
              </a:spcBef>
              <a:spcAft>
                <a:spcPct val="0"/>
              </a:spcAft>
              <a:buClr>
                <a:srgbClr val="3333CC"/>
              </a:buClr>
              <a:buSzPct val="60000"/>
              <a:defRPr/>
            </a:pPr>
            <a:endParaRPr lang="en-US" sz="3200" b="1" kern="0" dirty="0">
              <a:solidFill>
                <a:srgbClr val="000000"/>
              </a:solidFill>
              <a:latin typeface="Tahoma"/>
            </a:endParaRPr>
          </a:p>
        </p:txBody>
      </p:sp>
      <p:pic>
        <p:nvPicPr>
          <p:cNvPr id="13" name="Picture 4">
            <a:extLst>
              <a:ext uri="{FF2B5EF4-FFF2-40B4-BE49-F238E27FC236}">
                <a16:creationId xmlns:a16="http://schemas.microsoft.com/office/drawing/2014/main" id="{1CF944A9-7A96-1A62-BE9B-7C5C0486AC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1282" y="4810203"/>
            <a:ext cx="4467225" cy="176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8">
            <a:extLst>
              <a:ext uri="{FF2B5EF4-FFF2-40B4-BE49-F238E27FC236}">
                <a16:creationId xmlns:a16="http://schemas.microsoft.com/office/drawing/2014/main" id="{79E5F052-FAD1-D659-2A71-A63B04ED952B}"/>
              </a:ext>
            </a:extLst>
          </p:cNvPr>
          <p:cNvSpPr txBox="1">
            <a:spLocks noChangeArrowheads="1"/>
          </p:cNvSpPr>
          <p:nvPr/>
        </p:nvSpPr>
        <p:spPr bwMode="auto">
          <a:xfrm>
            <a:off x="3203575" y="6237288"/>
            <a:ext cx="13446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400" b="0" i="1" u="none" strike="noStrike" kern="0" cap="none" spc="0" normalizeH="0" baseline="0" noProof="0">
                <a:ln>
                  <a:noFill/>
                </a:ln>
                <a:solidFill>
                  <a:srgbClr val="000000"/>
                </a:solidFill>
                <a:effectLst/>
                <a:uLnTx/>
                <a:uFillTx/>
                <a:latin typeface="Tahoma" panose="020B0604030504040204" pitchFamily="34" charset="0"/>
              </a:rPr>
              <a:t>Source: Oracle</a:t>
            </a:r>
            <a:endParaRPr kumimoji="0" lang="el-GR" altLang="el-GR" sz="1400" b="0" i="1" u="none" strike="noStrike" kern="0" cap="none" spc="0" normalizeH="0" baseline="0" noProof="0">
              <a:ln>
                <a:noFill/>
              </a:ln>
              <a:solidFill>
                <a:srgbClr val="000000"/>
              </a:solidFill>
              <a:effectLst/>
              <a:uLnTx/>
              <a:uFillTx/>
              <a:latin typeface="Tahoma" panose="020B0604030504040204" pitchFamily="34" charset="0"/>
            </a:endParaRPr>
          </a:p>
        </p:txBody>
      </p:sp>
    </p:spTree>
    <p:extLst>
      <p:ext uri="{BB962C8B-B14F-4D97-AF65-F5344CB8AC3E}">
        <p14:creationId xmlns:p14="http://schemas.microsoft.com/office/powerpoint/2010/main" val="211322271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checkerboard(across)">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dissolv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checkerboard(across)">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7" grpId="0" autoUpdateAnimBg="0"/>
      <p:bldP spid="12"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Συγχρονη – Ασύγχρονη Λειτουργία</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4" name="Θέση υποσέλιδου 4">
            <a:extLst>
              <a:ext uri="{FF2B5EF4-FFF2-40B4-BE49-F238E27FC236}">
                <a16:creationId xmlns:a16="http://schemas.microsoft.com/office/drawing/2014/main" id="{7F6942A4-157B-B348-EE86-A8A686FE3BF3}"/>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Java as an OOP language Part D</a:t>
            </a:r>
            <a:endParaRPr lang="en-US" sz="1100" dirty="0">
              <a:solidFill>
                <a:prstClr val="black"/>
              </a:solidFill>
              <a:latin typeface="Bahnschrift" panose="020B0502040204020203" pitchFamily="34" charset="0"/>
            </a:endParaRPr>
          </a:p>
        </p:txBody>
      </p:sp>
      <p:sp>
        <p:nvSpPr>
          <p:cNvPr id="3" name="Rectangle 2051">
            <a:extLst>
              <a:ext uri="{FF2B5EF4-FFF2-40B4-BE49-F238E27FC236}">
                <a16:creationId xmlns:a16="http://schemas.microsoft.com/office/drawing/2014/main" id="{074D3A60-02F5-7307-A23D-5B864C109ED4}"/>
              </a:ext>
            </a:extLst>
          </p:cNvPr>
          <p:cNvSpPr txBox="1">
            <a:spLocks noChangeArrowheads="1"/>
          </p:cNvSpPr>
          <p:nvPr/>
        </p:nvSpPr>
        <p:spPr bwMode="auto">
          <a:xfrm>
            <a:off x="304799" y="1125538"/>
            <a:ext cx="11008659" cy="550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3200" b="0" i="0" u="none" strike="noStrike" kern="0" cap="none" spc="0" normalizeH="0" baseline="0" noProof="0" dirty="0">
                <a:ln>
                  <a:noFill/>
                </a:ln>
                <a:solidFill>
                  <a:srgbClr val="FF0000"/>
                </a:solidFill>
                <a:effectLst/>
                <a:uLnTx/>
                <a:uFillTx/>
                <a:latin typeface="Tahoma"/>
                <a:ea typeface="+mn-ea"/>
                <a:cs typeface="+mn-cs"/>
              </a:rPr>
              <a:t>ασύγχρονη</a:t>
            </a:r>
          </a:p>
          <a:p>
            <a:pPr marL="1143000" marR="0" lvl="2" indent="-228600" algn="l" defTabSz="914400" rtl="0" eaLnBrk="1" fontAlgn="base" latinLnBrk="0" hangingPunct="1">
              <a:lnSpc>
                <a:spcPct val="100000"/>
              </a:lnSpc>
              <a:spcBef>
                <a:spcPct val="20000"/>
              </a:spcBef>
              <a:spcAft>
                <a:spcPct val="0"/>
              </a:spcAft>
              <a:buClr>
                <a:srgbClr val="3333CC"/>
              </a:buClr>
              <a:buSzPct val="50000"/>
              <a:buFont typeface="Wingdings" panose="05000000000000000000" pitchFamily="2" charset="2"/>
              <a:buChar char="n"/>
              <a:tabLst/>
              <a:defRPr/>
            </a:pPr>
            <a:r>
              <a:rPr kumimoji="0" lang="el-GR" altLang="el-GR" sz="2400" b="0" i="0" u="none" strike="noStrike" kern="0" cap="none" spc="0" normalizeH="0" baseline="0" noProof="0" dirty="0">
                <a:ln>
                  <a:noFill/>
                </a:ln>
                <a:solidFill>
                  <a:srgbClr val="000000"/>
                </a:solidFill>
                <a:effectLst/>
                <a:uLnTx/>
                <a:uFillTx/>
                <a:latin typeface="Tahoma"/>
              </a:rPr>
              <a:t>υπάρχει  πάντοτε ενεργό ένα νήμα συλλογής απορριμμάτων (</a:t>
            </a:r>
            <a:r>
              <a:rPr kumimoji="0" lang="el-GR" altLang="el-GR" sz="2400" b="0" i="0" u="none" strike="noStrike" kern="0" cap="none" spc="0" normalizeH="0" baseline="0" noProof="0" dirty="0" err="1">
                <a:ln>
                  <a:noFill/>
                </a:ln>
                <a:solidFill>
                  <a:srgbClr val="000000"/>
                </a:solidFill>
                <a:effectLst/>
                <a:uLnTx/>
                <a:uFillTx/>
                <a:latin typeface="Tahoma"/>
              </a:rPr>
              <a:t>garbage</a:t>
            </a:r>
            <a:r>
              <a:rPr kumimoji="0" lang="el-GR" altLang="el-GR" sz="2400" b="0" i="0" u="none" strike="noStrike" kern="0" cap="none" spc="0" normalizeH="0" baseline="0" noProof="0" dirty="0">
                <a:ln>
                  <a:noFill/>
                </a:ln>
                <a:solidFill>
                  <a:srgbClr val="000000"/>
                </a:solidFill>
                <a:effectLst/>
                <a:uLnTx/>
                <a:uFillTx/>
                <a:latin typeface="Tahoma"/>
              </a:rPr>
              <a:t> </a:t>
            </a:r>
            <a:r>
              <a:rPr kumimoji="0" lang="el-GR" altLang="el-GR" sz="2400" b="0" i="0" u="none" strike="noStrike" kern="0" cap="none" spc="0" normalizeH="0" baseline="0" noProof="0" dirty="0" err="1">
                <a:ln>
                  <a:noFill/>
                </a:ln>
                <a:solidFill>
                  <a:srgbClr val="000000"/>
                </a:solidFill>
                <a:effectLst/>
                <a:uLnTx/>
                <a:uFillTx/>
                <a:latin typeface="Tahoma"/>
              </a:rPr>
              <a:t>collection</a:t>
            </a:r>
            <a:r>
              <a:rPr kumimoji="0" lang="el-GR" altLang="el-GR" sz="2400" b="0" i="0" u="none" strike="noStrike" kern="0" cap="none" spc="0" normalizeH="0" baseline="0" noProof="0" dirty="0">
                <a:ln>
                  <a:noFill/>
                </a:ln>
                <a:solidFill>
                  <a:srgbClr val="000000"/>
                </a:solidFill>
                <a:effectLst/>
                <a:uLnTx/>
                <a:uFillTx/>
                <a:latin typeface="Tahoma"/>
              </a:rPr>
              <a:t> </a:t>
            </a:r>
            <a:r>
              <a:rPr kumimoji="0" lang="el-GR" altLang="el-GR" sz="2400" b="0" i="0" u="none" strike="noStrike" kern="0" cap="none" spc="0" normalizeH="0" baseline="0" noProof="0" dirty="0" err="1">
                <a:ln>
                  <a:noFill/>
                </a:ln>
                <a:solidFill>
                  <a:srgbClr val="000000"/>
                </a:solidFill>
                <a:effectLst/>
                <a:uLnTx/>
                <a:uFillTx/>
                <a:latin typeface="Tahoma"/>
              </a:rPr>
              <a:t>thread</a:t>
            </a:r>
            <a:r>
              <a:rPr kumimoji="0" lang="el-GR" altLang="el-GR" sz="2400" b="0" i="0" u="none" strike="noStrike" kern="0" cap="none" spc="0" normalizeH="0" baseline="0" noProof="0" dirty="0">
                <a:ln>
                  <a:noFill/>
                </a:ln>
                <a:solidFill>
                  <a:srgbClr val="000000"/>
                </a:solidFill>
                <a:effectLst/>
                <a:uLnTx/>
                <a:uFillTx/>
                <a:latin typeface="Tahoma"/>
              </a:rPr>
              <a:t>)  με την μικρότερη προτεραιότητα. </a:t>
            </a:r>
          </a:p>
          <a:p>
            <a:pPr marL="1143000" marR="0" lvl="2" indent="-228600" algn="l" defTabSz="914400" rtl="0" eaLnBrk="1" fontAlgn="base" latinLnBrk="0" hangingPunct="1">
              <a:lnSpc>
                <a:spcPct val="100000"/>
              </a:lnSpc>
              <a:spcBef>
                <a:spcPct val="20000"/>
              </a:spcBef>
              <a:spcAft>
                <a:spcPct val="0"/>
              </a:spcAft>
              <a:buClr>
                <a:srgbClr val="3333CC"/>
              </a:buClr>
              <a:buSzPct val="50000"/>
              <a:buFont typeface="Wingdings" panose="05000000000000000000" pitchFamily="2" charset="2"/>
              <a:buChar char="n"/>
              <a:tabLst/>
              <a:defRPr/>
            </a:pPr>
            <a:r>
              <a:rPr kumimoji="0" lang="el-GR" altLang="el-GR" sz="2400" b="0" i="0" u="none" strike="noStrike" kern="0" cap="none" spc="0" normalizeH="0" baseline="0" noProof="0" dirty="0">
                <a:ln>
                  <a:noFill/>
                </a:ln>
                <a:solidFill>
                  <a:srgbClr val="000000"/>
                </a:solidFill>
                <a:effectLst/>
                <a:uLnTx/>
                <a:uFillTx/>
                <a:latin typeface="Tahoma"/>
              </a:rPr>
              <a:t>όταν συμπληρωθεί το </a:t>
            </a:r>
            <a:r>
              <a:rPr kumimoji="0" lang="el-GR" altLang="el-GR" sz="2400" b="0" i="0" u="none" strike="noStrike" kern="0" cap="none" spc="0" normalizeH="0" baseline="0" noProof="0" dirty="0" err="1">
                <a:ln>
                  <a:noFill/>
                </a:ln>
                <a:solidFill>
                  <a:srgbClr val="000000"/>
                </a:solidFill>
                <a:effectLst/>
                <a:uLnTx/>
                <a:uFillTx/>
                <a:latin typeface="Tahoma"/>
              </a:rPr>
              <a:t>κβάντο</a:t>
            </a:r>
            <a:r>
              <a:rPr kumimoji="0" lang="el-GR" altLang="el-GR" sz="2400" b="0" i="0" u="none" strike="noStrike" kern="0" cap="none" spc="0" normalizeH="0" baseline="0" noProof="0" dirty="0">
                <a:ln>
                  <a:noFill/>
                </a:ln>
                <a:solidFill>
                  <a:srgbClr val="000000"/>
                </a:solidFill>
                <a:effectLst/>
                <a:uLnTx/>
                <a:uFillTx/>
                <a:latin typeface="Tahoma"/>
              </a:rPr>
              <a:t> χρόνου αναμονής  (που καθορίζεται από την προτεραιότητα και το φορτίο του συστήματος)  ο </a:t>
            </a:r>
            <a:r>
              <a:rPr kumimoji="0" lang="el-GR" altLang="el-GR" sz="2400" b="0" i="0" u="none" strike="noStrike" kern="0" cap="none" spc="0" normalizeH="0" baseline="0" noProof="0" dirty="0" err="1">
                <a:ln>
                  <a:noFill/>
                </a:ln>
                <a:solidFill>
                  <a:srgbClr val="000000"/>
                </a:solidFill>
                <a:effectLst/>
                <a:uLnTx/>
                <a:uFillTx/>
                <a:latin typeface="Tahoma"/>
              </a:rPr>
              <a:t>χρονοδρομολογητής</a:t>
            </a:r>
            <a:r>
              <a:rPr kumimoji="0" lang="el-GR" altLang="el-GR" sz="2400" b="0" i="0" u="none" strike="noStrike" kern="0" cap="none" spc="0" normalizeH="0" baseline="0" noProof="0" dirty="0">
                <a:ln>
                  <a:noFill/>
                </a:ln>
                <a:solidFill>
                  <a:srgbClr val="000000"/>
                </a:solidFill>
                <a:effectLst/>
                <a:uLnTx/>
                <a:uFillTx/>
                <a:latin typeface="Tahoma"/>
              </a:rPr>
              <a:t> το εκτελεί. </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l-GR" altLang="el-GR" sz="3200" b="0" i="0" u="none" strike="noStrike" kern="0" cap="none" spc="0" normalizeH="0" baseline="0" noProof="0" dirty="0">
                <a:ln>
                  <a:noFill/>
                </a:ln>
                <a:solidFill>
                  <a:srgbClr val="FF0000"/>
                </a:solidFill>
                <a:effectLst/>
                <a:uLnTx/>
                <a:uFillTx/>
                <a:latin typeface="Tahoma"/>
                <a:ea typeface="+mn-ea"/>
                <a:cs typeface="+mn-cs"/>
              </a:rPr>
              <a:t>σύγχρονη</a:t>
            </a:r>
          </a:p>
          <a:p>
            <a:pPr marL="1143000" marR="0" lvl="2" indent="-228600" algn="l" defTabSz="914400" rtl="0" eaLnBrk="1" fontAlgn="base" latinLnBrk="0" hangingPunct="1">
              <a:lnSpc>
                <a:spcPct val="100000"/>
              </a:lnSpc>
              <a:spcBef>
                <a:spcPct val="20000"/>
              </a:spcBef>
              <a:spcAft>
                <a:spcPct val="0"/>
              </a:spcAft>
              <a:buClr>
                <a:srgbClr val="3333CC"/>
              </a:buClr>
              <a:buSzPct val="50000"/>
              <a:buFont typeface="Wingdings" panose="05000000000000000000" pitchFamily="2" charset="2"/>
              <a:buChar char="n"/>
              <a:tabLst/>
              <a:defRPr/>
            </a:pPr>
            <a:r>
              <a:rPr kumimoji="0" lang="el-GR" altLang="el-GR" sz="2400" b="0" i="0" u="none" strike="noStrike" kern="0" cap="none" spc="0" normalizeH="0" baseline="0" noProof="0" dirty="0">
                <a:ln>
                  <a:noFill/>
                </a:ln>
                <a:solidFill>
                  <a:srgbClr val="000000"/>
                </a:solidFill>
                <a:effectLst/>
                <a:uLnTx/>
                <a:uFillTx/>
                <a:latin typeface="Tahoma"/>
              </a:rPr>
              <a:t>όταν το σύστημα εξαντλήσει τη διαθέσιμη μνήμη </a:t>
            </a:r>
          </a:p>
          <a:p>
            <a:pPr marL="1143000" marR="0" lvl="2" indent="-228600" algn="l" defTabSz="914400" rtl="0" eaLnBrk="1" fontAlgn="base" latinLnBrk="0" hangingPunct="1">
              <a:lnSpc>
                <a:spcPct val="100000"/>
              </a:lnSpc>
              <a:spcBef>
                <a:spcPct val="20000"/>
              </a:spcBef>
              <a:spcAft>
                <a:spcPct val="0"/>
              </a:spcAft>
              <a:buClr>
                <a:srgbClr val="3333CC"/>
              </a:buClr>
              <a:buSzPct val="50000"/>
              <a:buFont typeface="Wingdings" panose="05000000000000000000" pitchFamily="2" charset="2"/>
              <a:buChar char="n"/>
              <a:tabLst/>
              <a:defRPr/>
            </a:pPr>
            <a:r>
              <a:rPr kumimoji="0" lang="el-GR" altLang="el-GR" sz="2400" b="0" i="0" u="none" strike="noStrike" kern="0" cap="none" spc="0" normalizeH="0" baseline="0" noProof="0" dirty="0">
                <a:ln>
                  <a:noFill/>
                </a:ln>
                <a:solidFill>
                  <a:srgbClr val="000000"/>
                </a:solidFill>
                <a:effectLst/>
                <a:uLnTx/>
                <a:uFillTx/>
                <a:latin typeface="Tahoma"/>
              </a:rPr>
              <a:t> άμεσα από μια κλήση του προγράμματος στην μέθοδο </a:t>
            </a:r>
            <a:r>
              <a:rPr kumimoji="0" lang="el-GR" altLang="el-GR" sz="2400" b="1" i="0" u="none" strike="noStrike" kern="0" cap="none" spc="0" normalizeH="0" baseline="0" noProof="0" dirty="0" err="1">
                <a:ln>
                  <a:noFill/>
                </a:ln>
                <a:solidFill>
                  <a:srgbClr val="000000"/>
                </a:solidFill>
                <a:effectLst/>
                <a:uLnTx/>
                <a:uFillTx/>
                <a:latin typeface="Tahoma"/>
              </a:rPr>
              <a:t>System.gc</a:t>
            </a:r>
            <a:r>
              <a:rPr kumimoji="0" lang="el-GR" altLang="el-GR" sz="2400" b="1" i="0" u="none" strike="noStrike" kern="0" cap="none" spc="0" normalizeH="0" baseline="0" noProof="0" dirty="0">
                <a:ln>
                  <a:noFill/>
                </a:ln>
                <a:solidFill>
                  <a:srgbClr val="000000"/>
                </a:solidFill>
                <a:effectLst/>
                <a:uLnTx/>
                <a:uFillTx/>
                <a:latin typeface="Tahoma"/>
              </a:rPr>
              <a:t>()</a:t>
            </a:r>
          </a:p>
        </p:txBody>
      </p:sp>
    </p:spTree>
    <p:extLst>
      <p:ext uri="{BB962C8B-B14F-4D97-AF65-F5344CB8AC3E}">
        <p14:creationId xmlns:p14="http://schemas.microsoft.com/office/powerpoint/2010/main" val="344986301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ssolv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dissolve">
                                      <p:cBhvr>
                                        <p:cTn id="18" dur="500"/>
                                        <p:tgtEl>
                                          <p:spTgt spid="3">
                                            <p:txEl>
                                              <p:pRg st="3" end="3"/>
                                            </p:tx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dissolve">
                                      <p:cBhvr>
                                        <p:cTn id="21" dur="500"/>
                                        <p:tgtEl>
                                          <p:spTgt spid="3">
                                            <p:txEl>
                                              <p:pRg st="4" end="4"/>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dissolve">
                                      <p:cBhvr>
                                        <p:cTn id="2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Μειονεκτήματα</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4" name="Θέση υποσέλιδου 4">
            <a:extLst>
              <a:ext uri="{FF2B5EF4-FFF2-40B4-BE49-F238E27FC236}">
                <a16:creationId xmlns:a16="http://schemas.microsoft.com/office/drawing/2014/main" id="{7F6942A4-157B-B348-EE86-A8A686FE3BF3}"/>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Java as an OOP language Part D</a:t>
            </a:r>
            <a:endParaRPr lang="en-US" sz="1100" dirty="0">
              <a:solidFill>
                <a:prstClr val="black"/>
              </a:solidFill>
              <a:latin typeface="Bahnschrift" panose="020B0502040204020203" pitchFamily="34" charset="0"/>
            </a:endParaRPr>
          </a:p>
        </p:txBody>
      </p:sp>
      <p:sp>
        <p:nvSpPr>
          <p:cNvPr id="5" name="Rectangle 2051">
            <a:extLst>
              <a:ext uri="{FF2B5EF4-FFF2-40B4-BE49-F238E27FC236}">
                <a16:creationId xmlns:a16="http://schemas.microsoft.com/office/drawing/2014/main" id="{20AF4EFE-035B-7F40-4D92-95C5169927B0}"/>
              </a:ext>
            </a:extLst>
          </p:cNvPr>
          <p:cNvSpPr txBox="1">
            <a:spLocks noChangeArrowheads="1"/>
          </p:cNvSpPr>
          <p:nvPr/>
        </p:nvSpPr>
        <p:spPr bwMode="auto">
          <a:xfrm>
            <a:off x="304799" y="1125538"/>
            <a:ext cx="11295529" cy="550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3200" b="1" i="0" u="none" strike="noStrike" kern="0" cap="none" spc="0" normalizeH="0" baseline="0" noProof="0" dirty="0">
                <a:ln>
                  <a:noFill/>
                </a:ln>
                <a:solidFill>
                  <a:srgbClr val="C00000"/>
                </a:solidFill>
                <a:effectLst/>
                <a:uLnTx/>
                <a:uFillTx/>
                <a:latin typeface="Tahoma"/>
                <a:ea typeface="+mn-ea"/>
                <a:cs typeface="+mn-cs"/>
              </a:rPr>
              <a:t>Resource consumption</a:t>
            </a:r>
            <a:endParaRPr kumimoji="0" lang="el-GR" altLang="el-GR" sz="3200" b="1" i="0" u="none" strike="noStrike" kern="0" cap="none" spc="0" normalizeH="0" baseline="0" noProof="0" dirty="0">
              <a:ln>
                <a:noFill/>
              </a:ln>
              <a:solidFill>
                <a:srgbClr val="C00000"/>
              </a:solidFill>
              <a:effectLst/>
              <a:uLnTx/>
              <a:uFillTx/>
              <a:latin typeface="Tahoma"/>
              <a:ea typeface="+mn-ea"/>
              <a:cs typeface="+mn-cs"/>
            </a:endParaRP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n-US" altLang="el-GR" sz="2800" b="0" i="0" u="none" strike="noStrike" kern="0" cap="none" spc="0" normalizeH="0" baseline="0" noProof="0" dirty="0">
                <a:ln>
                  <a:noFill/>
                </a:ln>
                <a:solidFill>
                  <a:srgbClr val="000000"/>
                </a:solidFill>
                <a:effectLst/>
                <a:uLnTx/>
                <a:uFillTx/>
                <a:latin typeface="Tahoma"/>
              </a:rPr>
              <a:t>Garbage collection consumes computing resources in deciding which memory to free, reconstructing facts that may have been known to the programmer. </a:t>
            </a:r>
            <a:endParaRPr kumimoji="0" lang="el-GR" altLang="el-GR" sz="2800" b="0" i="0" u="none" strike="noStrike" kern="0" cap="none" spc="0" normalizeH="0" baseline="0" noProof="0" dirty="0">
              <a:ln>
                <a:noFill/>
              </a:ln>
              <a:solidFill>
                <a:srgbClr val="000000"/>
              </a:solidFill>
              <a:effectLst/>
              <a:uLnTx/>
              <a:uFillTx/>
              <a:latin typeface="Tahoma"/>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3200" b="1" i="0" u="none" strike="noStrike" kern="0" cap="none" spc="0" normalizeH="0" baseline="0" noProof="0" dirty="0">
                <a:ln>
                  <a:noFill/>
                </a:ln>
                <a:solidFill>
                  <a:srgbClr val="C00000"/>
                </a:solidFill>
                <a:effectLst/>
                <a:uLnTx/>
                <a:uFillTx/>
                <a:latin typeface="Tahoma"/>
                <a:ea typeface="+mn-ea"/>
                <a:cs typeface="+mn-cs"/>
              </a:rPr>
              <a:t>unpredictability</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n-US" altLang="el-GR" sz="2800" b="0" i="0" u="none" strike="noStrike" kern="0" cap="none" spc="0" normalizeH="0" baseline="0" noProof="0" dirty="0">
                <a:ln>
                  <a:noFill/>
                </a:ln>
                <a:solidFill>
                  <a:srgbClr val="000000"/>
                </a:solidFill>
                <a:effectLst/>
                <a:uLnTx/>
                <a:uFillTx/>
                <a:latin typeface="Tahoma"/>
              </a:rPr>
              <a:t>The moment when the garbage is actually collected can be unpredictable</a:t>
            </a:r>
            <a:r>
              <a:rPr kumimoji="0" lang="el-GR" altLang="el-GR" sz="2800" b="0" i="0" u="none" strike="noStrike" kern="0" cap="none" spc="0" normalizeH="0" baseline="0" noProof="0" dirty="0">
                <a:ln>
                  <a:noFill/>
                </a:ln>
                <a:solidFill>
                  <a:srgbClr val="000000"/>
                </a:solidFill>
                <a:effectLst/>
                <a:uLnTx/>
                <a:uFillTx/>
                <a:latin typeface="Tahoma"/>
              </a:rPr>
              <a:t> (</a:t>
            </a:r>
            <a:r>
              <a:rPr kumimoji="0" lang="en-US" altLang="el-GR" sz="2800" b="0" i="0" u="none" strike="noStrike" kern="0" cap="none" spc="0" normalizeH="0" baseline="0" noProof="0" dirty="0">
                <a:ln>
                  <a:noFill/>
                </a:ln>
                <a:solidFill>
                  <a:srgbClr val="000000"/>
                </a:solidFill>
                <a:effectLst/>
                <a:uLnTx/>
                <a:uFillTx/>
                <a:latin typeface="Tahoma"/>
              </a:rPr>
              <a:t>unacceptable in real-time environments</a:t>
            </a:r>
            <a:r>
              <a:rPr kumimoji="0" lang="el-GR" altLang="el-GR" sz="2800" b="0" i="0" u="none" strike="noStrike" kern="0" cap="none" spc="0" normalizeH="0" baseline="0" noProof="0" dirty="0">
                <a:ln>
                  <a:noFill/>
                </a:ln>
                <a:solidFill>
                  <a:srgbClr val="000000"/>
                </a:solidFill>
                <a:effectLst/>
                <a:uLnTx/>
                <a:uFillTx/>
                <a:latin typeface="Tahoma"/>
              </a:rPr>
              <a:t>)</a:t>
            </a:r>
          </a:p>
        </p:txBody>
      </p:sp>
    </p:spTree>
    <p:extLst>
      <p:ext uri="{BB962C8B-B14F-4D97-AF65-F5344CB8AC3E}">
        <p14:creationId xmlns:p14="http://schemas.microsoft.com/office/powerpoint/2010/main" val="218457427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dissolve">
                                      <p:cBhvr>
                                        <p:cTn id="10" dur="5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dissolve">
                                      <p:cBhvr>
                                        <p:cTn id="15" dur="500"/>
                                        <p:tgtEl>
                                          <p:spTgt spid="5">
                                            <p:txEl>
                                              <p:pRg st="2" end="2"/>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dissolve">
                                      <p:cBhvr>
                                        <p:cTn id="18"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z Garbage Collector (ZGC) </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4" name="Θέση υποσέλιδου 4">
            <a:extLst>
              <a:ext uri="{FF2B5EF4-FFF2-40B4-BE49-F238E27FC236}">
                <a16:creationId xmlns:a16="http://schemas.microsoft.com/office/drawing/2014/main" id="{7F6942A4-157B-B348-EE86-A8A686FE3BF3}"/>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Java as an OOP language Part D</a:t>
            </a:r>
            <a:endParaRPr lang="en-US" sz="1100" dirty="0">
              <a:solidFill>
                <a:prstClr val="black"/>
              </a:solidFill>
              <a:latin typeface="Bahnschrift" panose="020B0502040204020203" pitchFamily="34" charset="0"/>
            </a:endParaRPr>
          </a:p>
        </p:txBody>
      </p:sp>
      <p:sp>
        <p:nvSpPr>
          <p:cNvPr id="5" name="Rectangle 2051">
            <a:extLst>
              <a:ext uri="{FF2B5EF4-FFF2-40B4-BE49-F238E27FC236}">
                <a16:creationId xmlns:a16="http://schemas.microsoft.com/office/drawing/2014/main" id="{0862114D-EE71-8CF4-EF68-CA3978C722DD}"/>
              </a:ext>
            </a:extLst>
          </p:cNvPr>
          <p:cNvSpPr txBox="1">
            <a:spLocks noChangeArrowheads="1"/>
          </p:cNvSpPr>
          <p:nvPr/>
        </p:nvSpPr>
        <p:spPr bwMode="auto">
          <a:xfrm>
            <a:off x="0" y="1234032"/>
            <a:ext cx="11689976" cy="550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sz="2800" b="0" i="0" u="none" strike="noStrike" kern="0" cap="none" spc="0" normalizeH="0" baseline="0" noProof="0" dirty="0">
                <a:ln>
                  <a:noFill/>
                </a:ln>
                <a:solidFill>
                  <a:srgbClr val="000000"/>
                </a:solidFill>
                <a:effectLst/>
                <a:uLnTx/>
                <a:uFillTx/>
                <a:latin typeface="Tahoma"/>
                <a:ea typeface="+mn-ea"/>
                <a:cs typeface="+mn-cs"/>
              </a:rPr>
              <a:t>is a scalable, low-latency garbage collector. </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n-US" sz="2400" b="0" i="0" u="none" strike="noStrike" kern="0" cap="none" spc="0" normalizeH="0" baseline="0" noProof="0" dirty="0">
                <a:ln>
                  <a:noFill/>
                </a:ln>
                <a:solidFill>
                  <a:srgbClr val="000000"/>
                </a:solidFill>
                <a:effectLst/>
                <a:uLnTx/>
                <a:uFillTx/>
                <a:latin typeface="Tahoma"/>
              </a:rPr>
              <a:t>performs all expensive work concurrently, without stopping the execution of application threads for more than 10ms, which makes it suitable for applications which require low latency and/or use a very large heap (multi-terabytes).</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sz="2800" b="0" i="0" u="none" strike="noStrike" kern="0" cap="none" spc="0" normalizeH="0" baseline="0" noProof="0" dirty="0">
                <a:ln>
                  <a:noFill/>
                </a:ln>
                <a:solidFill>
                  <a:srgbClr val="000000"/>
                </a:solidFill>
                <a:effectLst/>
                <a:uLnTx/>
                <a:uFillTx/>
                <a:latin typeface="Tahoma"/>
                <a:ea typeface="+mn-ea"/>
                <a:cs typeface="+mn-cs"/>
              </a:rPr>
              <a:t>command-line options</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n-US" sz="2400" b="0" i="0" u="none" strike="noStrike" kern="0" cap="none" spc="0" normalizeH="0" baseline="0" noProof="0" dirty="0">
                <a:ln>
                  <a:noFill/>
                </a:ln>
                <a:solidFill>
                  <a:srgbClr val="000000"/>
                </a:solidFill>
                <a:effectLst/>
                <a:uLnTx/>
                <a:uFillTx/>
                <a:latin typeface="Tahoma"/>
              </a:rPr>
              <a:t>Setting the Heap Size</a:t>
            </a:r>
          </a:p>
          <a:p>
            <a:pPr marL="1143000" marR="0" lvl="2" indent="-228600" algn="l" defTabSz="914400" rtl="0" eaLnBrk="1" fontAlgn="base" latinLnBrk="0" hangingPunct="1">
              <a:lnSpc>
                <a:spcPct val="100000"/>
              </a:lnSpc>
              <a:spcBef>
                <a:spcPct val="20000"/>
              </a:spcBef>
              <a:spcAft>
                <a:spcPct val="0"/>
              </a:spcAft>
              <a:buClr>
                <a:srgbClr val="3333CC"/>
              </a:buClr>
              <a:buSzPct val="50000"/>
              <a:buFont typeface="Wingdings" panose="05000000000000000000" pitchFamily="2" charset="2"/>
              <a:buChar char="n"/>
              <a:tabLst/>
              <a:defRPr/>
            </a:pPr>
            <a:r>
              <a:rPr kumimoji="0" lang="en-US" sz="2000" b="0" i="0" u="none" strike="noStrike" kern="0" cap="none" spc="0" normalizeH="0" baseline="0" noProof="0" dirty="0">
                <a:ln>
                  <a:noFill/>
                </a:ln>
                <a:solidFill>
                  <a:srgbClr val="000000"/>
                </a:solidFill>
                <a:effectLst/>
                <a:uLnTx/>
                <a:uFillTx/>
                <a:latin typeface="Tahoma"/>
              </a:rPr>
              <a:t>allow allocations to be serviced while the GC is running.</a:t>
            </a:r>
          </a:p>
          <a:p>
            <a:pPr marL="742950" marR="0" lvl="1" indent="-28575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Char char="n"/>
              <a:tabLst/>
              <a:defRPr/>
            </a:pPr>
            <a:r>
              <a:rPr kumimoji="0" lang="en-US" sz="2400" b="0" i="0" u="none" strike="noStrike" kern="0" cap="none" spc="0" normalizeH="0" baseline="0" noProof="0" dirty="0">
                <a:ln>
                  <a:noFill/>
                </a:ln>
                <a:solidFill>
                  <a:srgbClr val="000000"/>
                </a:solidFill>
                <a:effectLst/>
                <a:uLnTx/>
                <a:uFillTx/>
                <a:latin typeface="Tahoma"/>
              </a:rPr>
              <a:t>Setting Number of Concurrent GC Threads</a:t>
            </a:r>
          </a:p>
          <a:p>
            <a:pPr marL="1143000" marR="0" lvl="2" indent="-228600" algn="l" defTabSz="914400" rtl="0" eaLnBrk="1" fontAlgn="base" latinLnBrk="0" hangingPunct="1">
              <a:lnSpc>
                <a:spcPct val="100000"/>
              </a:lnSpc>
              <a:spcBef>
                <a:spcPct val="20000"/>
              </a:spcBef>
              <a:spcAft>
                <a:spcPct val="0"/>
              </a:spcAft>
              <a:buClr>
                <a:srgbClr val="3333CC"/>
              </a:buClr>
              <a:buSzPct val="50000"/>
              <a:buFont typeface="Wingdings" panose="05000000000000000000" pitchFamily="2" charset="2"/>
              <a:buChar char="n"/>
              <a:tabLst/>
              <a:defRPr/>
            </a:pPr>
            <a:r>
              <a:rPr kumimoji="0" lang="en-US" sz="2000" b="0" i="0" u="none" strike="noStrike" kern="0" cap="none" spc="0" normalizeH="0" baseline="0" noProof="0" dirty="0">
                <a:ln>
                  <a:noFill/>
                </a:ln>
                <a:solidFill>
                  <a:srgbClr val="000000"/>
                </a:solidFill>
                <a:effectLst/>
                <a:uLnTx/>
                <a:uFillTx/>
                <a:latin typeface="Tahoma"/>
              </a:rPr>
              <a:t>This option essentially dictates how much CPU-time the GC should be given. G</a:t>
            </a:r>
          </a:p>
          <a:p>
            <a:pPr marL="457200" marR="0" lvl="1" indent="0" algn="l" defTabSz="914400" rtl="0" eaLnBrk="1" fontAlgn="base" latinLnBrk="0" hangingPunct="1">
              <a:lnSpc>
                <a:spcPct val="100000"/>
              </a:lnSpc>
              <a:spcBef>
                <a:spcPct val="20000"/>
              </a:spcBef>
              <a:spcAft>
                <a:spcPct val="0"/>
              </a:spcAft>
              <a:buClr>
                <a:srgbClr val="FF0000"/>
              </a:buClr>
              <a:buSzPct val="55000"/>
              <a:buFont typeface="Wingdings" panose="05000000000000000000" pitchFamily="2" charset="2"/>
              <a:buNone/>
              <a:tabLst/>
              <a:defRPr/>
            </a:pPr>
            <a:endParaRPr kumimoji="0" lang="en-US" sz="1400" b="0" i="0" u="none" strike="noStrike" kern="0" cap="none" spc="0" normalizeH="0" baseline="0" noProof="0" dirty="0">
              <a:ln>
                <a:noFill/>
              </a:ln>
              <a:solidFill>
                <a:srgbClr val="000000"/>
              </a:solidFill>
              <a:effectLst/>
              <a:uLnTx/>
              <a:uFillTx/>
              <a:latin typeface="Tahoma"/>
            </a:endParaRPr>
          </a:p>
        </p:txBody>
      </p:sp>
      <p:sp>
        <p:nvSpPr>
          <p:cNvPr id="6" name="TextBox 5">
            <a:extLst>
              <a:ext uri="{FF2B5EF4-FFF2-40B4-BE49-F238E27FC236}">
                <a16:creationId xmlns:a16="http://schemas.microsoft.com/office/drawing/2014/main" id="{6E76607C-6520-9CEF-E7F6-CB32ED235404}"/>
              </a:ext>
            </a:extLst>
          </p:cNvPr>
          <p:cNvSpPr txBox="1"/>
          <p:nvPr/>
        </p:nvSpPr>
        <p:spPr>
          <a:xfrm>
            <a:off x="7812360" y="6207591"/>
            <a:ext cx="1180260" cy="276999"/>
          </a:xfrm>
          <a:prstGeom prst="rect">
            <a:avLst/>
          </a:prstGeom>
          <a:noFill/>
        </p:spPr>
        <p:txBody>
          <a:bodyPr wrap="none" rtlCol="0">
            <a:spAutoFit/>
          </a:bodyPr>
          <a:lstStyle/>
          <a:p>
            <a:pPr fontAlgn="base">
              <a:spcBef>
                <a:spcPct val="0"/>
              </a:spcBef>
              <a:spcAft>
                <a:spcPct val="0"/>
              </a:spcAft>
            </a:pPr>
            <a:r>
              <a:rPr lang="en-US" sz="1200" i="1" dirty="0">
                <a:solidFill>
                  <a:srgbClr val="000000"/>
                </a:solidFill>
                <a:latin typeface="Tahoma" panose="020B0604030504040204" pitchFamily="34" charset="0"/>
              </a:rPr>
              <a:t>Source: Oracle</a:t>
            </a:r>
            <a:endParaRPr lang="el-GR" sz="1200" i="1" dirty="0">
              <a:solidFill>
                <a:srgbClr val="000000"/>
              </a:solidFill>
              <a:latin typeface="Tahoma" panose="020B0604030504040204" pitchFamily="34" charset="0"/>
            </a:endParaRPr>
          </a:p>
        </p:txBody>
      </p:sp>
      <p:sp>
        <p:nvSpPr>
          <p:cNvPr id="7" name="TextBox 6">
            <a:extLst>
              <a:ext uri="{FF2B5EF4-FFF2-40B4-BE49-F238E27FC236}">
                <a16:creationId xmlns:a16="http://schemas.microsoft.com/office/drawing/2014/main" id="{12ACDAA9-F6A4-B8FA-259B-E02FBF757964}"/>
              </a:ext>
            </a:extLst>
          </p:cNvPr>
          <p:cNvSpPr txBox="1"/>
          <p:nvPr/>
        </p:nvSpPr>
        <p:spPr>
          <a:xfrm>
            <a:off x="6365631" y="792015"/>
            <a:ext cx="5826369" cy="369332"/>
          </a:xfrm>
          <a:prstGeom prst="rect">
            <a:avLst/>
          </a:prstGeom>
          <a:noFill/>
        </p:spPr>
        <p:txBody>
          <a:bodyPr wrap="square" rtlCol="0">
            <a:spAutoFit/>
          </a:bodyPr>
          <a:lstStyle/>
          <a:p>
            <a:r>
              <a:rPr kumimoji="0" lang="en-US" sz="1800" b="0" i="0" u="none" strike="noStrike" kern="0" cap="none" spc="0" normalizeH="0" baseline="0" noProof="0" dirty="0">
                <a:ln>
                  <a:noFill/>
                </a:ln>
                <a:solidFill>
                  <a:srgbClr val="000000"/>
                </a:solidFill>
                <a:effectLst/>
                <a:highlight>
                  <a:srgbClr val="FFFF00"/>
                </a:highlight>
                <a:uLnTx/>
                <a:uFillTx/>
                <a:latin typeface="Tahoma"/>
              </a:rPr>
              <a:t>(ZGC was introduced for windows in Java 14)</a:t>
            </a:r>
          </a:p>
        </p:txBody>
      </p:sp>
    </p:spTree>
    <p:extLst>
      <p:ext uri="{BB962C8B-B14F-4D97-AF65-F5344CB8AC3E}">
        <p14:creationId xmlns:p14="http://schemas.microsoft.com/office/powerpoint/2010/main" val="357495617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dissolve">
                                      <p:cBhvr>
                                        <p:cTn id="10" dur="5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dissolve">
                                      <p:cBhvr>
                                        <p:cTn id="15" dur="500"/>
                                        <p:tgtEl>
                                          <p:spTgt spid="5">
                                            <p:txEl>
                                              <p:pRg st="2" end="2"/>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dissolve">
                                      <p:cBhvr>
                                        <p:cTn id="18" dur="500"/>
                                        <p:tgtEl>
                                          <p:spTgt spid="5">
                                            <p:txEl>
                                              <p:pRg st="3" end="3"/>
                                            </p:tx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dissolve">
                                      <p:cBhvr>
                                        <p:cTn id="21" dur="500"/>
                                        <p:tgtEl>
                                          <p:spTgt spid="5">
                                            <p:txEl>
                                              <p:pRg st="4" end="4"/>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dissolve">
                                      <p:cBhvr>
                                        <p:cTn id="24" dur="500"/>
                                        <p:tgtEl>
                                          <p:spTgt spid="5">
                                            <p:txEl>
                                              <p:pRg st="5" end="5"/>
                                            </p:txEl>
                                          </p:spTgt>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dissolve">
                                      <p:cBhvr>
                                        <p:cTn id="27"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GB" sz="4000" b="1" dirty="0">
                <a:solidFill>
                  <a:srgbClr val="F9853D"/>
                </a:solidFill>
                <a:latin typeface="Bahnschrift" panose="020B0502040204020203" pitchFamily="34" charset="0"/>
              </a:rPr>
              <a:t>A brief history of garbage collection</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4" name="Θέση υποσέλιδου 4">
            <a:extLst>
              <a:ext uri="{FF2B5EF4-FFF2-40B4-BE49-F238E27FC236}">
                <a16:creationId xmlns:a16="http://schemas.microsoft.com/office/drawing/2014/main" id="{7F6942A4-157B-B348-EE86-A8A686FE3BF3}"/>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Java as an OOP language Part D</a:t>
            </a:r>
            <a:endParaRPr lang="en-US" sz="1100" dirty="0">
              <a:solidFill>
                <a:prstClr val="black"/>
              </a:solidFill>
              <a:latin typeface="Bahnschrift" panose="020B0502040204020203" pitchFamily="34" charset="0"/>
            </a:endParaRPr>
          </a:p>
        </p:txBody>
      </p:sp>
      <p:sp>
        <p:nvSpPr>
          <p:cNvPr id="5" name="Rectangle 2051">
            <a:extLst>
              <a:ext uri="{FF2B5EF4-FFF2-40B4-BE49-F238E27FC236}">
                <a16:creationId xmlns:a16="http://schemas.microsoft.com/office/drawing/2014/main" id="{A8429756-188F-598C-96E8-C589F8A422BC}"/>
              </a:ext>
            </a:extLst>
          </p:cNvPr>
          <p:cNvSpPr txBox="1">
            <a:spLocks noChangeArrowheads="1"/>
          </p:cNvSpPr>
          <p:nvPr/>
        </p:nvSpPr>
        <p:spPr bwMode="auto">
          <a:xfrm>
            <a:off x="0" y="1125538"/>
            <a:ext cx="11796712"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3200" b="0" i="0" u="none" strike="noStrike" kern="0" cap="none" spc="0" normalizeH="0" baseline="0" noProof="0" dirty="0">
                <a:ln>
                  <a:noFill/>
                </a:ln>
                <a:solidFill>
                  <a:srgbClr val="000000"/>
                </a:solidFill>
                <a:effectLst/>
                <a:uLnTx/>
                <a:uFillTx/>
                <a:latin typeface="Tahoma"/>
                <a:ea typeface="+mn-ea"/>
                <a:cs typeface="+mn-cs"/>
              </a:rPr>
              <a:t>The Java language may be the most widely used programming language to rely on garbage collection, but it is by no means the first. </a:t>
            </a: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r>
              <a:rPr kumimoji="0" lang="en-US" altLang="el-GR" sz="3200" b="0" i="0" u="none" strike="noStrike" kern="0" cap="none" spc="0" normalizeH="0" baseline="0" noProof="0" dirty="0">
                <a:ln>
                  <a:noFill/>
                </a:ln>
                <a:solidFill>
                  <a:srgbClr val="000000"/>
                </a:solidFill>
                <a:effectLst/>
                <a:uLnTx/>
                <a:uFillTx/>
                <a:latin typeface="Tahoma"/>
                <a:ea typeface="+mn-ea"/>
                <a:cs typeface="+mn-cs"/>
              </a:rPr>
              <a:t>Garbage collection has been an integral part of many programming languages, including Lisp, Smalltalk, Eiffel, Haskell, ML, Scheme, and Modula-3, and has been in use since the early 1960s. </a:t>
            </a:r>
          </a:p>
        </p:txBody>
      </p:sp>
      <p:sp>
        <p:nvSpPr>
          <p:cNvPr id="6" name="TextBox 5">
            <a:extLst>
              <a:ext uri="{FF2B5EF4-FFF2-40B4-BE49-F238E27FC236}">
                <a16:creationId xmlns:a16="http://schemas.microsoft.com/office/drawing/2014/main" id="{5EBF6067-29EA-3CDE-F6CE-71B8F790754E}"/>
              </a:ext>
            </a:extLst>
          </p:cNvPr>
          <p:cNvSpPr txBox="1">
            <a:spLocks noChangeArrowheads="1"/>
          </p:cNvSpPr>
          <p:nvPr/>
        </p:nvSpPr>
        <p:spPr bwMode="auto">
          <a:xfrm>
            <a:off x="395288" y="4786391"/>
            <a:ext cx="7358062" cy="141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most common techniques for garbage collection </a:t>
            </a:r>
            <a:r>
              <a:rPr kumimoji="0" lang="en-US" altLang="el-GR" sz="1600" b="0" i="0" u="none" strike="noStrike" kern="0" cap="none" spc="0" normalizeH="0" baseline="0" noProof="0" dirty="0">
                <a:ln>
                  <a:noFill/>
                </a:ln>
                <a:solidFill>
                  <a:srgbClr val="000000"/>
                </a:solidFill>
                <a:effectLst/>
                <a:uLnTx/>
                <a:uFillTx/>
                <a:latin typeface="Tahoma" panose="020B0604030504040204" pitchFamily="34" charset="0"/>
                <a:hlinkClick r:id="rId3"/>
              </a:rPr>
              <a:t>http://www.ibm.com/developerworks/java/library/j-jtp10283/</a:t>
            </a:r>
            <a:endPar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400" b="1" i="0" u="none" strike="noStrike" kern="0" cap="none" spc="0" normalizeH="0" baseline="0" noProof="0" dirty="0">
                <a:ln>
                  <a:noFill/>
                </a:ln>
                <a:solidFill>
                  <a:srgbClr val="000000"/>
                </a:solidFill>
                <a:effectLst/>
                <a:uLnTx/>
                <a:uFillTx/>
                <a:latin typeface="Tahoma" panose="020B0604030504040204" pitchFamily="34" charset="0"/>
              </a:rPr>
              <a:t>Java Garbage Collection Basics</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400" b="0" i="0" u="none" strike="noStrike" kern="0" cap="none" spc="0" normalizeH="0" baseline="0" noProof="0" dirty="0">
                <a:ln>
                  <a:noFill/>
                </a:ln>
                <a:solidFill>
                  <a:srgbClr val="000000"/>
                </a:solidFill>
                <a:effectLst/>
                <a:uLnTx/>
                <a:uFillTx/>
                <a:latin typeface="Tahoma" panose="020B0604030504040204" pitchFamily="34" charset="0"/>
                <a:hlinkClick r:id="rId4"/>
              </a:rPr>
              <a:t>http://www.oracle.com/webfolder/technetwork/tutorials/obe/java/gc01/index.html</a:t>
            </a:r>
            <a:endParaRPr kumimoji="0" lang="en-US" altLang="el-GR" sz="1400" b="0" i="0" u="none" strike="noStrike" kern="0" cap="none" spc="0" normalizeH="0" baseline="0" noProof="0" dirty="0">
              <a:ln>
                <a:noFill/>
              </a:ln>
              <a:solidFill>
                <a:srgbClr val="000000"/>
              </a:solidFill>
              <a:effectLst/>
              <a:uLnTx/>
              <a:uFillTx/>
              <a:latin typeface="Tahoma" panose="020B060403050404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endParaRPr>
          </a:p>
        </p:txBody>
      </p:sp>
    </p:spTree>
    <p:extLst>
      <p:ext uri="{BB962C8B-B14F-4D97-AF65-F5344CB8AC3E}">
        <p14:creationId xmlns:p14="http://schemas.microsoft.com/office/powerpoint/2010/main" val="255410555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dissolv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checkerboard(across)">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P spid="6" grpId="0"/>
    </p:bldLst>
  </p:timing>
</p:sld>
</file>

<file path=ppt/theme/theme1.xml><?xml version="1.0" encoding="utf-8"?>
<a:theme xmlns:a="http://schemas.openxmlformats.org/drawingml/2006/main" name="Προσαρμοσμένη σχεδίαση">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12991</TotalTime>
  <Words>1017</Words>
  <Application>Microsoft Office PowerPoint</Application>
  <PresentationFormat>Widescreen</PresentationFormat>
  <Paragraphs>155</Paragraphs>
  <Slides>14</Slides>
  <Notes>14</Notes>
  <HiddenSlides>1</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14</vt:i4>
      </vt:variant>
    </vt:vector>
  </HeadingPairs>
  <TitlesOfParts>
    <vt:vector size="25" baseType="lpstr">
      <vt:lpstr>Arial</vt:lpstr>
      <vt:lpstr>Bahnschrift</vt:lpstr>
      <vt:lpstr>Bahnschrift Light</vt:lpstr>
      <vt:lpstr>Calibri</vt:lpstr>
      <vt:lpstr>Calibri Light</vt:lpstr>
      <vt:lpstr>Tahoma</vt:lpstr>
      <vt:lpstr>Times New Roman</vt:lpstr>
      <vt:lpstr>Times New Roman Greek</vt:lpstr>
      <vt:lpstr>Wingdings</vt:lpstr>
      <vt:lpstr>Προσαρμοσμένη σχεδίαση</vt:lpstr>
      <vt:lpstr>Θέμα του Office</vt:lpstr>
      <vt:lpstr>PowerPoint Presentation</vt:lpstr>
      <vt:lpstr>Οργάνωση Διάλεξης</vt:lpstr>
      <vt:lpstr>Πως αντιμετωπίζεται;  Goody’s vs. C/C++</vt:lpstr>
      <vt:lpstr>Πως αντιμετωπίζεται;  Goody’s vs. C/C++</vt:lpstr>
      <vt:lpstr>garbage collection</vt:lpstr>
      <vt:lpstr>strategies for garbage collection</vt:lpstr>
      <vt:lpstr>Λειτουργία του Garbage Collector</vt:lpstr>
      <vt:lpstr>Reachable and unreachable objects</vt:lpstr>
      <vt:lpstr>Λειτουργία του Garbage Collector</vt:lpstr>
      <vt:lpstr>GC – The basic process</vt:lpstr>
      <vt:lpstr>Συγχρονη – Ασύγχρονη Λειτουργία</vt:lpstr>
      <vt:lpstr>Μειονεκτήματα</vt:lpstr>
      <vt:lpstr>z Garbage Collector (ZGC) </vt:lpstr>
      <vt:lpstr>A brief history of garbage collection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Ch5_PartD-GarbageCollector</dc:title>
  <dc:creator>Kleanthis Thramboulidis</dc:creator>
  <cp:lastModifiedBy>thrambo@ece.upatras.gr</cp:lastModifiedBy>
  <cp:revision>74</cp:revision>
  <dcterms:created xsi:type="dcterms:W3CDTF">2020-03-13T12:21:17Z</dcterms:created>
  <dcterms:modified xsi:type="dcterms:W3CDTF">2024-10-09T05:59:32Z</dcterms:modified>
</cp:coreProperties>
</file>