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36"/>
  </p:notesMasterIdLst>
  <p:sldIdLst>
    <p:sldId id="262" r:id="rId3"/>
    <p:sldId id="771" r:id="rId4"/>
    <p:sldId id="781" r:id="rId5"/>
    <p:sldId id="760" r:id="rId6"/>
    <p:sldId id="780" r:id="rId7"/>
    <p:sldId id="770" r:id="rId8"/>
    <p:sldId id="799" r:id="rId9"/>
    <p:sldId id="772" r:id="rId10"/>
    <p:sldId id="774" r:id="rId11"/>
    <p:sldId id="775" r:id="rId12"/>
    <p:sldId id="782" r:id="rId13"/>
    <p:sldId id="785" r:id="rId14"/>
    <p:sldId id="786" r:id="rId15"/>
    <p:sldId id="800" r:id="rId16"/>
    <p:sldId id="777" r:id="rId17"/>
    <p:sldId id="779" r:id="rId18"/>
    <p:sldId id="776" r:id="rId19"/>
    <p:sldId id="801" r:id="rId20"/>
    <p:sldId id="783" r:id="rId21"/>
    <p:sldId id="778" r:id="rId22"/>
    <p:sldId id="784" r:id="rId23"/>
    <p:sldId id="788" r:id="rId24"/>
    <p:sldId id="802" r:id="rId25"/>
    <p:sldId id="790" r:id="rId26"/>
    <p:sldId id="789" r:id="rId27"/>
    <p:sldId id="791" r:id="rId28"/>
    <p:sldId id="793" r:id="rId29"/>
    <p:sldId id="808" r:id="rId30"/>
    <p:sldId id="806" r:id="rId31"/>
    <p:sldId id="807" r:id="rId32"/>
    <p:sldId id="805" r:id="rId33"/>
    <p:sldId id="798" r:id="rId34"/>
    <p:sldId id="804" r:id="rId35"/>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53" autoAdjust="0"/>
    <p:restoredTop sz="80934" autoAdjust="0"/>
  </p:normalViewPr>
  <p:slideViewPr>
    <p:cSldViewPr snapToGrid="0">
      <p:cViewPr varScale="1">
        <p:scale>
          <a:sx n="55" d="100"/>
          <a:sy n="55" d="100"/>
        </p:scale>
        <p:origin x="996" y="9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9/10/2024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444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827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2788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6424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2734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7042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7091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9081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250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544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6353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1113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3067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2681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9046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3164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04358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992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5456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07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1661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6481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4836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605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8686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23955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FB83A-702D-F6B6-B051-7F7C38C3823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8402B86-FF36-18F3-A7B9-36D96B1EE58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C4AFE71-4EDA-6579-5BD4-74BE2FD3E6B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01C359E-A0B1-79C4-73C5-1215732AC9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692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E6E8E-C080-E872-5729-D996E200612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2E0B566-CAED-B0EA-868E-6A20E57E8F7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C84C360-90CE-3C7B-147F-A2ABCB9D7E0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3E7B891-1F70-663C-678C-9241C511A6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25173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BDA2A-6470-E073-4392-0F9107DE6E6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E8262D7-D68C-3557-38AA-65CDB14FEAE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DA49906-8F05-828B-F8CD-4873F8BB210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010B4F8-37C6-5605-3796-09B8527FB4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52958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47DBF-7E9D-6E37-BFDC-0BC21E367D7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437F39A-F45B-BE52-BBDC-1B6AA6A12F8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7AC989C-87E0-11E3-E752-0E31FD1472C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6B2BBF5-1ABC-5D9D-FCA9-70BECD9755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7018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264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9/10/2024</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9/10/2024</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site/thramboulidiskleanthis/"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hyperlink" Target="http://seg.ceid.upatras.gr/OOCourse/"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hyperlink" Target="http://seg.ceid.upatras.gr/OOCourse/"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hyperlink" Target="https://docs.oracle.com/javase/8/docs/api/"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Υπότιτλος 2">
            <a:extLst>
              <a:ext uri="{FF2B5EF4-FFF2-40B4-BE49-F238E27FC236}">
                <a16:creationId xmlns:a16="http://schemas.microsoft.com/office/drawing/2014/main" id="{999AB7B1-2CA7-4F2E-91BE-62A4C3CC57D6}"/>
              </a:ext>
            </a:extLst>
          </p:cNvPr>
          <p:cNvSpPr txBox="1">
            <a:spLocks/>
          </p:cNvSpPr>
          <p:nvPr/>
        </p:nvSpPr>
        <p:spPr>
          <a:xfrm>
            <a:off x="-3" y="48411"/>
            <a:ext cx="12192002" cy="124981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4000" b="1" dirty="0">
                <a:solidFill>
                  <a:srgbClr val="F9853D"/>
                </a:solidFill>
                <a:latin typeface="Bahnschrift" panose="020B0502040204020203" pitchFamily="34" charset="0"/>
              </a:rPr>
              <a:t>Αντικειμενοστρεφής Προγραμματισμός </a:t>
            </a:r>
            <a:br>
              <a:rPr lang="el-GR" sz="4000" b="1" dirty="0">
                <a:solidFill>
                  <a:srgbClr val="F9853D"/>
                </a:solidFill>
                <a:latin typeface="Bahnschrift" panose="020B0502040204020203" pitchFamily="34" charset="0"/>
              </a:rPr>
            </a:br>
            <a:r>
              <a:rPr lang="el-GR" sz="4000" b="1" dirty="0">
                <a:solidFill>
                  <a:srgbClr val="F9853D"/>
                </a:solidFill>
                <a:latin typeface="Bahnschrift" panose="020B0502040204020203" pitchFamily="34" charset="0"/>
              </a:rPr>
              <a:t>(</a:t>
            </a:r>
            <a:r>
              <a:rPr lang="el-GR" sz="4000" b="1" dirty="0" err="1">
                <a:solidFill>
                  <a:srgbClr val="F9853D"/>
                </a:solidFill>
                <a:latin typeface="Bahnschrift" panose="020B0502040204020203" pitchFamily="34" charset="0"/>
              </a:rPr>
              <a:t>Object-Oriented</a:t>
            </a:r>
            <a:r>
              <a:rPr lang="el-GR" sz="4000" b="1" dirty="0">
                <a:solidFill>
                  <a:srgbClr val="F9853D"/>
                </a:solidFill>
                <a:latin typeface="Bahnschrift" panose="020B0502040204020203" pitchFamily="34" charset="0"/>
              </a:rPr>
              <a:t> </a:t>
            </a:r>
            <a:r>
              <a:rPr lang="el-GR" sz="4000" b="1" dirty="0" err="1">
                <a:solidFill>
                  <a:srgbClr val="F9853D"/>
                </a:solidFill>
                <a:latin typeface="Bahnschrift" panose="020B0502040204020203" pitchFamily="34" charset="0"/>
              </a:rPr>
              <a:t>Programming</a:t>
            </a:r>
            <a:r>
              <a:rPr lang="el-GR" sz="4000" b="1" dirty="0">
                <a:solidFill>
                  <a:srgbClr val="F9853D"/>
                </a:solidFill>
                <a:latin typeface="Bahnschrift" panose="020B0502040204020203" pitchFamily="34" charset="0"/>
              </a:rPr>
              <a:t>)</a:t>
            </a:r>
            <a:endParaRPr lang="en-US" sz="2800" b="1" dirty="0">
              <a:solidFill>
                <a:srgbClr val="F9853D"/>
              </a:solidFill>
              <a:latin typeface="Bahnschrift" panose="020B0502040204020203" pitchFamily="34" charset="0"/>
            </a:endParaRPr>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5" y="916276"/>
            <a:ext cx="12192003" cy="2726016"/>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Διεργασίες – Αντικείμενα - Υπηρεσίες</a:t>
            </a:r>
            <a:endParaRPr lang="en-US" sz="4000" b="1" dirty="0">
              <a:solidFill>
                <a:srgbClr val="60D69E"/>
              </a:solidFill>
              <a:latin typeface="Bahnschrift" panose="020B0502040204020203" pitchFamily="34" charset="0"/>
            </a:endParaRPr>
          </a:p>
          <a:p>
            <a:pPr algn="r">
              <a:lnSpc>
                <a:spcPct val="100000"/>
              </a:lnSpc>
              <a:spcBef>
                <a:spcPct val="0"/>
              </a:spcBef>
              <a:spcAft>
                <a:spcPts val="600"/>
              </a:spcAft>
            </a:pPr>
            <a:r>
              <a:rPr lang="el-GR" sz="4000" b="1" dirty="0">
                <a:solidFill>
                  <a:srgbClr val="60D69E"/>
                </a:solidFill>
                <a:latin typeface="Bahnschrift" panose="020B0502040204020203" pitchFamily="34" charset="0"/>
              </a:rPr>
              <a:t>Βασικές Έννοιες</a:t>
            </a:r>
          </a:p>
          <a:p>
            <a:pPr algn="r">
              <a:lnSpc>
                <a:spcPct val="100000"/>
              </a:lnSpc>
              <a:spcBef>
                <a:spcPct val="0"/>
              </a:spcBef>
              <a:spcAft>
                <a:spcPts val="600"/>
              </a:spcAft>
            </a:pPr>
            <a:r>
              <a:rPr lang="en-US" sz="4000" b="1" dirty="0">
                <a:solidFill>
                  <a:schemeClr val="accent1">
                    <a:lumMod val="60000"/>
                    <a:lumOff val="40000"/>
                  </a:schemeClr>
                </a:solidFill>
                <a:latin typeface="Bahnschrift" panose="020B0502040204020203" pitchFamily="34" charset="0"/>
              </a:rPr>
              <a:t>Conceptual model of </a:t>
            </a:r>
          </a:p>
          <a:p>
            <a:pPr algn="r">
              <a:lnSpc>
                <a:spcPct val="100000"/>
              </a:lnSpc>
              <a:spcBef>
                <a:spcPct val="0"/>
              </a:spcBef>
              <a:spcAft>
                <a:spcPts val="600"/>
              </a:spcAft>
            </a:pPr>
            <a:r>
              <a:rPr lang="en-US" sz="4000" b="1" dirty="0">
                <a:solidFill>
                  <a:schemeClr val="accent1">
                    <a:lumMod val="60000"/>
                    <a:lumOff val="40000"/>
                  </a:schemeClr>
                </a:solidFill>
                <a:latin typeface="Bahnschrift" panose="020B0502040204020203" pitchFamily="34" charset="0"/>
              </a:rPr>
              <a:t>Object-Oriented programming paradigm </a:t>
            </a:r>
          </a:p>
        </p:txBody>
      </p:sp>
      <p:sp>
        <p:nvSpPr>
          <p:cNvPr id="5" name="Rectangle 3">
            <a:extLst>
              <a:ext uri="{FF2B5EF4-FFF2-40B4-BE49-F238E27FC236}">
                <a16:creationId xmlns:a16="http://schemas.microsoft.com/office/drawing/2014/main" id="{850C4F10-C081-CD71-17C8-8DAD4C7DEEF4}"/>
              </a:ext>
            </a:extLst>
          </p:cNvPr>
          <p:cNvSpPr txBox="1">
            <a:spLocks noChangeArrowheads="1"/>
          </p:cNvSpPr>
          <p:nvPr/>
        </p:nvSpPr>
        <p:spPr bwMode="auto">
          <a:xfrm>
            <a:off x="0" y="5773068"/>
            <a:ext cx="8610600"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ctr" rtl="0" eaLnBrk="0" fontAlgn="base" hangingPunct="0">
              <a:spcBef>
                <a:spcPct val="20000"/>
              </a:spcBef>
              <a:spcAft>
                <a:spcPct val="0"/>
              </a:spcAft>
              <a:buFont typeface="Wingdings" pitchFamily="2" charset="2"/>
              <a:buNone/>
              <a:defRPr sz="4000">
                <a:solidFill>
                  <a:schemeClr val="tx1"/>
                </a:solidFill>
                <a:latin typeface="+mn-lt"/>
                <a:ea typeface="+mn-ea"/>
                <a:cs typeface="+mn-cs"/>
              </a:defRPr>
            </a:lvl1pPr>
            <a:lvl2pPr marL="742950" indent="-285750" algn="l" rtl="0" eaLnBrk="0" fontAlgn="base" hangingPunct="0">
              <a:spcBef>
                <a:spcPct val="20000"/>
              </a:spcBef>
              <a:spcAft>
                <a:spcPct val="0"/>
              </a:spcAft>
              <a:buFont typeface="Book Antiqua" panose="02040602050305030304" pitchFamily="18" charset="0"/>
              <a:buChar char="–"/>
              <a:defRPr sz="2800">
                <a:solidFill>
                  <a:schemeClr val="tx1"/>
                </a:solidFill>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algn="l" eaLnBrk="1" hangingPunct="1">
              <a:spcBef>
                <a:spcPct val="0"/>
              </a:spcBef>
              <a:defRPr/>
            </a:pPr>
            <a:r>
              <a:rPr lang="en-US" altLang="el-GR" sz="1800" b="0" i="0" kern="0" dirty="0">
                <a:solidFill>
                  <a:srgbClr val="800000"/>
                </a:solidFill>
                <a:latin typeface="Times New Roman" panose="02020603050405020304" pitchFamily="18" charset="0"/>
              </a:rPr>
              <a:t>Kleanthis Thramboulidis</a:t>
            </a:r>
          </a:p>
          <a:p>
            <a:pPr algn="l" eaLnBrk="1" hangingPunct="1">
              <a:spcBef>
                <a:spcPct val="0"/>
              </a:spcBef>
              <a:defRPr/>
            </a:pPr>
            <a:r>
              <a:rPr lang="en-US" altLang="el-GR" sz="1600" i="0" kern="0" dirty="0">
                <a:latin typeface="Times New Roman" panose="02020603050405020304" pitchFamily="18" charset="0"/>
              </a:rPr>
              <a:t>Prof. of Software and System Engineering </a:t>
            </a:r>
          </a:p>
          <a:p>
            <a:pPr algn="l" eaLnBrk="1" hangingPunct="1">
              <a:spcBef>
                <a:spcPct val="0"/>
              </a:spcBef>
              <a:defRPr/>
            </a:pPr>
            <a:r>
              <a:rPr lang="en-US" altLang="el-GR" sz="1600" b="0" i="0" kern="0" dirty="0">
                <a:latin typeface="Times New Roman" panose="02020603050405020304" pitchFamily="18" charset="0"/>
              </a:rPr>
              <a:t>University of Patras</a:t>
            </a:r>
            <a:r>
              <a:rPr lang="el-GR" altLang="el-GR" sz="1800" b="0" i="0" kern="0" dirty="0">
                <a:latin typeface="Times New Roman" panose="02020603050405020304" pitchFamily="18" charset="0"/>
              </a:rPr>
              <a:t> </a:t>
            </a:r>
            <a:endParaRPr lang="en-US" altLang="el-GR" sz="1800" b="0" i="0" kern="0" dirty="0">
              <a:latin typeface="Times New Roman" panose="02020603050405020304" pitchFamily="18" charset="0"/>
            </a:endParaRPr>
          </a:p>
          <a:p>
            <a:pPr algn="l" eaLnBrk="1" hangingPunct="1">
              <a:spcBef>
                <a:spcPct val="0"/>
              </a:spcBef>
              <a:defRPr/>
            </a:pPr>
            <a:r>
              <a:rPr lang="en-US" altLang="el-GR" sz="1600" b="0" i="0" dirty="0">
                <a:latin typeface="Times New Roman" panose="02020603050405020304" pitchFamily="18" charset="0"/>
                <a:hlinkClick r:id="rId3"/>
              </a:rPr>
              <a:t>https://sites.google.com/site/thramboulidiskleanthis/</a:t>
            </a:r>
            <a:endParaRPr lang="en-US" altLang="el-GR" sz="1600" b="0" i="0" dirty="0">
              <a:latin typeface="Times New Roman" panose="02020603050405020304" pitchFamily="18" charset="0"/>
            </a:endParaRPr>
          </a:p>
          <a:p>
            <a:pPr algn="l" eaLnBrk="1" hangingPunct="1">
              <a:spcBef>
                <a:spcPct val="0"/>
              </a:spcBef>
              <a:defRPr/>
            </a:pPr>
            <a:endParaRPr lang="el-GR" altLang="el-GR" sz="1800" kern="0" dirty="0">
              <a:latin typeface="Times New Roman" panose="02020603050405020304" pitchFamily="18" charset="0"/>
            </a:endParaRPr>
          </a:p>
          <a:p>
            <a:pPr algn="l" eaLnBrk="1" hangingPunct="1">
              <a:spcBef>
                <a:spcPct val="0"/>
              </a:spcBef>
              <a:defRPr/>
            </a:pPr>
            <a:endParaRPr lang="en-GB" altLang="el-GR" sz="1800" b="1" kern="0" dirty="0">
              <a:latin typeface="Times New Roman" panose="02020603050405020304" pitchFamily="18" charset="0"/>
            </a:endParaRPr>
          </a:p>
        </p:txBody>
      </p:sp>
      <p:sp>
        <p:nvSpPr>
          <p:cNvPr id="16" name="TextBox 15">
            <a:extLst>
              <a:ext uri="{FF2B5EF4-FFF2-40B4-BE49-F238E27FC236}">
                <a16:creationId xmlns:a16="http://schemas.microsoft.com/office/drawing/2014/main" id="{D3036E0A-62C8-F25D-25D5-595B0B27A6B1}"/>
              </a:ext>
            </a:extLst>
          </p:cNvPr>
          <p:cNvSpPr txBox="1"/>
          <p:nvPr/>
        </p:nvSpPr>
        <p:spPr>
          <a:xfrm>
            <a:off x="0" y="1318086"/>
            <a:ext cx="1769534" cy="369332"/>
          </a:xfrm>
          <a:prstGeom prst="rect">
            <a:avLst/>
          </a:prstGeom>
          <a:noFill/>
        </p:spPr>
        <p:txBody>
          <a:bodyPr wrap="square">
            <a:spAutoFit/>
          </a:bodyPr>
          <a:lstStyle/>
          <a:p>
            <a:r>
              <a:rPr lang="en-US" dirty="0">
                <a:solidFill>
                  <a:srgbClr val="F9853D"/>
                </a:solidFill>
                <a:latin typeface="Bahnschrift" panose="020B0502040204020203" pitchFamily="34" charset="0"/>
              </a:rPr>
              <a:t>(CEID_NNY106)</a:t>
            </a:r>
            <a:endParaRPr lang="el-GR" dirty="0">
              <a:solidFill>
                <a:srgbClr val="F9853D"/>
              </a:solidFill>
              <a:latin typeface="Bahnschrift" panose="020B0502040204020203" pitchFamily="34" charset="0"/>
            </a:endParaRPr>
          </a:p>
        </p:txBody>
      </p:sp>
      <p:pic>
        <p:nvPicPr>
          <p:cNvPr id="9" name="Picture 8">
            <a:extLst>
              <a:ext uri="{FF2B5EF4-FFF2-40B4-BE49-F238E27FC236}">
                <a16:creationId xmlns:a16="http://schemas.microsoft.com/office/drawing/2014/main" id="{21BEA504-8620-1165-A014-5AABC0AA921E}"/>
              </a:ext>
            </a:extLst>
          </p:cNvPr>
          <p:cNvPicPr>
            <a:picLocks noChangeAspect="1"/>
          </p:cNvPicPr>
          <p:nvPr/>
        </p:nvPicPr>
        <p:blipFill>
          <a:blip r:embed="rId4"/>
          <a:stretch>
            <a:fillRect/>
          </a:stretch>
        </p:blipFill>
        <p:spPr>
          <a:xfrm>
            <a:off x="6843074" y="3642292"/>
            <a:ext cx="5348924" cy="3224452"/>
          </a:xfrm>
          <a:prstGeom prst="rect">
            <a:avLst/>
          </a:prstGeom>
        </p:spPr>
      </p:pic>
      <p:sp>
        <p:nvSpPr>
          <p:cNvPr id="2" name="TextBox 1">
            <a:extLst>
              <a:ext uri="{FF2B5EF4-FFF2-40B4-BE49-F238E27FC236}">
                <a16:creationId xmlns:a16="http://schemas.microsoft.com/office/drawing/2014/main" id="{515F3EE9-A938-D663-D46A-160783F1F27F}"/>
              </a:ext>
            </a:extLst>
          </p:cNvPr>
          <p:cNvSpPr txBox="1"/>
          <p:nvPr/>
        </p:nvSpPr>
        <p:spPr>
          <a:xfrm>
            <a:off x="560303" y="2462259"/>
            <a:ext cx="1314527" cy="369332"/>
          </a:xfrm>
          <a:prstGeom prst="rect">
            <a:avLst/>
          </a:prstGeom>
          <a:noFill/>
        </p:spPr>
        <p:txBody>
          <a:bodyPr wrap="none" rtlCol="0">
            <a:spAutoFit/>
          </a:bodyPr>
          <a:lstStyle/>
          <a:p>
            <a:r>
              <a:rPr lang="el-GR" dirty="0"/>
              <a:t>Κύρια Πηγή</a:t>
            </a:r>
          </a:p>
        </p:txBody>
      </p:sp>
      <p:pic>
        <p:nvPicPr>
          <p:cNvPr id="6" name="Picture 5">
            <a:extLst>
              <a:ext uri="{FF2B5EF4-FFF2-40B4-BE49-F238E27FC236}">
                <a16:creationId xmlns:a16="http://schemas.microsoft.com/office/drawing/2014/main" id="{06171E6F-8AE9-B75E-1823-7991CADC80F8}"/>
              </a:ext>
            </a:extLst>
          </p:cNvPr>
          <p:cNvPicPr>
            <a:picLocks noChangeAspect="1"/>
          </p:cNvPicPr>
          <p:nvPr/>
        </p:nvPicPr>
        <p:blipFill>
          <a:blip r:embed="rId5"/>
          <a:stretch>
            <a:fillRect/>
          </a:stretch>
        </p:blipFill>
        <p:spPr>
          <a:xfrm>
            <a:off x="242123" y="2741663"/>
            <a:ext cx="1950889" cy="2819644"/>
          </a:xfrm>
          <a:prstGeom prst="rect">
            <a:avLst/>
          </a:prstGeom>
        </p:spPr>
      </p:pic>
      <p:sp>
        <p:nvSpPr>
          <p:cNvPr id="3" name="Rectangle 2">
            <a:extLst>
              <a:ext uri="{FF2B5EF4-FFF2-40B4-BE49-F238E27FC236}">
                <a16:creationId xmlns:a16="http://schemas.microsoft.com/office/drawing/2014/main" id="{9DDB7451-9051-A4C4-062D-608CC613C367}"/>
              </a:ext>
            </a:extLst>
          </p:cNvPr>
          <p:cNvSpPr/>
          <p:nvPr/>
        </p:nvSpPr>
        <p:spPr>
          <a:xfrm>
            <a:off x="239084" y="3913536"/>
            <a:ext cx="1950889" cy="31272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dirty="0"/>
              <a:t>Κεφάλαιο: </a:t>
            </a:r>
            <a:r>
              <a:rPr lang="en-US" sz="1600" dirty="0"/>
              <a:t>2</a:t>
            </a:r>
            <a:endParaRPr lang="el-GR" sz="1600" dirty="0"/>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Διεργασίες: Υπολογιστικές - </a:t>
            </a:r>
            <a:r>
              <a:rPr lang="el-GR" sz="4000" b="1" dirty="0" err="1">
                <a:solidFill>
                  <a:srgbClr val="F9853D"/>
                </a:solidFill>
                <a:latin typeface="Bahnschrift" panose="020B0502040204020203" pitchFamily="34" charset="0"/>
              </a:rPr>
              <a:t>Κυβερνοφυσικές</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Rectangle 3">
            <a:extLst>
              <a:ext uri="{FF2B5EF4-FFF2-40B4-BE49-F238E27FC236}">
                <a16:creationId xmlns:a16="http://schemas.microsoft.com/office/drawing/2014/main" id="{9E6C6733-C33C-5EE1-8D71-5A70B6BB7235}"/>
              </a:ext>
            </a:extLst>
          </p:cNvPr>
          <p:cNvSpPr txBox="1">
            <a:spLocks noChangeArrowheads="1"/>
          </p:cNvSpPr>
          <p:nvPr/>
        </p:nvSpPr>
        <p:spPr bwMode="auto">
          <a:xfrm>
            <a:off x="-1" y="3517677"/>
            <a:ext cx="12192000" cy="19166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0" eaLnBrk="1" hangingPunct="1">
              <a:buClr>
                <a:srgbClr val="3333CC"/>
              </a:buClr>
              <a:defRPr/>
            </a:pPr>
            <a:r>
              <a:rPr lang="el-GR" sz="2000" kern="0" dirty="0">
                <a:latin typeface="Tahoma"/>
              </a:rPr>
              <a:t>Για πολλά χρόνια, ο υπολογιστής χρησιμοποιήθηκε για υλοποίηση υπολογιστικών</a:t>
            </a:r>
            <a:r>
              <a:rPr lang="en-US" sz="2000" kern="0" dirty="0">
                <a:latin typeface="Tahoma"/>
              </a:rPr>
              <a:t> </a:t>
            </a:r>
            <a:r>
              <a:rPr lang="el-GR" sz="2000" kern="0" dirty="0">
                <a:latin typeface="Tahoma"/>
              </a:rPr>
              <a:t>διεργασιών. Μια τέτοια διεργασία δέχεται ως </a:t>
            </a:r>
            <a:r>
              <a:rPr lang="el-GR" sz="2000" kern="0">
                <a:latin typeface="Tahoma"/>
              </a:rPr>
              <a:t>είσοδο δεδομένα </a:t>
            </a:r>
            <a:r>
              <a:rPr lang="el-GR" sz="2000" kern="0" dirty="0">
                <a:latin typeface="Tahoma"/>
              </a:rPr>
              <a:t>και έχει ως έξοδο</a:t>
            </a:r>
            <a:r>
              <a:rPr lang="en-US" sz="2000" kern="0" dirty="0">
                <a:latin typeface="Tahoma"/>
              </a:rPr>
              <a:t> </a:t>
            </a:r>
            <a:r>
              <a:rPr lang="el-GR" sz="2000" kern="0" dirty="0">
                <a:latin typeface="Tahoma"/>
              </a:rPr>
              <a:t>πληροφορία η οποία διαμορφώνεται από τη διεργασία, με βάση την είσοδο που αυτή</a:t>
            </a:r>
            <a:r>
              <a:rPr lang="en-US" sz="2000" kern="0" dirty="0">
                <a:latin typeface="Tahoma"/>
              </a:rPr>
              <a:t> </a:t>
            </a:r>
            <a:r>
              <a:rPr lang="el-GR" sz="2000" kern="0" dirty="0">
                <a:latin typeface="Tahoma"/>
              </a:rPr>
              <a:t>δέχτηκε.</a:t>
            </a:r>
          </a:p>
          <a:p>
            <a:pPr lvl="0" eaLnBrk="1" hangingPunct="1">
              <a:buClr>
                <a:srgbClr val="3333CC"/>
              </a:buClr>
              <a:defRPr/>
            </a:pPr>
            <a:r>
              <a:rPr lang="el-GR" sz="2400" kern="0" dirty="0">
                <a:latin typeface="Tahoma"/>
              </a:rPr>
              <a:t>Τα τελευταία χρόνια υπολογιστικές μονάδες ενσωματώθηκαν σε φυσικά συστήματα με στόχο να επιτρέψουν μια πιο αποδοτική παρακολούθηση αλλά και έλεγχο του φυσικού συστήματος. Αυτό μετατρέπει τα φυσικά συστήματα που υλοποιούν φυσικές διεργασίας σε </a:t>
            </a:r>
            <a:r>
              <a:rPr lang="el-GR" sz="2400" b="1" kern="0" dirty="0" err="1">
                <a:latin typeface="Tahoma"/>
              </a:rPr>
              <a:t>κυβερνοφυσικά</a:t>
            </a:r>
            <a:r>
              <a:rPr lang="el-GR" sz="2400" b="1" kern="0" dirty="0">
                <a:latin typeface="Tahoma"/>
              </a:rPr>
              <a:t> συστήματα</a:t>
            </a:r>
            <a:r>
              <a:rPr lang="el-GR" sz="2400" kern="0" dirty="0">
                <a:latin typeface="Tahoma"/>
              </a:rPr>
              <a:t>, τα οποία πραγματοποιούν </a:t>
            </a:r>
            <a:r>
              <a:rPr lang="el-GR" sz="2400" kern="0" dirty="0" err="1">
                <a:latin typeface="Tahoma"/>
              </a:rPr>
              <a:t>κυβερνοφυσικές</a:t>
            </a:r>
            <a:r>
              <a:rPr lang="el-GR" sz="2400" kern="0" dirty="0">
                <a:latin typeface="Tahoma"/>
              </a:rPr>
              <a:t> διεργασίες.</a:t>
            </a:r>
            <a:endParaRPr kumimoji="0" lang="en-GB" sz="2400" b="0" i="0" u="none" strike="noStrike" kern="0" cap="none" spc="0" normalizeH="0" baseline="0" noProof="0" dirty="0">
              <a:ln>
                <a:noFill/>
              </a:ln>
              <a:effectLst/>
              <a:uLnTx/>
              <a:uFillTx/>
              <a:latin typeface="Tahoma"/>
            </a:endParaRPr>
          </a:p>
        </p:txBody>
      </p:sp>
      <p:pic>
        <p:nvPicPr>
          <p:cNvPr id="9" name="Picture 8">
            <a:extLst>
              <a:ext uri="{FF2B5EF4-FFF2-40B4-BE49-F238E27FC236}">
                <a16:creationId xmlns:a16="http://schemas.microsoft.com/office/drawing/2014/main" id="{42A0A471-73B7-8F45-7EE0-BF58B4DD241D}"/>
              </a:ext>
            </a:extLst>
          </p:cNvPr>
          <p:cNvPicPr>
            <a:picLocks noChangeAspect="1"/>
          </p:cNvPicPr>
          <p:nvPr/>
        </p:nvPicPr>
        <p:blipFill>
          <a:blip r:embed="rId3"/>
          <a:stretch>
            <a:fillRect/>
          </a:stretch>
        </p:blipFill>
        <p:spPr>
          <a:xfrm>
            <a:off x="434134" y="1607769"/>
            <a:ext cx="4740051" cy="1752752"/>
          </a:xfrm>
          <a:prstGeom prst="rect">
            <a:avLst/>
          </a:prstGeom>
        </p:spPr>
      </p:pic>
      <p:sp>
        <p:nvSpPr>
          <p:cNvPr id="12" name="TextBox 11">
            <a:extLst>
              <a:ext uri="{FF2B5EF4-FFF2-40B4-BE49-F238E27FC236}">
                <a16:creationId xmlns:a16="http://schemas.microsoft.com/office/drawing/2014/main" id="{95B2C275-935E-33F1-E240-F177106F994B}"/>
              </a:ext>
            </a:extLst>
          </p:cNvPr>
          <p:cNvSpPr txBox="1"/>
          <p:nvPr/>
        </p:nvSpPr>
        <p:spPr>
          <a:xfrm>
            <a:off x="0" y="808345"/>
            <a:ext cx="11476219" cy="646331"/>
          </a:xfrm>
          <a:prstGeom prst="rect">
            <a:avLst/>
          </a:prstGeom>
          <a:noFill/>
        </p:spPr>
        <p:txBody>
          <a:bodyPr wrap="none" rtlCol="0">
            <a:spAutoFit/>
          </a:bodyPr>
          <a:lstStyle/>
          <a:p>
            <a:r>
              <a:rPr lang="el-GR" sz="3600" dirty="0"/>
              <a:t>Εισαγωγή στον Προγραμματισμό – </a:t>
            </a:r>
            <a:r>
              <a:rPr lang="en-US" sz="3600" dirty="0"/>
              <a:t>Procedural Programming</a:t>
            </a:r>
            <a:endParaRPr lang="el-GR" sz="3600" dirty="0"/>
          </a:p>
        </p:txBody>
      </p:sp>
      <p:pic>
        <p:nvPicPr>
          <p:cNvPr id="14" name="Picture 13">
            <a:extLst>
              <a:ext uri="{FF2B5EF4-FFF2-40B4-BE49-F238E27FC236}">
                <a16:creationId xmlns:a16="http://schemas.microsoft.com/office/drawing/2014/main" id="{E3E9E0EF-9355-481C-8019-13CABA16FDE7}"/>
              </a:ext>
            </a:extLst>
          </p:cNvPr>
          <p:cNvPicPr>
            <a:picLocks noChangeAspect="1"/>
          </p:cNvPicPr>
          <p:nvPr/>
        </p:nvPicPr>
        <p:blipFill>
          <a:blip r:embed="rId4"/>
          <a:stretch>
            <a:fillRect/>
          </a:stretch>
        </p:blipFill>
        <p:spPr>
          <a:xfrm>
            <a:off x="5768101" y="1603619"/>
            <a:ext cx="5502117" cy="1607959"/>
          </a:xfrm>
          <a:prstGeom prst="rect">
            <a:avLst/>
          </a:prstGeom>
        </p:spPr>
      </p:pic>
    </p:spTree>
    <p:extLst>
      <p:ext uri="{BB962C8B-B14F-4D97-AF65-F5344CB8AC3E}">
        <p14:creationId xmlns:p14="http://schemas.microsoft.com/office/powerpoint/2010/main" val="552002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Αντικείμενα</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 Διεργασίες</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και Υπηρεσίες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Rectangle 3">
            <a:extLst>
              <a:ext uri="{FF2B5EF4-FFF2-40B4-BE49-F238E27FC236}">
                <a16:creationId xmlns:a16="http://schemas.microsoft.com/office/drawing/2014/main" id="{9E6C6733-C33C-5EE1-8D71-5A70B6BB7235}"/>
              </a:ext>
            </a:extLst>
          </p:cNvPr>
          <p:cNvSpPr txBox="1">
            <a:spLocks noChangeArrowheads="1"/>
          </p:cNvSpPr>
          <p:nvPr/>
        </p:nvSpPr>
        <p:spPr bwMode="auto">
          <a:xfrm>
            <a:off x="-1" y="3239437"/>
            <a:ext cx="12192000" cy="19166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0" eaLnBrk="1" hangingPunct="1">
              <a:buClr>
                <a:srgbClr val="3333CC"/>
              </a:buClr>
              <a:defRPr/>
            </a:pPr>
            <a:r>
              <a:rPr lang="el-GR" sz="2800" kern="0" dirty="0">
                <a:latin typeface="Tahoma"/>
              </a:rPr>
              <a:t>Η αντικειμενοστρεφής προσέγγιση αναπαριστά το πρόγραμμα ως αντικείμενο. </a:t>
            </a:r>
          </a:p>
          <a:p>
            <a:pPr lvl="0" eaLnBrk="1" hangingPunct="1">
              <a:buClr>
                <a:srgbClr val="3333CC"/>
              </a:buClr>
              <a:defRPr/>
            </a:pPr>
            <a:r>
              <a:rPr lang="el-GR" sz="2800" kern="0" dirty="0">
                <a:latin typeface="Tahoma"/>
              </a:rPr>
              <a:t>Το αντικείμενο </a:t>
            </a:r>
            <a:r>
              <a:rPr lang="el-GR" sz="2800" b="1" kern="0" dirty="0">
                <a:latin typeface="Tahoma"/>
              </a:rPr>
              <a:t>υλοποιεί </a:t>
            </a:r>
            <a:r>
              <a:rPr lang="el-GR" sz="2800" b="1" kern="0" dirty="0">
                <a:solidFill>
                  <a:srgbClr val="C00000"/>
                </a:solidFill>
                <a:latin typeface="Tahoma"/>
              </a:rPr>
              <a:t>διεργασίες</a:t>
            </a:r>
            <a:r>
              <a:rPr lang="el-GR" sz="2800" b="1" kern="0" dirty="0">
                <a:latin typeface="Tahoma"/>
              </a:rPr>
              <a:t>  </a:t>
            </a:r>
            <a:r>
              <a:rPr lang="el-GR" sz="2800" kern="0" dirty="0">
                <a:latin typeface="Tahoma"/>
              </a:rPr>
              <a:t>τις οποίες </a:t>
            </a:r>
            <a:r>
              <a:rPr lang="el-GR" sz="2800" b="1" kern="0" dirty="0">
                <a:latin typeface="Tahoma"/>
              </a:rPr>
              <a:t>προσφέρει ως </a:t>
            </a:r>
            <a:r>
              <a:rPr lang="el-GR" sz="2800" b="1" kern="0" dirty="0">
                <a:solidFill>
                  <a:srgbClr val="C00000"/>
                </a:solidFill>
                <a:latin typeface="Tahoma"/>
              </a:rPr>
              <a:t>υπηρεσίες</a:t>
            </a:r>
            <a:r>
              <a:rPr lang="el-GR" sz="2800" kern="0" dirty="0">
                <a:latin typeface="Tahoma"/>
              </a:rPr>
              <a:t>.</a:t>
            </a:r>
          </a:p>
        </p:txBody>
      </p:sp>
      <p:sp>
        <p:nvSpPr>
          <p:cNvPr id="12" name="TextBox 11">
            <a:extLst>
              <a:ext uri="{FF2B5EF4-FFF2-40B4-BE49-F238E27FC236}">
                <a16:creationId xmlns:a16="http://schemas.microsoft.com/office/drawing/2014/main" id="{95B2C275-935E-33F1-E240-F177106F994B}"/>
              </a:ext>
            </a:extLst>
          </p:cNvPr>
          <p:cNvSpPr txBox="1"/>
          <p:nvPr/>
        </p:nvSpPr>
        <p:spPr>
          <a:xfrm>
            <a:off x="0" y="808345"/>
            <a:ext cx="12215652" cy="584775"/>
          </a:xfrm>
          <a:prstGeom prst="rect">
            <a:avLst/>
          </a:prstGeom>
          <a:noFill/>
        </p:spPr>
        <p:txBody>
          <a:bodyPr wrap="none" rtlCol="0">
            <a:spAutoFit/>
          </a:bodyPr>
          <a:lstStyle/>
          <a:p>
            <a:r>
              <a:rPr lang="el-GR" sz="3200" dirty="0"/>
              <a:t>Αντικειμενοστρεφής Προγραμματισμός – </a:t>
            </a:r>
            <a:r>
              <a:rPr lang="en-US" sz="3200" dirty="0"/>
              <a:t>Object-Oriented Programming</a:t>
            </a:r>
            <a:endParaRPr lang="el-GR" sz="3200" dirty="0"/>
          </a:p>
        </p:txBody>
      </p:sp>
      <p:sp>
        <p:nvSpPr>
          <p:cNvPr id="3" name="Rectangle 2">
            <a:extLst>
              <a:ext uri="{FF2B5EF4-FFF2-40B4-BE49-F238E27FC236}">
                <a16:creationId xmlns:a16="http://schemas.microsoft.com/office/drawing/2014/main" id="{B26DDBBC-BD12-26F8-761E-26E961D0E26A}"/>
              </a:ext>
            </a:extLst>
          </p:cNvPr>
          <p:cNvSpPr/>
          <p:nvPr/>
        </p:nvSpPr>
        <p:spPr>
          <a:xfrm>
            <a:off x="4121971" y="1737360"/>
            <a:ext cx="3101789" cy="1106528"/>
          </a:xfrm>
          <a:prstGeom prst="rect">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RPN Calculator</a:t>
            </a:r>
            <a:endParaRPr lang="el-GR" sz="2800" dirty="0">
              <a:solidFill>
                <a:schemeClr val="tx1"/>
              </a:solidFill>
            </a:endParaRPr>
          </a:p>
        </p:txBody>
      </p:sp>
      <p:cxnSp>
        <p:nvCxnSpPr>
          <p:cNvPr id="7" name="Straight Arrow Connector 6">
            <a:extLst>
              <a:ext uri="{FF2B5EF4-FFF2-40B4-BE49-F238E27FC236}">
                <a16:creationId xmlns:a16="http://schemas.microsoft.com/office/drawing/2014/main" id="{C25D38F8-DE71-6120-EA53-AFB557F8522C}"/>
              </a:ext>
            </a:extLst>
          </p:cNvPr>
          <p:cNvCxnSpPr>
            <a:endCxn id="3" idx="1"/>
          </p:cNvCxnSpPr>
          <p:nvPr/>
        </p:nvCxnSpPr>
        <p:spPr>
          <a:xfrm flipV="1">
            <a:off x="1920240" y="2290624"/>
            <a:ext cx="2201731" cy="132536"/>
          </a:xfrm>
          <a:prstGeom prst="straightConnector1">
            <a:avLst/>
          </a:prstGeom>
          <a:solidFill>
            <a:schemeClr val="bg1"/>
          </a:solidFill>
          <a:ln w="381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Arrow Connector 12">
            <a:extLst>
              <a:ext uri="{FF2B5EF4-FFF2-40B4-BE49-F238E27FC236}">
                <a16:creationId xmlns:a16="http://schemas.microsoft.com/office/drawing/2014/main" id="{2C04B01F-CEE2-8E54-AEA0-025635313402}"/>
              </a:ext>
            </a:extLst>
          </p:cNvPr>
          <p:cNvCxnSpPr>
            <a:cxnSpLocks/>
          </p:cNvCxnSpPr>
          <p:nvPr/>
        </p:nvCxnSpPr>
        <p:spPr>
          <a:xfrm>
            <a:off x="7223760" y="2199445"/>
            <a:ext cx="2321073" cy="223715"/>
          </a:xfrm>
          <a:prstGeom prst="straightConnector1">
            <a:avLst/>
          </a:prstGeom>
          <a:solidFill>
            <a:schemeClr val="bg1"/>
          </a:solidFill>
          <a:ln w="381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9833308F-E99A-D088-6537-0366CF35EFB6}"/>
              </a:ext>
            </a:extLst>
          </p:cNvPr>
          <p:cNvSpPr txBox="1"/>
          <p:nvPr/>
        </p:nvSpPr>
        <p:spPr>
          <a:xfrm rot="21435785">
            <a:off x="2095604" y="1933838"/>
            <a:ext cx="1632370" cy="369332"/>
          </a:xfrm>
          <a:prstGeom prst="rect">
            <a:avLst/>
          </a:prstGeom>
          <a:noFill/>
        </p:spPr>
        <p:txBody>
          <a:bodyPr wrap="none" rtlCol="0">
            <a:spAutoFit/>
          </a:bodyPr>
          <a:lstStyle/>
          <a:p>
            <a:r>
              <a:rPr lang="en-US" dirty="0"/>
              <a:t>RPN Expression</a:t>
            </a:r>
            <a:endParaRPr lang="el-GR" dirty="0"/>
          </a:p>
        </p:txBody>
      </p:sp>
      <p:sp>
        <p:nvSpPr>
          <p:cNvPr id="17" name="TextBox 16">
            <a:extLst>
              <a:ext uri="{FF2B5EF4-FFF2-40B4-BE49-F238E27FC236}">
                <a16:creationId xmlns:a16="http://schemas.microsoft.com/office/drawing/2014/main" id="{346E4F69-D305-97C2-2A96-103F9E157806}"/>
              </a:ext>
            </a:extLst>
          </p:cNvPr>
          <p:cNvSpPr txBox="1"/>
          <p:nvPr/>
        </p:nvSpPr>
        <p:spPr>
          <a:xfrm rot="283744">
            <a:off x="7641394" y="2029478"/>
            <a:ext cx="1765740" cy="646331"/>
          </a:xfrm>
          <a:prstGeom prst="rect">
            <a:avLst/>
          </a:prstGeom>
          <a:noFill/>
        </p:spPr>
        <p:txBody>
          <a:bodyPr wrap="none" rtlCol="0">
            <a:spAutoFit/>
          </a:bodyPr>
          <a:lstStyle/>
          <a:p>
            <a:r>
              <a:rPr lang="en-US" dirty="0"/>
              <a:t>RPN Expression’s</a:t>
            </a:r>
          </a:p>
          <a:p>
            <a:r>
              <a:rPr lang="en-US" dirty="0"/>
              <a:t>value</a:t>
            </a:r>
            <a:endParaRPr lang="el-GR" dirty="0"/>
          </a:p>
        </p:txBody>
      </p:sp>
      <p:pic>
        <p:nvPicPr>
          <p:cNvPr id="19" name="Picture 18">
            <a:extLst>
              <a:ext uri="{FF2B5EF4-FFF2-40B4-BE49-F238E27FC236}">
                <a16:creationId xmlns:a16="http://schemas.microsoft.com/office/drawing/2014/main" id="{F74C925F-5281-AE54-447F-828BFF9EF557}"/>
              </a:ext>
            </a:extLst>
          </p:cNvPr>
          <p:cNvPicPr>
            <a:picLocks noChangeAspect="1"/>
          </p:cNvPicPr>
          <p:nvPr/>
        </p:nvPicPr>
        <p:blipFill>
          <a:blip r:embed="rId3"/>
          <a:stretch>
            <a:fillRect/>
          </a:stretch>
        </p:blipFill>
        <p:spPr>
          <a:xfrm>
            <a:off x="6031804" y="5078270"/>
            <a:ext cx="1788114" cy="1139575"/>
          </a:xfrm>
          <a:prstGeom prst="rect">
            <a:avLst/>
          </a:prstGeom>
        </p:spPr>
      </p:pic>
      <p:pic>
        <p:nvPicPr>
          <p:cNvPr id="21" name="Picture 20">
            <a:extLst>
              <a:ext uri="{FF2B5EF4-FFF2-40B4-BE49-F238E27FC236}">
                <a16:creationId xmlns:a16="http://schemas.microsoft.com/office/drawing/2014/main" id="{49398A31-8CEF-4025-ABB5-20AFFC733463}"/>
              </a:ext>
            </a:extLst>
          </p:cNvPr>
          <p:cNvPicPr>
            <a:picLocks noChangeAspect="1"/>
          </p:cNvPicPr>
          <p:nvPr/>
        </p:nvPicPr>
        <p:blipFill>
          <a:blip r:embed="rId4"/>
          <a:stretch>
            <a:fillRect/>
          </a:stretch>
        </p:blipFill>
        <p:spPr>
          <a:xfrm>
            <a:off x="2962901" y="4816797"/>
            <a:ext cx="1545920" cy="1662522"/>
          </a:xfrm>
          <a:prstGeom prst="rect">
            <a:avLst/>
          </a:prstGeom>
        </p:spPr>
      </p:pic>
      <p:pic>
        <p:nvPicPr>
          <p:cNvPr id="23" name="Picture 22">
            <a:extLst>
              <a:ext uri="{FF2B5EF4-FFF2-40B4-BE49-F238E27FC236}">
                <a16:creationId xmlns:a16="http://schemas.microsoft.com/office/drawing/2014/main" id="{EE7A22D9-AE90-E285-4BA4-CEA15BCF0A18}"/>
              </a:ext>
            </a:extLst>
          </p:cNvPr>
          <p:cNvPicPr>
            <a:picLocks noChangeAspect="1"/>
          </p:cNvPicPr>
          <p:nvPr/>
        </p:nvPicPr>
        <p:blipFill>
          <a:blip r:embed="rId5"/>
          <a:stretch>
            <a:fillRect/>
          </a:stretch>
        </p:blipFill>
        <p:spPr>
          <a:xfrm>
            <a:off x="9073785" y="4743893"/>
            <a:ext cx="1232687" cy="1587550"/>
          </a:xfrm>
          <a:prstGeom prst="rect">
            <a:avLst/>
          </a:prstGeom>
        </p:spPr>
      </p:pic>
    </p:spTree>
    <p:extLst>
      <p:ext uri="{BB962C8B-B14F-4D97-AF65-F5344CB8AC3E}">
        <p14:creationId xmlns:p14="http://schemas.microsoft.com/office/powerpoint/2010/main" val="27275349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179511" y="1052736"/>
            <a:ext cx="10165491"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1" i="0" u="none" strike="noStrike" kern="0" cap="none" spc="0" normalizeH="0" baseline="0" noProof="0" dirty="0">
                <a:ln>
                  <a:noFill/>
                </a:ln>
                <a:solidFill>
                  <a:srgbClr val="000000"/>
                </a:solidFill>
                <a:effectLst/>
                <a:uLnTx/>
                <a:uFillTx/>
                <a:latin typeface="Tahoma"/>
                <a:ea typeface="+mn-ea"/>
                <a:cs typeface="+mn-cs"/>
              </a:rPr>
              <a:t>Νοητικό μοντέλο Αντικειμενοστρεφούς Προγραμματισμού </a:t>
            </a:r>
            <a:r>
              <a:rPr kumimoji="0" lang="en-US" sz="3200" b="1" i="0" u="none" strike="noStrike" kern="0" cap="none" spc="0" normalizeH="0" baseline="0" noProof="0" dirty="0">
                <a:ln>
                  <a:noFill/>
                </a:ln>
                <a:solidFill>
                  <a:srgbClr val="000000"/>
                </a:solidFill>
                <a:effectLst/>
                <a:uLnTx/>
                <a:uFillTx/>
                <a:latin typeface="Tahoma"/>
                <a:ea typeface="+mn-ea"/>
                <a:cs typeface="+mn-cs"/>
              </a:rPr>
              <a:t>(</a:t>
            </a:r>
            <a:r>
              <a:rPr lang="en-US" b="1" kern="0" dirty="0">
                <a:solidFill>
                  <a:srgbClr val="000000"/>
                </a:solidFill>
                <a:latin typeface="Tahoma"/>
              </a:rPr>
              <a:t>OOP </a:t>
            </a:r>
            <a:r>
              <a:rPr kumimoji="0" lang="en-US" sz="3200" b="1" i="0" u="none" strike="noStrike" kern="0" cap="none" spc="0" normalizeH="0" baseline="0" noProof="0" dirty="0">
                <a:ln>
                  <a:noFill/>
                </a:ln>
                <a:solidFill>
                  <a:srgbClr val="000000"/>
                </a:solidFill>
                <a:effectLst/>
                <a:uLnTx/>
                <a:uFillTx/>
                <a:latin typeface="Tahoma"/>
                <a:ea typeface="+mn-ea"/>
                <a:cs typeface="+mn-cs"/>
              </a:rPr>
              <a:t>Conceptual model</a:t>
            </a:r>
            <a:r>
              <a:rPr kumimoji="0" lang="el-GR" sz="3200" b="1"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lang="el-GR" kern="0" dirty="0">
                <a:solidFill>
                  <a:srgbClr val="000000"/>
                </a:solidFill>
                <a:latin typeface="Tahoma"/>
              </a:rPr>
              <a:t>Α</a:t>
            </a:r>
            <a:r>
              <a:rPr kumimoji="0" lang="el-GR" sz="3200" i="0" u="none" strike="noStrike" kern="0" cap="none" spc="0" normalizeH="0" baseline="0" noProof="0" dirty="0" err="1">
                <a:ln>
                  <a:noFill/>
                </a:ln>
                <a:solidFill>
                  <a:srgbClr val="000000"/>
                </a:solidFill>
                <a:effectLst/>
                <a:uLnTx/>
                <a:uFillTx/>
                <a:latin typeface="Tahoma"/>
                <a:ea typeface="+mn-ea"/>
                <a:cs typeface="+mn-cs"/>
              </a:rPr>
              <a:t>ντικε</a:t>
            </a:r>
            <a:r>
              <a:rPr lang="el-GR" kern="0" dirty="0" err="1">
                <a:solidFill>
                  <a:srgbClr val="000000"/>
                </a:solidFill>
                <a:latin typeface="Tahoma"/>
              </a:rPr>
              <a:t>ίμενο</a:t>
            </a:r>
            <a:r>
              <a:rPr lang="el-GR" kern="0" dirty="0">
                <a:solidFill>
                  <a:srgbClr val="000000"/>
                </a:solidFill>
                <a:latin typeface="Tahoma"/>
              </a:rPr>
              <a:t> το βασικό δομικό στοιχείο</a:t>
            </a:r>
            <a:endParaRPr kumimoji="0" lang="en-US" sz="3200"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Object-class-instance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Objects collaborate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Associations</a:t>
            </a:r>
            <a:endParaRPr kumimoji="0" lang="el-GR" sz="28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0" i="0" u="none" strike="noStrike" kern="0" cap="none" spc="0" normalizeH="0" baseline="0" noProof="0" dirty="0">
                <a:ln>
                  <a:noFill/>
                </a:ln>
                <a:solidFill>
                  <a:srgbClr val="000000"/>
                </a:solidFill>
                <a:effectLst/>
                <a:uLnTx/>
                <a:uFillTx/>
                <a:latin typeface="Tahoma"/>
                <a:ea typeface="+mn-ea"/>
                <a:cs typeface="+mn-cs"/>
              </a:rPr>
              <a:t>Το παράδειγμα της Στοίβας</a:t>
            </a:r>
            <a:endParaRPr kumimoji="0" lang="en-US"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kern="0" dirty="0">
                <a:solidFill>
                  <a:srgbClr val="000000"/>
                </a:solidFill>
                <a:latin typeface="Tahoma"/>
              </a:rPr>
              <a:t>H </a:t>
            </a:r>
            <a:r>
              <a:rPr lang="el-GR" kern="0" dirty="0">
                <a:solidFill>
                  <a:srgbClr val="000000"/>
                </a:solidFill>
                <a:latin typeface="Tahoma"/>
              </a:rPr>
              <a:t>κλάση </a:t>
            </a:r>
            <a:r>
              <a:rPr lang="en-US" kern="0" dirty="0">
                <a:solidFill>
                  <a:srgbClr val="000000"/>
                </a:solidFill>
                <a:latin typeface="Tahoma"/>
              </a:rPr>
              <a:t>Stack</a:t>
            </a:r>
          </a:p>
          <a:p>
            <a:pPr lvl="1" indent="-342900" eaLnBrk="1" hangingPunct="1">
              <a:buClr>
                <a:srgbClr val="3333CC"/>
              </a:buClr>
              <a:buSzPct val="60000"/>
              <a:defRPr/>
            </a:pPr>
            <a:r>
              <a:rPr lang="el-GR" kern="0" dirty="0">
                <a:solidFill>
                  <a:srgbClr val="000000"/>
                </a:solidFill>
                <a:latin typeface="Tahoma"/>
              </a:rPr>
              <a:t>Στιγμιότυπα της </a:t>
            </a:r>
            <a:r>
              <a:rPr lang="en-US" kern="0" dirty="0">
                <a:solidFill>
                  <a:srgbClr val="000000"/>
                </a:solidFill>
                <a:latin typeface="Tahoma"/>
              </a:rPr>
              <a:t>Stack</a:t>
            </a:r>
          </a:p>
          <a:p>
            <a:pPr lvl="1" indent="-342900" eaLnBrk="1" hangingPunct="1">
              <a:buClr>
                <a:srgbClr val="3333CC"/>
              </a:buClr>
              <a:buSzPct val="60000"/>
              <a:defRPr/>
            </a:pPr>
            <a:r>
              <a:rPr kumimoji="0" lang="el-GR" b="0" i="0" u="none" strike="noStrike" kern="0" cap="none" spc="0" normalizeH="0" baseline="0" noProof="0" dirty="0">
                <a:ln>
                  <a:noFill/>
                </a:ln>
                <a:solidFill>
                  <a:srgbClr val="000000"/>
                </a:solidFill>
                <a:effectLst/>
                <a:uLnTx/>
                <a:uFillTx/>
                <a:latin typeface="Tahoma"/>
                <a:ea typeface="+mn-ea"/>
                <a:cs typeface="+mn-cs"/>
              </a:rPr>
              <a:t>Αξιοποίηση της </a:t>
            </a:r>
            <a:r>
              <a:rPr kumimoji="0" lang="en-US" b="0" i="0" u="none" strike="noStrike" kern="0" cap="none" spc="0" normalizeH="0" baseline="0" noProof="0" dirty="0">
                <a:ln>
                  <a:noFill/>
                </a:ln>
                <a:solidFill>
                  <a:srgbClr val="000000"/>
                </a:solidFill>
                <a:effectLst/>
                <a:uLnTx/>
                <a:uFillTx/>
                <a:latin typeface="Tahoma"/>
                <a:ea typeface="+mn-ea"/>
                <a:cs typeface="+mn-cs"/>
              </a:rPr>
              <a:t>Stack </a:t>
            </a:r>
            <a:r>
              <a:rPr kumimoji="0" lang="el-GR" b="0" i="0" u="none" strike="noStrike" kern="0" cap="none" spc="0" normalizeH="0" baseline="0" noProof="0" dirty="0">
                <a:ln>
                  <a:noFill/>
                </a:ln>
                <a:solidFill>
                  <a:srgbClr val="000000"/>
                </a:solidFill>
                <a:effectLst/>
                <a:uLnTx/>
                <a:uFillTx/>
                <a:latin typeface="Tahoma"/>
                <a:ea typeface="+mn-ea"/>
                <a:cs typeface="+mn-cs"/>
              </a:rPr>
              <a:t>μέσα από το </a:t>
            </a:r>
            <a:r>
              <a:rPr kumimoji="0" lang="en-US" b="0" i="0" u="none" strike="noStrike" kern="0" cap="none" spc="0" normalizeH="0" baseline="0" noProof="0" dirty="0" err="1">
                <a:ln>
                  <a:noFill/>
                </a:ln>
                <a:solidFill>
                  <a:srgbClr val="000000"/>
                </a:solidFill>
                <a:effectLst/>
                <a:uLnTx/>
                <a:uFillTx/>
                <a:latin typeface="Tahoma"/>
                <a:ea typeface="+mn-ea"/>
                <a:cs typeface="+mn-cs"/>
              </a:rPr>
              <a:t>BlueJ</a:t>
            </a:r>
            <a:endParaRPr kumimoji="0" lang="el-GR"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17336159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ΟΟ</a:t>
            </a:r>
            <a:r>
              <a:rPr lang="en-US" sz="4000" b="1" dirty="0">
                <a:solidFill>
                  <a:srgbClr val="F9853D"/>
                </a:solidFill>
                <a:latin typeface="Bahnschrift" panose="020B0502040204020203" pitchFamily="34" charset="0"/>
              </a:rPr>
              <a:t>P</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Conceptual Model</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Rectangle 3">
            <a:extLst>
              <a:ext uri="{FF2B5EF4-FFF2-40B4-BE49-F238E27FC236}">
                <a16:creationId xmlns:a16="http://schemas.microsoft.com/office/drawing/2014/main" id="{9E6C6733-C33C-5EE1-8D71-5A70B6BB7235}"/>
              </a:ext>
            </a:extLst>
          </p:cNvPr>
          <p:cNvSpPr txBox="1">
            <a:spLocks noChangeArrowheads="1"/>
          </p:cNvSpPr>
          <p:nvPr/>
        </p:nvSpPr>
        <p:spPr bwMode="auto">
          <a:xfrm>
            <a:off x="0" y="4095866"/>
            <a:ext cx="12192000" cy="19166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ea typeface="+mn-ea"/>
                <a:cs typeface="Times New Roman" pitchFamily="18" charset="0"/>
              </a:rPr>
              <a:t>“</a:t>
            </a:r>
            <a:r>
              <a:rPr kumimoji="0" lang="el-GR" sz="2800" b="0" i="0" u="none" strike="noStrike" kern="0" cap="none" spc="0" normalizeH="0" baseline="0" noProof="0" dirty="0">
                <a:ln>
                  <a:noFill/>
                </a:ln>
                <a:solidFill>
                  <a:srgbClr val="000000"/>
                </a:solidFill>
                <a:effectLst/>
                <a:uLnTx/>
                <a:uFillTx/>
                <a:latin typeface="Tahoma"/>
                <a:ea typeface="+mn-ea"/>
                <a:cs typeface="Times New Roman" pitchFamily="18" charset="0"/>
              </a:rPr>
              <a:t>Για την αντιμετώπιση της πολυπλοκότητας (</a:t>
            </a:r>
            <a:r>
              <a:rPr kumimoji="0" lang="el-GR" sz="2800" b="0" i="0" u="none" strike="noStrike" kern="0" cap="none" spc="0" normalizeH="0" baseline="0" noProof="0" dirty="0" err="1">
                <a:ln>
                  <a:noFill/>
                </a:ln>
                <a:solidFill>
                  <a:srgbClr val="000000"/>
                </a:solidFill>
                <a:effectLst/>
                <a:uLnTx/>
                <a:uFillTx/>
                <a:latin typeface="Tahoma"/>
                <a:ea typeface="+mn-ea"/>
                <a:cs typeface="Times New Roman" pitchFamily="18" charset="0"/>
              </a:rPr>
              <a:t>complexity</a:t>
            </a:r>
            <a:r>
              <a:rPr kumimoji="0" lang="el-GR" sz="2800" b="0" i="0" u="none" strike="noStrike" kern="0" cap="none" spc="0" normalizeH="0" baseline="0" noProof="0" dirty="0">
                <a:ln>
                  <a:noFill/>
                </a:ln>
                <a:solidFill>
                  <a:srgbClr val="000000"/>
                </a:solidFill>
                <a:effectLst/>
                <a:uLnTx/>
                <a:uFillTx/>
                <a:latin typeface="Tahoma"/>
                <a:ea typeface="+mn-ea"/>
                <a:cs typeface="Times New Roman" pitchFamily="18" charset="0"/>
              </a:rPr>
              <a:t>) των συστημάτων που αναπτύσσουμε, πολλά </a:t>
            </a:r>
            <a:r>
              <a:rPr kumimoji="0" lang="el-GR" sz="2800" b="1" i="0" u="none" strike="noStrike" kern="0" cap="none" spc="0" normalizeH="0" baseline="0" noProof="0" dirty="0">
                <a:ln>
                  <a:noFill/>
                </a:ln>
                <a:solidFill>
                  <a:srgbClr val="000000"/>
                </a:solidFill>
                <a:effectLst/>
                <a:uLnTx/>
                <a:uFillTx/>
                <a:latin typeface="Tahoma"/>
                <a:ea typeface="+mn-ea"/>
                <a:cs typeface="Times New Roman" pitchFamily="18" charset="0"/>
              </a:rPr>
              <a:t>έχουμε να διδαχθούμε</a:t>
            </a:r>
            <a:r>
              <a:rPr kumimoji="0" lang="el-GR" sz="2800" b="0" i="0" u="none" strike="noStrike" kern="0" cap="none" spc="0" normalizeH="0" baseline="0" noProof="0" dirty="0">
                <a:ln>
                  <a:noFill/>
                </a:ln>
                <a:solidFill>
                  <a:srgbClr val="000000"/>
                </a:solidFill>
                <a:effectLst/>
                <a:uLnTx/>
                <a:uFillTx/>
                <a:latin typeface="Tahoma"/>
                <a:ea typeface="+mn-ea"/>
                <a:cs typeface="Times New Roman" pitchFamily="18" charset="0"/>
              </a:rPr>
              <a:t> </a:t>
            </a:r>
            <a:r>
              <a:rPr kumimoji="0" lang="el-GR" sz="2800" b="0" i="0" u="none" strike="noStrike" kern="0" cap="none" spc="0" normalizeH="0" baseline="0" noProof="0" dirty="0">
                <a:ln>
                  <a:noFill/>
                </a:ln>
                <a:solidFill>
                  <a:srgbClr val="FF0000"/>
                </a:solidFill>
                <a:effectLst/>
                <a:uLnTx/>
                <a:uFillTx/>
                <a:latin typeface="Tahoma"/>
                <a:ea typeface="+mn-ea"/>
                <a:cs typeface="Times New Roman" pitchFamily="18" charset="0"/>
              </a:rPr>
              <a:t>από τον τρόπο με τον οποίο είναι οργανωμένο</a:t>
            </a:r>
            <a:endParaRPr kumimoji="0" lang="el-GR" sz="2800" b="0" i="0" u="none" strike="noStrike" kern="0" cap="none" spc="0" normalizeH="0" baseline="0" noProof="0" dirty="0">
              <a:ln>
                <a:noFill/>
              </a:ln>
              <a:solidFill>
                <a:srgbClr val="FF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400" b="1" i="0" u="none" strike="noStrike" kern="0" cap="none" spc="0" normalizeH="0" baseline="0" noProof="0" dirty="0">
                <a:ln>
                  <a:noFill/>
                </a:ln>
                <a:solidFill>
                  <a:srgbClr val="FF0000"/>
                </a:solidFill>
                <a:effectLst/>
                <a:uLnTx/>
                <a:uFillTx/>
                <a:latin typeface="Tahoma"/>
                <a:cs typeface="Times New Roman" pitchFamily="18" charset="0"/>
              </a:rPr>
              <a:t>το σύμπαν</a:t>
            </a:r>
            <a:r>
              <a:rPr kumimoji="0" lang="el-GR" sz="2400" b="0" i="0" u="none" strike="noStrike" kern="0" cap="none" spc="0" normalizeH="0" baseline="0" noProof="0" dirty="0">
                <a:ln>
                  <a:noFill/>
                </a:ln>
                <a:solidFill>
                  <a:srgbClr val="FF0000"/>
                </a:solidFill>
                <a:effectLst/>
                <a:uLnTx/>
                <a:uFillTx/>
                <a:latin typeface="Tahoma"/>
                <a:cs typeface="Times New Roman" pitchFamily="18" charset="0"/>
              </a:rPr>
              <a:t> αλλά και </a:t>
            </a:r>
            <a:endParaRPr kumimoji="0" lang="el-GR" sz="2400" b="0" i="0" u="none" strike="noStrike" kern="0" cap="none" spc="0" normalizeH="0" baseline="0" noProof="0" dirty="0">
              <a:ln>
                <a:noFill/>
              </a:ln>
              <a:solidFill>
                <a:srgbClr val="FF0000"/>
              </a:solidFill>
              <a:effectLst/>
              <a:uLnTx/>
              <a:uFillTx/>
              <a:latin typeface="Tahoma"/>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400" b="1" i="0" u="none" strike="noStrike" kern="0" cap="none" spc="0" normalizeH="0" baseline="0" noProof="0" dirty="0">
                <a:ln>
                  <a:noFill/>
                </a:ln>
                <a:solidFill>
                  <a:srgbClr val="FF0000"/>
                </a:solidFill>
                <a:effectLst/>
                <a:uLnTx/>
                <a:uFillTx/>
                <a:latin typeface="Tahoma"/>
                <a:cs typeface="Times New Roman" pitchFamily="18" charset="0"/>
              </a:rPr>
              <a:t>ο φυσικός κόσμος</a:t>
            </a:r>
            <a:r>
              <a:rPr kumimoji="0" lang="el-GR" sz="2400" b="0" i="0" u="none" strike="noStrike" kern="0" cap="none" spc="0" normalizeH="0" baseline="0" noProof="0" dirty="0">
                <a:ln>
                  <a:noFill/>
                </a:ln>
                <a:solidFill>
                  <a:srgbClr val="FF0000"/>
                </a:solidFill>
                <a:effectLst/>
                <a:uLnTx/>
                <a:uFillTx/>
                <a:latin typeface="Tahoma"/>
                <a:cs typeface="Times New Roman" pitchFamily="18" charset="0"/>
              </a:rPr>
              <a:t> που μας περιβάλει.</a:t>
            </a:r>
            <a:r>
              <a:rPr kumimoji="0" lang="en-US" sz="2400" b="0" i="0" u="none" strike="noStrike" kern="0" cap="none" spc="0" normalizeH="0" baseline="0" noProof="0" dirty="0">
                <a:ln>
                  <a:noFill/>
                </a:ln>
                <a:solidFill>
                  <a:srgbClr val="FF0000"/>
                </a:solidFill>
                <a:effectLst/>
                <a:uLnTx/>
                <a:uFillTx/>
                <a:latin typeface="Tahoma"/>
                <a:cs typeface="Times New Roman" pitchFamily="18" charset="0"/>
              </a:rPr>
              <a:t>”</a:t>
            </a:r>
            <a:r>
              <a:rPr kumimoji="0" lang="en-GB" sz="2400" b="0" i="0" u="none" strike="noStrike" kern="0" cap="none" spc="0" normalizeH="0" baseline="0" noProof="0" dirty="0">
                <a:ln>
                  <a:noFill/>
                </a:ln>
                <a:solidFill>
                  <a:srgbClr val="FF0000"/>
                </a:solidFill>
                <a:effectLst/>
                <a:uLnTx/>
                <a:uFillTx/>
                <a:latin typeface="Tahoma"/>
              </a:rPr>
              <a:t> </a:t>
            </a:r>
            <a:r>
              <a:rPr kumimoji="0" lang="en-GB" sz="2400" b="0" i="0" u="none" strike="noStrike" kern="0" cap="none" spc="0" normalizeH="0" baseline="0" noProof="0" dirty="0">
                <a:ln>
                  <a:noFill/>
                </a:ln>
                <a:solidFill>
                  <a:schemeClr val="accent1">
                    <a:lumMod val="60000"/>
                    <a:lumOff val="40000"/>
                  </a:schemeClr>
                </a:solidFill>
                <a:effectLst/>
                <a:uLnTx/>
                <a:uFillTx/>
                <a:latin typeface="Tahoma"/>
              </a:rPr>
              <a:t>Grady </a:t>
            </a:r>
            <a:r>
              <a:rPr kumimoji="0" lang="en-GB" sz="2400" b="0" i="0" u="none" strike="noStrike" kern="0" cap="none" spc="0" normalizeH="0" baseline="0" noProof="0" dirty="0" err="1">
                <a:ln>
                  <a:noFill/>
                </a:ln>
                <a:solidFill>
                  <a:schemeClr val="accent1">
                    <a:lumMod val="60000"/>
                    <a:lumOff val="40000"/>
                  </a:schemeClr>
                </a:solidFill>
                <a:effectLst/>
                <a:uLnTx/>
                <a:uFillTx/>
                <a:latin typeface="Tahoma"/>
              </a:rPr>
              <a:t>Booch</a:t>
            </a:r>
            <a:endParaRPr kumimoji="0" lang="en-GB" sz="2400" b="0" i="0" u="none" strike="noStrike" kern="0" cap="none" spc="0" normalizeH="0" baseline="0" noProof="0" dirty="0">
              <a:ln>
                <a:noFill/>
              </a:ln>
              <a:solidFill>
                <a:schemeClr val="accent1">
                  <a:lumMod val="60000"/>
                  <a:lumOff val="40000"/>
                </a:schemeClr>
              </a:solidFill>
              <a:effectLst/>
              <a:uLnTx/>
              <a:uFillTx/>
              <a:latin typeface="Tahoma"/>
            </a:endParaRPr>
          </a:p>
        </p:txBody>
      </p:sp>
      <p:pic>
        <p:nvPicPr>
          <p:cNvPr id="6" name="Picture 5">
            <a:extLst>
              <a:ext uri="{FF2B5EF4-FFF2-40B4-BE49-F238E27FC236}">
                <a16:creationId xmlns:a16="http://schemas.microsoft.com/office/drawing/2014/main" id="{DEC3CDB5-CC4B-DB6C-A4B9-69B665A1A508}"/>
              </a:ext>
            </a:extLst>
          </p:cNvPr>
          <p:cNvPicPr>
            <a:picLocks noChangeAspect="1"/>
          </p:cNvPicPr>
          <p:nvPr/>
        </p:nvPicPr>
        <p:blipFill>
          <a:blip r:embed="rId3"/>
          <a:stretch>
            <a:fillRect/>
          </a:stretch>
        </p:blipFill>
        <p:spPr>
          <a:xfrm>
            <a:off x="7203529" y="930974"/>
            <a:ext cx="4724400" cy="2847975"/>
          </a:xfrm>
          <a:prstGeom prst="rect">
            <a:avLst/>
          </a:prstGeom>
        </p:spPr>
      </p:pic>
      <p:pic>
        <p:nvPicPr>
          <p:cNvPr id="7" name="Picture 6">
            <a:extLst>
              <a:ext uri="{FF2B5EF4-FFF2-40B4-BE49-F238E27FC236}">
                <a16:creationId xmlns:a16="http://schemas.microsoft.com/office/drawing/2014/main" id="{FCBDBDB8-49A5-F918-EC25-B21802FAFB95}"/>
              </a:ext>
            </a:extLst>
          </p:cNvPr>
          <p:cNvPicPr>
            <a:picLocks noChangeAspect="1"/>
          </p:cNvPicPr>
          <p:nvPr/>
        </p:nvPicPr>
        <p:blipFill>
          <a:blip r:embed="rId4"/>
          <a:stretch>
            <a:fillRect/>
          </a:stretch>
        </p:blipFill>
        <p:spPr>
          <a:xfrm>
            <a:off x="1157111" y="1470831"/>
            <a:ext cx="3632448" cy="2308118"/>
          </a:xfrm>
          <a:prstGeom prst="rect">
            <a:avLst/>
          </a:prstGeom>
        </p:spPr>
      </p:pic>
    </p:spTree>
    <p:extLst>
      <p:ext uri="{BB962C8B-B14F-4D97-AF65-F5344CB8AC3E}">
        <p14:creationId xmlns:p14="http://schemas.microsoft.com/office/powerpoint/2010/main" val="4261728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par>
                          <p:cTn id="13" fill="hold">
                            <p:stCondLst>
                              <p:cond delay="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ΟΟ</a:t>
            </a:r>
            <a:r>
              <a:rPr lang="en-US" sz="4000" b="1" dirty="0">
                <a:solidFill>
                  <a:srgbClr val="F9853D"/>
                </a:solidFill>
                <a:latin typeface="Bahnschrift" panose="020B0502040204020203" pitchFamily="34" charset="0"/>
              </a:rPr>
              <a:t>P</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Conceptual Model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221B18AF-7AB7-AAD3-67BF-A3AF730FE141}"/>
              </a:ext>
            </a:extLst>
          </p:cNvPr>
          <p:cNvSpPr txBox="1">
            <a:spLocks noChangeArrowheads="1"/>
          </p:cNvSpPr>
          <p:nvPr/>
        </p:nvSpPr>
        <p:spPr bwMode="auto">
          <a:xfrm>
            <a:off x="198820" y="1164218"/>
            <a:ext cx="6925312" cy="4529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ea typeface="+mn-ea"/>
                <a:cs typeface="+mn-cs"/>
              </a:rPr>
              <a:t>Δίνει τις βασικές έννοιες του Αντικειμενοστρεφούς Παραδείγματος</a:t>
            </a:r>
            <a:r>
              <a:rPr kumimoji="0" lang="en-US" sz="2400" b="0" i="0" u="none" strike="noStrike" kern="0" cap="none" spc="0" normalizeH="0" baseline="0" noProof="0" dirty="0">
                <a:ln>
                  <a:noFill/>
                </a:ln>
                <a:solidFill>
                  <a:srgbClr val="000000"/>
                </a:solidFill>
                <a:effectLst/>
                <a:uLnTx/>
                <a:uFillTx/>
                <a:latin typeface="Tahoma"/>
                <a:ea typeface="+mn-ea"/>
                <a:cs typeface="+mn-cs"/>
              </a:rPr>
              <a:t>  </a:t>
            </a:r>
            <a:r>
              <a:rPr kumimoji="0" lang="el-GR" sz="2400" b="0" i="0" u="none" strike="noStrike" kern="0" cap="none" spc="0" normalizeH="0" baseline="0" noProof="0" dirty="0">
                <a:ln>
                  <a:noFill/>
                </a:ln>
                <a:solidFill>
                  <a:srgbClr val="000000"/>
                </a:solidFill>
                <a:effectLst/>
                <a:uLnTx/>
                <a:uFillTx/>
                <a:latin typeface="Tahoma"/>
                <a:ea typeface="+mn-ea"/>
                <a:cs typeface="+mn-cs"/>
              </a:rPr>
              <a:t>ανάπτυξης συστήματος</a:t>
            </a:r>
            <a:endParaRPr kumimoji="0" lang="en-US"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ea typeface="+mn-ea"/>
                <a:cs typeface="+mn-cs"/>
              </a:rPr>
              <a:t>Είναι ανεξάρτητο περιβάλλοντος υλοποίησης</a:t>
            </a:r>
            <a:endParaRPr kumimoji="0" lang="en-US"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ea typeface="+mn-ea"/>
                <a:cs typeface="+mn-cs"/>
              </a:rPr>
              <a:t>Αποτελεί την βάση για την σε βάθος κατανόηση του αντικειμενοστρεφούς παραδείγματος προγραμματισμού</a:t>
            </a:r>
            <a:endParaRPr kumimoji="0" lang="en-GB" sz="2400" b="0" i="0" u="none" strike="noStrike" kern="0" cap="none" spc="0" normalizeH="0" baseline="0" noProof="0" dirty="0">
              <a:ln>
                <a:noFill/>
              </a:ln>
              <a:solidFill>
                <a:srgbClr val="000000"/>
              </a:solidFill>
              <a:effectLst/>
              <a:uLnTx/>
              <a:uFillTx/>
              <a:latin typeface="Tahoma"/>
              <a:ea typeface="+mn-ea"/>
              <a:cs typeface="+mn-cs"/>
            </a:endParaRPr>
          </a:p>
        </p:txBody>
      </p:sp>
      <p:pic>
        <p:nvPicPr>
          <p:cNvPr id="4" name="Picture 3">
            <a:extLst>
              <a:ext uri="{FF2B5EF4-FFF2-40B4-BE49-F238E27FC236}">
                <a16:creationId xmlns:a16="http://schemas.microsoft.com/office/drawing/2014/main" id="{287B8BDD-7A72-FB22-9974-D8C927B41469}"/>
              </a:ext>
            </a:extLst>
          </p:cNvPr>
          <p:cNvPicPr>
            <a:picLocks noChangeAspect="1"/>
          </p:cNvPicPr>
          <p:nvPr/>
        </p:nvPicPr>
        <p:blipFill>
          <a:blip r:embed="rId3"/>
          <a:stretch>
            <a:fillRect/>
          </a:stretch>
        </p:blipFill>
        <p:spPr>
          <a:xfrm>
            <a:off x="6882032" y="815431"/>
            <a:ext cx="5169299" cy="3876974"/>
          </a:xfrm>
          <a:prstGeom prst="rect">
            <a:avLst/>
          </a:prstGeom>
        </p:spPr>
      </p:pic>
      <p:sp>
        <p:nvSpPr>
          <p:cNvPr id="6" name="TextBox 5">
            <a:extLst>
              <a:ext uri="{FF2B5EF4-FFF2-40B4-BE49-F238E27FC236}">
                <a16:creationId xmlns:a16="http://schemas.microsoft.com/office/drawing/2014/main" id="{80861891-E918-8BC7-DBEE-E63F6D08F449}"/>
              </a:ext>
            </a:extLst>
          </p:cNvPr>
          <p:cNvSpPr txBox="1"/>
          <p:nvPr/>
        </p:nvSpPr>
        <p:spPr>
          <a:xfrm>
            <a:off x="7582524" y="5033428"/>
            <a:ext cx="4010414" cy="1169551"/>
          </a:xfrm>
          <a:prstGeom prst="rect">
            <a:avLst/>
          </a:prstGeom>
          <a:noFill/>
        </p:spPr>
        <p:txBody>
          <a:bodyPr wrap="square" rtlCol="0">
            <a:spAutoFit/>
          </a:bodyPr>
          <a:lstStyle/>
          <a:p>
            <a:pPr algn="ctr" fontAlgn="base">
              <a:spcBef>
                <a:spcPct val="0"/>
              </a:spcBef>
              <a:spcAft>
                <a:spcPct val="0"/>
              </a:spcAft>
            </a:pPr>
            <a:r>
              <a:rPr lang="en-US" sz="1400" b="1" dirty="0">
                <a:solidFill>
                  <a:srgbClr val="000000"/>
                </a:solidFill>
                <a:latin typeface="Tahoma" pitchFamily="34" charset="0"/>
              </a:rPr>
              <a:t>Teaching Object-Oriented Programming</a:t>
            </a:r>
          </a:p>
          <a:p>
            <a:pPr algn="ctr" fontAlgn="base">
              <a:spcBef>
                <a:spcPct val="0"/>
              </a:spcBef>
              <a:spcAft>
                <a:spcPct val="0"/>
              </a:spcAft>
            </a:pPr>
            <a:r>
              <a:rPr lang="en-US" sz="1400" b="1" dirty="0">
                <a:solidFill>
                  <a:srgbClr val="000000"/>
                </a:solidFill>
                <a:latin typeface="Tahoma" pitchFamily="34" charset="0"/>
              </a:rPr>
              <a:t>A Constructivism-Based Approach</a:t>
            </a:r>
          </a:p>
          <a:p>
            <a:pPr algn="ctr" fontAlgn="base">
              <a:spcBef>
                <a:spcPct val="0"/>
              </a:spcBef>
              <a:spcAft>
                <a:spcPct val="0"/>
              </a:spcAft>
            </a:pPr>
            <a:r>
              <a:rPr lang="en-US" sz="1400" dirty="0">
                <a:solidFill>
                  <a:srgbClr val="000000"/>
                </a:solidFill>
                <a:latin typeface="Tahoma" pitchFamily="34" charset="0"/>
                <a:hlinkClick r:id="rId4"/>
              </a:rPr>
              <a:t>http://seg.ceid.upatras.gr/OOCourse/</a:t>
            </a:r>
            <a:endParaRPr lang="en-US" sz="1400" dirty="0">
              <a:solidFill>
                <a:srgbClr val="000000"/>
              </a:solidFill>
              <a:latin typeface="Tahoma" pitchFamily="34" charset="0"/>
            </a:endParaRPr>
          </a:p>
          <a:p>
            <a:pPr algn="ctr" fontAlgn="base">
              <a:spcBef>
                <a:spcPct val="0"/>
              </a:spcBef>
              <a:spcAft>
                <a:spcPct val="0"/>
              </a:spcAft>
            </a:pPr>
            <a:endParaRPr lang="en-US" sz="1400" dirty="0">
              <a:solidFill>
                <a:srgbClr val="000000"/>
              </a:solidFill>
              <a:latin typeface="Tahoma" pitchFamily="34" charset="0"/>
            </a:endParaRPr>
          </a:p>
          <a:p>
            <a:pPr algn="ctr" fontAlgn="base">
              <a:spcBef>
                <a:spcPct val="0"/>
              </a:spcBef>
              <a:spcAft>
                <a:spcPct val="0"/>
              </a:spcAft>
            </a:pPr>
            <a:endParaRPr lang="el-GR" sz="1400" dirty="0">
              <a:solidFill>
                <a:srgbClr val="000000"/>
              </a:solidFill>
              <a:latin typeface="Tahoma" pitchFamily="34" charset="0"/>
            </a:endParaRPr>
          </a:p>
        </p:txBody>
      </p:sp>
    </p:spTree>
    <p:extLst>
      <p:ext uri="{BB962C8B-B14F-4D97-AF65-F5344CB8AC3E}">
        <p14:creationId xmlns:p14="http://schemas.microsoft.com/office/powerpoint/2010/main" val="31614109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179511" y="1052736"/>
            <a:ext cx="10165491"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i="0" u="none" strike="noStrike" kern="0" cap="none" spc="0" normalizeH="0" baseline="0" noProof="0" dirty="0">
                <a:ln>
                  <a:noFill/>
                </a:ln>
                <a:solidFill>
                  <a:srgbClr val="000000"/>
                </a:solidFill>
                <a:effectLst/>
                <a:uLnTx/>
                <a:uFillTx/>
                <a:latin typeface="Tahoma"/>
                <a:ea typeface="+mn-ea"/>
                <a:cs typeface="+mn-cs"/>
              </a:rPr>
              <a:t>Νοητικό μοντέλο Αντικειμενοστρεφούς Προγραμματισμού </a:t>
            </a:r>
            <a:r>
              <a:rPr kumimoji="0" lang="en-US" sz="3200" i="0" u="none" strike="noStrike" kern="0" cap="none" spc="0" normalizeH="0" baseline="0" noProof="0" dirty="0">
                <a:ln>
                  <a:noFill/>
                </a:ln>
                <a:solidFill>
                  <a:srgbClr val="000000"/>
                </a:solidFill>
                <a:effectLst/>
                <a:uLnTx/>
                <a:uFillTx/>
                <a:latin typeface="Tahoma"/>
                <a:ea typeface="+mn-ea"/>
                <a:cs typeface="+mn-cs"/>
              </a:rPr>
              <a:t>(</a:t>
            </a:r>
            <a:r>
              <a:rPr lang="en-US" kern="0" dirty="0">
                <a:solidFill>
                  <a:srgbClr val="000000"/>
                </a:solidFill>
                <a:latin typeface="Tahoma"/>
              </a:rPr>
              <a:t>OOP </a:t>
            </a:r>
            <a:r>
              <a:rPr kumimoji="0" lang="en-US" sz="3200" i="0" u="none" strike="noStrike" kern="0" cap="none" spc="0" normalizeH="0" baseline="0" noProof="0" dirty="0">
                <a:ln>
                  <a:noFill/>
                </a:ln>
                <a:solidFill>
                  <a:srgbClr val="000000"/>
                </a:solidFill>
                <a:effectLst/>
                <a:uLnTx/>
                <a:uFillTx/>
                <a:latin typeface="Tahoma"/>
                <a:ea typeface="+mn-ea"/>
                <a:cs typeface="+mn-cs"/>
              </a:rPr>
              <a:t>Conceptual model</a:t>
            </a:r>
            <a:r>
              <a:rPr kumimoji="0" lang="el-GR" sz="320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lang="el-GR" b="1" kern="0" dirty="0">
                <a:solidFill>
                  <a:srgbClr val="000000"/>
                </a:solidFill>
                <a:latin typeface="Tahoma"/>
              </a:rPr>
              <a:t>Α</a:t>
            </a:r>
            <a:r>
              <a:rPr kumimoji="0" lang="el-GR" sz="3200" b="1" i="0" u="none" strike="noStrike" kern="0" cap="none" spc="0" normalizeH="0" baseline="0" noProof="0" dirty="0" err="1">
                <a:ln>
                  <a:noFill/>
                </a:ln>
                <a:solidFill>
                  <a:srgbClr val="000000"/>
                </a:solidFill>
                <a:effectLst/>
                <a:uLnTx/>
                <a:uFillTx/>
                <a:latin typeface="Tahoma"/>
                <a:ea typeface="+mn-ea"/>
                <a:cs typeface="+mn-cs"/>
              </a:rPr>
              <a:t>ντικε</a:t>
            </a:r>
            <a:r>
              <a:rPr lang="el-GR" b="1" kern="0" dirty="0" err="1">
                <a:solidFill>
                  <a:srgbClr val="000000"/>
                </a:solidFill>
                <a:latin typeface="Tahoma"/>
              </a:rPr>
              <a:t>ίμενο</a:t>
            </a:r>
            <a:r>
              <a:rPr lang="el-GR" b="1" kern="0" dirty="0">
                <a:solidFill>
                  <a:srgbClr val="000000"/>
                </a:solidFill>
                <a:latin typeface="Tahoma"/>
              </a:rPr>
              <a:t> το βασικό δομικό στοιχείο</a:t>
            </a:r>
            <a:endParaRPr kumimoji="0" lang="en-US" sz="3200" b="1"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1" i="0" u="none" strike="noStrike" kern="0" cap="none" spc="0" normalizeH="0" baseline="0" noProof="0" dirty="0">
                <a:ln>
                  <a:noFill/>
                </a:ln>
                <a:solidFill>
                  <a:srgbClr val="000000"/>
                </a:solidFill>
                <a:effectLst/>
                <a:uLnTx/>
                <a:uFillTx/>
                <a:latin typeface="Tahoma"/>
              </a:rPr>
              <a:t>Object-class-instance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Objects collaborate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Associations</a:t>
            </a:r>
            <a:endParaRPr kumimoji="0" lang="el-GR" sz="28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0" i="0" u="none" strike="noStrike" kern="0" cap="none" spc="0" normalizeH="0" baseline="0" noProof="0" dirty="0">
                <a:ln>
                  <a:noFill/>
                </a:ln>
                <a:solidFill>
                  <a:srgbClr val="000000"/>
                </a:solidFill>
                <a:effectLst/>
                <a:uLnTx/>
                <a:uFillTx/>
                <a:latin typeface="Tahoma"/>
                <a:ea typeface="+mn-ea"/>
                <a:cs typeface="+mn-cs"/>
              </a:rPr>
              <a:t>Το παράδειγμα της Στοίβας</a:t>
            </a:r>
            <a:endParaRPr kumimoji="0" lang="en-US"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kern="0" dirty="0">
                <a:solidFill>
                  <a:srgbClr val="000000"/>
                </a:solidFill>
                <a:latin typeface="Tahoma"/>
              </a:rPr>
              <a:t>H </a:t>
            </a:r>
            <a:r>
              <a:rPr lang="el-GR" kern="0" dirty="0">
                <a:solidFill>
                  <a:srgbClr val="000000"/>
                </a:solidFill>
                <a:latin typeface="Tahoma"/>
              </a:rPr>
              <a:t>κλάση </a:t>
            </a:r>
            <a:r>
              <a:rPr lang="en-US" kern="0" dirty="0">
                <a:solidFill>
                  <a:srgbClr val="000000"/>
                </a:solidFill>
                <a:latin typeface="Tahoma"/>
              </a:rPr>
              <a:t>Stack</a:t>
            </a:r>
          </a:p>
          <a:p>
            <a:pPr lvl="1" indent="-342900" eaLnBrk="1" hangingPunct="1">
              <a:buClr>
                <a:srgbClr val="3333CC"/>
              </a:buClr>
              <a:buSzPct val="60000"/>
              <a:defRPr/>
            </a:pPr>
            <a:r>
              <a:rPr lang="el-GR" kern="0" dirty="0">
                <a:solidFill>
                  <a:srgbClr val="000000"/>
                </a:solidFill>
                <a:latin typeface="Tahoma"/>
              </a:rPr>
              <a:t>Στιγμιότυπα της </a:t>
            </a:r>
            <a:r>
              <a:rPr lang="en-US" kern="0" dirty="0">
                <a:solidFill>
                  <a:srgbClr val="000000"/>
                </a:solidFill>
                <a:latin typeface="Tahoma"/>
              </a:rPr>
              <a:t>Stack</a:t>
            </a:r>
          </a:p>
          <a:p>
            <a:pPr lvl="1" indent="-342900" eaLnBrk="1" hangingPunct="1">
              <a:buClr>
                <a:srgbClr val="3333CC"/>
              </a:buClr>
              <a:buSzPct val="60000"/>
              <a:defRPr/>
            </a:pPr>
            <a:r>
              <a:rPr kumimoji="0" lang="el-GR" b="0" i="0" u="none" strike="noStrike" kern="0" cap="none" spc="0" normalizeH="0" baseline="0" noProof="0" dirty="0">
                <a:ln>
                  <a:noFill/>
                </a:ln>
                <a:solidFill>
                  <a:srgbClr val="000000"/>
                </a:solidFill>
                <a:effectLst/>
                <a:uLnTx/>
                <a:uFillTx/>
                <a:latin typeface="Tahoma"/>
                <a:ea typeface="+mn-ea"/>
                <a:cs typeface="+mn-cs"/>
              </a:rPr>
              <a:t>Αξιοποίηση της </a:t>
            </a:r>
            <a:r>
              <a:rPr kumimoji="0" lang="en-US" b="0" i="0" u="none" strike="noStrike" kern="0" cap="none" spc="0" normalizeH="0" baseline="0" noProof="0" dirty="0">
                <a:ln>
                  <a:noFill/>
                </a:ln>
                <a:solidFill>
                  <a:srgbClr val="000000"/>
                </a:solidFill>
                <a:effectLst/>
                <a:uLnTx/>
                <a:uFillTx/>
                <a:latin typeface="Tahoma"/>
                <a:ea typeface="+mn-ea"/>
                <a:cs typeface="+mn-cs"/>
              </a:rPr>
              <a:t>Stack </a:t>
            </a:r>
            <a:r>
              <a:rPr kumimoji="0" lang="el-GR" b="0" i="0" u="none" strike="noStrike" kern="0" cap="none" spc="0" normalizeH="0" baseline="0" noProof="0" dirty="0">
                <a:ln>
                  <a:noFill/>
                </a:ln>
                <a:solidFill>
                  <a:srgbClr val="000000"/>
                </a:solidFill>
                <a:effectLst/>
                <a:uLnTx/>
                <a:uFillTx/>
                <a:latin typeface="Tahoma"/>
                <a:ea typeface="+mn-ea"/>
                <a:cs typeface="+mn-cs"/>
              </a:rPr>
              <a:t>μέσα από το </a:t>
            </a:r>
            <a:r>
              <a:rPr kumimoji="0" lang="en-US" b="0" i="0" u="none" strike="noStrike" kern="0" cap="none" spc="0" normalizeH="0" baseline="0" noProof="0" dirty="0" err="1">
                <a:ln>
                  <a:noFill/>
                </a:ln>
                <a:solidFill>
                  <a:srgbClr val="000000"/>
                </a:solidFill>
                <a:effectLst/>
                <a:uLnTx/>
                <a:uFillTx/>
                <a:latin typeface="Tahoma"/>
                <a:ea typeface="+mn-ea"/>
                <a:cs typeface="+mn-cs"/>
              </a:rPr>
              <a:t>BlueJ</a:t>
            </a:r>
            <a:endParaRPr kumimoji="0" lang="el-GR"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23162755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Αντικείμενο …το βασικό δομικό στοιχείο</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4298A006-9450-C39C-AABD-F08C55FD7BA7}"/>
              </a:ext>
            </a:extLst>
          </p:cNvPr>
          <p:cNvSpPr txBox="1">
            <a:spLocks noChangeArrowheads="1"/>
          </p:cNvSpPr>
          <p:nvPr/>
        </p:nvSpPr>
        <p:spPr bwMode="auto">
          <a:xfrm>
            <a:off x="228600" y="1028876"/>
            <a:ext cx="6936475" cy="25604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1" i="0" u="none" strike="noStrike" kern="0" cap="none" spc="0" normalizeH="0" baseline="0" noProof="0" dirty="0">
                <a:ln>
                  <a:noFill/>
                </a:ln>
                <a:solidFill>
                  <a:srgbClr val="000000"/>
                </a:solidFill>
                <a:effectLst/>
                <a:uLnTx/>
                <a:uFillTx/>
                <a:latin typeface="Tahoma"/>
                <a:ea typeface="+mn-ea"/>
                <a:cs typeface="+mn-cs"/>
              </a:rPr>
              <a:t>Αντικείμενα</a:t>
            </a:r>
            <a:r>
              <a:rPr kumimoji="0" lang="el-GR" sz="3200" b="0" i="1" u="none" strike="noStrike" kern="0" cap="none" spc="0" normalizeH="0" baseline="0" noProof="0" dirty="0">
                <a:ln>
                  <a:noFill/>
                </a:ln>
                <a:solidFill>
                  <a:srgbClr val="000000"/>
                </a:solidFill>
                <a:effectLst/>
                <a:uLnTx/>
                <a:uFillTx/>
                <a:latin typeface="Tahoma"/>
                <a:ea typeface="+mn-ea"/>
                <a:cs typeface="+mn-cs"/>
              </a:rPr>
              <a:t> </a:t>
            </a: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800" b="0" i="1" u="none" strike="noStrike" kern="0" cap="none" spc="0" normalizeH="0" baseline="0" noProof="0" dirty="0">
                <a:ln>
                  <a:noFill/>
                </a:ln>
                <a:solidFill>
                  <a:srgbClr val="FF0000"/>
                </a:solidFill>
                <a:effectLst/>
                <a:uLnTx/>
                <a:uFillTx/>
                <a:latin typeface="Tahoma"/>
              </a:rPr>
              <a:t>απαρτίζουν τον φυσικό κόσμο</a:t>
            </a: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800" b="0" i="1" u="none" strike="noStrike" kern="0" cap="none" spc="0" normalizeH="0" baseline="0" noProof="0" dirty="0" err="1">
                <a:ln>
                  <a:noFill/>
                </a:ln>
                <a:solidFill>
                  <a:srgbClr val="FF0000"/>
                </a:solidFill>
                <a:effectLst/>
                <a:uLnTx/>
                <a:uFillTx/>
                <a:latin typeface="Tahoma"/>
              </a:rPr>
              <a:t>αλληλεπιδρούν</a:t>
            </a:r>
            <a:r>
              <a:rPr kumimoji="0" lang="el-GR" sz="2800" b="0" i="1" u="none" strike="noStrike" kern="0" cap="none" spc="0" normalizeH="0" baseline="0" noProof="0" dirty="0">
                <a:ln>
                  <a:noFill/>
                </a:ln>
                <a:solidFill>
                  <a:srgbClr val="000000"/>
                </a:solidFill>
                <a:effectLst/>
                <a:uLnTx/>
                <a:uFillTx/>
                <a:latin typeface="Tahoma"/>
              </a:rPr>
              <a:t> μεταξύ τους </a:t>
            </a: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800" b="0" i="1" u="none" strike="noStrike" kern="0" cap="none" spc="0" normalizeH="0" baseline="0" noProof="0" dirty="0">
                <a:ln>
                  <a:noFill/>
                </a:ln>
                <a:solidFill>
                  <a:srgbClr val="000000"/>
                </a:solidFill>
                <a:effectLst/>
                <a:uLnTx/>
                <a:uFillTx/>
                <a:latin typeface="Tahoma"/>
              </a:rPr>
              <a:t>μπορούν να θεωρηθούν αποτελούμενα από άλλα επί μέρους </a:t>
            </a:r>
            <a:r>
              <a:rPr kumimoji="0" lang="el-GR" sz="2800" b="0" i="1" u="none" strike="noStrike" kern="0" cap="none" spc="0" normalizeH="0" baseline="0" noProof="0" dirty="0" err="1">
                <a:ln>
                  <a:noFill/>
                </a:ln>
                <a:solidFill>
                  <a:srgbClr val="000000"/>
                </a:solidFill>
                <a:effectLst/>
                <a:uLnTx/>
                <a:uFillTx/>
                <a:latin typeface="Tahoma"/>
              </a:rPr>
              <a:t>αλληλεπιδρόντα</a:t>
            </a:r>
            <a:r>
              <a:rPr kumimoji="0" lang="el-GR" sz="2800" b="0" i="1" u="none" strike="noStrike" kern="0" cap="none" spc="0" normalizeH="0" baseline="0" noProof="0" dirty="0">
                <a:ln>
                  <a:noFill/>
                </a:ln>
                <a:solidFill>
                  <a:srgbClr val="000000"/>
                </a:solidFill>
                <a:effectLst/>
                <a:uLnTx/>
                <a:uFillTx/>
                <a:latin typeface="Tahoma"/>
              </a:rPr>
              <a:t> αντικείμενα. </a:t>
            </a: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l-GR" sz="3200" b="0" i="1"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2400" b="0" i="0" u="none" strike="noStrike" kern="0" cap="none" spc="0" normalizeH="0" baseline="0" noProof="0" dirty="0">
              <a:ln>
                <a:noFill/>
              </a:ln>
              <a:solidFill>
                <a:srgbClr val="000000"/>
              </a:solidFill>
              <a:effectLst/>
              <a:uLnTx/>
              <a:uFillTx/>
              <a:latin typeface="Tahoma"/>
              <a:ea typeface="+mn-ea"/>
              <a:cs typeface="+mn-cs"/>
            </a:endParaRPr>
          </a:p>
        </p:txBody>
      </p:sp>
      <p:sp>
        <p:nvSpPr>
          <p:cNvPr id="4" name="AutoShape 4">
            <a:extLst>
              <a:ext uri="{FF2B5EF4-FFF2-40B4-BE49-F238E27FC236}">
                <a16:creationId xmlns:a16="http://schemas.microsoft.com/office/drawing/2014/main" id="{ED05D8E5-E32E-32E3-EFF2-FD79C68D337C}"/>
              </a:ext>
            </a:extLst>
          </p:cNvPr>
          <p:cNvSpPr>
            <a:spLocks noChangeArrowheads="1"/>
          </p:cNvSpPr>
          <p:nvPr/>
        </p:nvSpPr>
        <p:spPr bwMode="auto">
          <a:xfrm>
            <a:off x="228600" y="4484778"/>
            <a:ext cx="6772701" cy="1056213"/>
          </a:xfrm>
          <a:prstGeom prst="wedgeRoundRectCallout">
            <a:avLst>
              <a:gd name="adj1" fmla="val -49978"/>
              <a:gd name="adj2" fmla="val 84582"/>
              <a:gd name="adj3" fmla="val 16667"/>
            </a:avLst>
          </a:prstGeom>
          <a:solidFill>
            <a:srgbClr val="FCFF8D"/>
          </a:solidFill>
          <a:ln w="9525">
            <a:solidFill>
              <a:srgbClr val="000000"/>
            </a:solidFill>
            <a:miter lim="800000"/>
            <a:headEnd/>
            <a:tailEnd/>
          </a:ln>
        </p:spPr>
        <p:txBody>
          <a:bodyPr/>
          <a:lstStyle/>
          <a:p>
            <a:pPr marL="0" marR="0" lvl="0" indent="0" algn="just" defTabSz="914400" eaLnBrk="1" fontAlgn="base" latinLnBrk="0" hangingPunct="1">
              <a:lnSpc>
                <a:spcPct val="90000"/>
              </a:lnSpc>
              <a:spcBef>
                <a:spcPct val="20000"/>
              </a:spcBef>
              <a:spcAft>
                <a:spcPct val="0"/>
              </a:spcAft>
              <a:buClr>
                <a:srgbClr val="FF0000"/>
              </a:buClr>
              <a:buSzPct val="55000"/>
              <a:buFont typeface="Wingdings" pitchFamily="2" charset="2"/>
              <a:buNone/>
              <a:tabLst/>
              <a:defRPr/>
            </a:pPr>
            <a:r>
              <a:rPr kumimoji="0" lang="el-GR" sz="2000" b="1" i="0" u="none" strike="noStrike" kern="0" cap="none" spc="0" normalizeH="0" baseline="0" noProof="0" dirty="0">
                <a:ln>
                  <a:noFill/>
                </a:ln>
                <a:solidFill>
                  <a:srgbClr val="000000"/>
                </a:solidFill>
                <a:effectLst/>
                <a:uLnTx/>
                <a:uFillTx/>
                <a:latin typeface="Tahoma" pitchFamily="34" charset="0"/>
              </a:rPr>
              <a:t>Ο</a:t>
            </a:r>
            <a:r>
              <a:rPr kumimoji="0" lang="el-GR" sz="2000" b="1" i="0" u="none" strike="noStrike" kern="0" cap="none" spc="0" normalizeH="0" baseline="0" noProof="0" dirty="0">
                <a:ln>
                  <a:noFill/>
                </a:ln>
                <a:solidFill>
                  <a:srgbClr val="FFFFFF"/>
                </a:solidFill>
                <a:effectLst/>
                <a:uLnTx/>
                <a:uFillTx/>
                <a:latin typeface="Tahoma" pitchFamily="34" charset="0"/>
              </a:rPr>
              <a:t> </a:t>
            </a:r>
            <a:r>
              <a:rPr kumimoji="0" lang="el-GR" sz="2000" b="1" i="0" u="none" strike="noStrike" kern="0" cap="none" spc="0" normalizeH="0" baseline="0" noProof="0" dirty="0">
                <a:ln>
                  <a:noFill/>
                </a:ln>
                <a:solidFill>
                  <a:srgbClr val="000000"/>
                </a:solidFill>
                <a:effectLst/>
                <a:uLnTx/>
                <a:uFillTx/>
                <a:latin typeface="Tahoma" pitchFamily="34" charset="0"/>
              </a:rPr>
              <a:t>άνθρωπος</a:t>
            </a:r>
            <a:r>
              <a:rPr kumimoji="0" lang="el-GR" sz="2000" b="1" i="1" u="none" strike="noStrike" kern="0" cap="none" spc="0" normalizeH="0" baseline="0" noProof="0" dirty="0">
                <a:ln>
                  <a:noFill/>
                </a:ln>
                <a:solidFill>
                  <a:srgbClr val="000000"/>
                </a:solidFill>
                <a:effectLst/>
                <a:uLnTx/>
                <a:uFillTx/>
                <a:latin typeface="Tahoma" pitchFamily="34" charset="0"/>
              </a:rPr>
              <a:t> εξοικειωμένος με την θεώρηση αυτή μπορεί εύκολα να αντιμετωπίσει με τον ίδιο τρόπο και τα συστήματα λογισμικού που αναπτύσσει.</a:t>
            </a:r>
            <a:endParaRPr kumimoji="0" lang="en-US" sz="2000" b="1" i="0" u="none" strike="noStrike" kern="0" cap="none" spc="0" normalizeH="0" baseline="0" noProof="0" dirty="0">
              <a:ln>
                <a:noFill/>
              </a:ln>
              <a:solidFill>
                <a:srgbClr val="000000"/>
              </a:solidFill>
              <a:effectLst/>
              <a:uLnTx/>
              <a:uFillTx/>
              <a:latin typeface="Tahoma" pitchFamily="34" charset="0"/>
            </a:endParaRPr>
          </a:p>
        </p:txBody>
      </p:sp>
      <p:pic>
        <p:nvPicPr>
          <p:cNvPr id="6" name="Picture 5">
            <a:extLst>
              <a:ext uri="{FF2B5EF4-FFF2-40B4-BE49-F238E27FC236}">
                <a16:creationId xmlns:a16="http://schemas.microsoft.com/office/drawing/2014/main" id="{38B05B03-6EC3-DB3F-1EB6-995756D2E8DD}"/>
              </a:ext>
            </a:extLst>
          </p:cNvPr>
          <p:cNvPicPr>
            <a:picLocks noChangeAspect="1"/>
          </p:cNvPicPr>
          <p:nvPr/>
        </p:nvPicPr>
        <p:blipFill>
          <a:blip r:embed="rId3"/>
          <a:stretch>
            <a:fillRect/>
          </a:stretch>
        </p:blipFill>
        <p:spPr>
          <a:xfrm>
            <a:off x="7387935" y="1777734"/>
            <a:ext cx="4804064" cy="3603048"/>
          </a:xfrm>
          <a:prstGeom prst="rect">
            <a:avLst/>
          </a:prstGeom>
        </p:spPr>
      </p:pic>
      <p:sp>
        <p:nvSpPr>
          <p:cNvPr id="9" name="TextBox 8">
            <a:extLst>
              <a:ext uri="{FF2B5EF4-FFF2-40B4-BE49-F238E27FC236}">
                <a16:creationId xmlns:a16="http://schemas.microsoft.com/office/drawing/2014/main" id="{566E1EC8-234C-D8E3-E978-1D59E95AE052}"/>
              </a:ext>
            </a:extLst>
          </p:cNvPr>
          <p:cNvSpPr txBox="1"/>
          <p:nvPr/>
        </p:nvSpPr>
        <p:spPr>
          <a:xfrm>
            <a:off x="7744180" y="5485417"/>
            <a:ext cx="4010414" cy="1169551"/>
          </a:xfrm>
          <a:prstGeom prst="rect">
            <a:avLst/>
          </a:prstGeom>
          <a:noFill/>
        </p:spPr>
        <p:txBody>
          <a:bodyPr wrap="square" rtlCol="0">
            <a:spAutoFit/>
          </a:bodyPr>
          <a:lstStyle/>
          <a:p>
            <a:pPr algn="ctr" fontAlgn="base">
              <a:spcBef>
                <a:spcPct val="0"/>
              </a:spcBef>
              <a:spcAft>
                <a:spcPct val="0"/>
              </a:spcAft>
            </a:pPr>
            <a:r>
              <a:rPr lang="en-US" sz="1400" b="1" dirty="0">
                <a:solidFill>
                  <a:srgbClr val="000000"/>
                </a:solidFill>
                <a:latin typeface="Tahoma" pitchFamily="34" charset="0"/>
              </a:rPr>
              <a:t>Teaching Object-Oriented Programming</a:t>
            </a:r>
          </a:p>
          <a:p>
            <a:pPr algn="ctr" fontAlgn="base">
              <a:spcBef>
                <a:spcPct val="0"/>
              </a:spcBef>
              <a:spcAft>
                <a:spcPct val="0"/>
              </a:spcAft>
            </a:pPr>
            <a:r>
              <a:rPr lang="en-US" sz="1400" b="1" dirty="0">
                <a:solidFill>
                  <a:srgbClr val="000000"/>
                </a:solidFill>
                <a:latin typeface="Tahoma" pitchFamily="34" charset="0"/>
              </a:rPr>
              <a:t>A Constructivism-Based Approach</a:t>
            </a:r>
          </a:p>
          <a:p>
            <a:pPr algn="ctr" fontAlgn="base">
              <a:spcBef>
                <a:spcPct val="0"/>
              </a:spcBef>
              <a:spcAft>
                <a:spcPct val="0"/>
              </a:spcAft>
            </a:pPr>
            <a:r>
              <a:rPr lang="en-US" sz="1400" dirty="0">
                <a:solidFill>
                  <a:srgbClr val="000000"/>
                </a:solidFill>
                <a:latin typeface="Tahoma" pitchFamily="34" charset="0"/>
                <a:hlinkClick r:id="rId4"/>
              </a:rPr>
              <a:t>http://seg.ceid.upatras.gr/OOCourse/</a:t>
            </a:r>
            <a:endParaRPr lang="en-US" sz="1400" dirty="0">
              <a:solidFill>
                <a:srgbClr val="000000"/>
              </a:solidFill>
              <a:latin typeface="Tahoma" pitchFamily="34" charset="0"/>
            </a:endParaRPr>
          </a:p>
          <a:p>
            <a:pPr algn="ctr" fontAlgn="base">
              <a:spcBef>
                <a:spcPct val="0"/>
              </a:spcBef>
              <a:spcAft>
                <a:spcPct val="0"/>
              </a:spcAft>
            </a:pPr>
            <a:endParaRPr lang="en-US" sz="1400" dirty="0">
              <a:solidFill>
                <a:srgbClr val="000000"/>
              </a:solidFill>
              <a:latin typeface="Tahoma" pitchFamily="34" charset="0"/>
            </a:endParaRPr>
          </a:p>
          <a:p>
            <a:pPr algn="ctr" fontAlgn="base">
              <a:spcBef>
                <a:spcPct val="0"/>
              </a:spcBef>
              <a:spcAft>
                <a:spcPct val="0"/>
              </a:spcAft>
            </a:pPr>
            <a:endParaRPr lang="el-GR" sz="1400" dirty="0">
              <a:solidFill>
                <a:srgbClr val="000000"/>
              </a:solidFill>
              <a:latin typeface="Tahoma" pitchFamily="34" charset="0"/>
            </a:endParaRPr>
          </a:p>
        </p:txBody>
      </p:sp>
    </p:spTree>
    <p:extLst>
      <p:ext uri="{BB962C8B-B14F-4D97-AF65-F5344CB8AC3E}">
        <p14:creationId xmlns:p14="http://schemas.microsoft.com/office/powerpoint/2010/main" val="1173724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iterate type="wd">
                                    <p:tmPct val="10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300"/>
                                        <p:tgtEl>
                                          <p:spTgt spid="3">
                                            <p:txEl>
                                              <p:pRg st="0" end="0"/>
                                            </p:txEl>
                                          </p:spTgt>
                                        </p:tgtEl>
                                      </p:cBhvr>
                                    </p:animEffect>
                                  </p:childTnLst>
                                </p:cTn>
                              </p:par>
                              <p:par>
                                <p:cTn id="8" presetID="9" presetClass="entr" presetSubtype="0" fill="hold" grpId="0" nodeType="withEffect">
                                  <p:stCondLst>
                                    <p:cond delay="0"/>
                                  </p:stCondLst>
                                  <p:iterate type="wd">
                                    <p:tmPct val="10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300"/>
                                        <p:tgtEl>
                                          <p:spTgt spid="3">
                                            <p:txEl>
                                              <p:pRg st="1" end="1"/>
                                            </p:txEl>
                                          </p:spTgt>
                                        </p:tgtEl>
                                      </p:cBhvr>
                                    </p:animEffect>
                                  </p:childTnLst>
                                </p:cTn>
                              </p:par>
                              <p:par>
                                <p:cTn id="11" presetID="9" presetClass="entr" presetSubtype="0" fill="hold" grpId="0" nodeType="withEffect">
                                  <p:stCondLst>
                                    <p:cond delay="0"/>
                                  </p:stCondLst>
                                  <p:iterate type="wd">
                                    <p:tmPct val="10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300"/>
                                        <p:tgtEl>
                                          <p:spTgt spid="3">
                                            <p:txEl>
                                              <p:pRg st="2" end="2"/>
                                            </p:txEl>
                                          </p:spTgt>
                                        </p:tgtEl>
                                      </p:cBhvr>
                                    </p:animEffect>
                                  </p:childTnLst>
                                </p:cTn>
                              </p:par>
                              <p:par>
                                <p:cTn id="14" presetID="9" presetClass="entr" presetSubtype="0" fill="hold" grpId="0" nodeType="withEffect">
                                  <p:stCondLst>
                                    <p:cond delay="0"/>
                                  </p:stCondLst>
                                  <p:iterate type="wd">
                                    <p:tmPct val="100000"/>
                                  </p:iterate>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3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0"/>
      <p:bldP spid="4" grpId="0" animBg="1" autoUpdateAnimBg="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Έννοια </a:t>
            </a:r>
            <a:r>
              <a:rPr lang="el-GR" sz="4000" b="1" dirty="0" err="1">
                <a:solidFill>
                  <a:srgbClr val="F9853D"/>
                </a:solidFill>
                <a:latin typeface="Bahnschrift" panose="020B0502040204020203" pitchFamily="34" charset="0"/>
              </a:rPr>
              <a:t>vs</a:t>
            </a:r>
            <a:r>
              <a:rPr lang="el-GR" sz="4000" b="1" dirty="0">
                <a:solidFill>
                  <a:srgbClr val="F9853D"/>
                </a:solidFill>
                <a:latin typeface="Bahnschrift" panose="020B0502040204020203" pitchFamily="34" charset="0"/>
              </a:rPr>
              <a:t>. Αντικείμενο φυσικού κόσμου</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Text Box 4">
            <a:extLst>
              <a:ext uri="{FF2B5EF4-FFF2-40B4-BE49-F238E27FC236}">
                <a16:creationId xmlns:a16="http://schemas.microsoft.com/office/drawing/2014/main" id="{F0196AE8-5366-C0AD-C9B0-11CE97BF1D18}"/>
              </a:ext>
            </a:extLst>
          </p:cNvPr>
          <p:cNvSpPr txBox="1">
            <a:spLocks noChangeArrowheads="1"/>
          </p:cNvSpPr>
          <p:nvPr/>
        </p:nvSpPr>
        <p:spPr bwMode="auto">
          <a:xfrm>
            <a:off x="119201" y="2443308"/>
            <a:ext cx="2286000" cy="579438"/>
          </a:xfrm>
          <a:prstGeom prst="rect">
            <a:avLst/>
          </a:prstGeom>
          <a:noFill/>
          <a:ln w="9525">
            <a:noFill/>
            <a:miter lim="800000"/>
            <a:headEnd/>
            <a:tailEnd/>
          </a:ln>
        </p:spPr>
        <p:txBody>
          <a:bodyPr>
            <a:spAutoFit/>
          </a:bodyPr>
          <a:lstStyle/>
          <a:p>
            <a:pPr fontAlgn="base">
              <a:spcBef>
                <a:spcPct val="50000"/>
              </a:spcBef>
              <a:spcAft>
                <a:spcPct val="0"/>
              </a:spcAft>
            </a:pPr>
            <a:r>
              <a:rPr lang="en-US" sz="3200" b="1" dirty="0">
                <a:solidFill>
                  <a:srgbClr val="FF0000"/>
                </a:solidFill>
                <a:latin typeface="Tahoma" pitchFamily="34" charset="0"/>
              </a:rPr>
              <a:t>Goody’s</a:t>
            </a:r>
            <a:endParaRPr lang="en-GB" sz="3200" b="1" dirty="0">
              <a:solidFill>
                <a:srgbClr val="FF0000"/>
              </a:solidFill>
              <a:latin typeface="Tahoma" pitchFamily="34" charset="0"/>
            </a:endParaRPr>
          </a:p>
        </p:txBody>
      </p:sp>
      <p:sp>
        <p:nvSpPr>
          <p:cNvPr id="4" name="Text Box 5">
            <a:extLst>
              <a:ext uri="{FF2B5EF4-FFF2-40B4-BE49-F238E27FC236}">
                <a16:creationId xmlns:a16="http://schemas.microsoft.com/office/drawing/2014/main" id="{21858AC3-438F-09FB-9902-4A2972C4EB64}"/>
              </a:ext>
            </a:extLst>
          </p:cNvPr>
          <p:cNvSpPr txBox="1">
            <a:spLocks noChangeArrowheads="1"/>
          </p:cNvSpPr>
          <p:nvPr/>
        </p:nvSpPr>
        <p:spPr bwMode="auto">
          <a:xfrm>
            <a:off x="7104214" y="5400395"/>
            <a:ext cx="1263810" cy="1015663"/>
          </a:xfrm>
          <a:prstGeom prst="rect">
            <a:avLst/>
          </a:prstGeom>
          <a:noFill/>
          <a:ln w="9525">
            <a:noFill/>
            <a:miter lim="800000"/>
            <a:headEnd/>
            <a:tailEnd/>
          </a:ln>
        </p:spPr>
        <p:txBody>
          <a:bodyPr wrap="square">
            <a:spAutoFit/>
          </a:bodyPr>
          <a:lstStyle/>
          <a:p>
            <a:pPr fontAlgn="base">
              <a:spcBef>
                <a:spcPct val="0"/>
              </a:spcBef>
              <a:spcAft>
                <a:spcPct val="0"/>
              </a:spcAft>
            </a:pPr>
            <a:r>
              <a:rPr lang="en-US" sz="2000" b="1" dirty="0">
                <a:solidFill>
                  <a:srgbClr val="128F05"/>
                </a:solidFill>
                <a:latin typeface="Tahoma" pitchFamily="34" charset="0"/>
              </a:rPr>
              <a:t>Olga Square</a:t>
            </a:r>
            <a:r>
              <a:rPr lang="el-GR" sz="2000" b="1" dirty="0">
                <a:solidFill>
                  <a:srgbClr val="128F05"/>
                </a:solidFill>
                <a:latin typeface="Tahoma" pitchFamily="34" charset="0"/>
              </a:rPr>
              <a:t> </a:t>
            </a:r>
            <a:r>
              <a:rPr lang="en-US" sz="2000" b="1" dirty="0">
                <a:solidFill>
                  <a:srgbClr val="128F05"/>
                </a:solidFill>
                <a:latin typeface="Tahoma" pitchFamily="34" charset="0"/>
              </a:rPr>
              <a:t>Goody’s</a:t>
            </a:r>
            <a:endParaRPr lang="en-GB" sz="2000" b="1" dirty="0">
              <a:solidFill>
                <a:srgbClr val="128F05"/>
              </a:solidFill>
              <a:latin typeface="Tahoma" pitchFamily="34" charset="0"/>
            </a:endParaRPr>
          </a:p>
        </p:txBody>
      </p:sp>
      <p:pic>
        <p:nvPicPr>
          <p:cNvPr id="6" name="Picture 6" descr="PAGoodys001">
            <a:extLst>
              <a:ext uri="{FF2B5EF4-FFF2-40B4-BE49-F238E27FC236}">
                <a16:creationId xmlns:a16="http://schemas.microsoft.com/office/drawing/2014/main" id="{5E5CBD3E-FE39-9326-E938-A44DCD2ADE19}"/>
              </a:ext>
            </a:extLst>
          </p:cNvPr>
          <p:cNvPicPr>
            <a:picLocks noChangeAspect="1" noChangeArrowheads="1"/>
          </p:cNvPicPr>
          <p:nvPr/>
        </p:nvPicPr>
        <p:blipFill>
          <a:blip r:embed="rId3" cstate="print"/>
          <a:srcRect/>
          <a:stretch>
            <a:fillRect/>
          </a:stretch>
        </p:blipFill>
        <p:spPr bwMode="auto">
          <a:xfrm>
            <a:off x="138588" y="3098170"/>
            <a:ext cx="4401604" cy="3301823"/>
          </a:xfrm>
          <a:prstGeom prst="rect">
            <a:avLst/>
          </a:prstGeom>
          <a:noFill/>
          <a:ln w="9525">
            <a:noFill/>
            <a:miter lim="800000"/>
            <a:headEnd/>
            <a:tailEnd/>
          </a:ln>
        </p:spPr>
      </p:pic>
      <p:sp>
        <p:nvSpPr>
          <p:cNvPr id="7" name="Text Box 7">
            <a:extLst>
              <a:ext uri="{FF2B5EF4-FFF2-40B4-BE49-F238E27FC236}">
                <a16:creationId xmlns:a16="http://schemas.microsoft.com/office/drawing/2014/main" id="{664F8FBC-1454-5E2A-DEA1-A1C86FFED72E}"/>
              </a:ext>
            </a:extLst>
          </p:cNvPr>
          <p:cNvSpPr txBox="1">
            <a:spLocks noChangeArrowheads="1"/>
          </p:cNvSpPr>
          <p:nvPr/>
        </p:nvSpPr>
        <p:spPr bwMode="auto">
          <a:xfrm>
            <a:off x="4758975" y="4415639"/>
            <a:ext cx="1944911" cy="707886"/>
          </a:xfrm>
          <a:prstGeom prst="rect">
            <a:avLst/>
          </a:prstGeom>
          <a:noFill/>
          <a:ln w="9525">
            <a:noFill/>
            <a:miter lim="800000"/>
            <a:headEnd/>
            <a:tailEnd/>
          </a:ln>
        </p:spPr>
        <p:txBody>
          <a:bodyPr wrap="square">
            <a:spAutoFit/>
          </a:bodyPr>
          <a:lstStyle/>
          <a:p>
            <a:pPr fontAlgn="base">
              <a:spcBef>
                <a:spcPct val="0"/>
              </a:spcBef>
              <a:spcAft>
                <a:spcPct val="0"/>
              </a:spcAft>
            </a:pPr>
            <a:r>
              <a:rPr lang="en-US" sz="2000" b="1" dirty="0" err="1">
                <a:solidFill>
                  <a:srgbClr val="128F05"/>
                </a:solidFill>
                <a:latin typeface="Tahoma" pitchFamily="34" charset="0"/>
              </a:rPr>
              <a:t>Psila</a:t>
            </a:r>
            <a:r>
              <a:rPr lang="en-US" sz="2000" b="1" dirty="0">
                <a:solidFill>
                  <a:srgbClr val="128F05"/>
                </a:solidFill>
                <a:latin typeface="Tahoma" pitchFamily="34" charset="0"/>
              </a:rPr>
              <a:t> </a:t>
            </a:r>
            <a:r>
              <a:rPr lang="en-US" sz="2000" b="1" dirty="0" err="1">
                <a:solidFill>
                  <a:srgbClr val="128F05"/>
                </a:solidFill>
                <a:latin typeface="Tahoma" pitchFamily="34" charset="0"/>
              </a:rPr>
              <a:t>Alonia</a:t>
            </a:r>
            <a:r>
              <a:rPr lang="en-US" sz="2000" b="1" dirty="0">
                <a:solidFill>
                  <a:srgbClr val="128F05"/>
                </a:solidFill>
                <a:latin typeface="Tahoma" pitchFamily="34" charset="0"/>
              </a:rPr>
              <a:t> Goody’s</a:t>
            </a:r>
            <a:endParaRPr lang="en-GB" sz="2000" b="1" dirty="0">
              <a:solidFill>
                <a:srgbClr val="128F05"/>
              </a:solidFill>
              <a:latin typeface="Tahoma" pitchFamily="34" charset="0"/>
            </a:endParaRPr>
          </a:p>
        </p:txBody>
      </p:sp>
      <p:sp>
        <p:nvSpPr>
          <p:cNvPr id="9" name="Text Box 10">
            <a:extLst>
              <a:ext uri="{FF2B5EF4-FFF2-40B4-BE49-F238E27FC236}">
                <a16:creationId xmlns:a16="http://schemas.microsoft.com/office/drawing/2014/main" id="{D0CBA526-78F8-6C61-297A-DEF0D99AD830}"/>
              </a:ext>
            </a:extLst>
          </p:cNvPr>
          <p:cNvSpPr txBox="1">
            <a:spLocks noChangeArrowheads="1"/>
          </p:cNvSpPr>
          <p:nvPr/>
        </p:nvSpPr>
        <p:spPr bwMode="auto">
          <a:xfrm>
            <a:off x="180365" y="1932041"/>
            <a:ext cx="3662363" cy="519112"/>
          </a:xfrm>
          <a:prstGeom prst="rect">
            <a:avLst/>
          </a:prstGeom>
          <a:noFill/>
          <a:ln w="9525">
            <a:noFill/>
            <a:miter lim="800000"/>
            <a:headEnd/>
            <a:tailEnd/>
          </a:ln>
        </p:spPr>
        <p:txBody>
          <a:bodyPr wrap="none">
            <a:spAutoFit/>
          </a:bodyPr>
          <a:lstStyle/>
          <a:p>
            <a:pPr fontAlgn="base">
              <a:spcBef>
                <a:spcPct val="0"/>
              </a:spcBef>
              <a:spcAft>
                <a:spcPct val="0"/>
              </a:spcAft>
            </a:pPr>
            <a:r>
              <a:rPr lang="el-GR" sz="2800" b="1" dirty="0">
                <a:solidFill>
                  <a:srgbClr val="FF0000"/>
                </a:solidFill>
                <a:latin typeface="Tahoma" pitchFamily="34" charset="0"/>
              </a:rPr>
              <a:t>ΚΛΑΜΠ</a:t>
            </a:r>
            <a:r>
              <a:rPr lang="el-GR" sz="2400" b="1" dirty="0">
                <a:solidFill>
                  <a:srgbClr val="FF0000"/>
                </a:solidFill>
                <a:latin typeface="Tahoma" pitchFamily="34" charset="0"/>
              </a:rPr>
              <a:t> </a:t>
            </a:r>
            <a:r>
              <a:rPr lang="el-GR" sz="2800" b="1" dirty="0">
                <a:solidFill>
                  <a:srgbClr val="FF0000"/>
                </a:solidFill>
                <a:latin typeface="Tahoma" pitchFamily="34" charset="0"/>
              </a:rPr>
              <a:t>ΣΑΝΤΟΥΙΤΣ</a:t>
            </a:r>
          </a:p>
        </p:txBody>
      </p:sp>
      <p:sp>
        <p:nvSpPr>
          <p:cNvPr id="12" name="Text Box 11">
            <a:extLst>
              <a:ext uri="{FF2B5EF4-FFF2-40B4-BE49-F238E27FC236}">
                <a16:creationId xmlns:a16="http://schemas.microsoft.com/office/drawing/2014/main" id="{02C1A0E6-0CD9-062B-ECBF-EADC4BC2619C}"/>
              </a:ext>
            </a:extLst>
          </p:cNvPr>
          <p:cNvSpPr txBox="1">
            <a:spLocks noChangeArrowheads="1"/>
          </p:cNvSpPr>
          <p:nvPr/>
        </p:nvSpPr>
        <p:spPr bwMode="auto">
          <a:xfrm>
            <a:off x="5131125" y="3276687"/>
            <a:ext cx="4699000" cy="457200"/>
          </a:xfrm>
          <a:prstGeom prst="rect">
            <a:avLst/>
          </a:prstGeom>
          <a:noFill/>
          <a:ln w="9525">
            <a:noFill/>
            <a:miter lim="800000"/>
            <a:headEnd/>
            <a:tailEnd/>
          </a:ln>
        </p:spPr>
        <p:txBody>
          <a:bodyPr wrap="none">
            <a:spAutoFit/>
          </a:bodyPr>
          <a:lstStyle/>
          <a:p>
            <a:pPr fontAlgn="base">
              <a:spcBef>
                <a:spcPct val="0"/>
              </a:spcBef>
              <a:spcAft>
                <a:spcPct val="0"/>
              </a:spcAft>
            </a:pPr>
            <a:r>
              <a:rPr lang="el-GR" sz="2400" b="1" dirty="0">
                <a:solidFill>
                  <a:srgbClr val="128F05"/>
                </a:solidFill>
                <a:latin typeface="Tahoma" pitchFamily="34" charset="0"/>
              </a:rPr>
              <a:t>Το δικό μου κλαμπ  σάντουιτς</a:t>
            </a:r>
          </a:p>
        </p:txBody>
      </p:sp>
      <p:sp>
        <p:nvSpPr>
          <p:cNvPr id="13" name="Text Box 12">
            <a:extLst>
              <a:ext uri="{FF2B5EF4-FFF2-40B4-BE49-F238E27FC236}">
                <a16:creationId xmlns:a16="http://schemas.microsoft.com/office/drawing/2014/main" id="{B744EDE4-443A-E70B-C4BD-876DCBD286B7}"/>
              </a:ext>
            </a:extLst>
          </p:cNvPr>
          <p:cNvSpPr txBox="1">
            <a:spLocks noChangeArrowheads="1"/>
          </p:cNvSpPr>
          <p:nvPr/>
        </p:nvSpPr>
        <p:spPr bwMode="auto">
          <a:xfrm>
            <a:off x="6928550" y="3864328"/>
            <a:ext cx="4700587" cy="457200"/>
          </a:xfrm>
          <a:prstGeom prst="rect">
            <a:avLst/>
          </a:prstGeom>
          <a:noFill/>
          <a:ln w="9525">
            <a:noFill/>
            <a:miter lim="800000"/>
            <a:headEnd/>
            <a:tailEnd/>
          </a:ln>
        </p:spPr>
        <p:txBody>
          <a:bodyPr wrap="none">
            <a:spAutoFit/>
          </a:bodyPr>
          <a:lstStyle/>
          <a:p>
            <a:pPr fontAlgn="base">
              <a:spcBef>
                <a:spcPct val="0"/>
              </a:spcBef>
              <a:spcAft>
                <a:spcPct val="0"/>
              </a:spcAft>
            </a:pPr>
            <a:r>
              <a:rPr lang="el-GR" sz="2400" b="1" dirty="0">
                <a:solidFill>
                  <a:srgbClr val="128F05"/>
                </a:solidFill>
                <a:latin typeface="Tahoma" pitchFamily="34" charset="0"/>
              </a:rPr>
              <a:t>Το δικό σου κλαμπ  σάντουιτς</a:t>
            </a:r>
          </a:p>
        </p:txBody>
      </p:sp>
      <p:sp>
        <p:nvSpPr>
          <p:cNvPr id="14" name="Text Box 10">
            <a:extLst>
              <a:ext uri="{FF2B5EF4-FFF2-40B4-BE49-F238E27FC236}">
                <a16:creationId xmlns:a16="http://schemas.microsoft.com/office/drawing/2014/main" id="{55527ECB-711D-4AE9-89D1-36E55714B9A2}"/>
              </a:ext>
            </a:extLst>
          </p:cNvPr>
          <p:cNvSpPr txBox="1">
            <a:spLocks noChangeArrowheads="1"/>
          </p:cNvSpPr>
          <p:nvPr/>
        </p:nvSpPr>
        <p:spPr bwMode="auto">
          <a:xfrm>
            <a:off x="273806" y="857264"/>
            <a:ext cx="2367956" cy="523220"/>
          </a:xfrm>
          <a:prstGeom prst="rect">
            <a:avLst/>
          </a:prstGeom>
          <a:noFill/>
          <a:ln w="9525">
            <a:noFill/>
            <a:miter lim="800000"/>
            <a:headEnd/>
            <a:tailEnd/>
          </a:ln>
        </p:spPr>
        <p:txBody>
          <a:bodyPr wrap="none">
            <a:spAutoFit/>
          </a:bodyPr>
          <a:lstStyle/>
          <a:p>
            <a:pPr fontAlgn="base">
              <a:spcBef>
                <a:spcPct val="0"/>
              </a:spcBef>
              <a:spcAft>
                <a:spcPct val="0"/>
              </a:spcAft>
            </a:pPr>
            <a:r>
              <a:rPr lang="el-GR" sz="2800" b="1" dirty="0">
                <a:solidFill>
                  <a:srgbClr val="333399">
                    <a:lumMod val="75000"/>
                  </a:srgbClr>
                </a:solidFill>
                <a:latin typeface="Tahoma" pitchFamily="34" charset="0"/>
              </a:rPr>
              <a:t>Ιόν Νατρίου</a:t>
            </a:r>
          </a:p>
        </p:txBody>
      </p:sp>
      <p:sp>
        <p:nvSpPr>
          <p:cNvPr id="15" name="Text Box 10">
            <a:extLst>
              <a:ext uri="{FF2B5EF4-FFF2-40B4-BE49-F238E27FC236}">
                <a16:creationId xmlns:a16="http://schemas.microsoft.com/office/drawing/2014/main" id="{875F8EEE-D237-01D1-DF0A-147073666B8D}"/>
              </a:ext>
            </a:extLst>
          </p:cNvPr>
          <p:cNvSpPr txBox="1">
            <a:spLocks noChangeArrowheads="1"/>
          </p:cNvSpPr>
          <p:nvPr/>
        </p:nvSpPr>
        <p:spPr bwMode="auto">
          <a:xfrm>
            <a:off x="1135054" y="1331710"/>
            <a:ext cx="2419252" cy="523220"/>
          </a:xfrm>
          <a:prstGeom prst="rect">
            <a:avLst/>
          </a:prstGeom>
          <a:noFill/>
          <a:ln w="9525">
            <a:noFill/>
            <a:miter lim="800000"/>
            <a:headEnd/>
            <a:tailEnd/>
          </a:ln>
        </p:spPr>
        <p:txBody>
          <a:bodyPr wrap="none">
            <a:spAutoFit/>
          </a:bodyPr>
          <a:lstStyle/>
          <a:p>
            <a:pPr fontAlgn="base">
              <a:spcBef>
                <a:spcPct val="0"/>
              </a:spcBef>
              <a:spcAft>
                <a:spcPct val="0"/>
              </a:spcAft>
            </a:pPr>
            <a:r>
              <a:rPr lang="el-GR" sz="2800" b="1" dirty="0">
                <a:solidFill>
                  <a:srgbClr val="333399">
                    <a:lumMod val="75000"/>
                  </a:srgbClr>
                </a:solidFill>
                <a:latin typeface="Tahoma" pitchFamily="34" charset="0"/>
              </a:rPr>
              <a:t>Ιόν Χλωρίου</a:t>
            </a:r>
          </a:p>
        </p:txBody>
      </p:sp>
      <p:pic>
        <p:nvPicPr>
          <p:cNvPr id="16" name="Picture 15">
            <a:extLst>
              <a:ext uri="{FF2B5EF4-FFF2-40B4-BE49-F238E27FC236}">
                <a16:creationId xmlns:a16="http://schemas.microsoft.com/office/drawing/2014/main" id="{564BE608-C3C3-2180-C2D7-D0B8AD48BCE7}"/>
              </a:ext>
            </a:extLst>
          </p:cNvPr>
          <p:cNvPicPr>
            <a:picLocks noChangeAspect="1"/>
          </p:cNvPicPr>
          <p:nvPr/>
        </p:nvPicPr>
        <p:blipFill>
          <a:blip r:embed="rId4"/>
          <a:stretch>
            <a:fillRect/>
          </a:stretch>
        </p:blipFill>
        <p:spPr>
          <a:xfrm>
            <a:off x="9936383" y="963578"/>
            <a:ext cx="1807112" cy="2222685"/>
          </a:xfrm>
          <a:prstGeom prst="rect">
            <a:avLst/>
          </a:prstGeom>
        </p:spPr>
      </p:pic>
      <p:pic>
        <p:nvPicPr>
          <p:cNvPr id="17" name="Picture 16">
            <a:extLst>
              <a:ext uri="{FF2B5EF4-FFF2-40B4-BE49-F238E27FC236}">
                <a16:creationId xmlns:a16="http://schemas.microsoft.com/office/drawing/2014/main" id="{01C84644-525A-F1BE-3794-492A97E05331}"/>
              </a:ext>
            </a:extLst>
          </p:cNvPr>
          <p:cNvPicPr>
            <a:picLocks noChangeAspect="1"/>
          </p:cNvPicPr>
          <p:nvPr/>
        </p:nvPicPr>
        <p:blipFill>
          <a:blip r:embed="rId5"/>
          <a:stretch>
            <a:fillRect/>
          </a:stretch>
        </p:blipFill>
        <p:spPr>
          <a:xfrm>
            <a:off x="6231161" y="758816"/>
            <a:ext cx="1394779" cy="1394779"/>
          </a:xfrm>
          <a:prstGeom prst="rect">
            <a:avLst/>
          </a:prstGeom>
        </p:spPr>
      </p:pic>
      <p:sp>
        <p:nvSpPr>
          <p:cNvPr id="18" name="TextBox 17">
            <a:extLst>
              <a:ext uri="{FF2B5EF4-FFF2-40B4-BE49-F238E27FC236}">
                <a16:creationId xmlns:a16="http://schemas.microsoft.com/office/drawing/2014/main" id="{65FFF8E4-2FBE-AE1A-6316-13D5384F7613}"/>
              </a:ext>
            </a:extLst>
          </p:cNvPr>
          <p:cNvSpPr txBox="1"/>
          <p:nvPr/>
        </p:nvSpPr>
        <p:spPr>
          <a:xfrm>
            <a:off x="8868462" y="964193"/>
            <a:ext cx="1067921" cy="461665"/>
          </a:xfrm>
          <a:prstGeom prst="rect">
            <a:avLst/>
          </a:prstGeom>
          <a:noFill/>
        </p:spPr>
        <p:txBody>
          <a:bodyPr wrap="none" rtlCol="0">
            <a:spAutoFit/>
          </a:bodyPr>
          <a:lstStyle/>
          <a:p>
            <a:pPr fontAlgn="base">
              <a:spcBef>
                <a:spcPct val="0"/>
              </a:spcBef>
              <a:spcAft>
                <a:spcPct val="0"/>
              </a:spcAft>
            </a:pPr>
            <a:r>
              <a:rPr lang="el-GR" sz="2400" dirty="0" err="1">
                <a:solidFill>
                  <a:srgbClr val="000000"/>
                </a:solidFill>
                <a:latin typeface="Tahoma" pitchFamily="34" charset="0"/>
              </a:rPr>
              <a:t>πατρικ</a:t>
            </a:r>
            <a:endParaRPr lang="el-GR" sz="2400" dirty="0">
              <a:solidFill>
                <a:srgbClr val="000000"/>
              </a:solidFill>
              <a:latin typeface="Tahoma" pitchFamily="34" charset="0"/>
            </a:endParaRPr>
          </a:p>
        </p:txBody>
      </p:sp>
      <p:sp>
        <p:nvSpPr>
          <p:cNvPr id="19" name="Text Box 10">
            <a:extLst>
              <a:ext uri="{FF2B5EF4-FFF2-40B4-BE49-F238E27FC236}">
                <a16:creationId xmlns:a16="http://schemas.microsoft.com/office/drawing/2014/main" id="{96B2ED5E-BEB6-E4B1-E446-29A24929CFDA}"/>
              </a:ext>
            </a:extLst>
          </p:cNvPr>
          <p:cNvSpPr txBox="1">
            <a:spLocks noChangeArrowheads="1"/>
          </p:cNvSpPr>
          <p:nvPr/>
        </p:nvSpPr>
        <p:spPr bwMode="auto">
          <a:xfrm>
            <a:off x="4703422" y="2619821"/>
            <a:ext cx="1677062" cy="523220"/>
          </a:xfrm>
          <a:prstGeom prst="rect">
            <a:avLst/>
          </a:prstGeom>
          <a:noFill/>
          <a:ln w="9525">
            <a:noFill/>
            <a:miter lim="800000"/>
            <a:headEnd/>
            <a:tailEnd/>
          </a:ln>
        </p:spPr>
        <p:txBody>
          <a:bodyPr wrap="none">
            <a:spAutoFit/>
          </a:bodyPr>
          <a:lstStyle/>
          <a:p>
            <a:pPr fontAlgn="base">
              <a:spcBef>
                <a:spcPct val="0"/>
              </a:spcBef>
              <a:spcAft>
                <a:spcPct val="0"/>
              </a:spcAft>
            </a:pPr>
            <a:r>
              <a:rPr lang="el-GR" sz="2800" b="1" dirty="0">
                <a:solidFill>
                  <a:srgbClr val="FF0000"/>
                </a:solidFill>
                <a:latin typeface="Tahoma" pitchFamily="34" charset="0"/>
              </a:rPr>
              <a:t>Πελάτης</a:t>
            </a:r>
          </a:p>
        </p:txBody>
      </p:sp>
      <p:sp>
        <p:nvSpPr>
          <p:cNvPr id="20" name="Text Box 10">
            <a:extLst>
              <a:ext uri="{FF2B5EF4-FFF2-40B4-BE49-F238E27FC236}">
                <a16:creationId xmlns:a16="http://schemas.microsoft.com/office/drawing/2014/main" id="{D2A45BE3-6C61-CE8A-D8FC-8CE3EF24A9A5}"/>
              </a:ext>
            </a:extLst>
          </p:cNvPr>
          <p:cNvSpPr txBox="1">
            <a:spLocks noChangeArrowheads="1"/>
          </p:cNvSpPr>
          <p:nvPr/>
        </p:nvSpPr>
        <p:spPr bwMode="auto">
          <a:xfrm>
            <a:off x="9572269" y="4600305"/>
            <a:ext cx="2135521" cy="523220"/>
          </a:xfrm>
          <a:prstGeom prst="rect">
            <a:avLst/>
          </a:prstGeom>
          <a:noFill/>
          <a:ln w="9525">
            <a:noFill/>
            <a:miter lim="800000"/>
            <a:headEnd/>
            <a:tailEnd/>
          </a:ln>
        </p:spPr>
        <p:txBody>
          <a:bodyPr wrap="none">
            <a:spAutoFit/>
          </a:bodyPr>
          <a:lstStyle/>
          <a:p>
            <a:pPr fontAlgn="base">
              <a:spcBef>
                <a:spcPct val="0"/>
              </a:spcBef>
              <a:spcAft>
                <a:spcPct val="0"/>
              </a:spcAft>
            </a:pPr>
            <a:r>
              <a:rPr lang="el-GR" sz="2800" b="1" dirty="0">
                <a:solidFill>
                  <a:srgbClr val="FF0000"/>
                </a:solidFill>
                <a:latin typeface="Tahoma" pitchFamily="34" charset="0"/>
              </a:rPr>
              <a:t>Υπάλληλος</a:t>
            </a:r>
          </a:p>
        </p:txBody>
      </p:sp>
      <p:sp>
        <p:nvSpPr>
          <p:cNvPr id="21" name="Text Box 7">
            <a:extLst>
              <a:ext uri="{FF2B5EF4-FFF2-40B4-BE49-F238E27FC236}">
                <a16:creationId xmlns:a16="http://schemas.microsoft.com/office/drawing/2014/main" id="{86A44629-812D-EFFB-0387-2DC78AE3B0E3}"/>
              </a:ext>
            </a:extLst>
          </p:cNvPr>
          <p:cNvSpPr txBox="1">
            <a:spLocks noChangeArrowheads="1"/>
          </p:cNvSpPr>
          <p:nvPr/>
        </p:nvSpPr>
        <p:spPr bwMode="auto">
          <a:xfrm>
            <a:off x="7105311" y="2389562"/>
            <a:ext cx="1944911" cy="707886"/>
          </a:xfrm>
          <a:prstGeom prst="rect">
            <a:avLst/>
          </a:prstGeom>
          <a:noFill/>
          <a:ln w="9525">
            <a:noFill/>
            <a:miter lim="800000"/>
            <a:headEnd/>
            <a:tailEnd/>
          </a:ln>
        </p:spPr>
        <p:txBody>
          <a:bodyPr wrap="square">
            <a:spAutoFit/>
          </a:bodyPr>
          <a:lstStyle/>
          <a:p>
            <a:pPr fontAlgn="base">
              <a:spcBef>
                <a:spcPct val="0"/>
              </a:spcBef>
              <a:spcAft>
                <a:spcPct val="0"/>
              </a:spcAft>
            </a:pPr>
            <a:r>
              <a:rPr lang="el-GR" sz="2000" b="1" dirty="0">
                <a:solidFill>
                  <a:srgbClr val="128F05"/>
                </a:solidFill>
                <a:latin typeface="Tahoma" pitchFamily="34" charset="0"/>
              </a:rPr>
              <a:t>Χρήστος</a:t>
            </a:r>
          </a:p>
          <a:p>
            <a:pPr fontAlgn="base">
              <a:spcBef>
                <a:spcPct val="0"/>
              </a:spcBef>
              <a:spcAft>
                <a:spcPct val="0"/>
              </a:spcAft>
            </a:pPr>
            <a:r>
              <a:rPr lang="el-GR" sz="2000" b="1" dirty="0">
                <a:solidFill>
                  <a:srgbClr val="128F05"/>
                </a:solidFill>
                <a:latin typeface="Tahoma" pitchFamily="34" charset="0"/>
              </a:rPr>
              <a:t>Κώστας</a:t>
            </a:r>
            <a:endParaRPr lang="en-GB" sz="2000" b="1" dirty="0">
              <a:solidFill>
                <a:srgbClr val="128F05"/>
              </a:solidFill>
              <a:latin typeface="Tahoma" pitchFamily="34" charset="0"/>
            </a:endParaRPr>
          </a:p>
        </p:txBody>
      </p:sp>
      <p:sp>
        <p:nvSpPr>
          <p:cNvPr id="22" name="Text Box 7">
            <a:extLst>
              <a:ext uri="{FF2B5EF4-FFF2-40B4-BE49-F238E27FC236}">
                <a16:creationId xmlns:a16="http://schemas.microsoft.com/office/drawing/2014/main" id="{3952072D-1D24-27C3-E971-19FA0FD59F45}"/>
              </a:ext>
            </a:extLst>
          </p:cNvPr>
          <p:cNvSpPr txBox="1">
            <a:spLocks noChangeArrowheads="1"/>
          </p:cNvSpPr>
          <p:nvPr/>
        </p:nvSpPr>
        <p:spPr bwMode="auto">
          <a:xfrm>
            <a:off x="10178027" y="5480796"/>
            <a:ext cx="1944911" cy="707886"/>
          </a:xfrm>
          <a:prstGeom prst="rect">
            <a:avLst/>
          </a:prstGeom>
          <a:noFill/>
          <a:ln w="9525">
            <a:noFill/>
            <a:miter lim="800000"/>
            <a:headEnd/>
            <a:tailEnd/>
          </a:ln>
        </p:spPr>
        <p:txBody>
          <a:bodyPr wrap="square">
            <a:spAutoFit/>
          </a:bodyPr>
          <a:lstStyle/>
          <a:p>
            <a:pPr fontAlgn="base">
              <a:spcBef>
                <a:spcPct val="0"/>
              </a:spcBef>
              <a:spcAft>
                <a:spcPct val="0"/>
              </a:spcAft>
            </a:pPr>
            <a:r>
              <a:rPr lang="el-GR" sz="2000" b="1" dirty="0">
                <a:solidFill>
                  <a:srgbClr val="128F05"/>
                </a:solidFill>
                <a:latin typeface="Tahoma" pitchFamily="34" charset="0"/>
              </a:rPr>
              <a:t>Μαίρη</a:t>
            </a:r>
          </a:p>
          <a:p>
            <a:pPr fontAlgn="base">
              <a:spcBef>
                <a:spcPct val="0"/>
              </a:spcBef>
              <a:spcAft>
                <a:spcPct val="0"/>
              </a:spcAft>
            </a:pPr>
            <a:r>
              <a:rPr lang="el-GR" sz="2000" b="1" dirty="0">
                <a:solidFill>
                  <a:srgbClr val="128F05"/>
                </a:solidFill>
                <a:latin typeface="Tahoma" pitchFamily="34" charset="0"/>
              </a:rPr>
              <a:t>Νίκος</a:t>
            </a:r>
            <a:endParaRPr lang="en-GB" sz="2000" b="1" dirty="0">
              <a:solidFill>
                <a:srgbClr val="128F05"/>
              </a:solidFill>
              <a:latin typeface="Tahoma" pitchFamily="34" charset="0"/>
            </a:endParaRPr>
          </a:p>
        </p:txBody>
      </p:sp>
    </p:spTree>
    <p:extLst>
      <p:ext uri="{BB962C8B-B14F-4D97-AF65-F5344CB8AC3E}">
        <p14:creationId xmlns:p14="http://schemas.microsoft.com/office/powerpoint/2010/main" val="28725814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Horizontal)">
                                      <p:cBhvr>
                                        <p:cTn id="12" dur="500"/>
                                        <p:tgtEl>
                                          <p:spTgt spid="12"/>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Horizont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6"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Horizontal)">
                                      <p:cBhvr>
                                        <p:cTn id="25" dur="500"/>
                                        <p:tgtEl>
                                          <p:spTgt spid="6"/>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linds(horizontal)">
                                      <p:cBhvr>
                                        <p:cTn id="29" dur="500"/>
                                        <p:tgtEl>
                                          <p:spTgt spid="7"/>
                                        </p:tgtEl>
                                      </p:cBhvr>
                                    </p:animEffect>
                                  </p:childTnLst>
                                </p:cTn>
                              </p:par>
                            </p:childTnLst>
                          </p:cTn>
                        </p:par>
                        <p:par>
                          <p:cTn id="30" fill="hold">
                            <p:stCondLst>
                              <p:cond delay="1000"/>
                            </p:stCondLst>
                            <p:childTnLst>
                              <p:par>
                                <p:cTn id="31" presetID="16" presetClass="entr" presetSubtype="26"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arn(inHorizont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horizontal)">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linds(horizontal)">
                                      <p:cBhvr>
                                        <p:cTn id="55" dur="500"/>
                                        <p:tgtEl>
                                          <p:spTgt spid="20"/>
                                        </p:tgtEl>
                                      </p:cBhvr>
                                    </p:animEffect>
                                  </p:childTnLst>
                                </p:cTn>
                              </p:par>
                            </p:childTnLst>
                          </p:cTn>
                        </p:par>
                        <p:par>
                          <p:cTn id="56" fill="hold">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blinds(horizontal)">
                                      <p:cBhvr>
                                        <p:cTn id="59" dur="500"/>
                                        <p:tgtEl>
                                          <p:spTgt spid="21"/>
                                        </p:tgtEl>
                                      </p:cBhvr>
                                    </p:animEffect>
                                  </p:childTnLst>
                                </p:cTn>
                              </p:par>
                            </p:childTnLst>
                          </p:cTn>
                        </p:par>
                        <p:par>
                          <p:cTn id="60" fill="hold">
                            <p:stCondLst>
                              <p:cond delay="1000"/>
                            </p:stCondLst>
                            <p:childTnLst>
                              <p:par>
                                <p:cTn id="61" presetID="3" presetClass="entr" presetSubtype="1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blinds(horizontal)">
                                      <p:cBhvr>
                                        <p:cTn id="6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P spid="12" grpId="0"/>
      <p:bldP spid="13" grpId="0"/>
      <p:bldP spid="18"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Κλάση (</a:t>
            </a:r>
            <a:r>
              <a:rPr lang="en-US" sz="4000" b="1" dirty="0">
                <a:solidFill>
                  <a:srgbClr val="F9853D"/>
                </a:solidFill>
                <a:latin typeface="Bahnschrift" panose="020B0502040204020203" pitchFamily="34" charset="0"/>
              </a:rPr>
              <a:t>class) – </a:t>
            </a:r>
            <a:r>
              <a:rPr lang="el-GR" sz="4000" b="1" dirty="0">
                <a:solidFill>
                  <a:srgbClr val="F9853D"/>
                </a:solidFill>
                <a:latin typeface="Bahnschrift" panose="020B0502040204020203" pitchFamily="34" charset="0"/>
              </a:rPr>
              <a:t>Στιγμιότυπο (</a:t>
            </a:r>
            <a:r>
              <a:rPr lang="en-US" sz="4000" b="1" dirty="0">
                <a:solidFill>
                  <a:srgbClr val="F9853D"/>
                </a:solidFill>
                <a:latin typeface="Bahnschrift" panose="020B0502040204020203" pitchFamily="34" charset="0"/>
              </a:rPr>
              <a:t>instance)</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15" name="Rectangle 3">
            <a:extLst>
              <a:ext uri="{FF2B5EF4-FFF2-40B4-BE49-F238E27FC236}">
                <a16:creationId xmlns:a16="http://schemas.microsoft.com/office/drawing/2014/main" id="{139CBBC3-2DFA-8A0D-3D47-05A42FB5DA53}"/>
              </a:ext>
            </a:extLst>
          </p:cNvPr>
          <p:cNvSpPr txBox="1">
            <a:spLocks noChangeArrowheads="1"/>
          </p:cNvSpPr>
          <p:nvPr/>
        </p:nvSpPr>
        <p:spPr bwMode="auto">
          <a:xfrm>
            <a:off x="289931" y="972824"/>
            <a:ext cx="10712366" cy="42690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0" i="0" u="none" strike="noStrike" kern="0" cap="none" spc="0" normalizeH="0" baseline="0" noProof="0" dirty="0">
                <a:ln>
                  <a:noFill/>
                </a:ln>
                <a:solidFill>
                  <a:srgbClr val="000000"/>
                </a:solidFill>
                <a:effectLst/>
                <a:uLnTx/>
                <a:uFillTx/>
                <a:latin typeface="Tahoma"/>
                <a:ea typeface="+mn-ea"/>
                <a:cs typeface="+mn-cs"/>
              </a:rPr>
              <a:t>Για κάθε </a:t>
            </a:r>
            <a:r>
              <a:rPr kumimoji="0" lang="el-GR" sz="3200" b="1" i="0" u="none" strike="noStrike" kern="0" cap="none" spc="0" normalizeH="0" baseline="0" noProof="0" dirty="0">
                <a:ln>
                  <a:noFill/>
                </a:ln>
                <a:solidFill>
                  <a:srgbClr val="000000"/>
                </a:solidFill>
                <a:effectLst/>
                <a:uLnTx/>
                <a:uFillTx/>
                <a:latin typeface="Tahoma"/>
                <a:ea typeface="+mn-ea"/>
                <a:cs typeface="+mn-cs"/>
              </a:rPr>
              <a:t>αντικείμενο του φυσικού κόσμου</a:t>
            </a:r>
            <a:r>
              <a:rPr kumimoji="0" lang="el-GR" sz="3200" b="0" i="0" u="none" strike="noStrike" kern="0" cap="none" spc="0" normalizeH="0" baseline="0" noProof="0" dirty="0">
                <a:ln>
                  <a:noFill/>
                </a:ln>
                <a:solidFill>
                  <a:srgbClr val="000000"/>
                </a:solidFill>
                <a:effectLst/>
                <a:uLnTx/>
                <a:uFillTx/>
                <a:latin typeface="Tahoma"/>
                <a:ea typeface="+mn-ea"/>
                <a:cs typeface="+mn-cs"/>
              </a:rPr>
              <a:t> υπάρχει ή μπορούμε να ορίσουμε, μια </a:t>
            </a:r>
            <a:r>
              <a:rPr kumimoji="0" lang="el-GR" sz="3200" b="1" i="0" u="none" strike="noStrike" kern="0" cap="none" spc="0" normalizeH="0" baseline="0" noProof="0" dirty="0">
                <a:ln>
                  <a:noFill/>
                </a:ln>
                <a:solidFill>
                  <a:srgbClr val="000000"/>
                </a:solidFill>
                <a:effectLst/>
                <a:uLnTx/>
                <a:uFillTx/>
                <a:latin typeface="Tahoma"/>
                <a:ea typeface="+mn-ea"/>
                <a:cs typeface="+mn-cs"/>
              </a:rPr>
              <a:t>αφηρημένη έννοια</a:t>
            </a:r>
            <a:r>
              <a:rPr kumimoji="0" lang="el-GR" sz="3200" b="0" i="0" u="none" strike="noStrike" kern="0" cap="none" spc="0" normalizeH="0" baseline="0" noProof="0" dirty="0">
                <a:ln>
                  <a:noFill/>
                </a:ln>
                <a:solidFill>
                  <a:srgbClr val="000000"/>
                </a:solidFill>
                <a:effectLst/>
                <a:uLnTx/>
                <a:uFillTx/>
                <a:latin typeface="Tahoma"/>
                <a:ea typeface="+mn-ea"/>
                <a:cs typeface="+mn-cs"/>
              </a:rPr>
              <a:t> που περιγράφει: </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800" b="0" i="0" u="none" strike="noStrike" kern="0" cap="none" spc="0" normalizeH="0" baseline="0" noProof="0" dirty="0">
                <a:ln>
                  <a:noFill/>
                </a:ln>
                <a:solidFill>
                  <a:srgbClr val="000000"/>
                </a:solidFill>
                <a:effectLst/>
                <a:uLnTx/>
                <a:uFillTx/>
                <a:latin typeface="Tahoma"/>
              </a:rPr>
              <a:t>αφενός μεν τον τρόπο με τον οποίο το αντικείμενο επικοινωνεί με το περιβάλλον του, </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800" b="0" i="0" u="none" strike="noStrike" kern="0" cap="none" spc="0" normalizeH="0" baseline="0" noProof="0" dirty="0">
                <a:ln>
                  <a:noFill/>
                </a:ln>
                <a:solidFill>
                  <a:srgbClr val="000000"/>
                </a:solidFill>
                <a:effectLst/>
                <a:uLnTx/>
                <a:uFillTx/>
                <a:latin typeface="Tahoma"/>
              </a:rPr>
              <a:t>αφετέρου δε το πώς αυτό είναι οργανωμένο εσωτερικά.</a:t>
            </a:r>
            <a:endParaRPr kumimoji="0" lang="en-GB" sz="2800" b="0" i="0" u="none" strike="noStrike" kern="0" cap="none" spc="0" normalizeH="0" baseline="0" noProof="0" dirty="0">
              <a:ln>
                <a:noFill/>
              </a:ln>
              <a:solidFill>
                <a:srgbClr val="000000"/>
              </a:solidFill>
              <a:effectLst/>
              <a:uLnTx/>
              <a:uFillTx/>
              <a:latin typeface="Tahoma"/>
            </a:endParaRPr>
          </a:p>
        </p:txBody>
      </p:sp>
      <p:sp>
        <p:nvSpPr>
          <p:cNvPr id="16" name="Rectangle 4">
            <a:extLst>
              <a:ext uri="{FF2B5EF4-FFF2-40B4-BE49-F238E27FC236}">
                <a16:creationId xmlns:a16="http://schemas.microsoft.com/office/drawing/2014/main" id="{276778DD-9218-EF7E-6FF2-369E526BB5AB}"/>
              </a:ext>
            </a:extLst>
          </p:cNvPr>
          <p:cNvSpPr>
            <a:spLocks noChangeArrowheads="1"/>
          </p:cNvSpPr>
          <p:nvPr/>
        </p:nvSpPr>
        <p:spPr bwMode="auto">
          <a:xfrm>
            <a:off x="592012" y="5482816"/>
            <a:ext cx="4466686" cy="646331"/>
          </a:xfrm>
          <a:prstGeom prst="rect">
            <a:avLst/>
          </a:prstGeom>
          <a:noFill/>
          <a:ln w="9525">
            <a:noFill/>
            <a:miter lim="800000"/>
            <a:headEnd/>
            <a:tailEnd/>
          </a:ln>
        </p:spPr>
        <p:txBody>
          <a:bodyPr wrap="square">
            <a:spAutoFit/>
          </a:bodyPr>
          <a:lstStyle/>
          <a:p>
            <a:pPr eaLnBrk="0" fontAlgn="base" hangingPunct="0">
              <a:spcBef>
                <a:spcPct val="20000"/>
              </a:spcBef>
              <a:spcAft>
                <a:spcPct val="0"/>
              </a:spcAft>
              <a:buClr>
                <a:srgbClr val="000000"/>
              </a:buClr>
              <a:buSzPct val="75000"/>
              <a:buFont typeface="Monotype Sorts" pitchFamily="2" charset="2"/>
              <a:buNone/>
            </a:pPr>
            <a:r>
              <a:rPr lang="el-GR" sz="3600" dirty="0">
                <a:solidFill>
                  <a:srgbClr val="FF0000"/>
                </a:solidFill>
                <a:latin typeface="Times New Roman" pitchFamily="18" charset="0"/>
              </a:rPr>
              <a:t>στιγμιότυπο (</a:t>
            </a:r>
            <a:r>
              <a:rPr lang="el-GR" sz="3600" b="1" dirty="0" err="1">
                <a:solidFill>
                  <a:srgbClr val="FF0000"/>
                </a:solidFill>
                <a:latin typeface="Times New Roman" pitchFamily="18" charset="0"/>
              </a:rPr>
              <a:t>instance</a:t>
            </a:r>
            <a:r>
              <a:rPr lang="el-GR" sz="3600" dirty="0">
                <a:solidFill>
                  <a:srgbClr val="FF0000"/>
                </a:solidFill>
                <a:latin typeface="Times New Roman" pitchFamily="18" charset="0"/>
              </a:rPr>
              <a:t>)</a:t>
            </a:r>
            <a:endParaRPr lang="en-US" sz="3600" dirty="0">
              <a:solidFill>
                <a:srgbClr val="FF0000"/>
              </a:solidFill>
              <a:latin typeface="Times New Roman" pitchFamily="18" charset="0"/>
            </a:endParaRPr>
          </a:p>
        </p:txBody>
      </p:sp>
      <p:sp>
        <p:nvSpPr>
          <p:cNvPr id="19" name="Callout: Line 18">
            <a:extLst>
              <a:ext uri="{FF2B5EF4-FFF2-40B4-BE49-F238E27FC236}">
                <a16:creationId xmlns:a16="http://schemas.microsoft.com/office/drawing/2014/main" id="{E68C0C28-A2FD-A913-3767-81D2B3C0637E}"/>
              </a:ext>
            </a:extLst>
          </p:cNvPr>
          <p:cNvSpPr/>
          <p:nvPr/>
        </p:nvSpPr>
        <p:spPr>
          <a:xfrm>
            <a:off x="2314222" y="1059366"/>
            <a:ext cx="6863232" cy="475477"/>
          </a:xfrm>
          <a:prstGeom prst="borderCallout1">
            <a:avLst>
              <a:gd name="adj1" fmla="val 103180"/>
              <a:gd name="adj2" fmla="val 38303"/>
              <a:gd name="adj3" fmla="val 963172"/>
              <a:gd name="adj4" fmla="val -303"/>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0" name="Callout: Line 19">
            <a:extLst>
              <a:ext uri="{FF2B5EF4-FFF2-40B4-BE49-F238E27FC236}">
                <a16:creationId xmlns:a16="http://schemas.microsoft.com/office/drawing/2014/main" id="{C325E6DC-0792-5964-700A-055A5FF8E60B}"/>
              </a:ext>
            </a:extLst>
          </p:cNvPr>
          <p:cNvSpPr/>
          <p:nvPr/>
        </p:nvSpPr>
        <p:spPr>
          <a:xfrm>
            <a:off x="5973096" y="1595003"/>
            <a:ext cx="3902447" cy="475477"/>
          </a:xfrm>
          <a:prstGeom prst="borderCallout1">
            <a:avLst>
              <a:gd name="adj1" fmla="val 96977"/>
              <a:gd name="adj2" fmla="val 52503"/>
              <a:gd name="adj3" fmla="val 708823"/>
              <a:gd name="adj4" fmla="val 60862"/>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1" name="Rectangle 4">
            <a:extLst>
              <a:ext uri="{FF2B5EF4-FFF2-40B4-BE49-F238E27FC236}">
                <a16:creationId xmlns:a16="http://schemas.microsoft.com/office/drawing/2014/main" id="{570D6316-6A16-FC27-CB11-38902C5AAF2E}"/>
              </a:ext>
            </a:extLst>
          </p:cNvPr>
          <p:cNvSpPr>
            <a:spLocks noChangeArrowheads="1"/>
          </p:cNvSpPr>
          <p:nvPr/>
        </p:nvSpPr>
        <p:spPr bwMode="auto">
          <a:xfrm>
            <a:off x="7374194" y="4787521"/>
            <a:ext cx="3175817" cy="707886"/>
          </a:xfrm>
          <a:prstGeom prst="rect">
            <a:avLst/>
          </a:prstGeom>
          <a:noFill/>
          <a:ln w="9525">
            <a:noFill/>
            <a:miter lim="800000"/>
            <a:headEnd/>
            <a:tailEnd/>
          </a:ln>
        </p:spPr>
        <p:txBody>
          <a:bodyPr wrap="square">
            <a:spAutoFit/>
          </a:bodyPr>
          <a:lstStyle/>
          <a:p>
            <a:pPr eaLnBrk="0" fontAlgn="base" hangingPunct="0">
              <a:spcBef>
                <a:spcPct val="20000"/>
              </a:spcBef>
              <a:spcAft>
                <a:spcPct val="0"/>
              </a:spcAft>
              <a:buClr>
                <a:srgbClr val="000000"/>
              </a:buClr>
              <a:buSzPct val="75000"/>
              <a:buFont typeface="Monotype Sorts" pitchFamily="2" charset="2"/>
              <a:buNone/>
            </a:pPr>
            <a:r>
              <a:rPr lang="el-GR" sz="4000" dirty="0">
                <a:solidFill>
                  <a:srgbClr val="FF0000"/>
                </a:solidFill>
                <a:latin typeface="Times New Roman" pitchFamily="18" charset="0"/>
              </a:rPr>
              <a:t>κλάση (</a:t>
            </a:r>
            <a:r>
              <a:rPr lang="el-GR" sz="4000" b="1" dirty="0" err="1">
                <a:solidFill>
                  <a:srgbClr val="FF0000"/>
                </a:solidFill>
                <a:latin typeface="Times New Roman" pitchFamily="18" charset="0"/>
              </a:rPr>
              <a:t>class</a:t>
            </a:r>
            <a:r>
              <a:rPr lang="el-GR" sz="4000" dirty="0">
                <a:solidFill>
                  <a:srgbClr val="FF0000"/>
                </a:solidFill>
                <a:latin typeface="Times New Roman" pitchFamily="18" charset="0"/>
              </a:rPr>
              <a:t>)</a:t>
            </a:r>
            <a:endParaRPr lang="en-US" sz="4000" dirty="0">
              <a:solidFill>
                <a:srgbClr val="FF0000"/>
              </a:solidFill>
              <a:latin typeface="Times New Roman" pitchFamily="18" charset="0"/>
            </a:endParaRPr>
          </a:p>
        </p:txBody>
      </p:sp>
    </p:spTree>
    <p:extLst>
      <p:ext uri="{BB962C8B-B14F-4D97-AF65-F5344CB8AC3E}">
        <p14:creationId xmlns:p14="http://schemas.microsoft.com/office/powerpoint/2010/main" val="135637887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animEffect transition="in" filter="dissolve">
                                      <p:cBhvr>
                                        <p:cTn id="11" dur="500"/>
                                        <p:tgtEl>
                                          <p:spTgt spid="15">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dissolve">
                                      <p:cBhvr>
                                        <p:cTn id="15" dur="500"/>
                                        <p:tgtEl>
                                          <p:spTgt spid="15">
                                            <p:txEl>
                                              <p:pRg st="2" end="2"/>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dissolve">
                                      <p:cBhvr>
                                        <p:cTn id="19" dur="500"/>
                                        <p:tgtEl>
                                          <p:spTgt spid="16"/>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dissolve">
                                      <p:cBhvr>
                                        <p:cTn id="2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Αντικείμενο </a:t>
            </a:r>
            <a:r>
              <a:rPr lang="en-US" sz="4000" b="1" dirty="0">
                <a:solidFill>
                  <a:srgbClr val="F9853D"/>
                </a:solidFill>
                <a:latin typeface="Bahnschrift" panose="020B0502040204020203" pitchFamily="34" charset="0"/>
              </a:rPr>
              <a:t>(Object)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Rectangle 3">
            <a:extLst>
              <a:ext uri="{FF2B5EF4-FFF2-40B4-BE49-F238E27FC236}">
                <a16:creationId xmlns:a16="http://schemas.microsoft.com/office/drawing/2014/main" id="{26F604E2-9B52-90A7-BAED-CE3772337FEB}"/>
              </a:ext>
            </a:extLst>
          </p:cNvPr>
          <p:cNvSpPr txBox="1">
            <a:spLocks noChangeArrowheads="1"/>
          </p:cNvSpPr>
          <p:nvPr/>
        </p:nvSpPr>
        <p:spPr bwMode="auto">
          <a:xfrm>
            <a:off x="0" y="817099"/>
            <a:ext cx="5445457" cy="3240088"/>
          </a:xfrm>
          <a:prstGeom prst="rect">
            <a:avLst/>
          </a:prstGeom>
          <a:noFill/>
          <a:ln w="9525">
            <a:noFill/>
            <a:miter lim="800000"/>
            <a:headEnd/>
            <a:tailEnd/>
          </a:ln>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285750" marR="0" lvl="0" indent="-28575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n-US" b="0" i="0" u="none" strike="noStrike" kern="0" cap="none" spc="0" normalizeH="0" baseline="0" noProof="0" dirty="0">
                <a:ln>
                  <a:noFill/>
                </a:ln>
                <a:solidFill>
                  <a:srgbClr val="000000"/>
                </a:solidFill>
                <a:effectLst/>
                <a:uLnTx/>
                <a:uFillTx/>
                <a:latin typeface="Tahoma"/>
              </a:rPr>
              <a:t>An object has</a:t>
            </a: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3200" b="1" i="0" u="none" strike="noStrike" kern="0" cap="none" spc="0" normalizeH="0" baseline="0" noProof="0" dirty="0">
                <a:ln>
                  <a:noFill/>
                </a:ln>
                <a:solidFill>
                  <a:srgbClr val="FF0000"/>
                </a:solidFill>
                <a:effectLst/>
                <a:uLnTx/>
                <a:uFillTx/>
                <a:latin typeface="Tahoma"/>
              </a:rPr>
              <a:t> state</a:t>
            </a:r>
            <a:r>
              <a:rPr kumimoji="0" lang="el-GR" sz="3200" b="1" i="0" u="none" strike="noStrike" kern="0" cap="none" spc="0" normalizeH="0" baseline="0" noProof="0" dirty="0">
                <a:ln>
                  <a:noFill/>
                </a:ln>
                <a:solidFill>
                  <a:srgbClr val="FF0000"/>
                </a:solidFill>
                <a:effectLst/>
                <a:uLnTx/>
                <a:uFillTx/>
                <a:latin typeface="Tahoma"/>
              </a:rPr>
              <a:t> </a:t>
            </a:r>
            <a:r>
              <a:rPr kumimoji="0" lang="el-GR" sz="2000" b="1" i="0" u="none" strike="noStrike" kern="0" cap="none" spc="0" normalizeH="0" baseline="0" noProof="0" dirty="0">
                <a:ln>
                  <a:noFill/>
                </a:ln>
                <a:solidFill>
                  <a:srgbClr val="FF0000"/>
                </a:solidFill>
                <a:effectLst/>
                <a:uLnTx/>
                <a:uFillTx/>
                <a:latin typeface="Tahoma"/>
              </a:rPr>
              <a:t>(κατάσταση)</a:t>
            </a:r>
            <a:r>
              <a:rPr kumimoji="0" lang="en-US" sz="3200" b="1" i="0" u="none" strike="noStrike" kern="0" cap="none" spc="0" normalizeH="0" baseline="0" noProof="0" dirty="0">
                <a:ln>
                  <a:noFill/>
                </a:ln>
                <a:solidFill>
                  <a:srgbClr val="000000"/>
                </a:solidFill>
                <a:effectLst/>
                <a:uLnTx/>
                <a:uFillTx/>
                <a:latin typeface="Tahoma"/>
              </a:rPr>
              <a:t>, </a:t>
            </a: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3200" b="1" i="0" u="none" strike="noStrike" kern="0" cap="none" spc="0" normalizeH="0" baseline="0" noProof="0" dirty="0">
                <a:ln>
                  <a:noFill/>
                </a:ln>
                <a:solidFill>
                  <a:srgbClr val="128F05"/>
                </a:solidFill>
                <a:effectLst/>
                <a:uLnTx/>
                <a:uFillTx/>
                <a:latin typeface="Tahoma"/>
              </a:rPr>
              <a:t> behavior</a:t>
            </a:r>
            <a:r>
              <a:rPr kumimoji="0" lang="el-GR" sz="3200" b="1" i="0" u="none" strike="noStrike" kern="0" cap="none" spc="0" normalizeH="0" baseline="0" noProof="0" dirty="0">
                <a:ln>
                  <a:noFill/>
                </a:ln>
                <a:solidFill>
                  <a:srgbClr val="128F05"/>
                </a:solidFill>
                <a:effectLst/>
                <a:uLnTx/>
                <a:uFillTx/>
                <a:latin typeface="Tahoma"/>
              </a:rPr>
              <a:t> </a:t>
            </a:r>
            <a:r>
              <a:rPr kumimoji="0" lang="el-GR" sz="2000" b="1" i="0" u="none" strike="noStrike" kern="0" cap="none" spc="0" normalizeH="0" baseline="0" noProof="0" dirty="0">
                <a:ln>
                  <a:noFill/>
                </a:ln>
                <a:solidFill>
                  <a:srgbClr val="128F05"/>
                </a:solidFill>
                <a:effectLst/>
                <a:uLnTx/>
                <a:uFillTx/>
                <a:latin typeface="Tahoma"/>
              </a:rPr>
              <a:t>(συμπεριφορά)</a:t>
            </a:r>
            <a:r>
              <a:rPr kumimoji="0" lang="en-US" sz="1800" b="1" i="0" u="none" strike="noStrike" kern="0" cap="none" spc="0" normalizeH="0" baseline="0" noProof="0" dirty="0">
                <a:ln>
                  <a:noFill/>
                </a:ln>
                <a:solidFill>
                  <a:srgbClr val="000000"/>
                </a:solidFill>
                <a:effectLst/>
                <a:uLnTx/>
                <a:uFillTx/>
                <a:latin typeface="Tahoma"/>
              </a:rPr>
              <a:t>, </a:t>
            </a:r>
            <a:r>
              <a:rPr kumimoji="0" lang="en-US" sz="1800" b="0" i="0" u="none" strike="noStrike" kern="0" cap="none" spc="0" normalizeH="0" baseline="0" noProof="0" dirty="0">
                <a:ln>
                  <a:noFill/>
                </a:ln>
                <a:solidFill>
                  <a:srgbClr val="000000"/>
                </a:solidFill>
                <a:effectLst/>
                <a:uLnTx/>
                <a:uFillTx/>
                <a:latin typeface="Tahoma"/>
              </a:rPr>
              <a:t>and</a:t>
            </a:r>
            <a:endParaRPr kumimoji="0" lang="en-US" sz="3200" b="0" i="0" u="none" strike="noStrike" kern="0" cap="none" spc="0" normalizeH="0" baseline="0" noProof="0" dirty="0">
              <a:ln>
                <a:noFill/>
              </a:ln>
              <a:solidFill>
                <a:srgbClr val="000000"/>
              </a:solidFill>
              <a:effectLst/>
              <a:uLnTx/>
              <a:uFillTx/>
              <a:latin typeface="Tahoma"/>
            </a:endParaRP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3200" b="1" i="0" u="none" strike="noStrike" kern="0" cap="none" spc="0" normalizeH="0" baseline="0" noProof="0" dirty="0">
                <a:ln>
                  <a:noFill/>
                </a:ln>
                <a:solidFill>
                  <a:srgbClr val="0000FF"/>
                </a:solidFill>
                <a:effectLst/>
                <a:uLnTx/>
                <a:uFillTx/>
                <a:latin typeface="Tahoma"/>
              </a:rPr>
              <a:t> identity</a:t>
            </a:r>
            <a:r>
              <a:rPr kumimoji="0" lang="el-GR" sz="3200" b="1" i="0" u="none" strike="noStrike" kern="0" cap="none" spc="0" normalizeH="0" baseline="0" noProof="0" dirty="0">
                <a:ln>
                  <a:noFill/>
                </a:ln>
                <a:solidFill>
                  <a:srgbClr val="0000FF"/>
                </a:solidFill>
                <a:effectLst/>
                <a:uLnTx/>
                <a:uFillTx/>
                <a:latin typeface="Tahoma"/>
              </a:rPr>
              <a:t> </a:t>
            </a:r>
            <a:r>
              <a:rPr kumimoji="0" lang="el-GR" sz="2000" b="1" i="0" u="none" strike="noStrike" kern="0" cap="none" spc="0" normalizeH="0" baseline="0" noProof="0" dirty="0">
                <a:ln>
                  <a:noFill/>
                </a:ln>
                <a:solidFill>
                  <a:srgbClr val="0000FF"/>
                </a:solidFill>
                <a:effectLst/>
                <a:uLnTx/>
                <a:uFillTx/>
                <a:latin typeface="Tahoma"/>
              </a:rPr>
              <a:t>(ταυτότητα)</a:t>
            </a:r>
            <a:r>
              <a:rPr kumimoji="0" lang="en-US" sz="3200" b="1" i="0" u="none" strike="noStrike" kern="0" cap="none" spc="0" normalizeH="0" baseline="0" noProof="0" dirty="0">
                <a:ln>
                  <a:noFill/>
                </a:ln>
                <a:solidFill>
                  <a:srgbClr val="0000FF"/>
                </a:solidFill>
                <a:effectLst/>
                <a:uLnTx/>
                <a:uFillTx/>
                <a:latin typeface="Tahoma"/>
              </a:rPr>
              <a:t>.</a:t>
            </a:r>
            <a:r>
              <a:rPr kumimoji="0" lang="el-GR" sz="3200" b="1" i="0" u="none" strike="noStrike" kern="0" cap="none" spc="0" normalizeH="0" baseline="0" noProof="0" dirty="0">
                <a:ln>
                  <a:noFill/>
                </a:ln>
                <a:solidFill>
                  <a:srgbClr val="0000FF"/>
                </a:solidFill>
                <a:effectLst/>
                <a:uLnTx/>
                <a:uFillTx/>
                <a:latin typeface="Tahoma"/>
              </a:rPr>
              <a:t> </a:t>
            </a:r>
          </a:p>
          <a:p>
            <a:pPr marL="457200" marR="0" lvl="1" indent="0" algn="l" defTabSz="914400" rtl="0" eaLnBrk="1" fontAlgn="base" latinLnBrk="0" hangingPunct="1">
              <a:lnSpc>
                <a:spcPct val="100000"/>
              </a:lnSpc>
              <a:spcBef>
                <a:spcPct val="20000"/>
              </a:spcBef>
              <a:spcAft>
                <a:spcPct val="0"/>
              </a:spcAft>
              <a:buClr>
                <a:srgbClr val="FF0000"/>
              </a:buClr>
              <a:buSzPct val="55000"/>
              <a:buNone/>
              <a:tabLst/>
              <a:defRPr/>
            </a:pPr>
            <a:r>
              <a:rPr kumimoji="0" lang="en-US" sz="3200" b="0" i="0" u="none" strike="noStrike" kern="0" cap="none" spc="0" normalizeH="0" baseline="0" noProof="0" dirty="0">
                <a:ln>
                  <a:noFill/>
                </a:ln>
                <a:solidFill>
                  <a:srgbClr val="777777"/>
                </a:solidFill>
                <a:effectLst/>
                <a:uLnTx/>
                <a:uFillTx/>
                <a:latin typeface="Tahoma"/>
              </a:rPr>
              <a:t>[G. </a:t>
            </a:r>
            <a:r>
              <a:rPr kumimoji="0" lang="en-US" sz="3200" b="0" i="0" u="none" strike="noStrike" kern="0" cap="none" spc="0" normalizeH="0" baseline="0" noProof="0" dirty="0" err="1">
                <a:ln>
                  <a:noFill/>
                </a:ln>
                <a:solidFill>
                  <a:srgbClr val="777777"/>
                </a:solidFill>
                <a:effectLst/>
                <a:uLnTx/>
                <a:uFillTx/>
                <a:latin typeface="Tahoma"/>
              </a:rPr>
              <a:t>Booch</a:t>
            </a:r>
            <a:r>
              <a:rPr kumimoji="0" lang="en-US" sz="3200" b="0" i="0" u="none" strike="noStrike" kern="0" cap="none" spc="0" normalizeH="0" baseline="0" noProof="0" dirty="0">
                <a:ln>
                  <a:noFill/>
                </a:ln>
                <a:solidFill>
                  <a:srgbClr val="777777"/>
                </a:solidFill>
                <a:effectLst/>
                <a:uLnTx/>
                <a:uFillTx/>
                <a:latin typeface="Tahoma"/>
              </a:rPr>
              <a:t>]</a:t>
            </a:r>
          </a:p>
        </p:txBody>
      </p:sp>
      <p:sp>
        <p:nvSpPr>
          <p:cNvPr id="7" name="Rectangle 3">
            <a:extLst>
              <a:ext uri="{FF2B5EF4-FFF2-40B4-BE49-F238E27FC236}">
                <a16:creationId xmlns:a16="http://schemas.microsoft.com/office/drawing/2014/main" id="{24C32254-B1A5-81A0-8085-4495807706B6}"/>
              </a:ext>
            </a:extLst>
          </p:cNvPr>
          <p:cNvSpPr txBox="1">
            <a:spLocks noChangeArrowheads="1"/>
          </p:cNvSpPr>
          <p:nvPr/>
        </p:nvSpPr>
        <p:spPr bwMode="auto">
          <a:xfrm>
            <a:off x="5344886" y="895124"/>
            <a:ext cx="6847113" cy="4114800"/>
          </a:xfrm>
          <a:prstGeom prst="rect">
            <a:avLst/>
          </a:prstGeom>
          <a:noFill/>
          <a:ln w="9525">
            <a:noFill/>
            <a:miter lim="800000"/>
            <a:headEnd/>
            <a:tailEnd/>
          </a:ln>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285750" marR="0" lvl="0" indent="-28575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ea typeface="+mn-ea"/>
                <a:cs typeface="+mn-cs"/>
              </a:rPr>
              <a:t>An object is characterized by </a:t>
            </a: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400" b="0" i="0" u="none" strike="noStrike" kern="0" cap="none" spc="0" normalizeH="0" baseline="0" noProof="0" dirty="0">
                <a:ln>
                  <a:noFill/>
                </a:ln>
                <a:solidFill>
                  <a:srgbClr val="000000"/>
                </a:solidFill>
                <a:effectLst/>
                <a:uLnTx/>
                <a:uFillTx/>
                <a:latin typeface="Tahoma"/>
              </a:rPr>
              <a:t>a number of </a:t>
            </a:r>
            <a:r>
              <a:rPr lang="en-US" sz="2400" b="1" kern="0" dirty="0">
                <a:solidFill>
                  <a:srgbClr val="128F05"/>
                </a:solidFill>
                <a:latin typeface="Tahoma"/>
              </a:rPr>
              <a:t>operations</a:t>
            </a:r>
            <a:r>
              <a:rPr kumimoji="0" lang="en-US" sz="2400" b="0" i="0" u="none" strike="noStrike" kern="0" cap="none" spc="0" normalizeH="0" baseline="0" noProof="0" dirty="0">
                <a:ln>
                  <a:noFill/>
                </a:ln>
                <a:solidFill>
                  <a:srgbClr val="000000"/>
                </a:solidFill>
                <a:effectLst/>
                <a:uLnTx/>
                <a:uFillTx/>
                <a:latin typeface="Tahoma"/>
              </a:rPr>
              <a:t> and</a:t>
            </a: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400" b="0" i="0" u="none" strike="noStrike" kern="0" cap="none" spc="0" normalizeH="0" baseline="0" noProof="0" dirty="0">
                <a:ln>
                  <a:noFill/>
                </a:ln>
                <a:solidFill>
                  <a:srgbClr val="000000"/>
                </a:solidFill>
                <a:effectLst/>
                <a:uLnTx/>
                <a:uFillTx/>
                <a:latin typeface="Tahoma"/>
              </a:rPr>
              <a:t>a </a:t>
            </a:r>
            <a:r>
              <a:rPr lang="en-US" sz="2400" b="1" kern="0" dirty="0">
                <a:solidFill>
                  <a:srgbClr val="FF0000"/>
                </a:solidFill>
                <a:latin typeface="Tahoma"/>
              </a:rPr>
              <a:t>state</a:t>
            </a:r>
            <a:r>
              <a:rPr kumimoji="0" lang="en-US" sz="2400" b="0" i="0" u="none" strike="noStrike" kern="0" cap="none" spc="0" normalizeH="0" baseline="0" noProof="0" dirty="0">
                <a:ln>
                  <a:noFill/>
                </a:ln>
                <a:solidFill>
                  <a:srgbClr val="000000"/>
                </a:solidFill>
                <a:effectLst/>
                <a:uLnTx/>
                <a:uFillTx/>
                <a:latin typeface="Tahoma"/>
              </a:rPr>
              <a:t> which remembers the effect of these operations [Ivar</a:t>
            </a:r>
            <a:r>
              <a:rPr kumimoji="0" lang="en-US" sz="2400" b="0" i="0" u="none" strike="noStrike" kern="0" cap="none" spc="0" normalizeH="0" noProof="0" dirty="0">
                <a:ln>
                  <a:noFill/>
                </a:ln>
                <a:solidFill>
                  <a:srgbClr val="000000"/>
                </a:solidFill>
                <a:effectLst/>
                <a:uLnTx/>
                <a:uFillTx/>
                <a:latin typeface="Tahoma"/>
              </a:rPr>
              <a:t> </a:t>
            </a:r>
            <a:r>
              <a:rPr kumimoji="0" lang="en-US" sz="2400" b="0" i="0" u="none" strike="noStrike" kern="0" cap="none" spc="0" normalizeH="0" baseline="0" noProof="0" dirty="0">
                <a:ln>
                  <a:noFill/>
                </a:ln>
                <a:solidFill>
                  <a:srgbClr val="000000"/>
                </a:solidFill>
                <a:effectLst/>
                <a:uLnTx/>
                <a:uFillTx/>
                <a:latin typeface="Tahoma"/>
              </a:rPr>
              <a:t>Jacobson]</a:t>
            </a:r>
          </a:p>
          <a:p>
            <a:pPr marL="285750" marR="0" lvl="0" indent="-28575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0" i="0" u="none" strike="noStrike" kern="0" cap="none" spc="0" normalizeH="0" baseline="0" noProof="0" dirty="0">
                <a:ln>
                  <a:noFill/>
                </a:ln>
                <a:solidFill>
                  <a:srgbClr val="000000"/>
                </a:solidFill>
                <a:effectLst/>
                <a:uLnTx/>
                <a:uFillTx/>
                <a:latin typeface="Tahoma"/>
                <a:ea typeface="+mn-ea"/>
                <a:cs typeface="+mn-cs"/>
              </a:rPr>
              <a:t>Πρόσθετα</a:t>
            </a:r>
            <a:endParaRPr kumimoji="0" lang="en-US" sz="2800" b="0" i="0" u="none" strike="noStrike" kern="0" cap="none" spc="0" normalizeH="0" baseline="0" noProof="0" dirty="0">
              <a:ln>
                <a:noFill/>
              </a:ln>
              <a:solidFill>
                <a:srgbClr val="000000"/>
              </a:solidFill>
              <a:effectLst/>
              <a:uLnTx/>
              <a:uFillTx/>
              <a:latin typeface="Tahoma"/>
              <a:ea typeface="+mn-ea"/>
              <a:cs typeface="+mn-cs"/>
            </a:endParaRP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rPr>
              <a:t>Χαρακτηρίζεται από υπηρεσίες που </a:t>
            </a:r>
            <a:r>
              <a:rPr kumimoji="0" lang="el-GR" sz="2400" b="1" i="0" u="none" strike="noStrike" kern="0" cap="none" spc="0" normalizeH="0" baseline="0" noProof="0" dirty="0">
                <a:ln>
                  <a:noFill/>
                </a:ln>
                <a:solidFill>
                  <a:srgbClr val="000000"/>
                </a:solidFill>
                <a:effectLst/>
                <a:uLnTx/>
                <a:uFillTx/>
                <a:latin typeface="Tahoma"/>
              </a:rPr>
              <a:t>προσφέρει και που απαιτεί </a:t>
            </a:r>
            <a:r>
              <a:rPr kumimoji="0" lang="el-GR" sz="2400" b="0" i="0" u="none" strike="noStrike" kern="0" cap="none" spc="0" normalizeH="0" baseline="0" noProof="0" dirty="0">
                <a:ln>
                  <a:noFill/>
                </a:ln>
                <a:solidFill>
                  <a:srgbClr val="000000"/>
                </a:solidFill>
                <a:effectLst/>
                <a:uLnTx/>
                <a:uFillTx/>
                <a:latin typeface="Tahoma"/>
              </a:rPr>
              <a:t>από τα άλλα αντικείμενα</a:t>
            </a: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rPr>
              <a:t>Έχει περιορισμένη ορατότητα από και προς άλλα αντικείμενα</a:t>
            </a:r>
          </a:p>
          <a:p>
            <a:pPr marL="685800" marR="0" lvl="1" indent="-22860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rPr>
              <a:t>Μπορεί να θεωρηθεί είτε από την πλευρά της διεπαφής είτε από την πλευρά της υλοποίησης</a:t>
            </a:r>
            <a:r>
              <a:rPr kumimoji="0" lang="el-GR" sz="2800" b="0" i="0" u="none" strike="noStrike" kern="0" cap="none" spc="0" normalizeH="0" baseline="0" noProof="0" dirty="0">
                <a:ln>
                  <a:noFill/>
                </a:ln>
                <a:solidFill>
                  <a:srgbClr val="000000"/>
                </a:solidFill>
                <a:effectLst/>
                <a:uLnTx/>
                <a:uFillTx/>
                <a:latin typeface="Tahoma"/>
              </a:rPr>
              <a:t> </a:t>
            </a:r>
            <a:endParaRPr kumimoji="0" lang="en-US" sz="2800" b="0" i="0" u="none" strike="noStrike" kern="0" cap="none" spc="0" normalizeH="0" baseline="0" noProof="0" dirty="0">
              <a:ln>
                <a:noFill/>
              </a:ln>
              <a:solidFill>
                <a:srgbClr val="000000"/>
              </a:solidFill>
              <a:effectLst/>
              <a:uLnTx/>
              <a:uFillTx/>
              <a:latin typeface="Tahoma"/>
            </a:endParaRPr>
          </a:p>
        </p:txBody>
      </p:sp>
      <p:sp>
        <p:nvSpPr>
          <p:cNvPr id="12" name="AutoShape 5">
            <a:extLst>
              <a:ext uri="{FF2B5EF4-FFF2-40B4-BE49-F238E27FC236}">
                <a16:creationId xmlns:a16="http://schemas.microsoft.com/office/drawing/2014/main" id="{7C5BF3CE-0EFF-2B93-5FB0-9B5898E154F4}"/>
              </a:ext>
            </a:extLst>
          </p:cNvPr>
          <p:cNvSpPr>
            <a:spLocks noChangeArrowheads="1"/>
          </p:cNvSpPr>
          <p:nvPr/>
        </p:nvSpPr>
        <p:spPr bwMode="auto">
          <a:xfrm>
            <a:off x="415847" y="4154955"/>
            <a:ext cx="2939632" cy="1977157"/>
          </a:xfrm>
          <a:prstGeom prst="wedgeRoundRectCallout">
            <a:avLst>
              <a:gd name="adj1" fmla="val -57092"/>
              <a:gd name="adj2" fmla="val 65143"/>
              <a:gd name="adj3" fmla="val 16667"/>
            </a:avLst>
          </a:prstGeom>
          <a:solidFill>
            <a:srgbClr val="FCFF8D"/>
          </a:solidFill>
          <a:ln w="9525">
            <a:solidFill>
              <a:srgbClr val="000000"/>
            </a:solidFill>
            <a:miter lim="800000"/>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b="0" i="0" u="none" strike="noStrike" kern="0" cap="none" spc="0" normalizeH="0" baseline="0" noProof="0" dirty="0">
                <a:ln>
                  <a:noFill/>
                </a:ln>
                <a:solidFill>
                  <a:srgbClr val="000000"/>
                </a:solidFill>
                <a:effectLst/>
                <a:uLnTx/>
                <a:uFillTx/>
                <a:latin typeface="Tahoma" pitchFamily="34" charset="0"/>
              </a:rPr>
              <a:t>Αναζήτησε τα χαρακτηριστικά αυτά στα </a:t>
            </a:r>
            <a:r>
              <a:rPr lang="el-GR" kern="0" dirty="0">
                <a:solidFill>
                  <a:srgbClr val="000000"/>
                </a:solidFill>
                <a:latin typeface="Tahoma" pitchFamily="34" charset="0"/>
              </a:rPr>
              <a:t>αντικείμενα</a:t>
            </a:r>
            <a:r>
              <a:rPr kumimoji="0" lang="en-US" b="0" i="0" u="none" strike="noStrike" kern="0" cap="none" spc="0" normalizeH="0" baseline="0" noProof="0" dirty="0">
                <a:ln>
                  <a:noFill/>
                </a:ln>
                <a:solidFill>
                  <a:srgbClr val="000000"/>
                </a:solidFill>
                <a:effectLst/>
                <a:uLnTx/>
                <a:uFillTx/>
                <a:latin typeface="Tahoma" pitchFamily="34" charset="0"/>
              </a:rPr>
              <a:t>: </a:t>
            </a:r>
          </a:p>
          <a:p>
            <a:pPr marL="0" marR="0" lvl="0" indent="0" defTabSz="914400" eaLnBrk="1" fontAlgn="base" latinLnBrk="0" hangingPunct="1">
              <a:lnSpc>
                <a:spcPct val="100000"/>
              </a:lnSpc>
              <a:spcBef>
                <a:spcPct val="0"/>
              </a:spcBef>
              <a:spcAft>
                <a:spcPct val="0"/>
              </a:spcAft>
              <a:buClrTx/>
              <a:buSzTx/>
              <a:buFontTx/>
              <a:buChar char="•"/>
              <a:tabLst/>
              <a:defRPr/>
            </a:pPr>
            <a:r>
              <a:rPr kumimoji="0" lang="el-GR" b="1" i="0" u="none" strike="noStrike" kern="0" cap="none" spc="0" normalizeH="0" baseline="0" noProof="0" dirty="0">
                <a:ln>
                  <a:noFill/>
                </a:ln>
                <a:solidFill>
                  <a:srgbClr val="128F05"/>
                </a:solidFill>
                <a:effectLst/>
                <a:uLnTx/>
                <a:uFillTx/>
                <a:latin typeface="Tahoma" pitchFamily="34" charset="0"/>
              </a:rPr>
              <a:t> </a:t>
            </a:r>
            <a:r>
              <a:rPr kumimoji="0" lang="en-US" i="0" u="none" strike="noStrike" kern="0" cap="none" spc="0" normalizeH="0" baseline="0" noProof="0" dirty="0">
                <a:ln>
                  <a:noFill/>
                </a:ln>
                <a:solidFill>
                  <a:srgbClr val="128F05"/>
                </a:solidFill>
                <a:effectLst/>
                <a:uLnTx/>
                <a:uFillTx/>
                <a:latin typeface="Tahoma" pitchFamily="34" charset="0"/>
              </a:rPr>
              <a:t>Olga Square</a:t>
            </a:r>
            <a:r>
              <a:rPr kumimoji="0" lang="el-GR" i="0" u="none" strike="noStrike" kern="0" cap="none" spc="0" normalizeH="0" baseline="0" noProof="0" dirty="0">
                <a:ln>
                  <a:noFill/>
                </a:ln>
                <a:solidFill>
                  <a:srgbClr val="128F05"/>
                </a:solidFill>
                <a:effectLst/>
                <a:uLnTx/>
                <a:uFillTx/>
                <a:latin typeface="Tahoma" pitchFamily="34" charset="0"/>
              </a:rPr>
              <a:t> </a:t>
            </a:r>
            <a:r>
              <a:rPr kumimoji="0" lang="en-US" i="0" u="none" strike="noStrike" kern="0" cap="none" spc="0" normalizeH="0" baseline="0" noProof="0" dirty="0">
                <a:ln>
                  <a:noFill/>
                </a:ln>
                <a:solidFill>
                  <a:srgbClr val="128F05"/>
                </a:solidFill>
                <a:effectLst/>
                <a:uLnTx/>
                <a:uFillTx/>
                <a:latin typeface="Tahoma" pitchFamily="34" charset="0"/>
              </a:rPr>
              <a:t>Goody’s</a:t>
            </a:r>
          </a:p>
          <a:p>
            <a:pPr marL="0" marR="0" lvl="0" indent="0" defTabSz="914400" eaLnBrk="1" fontAlgn="base" latinLnBrk="0" hangingPunct="1">
              <a:lnSpc>
                <a:spcPct val="100000"/>
              </a:lnSpc>
              <a:spcBef>
                <a:spcPct val="0"/>
              </a:spcBef>
              <a:spcAft>
                <a:spcPct val="0"/>
              </a:spcAft>
              <a:buClrTx/>
              <a:buSzTx/>
              <a:buFontTx/>
              <a:buChar char="•"/>
              <a:tabLst/>
              <a:defRPr/>
            </a:pPr>
            <a:r>
              <a:rPr kumimoji="0" lang="el-GR" i="0" u="none" strike="noStrike" kern="0" cap="none" spc="0" normalizeH="0" baseline="0" noProof="0" dirty="0">
                <a:ln>
                  <a:noFill/>
                </a:ln>
                <a:solidFill>
                  <a:srgbClr val="128F05"/>
                </a:solidFill>
                <a:effectLst/>
                <a:uLnTx/>
                <a:uFillTx/>
                <a:latin typeface="Tahoma" pitchFamily="34" charset="0"/>
              </a:rPr>
              <a:t> στοίβα της </a:t>
            </a:r>
            <a:r>
              <a:rPr kumimoji="0" lang="en-US" i="0" u="none" strike="noStrike" kern="0" cap="none" spc="0" normalizeH="0" baseline="0" noProof="0" dirty="0">
                <a:ln>
                  <a:noFill/>
                </a:ln>
                <a:solidFill>
                  <a:srgbClr val="128F05"/>
                </a:solidFill>
                <a:effectLst/>
                <a:uLnTx/>
                <a:uFillTx/>
                <a:latin typeface="Tahoma" pitchFamily="34" charset="0"/>
              </a:rPr>
              <a:t>RPN </a:t>
            </a:r>
            <a:r>
              <a:rPr kumimoji="0" lang="el-GR" i="0" u="none" strike="noStrike" kern="0" cap="none" spc="0" normalizeH="0" baseline="0" noProof="0" dirty="0">
                <a:ln>
                  <a:noFill/>
                </a:ln>
                <a:solidFill>
                  <a:srgbClr val="128F05"/>
                </a:solidFill>
                <a:effectLst/>
                <a:uLnTx/>
                <a:uFillTx/>
                <a:latin typeface="Tahoma" pitchFamily="34" charset="0"/>
              </a:rPr>
              <a:t>αριθμομηχανής.</a:t>
            </a:r>
          </a:p>
        </p:txBody>
      </p:sp>
      <p:pic>
        <p:nvPicPr>
          <p:cNvPr id="15" name="Picture 14">
            <a:extLst>
              <a:ext uri="{FF2B5EF4-FFF2-40B4-BE49-F238E27FC236}">
                <a16:creationId xmlns:a16="http://schemas.microsoft.com/office/drawing/2014/main" id="{4DC02BE5-3BF7-9BB9-86BC-FE1605BCCBDD}"/>
              </a:ext>
            </a:extLst>
          </p:cNvPr>
          <p:cNvPicPr>
            <a:picLocks noChangeAspect="1"/>
          </p:cNvPicPr>
          <p:nvPr/>
        </p:nvPicPr>
        <p:blipFill>
          <a:blip r:embed="rId3"/>
          <a:stretch>
            <a:fillRect/>
          </a:stretch>
        </p:blipFill>
        <p:spPr>
          <a:xfrm>
            <a:off x="3563402" y="4154955"/>
            <a:ext cx="1573561" cy="1911963"/>
          </a:xfrm>
          <a:prstGeom prst="rect">
            <a:avLst/>
          </a:prstGeom>
        </p:spPr>
      </p:pic>
    </p:spTree>
    <p:extLst>
      <p:ext uri="{BB962C8B-B14F-4D97-AF65-F5344CB8AC3E}">
        <p14:creationId xmlns:p14="http://schemas.microsoft.com/office/powerpoint/2010/main" val="19838804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horizontal)">
                                      <p:cBhvr>
                                        <p:cTn id="10" dur="500"/>
                                        <p:tgtEl>
                                          <p:spTgt spid="4">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linds(horizontal)">
                                      <p:cBhvr>
                                        <p:cTn id="13" dur="500"/>
                                        <p:tgtEl>
                                          <p:spTgt spid="4">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linds(horizontal)">
                                      <p:cBhvr>
                                        <p:cTn id="16" dur="500"/>
                                        <p:tgtEl>
                                          <p:spTgt spid="4">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linds(horizontal)">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blinds(horizontal)">
                                      <p:cBhvr>
                                        <p:cTn id="24" dur="500"/>
                                        <p:tgtEl>
                                          <p:spTgt spid="7">
                                            <p:txEl>
                                              <p:pRg st="0" end="0"/>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blinds(horizontal)">
                                      <p:cBhvr>
                                        <p:cTn id="27" dur="500"/>
                                        <p:tgtEl>
                                          <p:spTgt spid="7">
                                            <p:txEl>
                                              <p:pRg st="1" end="1"/>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Effect transition="in" filter="blinds(horizontal)">
                                      <p:cBhvr>
                                        <p:cTn id="30" dur="500"/>
                                        <p:tgtEl>
                                          <p:spTgt spid="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blinds(horizontal)">
                                      <p:cBhvr>
                                        <p:cTn id="35" dur="500"/>
                                        <p:tgtEl>
                                          <p:spTgt spid="7">
                                            <p:txEl>
                                              <p:pRg st="3" end="3"/>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blinds(horizontal)">
                                      <p:cBhvr>
                                        <p:cTn id="38" dur="500"/>
                                        <p:tgtEl>
                                          <p:spTgt spid="7">
                                            <p:txEl>
                                              <p:pRg st="4" end="4"/>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blinds(horizontal)">
                                      <p:cBhvr>
                                        <p:cTn id="41" dur="500"/>
                                        <p:tgtEl>
                                          <p:spTgt spid="7">
                                            <p:txEl>
                                              <p:pRg st="5" end="5"/>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blinds(horizontal)">
                                      <p:cBhvr>
                                        <p:cTn id="44" dur="500"/>
                                        <p:tgtEl>
                                          <p:spTgt spid="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build="p"/>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Αναγνωριστικά  (</a:t>
            </a:r>
            <a:r>
              <a:rPr lang="en-US" sz="4000" b="1" dirty="0">
                <a:solidFill>
                  <a:srgbClr val="F9853D"/>
                </a:solidFill>
                <a:latin typeface="Bahnschrift" panose="020B0502040204020203" pitchFamily="34" charset="0"/>
              </a:rPr>
              <a:t>Identifiers</a:t>
            </a:r>
            <a:r>
              <a:rPr lang="el-GR" sz="4000" b="1" dirty="0">
                <a:solidFill>
                  <a:srgbClr val="F9853D"/>
                </a:solidFill>
                <a:latin typeface="Bahnschrift" panose="020B0502040204020203" pitchFamily="34" charset="0"/>
              </a:rPr>
              <a:t>) αντικειμένων</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937FC115-E2A1-074A-2FF2-30448603BDAA}"/>
              </a:ext>
            </a:extLst>
          </p:cNvPr>
          <p:cNvSpPr txBox="1">
            <a:spLocks noChangeArrowheads="1"/>
          </p:cNvSpPr>
          <p:nvPr/>
        </p:nvSpPr>
        <p:spPr bwMode="auto">
          <a:xfrm>
            <a:off x="235771" y="925122"/>
            <a:ext cx="11144802" cy="28436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l-GR" sz="2800" b="0" i="0" u="none" strike="noStrike" kern="0" cap="none" spc="0" normalizeH="0" baseline="0" noProof="0" dirty="0">
              <a:ln>
                <a:noFill/>
              </a:ln>
              <a:solidFill>
                <a:srgbClr val="000000"/>
              </a:solidFill>
              <a:effectLst/>
              <a:uLnTx/>
              <a:uFillTx/>
              <a:latin typeface="Tahoma"/>
              <a:ea typeface="+mn-ea"/>
              <a:cs typeface="+mn-cs"/>
            </a:endParaRPr>
          </a:p>
        </p:txBody>
      </p:sp>
      <p:sp>
        <p:nvSpPr>
          <p:cNvPr id="4" name="Rectangle 8">
            <a:extLst>
              <a:ext uri="{FF2B5EF4-FFF2-40B4-BE49-F238E27FC236}">
                <a16:creationId xmlns:a16="http://schemas.microsoft.com/office/drawing/2014/main" id="{EEA9DAE2-7B48-1787-28F4-9EB59D2C974E}"/>
              </a:ext>
            </a:extLst>
          </p:cNvPr>
          <p:cNvSpPr>
            <a:spLocks noChangeArrowheads="1"/>
          </p:cNvSpPr>
          <p:nvPr/>
        </p:nvSpPr>
        <p:spPr bwMode="auto">
          <a:xfrm>
            <a:off x="179388" y="1989138"/>
            <a:ext cx="8785225" cy="4464050"/>
          </a:xfrm>
          <a:prstGeom prst="rect">
            <a:avLst/>
          </a:prstGeom>
          <a:solidFill>
            <a:srgbClr val="FCFF8D"/>
          </a:solidFill>
          <a:ln w="9525">
            <a:noFill/>
            <a:miter lim="800000"/>
            <a:headEnd/>
            <a:tailEnd/>
          </a:ln>
        </p:spPr>
        <p:txBody>
          <a:bodyPr wrap="none" anchor="ctr"/>
          <a:lstStyle/>
          <a:p>
            <a:pPr fontAlgn="base">
              <a:spcBef>
                <a:spcPct val="0"/>
              </a:spcBef>
              <a:spcAft>
                <a:spcPct val="0"/>
              </a:spcAft>
            </a:pPr>
            <a:endParaRPr lang="el-GR" sz="2400">
              <a:solidFill>
                <a:srgbClr val="000000"/>
              </a:solidFill>
              <a:latin typeface="Tahoma" pitchFamily="34" charset="0"/>
            </a:endParaRPr>
          </a:p>
        </p:txBody>
      </p:sp>
      <p:sp>
        <p:nvSpPr>
          <p:cNvPr id="6" name="Rectangle 6">
            <a:extLst>
              <a:ext uri="{FF2B5EF4-FFF2-40B4-BE49-F238E27FC236}">
                <a16:creationId xmlns:a16="http://schemas.microsoft.com/office/drawing/2014/main" id="{48ED5ABA-67BC-ADAA-4032-069E4ECDC3AC}"/>
              </a:ext>
            </a:extLst>
          </p:cNvPr>
          <p:cNvSpPr>
            <a:spLocks noChangeArrowheads="1"/>
          </p:cNvSpPr>
          <p:nvPr/>
        </p:nvSpPr>
        <p:spPr bwMode="auto">
          <a:xfrm>
            <a:off x="323850" y="4365625"/>
            <a:ext cx="6480175" cy="2016125"/>
          </a:xfrm>
          <a:prstGeom prst="rect">
            <a:avLst/>
          </a:prstGeom>
          <a:solidFill>
            <a:srgbClr val="59AEB5"/>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 name="Rectangle 4">
            <a:extLst>
              <a:ext uri="{FF2B5EF4-FFF2-40B4-BE49-F238E27FC236}">
                <a16:creationId xmlns:a16="http://schemas.microsoft.com/office/drawing/2014/main" id="{DE695730-E5EA-890E-1DD1-A3B957AA058F}"/>
              </a:ext>
            </a:extLst>
          </p:cNvPr>
          <p:cNvSpPr>
            <a:spLocks noChangeArrowheads="1"/>
          </p:cNvSpPr>
          <p:nvPr/>
        </p:nvSpPr>
        <p:spPr bwMode="auto">
          <a:xfrm>
            <a:off x="323850" y="2276475"/>
            <a:ext cx="6480175" cy="1512888"/>
          </a:xfrm>
          <a:prstGeom prst="rect">
            <a:avLst/>
          </a:prstGeom>
          <a:solidFill>
            <a:srgbClr val="ADF2F7"/>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9" name="Rectangle 3">
            <a:extLst>
              <a:ext uri="{FF2B5EF4-FFF2-40B4-BE49-F238E27FC236}">
                <a16:creationId xmlns:a16="http://schemas.microsoft.com/office/drawing/2014/main" id="{3950DB85-8CF7-1682-7BBE-5A0A7E85F042}"/>
              </a:ext>
            </a:extLst>
          </p:cNvPr>
          <p:cNvSpPr txBox="1">
            <a:spLocks noChangeArrowheads="1"/>
          </p:cNvSpPr>
          <p:nvPr/>
        </p:nvSpPr>
        <p:spPr bwMode="auto">
          <a:xfrm>
            <a:off x="468313" y="2276475"/>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n-US" sz="2800" b="1" i="0" u="none" strike="noStrike" kern="0" cap="none" spc="0" normalizeH="0" baseline="0" noProof="0">
                <a:ln>
                  <a:noFill/>
                </a:ln>
                <a:solidFill>
                  <a:srgbClr val="FF0000"/>
                </a:solidFill>
                <a:effectLst/>
                <a:uLnTx/>
                <a:uFillTx/>
                <a:latin typeface="Tahoma"/>
                <a:ea typeface="+mn-ea"/>
                <a:cs typeface="+mn-cs"/>
              </a:rPr>
              <a:t>GOODY’s</a:t>
            </a:r>
            <a:endParaRPr kumimoji="0" lang="el-GR" sz="2800" b="1" i="0" u="none" strike="noStrike" kern="0" cap="none" spc="0" normalizeH="0" baseline="0" noProof="0">
              <a:ln>
                <a:noFill/>
              </a:ln>
              <a:solidFill>
                <a:srgbClr val="FF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1" i="0" u="none" strike="noStrike" kern="0" cap="none" spc="0" normalizeH="0" baseline="0" noProof="0">
                <a:ln>
                  <a:noFill/>
                </a:ln>
                <a:solidFill>
                  <a:srgbClr val="FF0000"/>
                </a:solidFill>
                <a:effectLst/>
                <a:uLnTx/>
                <a:uFillTx/>
                <a:latin typeface="Tahoma"/>
                <a:ea typeface="+mn-ea"/>
                <a:cs typeface="+mn-cs"/>
              </a:rPr>
              <a:t>ΚΛΑΜΠ ΣΑΝΤΟΥΙΤΣ</a:t>
            </a:r>
            <a:endParaRPr kumimoji="0" lang="en-US" sz="2800" b="1" i="0" u="none" strike="noStrike" kern="0" cap="none" spc="0" normalizeH="0" baseline="0" noProof="0">
              <a:ln>
                <a:noFill/>
              </a:ln>
              <a:solidFill>
                <a:srgbClr val="FF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1" i="0" u="none" strike="noStrike" kern="0" cap="none" spc="0" normalizeH="0" baseline="0" noProof="0">
                <a:ln>
                  <a:noFill/>
                </a:ln>
                <a:solidFill>
                  <a:srgbClr val="FF0000"/>
                </a:solidFill>
                <a:effectLst/>
                <a:uLnTx/>
                <a:uFillTx/>
                <a:latin typeface="Tahoma"/>
                <a:ea typeface="+mn-ea"/>
                <a:cs typeface="+mn-cs"/>
              </a:rPr>
              <a:t>Φοιτητής</a:t>
            </a:r>
            <a:endParaRPr kumimoji="0" lang="en-US" sz="2800" b="1" i="0" u="none" strike="noStrike" kern="0" cap="none" spc="0" normalizeH="0" baseline="0" noProof="0">
              <a:ln>
                <a:noFill/>
              </a:ln>
              <a:solidFill>
                <a:srgbClr val="FF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US" sz="2800" b="0" i="0" u="none" strike="noStrike" kern="0" cap="none" spc="0" normalizeH="0" baseline="0" noProof="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n-US" sz="2800" b="1" i="0" u="none" strike="noStrike" kern="0" cap="none" spc="0" normalizeH="0" baseline="0" noProof="0">
                <a:ln>
                  <a:noFill/>
                </a:ln>
                <a:solidFill>
                  <a:srgbClr val="128F05"/>
                </a:solidFill>
                <a:effectLst/>
                <a:uLnTx/>
                <a:uFillTx/>
                <a:latin typeface="Tahoma"/>
                <a:ea typeface="+mn-ea"/>
                <a:cs typeface="+mn-cs"/>
              </a:rPr>
              <a:t>Psila Alonia Goody’s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n-US" sz="2800" b="1" i="0" u="none" strike="noStrike" kern="0" cap="none" spc="0" normalizeH="0" baseline="0" noProof="0">
                <a:ln>
                  <a:noFill/>
                </a:ln>
                <a:solidFill>
                  <a:srgbClr val="128F05"/>
                </a:solidFill>
                <a:effectLst/>
                <a:uLnTx/>
                <a:uFillTx/>
                <a:latin typeface="Tahoma"/>
                <a:ea typeface="+mn-ea"/>
                <a:cs typeface="+mn-cs"/>
              </a:rPr>
              <a:t>Olga Square</a:t>
            </a:r>
            <a:r>
              <a:rPr kumimoji="0" lang="el-GR" sz="2800" b="1" i="0" u="none" strike="noStrike" kern="0" cap="none" spc="0" normalizeH="0" baseline="0" noProof="0">
                <a:ln>
                  <a:noFill/>
                </a:ln>
                <a:solidFill>
                  <a:srgbClr val="128F05"/>
                </a:solidFill>
                <a:effectLst/>
                <a:uLnTx/>
                <a:uFillTx/>
                <a:latin typeface="Tahoma"/>
                <a:ea typeface="+mn-ea"/>
                <a:cs typeface="+mn-cs"/>
              </a:rPr>
              <a:t> </a:t>
            </a:r>
            <a:r>
              <a:rPr kumimoji="0" lang="en-US" sz="2800" b="1" i="0" u="none" strike="noStrike" kern="0" cap="none" spc="0" normalizeH="0" baseline="0" noProof="0">
                <a:ln>
                  <a:noFill/>
                </a:ln>
                <a:solidFill>
                  <a:srgbClr val="128F05"/>
                </a:solidFill>
                <a:effectLst/>
                <a:uLnTx/>
                <a:uFillTx/>
                <a:latin typeface="Tahoma"/>
                <a:ea typeface="+mn-ea"/>
                <a:cs typeface="+mn-cs"/>
              </a:rPr>
              <a:t>Goody’s</a:t>
            </a:r>
            <a:r>
              <a:rPr kumimoji="0" lang="el-GR" sz="2800" b="1" i="0" u="none" strike="noStrike" kern="0" cap="none" spc="0" normalizeH="0" baseline="0" noProof="0">
                <a:ln>
                  <a:noFill/>
                </a:ln>
                <a:solidFill>
                  <a:srgbClr val="128F05"/>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1" i="0" u="none" strike="noStrike" kern="0" cap="none" spc="0" normalizeH="0" baseline="0" noProof="0">
                <a:ln>
                  <a:noFill/>
                </a:ln>
                <a:solidFill>
                  <a:srgbClr val="128F05"/>
                </a:solidFill>
                <a:effectLst/>
                <a:uLnTx/>
                <a:uFillTx/>
                <a:latin typeface="Tahoma"/>
                <a:ea typeface="+mn-ea"/>
                <a:cs typeface="+mn-cs"/>
              </a:rPr>
              <a:t>Νικολάου Νίκος</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1" i="0" u="none" strike="noStrike" kern="0" cap="none" spc="0" normalizeH="0" baseline="0" noProof="0">
                <a:ln>
                  <a:noFill/>
                </a:ln>
                <a:solidFill>
                  <a:srgbClr val="128F05"/>
                </a:solidFill>
                <a:effectLst/>
                <a:uLnTx/>
                <a:uFillTx/>
                <a:latin typeface="Tahoma"/>
                <a:ea typeface="+mn-ea"/>
                <a:cs typeface="+mn-cs"/>
              </a:rPr>
              <a:t>Γεωργίου Γιώργος</a:t>
            </a:r>
            <a:endParaRPr kumimoji="0" lang="en-GB" sz="2800" b="1" i="0" u="none" strike="noStrike" kern="0" cap="none" spc="0" normalizeH="0" baseline="0" noProof="0">
              <a:ln>
                <a:noFill/>
              </a:ln>
              <a:solidFill>
                <a:srgbClr val="128F05"/>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US" sz="2800" b="1" i="0" u="none" strike="noStrike" kern="0" cap="none" spc="0" normalizeH="0" baseline="0" noProof="0">
              <a:ln>
                <a:noFill/>
              </a:ln>
              <a:solidFill>
                <a:srgbClr val="128F05"/>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l-GR" sz="2800" b="1" i="0" u="none" strike="noStrike" kern="0" cap="none" spc="0" normalizeH="0" baseline="0" noProof="0">
              <a:ln>
                <a:noFill/>
              </a:ln>
              <a:solidFill>
                <a:srgbClr val="128F05"/>
              </a:solidFill>
              <a:effectLst/>
              <a:uLnTx/>
              <a:uFillTx/>
              <a:latin typeface="Tahoma"/>
              <a:ea typeface="+mn-ea"/>
              <a:cs typeface="+mn-cs"/>
            </a:endParaRPr>
          </a:p>
        </p:txBody>
      </p:sp>
      <p:sp>
        <p:nvSpPr>
          <p:cNvPr id="12" name="Text Box 5">
            <a:extLst>
              <a:ext uri="{FF2B5EF4-FFF2-40B4-BE49-F238E27FC236}">
                <a16:creationId xmlns:a16="http://schemas.microsoft.com/office/drawing/2014/main" id="{6436FD13-8989-61B7-8E30-DE264D20650C}"/>
              </a:ext>
            </a:extLst>
          </p:cNvPr>
          <p:cNvSpPr txBox="1">
            <a:spLocks noChangeArrowheads="1"/>
          </p:cNvSpPr>
          <p:nvPr/>
        </p:nvSpPr>
        <p:spPr bwMode="auto">
          <a:xfrm>
            <a:off x="5076825" y="2276475"/>
            <a:ext cx="1657350" cy="579438"/>
          </a:xfrm>
          <a:prstGeom prst="rect">
            <a:avLst/>
          </a:prstGeom>
          <a:noFill/>
          <a:ln w="9525">
            <a:noFill/>
            <a:miter lim="800000"/>
            <a:headEnd/>
            <a:tailEnd/>
          </a:ln>
        </p:spPr>
        <p:txBody>
          <a:bodyPr wrap="none">
            <a:spAutoFit/>
          </a:bodyPr>
          <a:lstStyle/>
          <a:p>
            <a:pPr fontAlgn="base">
              <a:spcBef>
                <a:spcPct val="0"/>
              </a:spcBef>
              <a:spcAft>
                <a:spcPct val="0"/>
              </a:spcAft>
            </a:pPr>
            <a:r>
              <a:rPr lang="el-GR" sz="3200" b="1">
                <a:solidFill>
                  <a:srgbClr val="000000"/>
                </a:solidFill>
                <a:latin typeface="Tahoma" pitchFamily="34" charset="0"/>
              </a:rPr>
              <a:t>έννοιες</a:t>
            </a:r>
          </a:p>
        </p:txBody>
      </p:sp>
      <p:sp>
        <p:nvSpPr>
          <p:cNvPr id="13" name="Text Box 10">
            <a:extLst>
              <a:ext uri="{FF2B5EF4-FFF2-40B4-BE49-F238E27FC236}">
                <a16:creationId xmlns:a16="http://schemas.microsoft.com/office/drawing/2014/main" id="{34D8877A-5AAA-C75B-C674-2423468A187F}"/>
              </a:ext>
            </a:extLst>
          </p:cNvPr>
          <p:cNvSpPr txBox="1">
            <a:spLocks noChangeArrowheads="1"/>
          </p:cNvSpPr>
          <p:nvPr/>
        </p:nvSpPr>
        <p:spPr bwMode="auto">
          <a:xfrm>
            <a:off x="7127875" y="3789363"/>
            <a:ext cx="2016125" cy="579437"/>
          </a:xfrm>
          <a:prstGeom prst="rect">
            <a:avLst/>
          </a:prstGeom>
          <a:noFill/>
          <a:ln w="9525">
            <a:noFill/>
            <a:miter lim="800000"/>
            <a:headEnd/>
            <a:tailEnd/>
          </a:ln>
        </p:spPr>
        <p:txBody>
          <a:bodyPr>
            <a:spAutoFit/>
          </a:bodyPr>
          <a:lstStyle/>
          <a:p>
            <a:pPr fontAlgn="base">
              <a:spcBef>
                <a:spcPct val="0"/>
              </a:spcBef>
              <a:spcAft>
                <a:spcPct val="0"/>
              </a:spcAft>
            </a:pPr>
            <a:r>
              <a:rPr lang="en-US" sz="3200" b="1" dirty="0">
                <a:solidFill>
                  <a:srgbClr val="000000"/>
                </a:solidFill>
                <a:latin typeface="Tahoma" pitchFamily="34" charset="0"/>
              </a:rPr>
              <a:t>Objects</a:t>
            </a:r>
            <a:endParaRPr lang="el-GR" sz="3200" b="1" dirty="0">
              <a:solidFill>
                <a:srgbClr val="000000"/>
              </a:solidFill>
              <a:latin typeface="Tahoma" pitchFamily="34" charset="0"/>
            </a:endParaRPr>
          </a:p>
        </p:txBody>
      </p:sp>
      <p:sp>
        <p:nvSpPr>
          <p:cNvPr id="14" name="TextBox 13">
            <a:extLst>
              <a:ext uri="{FF2B5EF4-FFF2-40B4-BE49-F238E27FC236}">
                <a16:creationId xmlns:a16="http://schemas.microsoft.com/office/drawing/2014/main" id="{261B50FA-96A4-A9D5-5623-F008433F29A1}"/>
              </a:ext>
            </a:extLst>
          </p:cNvPr>
          <p:cNvSpPr txBox="1"/>
          <p:nvPr/>
        </p:nvSpPr>
        <p:spPr>
          <a:xfrm>
            <a:off x="6431973" y="1161146"/>
            <a:ext cx="2736304" cy="646331"/>
          </a:xfrm>
          <a:prstGeom prst="rect">
            <a:avLst/>
          </a:prstGeom>
          <a:noFill/>
        </p:spPr>
        <p:txBody>
          <a:bodyPr wrap="square" rtlCol="0">
            <a:spAutoFit/>
          </a:bodyPr>
          <a:lstStyle/>
          <a:p>
            <a:pPr algn="r" fontAlgn="base">
              <a:spcBef>
                <a:spcPct val="0"/>
              </a:spcBef>
              <a:spcAft>
                <a:spcPct val="0"/>
              </a:spcAft>
            </a:pPr>
            <a:r>
              <a:rPr lang="en-US" sz="3600" b="1" dirty="0">
                <a:solidFill>
                  <a:srgbClr val="0000FF"/>
                </a:solidFill>
                <a:latin typeface="Tahoma" pitchFamily="34" charset="0"/>
              </a:rPr>
              <a:t>identity</a:t>
            </a:r>
            <a:endParaRPr lang="el-GR" sz="3600" dirty="0">
              <a:solidFill>
                <a:srgbClr val="000000"/>
              </a:solidFill>
              <a:latin typeface="Tahoma" pitchFamily="34" charset="0"/>
            </a:endParaRPr>
          </a:p>
        </p:txBody>
      </p:sp>
      <p:sp>
        <p:nvSpPr>
          <p:cNvPr id="15" name="Text Box 7">
            <a:extLst>
              <a:ext uri="{FF2B5EF4-FFF2-40B4-BE49-F238E27FC236}">
                <a16:creationId xmlns:a16="http://schemas.microsoft.com/office/drawing/2014/main" id="{1D0D375C-812F-8AAE-487C-64A4D322877B}"/>
              </a:ext>
            </a:extLst>
          </p:cNvPr>
          <p:cNvSpPr txBox="1">
            <a:spLocks noChangeArrowheads="1"/>
          </p:cNvSpPr>
          <p:nvPr/>
        </p:nvSpPr>
        <p:spPr bwMode="auto">
          <a:xfrm>
            <a:off x="4427538" y="5300663"/>
            <a:ext cx="2447925" cy="1066800"/>
          </a:xfrm>
          <a:prstGeom prst="rect">
            <a:avLst/>
          </a:prstGeom>
          <a:noFill/>
          <a:ln w="9525">
            <a:noFill/>
            <a:miter lim="800000"/>
            <a:headEnd/>
            <a:tailEnd/>
          </a:ln>
        </p:spPr>
        <p:txBody>
          <a:bodyPr>
            <a:spAutoFit/>
          </a:bodyPr>
          <a:lstStyle/>
          <a:p>
            <a:pPr fontAlgn="base">
              <a:spcBef>
                <a:spcPct val="0"/>
              </a:spcBef>
              <a:spcAft>
                <a:spcPct val="0"/>
              </a:spcAft>
            </a:pPr>
            <a:r>
              <a:rPr lang="en-US" sz="3200" b="1" dirty="0">
                <a:solidFill>
                  <a:srgbClr val="000000"/>
                </a:solidFill>
                <a:latin typeface="Tahoma" pitchFamily="34" charset="0"/>
              </a:rPr>
              <a:t>Real world objects</a:t>
            </a:r>
            <a:endParaRPr lang="el-GR" sz="3200" b="1" dirty="0">
              <a:solidFill>
                <a:srgbClr val="000000"/>
              </a:solidFill>
              <a:latin typeface="Tahoma" pitchFamily="34" charset="0"/>
            </a:endParaRPr>
          </a:p>
        </p:txBody>
      </p:sp>
    </p:spTree>
    <p:extLst>
      <p:ext uri="{BB962C8B-B14F-4D97-AF65-F5344CB8AC3E}">
        <p14:creationId xmlns:p14="http://schemas.microsoft.com/office/powerpoint/2010/main" val="38645905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ox(i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checkerboard(across)">
                                      <p:cBhvr>
                                        <p:cTn id="26" dur="500"/>
                                        <p:tgtEl>
                                          <p:spTgt spid="4"/>
                                        </p:tgtEl>
                                      </p:cBhvr>
                                    </p:animEffect>
                                  </p:childTnLst>
                                </p:cTn>
                              </p:par>
                            </p:childTnLst>
                          </p:cTn>
                        </p:par>
                        <p:par>
                          <p:cTn id="27" fill="hold">
                            <p:stCondLst>
                              <p:cond delay="500"/>
                            </p:stCondLst>
                            <p:childTnLst>
                              <p:par>
                                <p:cTn id="28" presetID="4" presetClass="entr" presetSubtype="16"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ox(in)">
                                      <p:cBhvr>
                                        <p:cTn id="30" dur="500"/>
                                        <p:tgtEl>
                                          <p:spTgt spid="15"/>
                                        </p:tgtEl>
                                      </p:cBhvr>
                                    </p:animEffect>
                                  </p:childTnLst>
                                </p:cTn>
                              </p:par>
                            </p:childTnLst>
                          </p:cTn>
                        </p:par>
                        <p:par>
                          <p:cTn id="31" fill="hold">
                            <p:stCondLst>
                              <p:cond delay="1000"/>
                            </p:stCondLst>
                            <p:childTnLst>
                              <p:par>
                                <p:cTn id="32" presetID="21" presetClass="entr" presetSubtype="4"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heel(4)">
                                      <p:cBhvr>
                                        <p:cTn id="34"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animBg="1"/>
      <p:bldP spid="6" grpId="0" animBg="1"/>
      <p:bldP spid="7" grpId="0" animBg="1"/>
      <p:bldP spid="12" grpId="0"/>
      <p:bldP spid="1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Απόκρυψη πληροφορίας (</a:t>
            </a:r>
            <a:r>
              <a:rPr lang="en-US" sz="4000" b="1" dirty="0">
                <a:solidFill>
                  <a:srgbClr val="F9853D"/>
                </a:solidFill>
                <a:latin typeface="Bahnschrift" panose="020B0502040204020203" pitchFamily="34" charset="0"/>
              </a:rPr>
              <a:t>Information hiding</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graphicFrame>
        <p:nvGraphicFramePr>
          <p:cNvPr id="4" name="Object 4">
            <a:extLst>
              <a:ext uri="{FF2B5EF4-FFF2-40B4-BE49-F238E27FC236}">
                <a16:creationId xmlns:a16="http://schemas.microsoft.com/office/drawing/2014/main" id="{CA1B1E07-C0C3-53D2-2937-23503EB511E4}"/>
              </a:ext>
            </a:extLst>
          </p:cNvPr>
          <p:cNvGraphicFramePr>
            <a:graphicFrameLocks noChangeAspect="1"/>
          </p:cNvGraphicFramePr>
          <p:nvPr>
            <p:extLst>
              <p:ext uri="{D42A27DB-BD31-4B8C-83A1-F6EECF244321}">
                <p14:modId xmlns:p14="http://schemas.microsoft.com/office/powerpoint/2010/main" val="3188518925"/>
              </p:ext>
            </p:extLst>
          </p:nvPr>
        </p:nvGraphicFramePr>
        <p:xfrm>
          <a:off x="2951480" y="3114751"/>
          <a:ext cx="2743200" cy="1898650"/>
        </p:xfrm>
        <a:graphic>
          <a:graphicData uri="http://schemas.openxmlformats.org/presentationml/2006/ole">
            <mc:AlternateContent xmlns:mc="http://schemas.openxmlformats.org/markup-compatibility/2006">
              <mc:Choice xmlns:v="urn:schemas-microsoft-com:vml" Requires="v">
                <p:oleObj name="Bitmap Image" r:id="rId3" imgW="743054" imgH="514422" progId="PBrush">
                  <p:embed/>
                </p:oleObj>
              </mc:Choice>
              <mc:Fallback>
                <p:oleObj name="Bitmap Image" r:id="rId3" imgW="743054" imgH="514422" progId="PBrush">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480" y="3114751"/>
                        <a:ext cx="2743200" cy="189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5">
            <a:extLst>
              <a:ext uri="{FF2B5EF4-FFF2-40B4-BE49-F238E27FC236}">
                <a16:creationId xmlns:a16="http://schemas.microsoft.com/office/drawing/2014/main" id="{D4BA0767-841E-83CF-DECE-32269DB8D572}"/>
              </a:ext>
            </a:extLst>
          </p:cNvPr>
          <p:cNvSpPr txBox="1">
            <a:spLocks noChangeArrowheads="1"/>
          </p:cNvSpPr>
          <p:nvPr/>
        </p:nvSpPr>
        <p:spPr bwMode="auto">
          <a:xfrm>
            <a:off x="3131840" y="2733751"/>
            <a:ext cx="2368550" cy="457200"/>
          </a:xfrm>
          <a:prstGeom prst="rect">
            <a:avLst/>
          </a:prstGeom>
          <a:noFill/>
          <a:ln w="9525">
            <a:noFill/>
            <a:miter lim="800000"/>
            <a:headEnd/>
            <a:tailEnd/>
          </a:ln>
        </p:spPr>
        <p:txBody>
          <a:bodyPr wrap="none">
            <a:spAutoFit/>
          </a:bodyPr>
          <a:lstStyle/>
          <a:p>
            <a:pPr fontAlgn="base">
              <a:spcBef>
                <a:spcPct val="0"/>
              </a:spcBef>
              <a:spcAft>
                <a:spcPct val="0"/>
              </a:spcAft>
            </a:pPr>
            <a:r>
              <a:rPr lang="en-US" sz="2400" dirty="0">
                <a:solidFill>
                  <a:srgbClr val="000000"/>
                </a:solidFill>
                <a:latin typeface="Tahoma" pitchFamily="34" charset="0"/>
              </a:rPr>
              <a:t>microwave oven</a:t>
            </a:r>
            <a:endParaRPr lang="en-GB" sz="2400" dirty="0">
              <a:solidFill>
                <a:srgbClr val="000000"/>
              </a:solidFill>
              <a:latin typeface="Tahoma" pitchFamily="34" charset="0"/>
            </a:endParaRPr>
          </a:p>
        </p:txBody>
      </p:sp>
      <p:grpSp>
        <p:nvGrpSpPr>
          <p:cNvPr id="7" name="Group 6">
            <a:extLst>
              <a:ext uri="{FF2B5EF4-FFF2-40B4-BE49-F238E27FC236}">
                <a16:creationId xmlns:a16="http://schemas.microsoft.com/office/drawing/2014/main" id="{681C3C5E-3F14-BAA0-64C9-5A186001BDDF}"/>
              </a:ext>
            </a:extLst>
          </p:cNvPr>
          <p:cNvGrpSpPr>
            <a:grpSpLocks/>
          </p:cNvGrpSpPr>
          <p:nvPr/>
        </p:nvGrpSpPr>
        <p:grpSpPr bwMode="auto">
          <a:xfrm>
            <a:off x="5389880" y="2200351"/>
            <a:ext cx="3276600" cy="1524000"/>
            <a:chOff x="3312" y="1824"/>
            <a:chExt cx="2064" cy="960"/>
          </a:xfrm>
        </p:grpSpPr>
        <p:sp>
          <p:nvSpPr>
            <p:cNvPr id="9" name="AutoShape 7">
              <a:extLst>
                <a:ext uri="{FF2B5EF4-FFF2-40B4-BE49-F238E27FC236}">
                  <a16:creationId xmlns:a16="http://schemas.microsoft.com/office/drawing/2014/main" id="{C25E735A-537E-815B-602B-C145B58B1B60}"/>
                </a:ext>
              </a:extLst>
            </p:cNvPr>
            <p:cNvSpPr>
              <a:spLocks noChangeArrowheads="1"/>
            </p:cNvSpPr>
            <p:nvPr/>
          </p:nvSpPr>
          <p:spPr bwMode="auto">
            <a:xfrm>
              <a:off x="3792" y="1824"/>
              <a:ext cx="1584" cy="432"/>
            </a:xfrm>
            <a:prstGeom prst="foldedCorner">
              <a:avLst>
                <a:gd name="adj" fmla="val 12500"/>
              </a:avLst>
            </a:prstGeom>
            <a:solidFill>
              <a:srgbClr val="FFCF01"/>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3200" b="1" i="0" u="none" strike="noStrike" kern="0" cap="none" spc="0" normalizeH="0" baseline="0" noProof="0" dirty="0">
                  <a:ln>
                    <a:noFill/>
                  </a:ln>
                  <a:solidFill>
                    <a:srgbClr val="FF0000"/>
                  </a:solidFill>
                  <a:effectLst/>
                  <a:uLnTx/>
                  <a:uFillTx/>
                  <a:latin typeface="Tahoma" pitchFamily="34" charset="0"/>
                </a:rPr>
                <a:t>interface</a:t>
              </a:r>
              <a:endParaRPr kumimoji="0" lang="en-GB" sz="3200" b="1" i="0" u="none" strike="noStrike" kern="0" cap="none" spc="0" normalizeH="0" baseline="0" noProof="0" dirty="0">
                <a:ln>
                  <a:noFill/>
                </a:ln>
                <a:solidFill>
                  <a:srgbClr val="FF0000"/>
                </a:solidFill>
                <a:effectLst/>
                <a:uLnTx/>
                <a:uFillTx/>
                <a:latin typeface="Tahoma" pitchFamily="34" charset="0"/>
              </a:endParaRPr>
            </a:p>
          </p:txBody>
        </p:sp>
        <p:sp>
          <p:nvSpPr>
            <p:cNvPr id="12" name="Line 8">
              <a:extLst>
                <a:ext uri="{FF2B5EF4-FFF2-40B4-BE49-F238E27FC236}">
                  <a16:creationId xmlns:a16="http://schemas.microsoft.com/office/drawing/2014/main" id="{13003089-7C4A-DC9B-20B2-039A61142EF1}"/>
                </a:ext>
              </a:extLst>
            </p:cNvPr>
            <p:cNvSpPr>
              <a:spLocks noChangeShapeType="1"/>
            </p:cNvSpPr>
            <p:nvPr/>
          </p:nvSpPr>
          <p:spPr bwMode="auto">
            <a:xfrm flipH="1">
              <a:off x="3312" y="2256"/>
              <a:ext cx="912" cy="528"/>
            </a:xfrm>
            <a:prstGeom prst="line">
              <a:avLst/>
            </a:prstGeom>
            <a:noFill/>
            <a:ln w="28575">
              <a:solidFill>
                <a:srgbClr val="00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grpSp>
        <p:nvGrpSpPr>
          <p:cNvPr id="13" name="Group 9">
            <a:extLst>
              <a:ext uri="{FF2B5EF4-FFF2-40B4-BE49-F238E27FC236}">
                <a16:creationId xmlns:a16="http://schemas.microsoft.com/office/drawing/2014/main" id="{565B3A3B-68A9-BFD7-126C-034BC846A318}"/>
              </a:ext>
            </a:extLst>
          </p:cNvPr>
          <p:cNvGrpSpPr>
            <a:grpSpLocks/>
          </p:cNvGrpSpPr>
          <p:nvPr/>
        </p:nvGrpSpPr>
        <p:grpSpPr bwMode="auto">
          <a:xfrm>
            <a:off x="284480" y="2047951"/>
            <a:ext cx="3352800" cy="1219200"/>
            <a:chOff x="96" y="1728"/>
            <a:chExt cx="2112" cy="768"/>
          </a:xfrm>
        </p:grpSpPr>
        <p:sp>
          <p:nvSpPr>
            <p:cNvPr id="14" name="AutoShape 10">
              <a:extLst>
                <a:ext uri="{FF2B5EF4-FFF2-40B4-BE49-F238E27FC236}">
                  <a16:creationId xmlns:a16="http://schemas.microsoft.com/office/drawing/2014/main" id="{D73F9345-E6D7-3998-96FC-ACD6D680F518}"/>
                </a:ext>
              </a:extLst>
            </p:cNvPr>
            <p:cNvSpPr>
              <a:spLocks noChangeArrowheads="1"/>
            </p:cNvSpPr>
            <p:nvPr/>
          </p:nvSpPr>
          <p:spPr bwMode="auto">
            <a:xfrm>
              <a:off x="96" y="1728"/>
              <a:ext cx="1872" cy="432"/>
            </a:xfrm>
            <a:prstGeom prst="foldedCorner">
              <a:avLst>
                <a:gd name="adj" fmla="val 12500"/>
              </a:avLst>
            </a:prstGeom>
            <a:solidFill>
              <a:srgbClr val="FFCF01"/>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a:ln>
                    <a:noFill/>
                  </a:ln>
                  <a:solidFill>
                    <a:srgbClr val="FF0000"/>
                  </a:solidFill>
                  <a:effectLst/>
                  <a:uLnTx/>
                  <a:uFillTx/>
                  <a:latin typeface="Tahoma" pitchFamily="34" charset="0"/>
                </a:rPr>
                <a:t>implementation</a:t>
              </a:r>
              <a:endParaRPr kumimoji="0" lang="en-GB" sz="3200" b="0" i="0" u="none" strike="noStrike" kern="0" cap="none" spc="0" normalizeH="0" baseline="0" noProof="0">
                <a:ln>
                  <a:noFill/>
                </a:ln>
                <a:solidFill>
                  <a:srgbClr val="FF0000"/>
                </a:solidFill>
                <a:effectLst/>
                <a:uLnTx/>
                <a:uFillTx/>
                <a:latin typeface="Tahoma" pitchFamily="34" charset="0"/>
              </a:endParaRPr>
            </a:p>
          </p:txBody>
        </p:sp>
        <p:sp>
          <p:nvSpPr>
            <p:cNvPr id="15" name="Line 11">
              <a:extLst>
                <a:ext uri="{FF2B5EF4-FFF2-40B4-BE49-F238E27FC236}">
                  <a16:creationId xmlns:a16="http://schemas.microsoft.com/office/drawing/2014/main" id="{40BC4F62-3AB6-EB9A-246F-276ECCA3F9CE}"/>
                </a:ext>
              </a:extLst>
            </p:cNvPr>
            <p:cNvSpPr>
              <a:spLocks noChangeShapeType="1"/>
            </p:cNvSpPr>
            <p:nvPr/>
          </p:nvSpPr>
          <p:spPr bwMode="auto">
            <a:xfrm>
              <a:off x="912" y="2160"/>
              <a:ext cx="1296" cy="336"/>
            </a:xfrm>
            <a:prstGeom prst="line">
              <a:avLst/>
            </a:prstGeom>
            <a:noFill/>
            <a:ln w="28575">
              <a:solidFill>
                <a:srgbClr val="00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sp>
        <p:nvSpPr>
          <p:cNvPr id="16" name="TextBox 15">
            <a:extLst>
              <a:ext uri="{FF2B5EF4-FFF2-40B4-BE49-F238E27FC236}">
                <a16:creationId xmlns:a16="http://schemas.microsoft.com/office/drawing/2014/main" id="{5C1D51D0-E96F-405E-F7FB-80F327743858}"/>
              </a:ext>
            </a:extLst>
          </p:cNvPr>
          <p:cNvSpPr txBox="1"/>
          <p:nvPr/>
        </p:nvSpPr>
        <p:spPr>
          <a:xfrm>
            <a:off x="8847483" y="849378"/>
            <a:ext cx="3203848" cy="1754326"/>
          </a:xfrm>
          <a:prstGeom prst="rect">
            <a:avLst/>
          </a:prstGeom>
          <a:noFill/>
        </p:spPr>
        <p:txBody>
          <a:bodyPr wrap="square" rtlCol="0">
            <a:spAutoFit/>
          </a:bodyPr>
          <a:lstStyle/>
          <a:p>
            <a:pPr marL="685800" lvl="1" indent="-228600" algn="r" fontAlgn="base">
              <a:spcBef>
                <a:spcPct val="0"/>
              </a:spcBef>
              <a:spcAft>
                <a:spcPct val="0"/>
              </a:spcAft>
            </a:pPr>
            <a:r>
              <a:rPr lang="en-US" sz="3600" b="1" dirty="0">
                <a:solidFill>
                  <a:srgbClr val="00B0F0"/>
                </a:solidFill>
                <a:latin typeface="Tahoma" pitchFamily="34" charset="0"/>
              </a:rPr>
              <a:t>Identity ?</a:t>
            </a:r>
            <a:endParaRPr lang="el-GR" sz="3600" b="1" dirty="0">
              <a:solidFill>
                <a:srgbClr val="00B0F0"/>
              </a:solidFill>
              <a:latin typeface="Tahoma" pitchFamily="34" charset="0"/>
            </a:endParaRPr>
          </a:p>
          <a:p>
            <a:pPr marL="685800" lvl="1" indent="-228600" algn="r" fontAlgn="base">
              <a:spcBef>
                <a:spcPct val="0"/>
              </a:spcBef>
              <a:spcAft>
                <a:spcPct val="0"/>
              </a:spcAft>
            </a:pPr>
            <a:r>
              <a:rPr lang="en-US" sz="3600" b="1" dirty="0">
                <a:solidFill>
                  <a:srgbClr val="FF0000"/>
                </a:solidFill>
                <a:latin typeface="Tahoma" pitchFamily="34" charset="0"/>
              </a:rPr>
              <a:t>State</a:t>
            </a:r>
            <a:r>
              <a:rPr lang="el-GR" sz="3600" b="1" dirty="0">
                <a:solidFill>
                  <a:srgbClr val="FF0000"/>
                </a:solidFill>
                <a:latin typeface="Tahoma" pitchFamily="34" charset="0"/>
              </a:rPr>
              <a:t> ?</a:t>
            </a:r>
            <a:r>
              <a:rPr lang="en-US" sz="3600" b="1" dirty="0">
                <a:solidFill>
                  <a:srgbClr val="000000"/>
                </a:solidFill>
                <a:latin typeface="Tahoma" pitchFamily="34" charset="0"/>
              </a:rPr>
              <a:t> </a:t>
            </a:r>
          </a:p>
          <a:p>
            <a:pPr marL="685800" lvl="1" indent="-228600" algn="r" fontAlgn="base">
              <a:spcBef>
                <a:spcPct val="0"/>
              </a:spcBef>
              <a:spcAft>
                <a:spcPct val="0"/>
              </a:spcAft>
            </a:pPr>
            <a:r>
              <a:rPr lang="en-US" sz="3600" b="1" dirty="0">
                <a:solidFill>
                  <a:srgbClr val="128F05"/>
                </a:solidFill>
                <a:latin typeface="Tahoma" pitchFamily="34" charset="0"/>
              </a:rPr>
              <a:t>Behavior</a:t>
            </a:r>
            <a:r>
              <a:rPr lang="el-GR" sz="3600" b="1" dirty="0">
                <a:solidFill>
                  <a:srgbClr val="128F05"/>
                </a:solidFill>
                <a:latin typeface="Tahoma" pitchFamily="34" charset="0"/>
              </a:rPr>
              <a:t> ?</a:t>
            </a:r>
            <a:endParaRPr lang="el-GR" sz="3600" dirty="0">
              <a:solidFill>
                <a:srgbClr val="000000"/>
              </a:solidFill>
              <a:latin typeface="Tahoma" pitchFamily="34" charset="0"/>
            </a:endParaRPr>
          </a:p>
        </p:txBody>
      </p:sp>
      <p:sp>
        <p:nvSpPr>
          <p:cNvPr id="17" name="Rectangle 3">
            <a:extLst>
              <a:ext uri="{FF2B5EF4-FFF2-40B4-BE49-F238E27FC236}">
                <a16:creationId xmlns:a16="http://schemas.microsoft.com/office/drawing/2014/main" id="{C54FE42A-54E8-ABA4-9C0A-D73CBF857BC3}"/>
              </a:ext>
            </a:extLst>
          </p:cNvPr>
          <p:cNvSpPr txBox="1">
            <a:spLocks noChangeArrowheads="1"/>
          </p:cNvSpPr>
          <p:nvPr/>
        </p:nvSpPr>
        <p:spPr bwMode="auto">
          <a:xfrm>
            <a:off x="284480" y="5236144"/>
            <a:ext cx="11146971" cy="7886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buClr>
                <a:srgbClr val="3333CC"/>
              </a:buClr>
            </a:pPr>
            <a:r>
              <a:rPr lang="el-GR" sz="3600" b="1" dirty="0">
                <a:solidFill>
                  <a:srgbClr val="000000"/>
                </a:solidFill>
                <a:latin typeface="Tahoma"/>
              </a:rPr>
              <a:t>Ενθυλάκωση (</a:t>
            </a:r>
            <a:r>
              <a:rPr lang="en-US" sz="3600" b="1" dirty="0">
                <a:solidFill>
                  <a:srgbClr val="000000"/>
                </a:solidFill>
                <a:latin typeface="Tahoma"/>
              </a:rPr>
              <a:t>Encapsulation</a:t>
            </a:r>
            <a:r>
              <a:rPr lang="el-GR" sz="3600" b="1" dirty="0">
                <a:solidFill>
                  <a:srgbClr val="000000"/>
                </a:solidFill>
                <a:latin typeface="Tahoma"/>
              </a:rPr>
              <a:t>)</a:t>
            </a:r>
            <a:endParaRPr lang="en-US" sz="3600" b="1" dirty="0">
              <a:solidFill>
                <a:srgbClr val="000000"/>
              </a:solidFill>
              <a:latin typeface="Tahoma"/>
            </a:endParaRPr>
          </a:p>
          <a:p>
            <a:pPr lvl="1" eaLnBrk="1" hangingPunct="1">
              <a:buClr>
                <a:srgbClr val="FF0000"/>
              </a:buClr>
            </a:pPr>
            <a:r>
              <a:rPr lang="en-US" dirty="0">
                <a:solidFill>
                  <a:srgbClr val="000000"/>
                </a:solidFill>
                <a:latin typeface="Tahoma"/>
              </a:rPr>
              <a:t>the action of enclosing something in or as if in a capsule.</a:t>
            </a:r>
            <a:endParaRPr lang="en-GB" sz="3200" kern="0" dirty="0">
              <a:solidFill>
                <a:srgbClr val="000000"/>
              </a:solidFill>
              <a:latin typeface="Tahoma"/>
            </a:endParaRPr>
          </a:p>
        </p:txBody>
      </p:sp>
    </p:spTree>
    <p:extLst>
      <p:ext uri="{BB962C8B-B14F-4D97-AF65-F5344CB8AC3E}">
        <p14:creationId xmlns:p14="http://schemas.microsoft.com/office/powerpoint/2010/main" val="14782050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100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179511" y="1052736"/>
            <a:ext cx="10165491"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i="0" u="none" strike="noStrike" kern="0" cap="none" spc="0" normalizeH="0" baseline="0" noProof="0" dirty="0">
                <a:ln>
                  <a:noFill/>
                </a:ln>
                <a:solidFill>
                  <a:srgbClr val="000000"/>
                </a:solidFill>
                <a:effectLst/>
                <a:uLnTx/>
                <a:uFillTx/>
                <a:latin typeface="Tahoma"/>
                <a:ea typeface="+mn-ea"/>
                <a:cs typeface="+mn-cs"/>
              </a:rPr>
              <a:t>Νοητικό μοντέλο Αντικειμενοστρεφούς Προγραμματισμού </a:t>
            </a:r>
            <a:r>
              <a:rPr kumimoji="0" lang="en-US" sz="3200" i="0" u="none" strike="noStrike" kern="0" cap="none" spc="0" normalizeH="0" baseline="0" noProof="0" dirty="0">
                <a:ln>
                  <a:noFill/>
                </a:ln>
                <a:solidFill>
                  <a:srgbClr val="000000"/>
                </a:solidFill>
                <a:effectLst/>
                <a:uLnTx/>
                <a:uFillTx/>
                <a:latin typeface="Tahoma"/>
                <a:ea typeface="+mn-ea"/>
                <a:cs typeface="+mn-cs"/>
              </a:rPr>
              <a:t>(</a:t>
            </a:r>
            <a:r>
              <a:rPr lang="en-US" kern="0" dirty="0">
                <a:solidFill>
                  <a:srgbClr val="000000"/>
                </a:solidFill>
                <a:latin typeface="Tahoma"/>
              </a:rPr>
              <a:t>OOP </a:t>
            </a:r>
            <a:r>
              <a:rPr kumimoji="0" lang="en-US" sz="3200" i="0" u="none" strike="noStrike" kern="0" cap="none" spc="0" normalizeH="0" baseline="0" noProof="0" dirty="0">
                <a:ln>
                  <a:noFill/>
                </a:ln>
                <a:solidFill>
                  <a:srgbClr val="000000"/>
                </a:solidFill>
                <a:effectLst/>
                <a:uLnTx/>
                <a:uFillTx/>
                <a:latin typeface="Tahoma"/>
                <a:ea typeface="+mn-ea"/>
                <a:cs typeface="+mn-cs"/>
              </a:rPr>
              <a:t>Conceptual model</a:t>
            </a:r>
            <a:r>
              <a:rPr kumimoji="0" lang="el-GR" sz="320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lang="el-GR" b="1" kern="0" dirty="0">
                <a:solidFill>
                  <a:srgbClr val="000000"/>
                </a:solidFill>
                <a:latin typeface="Tahoma"/>
              </a:rPr>
              <a:t>Α</a:t>
            </a:r>
            <a:r>
              <a:rPr kumimoji="0" lang="el-GR" sz="3200" b="1" i="0" u="none" strike="noStrike" kern="0" cap="none" spc="0" normalizeH="0" baseline="0" noProof="0" dirty="0" err="1">
                <a:ln>
                  <a:noFill/>
                </a:ln>
                <a:solidFill>
                  <a:srgbClr val="000000"/>
                </a:solidFill>
                <a:effectLst/>
                <a:uLnTx/>
                <a:uFillTx/>
                <a:latin typeface="Tahoma"/>
                <a:ea typeface="+mn-ea"/>
                <a:cs typeface="+mn-cs"/>
              </a:rPr>
              <a:t>ντικε</a:t>
            </a:r>
            <a:r>
              <a:rPr lang="el-GR" b="1" kern="0" dirty="0" err="1">
                <a:solidFill>
                  <a:srgbClr val="000000"/>
                </a:solidFill>
                <a:latin typeface="Tahoma"/>
              </a:rPr>
              <a:t>ίμενο</a:t>
            </a:r>
            <a:r>
              <a:rPr lang="el-GR" b="1" kern="0" dirty="0">
                <a:solidFill>
                  <a:srgbClr val="000000"/>
                </a:solidFill>
                <a:latin typeface="Tahoma"/>
              </a:rPr>
              <a:t> το βασικό δομικό στοιχείο</a:t>
            </a:r>
            <a:endParaRPr kumimoji="0" lang="en-US" sz="3200" b="1"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Object-class-instance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1" i="0" u="none" strike="noStrike" kern="0" cap="none" spc="0" normalizeH="0" baseline="0" noProof="0" dirty="0">
                <a:ln>
                  <a:noFill/>
                </a:ln>
                <a:solidFill>
                  <a:srgbClr val="000000"/>
                </a:solidFill>
                <a:effectLst/>
                <a:uLnTx/>
                <a:uFillTx/>
                <a:latin typeface="Tahoma"/>
              </a:rPr>
              <a:t>Objects collaborate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Associations</a:t>
            </a:r>
            <a:endParaRPr kumimoji="0" lang="el-GR" sz="28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0" i="0" u="none" strike="noStrike" kern="0" cap="none" spc="0" normalizeH="0" baseline="0" noProof="0" dirty="0">
                <a:ln>
                  <a:noFill/>
                </a:ln>
                <a:solidFill>
                  <a:srgbClr val="000000"/>
                </a:solidFill>
                <a:effectLst/>
                <a:uLnTx/>
                <a:uFillTx/>
                <a:latin typeface="Tahoma"/>
                <a:ea typeface="+mn-ea"/>
                <a:cs typeface="+mn-cs"/>
              </a:rPr>
              <a:t>Το παράδειγμα της Στοίβας</a:t>
            </a:r>
            <a:endParaRPr kumimoji="0" lang="en-US"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kern="0" dirty="0">
                <a:solidFill>
                  <a:srgbClr val="000000"/>
                </a:solidFill>
                <a:latin typeface="Tahoma"/>
              </a:rPr>
              <a:t>H </a:t>
            </a:r>
            <a:r>
              <a:rPr lang="el-GR" kern="0" dirty="0">
                <a:solidFill>
                  <a:srgbClr val="000000"/>
                </a:solidFill>
                <a:latin typeface="Tahoma"/>
              </a:rPr>
              <a:t>κλάση </a:t>
            </a:r>
            <a:r>
              <a:rPr lang="en-US" kern="0" dirty="0">
                <a:solidFill>
                  <a:srgbClr val="000000"/>
                </a:solidFill>
                <a:latin typeface="Tahoma"/>
              </a:rPr>
              <a:t>Stack</a:t>
            </a:r>
          </a:p>
          <a:p>
            <a:pPr lvl="1" indent="-342900" eaLnBrk="1" hangingPunct="1">
              <a:buClr>
                <a:srgbClr val="3333CC"/>
              </a:buClr>
              <a:buSzPct val="60000"/>
              <a:defRPr/>
            </a:pPr>
            <a:r>
              <a:rPr lang="el-GR" kern="0" dirty="0">
                <a:solidFill>
                  <a:srgbClr val="000000"/>
                </a:solidFill>
                <a:latin typeface="Tahoma"/>
              </a:rPr>
              <a:t>Στιγμιότυπα της </a:t>
            </a:r>
            <a:r>
              <a:rPr lang="en-US" kern="0" dirty="0">
                <a:solidFill>
                  <a:srgbClr val="000000"/>
                </a:solidFill>
                <a:latin typeface="Tahoma"/>
              </a:rPr>
              <a:t>Stack</a:t>
            </a:r>
          </a:p>
          <a:p>
            <a:pPr lvl="1" indent="-342900" eaLnBrk="1" hangingPunct="1">
              <a:buClr>
                <a:srgbClr val="3333CC"/>
              </a:buClr>
              <a:buSzPct val="60000"/>
              <a:defRPr/>
            </a:pPr>
            <a:r>
              <a:rPr kumimoji="0" lang="el-GR" b="0" i="0" u="none" strike="noStrike" kern="0" cap="none" spc="0" normalizeH="0" baseline="0" noProof="0" dirty="0">
                <a:ln>
                  <a:noFill/>
                </a:ln>
                <a:solidFill>
                  <a:srgbClr val="000000"/>
                </a:solidFill>
                <a:effectLst/>
                <a:uLnTx/>
                <a:uFillTx/>
                <a:latin typeface="Tahoma"/>
                <a:ea typeface="+mn-ea"/>
                <a:cs typeface="+mn-cs"/>
              </a:rPr>
              <a:t>Αξιοποίηση της </a:t>
            </a:r>
            <a:r>
              <a:rPr kumimoji="0" lang="en-US" b="0" i="0" u="none" strike="noStrike" kern="0" cap="none" spc="0" normalizeH="0" baseline="0" noProof="0" dirty="0">
                <a:ln>
                  <a:noFill/>
                </a:ln>
                <a:solidFill>
                  <a:srgbClr val="000000"/>
                </a:solidFill>
                <a:effectLst/>
                <a:uLnTx/>
                <a:uFillTx/>
                <a:latin typeface="Tahoma"/>
                <a:ea typeface="+mn-ea"/>
                <a:cs typeface="+mn-cs"/>
              </a:rPr>
              <a:t>Stack </a:t>
            </a:r>
            <a:r>
              <a:rPr kumimoji="0" lang="el-GR" b="0" i="0" u="none" strike="noStrike" kern="0" cap="none" spc="0" normalizeH="0" baseline="0" noProof="0" dirty="0">
                <a:ln>
                  <a:noFill/>
                </a:ln>
                <a:solidFill>
                  <a:srgbClr val="000000"/>
                </a:solidFill>
                <a:effectLst/>
                <a:uLnTx/>
                <a:uFillTx/>
                <a:latin typeface="Tahoma"/>
                <a:ea typeface="+mn-ea"/>
                <a:cs typeface="+mn-cs"/>
              </a:rPr>
              <a:t>μέσα από το </a:t>
            </a:r>
            <a:r>
              <a:rPr kumimoji="0" lang="en-US" b="0" i="0" u="none" strike="noStrike" kern="0" cap="none" spc="0" normalizeH="0" baseline="0" noProof="0" dirty="0" err="1">
                <a:ln>
                  <a:noFill/>
                </a:ln>
                <a:solidFill>
                  <a:srgbClr val="000000"/>
                </a:solidFill>
                <a:effectLst/>
                <a:uLnTx/>
                <a:uFillTx/>
                <a:latin typeface="Tahoma"/>
                <a:ea typeface="+mn-ea"/>
                <a:cs typeface="+mn-cs"/>
              </a:rPr>
              <a:t>BlueJ</a:t>
            </a:r>
            <a:endParaRPr kumimoji="0" lang="el-GR"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9674559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fontScale="90000"/>
          </a:bodyPr>
          <a:lstStyle/>
          <a:p>
            <a:r>
              <a:rPr lang="en-US" sz="4000" b="1" dirty="0">
                <a:solidFill>
                  <a:srgbClr val="F9853D"/>
                </a:solidFill>
                <a:latin typeface="Bahnschrift" panose="020B0502040204020203" pitchFamily="34" charset="0"/>
              </a:rPr>
              <a:t>Objects collaborate</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Class-Responsibility-Collaboration </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40389834-414A-1A8D-C304-261D88101F9E}"/>
              </a:ext>
            </a:extLst>
          </p:cNvPr>
          <p:cNvSpPr txBox="1">
            <a:spLocks noChangeArrowheads="1"/>
          </p:cNvSpPr>
          <p:nvPr/>
        </p:nvSpPr>
        <p:spPr bwMode="auto">
          <a:xfrm>
            <a:off x="102870" y="916969"/>
            <a:ext cx="6355080" cy="28214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0" i="0" u="none" strike="noStrike" kern="0" cap="none" spc="0" normalizeH="0" baseline="0" noProof="0" dirty="0">
                <a:ln>
                  <a:noFill/>
                </a:ln>
                <a:solidFill>
                  <a:srgbClr val="000000"/>
                </a:solidFill>
                <a:effectLst/>
                <a:uLnTx/>
                <a:uFillTx/>
                <a:latin typeface="Tahoma"/>
                <a:ea typeface="+mn-ea"/>
                <a:cs typeface="+mn-cs"/>
              </a:rPr>
              <a:t>Τα αντικείμενα που απαρτίζουν το σύστημα μας</a:t>
            </a:r>
            <a:r>
              <a:rPr kumimoji="0" lang="en-US" sz="2800" b="0" i="0" u="none" strike="noStrike" kern="0" cap="none" spc="0" normalizeH="0" baseline="0" noProof="0" dirty="0">
                <a:ln>
                  <a:noFill/>
                </a:ln>
                <a:solidFill>
                  <a:srgbClr val="000000"/>
                </a:solidFill>
                <a:effectLst/>
                <a:uLnTx/>
                <a:uFillTx/>
                <a:latin typeface="Tahoma"/>
                <a:ea typeface="+mn-ea"/>
                <a:cs typeface="Times New Roman" pitchFamily="18" charset="0"/>
              </a:rPr>
              <a:t> </a:t>
            </a:r>
            <a:endParaRPr kumimoji="0" lang="el-GR" sz="2800" b="0"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1" i="0" u="none" strike="noStrike" kern="0" cap="none" spc="0" normalizeH="0" baseline="0" noProof="0" dirty="0">
                <a:ln>
                  <a:noFill/>
                </a:ln>
                <a:solidFill>
                  <a:srgbClr val="FF0000"/>
                </a:solidFill>
                <a:effectLst/>
                <a:uLnTx/>
                <a:uFillTx/>
                <a:latin typeface="Tahoma"/>
                <a:cs typeface="Times New Roman" pitchFamily="18" charset="0"/>
              </a:rPr>
              <a:t>collaborate</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 to provide the environment with the required services or to respond to accepted messages</a:t>
            </a:r>
            <a:endParaRPr kumimoji="0" lang="en-GB" sz="2800" b="0" i="0" u="none" strike="noStrike" kern="0" cap="none" spc="0" normalizeH="0" baseline="0" noProof="0" dirty="0">
              <a:ln>
                <a:noFill/>
              </a:ln>
              <a:solidFill>
                <a:srgbClr val="000000"/>
              </a:solidFill>
              <a:effectLst/>
              <a:uLnTx/>
              <a:uFillTx/>
              <a:latin typeface="Tahom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pic>
        <p:nvPicPr>
          <p:cNvPr id="4" name="Picture 3">
            <a:extLst>
              <a:ext uri="{FF2B5EF4-FFF2-40B4-BE49-F238E27FC236}">
                <a16:creationId xmlns:a16="http://schemas.microsoft.com/office/drawing/2014/main" id="{2662EC7B-D972-E8B1-0EAD-B4C21BD98124}"/>
              </a:ext>
            </a:extLst>
          </p:cNvPr>
          <p:cNvPicPr>
            <a:picLocks noChangeAspect="1"/>
          </p:cNvPicPr>
          <p:nvPr/>
        </p:nvPicPr>
        <p:blipFill>
          <a:blip r:embed="rId3"/>
          <a:stretch>
            <a:fillRect/>
          </a:stretch>
        </p:blipFill>
        <p:spPr>
          <a:xfrm>
            <a:off x="6853056" y="758816"/>
            <a:ext cx="5338943" cy="2821470"/>
          </a:xfrm>
          <a:prstGeom prst="rect">
            <a:avLst/>
          </a:prstGeom>
        </p:spPr>
      </p:pic>
      <p:sp>
        <p:nvSpPr>
          <p:cNvPr id="6" name="Content Placeholder 2">
            <a:extLst>
              <a:ext uri="{FF2B5EF4-FFF2-40B4-BE49-F238E27FC236}">
                <a16:creationId xmlns:a16="http://schemas.microsoft.com/office/drawing/2014/main" id="{D629933F-F607-4952-31D5-6E2EDB971AFB}"/>
              </a:ext>
            </a:extLst>
          </p:cNvPr>
          <p:cNvSpPr txBox="1">
            <a:spLocks/>
          </p:cNvSpPr>
          <p:nvPr/>
        </p:nvSpPr>
        <p:spPr bwMode="auto">
          <a:xfrm>
            <a:off x="2385934" y="3875721"/>
            <a:ext cx="6984776" cy="25922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pPr>
            <a:r>
              <a:rPr lang="en-US" sz="2400" kern="0" dirty="0">
                <a:solidFill>
                  <a:srgbClr val="000000"/>
                </a:solidFill>
                <a:latin typeface="Tahoma"/>
              </a:rPr>
              <a:t>To </a:t>
            </a:r>
            <a:r>
              <a:rPr lang="el-GR" sz="2400" b="1" kern="0" dirty="0">
                <a:solidFill>
                  <a:srgbClr val="000000"/>
                </a:solidFill>
                <a:latin typeface="Tahoma"/>
              </a:rPr>
              <a:t>Σύστημα ως συνάθροιση αντικειμένων</a:t>
            </a:r>
            <a:endParaRPr lang="el-GR" sz="2400" kern="0" dirty="0">
              <a:solidFill>
                <a:srgbClr val="000000"/>
              </a:solidFill>
              <a:latin typeface="Tahoma"/>
            </a:endParaRPr>
          </a:p>
          <a:p>
            <a:pPr>
              <a:buClr>
                <a:srgbClr val="3333CC"/>
              </a:buClr>
            </a:pPr>
            <a:r>
              <a:rPr lang="el-GR" sz="2400" kern="0" dirty="0">
                <a:solidFill>
                  <a:srgbClr val="000000"/>
                </a:solidFill>
                <a:latin typeface="Tahoma"/>
              </a:rPr>
              <a:t>Ποιος είναι ο Στόχος μας;</a:t>
            </a:r>
            <a:endParaRPr lang="en-US" sz="2400" kern="0" dirty="0">
              <a:solidFill>
                <a:srgbClr val="000000"/>
              </a:solidFill>
              <a:latin typeface="Tahoma"/>
            </a:endParaRPr>
          </a:p>
          <a:p>
            <a:pPr lvl="1">
              <a:buClr>
                <a:srgbClr val="FF0000"/>
              </a:buClr>
            </a:pPr>
            <a:r>
              <a:rPr lang="el-GR" sz="2000" kern="0" dirty="0">
                <a:solidFill>
                  <a:srgbClr val="000000"/>
                </a:solidFill>
                <a:latin typeface="Tahoma"/>
              </a:rPr>
              <a:t>Έχουμε στόχο; </a:t>
            </a:r>
          </a:p>
          <a:p>
            <a:pPr lvl="1">
              <a:buClr>
                <a:srgbClr val="FF0000"/>
              </a:buClr>
            </a:pPr>
            <a:r>
              <a:rPr lang="el-GR" sz="2000" kern="0" dirty="0">
                <a:solidFill>
                  <a:srgbClr val="000000"/>
                </a:solidFill>
                <a:latin typeface="Tahoma"/>
              </a:rPr>
              <a:t>Ποιες οι αρμοδιότητες μας στην επίτευξη του; </a:t>
            </a:r>
          </a:p>
          <a:p>
            <a:pPr lvl="1">
              <a:buClr>
                <a:srgbClr val="FF0000"/>
              </a:buClr>
            </a:pPr>
            <a:r>
              <a:rPr lang="el-GR" sz="2000" kern="0" dirty="0">
                <a:solidFill>
                  <a:srgbClr val="000000"/>
                </a:solidFill>
                <a:latin typeface="Tahoma"/>
              </a:rPr>
              <a:t>Έχουμε όλοι τις ίδιες αρμοδιότητες;</a:t>
            </a:r>
          </a:p>
          <a:p>
            <a:pPr>
              <a:buClr>
                <a:srgbClr val="3333CC"/>
              </a:buClr>
            </a:pPr>
            <a:r>
              <a:rPr lang="el-GR" sz="2400" b="1" kern="0" dirty="0" err="1">
                <a:solidFill>
                  <a:srgbClr val="000000"/>
                </a:solidFill>
                <a:latin typeface="Tahoma"/>
              </a:rPr>
              <a:t>Class</a:t>
            </a:r>
            <a:r>
              <a:rPr lang="el-GR" sz="2400" b="1" kern="0" dirty="0">
                <a:solidFill>
                  <a:srgbClr val="000000"/>
                </a:solidFill>
                <a:latin typeface="Tahoma"/>
              </a:rPr>
              <a:t>-</a:t>
            </a:r>
            <a:r>
              <a:rPr lang="en-US" sz="2400" b="1" kern="0" dirty="0">
                <a:solidFill>
                  <a:srgbClr val="000000"/>
                </a:solidFill>
                <a:latin typeface="Tahoma"/>
              </a:rPr>
              <a:t>R</a:t>
            </a:r>
            <a:r>
              <a:rPr lang="el-GR" sz="2400" b="1" kern="0" dirty="0" err="1">
                <a:solidFill>
                  <a:srgbClr val="000000"/>
                </a:solidFill>
                <a:latin typeface="Tahoma"/>
              </a:rPr>
              <a:t>esponsibility</a:t>
            </a:r>
            <a:r>
              <a:rPr lang="el-GR" sz="2400" b="1" kern="0" dirty="0">
                <a:solidFill>
                  <a:srgbClr val="000000"/>
                </a:solidFill>
                <a:latin typeface="Tahoma"/>
              </a:rPr>
              <a:t>-</a:t>
            </a:r>
            <a:r>
              <a:rPr lang="en-US" sz="2400" b="1" kern="0" dirty="0">
                <a:solidFill>
                  <a:srgbClr val="000000"/>
                </a:solidFill>
                <a:latin typeface="Tahoma"/>
              </a:rPr>
              <a:t>C</a:t>
            </a:r>
            <a:r>
              <a:rPr lang="el-GR" sz="2400" b="1" kern="0" dirty="0" err="1">
                <a:solidFill>
                  <a:srgbClr val="000000"/>
                </a:solidFill>
                <a:latin typeface="Tahoma"/>
              </a:rPr>
              <a:t>ollaboration</a:t>
            </a:r>
            <a:r>
              <a:rPr lang="en-US" sz="2400" b="1" kern="0" dirty="0">
                <a:solidFill>
                  <a:srgbClr val="000000"/>
                </a:solidFill>
                <a:latin typeface="Tahoma"/>
              </a:rPr>
              <a:t> </a:t>
            </a:r>
            <a:r>
              <a:rPr lang="en-US" sz="2400" kern="0" dirty="0">
                <a:solidFill>
                  <a:srgbClr val="000000"/>
                </a:solidFill>
                <a:latin typeface="Tahoma"/>
              </a:rPr>
              <a:t>(CRC)</a:t>
            </a:r>
            <a:r>
              <a:rPr lang="el-GR" sz="2400" kern="0" dirty="0">
                <a:solidFill>
                  <a:srgbClr val="000000"/>
                </a:solidFill>
                <a:latin typeface="Tahoma"/>
              </a:rPr>
              <a:t> </a:t>
            </a:r>
          </a:p>
          <a:p>
            <a:pPr>
              <a:buClr>
                <a:srgbClr val="3333CC"/>
              </a:buClr>
            </a:pPr>
            <a:endParaRPr lang="el-GR" sz="2400" kern="0" dirty="0">
              <a:solidFill>
                <a:srgbClr val="000000"/>
              </a:solidFill>
              <a:latin typeface="Tahoma"/>
            </a:endParaRPr>
          </a:p>
        </p:txBody>
      </p:sp>
      <p:pic>
        <p:nvPicPr>
          <p:cNvPr id="9" name="Picture 8">
            <a:extLst>
              <a:ext uri="{FF2B5EF4-FFF2-40B4-BE49-F238E27FC236}">
                <a16:creationId xmlns:a16="http://schemas.microsoft.com/office/drawing/2014/main" id="{285AC99F-BF89-8D37-EEA3-CFA8B4A1637F}"/>
              </a:ext>
            </a:extLst>
          </p:cNvPr>
          <p:cNvPicPr>
            <a:picLocks noChangeAspect="1"/>
          </p:cNvPicPr>
          <p:nvPr/>
        </p:nvPicPr>
        <p:blipFill>
          <a:blip r:embed="rId4"/>
          <a:stretch>
            <a:fillRect/>
          </a:stretch>
        </p:blipFill>
        <p:spPr>
          <a:xfrm>
            <a:off x="254668" y="4561224"/>
            <a:ext cx="1868046" cy="1379807"/>
          </a:xfrm>
          <a:prstGeom prst="rect">
            <a:avLst/>
          </a:prstGeom>
        </p:spPr>
      </p:pic>
      <p:pic>
        <p:nvPicPr>
          <p:cNvPr id="13" name="Picture 12">
            <a:extLst>
              <a:ext uri="{FF2B5EF4-FFF2-40B4-BE49-F238E27FC236}">
                <a16:creationId xmlns:a16="http://schemas.microsoft.com/office/drawing/2014/main" id="{DE037F25-2B8B-A51F-860A-D14CE1E6BCC5}"/>
              </a:ext>
            </a:extLst>
          </p:cNvPr>
          <p:cNvPicPr>
            <a:picLocks noChangeAspect="1"/>
          </p:cNvPicPr>
          <p:nvPr/>
        </p:nvPicPr>
        <p:blipFill>
          <a:blip r:embed="rId5"/>
          <a:stretch>
            <a:fillRect/>
          </a:stretch>
        </p:blipFill>
        <p:spPr>
          <a:xfrm>
            <a:off x="9633930" y="4364695"/>
            <a:ext cx="1928027" cy="1661304"/>
          </a:xfrm>
          <a:prstGeom prst="rect">
            <a:avLst/>
          </a:prstGeom>
        </p:spPr>
      </p:pic>
    </p:spTree>
    <p:extLst>
      <p:ext uri="{BB962C8B-B14F-4D97-AF65-F5344CB8AC3E}">
        <p14:creationId xmlns:p14="http://schemas.microsoft.com/office/powerpoint/2010/main" val="362782953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Μήνυμα (</a:t>
            </a:r>
            <a:r>
              <a:rPr lang="en-US" sz="4000" b="1" dirty="0">
                <a:solidFill>
                  <a:srgbClr val="F9853D"/>
                </a:solidFill>
                <a:latin typeface="Bahnschrift" panose="020B0502040204020203" pitchFamily="34" charset="0"/>
              </a:rPr>
              <a:t>Message</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937FC115-E2A1-074A-2FF2-30448603BDAA}"/>
              </a:ext>
            </a:extLst>
          </p:cNvPr>
          <p:cNvSpPr txBox="1">
            <a:spLocks noChangeArrowheads="1"/>
          </p:cNvSpPr>
          <p:nvPr/>
        </p:nvSpPr>
        <p:spPr bwMode="auto">
          <a:xfrm>
            <a:off x="78258" y="872894"/>
            <a:ext cx="11648303" cy="11485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0" i="0" u="none" strike="noStrike" kern="0" cap="none" spc="0" normalizeH="0" baseline="0" noProof="0" dirty="0">
                <a:ln>
                  <a:noFill/>
                </a:ln>
                <a:solidFill>
                  <a:srgbClr val="000000"/>
                </a:solidFill>
                <a:effectLst/>
                <a:uLnTx/>
                <a:uFillTx/>
                <a:latin typeface="Tahoma"/>
                <a:ea typeface="+mn-ea"/>
                <a:cs typeface="+mn-cs"/>
              </a:rPr>
              <a:t>Η </a:t>
            </a:r>
            <a:r>
              <a:rPr kumimoji="0" lang="el-GR" sz="2800" b="1" i="0" u="none" strike="noStrike" kern="0" cap="none" spc="0" normalizeH="0" baseline="0" noProof="0" dirty="0">
                <a:ln>
                  <a:noFill/>
                </a:ln>
                <a:solidFill>
                  <a:srgbClr val="FF0000"/>
                </a:solidFill>
                <a:effectLst/>
                <a:uLnTx/>
                <a:uFillTx/>
                <a:latin typeface="Tahoma"/>
                <a:ea typeface="+mn-ea"/>
                <a:cs typeface="+mn-cs"/>
              </a:rPr>
              <a:t>αποστολή μηνύματος</a:t>
            </a:r>
            <a:r>
              <a:rPr kumimoji="0" lang="el-GR" sz="2800" b="0" i="0" u="none" strike="noStrike" kern="0" cap="none" spc="0" normalizeH="0" baseline="0" noProof="0" dirty="0">
                <a:ln>
                  <a:noFill/>
                </a:ln>
                <a:solidFill>
                  <a:srgbClr val="000000"/>
                </a:solidFill>
                <a:effectLst/>
                <a:uLnTx/>
                <a:uFillTx/>
                <a:latin typeface="Tahoma"/>
                <a:ea typeface="+mn-ea"/>
                <a:cs typeface="+mn-cs"/>
              </a:rPr>
              <a:t> αποτελεί το βασικό μηχανισμό πάνω στον οποίο βασίζεται η συνεργασία των αντικειμένων.</a:t>
            </a:r>
          </a:p>
        </p:txBody>
      </p:sp>
      <p:pic>
        <p:nvPicPr>
          <p:cNvPr id="6" name="Picture 5">
            <a:extLst>
              <a:ext uri="{FF2B5EF4-FFF2-40B4-BE49-F238E27FC236}">
                <a16:creationId xmlns:a16="http://schemas.microsoft.com/office/drawing/2014/main" id="{FD502609-43EA-8154-F2E7-AC1B373416ED}"/>
              </a:ext>
            </a:extLst>
          </p:cNvPr>
          <p:cNvPicPr>
            <a:picLocks noChangeAspect="1"/>
          </p:cNvPicPr>
          <p:nvPr/>
        </p:nvPicPr>
        <p:blipFill>
          <a:blip r:embed="rId3"/>
          <a:stretch>
            <a:fillRect/>
          </a:stretch>
        </p:blipFill>
        <p:spPr>
          <a:xfrm>
            <a:off x="78259" y="3515259"/>
            <a:ext cx="2880610" cy="2979678"/>
          </a:xfrm>
          <a:prstGeom prst="rect">
            <a:avLst/>
          </a:prstGeom>
        </p:spPr>
      </p:pic>
      <p:pic>
        <p:nvPicPr>
          <p:cNvPr id="9" name="Picture 8">
            <a:extLst>
              <a:ext uri="{FF2B5EF4-FFF2-40B4-BE49-F238E27FC236}">
                <a16:creationId xmlns:a16="http://schemas.microsoft.com/office/drawing/2014/main" id="{829B69E1-2756-D24E-1AC1-3045EA196D8A}"/>
              </a:ext>
            </a:extLst>
          </p:cNvPr>
          <p:cNvPicPr>
            <a:picLocks noChangeAspect="1"/>
          </p:cNvPicPr>
          <p:nvPr/>
        </p:nvPicPr>
        <p:blipFill>
          <a:blip r:embed="rId4"/>
          <a:stretch>
            <a:fillRect/>
          </a:stretch>
        </p:blipFill>
        <p:spPr>
          <a:xfrm>
            <a:off x="4469430" y="4271795"/>
            <a:ext cx="2079651" cy="1945961"/>
          </a:xfrm>
          <a:prstGeom prst="rect">
            <a:avLst/>
          </a:prstGeom>
        </p:spPr>
      </p:pic>
      <p:pic>
        <p:nvPicPr>
          <p:cNvPr id="13" name="Picture 12">
            <a:extLst>
              <a:ext uri="{FF2B5EF4-FFF2-40B4-BE49-F238E27FC236}">
                <a16:creationId xmlns:a16="http://schemas.microsoft.com/office/drawing/2014/main" id="{74D7FC94-A268-A672-8D2F-A2F5BDA70D35}"/>
              </a:ext>
            </a:extLst>
          </p:cNvPr>
          <p:cNvPicPr>
            <a:picLocks noChangeAspect="1"/>
          </p:cNvPicPr>
          <p:nvPr/>
        </p:nvPicPr>
        <p:blipFill>
          <a:blip r:embed="rId5"/>
          <a:stretch>
            <a:fillRect/>
          </a:stretch>
        </p:blipFill>
        <p:spPr>
          <a:xfrm>
            <a:off x="7428773" y="3768811"/>
            <a:ext cx="4297789" cy="2489572"/>
          </a:xfrm>
          <a:prstGeom prst="rect">
            <a:avLst/>
          </a:prstGeom>
        </p:spPr>
      </p:pic>
      <p:sp>
        <p:nvSpPr>
          <p:cNvPr id="4" name="Rectangle 3">
            <a:extLst>
              <a:ext uri="{FF2B5EF4-FFF2-40B4-BE49-F238E27FC236}">
                <a16:creationId xmlns:a16="http://schemas.microsoft.com/office/drawing/2014/main" id="{4A15F76D-3167-6202-4408-51FC91FE549E}"/>
              </a:ext>
            </a:extLst>
          </p:cNvPr>
          <p:cNvSpPr txBox="1">
            <a:spLocks noChangeArrowheads="1"/>
          </p:cNvSpPr>
          <p:nvPr/>
        </p:nvSpPr>
        <p:spPr bwMode="auto">
          <a:xfrm>
            <a:off x="78258" y="1799411"/>
            <a:ext cx="9631226" cy="19459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2800" b="0" i="0" u="none" strike="noStrike" kern="0" cap="none" spc="0" normalizeH="0" baseline="0" noProof="0" dirty="0">
                <a:ln>
                  <a:noFill/>
                </a:ln>
                <a:solidFill>
                  <a:srgbClr val="000000"/>
                </a:solidFill>
                <a:effectLst/>
                <a:uLnTx/>
                <a:uFillTx/>
                <a:latin typeface="Tahoma"/>
                <a:ea typeface="+mn-ea"/>
                <a:cs typeface="+mn-cs"/>
              </a:rPr>
              <a:t>Τρόποι ανταλλαγής μηνυμάτων</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rPr>
              <a:t>Το πλυντήριο πιάτων αποστέλλει το μήνυμα </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a:t>
            </a:r>
            <a:r>
              <a:rPr kumimoji="0" lang="el-GR" sz="2400" b="0" i="0" u="none" strike="noStrike" kern="0" cap="none" spc="0" normalizeH="0" baseline="0" noProof="0" dirty="0">
                <a:ln>
                  <a:noFill/>
                </a:ln>
                <a:solidFill>
                  <a:srgbClr val="000000"/>
                </a:solidFill>
                <a:effectLst/>
                <a:uLnTx/>
                <a:uFillTx/>
                <a:latin typeface="Tahoma"/>
              </a:rPr>
              <a:t>θέλω νερό</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 </a:t>
            </a:r>
            <a:r>
              <a:rPr kumimoji="0" lang="el-GR" sz="2400" b="0" i="0" u="none" strike="noStrike" kern="0" cap="none" spc="0" normalizeH="0" baseline="0" noProof="0" dirty="0">
                <a:ln>
                  <a:noFill/>
                </a:ln>
                <a:solidFill>
                  <a:srgbClr val="000000"/>
                </a:solidFill>
                <a:effectLst/>
                <a:uLnTx/>
                <a:uFillTx/>
                <a:latin typeface="Tahoma"/>
              </a:rPr>
              <a:t>στο αντικείμενο βρύση</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 </a:t>
            </a:r>
            <a:r>
              <a:rPr kumimoji="0" lang="el-GR" sz="2400" b="0" i="0" u="none" strike="noStrike" kern="0" cap="none" spc="0" normalizeH="0" baseline="0" noProof="0" dirty="0">
                <a:ln>
                  <a:noFill/>
                </a:ln>
                <a:solidFill>
                  <a:srgbClr val="000000"/>
                </a:solidFill>
                <a:effectLst/>
                <a:uLnTx/>
                <a:uFillTx/>
                <a:latin typeface="Tahoma"/>
              </a:rPr>
              <a:t>με διαφορετικό τρόπο από ότι αποστέλλει στον</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 </a:t>
            </a:r>
            <a:r>
              <a:rPr kumimoji="0" lang="el-GR" sz="2400" b="0" i="0" u="none" strike="noStrike" kern="0" cap="none" spc="0" normalizeH="0" baseline="0" noProof="0" dirty="0">
                <a:ln>
                  <a:noFill/>
                </a:ln>
                <a:solidFill>
                  <a:srgbClr val="000000"/>
                </a:solidFill>
                <a:effectLst/>
                <a:uLnTx/>
                <a:uFillTx/>
                <a:latin typeface="Tahoma"/>
              </a:rPr>
              <a:t>Νίκο το μήνυμα </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a:t>
            </a:r>
            <a:r>
              <a:rPr kumimoji="0" lang="el-GR" sz="2400" b="0" i="0" u="none" strike="noStrike" kern="0" cap="none" spc="0" normalizeH="0" baseline="0" noProof="0" dirty="0">
                <a:ln>
                  <a:noFill/>
                </a:ln>
                <a:solidFill>
                  <a:srgbClr val="000000"/>
                </a:solidFill>
                <a:effectLst/>
                <a:uLnTx/>
                <a:uFillTx/>
                <a:latin typeface="Tahoma"/>
              </a:rPr>
              <a:t>το πλύσιμο ολοκληρώθηκε</a:t>
            </a:r>
            <a:r>
              <a:rPr kumimoji="0" lang="en-US" sz="2400" b="0" i="0" u="none" strike="noStrike" kern="0" cap="none" spc="0" normalizeH="0" baseline="0" noProof="0" dirty="0">
                <a:ln>
                  <a:noFill/>
                </a:ln>
                <a:solidFill>
                  <a:srgbClr val="000000"/>
                </a:solidFill>
                <a:effectLst/>
                <a:uLnTx/>
                <a:uFillTx/>
                <a:latin typeface="Tahoma"/>
                <a:cs typeface="Times New Roman" pitchFamily="18" charset="0"/>
              </a:rPr>
              <a:t>”.  </a:t>
            </a:r>
            <a:endParaRPr kumimoji="0" lang="en-GB" sz="2400" b="0" i="0" u="none" strike="noStrike" kern="0" cap="none" spc="0" normalizeH="0" baseline="0" noProof="0" dirty="0">
              <a:ln>
                <a:noFill/>
              </a:ln>
              <a:solidFill>
                <a:srgbClr val="000000"/>
              </a:solidFill>
              <a:effectLst/>
              <a:uLnTx/>
              <a:uFillTx/>
              <a:latin typeface="Tahoma"/>
              <a:cs typeface="Times New Roman" pitchFamily="18" charset="0"/>
            </a:endParaRPr>
          </a:p>
        </p:txBody>
      </p:sp>
      <p:pic>
        <p:nvPicPr>
          <p:cNvPr id="12" name="Picture 11">
            <a:extLst>
              <a:ext uri="{FF2B5EF4-FFF2-40B4-BE49-F238E27FC236}">
                <a16:creationId xmlns:a16="http://schemas.microsoft.com/office/drawing/2014/main" id="{3BD8F2E9-4D3A-6ABE-00BD-3631EEF5B8BE}"/>
              </a:ext>
            </a:extLst>
          </p:cNvPr>
          <p:cNvPicPr>
            <a:picLocks noChangeAspect="1"/>
          </p:cNvPicPr>
          <p:nvPr/>
        </p:nvPicPr>
        <p:blipFill>
          <a:blip r:embed="rId6"/>
          <a:stretch>
            <a:fillRect/>
          </a:stretch>
        </p:blipFill>
        <p:spPr>
          <a:xfrm>
            <a:off x="9637026" y="1632882"/>
            <a:ext cx="2476715" cy="2270957"/>
          </a:xfrm>
          <a:prstGeom prst="rect">
            <a:avLst/>
          </a:prstGeom>
        </p:spPr>
      </p:pic>
    </p:spTree>
    <p:extLst>
      <p:ext uri="{BB962C8B-B14F-4D97-AF65-F5344CB8AC3E}">
        <p14:creationId xmlns:p14="http://schemas.microsoft.com/office/powerpoint/2010/main" val="31486858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dissolv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dissolve">
                                      <p:cBhvr>
                                        <p:cTn id="2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Objects provide services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A4EEA9DC-6152-353E-8D66-BA98FFED79CE}"/>
              </a:ext>
            </a:extLst>
          </p:cNvPr>
          <p:cNvSpPr txBox="1">
            <a:spLocks noChangeArrowheads="1"/>
          </p:cNvSpPr>
          <p:nvPr/>
        </p:nvSpPr>
        <p:spPr bwMode="auto">
          <a:xfrm>
            <a:off x="-1" y="1080790"/>
            <a:ext cx="10646229" cy="12961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0" i="0" u="none" strike="noStrike" kern="0" cap="none" spc="0" normalizeH="0" baseline="0" noProof="0">
                <a:ln>
                  <a:noFill/>
                </a:ln>
                <a:solidFill>
                  <a:srgbClr val="000000"/>
                </a:solidFill>
                <a:effectLst/>
                <a:uLnTx/>
                <a:uFillTx/>
                <a:latin typeface="Tahoma"/>
                <a:ea typeface="+mn-ea"/>
                <a:cs typeface="+mn-cs"/>
              </a:rPr>
              <a:t>Τι κάνετε όταν θέλετε να φάτε ένα </a:t>
            </a:r>
            <a:r>
              <a:rPr kumimoji="0" lang="el-GR" sz="3200" b="0" i="0" u="none" strike="noStrike" kern="0" cap="none" spc="0" normalizeH="0" baseline="0" noProof="0">
                <a:ln>
                  <a:noFill/>
                </a:ln>
                <a:solidFill>
                  <a:srgbClr val="FF0000"/>
                </a:solidFill>
                <a:effectLst/>
                <a:uLnTx/>
                <a:uFillTx/>
                <a:latin typeface="Tahoma"/>
                <a:ea typeface="+mn-ea"/>
                <a:cs typeface="+mn-cs"/>
              </a:rPr>
              <a:t>ΚΛΑΜΠ ΣΑΝΤΟΥΙΤΣ</a:t>
            </a:r>
            <a:r>
              <a:rPr kumimoji="0" lang="el-GR" sz="3200" b="0" i="0" u="none" strike="noStrike" kern="0" cap="none" spc="0" normalizeH="0" baseline="0" noProof="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endParaRPr kumimoji="0" lang="en-US"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4" name="Rectangle 3">
            <a:extLst>
              <a:ext uri="{FF2B5EF4-FFF2-40B4-BE49-F238E27FC236}">
                <a16:creationId xmlns:a16="http://schemas.microsoft.com/office/drawing/2014/main" id="{CF93DF18-220D-5D23-08CF-AFF5CD95CA57}"/>
              </a:ext>
            </a:extLst>
          </p:cNvPr>
          <p:cNvSpPr txBox="1">
            <a:spLocks noChangeArrowheads="1"/>
          </p:cNvSpPr>
          <p:nvPr/>
        </p:nvSpPr>
        <p:spPr bwMode="auto">
          <a:xfrm>
            <a:off x="0" y="4863512"/>
            <a:ext cx="11070771" cy="16450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buClr>
                <a:srgbClr val="3333CC"/>
              </a:buClr>
            </a:pPr>
            <a:r>
              <a:rPr lang="el-GR" kern="0" dirty="0">
                <a:solidFill>
                  <a:srgbClr val="000000"/>
                </a:solidFill>
                <a:latin typeface="Tahoma"/>
              </a:rPr>
              <a:t>Τι κάνετε αν θέλετε να φτιάξετε ένα κατάστημα πρόχειρου φαγητού </a:t>
            </a:r>
            <a:r>
              <a:rPr lang="en-US" kern="0" dirty="0">
                <a:solidFill>
                  <a:srgbClr val="FF0000"/>
                </a:solidFill>
                <a:latin typeface="Tahoma"/>
              </a:rPr>
              <a:t>Goody’s</a:t>
            </a:r>
            <a:r>
              <a:rPr lang="el-GR" kern="0" dirty="0">
                <a:solidFill>
                  <a:srgbClr val="000000"/>
                </a:solidFill>
                <a:latin typeface="Tahoma"/>
              </a:rPr>
              <a:t>;</a:t>
            </a:r>
            <a:endParaRPr lang="en-US" kern="0" dirty="0">
              <a:solidFill>
                <a:srgbClr val="000000"/>
              </a:solidFill>
              <a:latin typeface="Tahoma"/>
            </a:endParaRPr>
          </a:p>
          <a:p>
            <a:pPr lvl="1" eaLnBrk="1" hangingPunct="1">
              <a:buClr>
                <a:srgbClr val="FF0000"/>
              </a:buClr>
            </a:pPr>
            <a:r>
              <a:rPr lang="en-US" kern="0" dirty="0">
                <a:solidFill>
                  <a:srgbClr val="000000"/>
                </a:solidFill>
                <a:latin typeface="Tahoma"/>
              </a:rPr>
              <a:t>…the service is not provided by a Goody’s instance</a:t>
            </a:r>
            <a:endParaRPr lang="en-GB" kern="0" dirty="0">
              <a:solidFill>
                <a:srgbClr val="000000"/>
              </a:solidFill>
              <a:latin typeface="Tahoma"/>
            </a:endParaRPr>
          </a:p>
        </p:txBody>
      </p:sp>
      <p:sp>
        <p:nvSpPr>
          <p:cNvPr id="6" name="AutoShape 4">
            <a:extLst>
              <a:ext uri="{FF2B5EF4-FFF2-40B4-BE49-F238E27FC236}">
                <a16:creationId xmlns:a16="http://schemas.microsoft.com/office/drawing/2014/main" id="{42BACE38-ECFE-008B-E7D6-83C252350D22}"/>
              </a:ext>
            </a:extLst>
          </p:cNvPr>
          <p:cNvSpPr>
            <a:spLocks noChangeArrowheads="1"/>
          </p:cNvSpPr>
          <p:nvPr/>
        </p:nvSpPr>
        <p:spPr bwMode="auto">
          <a:xfrm>
            <a:off x="611560" y="2307952"/>
            <a:ext cx="3276600" cy="1752600"/>
          </a:xfrm>
          <a:prstGeom prst="wedgeRoundRectCallout">
            <a:avLst>
              <a:gd name="adj1" fmla="val -49496"/>
              <a:gd name="adj2" fmla="val 78198"/>
              <a:gd name="adj3" fmla="val 16667"/>
            </a:avLst>
          </a:prstGeom>
          <a:solidFill>
            <a:srgbClr val="00E4A8"/>
          </a:solidFill>
          <a:ln w="9525">
            <a:solidFill>
              <a:srgbClr val="000000"/>
            </a:solidFill>
            <a:miter lim="800000"/>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a:ln>
                  <a:noFill/>
                </a:ln>
                <a:solidFill>
                  <a:srgbClr val="FF0000"/>
                </a:solidFill>
                <a:effectLst/>
                <a:uLnTx/>
                <a:uFillTx/>
                <a:latin typeface="Tahoma" pitchFamily="34" charset="0"/>
                <a:cs typeface="Times New Roman" pitchFamily="18" charset="0"/>
              </a:rPr>
              <a:t>find an instance</a:t>
            </a:r>
            <a:r>
              <a:rPr kumimoji="0" lang="en-US" sz="2400" b="1" i="0" u="none" strike="noStrike" kern="0" cap="none" spc="0" normalizeH="0" baseline="0" noProof="0" dirty="0">
                <a:ln>
                  <a:noFill/>
                </a:ln>
                <a:solidFill>
                  <a:srgbClr val="000000"/>
                </a:solidFill>
                <a:effectLst/>
                <a:uLnTx/>
                <a:uFillTx/>
                <a:latin typeface="Tahoma" pitchFamily="34" charset="0"/>
                <a:cs typeface="Times New Roman" pitchFamily="18" charset="0"/>
              </a:rPr>
              <a:t> of “Goody’s” and send a message to it. </a:t>
            </a:r>
            <a:endParaRPr kumimoji="0" lang="el-GR" sz="2400" b="1" i="0" u="none" strike="noStrike" kern="0" cap="none" spc="0" normalizeH="0" baseline="0" noProof="0" dirty="0">
              <a:ln>
                <a:noFill/>
              </a:ln>
              <a:solidFill>
                <a:srgbClr val="000000"/>
              </a:solidFill>
              <a:effectLst/>
              <a:uLnTx/>
              <a:uFillTx/>
              <a:latin typeface="Tahoma"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1" i="0" u="none" strike="noStrike" kern="0" cap="none" spc="0" normalizeH="0" baseline="0" noProof="0" dirty="0">
              <a:ln>
                <a:noFill/>
              </a:ln>
              <a:solidFill>
                <a:srgbClr val="000000"/>
              </a:solidFill>
              <a:effectLst/>
              <a:uLnTx/>
              <a:uFillTx/>
              <a:latin typeface="Tahoma" pitchFamily="34" charset="0"/>
            </a:endParaRPr>
          </a:p>
        </p:txBody>
      </p:sp>
      <p:sp>
        <p:nvSpPr>
          <p:cNvPr id="7" name="AutoShape 5">
            <a:extLst>
              <a:ext uri="{FF2B5EF4-FFF2-40B4-BE49-F238E27FC236}">
                <a16:creationId xmlns:a16="http://schemas.microsoft.com/office/drawing/2014/main" id="{B077D2FC-FFF1-CE63-2759-16FAD4A41547}"/>
              </a:ext>
            </a:extLst>
          </p:cNvPr>
          <p:cNvSpPr>
            <a:spLocks noChangeArrowheads="1"/>
          </p:cNvSpPr>
          <p:nvPr/>
        </p:nvSpPr>
        <p:spPr bwMode="auto">
          <a:xfrm>
            <a:off x="4755224" y="2075743"/>
            <a:ext cx="4267200" cy="2286000"/>
          </a:xfrm>
          <a:prstGeom prst="wedgeRoundRectCallout">
            <a:avLst>
              <a:gd name="adj1" fmla="val -90579"/>
              <a:gd name="adj2" fmla="val 66429"/>
              <a:gd name="adj3" fmla="val 16667"/>
            </a:avLst>
          </a:prstGeom>
          <a:solidFill>
            <a:srgbClr val="11C1D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Tahoma" pitchFamily="34" charset="0"/>
                <a:cs typeface="Times New Roman" pitchFamily="18" charset="0"/>
              </a:rPr>
              <a:t>it is preferable to </a:t>
            </a:r>
            <a:r>
              <a:rPr kumimoji="0" lang="en-US" sz="2800" b="1" i="0" u="none" strike="noStrike" kern="0" cap="none" spc="0" normalizeH="0" baseline="0" noProof="0" dirty="0">
                <a:ln>
                  <a:noFill/>
                </a:ln>
                <a:solidFill>
                  <a:srgbClr val="FF0000"/>
                </a:solidFill>
                <a:effectLst/>
                <a:uLnTx/>
                <a:uFillTx/>
                <a:latin typeface="Tahoma" pitchFamily="34" charset="0"/>
                <a:cs typeface="Times New Roman" pitchFamily="18" charset="0"/>
              </a:rPr>
              <a:t>use the service of an existing instance</a:t>
            </a:r>
            <a:r>
              <a:rPr kumimoji="0" lang="en-US" sz="2400" b="1" i="0" u="none" strike="noStrike" kern="0" cap="none" spc="0" normalizeH="0" baseline="0" noProof="0" dirty="0">
                <a:ln>
                  <a:noFill/>
                </a:ln>
                <a:solidFill>
                  <a:srgbClr val="000000"/>
                </a:solidFill>
                <a:effectLst/>
                <a:uLnTx/>
                <a:uFillTx/>
                <a:latin typeface="Tahoma" pitchFamily="34" charset="0"/>
                <a:cs typeface="Times New Roman" pitchFamily="18" charset="0"/>
              </a:rPr>
              <a:t>, if one is available, rather than build </a:t>
            </a:r>
            <a:r>
              <a:rPr kumimoji="0" lang="en-US" sz="2400" b="1" i="0" u="none" strike="noStrike" kern="0" cap="none" spc="0" normalizeH="0" baseline="0" noProof="0" dirty="0">
                <a:ln>
                  <a:noFill/>
                </a:ln>
                <a:solidFill>
                  <a:srgbClr val="000000"/>
                </a:solidFill>
                <a:effectLst/>
                <a:uLnTx/>
                <a:uFillTx/>
                <a:latin typeface="Tahoma" pitchFamily="34" charset="0"/>
              </a:rPr>
              <a:t>your</a:t>
            </a:r>
            <a:r>
              <a:rPr kumimoji="0" lang="en-US" sz="2400" b="1" i="0" u="none" strike="noStrike" kern="0" cap="none" spc="0" normalizeH="0" baseline="0" noProof="0" dirty="0">
                <a:ln>
                  <a:noFill/>
                </a:ln>
                <a:solidFill>
                  <a:srgbClr val="000000"/>
                </a:solidFill>
                <a:effectLst/>
                <a:uLnTx/>
                <a:uFillTx/>
                <a:latin typeface="Tahoma" pitchFamily="34" charset="0"/>
                <a:cs typeface="Times New Roman" pitchFamily="18" charset="0"/>
              </a:rPr>
              <a:t> own.</a:t>
            </a:r>
            <a:endParaRPr kumimoji="0" lang="en-GB" sz="2400" b="1" i="0" u="none" strike="noStrike" kern="0" cap="none" spc="0" normalizeH="0" baseline="0" noProof="0" dirty="0">
              <a:ln>
                <a:noFill/>
              </a:ln>
              <a:solidFill>
                <a:srgbClr val="000000"/>
              </a:solidFill>
              <a:effectLst/>
              <a:uLnTx/>
              <a:uFillTx/>
              <a:latin typeface="Tahoma" pitchFamily="34" charset="0"/>
              <a:cs typeface="Times New Roman" pitchFamily="18" charset="0"/>
            </a:endParaRPr>
          </a:p>
        </p:txBody>
      </p:sp>
    </p:spTree>
    <p:extLst>
      <p:ext uri="{BB962C8B-B14F-4D97-AF65-F5344CB8AC3E}">
        <p14:creationId xmlns:p14="http://schemas.microsoft.com/office/powerpoint/2010/main" val="17087418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blinds(horizontal)">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checkerboard(across)">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P spid="6" grpId="0" animBg="1" autoUpdateAnimBg="0"/>
      <p:bldP spid="7"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179511" y="1052736"/>
            <a:ext cx="10165491"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i="0" u="none" strike="noStrike" kern="0" cap="none" spc="0" normalizeH="0" baseline="0" noProof="0" dirty="0">
                <a:ln>
                  <a:noFill/>
                </a:ln>
                <a:solidFill>
                  <a:srgbClr val="000000"/>
                </a:solidFill>
                <a:effectLst/>
                <a:uLnTx/>
                <a:uFillTx/>
                <a:latin typeface="Tahoma"/>
                <a:ea typeface="+mn-ea"/>
                <a:cs typeface="+mn-cs"/>
              </a:rPr>
              <a:t>Νοητικό μοντέλο Αντικειμενοστρεφούς Προγραμματισμού </a:t>
            </a:r>
            <a:r>
              <a:rPr kumimoji="0" lang="en-US" sz="3200" i="0" u="none" strike="noStrike" kern="0" cap="none" spc="0" normalizeH="0" baseline="0" noProof="0" dirty="0">
                <a:ln>
                  <a:noFill/>
                </a:ln>
                <a:solidFill>
                  <a:srgbClr val="000000"/>
                </a:solidFill>
                <a:effectLst/>
                <a:uLnTx/>
                <a:uFillTx/>
                <a:latin typeface="Tahoma"/>
                <a:ea typeface="+mn-ea"/>
                <a:cs typeface="+mn-cs"/>
              </a:rPr>
              <a:t>(</a:t>
            </a:r>
            <a:r>
              <a:rPr lang="en-US" kern="0" dirty="0">
                <a:solidFill>
                  <a:srgbClr val="000000"/>
                </a:solidFill>
                <a:latin typeface="Tahoma"/>
              </a:rPr>
              <a:t>OOP </a:t>
            </a:r>
            <a:r>
              <a:rPr kumimoji="0" lang="en-US" sz="3200" i="0" u="none" strike="noStrike" kern="0" cap="none" spc="0" normalizeH="0" baseline="0" noProof="0" dirty="0">
                <a:ln>
                  <a:noFill/>
                </a:ln>
                <a:solidFill>
                  <a:srgbClr val="000000"/>
                </a:solidFill>
                <a:effectLst/>
                <a:uLnTx/>
                <a:uFillTx/>
                <a:latin typeface="Tahoma"/>
                <a:ea typeface="+mn-ea"/>
                <a:cs typeface="+mn-cs"/>
              </a:rPr>
              <a:t>Conceptual model</a:t>
            </a:r>
            <a:r>
              <a:rPr kumimoji="0" lang="el-GR" sz="320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lang="el-GR" b="1" kern="0" dirty="0">
                <a:solidFill>
                  <a:srgbClr val="000000"/>
                </a:solidFill>
                <a:latin typeface="Tahoma"/>
              </a:rPr>
              <a:t>Α</a:t>
            </a:r>
            <a:r>
              <a:rPr kumimoji="0" lang="el-GR" sz="3200" b="1" i="0" u="none" strike="noStrike" kern="0" cap="none" spc="0" normalizeH="0" baseline="0" noProof="0" dirty="0" err="1">
                <a:ln>
                  <a:noFill/>
                </a:ln>
                <a:solidFill>
                  <a:srgbClr val="000000"/>
                </a:solidFill>
                <a:effectLst/>
                <a:uLnTx/>
                <a:uFillTx/>
                <a:latin typeface="Tahoma"/>
                <a:ea typeface="+mn-ea"/>
                <a:cs typeface="+mn-cs"/>
              </a:rPr>
              <a:t>ντικε</a:t>
            </a:r>
            <a:r>
              <a:rPr lang="el-GR" b="1" kern="0" dirty="0" err="1">
                <a:solidFill>
                  <a:srgbClr val="000000"/>
                </a:solidFill>
                <a:latin typeface="Tahoma"/>
              </a:rPr>
              <a:t>ίμενο</a:t>
            </a:r>
            <a:r>
              <a:rPr lang="el-GR" b="1" kern="0" dirty="0">
                <a:solidFill>
                  <a:srgbClr val="000000"/>
                </a:solidFill>
                <a:latin typeface="Tahoma"/>
              </a:rPr>
              <a:t> το βασικό δομικό στοιχείο</a:t>
            </a:r>
            <a:endParaRPr kumimoji="0" lang="en-US" sz="3200" b="1"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Object-class-instance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Objects collaborate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1" i="0" u="none" strike="noStrike" kern="0" cap="none" spc="0" normalizeH="0" baseline="0" noProof="0" dirty="0">
                <a:ln>
                  <a:noFill/>
                </a:ln>
                <a:solidFill>
                  <a:srgbClr val="000000"/>
                </a:solidFill>
                <a:effectLst/>
                <a:uLnTx/>
                <a:uFillTx/>
                <a:latin typeface="Tahoma"/>
              </a:rPr>
              <a:t>Associations</a:t>
            </a:r>
            <a:endParaRPr kumimoji="0" lang="el-GR" sz="2800" b="1"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0" i="0" u="none" strike="noStrike" kern="0" cap="none" spc="0" normalizeH="0" baseline="0" noProof="0" dirty="0">
                <a:ln>
                  <a:noFill/>
                </a:ln>
                <a:solidFill>
                  <a:srgbClr val="000000"/>
                </a:solidFill>
                <a:effectLst/>
                <a:uLnTx/>
                <a:uFillTx/>
                <a:latin typeface="Tahoma"/>
                <a:ea typeface="+mn-ea"/>
                <a:cs typeface="+mn-cs"/>
              </a:rPr>
              <a:t>Το παράδειγμα της Στοίβας</a:t>
            </a:r>
            <a:endParaRPr kumimoji="0" lang="en-US"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kern="0" dirty="0">
                <a:solidFill>
                  <a:srgbClr val="000000"/>
                </a:solidFill>
                <a:latin typeface="Tahoma"/>
              </a:rPr>
              <a:t>H </a:t>
            </a:r>
            <a:r>
              <a:rPr lang="el-GR" kern="0" dirty="0">
                <a:solidFill>
                  <a:srgbClr val="000000"/>
                </a:solidFill>
                <a:latin typeface="Tahoma"/>
              </a:rPr>
              <a:t>κλάση </a:t>
            </a:r>
            <a:r>
              <a:rPr lang="en-US" kern="0" dirty="0">
                <a:solidFill>
                  <a:srgbClr val="000000"/>
                </a:solidFill>
                <a:latin typeface="Tahoma"/>
              </a:rPr>
              <a:t>Stack</a:t>
            </a:r>
          </a:p>
          <a:p>
            <a:pPr lvl="1" indent="-342900" eaLnBrk="1" hangingPunct="1">
              <a:buClr>
                <a:srgbClr val="3333CC"/>
              </a:buClr>
              <a:buSzPct val="60000"/>
              <a:defRPr/>
            </a:pPr>
            <a:r>
              <a:rPr lang="el-GR" kern="0" dirty="0">
                <a:solidFill>
                  <a:srgbClr val="000000"/>
                </a:solidFill>
                <a:latin typeface="Tahoma"/>
              </a:rPr>
              <a:t>Στιγμιότυπα της </a:t>
            </a:r>
            <a:r>
              <a:rPr lang="en-US" kern="0" dirty="0">
                <a:solidFill>
                  <a:srgbClr val="000000"/>
                </a:solidFill>
                <a:latin typeface="Tahoma"/>
              </a:rPr>
              <a:t>Stack</a:t>
            </a:r>
          </a:p>
          <a:p>
            <a:pPr lvl="1" indent="-342900" eaLnBrk="1" hangingPunct="1">
              <a:buClr>
                <a:srgbClr val="3333CC"/>
              </a:buClr>
              <a:buSzPct val="60000"/>
              <a:defRPr/>
            </a:pPr>
            <a:r>
              <a:rPr kumimoji="0" lang="el-GR" b="0" i="0" u="none" strike="noStrike" kern="0" cap="none" spc="0" normalizeH="0" baseline="0" noProof="0" dirty="0">
                <a:ln>
                  <a:noFill/>
                </a:ln>
                <a:solidFill>
                  <a:srgbClr val="000000"/>
                </a:solidFill>
                <a:effectLst/>
                <a:uLnTx/>
                <a:uFillTx/>
                <a:latin typeface="Tahoma"/>
                <a:ea typeface="+mn-ea"/>
                <a:cs typeface="+mn-cs"/>
              </a:rPr>
              <a:t>Αξιοποίηση της </a:t>
            </a:r>
            <a:r>
              <a:rPr kumimoji="0" lang="en-US" b="0" i="0" u="none" strike="noStrike" kern="0" cap="none" spc="0" normalizeH="0" baseline="0" noProof="0" dirty="0">
                <a:ln>
                  <a:noFill/>
                </a:ln>
                <a:solidFill>
                  <a:srgbClr val="000000"/>
                </a:solidFill>
                <a:effectLst/>
                <a:uLnTx/>
                <a:uFillTx/>
                <a:latin typeface="Tahoma"/>
                <a:ea typeface="+mn-ea"/>
                <a:cs typeface="+mn-cs"/>
              </a:rPr>
              <a:t>Stack </a:t>
            </a:r>
            <a:r>
              <a:rPr kumimoji="0" lang="el-GR" b="0" i="0" u="none" strike="noStrike" kern="0" cap="none" spc="0" normalizeH="0" baseline="0" noProof="0" dirty="0">
                <a:ln>
                  <a:noFill/>
                </a:ln>
                <a:solidFill>
                  <a:srgbClr val="000000"/>
                </a:solidFill>
                <a:effectLst/>
                <a:uLnTx/>
                <a:uFillTx/>
                <a:latin typeface="Tahoma"/>
                <a:ea typeface="+mn-ea"/>
                <a:cs typeface="+mn-cs"/>
              </a:rPr>
              <a:t>μέσα από το </a:t>
            </a:r>
            <a:r>
              <a:rPr kumimoji="0" lang="en-US" b="0" i="0" u="none" strike="noStrike" kern="0" cap="none" spc="0" normalizeH="0" baseline="0" noProof="0" dirty="0" err="1">
                <a:ln>
                  <a:noFill/>
                </a:ln>
                <a:solidFill>
                  <a:srgbClr val="000000"/>
                </a:solidFill>
                <a:effectLst/>
                <a:uLnTx/>
                <a:uFillTx/>
                <a:latin typeface="Tahoma"/>
                <a:ea typeface="+mn-ea"/>
                <a:cs typeface="+mn-cs"/>
              </a:rPr>
              <a:t>BlueJ</a:t>
            </a:r>
            <a:endParaRPr kumimoji="0" lang="el-GR"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130046128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Σχέσεις μεταξύ αντικειμένων</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Text Box 4">
            <a:extLst>
              <a:ext uri="{FF2B5EF4-FFF2-40B4-BE49-F238E27FC236}">
                <a16:creationId xmlns:a16="http://schemas.microsoft.com/office/drawing/2014/main" id="{300A3EC8-F7F2-3C05-D476-77BBB0DDC03D}"/>
              </a:ext>
            </a:extLst>
          </p:cNvPr>
          <p:cNvSpPr txBox="1">
            <a:spLocks noChangeArrowheads="1"/>
          </p:cNvSpPr>
          <p:nvPr/>
        </p:nvSpPr>
        <p:spPr bwMode="auto">
          <a:xfrm>
            <a:off x="1320800" y="1255988"/>
            <a:ext cx="1069975"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l-GR" sz="2800">
                <a:solidFill>
                  <a:srgbClr val="000000"/>
                </a:solidFill>
                <a:latin typeface="Times New Roman Greek" charset="-95"/>
              </a:rPr>
              <a:t>Ελένη</a:t>
            </a:r>
          </a:p>
        </p:txBody>
      </p:sp>
      <p:sp>
        <p:nvSpPr>
          <p:cNvPr id="6" name="Text Box 5">
            <a:extLst>
              <a:ext uri="{FF2B5EF4-FFF2-40B4-BE49-F238E27FC236}">
                <a16:creationId xmlns:a16="http://schemas.microsoft.com/office/drawing/2014/main" id="{B315CF68-E131-AB6C-14E6-9D28801A6958}"/>
              </a:ext>
            </a:extLst>
          </p:cNvPr>
          <p:cNvSpPr txBox="1">
            <a:spLocks noChangeArrowheads="1"/>
          </p:cNvSpPr>
          <p:nvPr/>
        </p:nvSpPr>
        <p:spPr bwMode="auto">
          <a:xfrm>
            <a:off x="1031875" y="2484713"/>
            <a:ext cx="1830388"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l-GR" sz="2800" dirty="0">
                <a:solidFill>
                  <a:srgbClr val="000000"/>
                </a:solidFill>
                <a:latin typeface="Times New Roman Greek" charset="-95"/>
              </a:rPr>
              <a:t>Υπάλληλος</a:t>
            </a:r>
          </a:p>
        </p:txBody>
      </p:sp>
      <p:sp>
        <p:nvSpPr>
          <p:cNvPr id="7" name="Text Box 6">
            <a:extLst>
              <a:ext uri="{FF2B5EF4-FFF2-40B4-BE49-F238E27FC236}">
                <a16:creationId xmlns:a16="http://schemas.microsoft.com/office/drawing/2014/main" id="{7C9D643C-2A72-E5ED-596D-8BB3690F8285}"/>
              </a:ext>
            </a:extLst>
          </p:cNvPr>
          <p:cNvSpPr txBox="1">
            <a:spLocks noChangeArrowheads="1"/>
          </p:cNvSpPr>
          <p:nvPr/>
        </p:nvSpPr>
        <p:spPr bwMode="auto">
          <a:xfrm>
            <a:off x="7662863" y="1838336"/>
            <a:ext cx="3629025"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n-US" sz="2800" dirty="0">
                <a:solidFill>
                  <a:srgbClr val="000000"/>
                </a:solidFill>
                <a:latin typeface="Times New Roman Greek" charset="-95"/>
              </a:rPr>
              <a:t>Fast Food Restaurant</a:t>
            </a:r>
            <a:endParaRPr lang="el-GR" sz="2800" dirty="0">
              <a:solidFill>
                <a:srgbClr val="000000"/>
              </a:solidFill>
              <a:latin typeface="Times New Roman Greek" charset="-95"/>
            </a:endParaRPr>
          </a:p>
        </p:txBody>
      </p:sp>
      <p:sp>
        <p:nvSpPr>
          <p:cNvPr id="9" name="Text Box 7">
            <a:extLst>
              <a:ext uri="{FF2B5EF4-FFF2-40B4-BE49-F238E27FC236}">
                <a16:creationId xmlns:a16="http://schemas.microsoft.com/office/drawing/2014/main" id="{653206A0-5EDD-AB61-1B2B-A4F0298017B0}"/>
              </a:ext>
            </a:extLst>
          </p:cNvPr>
          <p:cNvSpPr txBox="1">
            <a:spLocks noChangeArrowheads="1"/>
          </p:cNvSpPr>
          <p:nvPr/>
        </p:nvSpPr>
        <p:spPr bwMode="auto">
          <a:xfrm>
            <a:off x="8310563" y="2701936"/>
            <a:ext cx="1490662"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n-US" sz="2800">
                <a:solidFill>
                  <a:srgbClr val="000000"/>
                </a:solidFill>
                <a:latin typeface="Times New Roman Greek" charset="-95"/>
              </a:rPr>
              <a:t>Goody’s</a:t>
            </a:r>
            <a:endParaRPr lang="el-GR" sz="2800">
              <a:solidFill>
                <a:srgbClr val="000000"/>
              </a:solidFill>
              <a:latin typeface="Times New Roman Greek" charset="-95"/>
            </a:endParaRPr>
          </a:p>
        </p:txBody>
      </p:sp>
      <p:sp>
        <p:nvSpPr>
          <p:cNvPr id="12" name="Text Box 8">
            <a:extLst>
              <a:ext uri="{FF2B5EF4-FFF2-40B4-BE49-F238E27FC236}">
                <a16:creationId xmlns:a16="http://schemas.microsoft.com/office/drawing/2014/main" id="{F1D0E4D9-8CA2-914C-E2BF-D056E7F90A71}"/>
              </a:ext>
            </a:extLst>
          </p:cNvPr>
          <p:cNvSpPr txBox="1">
            <a:spLocks noChangeArrowheads="1"/>
          </p:cNvSpPr>
          <p:nvPr/>
        </p:nvSpPr>
        <p:spPr bwMode="auto">
          <a:xfrm>
            <a:off x="5181600" y="3743336"/>
            <a:ext cx="3265488"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n-US" sz="2800">
                <a:solidFill>
                  <a:srgbClr val="000000"/>
                </a:solidFill>
                <a:latin typeface="Times New Roman Greek" charset="-95"/>
              </a:rPr>
              <a:t>Olga Square Goody’s</a:t>
            </a:r>
            <a:endParaRPr lang="el-GR" sz="2800">
              <a:solidFill>
                <a:srgbClr val="000000"/>
              </a:solidFill>
              <a:latin typeface="Times New Roman Greek" charset="-95"/>
            </a:endParaRPr>
          </a:p>
        </p:txBody>
      </p:sp>
      <p:sp>
        <p:nvSpPr>
          <p:cNvPr id="13" name="Text Box 9">
            <a:extLst>
              <a:ext uri="{FF2B5EF4-FFF2-40B4-BE49-F238E27FC236}">
                <a16:creationId xmlns:a16="http://schemas.microsoft.com/office/drawing/2014/main" id="{6984E8F9-120E-11BC-D66A-804E7207E152}"/>
              </a:ext>
            </a:extLst>
          </p:cNvPr>
          <p:cNvSpPr txBox="1">
            <a:spLocks noChangeArrowheads="1"/>
          </p:cNvSpPr>
          <p:nvPr/>
        </p:nvSpPr>
        <p:spPr bwMode="auto">
          <a:xfrm>
            <a:off x="6705600" y="4657736"/>
            <a:ext cx="3244850"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n-US" sz="2800">
                <a:solidFill>
                  <a:srgbClr val="000000"/>
                </a:solidFill>
                <a:latin typeface="Times New Roman Greek" charset="-95"/>
              </a:rPr>
              <a:t>Psila Alonia Goody’s</a:t>
            </a:r>
            <a:endParaRPr lang="el-GR" sz="2800">
              <a:solidFill>
                <a:srgbClr val="000000"/>
              </a:solidFill>
              <a:latin typeface="Times New Roman Greek" charset="-95"/>
            </a:endParaRPr>
          </a:p>
        </p:txBody>
      </p:sp>
      <p:sp>
        <p:nvSpPr>
          <p:cNvPr id="14" name="Text Box 10">
            <a:extLst>
              <a:ext uri="{FF2B5EF4-FFF2-40B4-BE49-F238E27FC236}">
                <a16:creationId xmlns:a16="http://schemas.microsoft.com/office/drawing/2014/main" id="{5E3323C7-2687-4D48-605C-FF6ED8F12983}"/>
              </a:ext>
            </a:extLst>
          </p:cNvPr>
          <p:cNvSpPr txBox="1">
            <a:spLocks noChangeArrowheads="1"/>
          </p:cNvSpPr>
          <p:nvPr/>
        </p:nvSpPr>
        <p:spPr bwMode="auto">
          <a:xfrm>
            <a:off x="3317875" y="1646513"/>
            <a:ext cx="1035050"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l-GR" sz="2800">
                <a:solidFill>
                  <a:srgbClr val="000000"/>
                </a:solidFill>
                <a:latin typeface="Times New Roman Greek" charset="-95"/>
              </a:rPr>
              <a:t>Νίκος</a:t>
            </a:r>
          </a:p>
        </p:txBody>
      </p:sp>
      <p:sp>
        <p:nvSpPr>
          <p:cNvPr id="15" name="Text Box 11">
            <a:extLst>
              <a:ext uri="{FF2B5EF4-FFF2-40B4-BE49-F238E27FC236}">
                <a16:creationId xmlns:a16="http://schemas.microsoft.com/office/drawing/2014/main" id="{7A90D1D1-D8A7-7EB6-670B-34F48539935B}"/>
              </a:ext>
            </a:extLst>
          </p:cNvPr>
          <p:cNvSpPr txBox="1">
            <a:spLocks noChangeArrowheads="1"/>
          </p:cNvSpPr>
          <p:nvPr/>
        </p:nvSpPr>
        <p:spPr bwMode="auto">
          <a:xfrm>
            <a:off x="955675" y="4465913"/>
            <a:ext cx="1681163" cy="519113"/>
          </a:xfrm>
          <a:prstGeom prst="rect">
            <a:avLst/>
          </a:prstGeom>
          <a:noFill/>
          <a:ln w="12700">
            <a:noFill/>
            <a:miter lim="800000"/>
            <a:headEnd type="none" w="sm" len="sm"/>
            <a:tailEnd type="none" w="sm" len="sm"/>
          </a:ln>
        </p:spPr>
        <p:txBody>
          <a:bodyPr wrap="none">
            <a:spAutoFit/>
          </a:bodyPr>
          <a:lstStyle/>
          <a:p>
            <a:pPr eaLnBrk="0" fontAlgn="base" hangingPunct="0">
              <a:spcBef>
                <a:spcPct val="0"/>
              </a:spcBef>
              <a:spcAft>
                <a:spcPct val="0"/>
              </a:spcAft>
            </a:pPr>
            <a:r>
              <a:rPr lang="el-GR" sz="2800">
                <a:solidFill>
                  <a:srgbClr val="000000"/>
                </a:solidFill>
                <a:latin typeface="Times New Roman Greek" charset="-95"/>
              </a:rPr>
              <a:t>Άνθρωπος</a:t>
            </a:r>
          </a:p>
        </p:txBody>
      </p:sp>
      <p:grpSp>
        <p:nvGrpSpPr>
          <p:cNvPr id="16" name="Group 15">
            <a:extLst>
              <a:ext uri="{FF2B5EF4-FFF2-40B4-BE49-F238E27FC236}">
                <a16:creationId xmlns:a16="http://schemas.microsoft.com/office/drawing/2014/main" id="{6C1FEE3C-BEA8-4798-86C0-1A2F027F67DD}"/>
              </a:ext>
            </a:extLst>
          </p:cNvPr>
          <p:cNvGrpSpPr>
            <a:grpSpLocks/>
          </p:cNvGrpSpPr>
          <p:nvPr/>
        </p:nvGrpSpPr>
        <p:grpSpPr bwMode="auto">
          <a:xfrm>
            <a:off x="7518400" y="3205174"/>
            <a:ext cx="2381250" cy="1524000"/>
            <a:chOff x="2640" y="2208"/>
            <a:chExt cx="1500" cy="960"/>
          </a:xfrm>
        </p:grpSpPr>
        <p:sp>
          <p:nvSpPr>
            <p:cNvPr id="17" name="Line 16">
              <a:extLst>
                <a:ext uri="{FF2B5EF4-FFF2-40B4-BE49-F238E27FC236}">
                  <a16:creationId xmlns:a16="http://schemas.microsoft.com/office/drawing/2014/main" id="{F12C043C-23E6-E80E-9A86-3D2B1BD33081}"/>
                </a:ext>
              </a:extLst>
            </p:cNvPr>
            <p:cNvSpPr>
              <a:spLocks noChangeShapeType="1"/>
            </p:cNvSpPr>
            <p:nvPr/>
          </p:nvSpPr>
          <p:spPr bwMode="auto">
            <a:xfrm flipV="1">
              <a:off x="2640" y="2208"/>
              <a:ext cx="864" cy="528"/>
            </a:xfrm>
            <a:prstGeom prst="line">
              <a:avLst/>
            </a:prstGeom>
            <a:noFill/>
            <a:ln w="28575">
              <a:solidFill>
                <a:srgbClr val="FF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8" name="Text Box 17">
              <a:extLst>
                <a:ext uri="{FF2B5EF4-FFF2-40B4-BE49-F238E27FC236}">
                  <a16:creationId xmlns:a16="http://schemas.microsoft.com/office/drawing/2014/main" id="{C7D9DE4A-C3E5-16CD-29B0-98B9E55C2C10}"/>
                </a:ext>
              </a:extLst>
            </p:cNvPr>
            <p:cNvSpPr txBox="1">
              <a:spLocks noChangeArrowheads="1"/>
            </p:cNvSpPr>
            <p:nvPr/>
          </p:nvSpPr>
          <p:spPr bwMode="auto">
            <a:xfrm>
              <a:off x="3072" y="2352"/>
              <a:ext cx="1068" cy="288"/>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0000"/>
                  </a:solidFill>
                  <a:effectLst/>
                  <a:uLnTx/>
                  <a:uFillTx/>
                  <a:latin typeface="Tahoma" pitchFamily="34" charset="0"/>
                </a:rPr>
                <a:t>Instance of</a:t>
              </a:r>
              <a:endParaRPr kumimoji="0" lang="en-GB" sz="2400" b="0" i="0" u="none" strike="noStrike" kern="0" cap="none" spc="0" normalizeH="0" baseline="0" noProof="0">
                <a:ln>
                  <a:noFill/>
                </a:ln>
                <a:solidFill>
                  <a:srgbClr val="FF0000"/>
                </a:solidFill>
                <a:effectLst/>
                <a:uLnTx/>
                <a:uFillTx/>
                <a:latin typeface="Tahoma" pitchFamily="34" charset="0"/>
              </a:endParaRPr>
            </a:p>
          </p:txBody>
        </p:sp>
        <p:sp>
          <p:nvSpPr>
            <p:cNvPr id="19" name="Line 18">
              <a:extLst>
                <a:ext uri="{FF2B5EF4-FFF2-40B4-BE49-F238E27FC236}">
                  <a16:creationId xmlns:a16="http://schemas.microsoft.com/office/drawing/2014/main" id="{999CC81C-ABCE-7D03-9762-5BF140AD7DA0}"/>
                </a:ext>
              </a:extLst>
            </p:cNvPr>
            <p:cNvSpPr>
              <a:spLocks noChangeShapeType="1"/>
            </p:cNvSpPr>
            <p:nvPr/>
          </p:nvSpPr>
          <p:spPr bwMode="auto">
            <a:xfrm flipH="1" flipV="1">
              <a:off x="3600" y="2208"/>
              <a:ext cx="240" cy="960"/>
            </a:xfrm>
            <a:prstGeom prst="line">
              <a:avLst/>
            </a:prstGeom>
            <a:noFill/>
            <a:ln w="28575">
              <a:solidFill>
                <a:srgbClr val="FF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grpSp>
        <p:nvGrpSpPr>
          <p:cNvPr id="20" name="Group 24">
            <a:extLst>
              <a:ext uri="{FF2B5EF4-FFF2-40B4-BE49-F238E27FC236}">
                <a16:creationId xmlns:a16="http://schemas.microsoft.com/office/drawing/2014/main" id="{D842AAAF-6A0C-169C-108C-F781EC93BE8D}"/>
              </a:ext>
            </a:extLst>
          </p:cNvPr>
          <p:cNvGrpSpPr>
            <a:grpSpLocks/>
          </p:cNvGrpSpPr>
          <p:nvPr/>
        </p:nvGrpSpPr>
        <p:grpSpPr bwMode="auto">
          <a:xfrm>
            <a:off x="8742363" y="2341574"/>
            <a:ext cx="2382837" cy="590550"/>
            <a:chOff x="3923" y="1661"/>
            <a:chExt cx="1501" cy="372"/>
          </a:xfrm>
        </p:grpSpPr>
        <p:sp>
          <p:nvSpPr>
            <p:cNvPr id="21" name="Line 20">
              <a:extLst>
                <a:ext uri="{FF2B5EF4-FFF2-40B4-BE49-F238E27FC236}">
                  <a16:creationId xmlns:a16="http://schemas.microsoft.com/office/drawing/2014/main" id="{2731B6FF-83BF-BD3B-58F0-94B3DDCD9F88}"/>
                </a:ext>
              </a:extLst>
            </p:cNvPr>
            <p:cNvSpPr>
              <a:spLocks noChangeShapeType="1"/>
            </p:cNvSpPr>
            <p:nvPr/>
          </p:nvSpPr>
          <p:spPr bwMode="auto">
            <a:xfrm flipH="1">
              <a:off x="3923" y="1661"/>
              <a:ext cx="409" cy="301"/>
            </a:xfrm>
            <a:prstGeom prst="line">
              <a:avLst/>
            </a:prstGeom>
            <a:noFill/>
            <a:ln w="38100">
              <a:solidFill>
                <a:srgbClr val="1BDD07"/>
              </a:solidFill>
              <a:miter lim="800000"/>
              <a:headEnd type="triangle" w="med" len="med"/>
              <a:tailEnd/>
            </a:ln>
          </p:spPr>
          <p:txBody>
            <a:bodyPr wrap="none"/>
            <a:lstStyle/>
            <a:p>
              <a:pPr fontAlgn="base">
                <a:spcBef>
                  <a:spcPct val="0"/>
                </a:spcBef>
                <a:spcAft>
                  <a:spcPct val="0"/>
                </a:spcAft>
              </a:pPr>
              <a:endParaRPr lang="el-GR" sz="2400">
                <a:solidFill>
                  <a:srgbClr val="000000"/>
                </a:solidFill>
                <a:latin typeface="Tahoma" pitchFamily="34" charset="0"/>
              </a:endParaRPr>
            </a:p>
          </p:txBody>
        </p:sp>
        <p:sp>
          <p:nvSpPr>
            <p:cNvPr id="22" name="Text Box 21">
              <a:extLst>
                <a:ext uri="{FF2B5EF4-FFF2-40B4-BE49-F238E27FC236}">
                  <a16:creationId xmlns:a16="http://schemas.microsoft.com/office/drawing/2014/main" id="{0AF0FC4F-ECE4-FACF-69FC-733639EF24A1}"/>
                </a:ext>
              </a:extLst>
            </p:cNvPr>
            <p:cNvSpPr txBox="1">
              <a:spLocks noChangeArrowheads="1"/>
            </p:cNvSpPr>
            <p:nvPr/>
          </p:nvSpPr>
          <p:spPr bwMode="auto">
            <a:xfrm>
              <a:off x="4381" y="1745"/>
              <a:ext cx="1043" cy="288"/>
            </a:xfrm>
            <a:prstGeom prst="rect">
              <a:avLst/>
            </a:prstGeom>
            <a:noFill/>
            <a:ln w="9525">
              <a:noFill/>
              <a:miter lim="800000"/>
              <a:headEnd/>
              <a:tailEnd/>
            </a:ln>
          </p:spPr>
          <p:txBody>
            <a:bodyPr wrap="none">
              <a:spAutoFit/>
            </a:bodyPr>
            <a:lstStyle/>
            <a:p>
              <a:pPr fontAlgn="base">
                <a:spcBef>
                  <a:spcPct val="0"/>
                </a:spcBef>
                <a:spcAft>
                  <a:spcPct val="0"/>
                </a:spcAft>
              </a:pPr>
              <a:r>
                <a:rPr lang="en-US" sz="2400" b="1">
                  <a:solidFill>
                    <a:srgbClr val="1BDD07"/>
                  </a:solidFill>
                  <a:latin typeface="Tahoma" pitchFamily="34" charset="0"/>
                </a:rPr>
                <a:t>Gen/spec</a:t>
              </a:r>
              <a:endParaRPr lang="en-GB" sz="2400" b="1">
                <a:solidFill>
                  <a:srgbClr val="1BDD07"/>
                </a:solidFill>
                <a:latin typeface="Tahoma" pitchFamily="34" charset="0"/>
              </a:endParaRPr>
            </a:p>
          </p:txBody>
        </p:sp>
      </p:grpSp>
      <p:sp>
        <p:nvSpPr>
          <p:cNvPr id="23" name="Line 22">
            <a:extLst>
              <a:ext uri="{FF2B5EF4-FFF2-40B4-BE49-F238E27FC236}">
                <a16:creationId xmlns:a16="http://schemas.microsoft.com/office/drawing/2014/main" id="{0B348056-1987-5F45-3C6E-AEB0B7680EA6}"/>
              </a:ext>
            </a:extLst>
          </p:cNvPr>
          <p:cNvSpPr>
            <a:spLocks noChangeShapeType="1"/>
          </p:cNvSpPr>
          <p:nvPr/>
        </p:nvSpPr>
        <p:spPr bwMode="auto">
          <a:xfrm flipV="1">
            <a:off x="1641475" y="3018113"/>
            <a:ext cx="381000" cy="1524000"/>
          </a:xfrm>
          <a:prstGeom prst="line">
            <a:avLst/>
          </a:prstGeom>
          <a:noFill/>
          <a:ln w="38100">
            <a:solidFill>
              <a:srgbClr val="1BDD07"/>
            </a:solidFill>
            <a:miter lim="800000"/>
            <a:headEnd type="triangle" w="med" len="med"/>
            <a:tailEnd/>
          </a:ln>
        </p:spPr>
        <p:txBody>
          <a:bodyPr wrap="none"/>
          <a:lstStyle/>
          <a:p>
            <a:pPr fontAlgn="base">
              <a:spcBef>
                <a:spcPct val="0"/>
              </a:spcBef>
              <a:spcAft>
                <a:spcPct val="0"/>
              </a:spcAft>
            </a:pPr>
            <a:endParaRPr lang="el-GR" sz="2400">
              <a:solidFill>
                <a:srgbClr val="000000"/>
              </a:solidFill>
              <a:latin typeface="Tahoma" pitchFamily="34" charset="0"/>
            </a:endParaRPr>
          </a:p>
        </p:txBody>
      </p:sp>
      <p:grpSp>
        <p:nvGrpSpPr>
          <p:cNvPr id="24" name="Group 25">
            <a:extLst>
              <a:ext uri="{FF2B5EF4-FFF2-40B4-BE49-F238E27FC236}">
                <a16:creationId xmlns:a16="http://schemas.microsoft.com/office/drawing/2014/main" id="{C675C938-9224-9F55-F407-F7AE7AD3F4FC}"/>
              </a:ext>
            </a:extLst>
          </p:cNvPr>
          <p:cNvGrpSpPr>
            <a:grpSpLocks/>
          </p:cNvGrpSpPr>
          <p:nvPr/>
        </p:nvGrpSpPr>
        <p:grpSpPr bwMode="auto">
          <a:xfrm>
            <a:off x="879475" y="1722713"/>
            <a:ext cx="2751138" cy="914400"/>
            <a:chOff x="240" y="1584"/>
            <a:chExt cx="1733" cy="576"/>
          </a:xfrm>
        </p:grpSpPr>
        <p:grpSp>
          <p:nvGrpSpPr>
            <p:cNvPr id="25" name="Group 12">
              <a:extLst>
                <a:ext uri="{FF2B5EF4-FFF2-40B4-BE49-F238E27FC236}">
                  <a16:creationId xmlns:a16="http://schemas.microsoft.com/office/drawing/2014/main" id="{2CF7A626-F00E-A980-20C8-DAC34A104ADB}"/>
                </a:ext>
              </a:extLst>
            </p:cNvPr>
            <p:cNvGrpSpPr>
              <a:grpSpLocks/>
            </p:cNvGrpSpPr>
            <p:nvPr/>
          </p:nvGrpSpPr>
          <p:grpSpPr bwMode="auto">
            <a:xfrm>
              <a:off x="240" y="1584"/>
              <a:ext cx="1068" cy="576"/>
              <a:chOff x="240" y="1584"/>
              <a:chExt cx="1068" cy="576"/>
            </a:xfrm>
          </p:grpSpPr>
          <p:sp>
            <p:nvSpPr>
              <p:cNvPr id="27" name="Line 13">
                <a:extLst>
                  <a:ext uri="{FF2B5EF4-FFF2-40B4-BE49-F238E27FC236}">
                    <a16:creationId xmlns:a16="http://schemas.microsoft.com/office/drawing/2014/main" id="{4CD1343D-4DAB-3444-300C-BD65E1682778}"/>
                  </a:ext>
                </a:extLst>
              </p:cNvPr>
              <p:cNvSpPr>
                <a:spLocks noChangeShapeType="1"/>
              </p:cNvSpPr>
              <p:nvPr/>
            </p:nvSpPr>
            <p:spPr bwMode="auto">
              <a:xfrm>
                <a:off x="816" y="1584"/>
                <a:ext cx="192" cy="576"/>
              </a:xfrm>
              <a:prstGeom prst="line">
                <a:avLst/>
              </a:prstGeom>
              <a:noFill/>
              <a:ln w="28575">
                <a:solidFill>
                  <a:srgbClr val="FF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8" name="Text Box 14">
                <a:extLst>
                  <a:ext uri="{FF2B5EF4-FFF2-40B4-BE49-F238E27FC236}">
                    <a16:creationId xmlns:a16="http://schemas.microsoft.com/office/drawing/2014/main" id="{1C803FB7-B673-D66E-ADF8-A19163080A34}"/>
                  </a:ext>
                </a:extLst>
              </p:cNvPr>
              <p:cNvSpPr txBox="1">
                <a:spLocks noChangeArrowheads="1"/>
              </p:cNvSpPr>
              <p:nvPr/>
            </p:nvSpPr>
            <p:spPr bwMode="auto">
              <a:xfrm>
                <a:off x="240" y="1680"/>
                <a:ext cx="1068" cy="288"/>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0000"/>
                    </a:solidFill>
                    <a:effectLst/>
                    <a:uLnTx/>
                    <a:uFillTx/>
                    <a:latin typeface="Tahoma" pitchFamily="34" charset="0"/>
                  </a:rPr>
                  <a:t>Instance of</a:t>
                </a:r>
                <a:endParaRPr kumimoji="0" lang="en-GB" sz="2400" b="0" i="0" u="none" strike="noStrike" kern="0" cap="none" spc="0" normalizeH="0" baseline="0" noProof="0">
                  <a:ln>
                    <a:noFill/>
                  </a:ln>
                  <a:solidFill>
                    <a:srgbClr val="FF0000"/>
                  </a:solidFill>
                  <a:effectLst/>
                  <a:uLnTx/>
                  <a:uFillTx/>
                  <a:latin typeface="Tahoma" pitchFamily="34" charset="0"/>
                </a:endParaRPr>
              </a:p>
            </p:txBody>
          </p:sp>
        </p:grpSp>
        <p:sp>
          <p:nvSpPr>
            <p:cNvPr id="26" name="Line 23">
              <a:extLst>
                <a:ext uri="{FF2B5EF4-FFF2-40B4-BE49-F238E27FC236}">
                  <a16:creationId xmlns:a16="http://schemas.microsoft.com/office/drawing/2014/main" id="{5ECBB650-B5CC-A8F2-D331-D0CBB1C5D1C6}"/>
                </a:ext>
              </a:extLst>
            </p:cNvPr>
            <p:cNvSpPr>
              <a:spLocks noChangeShapeType="1"/>
            </p:cNvSpPr>
            <p:nvPr/>
          </p:nvSpPr>
          <p:spPr bwMode="auto">
            <a:xfrm flipH="1">
              <a:off x="1338" y="1842"/>
              <a:ext cx="635" cy="318"/>
            </a:xfrm>
            <a:prstGeom prst="line">
              <a:avLst/>
            </a:prstGeom>
            <a:noFill/>
            <a:ln w="28575">
              <a:solidFill>
                <a:srgbClr val="FF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spTree>
    <p:extLst>
      <p:ext uri="{BB962C8B-B14F-4D97-AF65-F5344CB8AC3E}">
        <p14:creationId xmlns:p14="http://schemas.microsoft.com/office/powerpoint/2010/main" val="41960879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heckerboard(across)">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checkerboard(across)">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Classification (</a:t>
            </a:r>
            <a:r>
              <a:rPr lang="el-GR" sz="4000" b="1" dirty="0">
                <a:solidFill>
                  <a:srgbClr val="F9853D"/>
                </a:solidFill>
                <a:latin typeface="Bahnschrift" panose="020B0502040204020203" pitchFamily="34" charset="0"/>
              </a:rPr>
              <a:t>Ταξινόμηση</a:t>
            </a:r>
            <a:r>
              <a:rPr lang="en-US"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pic>
        <p:nvPicPr>
          <p:cNvPr id="4" name="Picture 3">
            <a:extLst>
              <a:ext uri="{FF2B5EF4-FFF2-40B4-BE49-F238E27FC236}">
                <a16:creationId xmlns:a16="http://schemas.microsoft.com/office/drawing/2014/main" id="{F940101F-2BE4-46B9-3BF3-9D061A9F46BA}"/>
              </a:ext>
            </a:extLst>
          </p:cNvPr>
          <p:cNvPicPr>
            <a:picLocks noChangeAspect="1"/>
          </p:cNvPicPr>
          <p:nvPr/>
        </p:nvPicPr>
        <p:blipFill>
          <a:blip r:embed="rId3"/>
          <a:stretch>
            <a:fillRect/>
          </a:stretch>
        </p:blipFill>
        <p:spPr>
          <a:xfrm>
            <a:off x="3778484" y="719331"/>
            <a:ext cx="8341651" cy="5646300"/>
          </a:xfrm>
          <a:prstGeom prst="rect">
            <a:avLst/>
          </a:prstGeom>
        </p:spPr>
      </p:pic>
      <p:sp>
        <p:nvSpPr>
          <p:cNvPr id="14" name="TextBox 13">
            <a:extLst>
              <a:ext uri="{FF2B5EF4-FFF2-40B4-BE49-F238E27FC236}">
                <a16:creationId xmlns:a16="http://schemas.microsoft.com/office/drawing/2014/main" id="{1C6C6E1E-1FCF-30BB-5AC4-60735E88A1FA}"/>
              </a:ext>
            </a:extLst>
          </p:cNvPr>
          <p:cNvSpPr txBox="1"/>
          <p:nvPr/>
        </p:nvSpPr>
        <p:spPr>
          <a:xfrm>
            <a:off x="259434" y="2382090"/>
            <a:ext cx="3706619" cy="2554545"/>
          </a:xfrm>
          <a:prstGeom prst="rect">
            <a:avLst/>
          </a:prstGeom>
          <a:noFill/>
        </p:spPr>
        <p:txBody>
          <a:bodyPr wrap="square" rtlCol="0">
            <a:spAutoFit/>
          </a:bodyPr>
          <a:lstStyle/>
          <a:p>
            <a:pPr fontAlgn="base">
              <a:spcBef>
                <a:spcPct val="0"/>
              </a:spcBef>
              <a:spcAft>
                <a:spcPct val="0"/>
              </a:spcAft>
            </a:pPr>
            <a:r>
              <a:rPr lang="en-US" sz="4000" dirty="0">
                <a:solidFill>
                  <a:srgbClr val="000000"/>
                </a:solidFill>
                <a:latin typeface="Tahoma" pitchFamily="34" charset="0"/>
              </a:rPr>
              <a:t>the action or process of classifying</a:t>
            </a:r>
            <a:r>
              <a:rPr lang="el-GR" sz="4000" dirty="0">
                <a:solidFill>
                  <a:srgbClr val="000000"/>
                </a:solidFill>
                <a:latin typeface="Tahoma" pitchFamily="34" charset="0"/>
              </a:rPr>
              <a:t> </a:t>
            </a:r>
            <a:r>
              <a:rPr lang="en-US" sz="4000" dirty="0">
                <a:solidFill>
                  <a:srgbClr val="000000"/>
                </a:solidFill>
                <a:latin typeface="Tahoma" pitchFamily="34" charset="0"/>
              </a:rPr>
              <a:t>something.</a:t>
            </a:r>
            <a:r>
              <a:rPr lang="el-GR" sz="4000" dirty="0">
                <a:solidFill>
                  <a:srgbClr val="000000"/>
                </a:solidFill>
                <a:latin typeface="Tahoma" pitchFamily="34" charset="0"/>
              </a:rPr>
              <a:t> </a:t>
            </a:r>
            <a:endParaRPr lang="el-GR" sz="4000" b="1" i="1" dirty="0">
              <a:solidFill>
                <a:srgbClr val="C00000"/>
              </a:solidFill>
              <a:latin typeface="Tahoma" pitchFamily="34" charset="0"/>
            </a:endParaRPr>
          </a:p>
        </p:txBody>
      </p:sp>
    </p:spTree>
    <p:extLst>
      <p:ext uri="{BB962C8B-B14F-4D97-AF65-F5344CB8AC3E}">
        <p14:creationId xmlns:p14="http://schemas.microsoft.com/office/powerpoint/2010/main" val="28463532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Generalization - UML</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937FC115-E2A1-074A-2FF2-30448603BDAA}"/>
              </a:ext>
            </a:extLst>
          </p:cNvPr>
          <p:cNvSpPr txBox="1">
            <a:spLocks noChangeArrowheads="1"/>
          </p:cNvSpPr>
          <p:nvPr/>
        </p:nvSpPr>
        <p:spPr bwMode="auto">
          <a:xfrm>
            <a:off x="180497" y="811494"/>
            <a:ext cx="11144802" cy="1896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0" eaLnBrk="1" hangingPunct="1">
              <a:buClr>
                <a:srgbClr val="3333CC"/>
              </a:buClr>
              <a:defRPr/>
            </a:pPr>
            <a:r>
              <a:rPr lang="en-US" sz="2800" kern="0" dirty="0">
                <a:solidFill>
                  <a:srgbClr val="000000"/>
                </a:solidFill>
                <a:latin typeface="Tahoma"/>
              </a:rPr>
              <a:t>Generalizations define generalization/specialization relationships between Classifiers. </a:t>
            </a:r>
          </a:p>
          <a:p>
            <a:pPr lvl="0" eaLnBrk="1" hangingPunct="1">
              <a:buClr>
                <a:srgbClr val="3333CC"/>
              </a:buClr>
              <a:defRPr/>
            </a:pPr>
            <a:r>
              <a:rPr lang="en-US" sz="2800" kern="0" dirty="0">
                <a:solidFill>
                  <a:srgbClr val="000000"/>
                </a:solidFill>
                <a:latin typeface="Tahoma"/>
              </a:rPr>
              <a:t>Each Generalization relates a specific Classifier to a more general Classifier.</a:t>
            </a:r>
          </a:p>
        </p:txBody>
      </p:sp>
      <p:sp>
        <p:nvSpPr>
          <p:cNvPr id="4" name="Rectangle 4">
            <a:extLst>
              <a:ext uri="{FF2B5EF4-FFF2-40B4-BE49-F238E27FC236}">
                <a16:creationId xmlns:a16="http://schemas.microsoft.com/office/drawing/2014/main" id="{E23976BB-9AEF-3072-6FD8-A7F2AD42F99F}"/>
              </a:ext>
            </a:extLst>
          </p:cNvPr>
          <p:cNvSpPr>
            <a:spLocks noChangeArrowheads="1"/>
          </p:cNvSpPr>
          <p:nvPr/>
        </p:nvSpPr>
        <p:spPr bwMode="auto">
          <a:xfrm>
            <a:off x="4081777" y="2363962"/>
            <a:ext cx="3024187" cy="609600"/>
          </a:xfrm>
          <a:prstGeom prst="rect">
            <a:avLst/>
          </a:prstGeom>
          <a:solidFill>
            <a:srgbClr val="FFFFFF"/>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1" i="0" u="none" strike="noStrike" kern="0" cap="none" spc="0" normalizeH="0" baseline="0" noProof="0" dirty="0">
                <a:ln>
                  <a:noFill/>
                </a:ln>
                <a:solidFill>
                  <a:srgbClr val="C00000"/>
                </a:solidFill>
                <a:effectLst/>
                <a:uLnTx/>
                <a:uFillTx/>
                <a:latin typeface="Tahoma" pitchFamily="34" charset="0"/>
              </a:rPr>
              <a:t>Ηλεκτρική Συσκευή</a:t>
            </a:r>
            <a:endParaRPr kumimoji="0" lang="en-GB" sz="2400" b="1" i="0" u="none" strike="noStrike" kern="0" cap="none" spc="0" normalizeH="0" baseline="0" noProof="0" dirty="0">
              <a:ln>
                <a:noFill/>
              </a:ln>
              <a:solidFill>
                <a:srgbClr val="C00000"/>
              </a:solidFill>
              <a:effectLst/>
              <a:uLnTx/>
              <a:uFillTx/>
              <a:latin typeface="Tahoma" pitchFamily="34" charset="0"/>
            </a:endParaRPr>
          </a:p>
        </p:txBody>
      </p:sp>
      <p:sp>
        <p:nvSpPr>
          <p:cNvPr id="6" name="Rectangle 5">
            <a:extLst>
              <a:ext uri="{FF2B5EF4-FFF2-40B4-BE49-F238E27FC236}">
                <a16:creationId xmlns:a16="http://schemas.microsoft.com/office/drawing/2014/main" id="{9672A40C-74A3-B9AF-B4B9-58122C4ED3BD}"/>
              </a:ext>
            </a:extLst>
          </p:cNvPr>
          <p:cNvSpPr>
            <a:spLocks noChangeArrowheads="1"/>
          </p:cNvSpPr>
          <p:nvPr/>
        </p:nvSpPr>
        <p:spPr bwMode="auto">
          <a:xfrm>
            <a:off x="1390964" y="3811762"/>
            <a:ext cx="3429000" cy="533400"/>
          </a:xfrm>
          <a:prstGeom prst="rect">
            <a:avLst/>
          </a:prstGeom>
          <a:solidFill>
            <a:srgbClr val="FFFFFF"/>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a:ln>
                  <a:noFill/>
                </a:ln>
                <a:solidFill>
                  <a:srgbClr val="000000"/>
                </a:solidFill>
                <a:effectLst/>
                <a:uLnTx/>
                <a:uFillTx/>
                <a:latin typeface="Tahoma" pitchFamily="34" charset="0"/>
              </a:rPr>
              <a:t>Φούρνος Μικροκυμάτων</a:t>
            </a: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7" name="Rectangle 6">
            <a:extLst>
              <a:ext uri="{FF2B5EF4-FFF2-40B4-BE49-F238E27FC236}">
                <a16:creationId xmlns:a16="http://schemas.microsoft.com/office/drawing/2014/main" id="{62C56EC7-DF0B-C6D1-7C77-78DFB4B28085}"/>
              </a:ext>
            </a:extLst>
          </p:cNvPr>
          <p:cNvSpPr>
            <a:spLocks noChangeArrowheads="1"/>
          </p:cNvSpPr>
          <p:nvPr/>
        </p:nvSpPr>
        <p:spPr bwMode="auto">
          <a:xfrm>
            <a:off x="5277164" y="3811762"/>
            <a:ext cx="1371600" cy="533400"/>
          </a:xfrm>
          <a:prstGeom prst="rect">
            <a:avLst/>
          </a:prstGeom>
          <a:solidFill>
            <a:srgbClr val="FFFFFF"/>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a:ln>
                  <a:noFill/>
                </a:ln>
                <a:solidFill>
                  <a:srgbClr val="000000"/>
                </a:solidFill>
                <a:effectLst/>
                <a:uLnTx/>
                <a:uFillTx/>
                <a:latin typeface="Tahoma" pitchFamily="34" charset="0"/>
              </a:rPr>
              <a:t>Ψυγείο</a:t>
            </a: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9" name="Rectangle 7">
            <a:extLst>
              <a:ext uri="{FF2B5EF4-FFF2-40B4-BE49-F238E27FC236}">
                <a16:creationId xmlns:a16="http://schemas.microsoft.com/office/drawing/2014/main" id="{B88255D0-E3DD-5792-1C05-AF1A6489F5D1}"/>
              </a:ext>
            </a:extLst>
          </p:cNvPr>
          <p:cNvSpPr>
            <a:spLocks noChangeArrowheads="1"/>
          </p:cNvSpPr>
          <p:nvPr/>
        </p:nvSpPr>
        <p:spPr bwMode="auto">
          <a:xfrm>
            <a:off x="7029764" y="3811762"/>
            <a:ext cx="2667000" cy="533400"/>
          </a:xfrm>
          <a:prstGeom prst="rect">
            <a:avLst/>
          </a:prstGeom>
          <a:solidFill>
            <a:srgbClr val="FFFFFF"/>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a:ln>
                  <a:noFill/>
                </a:ln>
                <a:solidFill>
                  <a:srgbClr val="000000"/>
                </a:solidFill>
                <a:effectLst/>
                <a:uLnTx/>
                <a:uFillTx/>
                <a:latin typeface="Tahoma" pitchFamily="34" charset="0"/>
              </a:rPr>
              <a:t>Τοστιέρα</a:t>
            </a: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12" name="Line 8">
            <a:extLst>
              <a:ext uri="{FF2B5EF4-FFF2-40B4-BE49-F238E27FC236}">
                <a16:creationId xmlns:a16="http://schemas.microsoft.com/office/drawing/2014/main" id="{DE3146E7-8905-A145-CAE2-E9A89032E394}"/>
              </a:ext>
            </a:extLst>
          </p:cNvPr>
          <p:cNvSpPr>
            <a:spLocks noChangeShapeType="1"/>
          </p:cNvSpPr>
          <p:nvPr/>
        </p:nvSpPr>
        <p:spPr bwMode="auto">
          <a:xfrm flipV="1">
            <a:off x="2914964" y="3009900"/>
            <a:ext cx="2362200" cy="838200"/>
          </a:xfrm>
          <a:prstGeom prst="line">
            <a:avLst/>
          </a:prstGeom>
          <a:noFill/>
          <a:ln w="57150">
            <a:solidFill>
              <a:srgbClr val="0070C0"/>
            </a:solidFill>
            <a:miter lim="800000"/>
            <a:headEnd type="none" w="med" len="med"/>
            <a:tailEnd type="arrow"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3" name="Line 9">
            <a:extLst>
              <a:ext uri="{FF2B5EF4-FFF2-40B4-BE49-F238E27FC236}">
                <a16:creationId xmlns:a16="http://schemas.microsoft.com/office/drawing/2014/main" id="{EF031387-0302-7F06-E357-0F1E177850C2}"/>
              </a:ext>
            </a:extLst>
          </p:cNvPr>
          <p:cNvSpPr>
            <a:spLocks noChangeShapeType="1"/>
          </p:cNvSpPr>
          <p:nvPr/>
        </p:nvSpPr>
        <p:spPr bwMode="auto">
          <a:xfrm flipH="1" flipV="1">
            <a:off x="5581964" y="3009900"/>
            <a:ext cx="228600" cy="838200"/>
          </a:xfrm>
          <a:prstGeom prst="line">
            <a:avLst/>
          </a:prstGeom>
          <a:noFill/>
          <a:ln w="57150">
            <a:solidFill>
              <a:srgbClr val="0070C0"/>
            </a:solidFill>
            <a:miter lim="800000"/>
            <a:headEnd type="none" w="med" len="med"/>
            <a:tailEnd type="arrow"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4" name="Line 10">
            <a:extLst>
              <a:ext uri="{FF2B5EF4-FFF2-40B4-BE49-F238E27FC236}">
                <a16:creationId xmlns:a16="http://schemas.microsoft.com/office/drawing/2014/main" id="{74459E91-3F1F-3EA4-1461-712BC7A04397}"/>
              </a:ext>
            </a:extLst>
          </p:cNvPr>
          <p:cNvSpPr>
            <a:spLocks noChangeShapeType="1"/>
          </p:cNvSpPr>
          <p:nvPr/>
        </p:nvSpPr>
        <p:spPr bwMode="auto">
          <a:xfrm flipH="1" flipV="1">
            <a:off x="6343964" y="2973562"/>
            <a:ext cx="1752600" cy="838200"/>
          </a:xfrm>
          <a:prstGeom prst="line">
            <a:avLst/>
          </a:prstGeom>
          <a:noFill/>
          <a:ln w="57150">
            <a:solidFill>
              <a:srgbClr val="0070C0"/>
            </a:solidFill>
            <a:miter lim="800000"/>
            <a:headEnd type="none" w="med" len="med"/>
            <a:tailEnd type="arrow"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5" name="Text Box 11">
            <a:extLst>
              <a:ext uri="{FF2B5EF4-FFF2-40B4-BE49-F238E27FC236}">
                <a16:creationId xmlns:a16="http://schemas.microsoft.com/office/drawing/2014/main" id="{1D66F08B-403D-8885-AAB5-D97EEB7C216C}"/>
              </a:ext>
            </a:extLst>
          </p:cNvPr>
          <p:cNvSpPr txBox="1">
            <a:spLocks noChangeArrowheads="1"/>
          </p:cNvSpPr>
          <p:nvPr/>
        </p:nvSpPr>
        <p:spPr bwMode="auto">
          <a:xfrm>
            <a:off x="0" y="4664249"/>
            <a:ext cx="12192000" cy="519113"/>
          </a:xfrm>
          <a:prstGeom prst="rect">
            <a:avLst/>
          </a:prstGeom>
          <a:noFill/>
          <a:ln w="12700">
            <a:noFill/>
            <a:miter lim="800000"/>
            <a:headEnd type="none" w="sm" len="sm"/>
            <a:tailEnd type="none" w="sm" len="sm"/>
          </a:ln>
        </p:spPr>
        <p:txBody>
          <a:bodyPr wrap="square">
            <a:spAutoFit/>
          </a:bodyPr>
          <a:lstStyle/>
          <a:p>
            <a:pPr algn="ctr" eaLnBrk="0" fontAlgn="base" hangingPunct="0">
              <a:spcBef>
                <a:spcPct val="0"/>
              </a:spcBef>
              <a:spcAft>
                <a:spcPct val="0"/>
              </a:spcAft>
            </a:pPr>
            <a:r>
              <a:rPr lang="el-GR" sz="2800" b="1" dirty="0" err="1">
                <a:solidFill>
                  <a:srgbClr val="800000"/>
                </a:solidFill>
                <a:latin typeface="Times New Roman" pitchFamily="18" charset="0"/>
              </a:rPr>
              <a:t>Unified</a:t>
            </a:r>
            <a:r>
              <a:rPr lang="el-GR" sz="2800" b="1" dirty="0">
                <a:solidFill>
                  <a:srgbClr val="800000"/>
                </a:solidFill>
                <a:latin typeface="Times New Roman" pitchFamily="18" charset="0"/>
              </a:rPr>
              <a:t> </a:t>
            </a:r>
            <a:r>
              <a:rPr lang="el-GR" sz="2800" b="1" dirty="0" err="1">
                <a:solidFill>
                  <a:srgbClr val="800000"/>
                </a:solidFill>
                <a:latin typeface="Times New Roman" pitchFamily="18" charset="0"/>
              </a:rPr>
              <a:t>Modeling</a:t>
            </a:r>
            <a:r>
              <a:rPr lang="el-GR" sz="2800" b="1" dirty="0">
                <a:solidFill>
                  <a:srgbClr val="800000"/>
                </a:solidFill>
                <a:latin typeface="Times New Roman" pitchFamily="18" charset="0"/>
              </a:rPr>
              <a:t> </a:t>
            </a:r>
            <a:r>
              <a:rPr lang="el-GR" sz="2800" b="1" dirty="0" err="1">
                <a:solidFill>
                  <a:srgbClr val="800000"/>
                </a:solidFill>
                <a:latin typeface="Times New Roman" pitchFamily="18" charset="0"/>
              </a:rPr>
              <a:t>Language</a:t>
            </a:r>
            <a:r>
              <a:rPr lang="el-GR" sz="2800" b="1" dirty="0">
                <a:solidFill>
                  <a:srgbClr val="800000"/>
                </a:solidFill>
                <a:latin typeface="Times New Roman" pitchFamily="18" charset="0"/>
              </a:rPr>
              <a:t> (UML)</a:t>
            </a:r>
            <a:r>
              <a:rPr lang="el-GR" sz="2400" dirty="0">
                <a:solidFill>
                  <a:srgbClr val="000000"/>
                </a:solidFill>
                <a:latin typeface="Times New Roman" pitchFamily="18" charset="0"/>
              </a:rPr>
              <a:t> </a:t>
            </a:r>
            <a:r>
              <a:rPr lang="en-US" sz="2400" dirty="0">
                <a:solidFill>
                  <a:srgbClr val="000000"/>
                </a:solidFill>
                <a:latin typeface="Times New Roman" pitchFamily="18" charset="0"/>
              </a:rPr>
              <a:t> </a:t>
            </a:r>
            <a:endParaRPr lang="en-US" sz="2000" dirty="0">
              <a:solidFill>
                <a:srgbClr val="000000"/>
              </a:solidFill>
              <a:latin typeface="Times New Roman Greek" charset="-95"/>
            </a:endParaRPr>
          </a:p>
        </p:txBody>
      </p:sp>
      <p:sp>
        <p:nvSpPr>
          <p:cNvPr id="17" name="Rectangle 3">
            <a:extLst>
              <a:ext uri="{FF2B5EF4-FFF2-40B4-BE49-F238E27FC236}">
                <a16:creationId xmlns:a16="http://schemas.microsoft.com/office/drawing/2014/main" id="{4E665782-313F-DE62-B5A8-07572A78BA03}"/>
              </a:ext>
            </a:extLst>
          </p:cNvPr>
          <p:cNvSpPr txBox="1">
            <a:spLocks noChangeArrowheads="1"/>
          </p:cNvSpPr>
          <p:nvPr/>
        </p:nvSpPr>
        <p:spPr bwMode="auto">
          <a:xfrm>
            <a:off x="180498" y="5244138"/>
            <a:ext cx="11870834" cy="10858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pPr>
            <a:r>
              <a:rPr lang="en-US" sz="2000" dirty="0">
                <a:solidFill>
                  <a:srgbClr val="000000"/>
                </a:solidFill>
                <a:latin typeface="Tahoma"/>
              </a:rPr>
              <a:t>The objective of UML is to provide system architects, software engineers, and software developers with tools for analysis, design, and implementation of software-based systems as well as for modeling business and similar processes.</a:t>
            </a:r>
            <a:endParaRPr lang="en-US" sz="2000" kern="0" dirty="0">
              <a:solidFill>
                <a:srgbClr val="000000"/>
              </a:solidFill>
              <a:latin typeface="Tahoma"/>
            </a:endParaRPr>
          </a:p>
        </p:txBody>
      </p:sp>
    </p:spTree>
    <p:extLst>
      <p:ext uri="{BB962C8B-B14F-4D97-AF65-F5344CB8AC3E}">
        <p14:creationId xmlns:p14="http://schemas.microsoft.com/office/powerpoint/2010/main" val="215037775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7">
                                            <p:txEl>
                                              <p:pRg st="0" end="0"/>
                                            </p:txEl>
                                          </p:spTgt>
                                        </p:tgtEl>
                                        <p:attrNameLst>
                                          <p:attrName>style.visibility</p:attrName>
                                        </p:attrNameLst>
                                      </p:cBhvr>
                                      <p:to>
                                        <p:strVal val="visible"/>
                                      </p:to>
                                    </p:set>
                                    <p:animEffect transition="in" filter="dissolve">
                                      <p:cBhvr>
                                        <p:cTn id="16"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1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Aggregation - Composition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Rectangle 1028">
            <a:extLst>
              <a:ext uri="{FF2B5EF4-FFF2-40B4-BE49-F238E27FC236}">
                <a16:creationId xmlns:a16="http://schemas.microsoft.com/office/drawing/2014/main" id="{F85DEBBB-68E1-8637-3300-4C8ECD7E7741}"/>
              </a:ext>
            </a:extLst>
          </p:cNvPr>
          <p:cNvSpPr>
            <a:spLocks noChangeArrowheads="1"/>
          </p:cNvSpPr>
          <p:nvPr/>
        </p:nvSpPr>
        <p:spPr bwMode="auto">
          <a:xfrm>
            <a:off x="2009763" y="2169722"/>
            <a:ext cx="1828800" cy="609600"/>
          </a:xfrm>
          <a:prstGeom prst="rect">
            <a:avLst/>
          </a:prstGeom>
          <a:solidFill>
            <a:srgbClr val="FFFFFF"/>
          </a:solidFill>
          <a:ln w="22225">
            <a:solidFill>
              <a:srgbClr val="000000"/>
            </a:solidFill>
            <a:miter lim="800000"/>
            <a:headEnd/>
            <a:tailEnd/>
          </a:ln>
        </p:spPr>
        <p:txBody>
          <a:bodyPr/>
          <a:lstStyle/>
          <a:p>
            <a:pPr algn="ctr" eaLnBrk="0" fontAlgn="base" hangingPunct="0">
              <a:spcBef>
                <a:spcPct val="0"/>
              </a:spcBef>
              <a:spcAft>
                <a:spcPct val="0"/>
              </a:spcAft>
            </a:pPr>
            <a:r>
              <a:rPr lang="en-US" sz="2000">
                <a:solidFill>
                  <a:srgbClr val="000000"/>
                </a:solidFill>
                <a:latin typeface="Arial" pitchFamily="34" charset="0"/>
              </a:rPr>
              <a:t>Goody’s</a:t>
            </a:r>
          </a:p>
        </p:txBody>
      </p:sp>
      <p:sp>
        <p:nvSpPr>
          <p:cNvPr id="6" name="Freeform 1029">
            <a:extLst>
              <a:ext uri="{FF2B5EF4-FFF2-40B4-BE49-F238E27FC236}">
                <a16:creationId xmlns:a16="http://schemas.microsoft.com/office/drawing/2014/main" id="{CFF1F17E-DF9B-8BE3-8983-B389DFB3AA35}"/>
              </a:ext>
            </a:extLst>
          </p:cNvPr>
          <p:cNvSpPr>
            <a:spLocks/>
          </p:cNvSpPr>
          <p:nvPr/>
        </p:nvSpPr>
        <p:spPr bwMode="auto">
          <a:xfrm>
            <a:off x="3838563" y="2372922"/>
            <a:ext cx="457200" cy="203200"/>
          </a:xfrm>
          <a:custGeom>
            <a:avLst/>
            <a:gdLst>
              <a:gd name="T0" fmla="*/ 0 w 288"/>
              <a:gd name="T1" fmla="*/ 161289973 h 128"/>
              <a:gd name="T2" fmla="*/ 365421807 w 288"/>
              <a:gd name="T3" fmla="*/ 0 h 128"/>
              <a:gd name="T4" fmla="*/ 725804891 w 288"/>
              <a:gd name="T5" fmla="*/ 161289973 h 128"/>
              <a:gd name="T6" fmla="*/ 365421807 w 288"/>
              <a:gd name="T7" fmla="*/ 322579945 h 128"/>
              <a:gd name="T8" fmla="*/ 0 w 288"/>
              <a:gd name="T9" fmla="*/ 161289973 h 128"/>
              <a:gd name="T10" fmla="*/ 0 60000 65536"/>
              <a:gd name="T11" fmla="*/ 0 60000 65536"/>
              <a:gd name="T12" fmla="*/ 0 60000 65536"/>
              <a:gd name="T13" fmla="*/ 0 60000 65536"/>
              <a:gd name="T14" fmla="*/ 0 60000 65536"/>
              <a:gd name="T15" fmla="*/ 0 w 288"/>
              <a:gd name="T16" fmla="*/ 0 h 128"/>
              <a:gd name="T17" fmla="*/ 288 w 288"/>
              <a:gd name="T18" fmla="*/ 128 h 128"/>
            </a:gdLst>
            <a:ahLst/>
            <a:cxnLst>
              <a:cxn ang="T10">
                <a:pos x="T0" y="T1"/>
              </a:cxn>
              <a:cxn ang="T11">
                <a:pos x="T2" y="T3"/>
              </a:cxn>
              <a:cxn ang="T12">
                <a:pos x="T4" y="T5"/>
              </a:cxn>
              <a:cxn ang="T13">
                <a:pos x="T6" y="T7"/>
              </a:cxn>
              <a:cxn ang="T14">
                <a:pos x="T8" y="T9"/>
              </a:cxn>
            </a:cxnLst>
            <a:rect l="T15" t="T16" r="T17" b="T18"/>
            <a:pathLst>
              <a:path w="288" h="128">
                <a:moveTo>
                  <a:pt x="0" y="64"/>
                </a:moveTo>
                <a:lnTo>
                  <a:pt x="145" y="0"/>
                </a:lnTo>
                <a:lnTo>
                  <a:pt x="288" y="64"/>
                </a:lnTo>
                <a:lnTo>
                  <a:pt x="145" y="128"/>
                </a:lnTo>
                <a:lnTo>
                  <a:pt x="0" y="64"/>
                </a:lnTo>
                <a:close/>
              </a:path>
            </a:pathLst>
          </a:custGeom>
          <a:solidFill>
            <a:srgbClr val="FFFFFF"/>
          </a:solidFill>
          <a:ln w="57150" cmpd="sng">
            <a:solidFill>
              <a:srgbClr val="3333CC"/>
            </a:solidFill>
            <a:prstDash val="solid"/>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 name="Rectangle 1030">
            <a:extLst>
              <a:ext uri="{FF2B5EF4-FFF2-40B4-BE49-F238E27FC236}">
                <a16:creationId xmlns:a16="http://schemas.microsoft.com/office/drawing/2014/main" id="{8C91DB13-60F1-391F-0B91-71D0F4221656}"/>
              </a:ext>
            </a:extLst>
          </p:cNvPr>
          <p:cNvSpPr>
            <a:spLocks noChangeArrowheads="1"/>
          </p:cNvSpPr>
          <p:nvPr/>
        </p:nvSpPr>
        <p:spPr bwMode="auto">
          <a:xfrm>
            <a:off x="6276963" y="2169722"/>
            <a:ext cx="1828800" cy="609600"/>
          </a:xfrm>
          <a:prstGeom prst="rect">
            <a:avLst/>
          </a:prstGeom>
          <a:solidFill>
            <a:srgbClr val="FFFFFF"/>
          </a:solidFill>
          <a:ln w="22225">
            <a:solidFill>
              <a:srgbClr val="000000"/>
            </a:solidFill>
            <a:miter lim="800000"/>
            <a:headEnd/>
            <a:tailEnd/>
          </a:ln>
        </p:spPr>
        <p:txBody>
          <a:bodyPr/>
          <a:lstStyle/>
          <a:p>
            <a:pPr algn="ctr" eaLnBrk="0" fontAlgn="base" hangingPunct="0">
              <a:spcBef>
                <a:spcPct val="0"/>
              </a:spcBef>
              <a:spcAft>
                <a:spcPct val="0"/>
              </a:spcAft>
            </a:pPr>
            <a:r>
              <a:rPr lang="en-US" sz="2000">
                <a:solidFill>
                  <a:srgbClr val="000000"/>
                </a:solidFill>
                <a:latin typeface="Times New Roman Greek" charset="-95"/>
              </a:rPr>
              <a:t>Κτίσμα</a:t>
            </a:r>
          </a:p>
        </p:txBody>
      </p:sp>
      <p:sp>
        <p:nvSpPr>
          <p:cNvPr id="9" name="Line 1031">
            <a:extLst>
              <a:ext uri="{FF2B5EF4-FFF2-40B4-BE49-F238E27FC236}">
                <a16:creationId xmlns:a16="http://schemas.microsoft.com/office/drawing/2014/main" id="{D1546529-F906-A45F-D9CC-CB4236719421}"/>
              </a:ext>
            </a:extLst>
          </p:cNvPr>
          <p:cNvSpPr>
            <a:spLocks noChangeShapeType="1"/>
          </p:cNvSpPr>
          <p:nvPr/>
        </p:nvSpPr>
        <p:spPr bwMode="auto">
          <a:xfrm>
            <a:off x="4295763" y="2474522"/>
            <a:ext cx="1981200" cy="1588"/>
          </a:xfrm>
          <a:prstGeom prst="line">
            <a:avLst/>
          </a:prstGeom>
          <a:noFill/>
          <a:ln w="38100">
            <a:solidFill>
              <a:srgbClr val="3333CC"/>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2" name="Rectangle 1032">
            <a:extLst>
              <a:ext uri="{FF2B5EF4-FFF2-40B4-BE49-F238E27FC236}">
                <a16:creationId xmlns:a16="http://schemas.microsoft.com/office/drawing/2014/main" id="{C5E8EAEF-DC96-3012-7BFA-2F549B3EEF10}"/>
              </a:ext>
            </a:extLst>
          </p:cNvPr>
          <p:cNvSpPr>
            <a:spLocks noChangeArrowheads="1"/>
          </p:cNvSpPr>
          <p:nvPr/>
        </p:nvSpPr>
        <p:spPr bwMode="auto">
          <a:xfrm>
            <a:off x="6276963" y="1179122"/>
            <a:ext cx="1828800" cy="609600"/>
          </a:xfrm>
          <a:prstGeom prst="rect">
            <a:avLst/>
          </a:prstGeom>
          <a:solidFill>
            <a:srgbClr val="FFFFFF"/>
          </a:solidFill>
          <a:ln w="22225">
            <a:solidFill>
              <a:srgbClr val="000000"/>
            </a:solidFill>
            <a:miter lim="800000"/>
            <a:headEnd/>
            <a:tailEnd/>
          </a:ln>
        </p:spPr>
        <p:txBody>
          <a:bodyPr/>
          <a:lstStyle/>
          <a:p>
            <a:pPr algn="ctr" eaLnBrk="0" fontAlgn="base" hangingPunct="0">
              <a:spcBef>
                <a:spcPct val="0"/>
              </a:spcBef>
              <a:spcAft>
                <a:spcPct val="0"/>
              </a:spcAft>
            </a:pPr>
            <a:r>
              <a:rPr lang="el-GR" sz="2000">
                <a:solidFill>
                  <a:srgbClr val="000000"/>
                </a:solidFill>
                <a:latin typeface="Times New Roman Greek" charset="-95"/>
              </a:rPr>
              <a:t>Τοστιέρα</a:t>
            </a:r>
            <a:endParaRPr lang="en-US" sz="2000">
              <a:solidFill>
                <a:srgbClr val="000000"/>
              </a:solidFill>
              <a:latin typeface="Times New Roman Greek" charset="-95"/>
            </a:endParaRPr>
          </a:p>
        </p:txBody>
      </p:sp>
      <p:sp>
        <p:nvSpPr>
          <p:cNvPr id="13" name="Rectangle 1033">
            <a:extLst>
              <a:ext uri="{FF2B5EF4-FFF2-40B4-BE49-F238E27FC236}">
                <a16:creationId xmlns:a16="http://schemas.microsoft.com/office/drawing/2014/main" id="{CA41EFE2-6487-D2B5-7D3E-128A1269426F}"/>
              </a:ext>
            </a:extLst>
          </p:cNvPr>
          <p:cNvSpPr>
            <a:spLocks noChangeArrowheads="1"/>
          </p:cNvSpPr>
          <p:nvPr/>
        </p:nvSpPr>
        <p:spPr bwMode="auto">
          <a:xfrm>
            <a:off x="6276963" y="3160322"/>
            <a:ext cx="1828800" cy="609600"/>
          </a:xfrm>
          <a:prstGeom prst="rect">
            <a:avLst/>
          </a:prstGeom>
          <a:solidFill>
            <a:srgbClr val="FFFFFF"/>
          </a:solidFill>
          <a:ln w="22225">
            <a:solidFill>
              <a:srgbClr val="000000"/>
            </a:solidFill>
            <a:miter lim="800000"/>
            <a:headEnd/>
            <a:tailEnd/>
          </a:ln>
        </p:spPr>
        <p:txBody>
          <a:bodyPr/>
          <a:lstStyle/>
          <a:p>
            <a:pPr algn="ctr" eaLnBrk="0" fontAlgn="base" hangingPunct="0">
              <a:spcBef>
                <a:spcPct val="0"/>
              </a:spcBef>
              <a:spcAft>
                <a:spcPct val="0"/>
              </a:spcAft>
            </a:pPr>
            <a:r>
              <a:rPr lang="el-GR" sz="2000">
                <a:solidFill>
                  <a:srgbClr val="000000"/>
                </a:solidFill>
                <a:latin typeface="Times New Roman Greek" charset="-95"/>
              </a:rPr>
              <a:t>Ψυγείο</a:t>
            </a:r>
            <a:endParaRPr lang="en-US" sz="2000">
              <a:solidFill>
                <a:srgbClr val="000000"/>
              </a:solidFill>
              <a:latin typeface="Times New Roman Greek" charset="-95"/>
            </a:endParaRPr>
          </a:p>
        </p:txBody>
      </p:sp>
      <p:sp>
        <p:nvSpPr>
          <p:cNvPr id="14" name="Line 1034">
            <a:extLst>
              <a:ext uri="{FF2B5EF4-FFF2-40B4-BE49-F238E27FC236}">
                <a16:creationId xmlns:a16="http://schemas.microsoft.com/office/drawing/2014/main" id="{3CBAD7E9-40C3-9876-5F31-8EFEDED4B5A9}"/>
              </a:ext>
            </a:extLst>
          </p:cNvPr>
          <p:cNvSpPr>
            <a:spLocks noChangeShapeType="1"/>
          </p:cNvSpPr>
          <p:nvPr/>
        </p:nvSpPr>
        <p:spPr bwMode="auto">
          <a:xfrm flipV="1">
            <a:off x="4600563" y="1560122"/>
            <a:ext cx="0" cy="914400"/>
          </a:xfrm>
          <a:prstGeom prst="line">
            <a:avLst/>
          </a:prstGeom>
          <a:noFill/>
          <a:ln w="38100">
            <a:solidFill>
              <a:srgbClr val="3333CC"/>
            </a:solidFill>
            <a:round/>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5" name="Line 1035">
            <a:extLst>
              <a:ext uri="{FF2B5EF4-FFF2-40B4-BE49-F238E27FC236}">
                <a16:creationId xmlns:a16="http://schemas.microsoft.com/office/drawing/2014/main" id="{01073F77-7CF6-A60A-4E27-5DD8CC2D08DD}"/>
              </a:ext>
            </a:extLst>
          </p:cNvPr>
          <p:cNvSpPr>
            <a:spLocks noChangeShapeType="1"/>
          </p:cNvSpPr>
          <p:nvPr/>
        </p:nvSpPr>
        <p:spPr bwMode="auto">
          <a:xfrm>
            <a:off x="4600563" y="1560122"/>
            <a:ext cx="1676400" cy="0"/>
          </a:xfrm>
          <a:prstGeom prst="line">
            <a:avLst/>
          </a:prstGeom>
          <a:noFill/>
          <a:ln w="38100">
            <a:solidFill>
              <a:srgbClr val="3333CC"/>
            </a:solidFill>
            <a:round/>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6" name="Line 1036">
            <a:extLst>
              <a:ext uri="{FF2B5EF4-FFF2-40B4-BE49-F238E27FC236}">
                <a16:creationId xmlns:a16="http://schemas.microsoft.com/office/drawing/2014/main" id="{4E7932FA-19BD-4BED-E7A2-D7DEBC1F1C17}"/>
              </a:ext>
            </a:extLst>
          </p:cNvPr>
          <p:cNvSpPr>
            <a:spLocks noChangeShapeType="1"/>
          </p:cNvSpPr>
          <p:nvPr/>
        </p:nvSpPr>
        <p:spPr bwMode="auto">
          <a:xfrm>
            <a:off x="4600563" y="2474522"/>
            <a:ext cx="0" cy="990600"/>
          </a:xfrm>
          <a:prstGeom prst="line">
            <a:avLst/>
          </a:prstGeom>
          <a:noFill/>
          <a:ln w="38100">
            <a:solidFill>
              <a:srgbClr val="3333CC"/>
            </a:solidFill>
            <a:round/>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17" name="Line 1037">
            <a:extLst>
              <a:ext uri="{FF2B5EF4-FFF2-40B4-BE49-F238E27FC236}">
                <a16:creationId xmlns:a16="http://schemas.microsoft.com/office/drawing/2014/main" id="{6F2CBED3-EB7E-497B-5721-76E8A1C55670}"/>
              </a:ext>
            </a:extLst>
          </p:cNvPr>
          <p:cNvSpPr>
            <a:spLocks noChangeShapeType="1"/>
          </p:cNvSpPr>
          <p:nvPr/>
        </p:nvSpPr>
        <p:spPr bwMode="auto">
          <a:xfrm>
            <a:off x="4600563" y="3465122"/>
            <a:ext cx="1676400" cy="0"/>
          </a:xfrm>
          <a:prstGeom prst="line">
            <a:avLst/>
          </a:prstGeom>
          <a:noFill/>
          <a:ln w="38100">
            <a:solidFill>
              <a:srgbClr val="3333CC"/>
            </a:solidFill>
            <a:round/>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nvGrpSpPr>
          <p:cNvPr id="18" name="Group 1038">
            <a:extLst>
              <a:ext uri="{FF2B5EF4-FFF2-40B4-BE49-F238E27FC236}">
                <a16:creationId xmlns:a16="http://schemas.microsoft.com/office/drawing/2014/main" id="{FB639695-7562-2374-765F-B2EB5B464AFC}"/>
              </a:ext>
            </a:extLst>
          </p:cNvPr>
          <p:cNvGrpSpPr>
            <a:grpSpLocks/>
          </p:cNvGrpSpPr>
          <p:nvPr/>
        </p:nvGrpSpPr>
        <p:grpSpPr bwMode="auto">
          <a:xfrm>
            <a:off x="2122476" y="925122"/>
            <a:ext cx="2325687" cy="1397000"/>
            <a:chOff x="624" y="1392"/>
            <a:chExt cx="1680" cy="1104"/>
          </a:xfrm>
        </p:grpSpPr>
        <p:sp>
          <p:nvSpPr>
            <p:cNvPr id="19" name="AutoShape 1039">
              <a:extLst>
                <a:ext uri="{FF2B5EF4-FFF2-40B4-BE49-F238E27FC236}">
                  <a16:creationId xmlns:a16="http://schemas.microsoft.com/office/drawing/2014/main" id="{15184343-EBA2-BC53-40B2-74AE61867550}"/>
                </a:ext>
              </a:extLst>
            </p:cNvPr>
            <p:cNvSpPr>
              <a:spLocks noChangeArrowheads="1"/>
            </p:cNvSpPr>
            <p:nvPr/>
          </p:nvSpPr>
          <p:spPr bwMode="auto">
            <a:xfrm>
              <a:off x="624" y="1392"/>
              <a:ext cx="1680" cy="528"/>
            </a:xfrm>
            <a:prstGeom prst="foldedCorner">
              <a:avLst>
                <a:gd name="adj" fmla="val 12500"/>
              </a:avLst>
            </a:prstGeom>
            <a:solidFill>
              <a:srgbClr val="FFCF01"/>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Tahoma" pitchFamily="34" charset="0"/>
                </a:rPr>
                <a:t>Aggregation</a:t>
              </a:r>
              <a:endParaRPr kumimoji="0" lang="en-GB" sz="2400" b="1" i="0" u="none" strike="noStrike" kern="0" cap="none" spc="0" normalizeH="0" baseline="0" noProof="0" dirty="0">
                <a:ln>
                  <a:noFill/>
                </a:ln>
                <a:solidFill>
                  <a:srgbClr val="FF0000"/>
                </a:solidFill>
                <a:effectLst/>
                <a:uLnTx/>
                <a:uFillTx/>
                <a:latin typeface="Tahoma" pitchFamily="34" charset="0"/>
              </a:endParaRPr>
            </a:p>
          </p:txBody>
        </p:sp>
        <p:sp>
          <p:nvSpPr>
            <p:cNvPr id="20" name="Line 1040">
              <a:extLst>
                <a:ext uri="{FF2B5EF4-FFF2-40B4-BE49-F238E27FC236}">
                  <a16:creationId xmlns:a16="http://schemas.microsoft.com/office/drawing/2014/main" id="{CC46915B-514F-26B4-D5B0-FCE0313FF94B}"/>
                </a:ext>
              </a:extLst>
            </p:cNvPr>
            <p:cNvSpPr>
              <a:spLocks noChangeShapeType="1"/>
            </p:cNvSpPr>
            <p:nvPr/>
          </p:nvSpPr>
          <p:spPr bwMode="auto">
            <a:xfrm>
              <a:off x="1824" y="1920"/>
              <a:ext cx="192" cy="576"/>
            </a:xfrm>
            <a:prstGeom prst="line">
              <a:avLst/>
            </a:prstGeom>
            <a:noFill/>
            <a:ln w="28575">
              <a:solidFill>
                <a:srgbClr val="000000"/>
              </a:solidFill>
              <a:prstDash val="dash"/>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sp>
        <p:nvSpPr>
          <p:cNvPr id="21" name="Rectangle 3">
            <a:extLst>
              <a:ext uri="{FF2B5EF4-FFF2-40B4-BE49-F238E27FC236}">
                <a16:creationId xmlns:a16="http://schemas.microsoft.com/office/drawing/2014/main" id="{3DEC8122-9928-58A9-CC67-55C97D9FC57D}"/>
              </a:ext>
            </a:extLst>
          </p:cNvPr>
          <p:cNvSpPr txBox="1">
            <a:spLocks noChangeArrowheads="1"/>
          </p:cNvSpPr>
          <p:nvPr/>
        </p:nvSpPr>
        <p:spPr bwMode="auto">
          <a:xfrm>
            <a:off x="175849" y="4020896"/>
            <a:ext cx="11875479" cy="20709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pPr>
            <a:r>
              <a:rPr lang="en-US" sz="2400" dirty="0">
                <a:solidFill>
                  <a:srgbClr val="000000"/>
                </a:solidFill>
                <a:latin typeface="Tahoma"/>
              </a:rPr>
              <a:t>Aggregation is used to model circumstances in which one instance is used to </a:t>
            </a:r>
            <a:r>
              <a:rPr lang="en-US" sz="2400" b="1" dirty="0">
                <a:solidFill>
                  <a:srgbClr val="C00000"/>
                </a:solidFill>
                <a:latin typeface="Tahoma"/>
              </a:rPr>
              <a:t>group together a set of instances</a:t>
            </a:r>
            <a:r>
              <a:rPr lang="en-US" sz="2400" dirty="0">
                <a:solidFill>
                  <a:srgbClr val="000000"/>
                </a:solidFill>
                <a:latin typeface="Tahoma"/>
              </a:rPr>
              <a:t>.</a:t>
            </a:r>
            <a:endParaRPr lang="en-US" sz="2400" b="1" kern="0" dirty="0">
              <a:solidFill>
                <a:srgbClr val="000000"/>
              </a:solidFill>
              <a:latin typeface="Tahoma"/>
            </a:endParaRPr>
          </a:p>
          <a:p>
            <a:pPr>
              <a:buClr>
                <a:srgbClr val="3333CC"/>
              </a:buClr>
            </a:pPr>
            <a:r>
              <a:rPr lang="en-US" sz="2400" b="1" kern="0" dirty="0">
                <a:solidFill>
                  <a:srgbClr val="000000"/>
                </a:solidFill>
                <a:latin typeface="Tahoma"/>
              </a:rPr>
              <a:t>Composite aggregation </a:t>
            </a:r>
            <a:r>
              <a:rPr lang="en-US" sz="2400" kern="0" dirty="0">
                <a:solidFill>
                  <a:srgbClr val="000000"/>
                </a:solidFill>
                <a:latin typeface="Tahoma"/>
              </a:rPr>
              <a:t>is a </a:t>
            </a:r>
            <a:r>
              <a:rPr lang="en-US" sz="2400" b="1" kern="0" dirty="0">
                <a:solidFill>
                  <a:srgbClr val="C00000"/>
                </a:solidFill>
                <a:latin typeface="Tahoma"/>
              </a:rPr>
              <a:t>strong form of aggregation </a:t>
            </a:r>
            <a:r>
              <a:rPr lang="en-US" sz="2400" kern="0" dirty="0">
                <a:solidFill>
                  <a:srgbClr val="000000"/>
                </a:solidFill>
                <a:latin typeface="Tahoma"/>
              </a:rPr>
              <a:t>that requires a part object be included in at most one composite object at a time. If a composite object is deleted, all of its part instances that are objects are deleted with it.</a:t>
            </a:r>
          </a:p>
        </p:txBody>
      </p:sp>
    </p:spTree>
    <p:extLst>
      <p:ext uri="{BB962C8B-B14F-4D97-AF65-F5344CB8AC3E}">
        <p14:creationId xmlns:p14="http://schemas.microsoft.com/office/powerpoint/2010/main" val="40051961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animEffect transition="in" filter="dissolve">
                                      <p:cBhvr>
                                        <p:cTn id="11" dur="500"/>
                                        <p:tgtEl>
                                          <p:spTgt spid="2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1">
                                            <p:txEl>
                                              <p:pRg st="1" end="1"/>
                                            </p:txEl>
                                          </p:spTgt>
                                        </p:tgtEl>
                                        <p:attrNameLst>
                                          <p:attrName>style.visibility</p:attrName>
                                        </p:attrNameLst>
                                      </p:cBhvr>
                                      <p:to>
                                        <p:strVal val="visible"/>
                                      </p:to>
                                    </p:set>
                                    <p:animEffect transition="in" filter="dissolve">
                                      <p:cBhvr>
                                        <p:cTn id="16" dur="5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179511" y="1052736"/>
            <a:ext cx="10165491"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i="0" u="none" strike="noStrike" kern="0" cap="none" spc="0" normalizeH="0" baseline="0" noProof="0" dirty="0">
                <a:ln>
                  <a:noFill/>
                </a:ln>
                <a:solidFill>
                  <a:srgbClr val="000000"/>
                </a:solidFill>
                <a:effectLst/>
                <a:uLnTx/>
                <a:uFillTx/>
                <a:latin typeface="Tahoma"/>
                <a:ea typeface="+mn-ea"/>
                <a:cs typeface="+mn-cs"/>
              </a:rPr>
              <a:t>Νοητικό μοντέλο Αντικειμενοστρεφούς Προγραμματισμού </a:t>
            </a:r>
            <a:r>
              <a:rPr kumimoji="0" lang="en-US" sz="3200" i="0" u="none" strike="noStrike" kern="0" cap="none" spc="0" normalizeH="0" baseline="0" noProof="0" dirty="0">
                <a:ln>
                  <a:noFill/>
                </a:ln>
                <a:solidFill>
                  <a:srgbClr val="000000"/>
                </a:solidFill>
                <a:effectLst/>
                <a:uLnTx/>
                <a:uFillTx/>
                <a:latin typeface="Tahoma"/>
                <a:ea typeface="+mn-ea"/>
                <a:cs typeface="+mn-cs"/>
              </a:rPr>
              <a:t>(</a:t>
            </a:r>
            <a:r>
              <a:rPr lang="en-US" kern="0" dirty="0">
                <a:solidFill>
                  <a:srgbClr val="000000"/>
                </a:solidFill>
                <a:latin typeface="Tahoma"/>
              </a:rPr>
              <a:t>OOP </a:t>
            </a:r>
            <a:r>
              <a:rPr kumimoji="0" lang="en-US" sz="3200" i="0" u="none" strike="noStrike" kern="0" cap="none" spc="0" normalizeH="0" baseline="0" noProof="0" dirty="0">
                <a:ln>
                  <a:noFill/>
                </a:ln>
                <a:solidFill>
                  <a:srgbClr val="000000"/>
                </a:solidFill>
                <a:effectLst/>
                <a:uLnTx/>
                <a:uFillTx/>
                <a:latin typeface="Tahoma"/>
                <a:ea typeface="+mn-ea"/>
                <a:cs typeface="+mn-cs"/>
              </a:rPr>
              <a:t>Conceptual model</a:t>
            </a:r>
            <a:r>
              <a:rPr kumimoji="0" lang="el-GR" sz="320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lang="el-GR" kern="0" dirty="0">
                <a:solidFill>
                  <a:srgbClr val="000000"/>
                </a:solidFill>
                <a:latin typeface="Tahoma"/>
              </a:rPr>
              <a:t>Α</a:t>
            </a:r>
            <a:r>
              <a:rPr kumimoji="0" lang="el-GR" sz="3200" i="0" u="none" strike="noStrike" kern="0" cap="none" spc="0" normalizeH="0" baseline="0" noProof="0" dirty="0" err="1">
                <a:ln>
                  <a:noFill/>
                </a:ln>
                <a:solidFill>
                  <a:srgbClr val="000000"/>
                </a:solidFill>
                <a:effectLst/>
                <a:uLnTx/>
                <a:uFillTx/>
                <a:latin typeface="Tahoma"/>
                <a:ea typeface="+mn-ea"/>
                <a:cs typeface="+mn-cs"/>
              </a:rPr>
              <a:t>ντικε</a:t>
            </a:r>
            <a:r>
              <a:rPr lang="el-GR" kern="0" dirty="0" err="1">
                <a:solidFill>
                  <a:srgbClr val="000000"/>
                </a:solidFill>
                <a:latin typeface="Tahoma"/>
              </a:rPr>
              <a:t>ίμενο</a:t>
            </a:r>
            <a:r>
              <a:rPr lang="el-GR" kern="0" dirty="0">
                <a:solidFill>
                  <a:srgbClr val="000000"/>
                </a:solidFill>
                <a:latin typeface="Tahoma"/>
              </a:rPr>
              <a:t> το βασικό δομικό στοιχείο</a:t>
            </a:r>
            <a:endParaRPr kumimoji="0" lang="en-US" sz="3200"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Object-class-instance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Objects collaborate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Associations</a:t>
            </a:r>
            <a:endParaRPr kumimoji="0" lang="el-GR" sz="28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1" i="0" u="none" strike="noStrike" kern="0" cap="none" spc="0" normalizeH="0" baseline="0" noProof="0" dirty="0">
                <a:ln>
                  <a:noFill/>
                </a:ln>
                <a:solidFill>
                  <a:srgbClr val="000000"/>
                </a:solidFill>
                <a:effectLst/>
                <a:uLnTx/>
                <a:uFillTx/>
                <a:latin typeface="Tahoma"/>
                <a:ea typeface="+mn-ea"/>
                <a:cs typeface="+mn-cs"/>
              </a:rPr>
              <a:t>Το παράδειγμα της Στοίβας</a:t>
            </a:r>
            <a:endParaRPr kumimoji="0" lang="en-US" sz="3200" b="1"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b="1" kern="0" dirty="0">
                <a:solidFill>
                  <a:srgbClr val="000000"/>
                </a:solidFill>
                <a:latin typeface="Tahoma"/>
              </a:rPr>
              <a:t>H </a:t>
            </a:r>
            <a:r>
              <a:rPr lang="el-GR" b="1" kern="0" dirty="0">
                <a:solidFill>
                  <a:srgbClr val="000000"/>
                </a:solidFill>
                <a:latin typeface="Tahoma"/>
              </a:rPr>
              <a:t>κλάση </a:t>
            </a:r>
            <a:r>
              <a:rPr lang="en-US" b="1" kern="0" dirty="0">
                <a:solidFill>
                  <a:srgbClr val="000000"/>
                </a:solidFill>
                <a:latin typeface="Tahoma"/>
              </a:rPr>
              <a:t>Stack</a:t>
            </a:r>
          </a:p>
          <a:p>
            <a:pPr lvl="1" indent="-342900" eaLnBrk="1" hangingPunct="1">
              <a:buClr>
                <a:srgbClr val="3333CC"/>
              </a:buClr>
              <a:buSzPct val="60000"/>
              <a:defRPr/>
            </a:pPr>
            <a:r>
              <a:rPr lang="el-GR" b="1" kern="0" dirty="0">
                <a:solidFill>
                  <a:srgbClr val="000000"/>
                </a:solidFill>
                <a:latin typeface="Tahoma"/>
              </a:rPr>
              <a:t>Στιγμιότυπα της </a:t>
            </a:r>
            <a:r>
              <a:rPr lang="en-US" b="1" kern="0" dirty="0">
                <a:solidFill>
                  <a:srgbClr val="000000"/>
                </a:solidFill>
                <a:latin typeface="Tahoma"/>
              </a:rPr>
              <a:t>Stack</a:t>
            </a:r>
          </a:p>
          <a:p>
            <a:pPr lvl="1" indent="-342900" eaLnBrk="1" hangingPunct="1">
              <a:buClr>
                <a:srgbClr val="3333CC"/>
              </a:buClr>
              <a:buSzPct val="60000"/>
              <a:defRPr/>
            </a:pPr>
            <a:r>
              <a:rPr kumimoji="0" lang="el-GR" b="0" i="0" u="none" strike="noStrike" kern="0" cap="none" spc="0" normalizeH="0" baseline="0" noProof="0" dirty="0">
                <a:ln>
                  <a:noFill/>
                </a:ln>
                <a:solidFill>
                  <a:srgbClr val="000000"/>
                </a:solidFill>
                <a:effectLst/>
                <a:uLnTx/>
                <a:uFillTx/>
                <a:latin typeface="Tahoma"/>
                <a:ea typeface="+mn-ea"/>
                <a:cs typeface="+mn-cs"/>
              </a:rPr>
              <a:t>Αξιοποίηση της </a:t>
            </a:r>
            <a:r>
              <a:rPr kumimoji="0" lang="en-US" b="0" i="0" u="none" strike="noStrike" kern="0" cap="none" spc="0" normalizeH="0" baseline="0" noProof="0" dirty="0">
                <a:ln>
                  <a:noFill/>
                </a:ln>
                <a:solidFill>
                  <a:srgbClr val="000000"/>
                </a:solidFill>
                <a:effectLst/>
                <a:uLnTx/>
                <a:uFillTx/>
                <a:latin typeface="Tahoma"/>
                <a:ea typeface="+mn-ea"/>
                <a:cs typeface="+mn-cs"/>
              </a:rPr>
              <a:t>Stack </a:t>
            </a:r>
            <a:r>
              <a:rPr kumimoji="0" lang="el-GR" b="0" i="0" u="none" strike="noStrike" kern="0" cap="none" spc="0" normalizeH="0" baseline="0" noProof="0" dirty="0">
                <a:ln>
                  <a:noFill/>
                </a:ln>
                <a:solidFill>
                  <a:srgbClr val="000000"/>
                </a:solidFill>
                <a:effectLst/>
                <a:uLnTx/>
                <a:uFillTx/>
                <a:latin typeface="Tahoma"/>
                <a:ea typeface="+mn-ea"/>
                <a:cs typeface="+mn-cs"/>
              </a:rPr>
              <a:t>μέσα από το </a:t>
            </a:r>
            <a:r>
              <a:rPr kumimoji="0" lang="en-US" b="0" i="0" u="none" strike="noStrike" kern="0" cap="none" spc="0" normalizeH="0" baseline="0" noProof="0" dirty="0" err="1">
                <a:ln>
                  <a:noFill/>
                </a:ln>
                <a:solidFill>
                  <a:srgbClr val="000000"/>
                </a:solidFill>
                <a:effectLst/>
                <a:uLnTx/>
                <a:uFillTx/>
                <a:latin typeface="Tahoma"/>
                <a:ea typeface="+mn-ea"/>
                <a:cs typeface="+mn-cs"/>
              </a:rPr>
              <a:t>BlueJ</a:t>
            </a:r>
            <a:endParaRPr kumimoji="0" lang="el-GR"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13777439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Η στοίβα στην ΟΟ προσέγγιση</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grpSp>
        <p:nvGrpSpPr>
          <p:cNvPr id="3" name="Group 2">
            <a:extLst>
              <a:ext uri="{FF2B5EF4-FFF2-40B4-BE49-F238E27FC236}">
                <a16:creationId xmlns:a16="http://schemas.microsoft.com/office/drawing/2014/main" id="{B97B27DF-D1A1-749E-43CA-1E69952E781A}"/>
              </a:ext>
            </a:extLst>
          </p:cNvPr>
          <p:cNvGrpSpPr/>
          <p:nvPr/>
        </p:nvGrpSpPr>
        <p:grpSpPr>
          <a:xfrm>
            <a:off x="131355" y="2397846"/>
            <a:ext cx="7383410" cy="1324471"/>
            <a:chOff x="186077" y="3380562"/>
            <a:chExt cx="8066087" cy="1324471"/>
          </a:xfrm>
        </p:grpSpPr>
        <p:sp>
          <p:nvSpPr>
            <p:cNvPr id="4" name="Rectangle 8">
              <a:extLst>
                <a:ext uri="{FF2B5EF4-FFF2-40B4-BE49-F238E27FC236}">
                  <a16:creationId xmlns:a16="http://schemas.microsoft.com/office/drawing/2014/main" id="{BF1C79B0-8844-DDDB-D0F4-29FB841EB3DE}"/>
                </a:ext>
              </a:extLst>
            </p:cNvPr>
            <p:cNvSpPr>
              <a:spLocks noChangeArrowheads="1"/>
            </p:cNvSpPr>
            <p:nvPr/>
          </p:nvSpPr>
          <p:spPr bwMode="auto">
            <a:xfrm>
              <a:off x="186077" y="3380562"/>
              <a:ext cx="8066087" cy="1296988"/>
            </a:xfrm>
            <a:prstGeom prst="rect">
              <a:avLst/>
            </a:prstGeom>
            <a:solidFill>
              <a:srgbClr val="FCFF8D"/>
            </a:solidFill>
            <a:ln w="9525">
              <a:noFill/>
              <a:miter lim="800000"/>
              <a:headEnd/>
              <a:tailEnd/>
            </a:ln>
          </p:spPr>
          <p:txBody>
            <a:bodyPr wrap="none" anchor="ctr"/>
            <a:lstStyle/>
            <a:p>
              <a:pPr algn="ctr" fontAlgn="base">
                <a:spcBef>
                  <a:spcPct val="0"/>
                </a:spcBef>
                <a:spcAft>
                  <a:spcPct val="0"/>
                </a:spcAft>
              </a:pPr>
              <a:endParaRPr lang="el-GR" sz="2400">
                <a:solidFill>
                  <a:srgbClr val="000000"/>
                </a:solidFill>
                <a:latin typeface="Tahoma" pitchFamily="34" charset="0"/>
              </a:endParaRPr>
            </a:p>
          </p:txBody>
        </p:sp>
        <p:sp>
          <p:nvSpPr>
            <p:cNvPr id="6" name="Text Box 9">
              <a:extLst>
                <a:ext uri="{FF2B5EF4-FFF2-40B4-BE49-F238E27FC236}">
                  <a16:creationId xmlns:a16="http://schemas.microsoft.com/office/drawing/2014/main" id="{229E4F52-407D-E14B-E2A6-2691F5F71194}"/>
                </a:ext>
              </a:extLst>
            </p:cNvPr>
            <p:cNvSpPr txBox="1">
              <a:spLocks noChangeArrowheads="1"/>
            </p:cNvSpPr>
            <p:nvPr/>
          </p:nvSpPr>
          <p:spPr bwMode="auto">
            <a:xfrm>
              <a:off x="5063381" y="3627815"/>
              <a:ext cx="2940229" cy="1077218"/>
            </a:xfrm>
            <a:prstGeom prst="rect">
              <a:avLst/>
            </a:prstGeom>
            <a:noFill/>
            <a:ln w="9525">
              <a:noFill/>
              <a:miter lim="800000"/>
              <a:headEnd/>
              <a:tailEnd/>
            </a:ln>
          </p:spPr>
          <p:txBody>
            <a:bodyPr wrap="none">
              <a:spAutoFit/>
            </a:bodyPr>
            <a:lstStyle/>
            <a:p>
              <a:pPr algn="ctr" fontAlgn="base">
                <a:spcBef>
                  <a:spcPct val="0"/>
                </a:spcBef>
                <a:spcAft>
                  <a:spcPct val="0"/>
                </a:spcAft>
              </a:pPr>
              <a:r>
                <a:rPr lang="el-GR" sz="3200" b="1" dirty="0">
                  <a:solidFill>
                    <a:srgbClr val="128F05"/>
                  </a:solidFill>
                  <a:latin typeface="Tahoma" pitchFamily="34" charset="0"/>
                </a:rPr>
                <a:t>Συμπεριφορά</a:t>
              </a:r>
              <a:endParaRPr lang="en-US" sz="3200" b="1" dirty="0">
                <a:solidFill>
                  <a:srgbClr val="128F05"/>
                </a:solidFill>
                <a:latin typeface="Tahoma" pitchFamily="34" charset="0"/>
              </a:endParaRPr>
            </a:p>
            <a:p>
              <a:pPr algn="ctr" fontAlgn="base">
                <a:spcBef>
                  <a:spcPct val="0"/>
                </a:spcBef>
                <a:spcAft>
                  <a:spcPct val="0"/>
                </a:spcAft>
              </a:pPr>
              <a:r>
                <a:rPr lang="en-US" sz="3200" b="1" dirty="0">
                  <a:solidFill>
                    <a:srgbClr val="128F05"/>
                  </a:solidFill>
                  <a:latin typeface="Tahoma" pitchFamily="34" charset="0"/>
                </a:rPr>
                <a:t>(behavior)</a:t>
              </a:r>
              <a:endParaRPr lang="el-GR" sz="3200" b="1" dirty="0">
                <a:solidFill>
                  <a:srgbClr val="128F05"/>
                </a:solidFill>
                <a:latin typeface="Tahoma" pitchFamily="34" charset="0"/>
              </a:endParaRPr>
            </a:p>
          </p:txBody>
        </p:sp>
      </p:grpSp>
      <p:grpSp>
        <p:nvGrpSpPr>
          <p:cNvPr id="7" name="Group 6">
            <a:extLst>
              <a:ext uri="{FF2B5EF4-FFF2-40B4-BE49-F238E27FC236}">
                <a16:creationId xmlns:a16="http://schemas.microsoft.com/office/drawing/2014/main" id="{C75FD3FF-C0D4-4E02-232A-50664FAC74C7}"/>
              </a:ext>
            </a:extLst>
          </p:cNvPr>
          <p:cNvGrpSpPr/>
          <p:nvPr/>
        </p:nvGrpSpPr>
        <p:grpSpPr>
          <a:xfrm>
            <a:off x="179440" y="1023686"/>
            <a:ext cx="7383410" cy="1213624"/>
            <a:chOff x="250825" y="2286814"/>
            <a:chExt cx="8066088" cy="1213624"/>
          </a:xfrm>
        </p:grpSpPr>
        <p:sp>
          <p:nvSpPr>
            <p:cNvPr id="9" name="Rectangle 4">
              <a:extLst>
                <a:ext uri="{FF2B5EF4-FFF2-40B4-BE49-F238E27FC236}">
                  <a16:creationId xmlns:a16="http://schemas.microsoft.com/office/drawing/2014/main" id="{E5FE249C-76DD-3AB3-6F1D-C9F2723173CC}"/>
                </a:ext>
              </a:extLst>
            </p:cNvPr>
            <p:cNvSpPr>
              <a:spLocks noChangeArrowheads="1"/>
            </p:cNvSpPr>
            <p:nvPr/>
          </p:nvSpPr>
          <p:spPr bwMode="auto">
            <a:xfrm>
              <a:off x="250825" y="2349500"/>
              <a:ext cx="8066088" cy="1150938"/>
            </a:xfrm>
            <a:prstGeom prst="rect">
              <a:avLst/>
            </a:prstGeom>
            <a:solidFill>
              <a:srgbClr val="FCFF8D"/>
            </a:solidFill>
            <a:ln w="9525">
              <a:noFill/>
              <a:miter lim="800000"/>
              <a:headEnd/>
              <a:tailEnd/>
            </a:ln>
          </p:spPr>
          <p:txBody>
            <a:bodyPr wrap="none" anchor="ctr"/>
            <a:lstStyle/>
            <a:p>
              <a:pPr algn="ctr" fontAlgn="base">
                <a:spcBef>
                  <a:spcPct val="0"/>
                </a:spcBef>
                <a:spcAft>
                  <a:spcPct val="0"/>
                </a:spcAft>
              </a:pPr>
              <a:endParaRPr lang="el-GR" sz="2400">
                <a:solidFill>
                  <a:srgbClr val="000000"/>
                </a:solidFill>
                <a:latin typeface="Tahoma" pitchFamily="34" charset="0"/>
              </a:endParaRPr>
            </a:p>
          </p:txBody>
        </p:sp>
        <p:sp>
          <p:nvSpPr>
            <p:cNvPr id="12" name="Text Box 6">
              <a:extLst>
                <a:ext uri="{FF2B5EF4-FFF2-40B4-BE49-F238E27FC236}">
                  <a16:creationId xmlns:a16="http://schemas.microsoft.com/office/drawing/2014/main" id="{C6AE5E9F-7D3F-EFFE-EC84-86A48EB50372}"/>
                </a:ext>
              </a:extLst>
            </p:cNvPr>
            <p:cNvSpPr txBox="1">
              <a:spLocks noChangeArrowheads="1"/>
            </p:cNvSpPr>
            <p:nvPr/>
          </p:nvSpPr>
          <p:spPr bwMode="auto">
            <a:xfrm>
              <a:off x="5566505" y="2286814"/>
              <a:ext cx="2449710" cy="1077218"/>
            </a:xfrm>
            <a:prstGeom prst="rect">
              <a:avLst/>
            </a:prstGeom>
            <a:noFill/>
            <a:ln w="9525">
              <a:noFill/>
              <a:miter lim="800000"/>
              <a:headEnd/>
              <a:tailEnd/>
            </a:ln>
          </p:spPr>
          <p:txBody>
            <a:bodyPr wrap="none">
              <a:spAutoFit/>
            </a:bodyPr>
            <a:lstStyle/>
            <a:p>
              <a:pPr algn="ctr" fontAlgn="base">
                <a:spcBef>
                  <a:spcPct val="0"/>
                </a:spcBef>
                <a:spcAft>
                  <a:spcPct val="0"/>
                </a:spcAft>
              </a:pPr>
              <a:r>
                <a:rPr lang="el-GR" sz="3200" b="1" dirty="0">
                  <a:solidFill>
                    <a:srgbClr val="FF0000"/>
                  </a:solidFill>
                  <a:latin typeface="Tahoma" pitchFamily="34" charset="0"/>
                </a:rPr>
                <a:t>Δομή</a:t>
              </a:r>
              <a:endParaRPr lang="en-US" sz="3200" b="1" dirty="0">
                <a:solidFill>
                  <a:srgbClr val="FF0000"/>
                </a:solidFill>
                <a:latin typeface="Tahoma" pitchFamily="34" charset="0"/>
              </a:endParaRPr>
            </a:p>
            <a:p>
              <a:pPr algn="ctr" fontAlgn="base">
                <a:spcBef>
                  <a:spcPct val="0"/>
                </a:spcBef>
                <a:spcAft>
                  <a:spcPct val="0"/>
                </a:spcAft>
              </a:pPr>
              <a:r>
                <a:rPr lang="en-US" sz="3200" b="1" dirty="0">
                  <a:solidFill>
                    <a:srgbClr val="FF0000"/>
                  </a:solidFill>
                  <a:latin typeface="Tahoma" pitchFamily="34" charset="0"/>
                </a:rPr>
                <a:t>(structure)</a:t>
              </a:r>
              <a:endParaRPr lang="el-GR" sz="3200" b="1" dirty="0">
                <a:solidFill>
                  <a:srgbClr val="FF0000"/>
                </a:solidFill>
                <a:latin typeface="Tahoma" pitchFamily="34" charset="0"/>
              </a:endParaRPr>
            </a:p>
          </p:txBody>
        </p:sp>
      </p:grpSp>
      <p:sp>
        <p:nvSpPr>
          <p:cNvPr id="13" name="Rectangle 3">
            <a:extLst>
              <a:ext uri="{FF2B5EF4-FFF2-40B4-BE49-F238E27FC236}">
                <a16:creationId xmlns:a16="http://schemas.microsoft.com/office/drawing/2014/main" id="{0BFD3641-9AC0-58BA-DA6B-763D2B83695B}"/>
              </a:ext>
            </a:extLst>
          </p:cNvPr>
          <p:cNvSpPr txBox="1">
            <a:spLocks noChangeArrowheads="1"/>
          </p:cNvSpPr>
          <p:nvPr/>
        </p:nvSpPr>
        <p:spPr bwMode="auto">
          <a:xfrm>
            <a:off x="165406" y="998629"/>
            <a:ext cx="5236794"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int stack[40];</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int </a:t>
            </a:r>
            <a:r>
              <a:rPr kumimoji="0" lang="en-US" sz="3200" b="0" i="0" u="none" strike="noStrike" kern="0" cap="none" spc="0" normalizeH="0" baseline="0" noProof="0" dirty="0" err="1">
                <a:ln>
                  <a:noFill/>
                </a:ln>
                <a:solidFill>
                  <a:srgbClr val="000000"/>
                </a:solidFill>
                <a:effectLst/>
                <a:uLnTx/>
                <a:uFillTx/>
                <a:latin typeface="Tahoma"/>
                <a:ea typeface="+mn-ea"/>
                <a:cs typeface="+mn-cs"/>
              </a:rPr>
              <a:t>sp</a:t>
            </a:r>
            <a:r>
              <a:rPr kumimoji="0" lang="en-US" sz="3200" b="0" i="0" u="none" strike="noStrike" kern="0" cap="none" spc="0" normalizeH="0" baseline="0" noProof="0" dirty="0">
                <a:ln>
                  <a:noFill/>
                </a:ln>
                <a:solidFill>
                  <a:srgbClr val="000000"/>
                </a:solidFill>
                <a:effectLst/>
                <a:uLnTx/>
                <a:uFillTx/>
                <a:latin typeface="Tahoma"/>
                <a:ea typeface="+mn-ea"/>
                <a:cs typeface="+mn-cs"/>
              </a:rPr>
              <a:t> = 0;</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US" sz="1200" b="0" i="0" u="none" strike="noStrike" kern="0" cap="none" spc="0" normalizeH="0" baseline="0" noProof="0" dirty="0">
              <a:ln>
                <a:noFill/>
              </a:ln>
              <a:solidFill>
                <a:srgbClr val="000000"/>
              </a:solidFill>
              <a:effectLst/>
              <a:uLnTx/>
              <a:uFillTx/>
              <a:latin typeface="Tahoma"/>
              <a:ea typeface="+mn-ea"/>
              <a:cs typeface="+mn-cs"/>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void push(int v) {….}</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int pop(void) {…}</a:t>
            </a:r>
            <a:endParaRPr kumimoji="0" lang="el-GR" sz="3200" b="0" i="0" u="none" strike="noStrike" kern="0" cap="none" spc="0" normalizeH="0" baseline="0" noProof="0" dirty="0">
              <a:ln>
                <a:noFill/>
              </a:ln>
              <a:solidFill>
                <a:srgbClr val="000000"/>
              </a:solidFill>
              <a:effectLst/>
              <a:uLnTx/>
              <a:uFillTx/>
              <a:latin typeface="Tahoma"/>
              <a:ea typeface="+mn-ea"/>
              <a:cs typeface="+mn-cs"/>
            </a:endParaRPr>
          </a:p>
        </p:txBody>
      </p:sp>
      <p:grpSp>
        <p:nvGrpSpPr>
          <p:cNvPr id="14" name="Group 13">
            <a:extLst>
              <a:ext uri="{FF2B5EF4-FFF2-40B4-BE49-F238E27FC236}">
                <a16:creationId xmlns:a16="http://schemas.microsoft.com/office/drawing/2014/main" id="{2F8819B2-425A-A9C1-57DC-7A4FD0C88F0E}"/>
              </a:ext>
            </a:extLst>
          </p:cNvPr>
          <p:cNvGrpSpPr/>
          <p:nvPr/>
        </p:nvGrpSpPr>
        <p:grpSpPr>
          <a:xfrm>
            <a:off x="250825" y="4292600"/>
            <a:ext cx="10593021" cy="2089150"/>
            <a:chOff x="250825" y="4292600"/>
            <a:chExt cx="8569325" cy="2089150"/>
          </a:xfrm>
        </p:grpSpPr>
        <p:sp>
          <p:nvSpPr>
            <p:cNvPr id="15" name="Rectangle 7">
              <a:extLst>
                <a:ext uri="{FF2B5EF4-FFF2-40B4-BE49-F238E27FC236}">
                  <a16:creationId xmlns:a16="http://schemas.microsoft.com/office/drawing/2014/main" id="{3DA936C2-04A0-DAC4-0B74-21A872C236B8}"/>
                </a:ext>
              </a:extLst>
            </p:cNvPr>
            <p:cNvSpPr>
              <a:spLocks noChangeArrowheads="1"/>
            </p:cNvSpPr>
            <p:nvPr/>
          </p:nvSpPr>
          <p:spPr bwMode="auto">
            <a:xfrm>
              <a:off x="250825" y="4292600"/>
              <a:ext cx="8569325" cy="2089150"/>
            </a:xfrm>
            <a:prstGeom prst="rect">
              <a:avLst/>
            </a:prstGeom>
            <a:solidFill>
              <a:srgbClr val="59AEB5"/>
            </a:solidFill>
            <a:ln w="9525">
              <a:no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nvGrpSpPr>
            <p:cNvPr id="16" name="Group 23">
              <a:extLst>
                <a:ext uri="{FF2B5EF4-FFF2-40B4-BE49-F238E27FC236}">
                  <a16:creationId xmlns:a16="http://schemas.microsoft.com/office/drawing/2014/main" id="{9E6119BD-493B-26E8-309B-5F1222581479}"/>
                </a:ext>
              </a:extLst>
            </p:cNvPr>
            <p:cNvGrpSpPr>
              <a:grpSpLocks/>
            </p:cNvGrpSpPr>
            <p:nvPr/>
          </p:nvGrpSpPr>
          <p:grpSpPr bwMode="auto">
            <a:xfrm>
              <a:off x="611188" y="4724400"/>
              <a:ext cx="1406525" cy="1463675"/>
              <a:chOff x="2789" y="3067"/>
              <a:chExt cx="886" cy="922"/>
            </a:xfrm>
          </p:grpSpPr>
          <p:sp>
            <p:nvSpPr>
              <p:cNvPr id="57" name="Rectangle 8">
                <a:extLst>
                  <a:ext uri="{FF2B5EF4-FFF2-40B4-BE49-F238E27FC236}">
                    <a16:creationId xmlns:a16="http://schemas.microsoft.com/office/drawing/2014/main" id="{D2108FCC-9230-6C8F-ADEC-41934CDA1895}"/>
                  </a:ext>
                </a:extLst>
              </p:cNvPr>
              <p:cNvSpPr>
                <a:spLocks noChangeArrowheads="1"/>
              </p:cNvSpPr>
              <p:nvPr/>
            </p:nvSpPr>
            <p:spPr bwMode="auto">
              <a:xfrm>
                <a:off x="3061" y="3113"/>
                <a:ext cx="454" cy="725"/>
              </a:xfrm>
              <a:prstGeom prst="rect">
                <a:avLst/>
              </a:prstGeom>
              <a:solidFill>
                <a:srgbClr val="FFFFFF"/>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8" name="Line 9">
                <a:extLst>
                  <a:ext uri="{FF2B5EF4-FFF2-40B4-BE49-F238E27FC236}">
                    <a16:creationId xmlns:a16="http://schemas.microsoft.com/office/drawing/2014/main" id="{2725C7A7-256A-FE23-DA87-04C0E081FC55}"/>
                  </a:ext>
                </a:extLst>
              </p:cNvPr>
              <p:cNvSpPr>
                <a:spLocks noChangeShapeType="1"/>
              </p:cNvSpPr>
              <p:nvPr/>
            </p:nvSpPr>
            <p:spPr bwMode="auto">
              <a:xfrm>
                <a:off x="3061" y="3203"/>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9" name="Line 10">
                <a:extLst>
                  <a:ext uri="{FF2B5EF4-FFF2-40B4-BE49-F238E27FC236}">
                    <a16:creationId xmlns:a16="http://schemas.microsoft.com/office/drawing/2014/main" id="{BCCE2192-33BD-6BC8-BB53-787DDE8CEAD9}"/>
                  </a:ext>
                </a:extLst>
              </p:cNvPr>
              <p:cNvSpPr>
                <a:spLocks noChangeShapeType="1"/>
              </p:cNvSpPr>
              <p:nvPr/>
            </p:nvSpPr>
            <p:spPr bwMode="auto">
              <a:xfrm>
                <a:off x="3061" y="3294"/>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0" name="Line 11">
                <a:extLst>
                  <a:ext uri="{FF2B5EF4-FFF2-40B4-BE49-F238E27FC236}">
                    <a16:creationId xmlns:a16="http://schemas.microsoft.com/office/drawing/2014/main" id="{AC646124-0243-7056-41A3-3149911E56EE}"/>
                  </a:ext>
                </a:extLst>
              </p:cNvPr>
              <p:cNvSpPr>
                <a:spLocks noChangeShapeType="1"/>
              </p:cNvSpPr>
              <p:nvPr/>
            </p:nvSpPr>
            <p:spPr bwMode="auto">
              <a:xfrm>
                <a:off x="3061" y="3385"/>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1" name="Line 12">
                <a:extLst>
                  <a:ext uri="{FF2B5EF4-FFF2-40B4-BE49-F238E27FC236}">
                    <a16:creationId xmlns:a16="http://schemas.microsoft.com/office/drawing/2014/main" id="{383BF571-1E32-90F5-398D-29CE7277C40B}"/>
                  </a:ext>
                </a:extLst>
              </p:cNvPr>
              <p:cNvSpPr>
                <a:spLocks noChangeShapeType="1"/>
              </p:cNvSpPr>
              <p:nvPr/>
            </p:nvSpPr>
            <p:spPr bwMode="auto">
              <a:xfrm>
                <a:off x="3061" y="3475"/>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2" name="Line 13">
                <a:extLst>
                  <a:ext uri="{FF2B5EF4-FFF2-40B4-BE49-F238E27FC236}">
                    <a16:creationId xmlns:a16="http://schemas.microsoft.com/office/drawing/2014/main" id="{E52940B3-975E-C6CF-92A5-DE8352161D67}"/>
                  </a:ext>
                </a:extLst>
              </p:cNvPr>
              <p:cNvSpPr>
                <a:spLocks noChangeShapeType="1"/>
              </p:cNvSpPr>
              <p:nvPr/>
            </p:nvSpPr>
            <p:spPr bwMode="auto">
              <a:xfrm>
                <a:off x="3061" y="3566"/>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3" name="Line 14">
                <a:extLst>
                  <a:ext uri="{FF2B5EF4-FFF2-40B4-BE49-F238E27FC236}">
                    <a16:creationId xmlns:a16="http://schemas.microsoft.com/office/drawing/2014/main" id="{01E08766-3628-AD7E-E529-777E3B1AF6F8}"/>
                  </a:ext>
                </a:extLst>
              </p:cNvPr>
              <p:cNvSpPr>
                <a:spLocks noChangeShapeType="1"/>
              </p:cNvSpPr>
              <p:nvPr/>
            </p:nvSpPr>
            <p:spPr bwMode="auto">
              <a:xfrm>
                <a:off x="3061" y="3657"/>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4" name="Line 15">
                <a:extLst>
                  <a:ext uri="{FF2B5EF4-FFF2-40B4-BE49-F238E27FC236}">
                    <a16:creationId xmlns:a16="http://schemas.microsoft.com/office/drawing/2014/main" id="{81070313-289A-FE5B-6BA2-944CDB228930}"/>
                  </a:ext>
                </a:extLst>
              </p:cNvPr>
              <p:cNvSpPr>
                <a:spLocks noChangeShapeType="1"/>
              </p:cNvSpPr>
              <p:nvPr/>
            </p:nvSpPr>
            <p:spPr bwMode="auto">
              <a:xfrm>
                <a:off x="3061" y="3748"/>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5" name="Rectangle 16">
                <a:extLst>
                  <a:ext uri="{FF2B5EF4-FFF2-40B4-BE49-F238E27FC236}">
                    <a16:creationId xmlns:a16="http://schemas.microsoft.com/office/drawing/2014/main" id="{0F299DB9-F5EA-7F69-C765-FDBE209EF5C3}"/>
                  </a:ext>
                </a:extLst>
              </p:cNvPr>
              <p:cNvSpPr>
                <a:spLocks noChangeArrowheads="1"/>
              </p:cNvSpPr>
              <p:nvPr/>
            </p:nvSpPr>
            <p:spPr bwMode="auto">
              <a:xfrm>
                <a:off x="3061" y="3838"/>
                <a:ext cx="454" cy="91"/>
              </a:xfrm>
              <a:prstGeom prst="rect">
                <a:avLst/>
              </a:prstGeom>
              <a:solidFill>
                <a:srgbClr val="11C1D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FFCF01"/>
                  </a:solidFill>
                  <a:effectLst/>
                  <a:uLnTx/>
                  <a:uFillTx/>
                  <a:latin typeface="Tahoma" pitchFamily="34" charset="0"/>
                </a:endParaRPr>
              </a:p>
            </p:txBody>
          </p:sp>
          <p:sp>
            <p:nvSpPr>
              <p:cNvPr id="66" name="Text Box 17">
                <a:extLst>
                  <a:ext uri="{FF2B5EF4-FFF2-40B4-BE49-F238E27FC236}">
                    <a16:creationId xmlns:a16="http://schemas.microsoft.com/office/drawing/2014/main" id="{46D4E3EC-5DA9-2BE8-069D-367CE4AB0B7E}"/>
                  </a:ext>
                </a:extLst>
              </p:cNvPr>
              <p:cNvSpPr txBox="1">
                <a:spLocks noChangeArrowheads="1"/>
              </p:cNvSpPr>
              <p:nvPr/>
            </p:nvSpPr>
            <p:spPr bwMode="auto">
              <a:xfrm>
                <a:off x="3515" y="3067"/>
                <a:ext cx="160" cy="92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0</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2</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3</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4</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5</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6</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p:txBody>
          </p:sp>
          <p:sp>
            <p:nvSpPr>
              <p:cNvPr id="67" name="Line 19">
                <a:extLst>
                  <a:ext uri="{FF2B5EF4-FFF2-40B4-BE49-F238E27FC236}">
                    <a16:creationId xmlns:a16="http://schemas.microsoft.com/office/drawing/2014/main" id="{50377FEA-60FC-021B-DAA9-6046E9ED5FEF}"/>
                  </a:ext>
                </a:extLst>
              </p:cNvPr>
              <p:cNvSpPr>
                <a:spLocks noChangeShapeType="1"/>
              </p:cNvSpPr>
              <p:nvPr/>
            </p:nvSpPr>
            <p:spPr bwMode="auto">
              <a:xfrm flipH="1">
                <a:off x="2789" y="3884"/>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8" name="Line 20">
                <a:extLst>
                  <a:ext uri="{FF2B5EF4-FFF2-40B4-BE49-F238E27FC236}">
                    <a16:creationId xmlns:a16="http://schemas.microsoft.com/office/drawing/2014/main" id="{45434487-C4A2-DCA2-0543-5F022600BCD2}"/>
                  </a:ext>
                </a:extLst>
              </p:cNvPr>
              <p:cNvSpPr>
                <a:spLocks noChangeShapeType="1"/>
              </p:cNvSpPr>
              <p:nvPr/>
            </p:nvSpPr>
            <p:spPr bwMode="auto">
              <a:xfrm flipV="1">
                <a:off x="2789" y="3158"/>
                <a:ext cx="0" cy="726"/>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9" name="Line 21">
                <a:extLst>
                  <a:ext uri="{FF2B5EF4-FFF2-40B4-BE49-F238E27FC236}">
                    <a16:creationId xmlns:a16="http://schemas.microsoft.com/office/drawing/2014/main" id="{DCB19EF2-CAD9-5CF5-B491-6C2D1D1FB19C}"/>
                  </a:ext>
                </a:extLst>
              </p:cNvPr>
              <p:cNvSpPr>
                <a:spLocks noChangeShapeType="1"/>
              </p:cNvSpPr>
              <p:nvPr/>
            </p:nvSpPr>
            <p:spPr bwMode="auto">
              <a:xfrm>
                <a:off x="2789" y="3158"/>
                <a:ext cx="0"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0" name="Line 22">
                <a:extLst>
                  <a:ext uri="{FF2B5EF4-FFF2-40B4-BE49-F238E27FC236}">
                    <a16:creationId xmlns:a16="http://schemas.microsoft.com/office/drawing/2014/main" id="{37C710B3-950B-8612-D134-B5662A4F5970}"/>
                  </a:ext>
                </a:extLst>
              </p:cNvPr>
              <p:cNvSpPr>
                <a:spLocks noChangeShapeType="1"/>
              </p:cNvSpPr>
              <p:nvPr/>
            </p:nvSpPr>
            <p:spPr bwMode="auto">
              <a:xfrm>
                <a:off x="2789" y="3158"/>
                <a:ext cx="363"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grpSp>
          <p:nvGrpSpPr>
            <p:cNvPr id="17" name="Group 43">
              <a:extLst>
                <a:ext uri="{FF2B5EF4-FFF2-40B4-BE49-F238E27FC236}">
                  <a16:creationId xmlns:a16="http://schemas.microsoft.com/office/drawing/2014/main" id="{182F2863-45D0-45FF-84C4-EBF8A450D9DA}"/>
                </a:ext>
              </a:extLst>
            </p:cNvPr>
            <p:cNvGrpSpPr>
              <a:grpSpLocks/>
            </p:cNvGrpSpPr>
            <p:nvPr/>
          </p:nvGrpSpPr>
          <p:grpSpPr bwMode="auto">
            <a:xfrm>
              <a:off x="2987675" y="4652963"/>
              <a:ext cx="1406525" cy="1463675"/>
              <a:chOff x="1927" y="3022"/>
              <a:chExt cx="886" cy="922"/>
            </a:xfrm>
          </p:grpSpPr>
          <p:sp>
            <p:nvSpPr>
              <p:cNvPr id="40" name="Rectangle 25">
                <a:extLst>
                  <a:ext uri="{FF2B5EF4-FFF2-40B4-BE49-F238E27FC236}">
                    <a16:creationId xmlns:a16="http://schemas.microsoft.com/office/drawing/2014/main" id="{F5EB7F78-2F3C-2F0F-5E31-D6FAC215112D}"/>
                  </a:ext>
                </a:extLst>
              </p:cNvPr>
              <p:cNvSpPr>
                <a:spLocks noChangeArrowheads="1"/>
              </p:cNvSpPr>
              <p:nvPr/>
            </p:nvSpPr>
            <p:spPr bwMode="auto">
              <a:xfrm>
                <a:off x="2199" y="3068"/>
                <a:ext cx="454" cy="725"/>
              </a:xfrm>
              <a:prstGeom prst="rect">
                <a:avLst/>
              </a:prstGeom>
              <a:solidFill>
                <a:srgbClr val="FFFFFF"/>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1" name="Line 26">
                <a:extLst>
                  <a:ext uri="{FF2B5EF4-FFF2-40B4-BE49-F238E27FC236}">
                    <a16:creationId xmlns:a16="http://schemas.microsoft.com/office/drawing/2014/main" id="{3DDDCE73-DC5C-0751-8BD6-172450D3129F}"/>
                  </a:ext>
                </a:extLst>
              </p:cNvPr>
              <p:cNvSpPr>
                <a:spLocks noChangeShapeType="1"/>
              </p:cNvSpPr>
              <p:nvPr/>
            </p:nvSpPr>
            <p:spPr bwMode="auto">
              <a:xfrm>
                <a:off x="2199" y="3158"/>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2" name="Line 27">
                <a:extLst>
                  <a:ext uri="{FF2B5EF4-FFF2-40B4-BE49-F238E27FC236}">
                    <a16:creationId xmlns:a16="http://schemas.microsoft.com/office/drawing/2014/main" id="{DB1FF5B5-7503-6B75-E9D6-2B802DCD71B5}"/>
                  </a:ext>
                </a:extLst>
              </p:cNvPr>
              <p:cNvSpPr>
                <a:spLocks noChangeShapeType="1"/>
              </p:cNvSpPr>
              <p:nvPr/>
            </p:nvSpPr>
            <p:spPr bwMode="auto">
              <a:xfrm>
                <a:off x="2199" y="324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3" name="Line 28">
                <a:extLst>
                  <a:ext uri="{FF2B5EF4-FFF2-40B4-BE49-F238E27FC236}">
                    <a16:creationId xmlns:a16="http://schemas.microsoft.com/office/drawing/2014/main" id="{F5E5B612-5A00-A8F3-48A6-E12E39FC7E02}"/>
                  </a:ext>
                </a:extLst>
              </p:cNvPr>
              <p:cNvSpPr>
                <a:spLocks noChangeShapeType="1"/>
              </p:cNvSpPr>
              <p:nvPr/>
            </p:nvSpPr>
            <p:spPr bwMode="auto">
              <a:xfrm>
                <a:off x="2199" y="334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4" name="Line 29">
                <a:extLst>
                  <a:ext uri="{FF2B5EF4-FFF2-40B4-BE49-F238E27FC236}">
                    <a16:creationId xmlns:a16="http://schemas.microsoft.com/office/drawing/2014/main" id="{BD88F90D-6006-E43D-A5B3-D43AC5A68D52}"/>
                  </a:ext>
                </a:extLst>
              </p:cNvPr>
              <p:cNvSpPr>
                <a:spLocks noChangeShapeType="1"/>
              </p:cNvSpPr>
              <p:nvPr/>
            </p:nvSpPr>
            <p:spPr bwMode="auto">
              <a:xfrm>
                <a:off x="2199" y="343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5" name="Line 30">
                <a:extLst>
                  <a:ext uri="{FF2B5EF4-FFF2-40B4-BE49-F238E27FC236}">
                    <a16:creationId xmlns:a16="http://schemas.microsoft.com/office/drawing/2014/main" id="{0F391ACE-3DFD-BCB7-E534-E4C659217C06}"/>
                  </a:ext>
                </a:extLst>
              </p:cNvPr>
              <p:cNvSpPr>
                <a:spLocks noChangeShapeType="1"/>
              </p:cNvSpPr>
              <p:nvPr/>
            </p:nvSpPr>
            <p:spPr bwMode="auto">
              <a:xfrm>
                <a:off x="2199" y="3521"/>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6" name="Line 31">
                <a:extLst>
                  <a:ext uri="{FF2B5EF4-FFF2-40B4-BE49-F238E27FC236}">
                    <a16:creationId xmlns:a16="http://schemas.microsoft.com/office/drawing/2014/main" id="{4ECB76AD-E358-4082-1301-0EA93C04E057}"/>
                  </a:ext>
                </a:extLst>
              </p:cNvPr>
              <p:cNvSpPr>
                <a:spLocks noChangeShapeType="1"/>
              </p:cNvSpPr>
              <p:nvPr/>
            </p:nvSpPr>
            <p:spPr bwMode="auto">
              <a:xfrm>
                <a:off x="2199" y="3612"/>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7" name="Line 32">
                <a:extLst>
                  <a:ext uri="{FF2B5EF4-FFF2-40B4-BE49-F238E27FC236}">
                    <a16:creationId xmlns:a16="http://schemas.microsoft.com/office/drawing/2014/main" id="{5AA54A7C-1D6E-B866-72C9-C414058D0A95}"/>
                  </a:ext>
                </a:extLst>
              </p:cNvPr>
              <p:cNvSpPr>
                <a:spLocks noChangeShapeType="1"/>
              </p:cNvSpPr>
              <p:nvPr/>
            </p:nvSpPr>
            <p:spPr bwMode="auto">
              <a:xfrm>
                <a:off x="2199" y="3703"/>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8" name="Rectangle 33">
                <a:extLst>
                  <a:ext uri="{FF2B5EF4-FFF2-40B4-BE49-F238E27FC236}">
                    <a16:creationId xmlns:a16="http://schemas.microsoft.com/office/drawing/2014/main" id="{45391691-92B9-4FA6-23A1-4BB400D31A3F}"/>
                  </a:ext>
                </a:extLst>
              </p:cNvPr>
              <p:cNvSpPr>
                <a:spLocks noChangeArrowheads="1"/>
              </p:cNvSpPr>
              <p:nvPr/>
            </p:nvSpPr>
            <p:spPr bwMode="auto">
              <a:xfrm>
                <a:off x="2199" y="3793"/>
                <a:ext cx="454" cy="91"/>
              </a:xfrm>
              <a:prstGeom prst="rect">
                <a:avLst/>
              </a:prstGeom>
              <a:solidFill>
                <a:srgbClr val="11C1D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FFCF01"/>
                  </a:solidFill>
                  <a:effectLst/>
                  <a:uLnTx/>
                  <a:uFillTx/>
                  <a:latin typeface="Tahoma" pitchFamily="34" charset="0"/>
                </a:endParaRPr>
              </a:p>
            </p:txBody>
          </p:sp>
          <p:sp>
            <p:nvSpPr>
              <p:cNvPr id="49" name="Text Box 34">
                <a:extLst>
                  <a:ext uri="{FF2B5EF4-FFF2-40B4-BE49-F238E27FC236}">
                    <a16:creationId xmlns:a16="http://schemas.microsoft.com/office/drawing/2014/main" id="{2B8F4B03-401D-E762-3908-A23387AAED6E}"/>
                  </a:ext>
                </a:extLst>
              </p:cNvPr>
              <p:cNvSpPr txBox="1">
                <a:spLocks noChangeArrowheads="1"/>
              </p:cNvSpPr>
              <p:nvPr/>
            </p:nvSpPr>
            <p:spPr bwMode="auto">
              <a:xfrm>
                <a:off x="2653" y="3022"/>
                <a:ext cx="160" cy="92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0</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2</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3</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4</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5</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6</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p:txBody>
          </p:sp>
          <p:sp>
            <p:nvSpPr>
              <p:cNvPr id="50" name="Line 35">
                <a:extLst>
                  <a:ext uri="{FF2B5EF4-FFF2-40B4-BE49-F238E27FC236}">
                    <a16:creationId xmlns:a16="http://schemas.microsoft.com/office/drawing/2014/main" id="{38CB9FA6-BB20-FAE5-F07E-7918CD6A254D}"/>
                  </a:ext>
                </a:extLst>
              </p:cNvPr>
              <p:cNvSpPr>
                <a:spLocks noChangeShapeType="1"/>
              </p:cNvSpPr>
              <p:nvPr/>
            </p:nvSpPr>
            <p:spPr bwMode="auto">
              <a:xfrm flipH="1">
                <a:off x="1927" y="383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1" name="Line 36">
                <a:extLst>
                  <a:ext uri="{FF2B5EF4-FFF2-40B4-BE49-F238E27FC236}">
                    <a16:creationId xmlns:a16="http://schemas.microsoft.com/office/drawing/2014/main" id="{9307634C-D27B-26B2-523C-81D609EDD0F3}"/>
                  </a:ext>
                </a:extLst>
              </p:cNvPr>
              <p:cNvSpPr>
                <a:spLocks noChangeShapeType="1"/>
              </p:cNvSpPr>
              <p:nvPr/>
            </p:nvSpPr>
            <p:spPr bwMode="auto">
              <a:xfrm flipV="1">
                <a:off x="1927" y="3385"/>
                <a:ext cx="0" cy="454"/>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2" name="Line 37">
                <a:extLst>
                  <a:ext uri="{FF2B5EF4-FFF2-40B4-BE49-F238E27FC236}">
                    <a16:creationId xmlns:a16="http://schemas.microsoft.com/office/drawing/2014/main" id="{24D9DE92-08B0-E157-8224-6894F62281AB}"/>
                  </a:ext>
                </a:extLst>
              </p:cNvPr>
              <p:cNvSpPr>
                <a:spLocks noChangeShapeType="1"/>
              </p:cNvSpPr>
              <p:nvPr/>
            </p:nvSpPr>
            <p:spPr bwMode="auto">
              <a:xfrm>
                <a:off x="1927" y="3113"/>
                <a:ext cx="0"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3" name="Line 38">
                <a:extLst>
                  <a:ext uri="{FF2B5EF4-FFF2-40B4-BE49-F238E27FC236}">
                    <a16:creationId xmlns:a16="http://schemas.microsoft.com/office/drawing/2014/main" id="{2EF22F87-4454-75F6-10BF-EB734667DEE1}"/>
                  </a:ext>
                </a:extLst>
              </p:cNvPr>
              <p:cNvSpPr>
                <a:spLocks noChangeShapeType="1"/>
              </p:cNvSpPr>
              <p:nvPr/>
            </p:nvSpPr>
            <p:spPr bwMode="auto">
              <a:xfrm>
                <a:off x="1927" y="3385"/>
                <a:ext cx="363"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4" name="Text Box 40">
                <a:extLst>
                  <a:ext uri="{FF2B5EF4-FFF2-40B4-BE49-F238E27FC236}">
                    <a16:creationId xmlns:a16="http://schemas.microsoft.com/office/drawing/2014/main" id="{4720B3C6-E834-1AB5-15FB-0FF2774CDAC2}"/>
                  </a:ext>
                </a:extLst>
              </p:cNvPr>
              <p:cNvSpPr txBox="1">
                <a:spLocks noChangeArrowheads="1"/>
              </p:cNvSpPr>
              <p:nvPr/>
            </p:nvSpPr>
            <p:spPr bwMode="auto">
              <a:xfrm>
                <a:off x="2245" y="3022"/>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55" name="Text Box 41">
                <a:extLst>
                  <a:ext uri="{FF2B5EF4-FFF2-40B4-BE49-F238E27FC236}">
                    <a16:creationId xmlns:a16="http://schemas.microsoft.com/office/drawing/2014/main" id="{EA815E5C-921F-FEA7-0E24-7FFF7FCB7DFB}"/>
                  </a:ext>
                </a:extLst>
              </p:cNvPr>
              <p:cNvSpPr txBox="1">
                <a:spLocks noChangeArrowheads="1"/>
              </p:cNvSpPr>
              <p:nvPr/>
            </p:nvSpPr>
            <p:spPr bwMode="auto">
              <a:xfrm>
                <a:off x="2290" y="311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56" name="Text Box 42">
                <a:extLst>
                  <a:ext uri="{FF2B5EF4-FFF2-40B4-BE49-F238E27FC236}">
                    <a16:creationId xmlns:a16="http://schemas.microsoft.com/office/drawing/2014/main" id="{090970FD-31A1-8ED9-4A84-20B81FF8020A}"/>
                  </a:ext>
                </a:extLst>
              </p:cNvPr>
              <p:cNvSpPr txBox="1">
                <a:spLocks noChangeArrowheads="1"/>
              </p:cNvSpPr>
              <p:nvPr/>
            </p:nvSpPr>
            <p:spPr bwMode="auto">
              <a:xfrm>
                <a:off x="2245" y="320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grpSp>
        <p:grpSp>
          <p:nvGrpSpPr>
            <p:cNvPr id="18" name="Group 66">
              <a:extLst>
                <a:ext uri="{FF2B5EF4-FFF2-40B4-BE49-F238E27FC236}">
                  <a16:creationId xmlns:a16="http://schemas.microsoft.com/office/drawing/2014/main" id="{4135BA72-FF0B-B6F4-B218-B86F592DAD48}"/>
                </a:ext>
              </a:extLst>
            </p:cNvPr>
            <p:cNvGrpSpPr>
              <a:grpSpLocks/>
            </p:cNvGrpSpPr>
            <p:nvPr/>
          </p:nvGrpSpPr>
          <p:grpSpPr bwMode="auto">
            <a:xfrm>
              <a:off x="6156325" y="4797425"/>
              <a:ext cx="1406525" cy="1463675"/>
              <a:chOff x="3470" y="3022"/>
              <a:chExt cx="886" cy="922"/>
            </a:xfrm>
          </p:grpSpPr>
          <p:sp>
            <p:nvSpPr>
              <p:cNvPr id="19" name="Rectangle 45">
                <a:extLst>
                  <a:ext uri="{FF2B5EF4-FFF2-40B4-BE49-F238E27FC236}">
                    <a16:creationId xmlns:a16="http://schemas.microsoft.com/office/drawing/2014/main" id="{A8F06160-D02D-1411-41E2-35310253C939}"/>
                  </a:ext>
                </a:extLst>
              </p:cNvPr>
              <p:cNvSpPr>
                <a:spLocks noChangeArrowheads="1"/>
              </p:cNvSpPr>
              <p:nvPr/>
            </p:nvSpPr>
            <p:spPr bwMode="auto">
              <a:xfrm>
                <a:off x="3742" y="3068"/>
                <a:ext cx="454" cy="725"/>
              </a:xfrm>
              <a:prstGeom prst="rect">
                <a:avLst/>
              </a:prstGeom>
              <a:solidFill>
                <a:srgbClr val="FFFFFF"/>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0" name="Line 46">
                <a:extLst>
                  <a:ext uri="{FF2B5EF4-FFF2-40B4-BE49-F238E27FC236}">
                    <a16:creationId xmlns:a16="http://schemas.microsoft.com/office/drawing/2014/main" id="{C64B99EF-2602-6B8F-E2FB-D6E29E520C91}"/>
                  </a:ext>
                </a:extLst>
              </p:cNvPr>
              <p:cNvSpPr>
                <a:spLocks noChangeShapeType="1"/>
              </p:cNvSpPr>
              <p:nvPr/>
            </p:nvSpPr>
            <p:spPr bwMode="auto">
              <a:xfrm>
                <a:off x="3742" y="3158"/>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1" name="Line 47">
                <a:extLst>
                  <a:ext uri="{FF2B5EF4-FFF2-40B4-BE49-F238E27FC236}">
                    <a16:creationId xmlns:a16="http://schemas.microsoft.com/office/drawing/2014/main" id="{B7F58AD0-FB5E-6E7A-A0CB-0B0362D5425B}"/>
                  </a:ext>
                </a:extLst>
              </p:cNvPr>
              <p:cNvSpPr>
                <a:spLocks noChangeShapeType="1"/>
              </p:cNvSpPr>
              <p:nvPr/>
            </p:nvSpPr>
            <p:spPr bwMode="auto">
              <a:xfrm>
                <a:off x="3742" y="324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2" name="Line 48">
                <a:extLst>
                  <a:ext uri="{FF2B5EF4-FFF2-40B4-BE49-F238E27FC236}">
                    <a16:creationId xmlns:a16="http://schemas.microsoft.com/office/drawing/2014/main" id="{A2227E17-72C1-23F8-EF73-81EF2CBB6573}"/>
                  </a:ext>
                </a:extLst>
              </p:cNvPr>
              <p:cNvSpPr>
                <a:spLocks noChangeShapeType="1"/>
              </p:cNvSpPr>
              <p:nvPr/>
            </p:nvSpPr>
            <p:spPr bwMode="auto">
              <a:xfrm>
                <a:off x="3742" y="334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3" name="Line 49">
                <a:extLst>
                  <a:ext uri="{FF2B5EF4-FFF2-40B4-BE49-F238E27FC236}">
                    <a16:creationId xmlns:a16="http://schemas.microsoft.com/office/drawing/2014/main" id="{A68D4DA5-0E35-2B95-91F6-DE7298BA7E0E}"/>
                  </a:ext>
                </a:extLst>
              </p:cNvPr>
              <p:cNvSpPr>
                <a:spLocks noChangeShapeType="1"/>
              </p:cNvSpPr>
              <p:nvPr/>
            </p:nvSpPr>
            <p:spPr bwMode="auto">
              <a:xfrm>
                <a:off x="3742" y="343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4" name="Line 50">
                <a:extLst>
                  <a:ext uri="{FF2B5EF4-FFF2-40B4-BE49-F238E27FC236}">
                    <a16:creationId xmlns:a16="http://schemas.microsoft.com/office/drawing/2014/main" id="{9D0AC388-397B-5842-3F73-E1A40B18C323}"/>
                  </a:ext>
                </a:extLst>
              </p:cNvPr>
              <p:cNvSpPr>
                <a:spLocks noChangeShapeType="1"/>
              </p:cNvSpPr>
              <p:nvPr/>
            </p:nvSpPr>
            <p:spPr bwMode="auto">
              <a:xfrm>
                <a:off x="3742" y="3521"/>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5" name="Line 51">
                <a:extLst>
                  <a:ext uri="{FF2B5EF4-FFF2-40B4-BE49-F238E27FC236}">
                    <a16:creationId xmlns:a16="http://schemas.microsoft.com/office/drawing/2014/main" id="{E658FCCE-CCD7-4437-D69C-15FB7ECD7C45}"/>
                  </a:ext>
                </a:extLst>
              </p:cNvPr>
              <p:cNvSpPr>
                <a:spLocks noChangeShapeType="1"/>
              </p:cNvSpPr>
              <p:nvPr/>
            </p:nvSpPr>
            <p:spPr bwMode="auto">
              <a:xfrm>
                <a:off x="3742" y="3612"/>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6" name="Line 52">
                <a:extLst>
                  <a:ext uri="{FF2B5EF4-FFF2-40B4-BE49-F238E27FC236}">
                    <a16:creationId xmlns:a16="http://schemas.microsoft.com/office/drawing/2014/main" id="{7BE90531-F49C-A51A-2ED9-A203EB7FCE9E}"/>
                  </a:ext>
                </a:extLst>
              </p:cNvPr>
              <p:cNvSpPr>
                <a:spLocks noChangeShapeType="1"/>
              </p:cNvSpPr>
              <p:nvPr/>
            </p:nvSpPr>
            <p:spPr bwMode="auto">
              <a:xfrm>
                <a:off x="3742" y="3703"/>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7" name="Rectangle 53">
                <a:extLst>
                  <a:ext uri="{FF2B5EF4-FFF2-40B4-BE49-F238E27FC236}">
                    <a16:creationId xmlns:a16="http://schemas.microsoft.com/office/drawing/2014/main" id="{A7B32621-40D0-4F30-C697-F8DCEF732729}"/>
                  </a:ext>
                </a:extLst>
              </p:cNvPr>
              <p:cNvSpPr>
                <a:spLocks noChangeArrowheads="1"/>
              </p:cNvSpPr>
              <p:nvPr/>
            </p:nvSpPr>
            <p:spPr bwMode="auto">
              <a:xfrm>
                <a:off x="3742" y="3793"/>
                <a:ext cx="454" cy="91"/>
              </a:xfrm>
              <a:prstGeom prst="rect">
                <a:avLst/>
              </a:prstGeom>
              <a:solidFill>
                <a:srgbClr val="11C1D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FFCF01"/>
                  </a:solidFill>
                  <a:effectLst/>
                  <a:uLnTx/>
                  <a:uFillTx/>
                  <a:latin typeface="Tahoma" pitchFamily="34" charset="0"/>
                </a:endParaRPr>
              </a:p>
            </p:txBody>
          </p:sp>
          <p:sp>
            <p:nvSpPr>
              <p:cNvPr id="28" name="Text Box 54">
                <a:extLst>
                  <a:ext uri="{FF2B5EF4-FFF2-40B4-BE49-F238E27FC236}">
                    <a16:creationId xmlns:a16="http://schemas.microsoft.com/office/drawing/2014/main" id="{1C7D7AF1-BFC8-CC37-1208-BEBEC68FAE3E}"/>
                  </a:ext>
                </a:extLst>
              </p:cNvPr>
              <p:cNvSpPr txBox="1">
                <a:spLocks noChangeArrowheads="1"/>
              </p:cNvSpPr>
              <p:nvPr/>
            </p:nvSpPr>
            <p:spPr bwMode="auto">
              <a:xfrm>
                <a:off x="4196" y="3022"/>
                <a:ext cx="160" cy="92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0</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2</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3</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4</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5</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6</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p:txBody>
          </p:sp>
          <p:sp>
            <p:nvSpPr>
              <p:cNvPr id="29" name="Line 55">
                <a:extLst>
                  <a:ext uri="{FF2B5EF4-FFF2-40B4-BE49-F238E27FC236}">
                    <a16:creationId xmlns:a16="http://schemas.microsoft.com/office/drawing/2014/main" id="{483A7613-10CF-1F15-6FC7-19EB83025895}"/>
                  </a:ext>
                </a:extLst>
              </p:cNvPr>
              <p:cNvSpPr>
                <a:spLocks noChangeShapeType="1"/>
              </p:cNvSpPr>
              <p:nvPr/>
            </p:nvSpPr>
            <p:spPr bwMode="auto">
              <a:xfrm flipH="1">
                <a:off x="3470" y="383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0" name="Line 56">
                <a:extLst>
                  <a:ext uri="{FF2B5EF4-FFF2-40B4-BE49-F238E27FC236}">
                    <a16:creationId xmlns:a16="http://schemas.microsoft.com/office/drawing/2014/main" id="{892142A2-765D-FEF0-83AC-66E387130B03}"/>
                  </a:ext>
                </a:extLst>
              </p:cNvPr>
              <p:cNvSpPr>
                <a:spLocks noChangeShapeType="1"/>
              </p:cNvSpPr>
              <p:nvPr/>
            </p:nvSpPr>
            <p:spPr bwMode="auto">
              <a:xfrm flipV="1">
                <a:off x="3470" y="3748"/>
                <a:ext cx="0" cy="91"/>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1" name="Line 57">
                <a:extLst>
                  <a:ext uri="{FF2B5EF4-FFF2-40B4-BE49-F238E27FC236}">
                    <a16:creationId xmlns:a16="http://schemas.microsoft.com/office/drawing/2014/main" id="{BDFD4E02-2AF5-806D-4BC2-5A3677F59036}"/>
                  </a:ext>
                </a:extLst>
              </p:cNvPr>
              <p:cNvSpPr>
                <a:spLocks noChangeShapeType="1"/>
              </p:cNvSpPr>
              <p:nvPr/>
            </p:nvSpPr>
            <p:spPr bwMode="auto">
              <a:xfrm>
                <a:off x="3470" y="3113"/>
                <a:ext cx="0"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2" name="Line 58">
                <a:extLst>
                  <a:ext uri="{FF2B5EF4-FFF2-40B4-BE49-F238E27FC236}">
                    <a16:creationId xmlns:a16="http://schemas.microsoft.com/office/drawing/2014/main" id="{23017A7F-EF96-965D-A37C-D50B256E00F3}"/>
                  </a:ext>
                </a:extLst>
              </p:cNvPr>
              <p:cNvSpPr>
                <a:spLocks noChangeShapeType="1"/>
              </p:cNvSpPr>
              <p:nvPr/>
            </p:nvSpPr>
            <p:spPr bwMode="auto">
              <a:xfrm>
                <a:off x="3470" y="3748"/>
                <a:ext cx="317"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3" name="Text Box 59">
                <a:extLst>
                  <a:ext uri="{FF2B5EF4-FFF2-40B4-BE49-F238E27FC236}">
                    <a16:creationId xmlns:a16="http://schemas.microsoft.com/office/drawing/2014/main" id="{B5AC41CF-0E10-8F3D-016F-DA26DCBAEFF8}"/>
                  </a:ext>
                </a:extLst>
              </p:cNvPr>
              <p:cNvSpPr txBox="1">
                <a:spLocks noChangeArrowheads="1"/>
              </p:cNvSpPr>
              <p:nvPr/>
            </p:nvSpPr>
            <p:spPr bwMode="auto">
              <a:xfrm>
                <a:off x="3788" y="3022"/>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4" name="Text Box 60">
                <a:extLst>
                  <a:ext uri="{FF2B5EF4-FFF2-40B4-BE49-F238E27FC236}">
                    <a16:creationId xmlns:a16="http://schemas.microsoft.com/office/drawing/2014/main" id="{E20880D4-86A6-0D08-7B09-8775A95DA50E}"/>
                  </a:ext>
                </a:extLst>
              </p:cNvPr>
              <p:cNvSpPr txBox="1">
                <a:spLocks noChangeArrowheads="1"/>
              </p:cNvSpPr>
              <p:nvPr/>
            </p:nvSpPr>
            <p:spPr bwMode="auto">
              <a:xfrm>
                <a:off x="3833" y="311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5" name="Text Box 61">
                <a:extLst>
                  <a:ext uri="{FF2B5EF4-FFF2-40B4-BE49-F238E27FC236}">
                    <a16:creationId xmlns:a16="http://schemas.microsoft.com/office/drawing/2014/main" id="{CB08EE56-E597-1A61-DB70-09D9049D7A86}"/>
                  </a:ext>
                </a:extLst>
              </p:cNvPr>
              <p:cNvSpPr txBox="1">
                <a:spLocks noChangeArrowheads="1"/>
              </p:cNvSpPr>
              <p:nvPr/>
            </p:nvSpPr>
            <p:spPr bwMode="auto">
              <a:xfrm>
                <a:off x="3788" y="320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6" name="Text Box 62">
                <a:extLst>
                  <a:ext uri="{FF2B5EF4-FFF2-40B4-BE49-F238E27FC236}">
                    <a16:creationId xmlns:a16="http://schemas.microsoft.com/office/drawing/2014/main" id="{609CA657-F07E-7B2E-515B-EC554D5C7D01}"/>
                  </a:ext>
                </a:extLst>
              </p:cNvPr>
              <p:cNvSpPr txBox="1">
                <a:spLocks noChangeArrowheads="1"/>
              </p:cNvSpPr>
              <p:nvPr/>
            </p:nvSpPr>
            <p:spPr bwMode="auto">
              <a:xfrm>
                <a:off x="3787" y="3294"/>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7" name="Text Box 63">
                <a:extLst>
                  <a:ext uri="{FF2B5EF4-FFF2-40B4-BE49-F238E27FC236}">
                    <a16:creationId xmlns:a16="http://schemas.microsoft.com/office/drawing/2014/main" id="{F1BD6329-AC9D-2DA8-247C-ED56CCEE30FD}"/>
                  </a:ext>
                </a:extLst>
              </p:cNvPr>
              <p:cNvSpPr txBox="1">
                <a:spLocks noChangeArrowheads="1"/>
              </p:cNvSpPr>
              <p:nvPr/>
            </p:nvSpPr>
            <p:spPr bwMode="auto">
              <a:xfrm>
                <a:off x="3787" y="3385"/>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8" name="Text Box 64">
                <a:extLst>
                  <a:ext uri="{FF2B5EF4-FFF2-40B4-BE49-F238E27FC236}">
                    <a16:creationId xmlns:a16="http://schemas.microsoft.com/office/drawing/2014/main" id="{17F71614-E779-113E-8A16-69B56C0790C4}"/>
                  </a:ext>
                </a:extLst>
              </p:cNvPr>
              <p:cNvSpPr txBox="1">
                <a:spLocks noChangeArrowheads="1"/>
              </p:cNvSpPr>
              <p:nvPr/>
            </p:nvSpPr>
            <p:spPr bwMode="auto">
              <a:xfrm>
                <a:off x="3787" y="3475"/>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9" name="Text Box 65">
                <a:extLst>
                  <a:ext uri="{FF2B5EF4-FFF2-40B4-BE49-F238E27FC236}">
                    <a16:creationId xmlns:a16="http://schemas.microsoft.com/office/drawing/2014/main" id="{7B9635AB-60CB-B5F3-E448-889C0F6C2DE5}"/>
                  </a:ext>
                </a:extLst>
              </p:cNvPr>
              <p:cNvSpPr txBox="1">
                <a:spLocks noChangeArrowheads="1"/>
              </p:cNvSpPr>
              <p:nvPr/>
            </p:nvSpPr>
            <p:spPr bwMode="auto">
              <a:xfrm>
                <a:off x="3787" y="3566"/>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grpSp>
      </p:grpSp>
      <p:sp>
        <p:nvSpPr>
          <p:cNvPr id="71" name="Rectangle 70">
            <a:extLst>
              <a:ext uri="{FF2B5EF4-FFF2-40B4-BE49-F238E27FC236}">
                <a16:creationId xmlns:a16="http://schemas.microsoft.com/office/drawing/2014/main" id="{7C7B0365-0C39-C1CF-1221-A3FA6A3AE5A4}"/>
              </a:ext>
            </a:extLst>
          </p:cNvPr>
          <p:cNvSpPr/>
          <p:nvPr/>
        </p:nvSpPr>
        <p:spPr bwMode="auto">
          <a:xfrm>
            <a:off x="131355" y="998629"/>
            <a:ext cx="7431495" cy="2817812"/>
          </a:xfrm>
          <a:prstGeom prst="rect">
            <a:avLst/>
          </a:prstGeom>
          <a:noFill/>
          <a:ln w="57150"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2" name="TextBox 71">
            <a:extLst>
              <a:ext uri="{FF2B5EF4-FFF2-40B4-BE49-F238E27FC236}">
                <a16:creationId xmlns:a16="http://schemas.microsoft.com/office/drawing/2014/main" id="{5E16797C-E391-C33C-39DA-1B6B3A978E19}"/>
              </a:ext>
            </a:extLst>
          </p:cNvPr>
          <p:cNvSpPr txBox="1"/>
          <p:nvPr/>
        </p:nvSpPr>
        <p:spPr>
          <a:xfrm>
            <a:off x="7402796" y="700520"/>
            <a:ext cx="2736304" cy="646331"/>
          </a:xfrm>
          <a:prstGeom prst="rect">
            <a:avLst/>
          </a:prstGeom>
          <a:noFill/>
        </p:spPr>
        <p:txBody>
          <a:bodyPr wrap="square" rtlCol="0">
            <a:spAutoFit/>
          </a:bodyPr>
          <a:lstStyle/>
          <a:p>
            <a:pPr algn="r" fontAlgn="base">
              <a:spcBef>
                <a:spcPct val="0"/>
              </a:spcBef>
              <a:spcAft>
                <a:spcPct val="0"/>
              </a:spcAft>
            </a:pPr>
            <a:r>
              <a:rPr lang="en-US" sz="3600" b="1" dirty="0">
                <a:solidFill>
                  <a:srgbClr val="0000FF"/>
                </a:solidFill>
                <a:latin typeface="Tahoma" pitchFamily="34" charset="0"/>
              </a:rPr>
              <a:t>identity</a:t>
            </a:r>
            <a:endParaRPr lang="el-GR" sz="3600" dirty="0">
              <a:solidFill>
                <a:srgbClr val="000000"/>
              </a:solidFill>
              <a:latin typeface="Tahoma" pitchFamily="34" charset="0"/>
            </a:endParaRPr>
          </a:p>
        </p:txBody>
      </p:sp>
      <p:sp>
        <p:nvSpPr>
          <p:cNvPr id="73" name="Text Box 5">
            <a:extLst>
              <a:ext uri="{FF2B5EF4-FFF2-40B4-BE49-F238E27FC236}">
                <a16:creationId xmlns:a16="http://schemas.microsoft.com/office/drawing/2014/main" id="{B7F1B4CC-8B75-2084-BA90-13D007490EE2}"/>
              </a:ext>
            </a:extLst>
          </p:cNvPr>
          <p:cNvSpPr txBox="1">
            <a:spLocks noChangeArrowheads="1"/>
          </p:cNvSpPr>
          <p:nvPr/>
        </p:nvSpPr>
        <p:spPr bwMode="auto">
          <a:xfrm>
            <a:off x="5421005" y="2063598"/>
            <a:ext cx="1492250" cy="457200"/>
          </a:xfrm>
          <a:prstGeom prst="rect">
            <a:avLst/>
          </a:prstGeom>
          <a:noFill/>
          <a:ln w="9525">
            <a:noFill/>
            <a:miter lim="800000"/>
            <a:headEnd/>
            <a:tailEnd/>
          </a:ln>
        </p:spPr>
        <p:txBody>
          <a:bodyPr wrap="none">
            <a:spAutoFit/>
          </a:bodyPr>
          <a:lstStyle/>
          <a:p>
            <a:pPr fontAlgn="base">
              <a:spcBef>
                <a:spcPct val="0"/>
              </a:spcBef>
              <a:spcAft>
                <a:spcPct val="0"/>
              </a:spcAft>
            </a:pPr>
            <a:r>
              <a:rPr lang="el-GR" sz="2400" b="1" dirty="0">
                <a:solidFill>
                  <a:srgbClr val="000000"/>
                </a:solidFill>
                <a:latin typeface="Tahoma" pitchFamily="34" charset="0"/>
              </a:rPr>
              <a:t>Η έννοια</a:t>
            </a:r>
          </a:p>
        </p:txBody>
      </p:sp>
      <p:sp>
        <p:nvSpPr>
          <p:cNvPr id="74" name="WordArt 69">
            <a:extLst>
              <a:ext uri="{FF2B5EF4-FFF2-40B4-BE49-F238E27FC236}">
                <a16:creationId xmlns:a16="http://schemas.microsoft.com/office/drawing/2014/main" id="{9CCE98CF-0260-990B-026A-0EE8DA73672E}"/>
              </a:ext>
            </a:extLst>
          </p:cNvPr>
          <p:cNvSpPr>
            <a:spLocks noChangeArrowheads="1" noChangeShapeType="1" noTextEdit="1"/>
          </p:cNvSpPr>
          <p:nvPr/>
        </p:nvSpPr>
        <p:spPr bwMode="auto">
          <a:xfrm>
            <a:off x="8220583" y="1615248"/>
            <a:ext cx="1944288" cy="1285875"/>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Stack</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
        <p:nvSpPr>
          <p:cNvPr id="75" name="WordArt 70">
            <a:extLst>
              <a:ext uri="{FF2B5EF4-FFF2-40B4-BE49-F238E27FC236}">
                <a16:creationId xmlns:a16="http://schemas.microsoft.com/office/drawing/2014/main" id="{5AA90E00-C7F5-3296-23DE-83C7D2481DC8}"/>
              </a:ext>
            </a:extLst>
          </p:cNvPr>
          <p:cNvSpPr>
            <a:spLocks noChangeArrowheads="1" noChangeShapeType="1" noTextEdit="1"/>
          </p:cNvSpPr>
          <p:nvPr/>
        </p:nvSpPr>
        <p:spPr bwMode="auto">
          <a:xfrm>
            <a:off x="2349905" y="4000085"/>
            <a:ext cx="576263" cy="709613"/>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st1</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
        <p:nvSpPr>
          <p:cNvPr id="76" name="WordArt 70">
            <a:extLst>
              <a:ext uri="{FF2B5EF4-FFF2-40B4-BE49-F238E27FC236}">
                <a16:creationId xmlns:a16="http://schemas.microsoft.com/office/drawing/2014/main" id="{32C40093-0731-8C82-A773-2BD8EE2E50C9}"/>
              </a:ext>
            </a:extLst>
          </p:cNvPr>
          <p:cNvSpPr>
            <a:spLocks noChangeArrowheads="1" noChangeShapeType="1" noTextEdit="1"/>
          </p:cNvSpPr>
          <p:nvPr/>
        </p:nvSpPr>
        <p:spPr bwMode="auto">
          <a:xfrm>
            <a:off x="5537947" y="4063694"/>
            <a:ext cx="576263" cy="709613"/>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st2</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
        <p:nvSpPr>
          <p:cNvPr id="77" name="WordArt 70">
            <a:extLst>
              <a:ext uri="{FF2B5EF4-FFF2-40B4-BE49-F238E27FC236}">
                <a16:creationId xmlns:a16="http://schemas.microsoft.com/office/drawing/2014/main" id="{B77266F9-0E17-2EA0-8E95-75DD07633252}"/>
              </a:ext>
            </a:extLst>
          </p:cNvPr>
          <p:cNvSpPr>
            <a:spLocks noChangeArrowheads="1" noChangeShapeType="1" noTextEdit="1"/>
          </p:cNvSpPr>
          <p:nvPr/>
        </p:nvSpPr>
        <p:spPr bwMode="auto">
          <a:xfrm>
            <a:off x="9436844" y="4063321"/>
            <a:ext cx="576263" cy="709613"/>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st3</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
        <p:nvSpPr>
          <p:cNvPr id="78" name="Text Box 68">
            <a:extLst>
              <a:ext uri="{FF2B5EF4-FFF2-40B4-BE49-F238E27FC236}">
                <a16:creationId xmlns:a16="http://schemas.microsoft.com/office/drawing/2014/main" id="{6CB61135-B726-3E39-5430-D45FBF610769}"/>
              </a:ext>
            </a:extLst>
          </p:cNvPr>
          <p:cNvSpPr txBox="1">
            <a:spLocks noChangeArrowheads="1"/>
          </p:cNvSpPr>
          <p:nvPr/>
        </p:nvSpPr>
        <p:spPr bwMode="auto">
          <a:xfrm>
            <a:off x="7068238" y="3852515"/>
            <a:ext cx="1702710" cy="461665"/>
          </a:xfrm>
          <a:prstGeom prst="rect">
            <a:avLst/>
          </a:prstGeom>
          <a:noFill/>
          <a:ln w="9525">
            <a:noFill/>
            <a:miter lim="800000"/>
            <a:headEnd/>
            <a:tailEnd/>
          </a:ln>
        </p:spPr>
        <p:txBody>
          <a:bodyPr wrap="none">
            <a:spAutoFit/>
          </a:bodyPr>
          <a:lstStyle/>
          <a:p>
            <a:pPr fontAlgn="base">
              <a:spcBef>
                <a:spcPct val="0"/>
              </a:spcBef>
              <a:spcAft>
                <a:spcPct val="0"/>
              </a:spcAft>
            </a:pPr>
            <a:r>
              <a:rPr lang="en-US" sz="2400" b="1" dirty="0">
                <a:solidFill>
                  <a:srgbClr val="000000"/>
                </a:solidFill>
                <a:latin typeface="Tahoma" pitchFamily="34" charset="0"/>
              </a:rPr>
              <a:t>Instances</a:t>
            </a:r>
            <a:endParaRPr lang="el-GR" sz="2400" b="1" dirty="0">
              <a:solidFill>
                <a:srgbClr val="000000"/>
              </a:solidFill>
              <a:latin typeface="Tahoma" pitchFamily="34" charset="0"/>
            </a:endParaRPr>
          </a:p>
        </p:txBody>
      </p:sp>
    </p:spTree>
    <p:extLst>
      <p:ext uri="{BB962C8B-B14F-4D97-AF65-F5344CB8AC3E}">
        <p14:creationId xmlns:p14="http://schemas.microsoft.com/office/powerpoint/2010/main" val="239199865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2"/>
                                        </p:tgtEl>
                                        <p:attrNameLst>
                                          <p:attrName>style.visibility</p:attrName>
                                        </p:attrNameLst>
                                      </p:cBhvr>
                                      <p:to>
                                        <p:strVal val="visible"/>
                                      </p:to>
                                    </p:set>
                                  </p:childTnLst>
                                </p:cTn>
                              </p:par>
                            </p:childTnLst>
                          </p:cTn>
                        </p:par>
                        <p:par>
                          <p:cTn id="14" fill="hold">
                            <p:stCondLst>
                              <p:cond delay="0"/>
                            </p:stCondLst>
                            <p:childTnLst>
                              <p:par>
                                <p:cTn id="15" presetID="21" presetClass="entr" presetSubtype="4" fill="hold" grpId="0" nodeType="after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wheel(4)">
                                      <p:cBhvr>
                                        <p:cTn id="17" dur="20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barn(inHorizontal)">
                                      <p:cBhvr>
                                        <p:cTn id="28" dur="500"/>
                                        <p:tgtEl>
                                          <p:spTgt spid="75"/>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6" fill="hold" grpId="0" nodeType="clickEffect">
                                  <p:stCondLst>
                                    <p:cond delay="0"/>
                                  </p:stCondLst>
                                  <p:childTnLst>
                                    <p:set>
                                      <p:cBhvr>
                                        <p:cTn id="32" dur="1" fill="hold">
                                          <p:stCondLst>
                                            <p:cond delay="0"/>
                                          </p:stCondLst>
                                        </p:cTn>
                                        <p:tgtEl>
                                          <p:spTgt spid="76"/>
                                        </p:tgtEl>
                                        <p:attrNameLst>
                                          <p:attrName>style.visibility</p:attrName>
                                        </p:attrNameLst>
                                      </p:cBhvr>
                                      <p:to>
                                        <p:strVal val="visible"/>
                                      </p:to>
                                    </p:set>
                                    <p:animEffect transition="in" filter="barn(inHorizontal)">
                                      <p:cBhvr>
                                        <p:cTn id="33" dur="500"/>
                                        <p:tgtEl>
                                          <p:spTgt spid="76"/>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6" fill="hold" grpId="0" nodeType="clickEffect">
                                  <p:stCondLst>
                                    <p:cond delay="0"/>
                                  </p:stCondLst>
                                  <p:childTnLst>
                                    <p:set>
                                      <p:cBhvr>
                                        <p:cTn id="37" dur="1" fill="hold">
                                          <p:stCondLst>
                                            <p:cond delay="0"/>
                                          </p:stCondLst>
                                        </p:cTn>
                                        <p:tgtEl>
                                          <p:spTgt spid="77"/>
                                        </p:tgtEl>
                                        <p:attrNameLst>
                                          <p:attrName>style.visibility</p:attrName>
                                        </p:attrNameLst>
                                      </p:cBhvr>
                                      <p:to>
                                        <p:strVal val="visible"/>
                                      </p:to>
                                    </p:set>
                                    <p:animEffect transition="in" filter="barn(inHorizontal)">
                                      <p:cBhvr>
                                        <p:cTn id="3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p:bldP spid="73" grpId="0"/>
      <p:bldP spid="74" grpId="0" animBg="1"/>
      <p:bldP spid="75" grpId="0" animBg="1"/>
      <p:bldP spid="76" grpId="0" animBg="1"/>
      <p:bldP spid="77" grpId="0" animBg="1"/>
      <p:bldP spid="7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dirty="0">
                <a:solidFill>
                  <a:srgbClr val="F9853D"/>
                </a:solidFill>
                <a:latin typeface="Bahnschrift" panose="020B0502040204020203" pitchFamily="34" charset="0"/>
              </a:rPr>
              <a:t>Κλάση – Στιγμιότυπο </a:t>
            </a:r>
            <a:r>
              <a:rPr lang="el-GR" sz="4000" b="1" dirty="0">
                <a:solidFill>
                  <a:srgbClr val="F9853D"/>
                </a:solidFill>
                <a:latin typeface="Bahnschrift" panose="020B0502040204020203" pitchFamily="34" charset="0"/>
              </a:rPr>
              <a:t>- Αναφορά</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4" name="Rectangle 3">
            <a:extLst>
              <a:ext uri="{FF2B5EF4-FFF2-40B4-BE49-F238E27FC236}">
                <a16:creationId xmlns:a16="http://schemas.microsoft.com/office/drawing/2014/main" id="{9E78E14E-CFAA-42B0-1763-061E99408D43}"/>
              </a:ext>
            </a:extLst>
          </p:cNvPr>
          <p:cNvSpPr>
            <a:spLocks noChangeArrowheads="1"/>
          </p:cNvSpPr>
          <p:nvPr/>
        </p:nvSpPr>
        <p:spPr bwMode="auto">
          <a:xfrm>
            <a:off x="1325735" y="1545066"/>
            <a:ext cx="8569325" cy="1655763"/>
          </a:xfrm>
          <a:prstGeom prst="rect">
            <a:avLst/>
          </a:prstGeom>
          <a:solidFill>
            <a:srgbClr val="ADF2F7"/>
          </a:solidFill>
          <a:ln w="9525">
            <a:noFill/>
            <a:miter lim="800000"/>
            <a:headEnd/>
            <a:tailEnd/>
          </a:ln>
        </p:spPr>
        <p:txBody>
          <a:bodyPr wrap="none" anchor="ctr"/>
          <a:lstStyle/>
          <a:p>
            <a:pPr fontAlgn="base">
              <a:spcBef>
                <a:spcPct val="0"/>
              </a:spcBef>
              <a:spcAft>
                <a:spcPct val="0"/>
              </a:spcAft>
            </a:pPr>
            <a:endParaRPr lang="el-GR" sz="2400">
              <a:solidFill>
                <a:srgbClr val="000000"/>
              </a:solidFill>
              <a:latin typeface="Tahoma" pitchFamily="34" charset="0"/>
            </a:endParaRPr>
          </a:p>
        </p:txBody>
      </p:sp>
      <p:sp>
        <p:nvSpPr>
          <p:cNvPr id="6" name="Text Box 4">
            <a:extLst>
              <a:ext uri="{FF2B5EF4-FFF2-40B4-BE49-F238E27FC236}">
                <a16:creationId xmlns:a16="http://schemas.microsoft.com/office/drawing/2014/main" id="{11C2A2C9-BBEF-D627-9F13-9C444E73FA3D}"/>
              </a:ext>
            </a:extLst>
          </p:cNvPr>
          <p:cNvSpPr txBox="1">
            <a:spLocks noChangeArrowheads="1"/>
          </p:cNvSpPr>
          <p:nvPr/>
        </p:nvSpPr>
        <p:spPr bwMode="auto">
          <a:xfrm>
            <a:off x="8420177" y="1085268"/>
            <a:ext cx="1492250" cy="457200"/>
          </a:xfrm>
          <a:prstGeom prst="rect">
            <a:avLst/>
          </a:prstGeom>
          <a:noFill/>
          <a:ln w="9525">
            <a:noFill/>
            <a:miter lim="800000"/>
            <a:headEnd/>
            <a:tailEnd/>
          </a:ln>
        </p:spPr>
        <p:txBody>
          <a:bodyPr wrap="none">
            <a:spAutoFit/>
          </a:bodyPr>
          <a:lstStyle/>
          <a:p>
            <a:pPr fontAlgn="base">
              <a:spcBef>
                <a:spcPct val="0"/>
              </a:spcBef>
              <a:spcAft>
                <a:spcPct val="0"/>
              </a:spcAft>
            </a:pPr>
            <a:r>
              <a:rPr lang="el-GR" sz="2400" b="1" dirty="0">
                <a:solidFill>
                  <a:srgbClr val="000000"/>
                </a:solidFill>
                <a:latin typeface="Tahoma" pitchFamily="34" charset="0"/>
              </a:rPr>
              <a:t>Η έννοια</a:t>
            </a:r>
          </a:p>
        </p:txBody>
      </p:sp>
      <p:sp>
        <p:nvSpPr>
          <p:cNvPr id="7" name="Text Box 5">
            <a:extLst>
              <a:ext uri="{FF2B5EF4-FFF2-40B4-BE49-F238E27FC236}">
                <a16:creationId xmlns:a16="http://schemas.microsoft.com/office/drawing/2014/main" id="{89C39B61-14C7-84E9-F096-1687F925AF11}"/>
              </a:ext>
            </a:extLst>
          </p:cNvPr>
          <p:cNvSpPr txBox="1">
            <a:spLocks noChangeArrowheads="1"/>
          </p:cNvSpPr>
          <p:nvPr/>
        </p:nvSpPr>
        <p:spPr bwMode="auto">
          <a:xfrm>
            <a:off x="1614660" y="1545066"/>
            <a:ext cx="3043013" cy="1569660"/>
          </a:xfrm>
          <a:prstGeom prst="rect">
            <a:avLst/>
          </a:prstGeom>
          <a:noFill/>
          <a:ln w="9525">
            <a:noFill/>
            <a:miter lim="800000"/>
            <a:headEnd/>
            <a:tailEnd/>
          </a:ln>
        </p:spPr>
        <p:txBody>
          <a:bodyPr wrap="none">
            <a:spAutoFit/>
          </a:bodyPr>
          <a:lstStyle/>
          <a:p>
            <a:pPr fontAlgn="base">
              <a:spcBef>
                <a:spcPct val="0"/>
              </a:spcBef>
              <a:spcAft>
                <a:spcPct val="0"/>
              </a:spcAft>
            </a:pPr>
            <a:r>
              <a:rPr lang="en-US" sz="2400" dirty="0">
                <a:solidFill>
                  <a:srgbClr val="000000"/>
                </a:solidFill>
                <a:latin typeface="Tahoma" pitchFamily="34" charset="0"/>
              </a:rPr>
              <a:t>int stack[</a:t>
            </a:r>
            <a:r>
              <a:rPr lang="el-GR" sz="2400" dirty="0">
                <a:solidFill>
                  <a:srgbClr val="000000"/>
                </a:solidFill>
                <a:latin typeface="Tahoma" pitchFamily="34" charset="0"/>
              </a:rPr>
              <a:t>6</a:t>
            </a:r>
            <a:r>
              <a:rPr lang="en-US" sz="2400" dirty="0">
                <a:solidFill>
                  <a:srgbClr val="000000"/>
                </a:solidFill>
                <a:latin typeface="Tahoma" pitchFamily="34" charset="0"/>
              </a:rPr>
              <a:t>];</a:t>
            </a:r>
          </a:p>
          <a:p>
            <a:pPr fontAlgn="base">
              <a:spcBef>
                <a:spcPct val="0"/>
              </a:spcBef>
              <a:spcAft>
                <a:spcPct val="0"/>
              </a:spcAft>
            </a:pPr>
            <a:r>
              <a:rPr lang="en-US" sz="2400" dirty="0">
                <a:solidFill>
                  <a:srgbClr val="000000"/>
                </a:solidFill>
                <a:latin typeface="Tahoma" pitchFamily="34" charset="0"/>
              </a:rPr>
              <a:t>int </a:t>
            </a:r>
            <a:r>
              <a:rPr lang="en-US" sz="2400" dirty="0" err="1">
                <a:solidFill>
                  <a:srgbClr val="000000"/>
                </a:solidFill>
                <a:latin typeface="Tahoma" pitchFamily="34" charset="0"/>
              </a:rPr>
              <a:t>sp</a:t>
            </a:r>
            <a:r>
              <a:rPr lang="en-US" sz="2400" dirty="0">
                <a:solidFill>
                  <a:srgbClr val="000000"/>
                </a:solidFill>
                <a:latin typeface="Tahoma" pitchFamily="34" charset="0"/>
              </a:rPr>
              <a:t> = 0;</a:t>
            </a:r>
            <a:endParaRPr lang="el-GR" sz="2400" dirty="0">
              <a:solidFill>
                <a:srgbClr val="000000"/>
              </a:solidFill>
              <a:latin typeface="Tahoma" pitchFamily="34" charset="0"/>
            </a:endParaRPr>
          </a:p>
          <a:p>
            <a:pPr fontAlgn="base">
              <a:spcBef>
                <a:spcPct val="0"/>
              </a:spcBef>
              <a:spcAft>
                <a:spcPct val="0"/>
              </a:spcAft>
            </a:pPr>
            <a:r>
              <a:rPr lang="en-US" sz="2400" dirty="0">
                <a:solidFill>
                  <a:srgbClr val="000000"/>
                </a:solidFill>
                <a:latin typeface="Tahoma" pitchFamily="34" charset="0"/>
              </a:rPr>
              <a:t>void push(int v) {….}</a:t>
            </a:r>
          </a:p>
          <a:p>
            <a:pPr fontAlgn="base">
              <a:spcBef>
                <a:spcPct val="0"/>
              </a:spcBef>
              <a:spcAft>
                <a:spcPct val="0"/>
              </a:spcAft>
            </a:pPr>
            <a:r>
              <a:rPr lang="en-US" sz="2400" dirty="0">
                <a:solidFill>
                  <a:srgbClr val="000000"/>
                </a:solidFill>
                <a:latin typeface="Tahoma" pitchFamily="34" charset="0"/>
              </a:rPr>
              <a:t>int pop(void) {…}</a:t>
            </a:r>
            <a:endParaRPr lang="el-GR" sz="2400" dirty="0">
              <a:solidFill>
                <a:srgbClr val="000000"/>
              </a:solidFill>
              <a:latin typeface="Tahoma" pitchFamily="34" charset="0"/>
            </a:endParaRPr>
          </a:p>
        </p:txBody>
      </p:sp>
      <p:sp>
        <p:nvSpPr>
          <p:cNvPr id="9" name="WordArt 67">
            <a:extLst>
              <a:ext uri="{FF2B5EF4-FFF2-40B4-BE49-F238E27FC236}">
                <a16:creationId xmlns:a16="http://schemas.microsoft.com/office/drawing/2014/main" id="{09D14E67-0DBB-D79F-6232-A28D9C1973CB}"/>
              </a:ext>
            </a:extLst>
          </p:cNvPr>
          <p:cNvSpPr>
            <a:spLocks noChangeArrowheads="1" noChangeShapeType="1" noTextEdit="1"/>
          </p:cNvSpPr>
          <p:nvPr/>
        </p:nvSpPr>
        <p:spPr bwMode="auto">
          <a:xfrm>
            <a:off x="6219967" y="1613904"/>
            <a:ext cx="3443341" cy="1573212"/>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Class Stack</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grpSp>
        <p:nvGrpSpPr>
          <p:cNvPr id="12" name="Group 11">
            <a:extLst>
              <a:ext uri="{FF2B5EF4-FFF2-40B4-BE49-F238E27FC236}">
                <a16:creationId xmlns:a16="http://schemas.microsoft.com/office/drawing/2014/main" id="{32EEF0FD-9B54-2A17-A799-DAAC2D0202B1}"/>
              </a:ext>
            </a:extLst>
          </p:cNvPr>
          <p:cNvGrpSpPr/>
          <p:nvPr/>
        </p:nvGrpSpPr>
        <p:grpSpPr>
          <a:xfrm>
            <a:off x="1325734" y="3987325"/>
            <a:ext cx="8569325" cy="2554458"/>
            <a:chOff x="250825" y="3827292"/>
            <a:chExt cx="8569325" cy="2554458"/>
          </a:xfrm>
        </p:grpSpPr>
        <p:sp>
          <p:nvSpPr>
            <p:cNvPr id="13" name="Rectangle 6">
              <a:extLst>
                <a:ext uri="{FF2B5EF4-FFF2-40B4-BE49-F238E27FC236}">
                  <a16:creationId xmlns:a16="http://schemas.microsoft.com/office/drawing/2014/main" id="{6793FE2B-4CA4-47B0-735F-4D2FF9242654}"/>
                </a:ext>
              </a:extLst>
            </p:cNvPr>
            <p:cNvSpPr>
              <a:spLocks noChangeArrowheads="1"/>
            </p:cNvSpPr>
            <p:nvPr/>
          </p:nvSpPr>
          <p:spPr bwMode="auto">
            <a:xfrm>
              <a:off x="250825" y="4292600"/>
              <a:ext cx="8569325" cy="2089150"/>
            </a:xfrm>
            <a:prstGeom prst="rect">
              <a:avLst/>
            </a:prstGeom>
            <a:solidFill>
              <a:srgbClr val="59AEB5"/>
            </a:solidFill>
            <a:ln w="9525">
              <a:no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nvGrpSpPr>
            <p:cNvPr id="14" name="Group 7">
              <a:extLst>
                <a:ext uri="{FF2B5EF4-FFF2-40B4-BE49-F238E27FC236}">
                  <a16:creationId xmlns:a16="http://schemas.microsoft.com/office/drawing/2014/main" id="{23433767-121D-D328-0B90-B694C2BEF828}"/>
                </a:ext>
              </a:extLst>
            </p:cNvPr>
            <p:cNvGrpSpPr>
              <a:grpSpLocks/>
            </p:cNvGrpSpPr>
            <p:nvPr/>
          </p:nvGrpSpPr>
          <p:grpSpPr bwMode="auto">
            <a:xfrm>
              <a:off x="611188" y="4724400"/>
              <a:ext cx="1406525" cy="1463675"/>
              <a:chOff x="2789" y="3067"/>
              <a:chExt cx="886" cy="922"/>
            </a:xfrm>
          </p:grpSpPr>
          <p:sp>
            <p:nvSpPr>
              <p:cNvPr id="59" name="Rectangle 8">
                <a:extLst>
                  <a:ext uri="{FF2B5EF4-FFF2-40B4-BE49-F238E27FC236}">
                    <a16:creationId xmlns:a16="http://schemas.microsoft.com/office/drawing/2014/main" id="{0FB2E459-9011-71D9-627B-A0178E467312}"/>
                  </a:ext>
                </a:extLst>
              </p:cNvPr>
              <p:cNvSpPr>
                <a:spLocks noChangeArrowheads="1"/>
              </p:cNvSpPr>
              <p:nvPr/>
            </p:nvSpPr>
            <p:spPr bwMode="auto">
              <a:xfrm>
                <a:off x="3061" y="3113"/>
                <a:ext cx="454" cy="725"/>
              </a:xfrm>
              <a:prstGeom prst="rect">
                <a:avLst/>
              </a:prstGeom>
              <a:solidFill>
                <a:srgbClr val="FFFFFF"/>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0" name="Line 9">
                <a:extLst>
                  <a:ext uri="{FF2B5EF4-FFF2-40B4-BE49-F238E27FC236}">
                    <a16:creationId xmlns:a16="http://schemas.microsoft.com/office/drawing/2014/main" id="{A79EF03C-2CD2-A839-F1B3-66A5DEAA54EF}"/>
                  </a:ext>
                </a:extLst>
              </p:cNvPr>
              <p:cNvSpPr>
                <a:spLocks noChangeShapeType="1"/>
              </p:cNvSpPr>
              <p:nvPr/>
            </p:nvSpPr>
            <p:spPr bwMode="auto">
              <a:xfrm>
                <a:off x="3061" y="3203"/>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1" name="Line 10">
                <a:extLst>
                  <a:ext uri="{FF2B5EF4-FFF2-40B4-BE49-F238E27FC236}">
                    <a16:creationId xmlns:a16="http://schemas.microsoft.com/office/drawing/2014/main" id="{DCF8606A-3C6A-A304-EB52-D58EB4B47C49}"/>
                  </a:ext>
                </a:extLst>
              </p:cNvPr>
              <p:cNvSpPr>
                <a:spLocks noChangeShapeType="1"/>
              </p:cNvSpPr>
              <p:nvPr/>
            </p:nvSpPr>
            <p:spPr bwMode="auto">
              <a:xfrm>
                <a:off x="3061" y="3294"/>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2" name="Line 11">
                <a:extLst>
                  <a:ext uri="{FF2B5EF4-FFF2-40B4-BE49-F238E27FC236}">
                    <a16:creationId xmlns:a16="http://schemas.microsoft.com/office/drawing/2014/main" id="{02E847C5-7AA1-FF5C-4ECB-BC960A89CC5E}"/>
                  </a:ext>
                </a:extLst>
              </p:cNvPr>
              <p:cNvSpPr>
                <a:spLocks noChangeShapeType="1"/>
              </p:cNvSpPr>
              <p:nvPr/>
            </p:nvSpPr>
            <p:spPr bwMode="auto">
              <a:xfrm>
                <a:off x="3061" y="3385"/>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3" name="Line 12">
                <a:extLst>
                  <a:ext uri="{FF2B5EF4-FFF2-40B4-BE49-F238E27FC236}">
                    <a16:creationId xmlns:a16="http://schemas.microsoft.com/office/drawing/2014/main" id="{9D863E30-D37E-0495-9E46-03F53CE1D8D8}"/>
                  </a:ext>
                </a:extLst>
              </p:cNvPr>
              <p:cNvSpPr>
                <a:spLocks noChangeShapeType="1"/>
              </p:cNvSpPr>
              <p:nvPr/>
            </p:nvSpPr>
            <p:spPr bwMode="auto">
              <a:xfrm>
                <a:off x="3061" y="3475"/>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4" name="Line 13">
                <a:extLst>
                  <a:ext uri="{FF2B5EF4-FFF2-40B4-BE49-F238E27FC236}">
                    <a16:creationId xmlns:a16="http://schemas.microsoft.com/office/drawing/2014/main" id="{D654D2FB-1FFF-87F1-8892-20E6883338EF}"/>
                  </a:ext>
                </a:extLst>
              </p:cNvPr>
              <p:cNvSpPr>
                <a:spLocks noChangeShapeType="1"/>
              </p:cNvSpPr>
              <p:nvPr/>
            </p:nvSpPr>
            <p:spPr bwMode="auto">
              <a:xfrm>
                <a:off x="3061" y="3566"/>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5" name="Line 14">
                <a:extLst>
                  <a:ext uri="{FF2B5EF4-FFF2-40B4-BE49-F238E27FC236}">
                    <a16:creationId xmlns:a16="http://schemas.microsoft.com/office/drawing/2014/main" id="{0C45E078-1F73-698F-30AE-0237D4137CD7}"/>
                  </a:ext>
                </a:extLst>
              </p:cNvPr>
              <p:cNvSpPr>
                <a:spLocks noChangeShapeType="1"/>
              </p:cNvSpPr>
              <p:nvPr/>
            </p:nvSpPr>
            <p:spPr bwMode="auto">
              <a:xfrm>
                <a:off x="3061" y="3657"/>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6" name="Line 15">
                <a:extLst>
                  <a:ext uri="{FF2B5EF4-FFF2-40B4-BE49-F238E27FC236}">
                    <a16:creationId xmlns:a16="http://schemas.microsoft.com/office/drawing/2014/main" id="{880778FC-4145-7089-6465-94295CC9CCD1}"/>
                  </a:ext>
                </a:extLst>
              </p:cNvPr>
              <p:cNvSpPr>
                <a:spLocks noChangeShapeType="1"/>
              </p:cNvSpPr>
              <p:nvPr/>
            </p:nvSpPr>
            <p:spPr bwMode="auto">
              <a:xfrm>
                <a:off x="3061" y="3748"/>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67" name="Rectangle 16">
                <a:extLst>
                  <a:ext uri="{FF2B5EF4-FFF2-40B4-BE49-F238E27FC236}">
                    <a16:creationId xmlns:a16="http://schemas.microsoft.com/office/drawing/2014/main" id="{75F1C074-A579-E9DC-0C2C-A65C1DE2FC0D}"/>
                  </a:ext>
                </a:extLst>
              </p:cNvPr>
              <p:cNvSpPr>
                <a:spLocks noChangeArrowheads="1"/>
              </p:cNvSpPr>
              <p:nvPr/>
            </p:nvSpPr>
            <p:spPr bwMode="auto">
              <a:xfrm>
                <a:off x="3061" y="3838"/>
                <a:ext cx="454" cy="91"/>
              </a:xfrm>
              <a:prstGeom prst="rect">
                <a:avLst/>
              </a:prstGeom>
              <a:solidFill>
                <a:srgbClr val="11C1D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FFCF01"/>
                  </a:solidFill>
                  <a:effectLst/>
                  <a:uLnTx/>
                  <a:uFillTx/>
                  <a:latin typeface="Tahoma" pitchFamily="34" charset="0"/>
                </a:endParaRPr>
              </a:p>
            </p:txBody>
          </p:sp>
          <p:sp>
            <p:nvSpPr>
              <p:cNvPr id="68" name="Text Box 17">
                <a:extLst>
                  <a:ext uri="{FF2B5EF4-FFF2-40B4-BE49-F238E27FC236}">
                    <a16:creationId xmlns:a16="http://schemas.microsoft.com/office/drawing/2014/main" id="{C3DDB388-D7F3-AC11-64FE-ED1C3DCF99BE}"/>
                  </a:ext>
                </a:extLst>
              </p:cNvPr>
              <p:cNvSpPr txBox="1">
                <a:spLocks noChangeArrowheads="1"/>
              </p:cNvSpPr>
              <p:nvPr/>
            </p:nvSpPr>
            <p:spPr bwMode="auto">
              <a:xfrm>
                <a:off x="3515" y="3067"/>
                <a:ext cx="160" cy="92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0</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2</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3</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4</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5</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6</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p:txBody>
          </p:sp>
          <p:sp>
            <p:nvSpPr>
              <p:cNvPr id="69" name="Line 18">
                <a:extLst>
                  <a:ext uri="{FF2B5EF4-FFF2-40B4-BE49-F238E27FC236}">
                    <a16:creationId xmlns:a16="http://schemas.microsoft.com/office/drawing/2014/main" id="{1F9B646D-723E-8D65-2170-CC0B774A5263}"/>
                  </a:ext>
                </a:extLst>
              </p:cNvPr>
              <p:cNvSpPr>
                <a:spLocks noChangeShapeType="1"/>
              </p:cNvSpPr>
              <p:nvPr/>
            </p:nvSpPr>
            <p:spPr bwMode="auto">
              <a:xfrm flipH="1">
                <a:off x="2789" y="3884"/>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0" name="Line 19">
                <a:extLst>
                  <a:ext uri="{FF2B5EF4-FFF2-40B4-BE49-F238E27FC236}">
                    <a16:creationId xmlns:a16="http://schemas.microsoft.com/office/drawing/2014/main" id="{89A9026F-C47D-7243-658E-4FD5D84F92BD}"/>
                  </a:ext>
                </a:extLst>
              </p:cNvPr>
              <p:cNvSpPr>
                <a:spLocks noChangeShapeType="1"/>
              </p:cNvSpPr>
              <p:nvPr/>
            </p:nvSpPr>
            <p:spPr bwMode="auto">
              <a:xfrm flipV="1">
                <a:off x="2789" y="3158"/>
                <a:ext cx="0" cy="726"/>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1" name="Line 20">
                <a:extLst>
                  <a:ext uri="{FF2B5EF4-FFF2-40B4-BE49-F238E27FC236}">
                    <a16:creationId xmlns:a16="http://schemas.microsoft.com/office/drawing/2014/main" id="{3CEB9120-65A6-116F-C6C3-4E90920C7B2A}"/>
                  </a:ext>
                </a:extLst>
              </p:cNvPr>
              <p:cNvSpPr>
                <a:spLocks noChangeShapeType="1"/>
              </p:cNvSpPr>
              <p:nvPr/>
            </p:nvSpPr>
            <p:spPr bwMode="auto">
              <a:xfrm>
                <a:off x="2789" y="3158"/>
                <a:ext cx="0"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72" name="Line 21">
                <a:extLst>
                  <a:ext uri="{FF2B5EF4-FFF2-40B4-BE49-F238E27FC236}">
                    <a16:creationId xmlns:a16="http://schemas.microsoft.com/office/drawing/2014/main" id="{6A7DB452-E4D4-A022-EAB6-65C94D4A8EAC}"/>
                  </a:ext>
                </a:extLst>
              </p:cNvPr>
              <p:cNvSpPr>
                <a:spLocks noChangeShapeType="1"/>
              </p:cNvSpPr>
              <p:nvPr/>
            </p:nvSpPr>
            <p:spPr bwMode="auto">
              <a:xfrm>
                <a:off x="2789" y="3158"/>
                <a:ext cx="363"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grpSp>
        <p:grpSp>
          <p:nvGrpSpPr>
            <p:cNvPr id="15" name="Group 22">
              <a:extLst>
                <a:ext uri="{FF2B5EF4-FFF2-40B4-BE49-F238E27FC236}">
                  <a16:creationId xmlns:a16="http://schemas.microsoft.com/office/drawing/2014/main" id="{78059308-C513-125D-76E4-6AAE2565D878}"/>
                </a:ext>
              </a:extLst>
            </p:cNvPr>
            <p:cNvGrpSpPr>
              <a:grpSpLocks/>
            </p:cNvGrpSpPr>
            <p:nvPr/>
          </p:nvGrpSpPr>
          <p:grpSpPr bwMode="auto">
            <a:xfrm>
              <a:off x="2987675" y="4652963"/>
              <a:ext cx="1406525" cy="1463675"/>
              <a:chOff x="1927" y="3022"/>
              <a:chExt cx="886" cy="922"/>
            </a:xfrm>
          </p:grpSpPr>
          <p:sp>
            <p:nvSpPr>
              <p:cNvPr id="42" name="Rectangle 23">
                <a:extLst>
                  <a:ext uri="{FF2B5EF4-FFF2-40B4-BE49-F238E27FC236}">
                    <a16:creationId xmlns:a16="http://schemas.microsoft.com/office/drawing/2014/main" id="{C8488A81-ECD3-2C63-A2BD-4A91894CF4A0}"/>
                  </a:ext>
                </a:extLst>
              </p:cNvPr>
              <p:cNvSpPr>
                <a:spLocks noChangeArrowheads="1"/>
              </p:cNvSpPr>
              <p:nvPr/>
            </p:nvSpPr>
            <p:spPr bwMode="auto">
              <a:xfrm>
                <a:off x="2199" y="3068"/>
                <a:ext cx="454" cy="725"/>
              </a:xfrm>
              <a:prstGeom prst="rect">
                <a:avLst/>
              </a:prstGeom>
              <a:solidFill>
                <a:srgbClr val="FFFFFF"/>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3" name="Line 24">
                <a:extLst>
                  <a:ext uri="{FF2B5EF4-FFF2-40B4-BE49-F238E27FC236}">
                    <a16:creationId xmlns:a16="http://schemas.microsoft.com/office/drawing/2014/main" id="{08D6678E-052C-2898-723B-5111BF5C30B0}"/>
                  </a:ext>
                </a:extLst>
              </p:cNvPr>
              <p:cNvSpPr>
                <a:spLocks noChangeShapeType="1"/>
              </p:cNvSpPr>
              <p:nvPr/>
            </p:nvSpPr>
            <p:spPr bwMode="auto">
              <a:xfrm>
                <a:off x="2199" y="3158"/>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4" name="Line 25">
                <a:extLst>
                  <a:ext uri="{FF2B5EF4-FFF2-40B4-BE49-F238E27FC236}">
                    <a16:creationId xmlns:a16="http://schemas.microsoft.com/office/drawing/2014/main" id="{0B5F86E4-D04C-9D83-943C-BD8B97D99CF7}"/>
                  </a:ext>
                </a:extLst>
              </p:cNvPr>
              <p:cNvSpPr>
                <a:spLocks noChangeShapeType="1"/>
              </p:cNvSpPr>
              <p:nvPr/>
            </p:nvSpPr>
            <p:spPr bwMode="auto">
              <a:xfrm>
                <a:off x="2199" y="324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5" name="Line 26">
                <a:extLst>
                  <a:ext uri="{FF2B5EF4-FFF2-40B4-BE49-F238E27FC236}">
                    <a16:creationId xmlns:a16="http://schemas.microsoft.com/office/drawing/2014/main" id="{2A467C9C-53D4-B87F-5BE6-F64E5F685C35}"/>
                  </a:ext>
                </a:extLst>
              </p:cNvPr>
              <p:cNvSpPr>
                <a:spLocks noChangeShapeType="1"/>
              </p:cNvSpPr>
              <p:nvPr/>
            </p:nvSpPr>
            <p:spPr bwMode="auto">
              <a:xfrm>
                <a:off x="2199" y="334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6" name="Line 27">
                <a:extLst>
                  <a:ext uri="{FF2B5EF4-FFF2-40B4-BE49-F238E27FC236}">
                    <a16:creationId xmlns:a16="http://schemas.microsoft.com/office/drawing/2014/main" id="{6449EF9E-E545-F672-8F03-0D1692BC1001}"/>
                  </a:ext>
                </a:extLst>
              </p:cNvPr>
              <p:cNvSpPr>
                <a:spLocks noChangeShapeType="1"/>
              </p:cNvSpPr>
              <p:nvPr/>
            </p:nvSpPr>
            <p:spPr bwMode="auto">
              <a:xfrm>
                <a:off x="2199" y="343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7" name="Line 28">
                <a:extLst>
                  <a:ext uri="{FF2B5EF4-FFF2-40B4-BE49-F238E27FC236}">
                    <a16:creationId xmlns:a16="http://schemas.microsoft.com/office/drawing/2014/main" id="{34AC3A21-9038-7AD2-80E4-CA05A8C55257}"/>
                  </a:ext>
                </a:extLst>
              </p:cNvPr>
              <p:cNvSpPr>
                <a:spLocks noChangeShapeType="1"/>
              </p:cNvSpPr>
              <p:nvPr/>
            </p:nvSpPr>
            <p:spPr bwMode="auto">
              <a:xfrm>
                <a:off x="2199" y="3521"/>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8" name="Line 29">
                <a:extLst>
                  <a:ext uri="{FF2B5EF4-FFF2-40B4-BE49-F238E27FC236}">
                    <a16:creationId xmlns:a16="http://schemas.microsoft.com/office/drawing/2014/main" id="{6449E6F4-FE13-FB0D-AFCC-9A4324A207B9}"/>
                  </a:ext>
                </a:extLst>
              </p:cNvPr>
              <p:cNvSpPr>
                <a:spLocks noChangeShapeType="1"/>
              </p:cNvSpPr>
              <p:nvPr/>
            </p:nvSpPr>
            <p:spPr bwMode="auto">
              <a:xfrm>
                <a:off x="2199" y="3612"/>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49" name="Line 30">
                <a:extLst>
                  <a:ext uri="{FF2B5EF4-FFF2-40B4-BE49-F238E27FC236}">
                    <a16:creationId xmlns:a16="http://schemas.microsoft.com/office/drawing/2014/main" id="{D9EACEAF-B6FF-509C-4606-6CA22D0AC996}"/>
                  </a:ext>
                </a:extLst>
              </p:cNvPr>
              <p:cNvSpPr>
                <a:spLocks noChangeShapeType="1"/>
              </p:cNvSpPr>
              <p:nvPr/>
            </p:nvSpPr>
            <p:spPr bwMode="auto">
              <a:xfrm>
                <a:off x="2199" y="3703"/>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0" name="Rectangle 31">
                <a:extLst>
                  <a:ext uri="{FF2B5EF4-FFF2-40B4-BE49-F238E27FC236}">
                    <a16:creationId xmlns:a16="http://schemas.microsoft.com/office/drawing/2014/main" id="{C6AE4B7D-B9A4-8DC4-6107-A2E732761657}"/>
                  </a:ext>
                </a:extLst>
              </p:cNvPr>
              <p:cNvSpPr>
                <a:spLocks noChangeArrowheads="1"/>
              </p:cNvSpPr>
              <p:nvPr/>
            </p:nvSpPr>
            <p:spPr bwMode="auto">
              <a:xfrm>
                <a:off x="2199" y="3793"/>
                <a:ext cx="454" cy="91"/>
              </a:xfrm>
              <a:prstGeom prst="rect">
                <a:avLst/>
              </a:prstGeom>
              <a:solidFill>
                <a:srgbClr val="11C1D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FFCF01"/>
                  </a:solidFill>
                  <a:effectLst/>
                  <a:uLnTx/>
                  <a:uFillTx/>
                  <a:latin typeface="Tahoma" pitchFamily="34" charset="0"/>
                </a:endParaRPr>
              </a:p>
            </p:txBody>
          </p:sp>
          <p:sp>
            <p:nvSpPr>
              <p:cNvPr id="51" name="Text Box 32">
                <a:extLst>
                  <a:ext uri="{FF2B5EF4-FFF2-40B4-BE49-F238E27FC236}">
                    <a16:creationId xmlns:a16="http://schemas.microsoft.com/office/drawing/2014/main" id="{0223E2C5-7520-926F-F09B-C1B42DF1BB92}"/>
                  </a:ext>
                </a:extLst>
              </p:cNvPr>
              <p:cNvSpPr txBox="1">
                <a:spLocks noChangeArrowheads="1"/>
              </p:cNvSpPr>
              <p:nvPr/>
            </p:nvSpPr>
            <p:spPr bwMode="auto">
              <a:xfrm>
                <a:off x="2653" y="3022"/>
                <a:ext cx="160" cy="92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0</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2</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3</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4</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5</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6</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p:txBody>
          </p:sp>
          <p:sp>
            <p:nvSpPr>
              <p:cNvPr id="52" name="Line 33">
                <a:extLst>
                  <a:ext uri="{FF2B5EF4-FFF2-40B4-BE49-F238E27FC236}">
                    <a16:creationId xmlns:a16="http://schemas.microsoft.com/office/drawing/2014/main" id="{B41EC910-1944-9154-C774-86D5DB5618C1}"/>
                  </a:ext>
                </a:extLst>
              </p:cNvPr>
              <p:cNvSpPr>
                <a:spLocks noChangeShapeType="1"/>
              </p:cNvSpPr>
              <p:nvPr/>
            </p:nvSpPr>
            <p:spPr bwMode="auto">
              <a:xfrm flipH="1">
                <a:off x="1927" y="383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3" name="Line 34">
                <a:extLst>
                  <a:ext uri="{FF2B5EF4-FFF2-40B4-BE49-F238E27FC236}">
                    <a16:creationId xmlns:a16="http://schemas.microsoft.com/office/drawing/2014/main" id="{572F531E-31F2-DFAB-0AB7-A1412DD3681C}"/>
                  </a:ext>
                </a:extLst>
              </p:cNvPr>
              <p:cNvSpPr>
                <a:spLocks noChangeShapeType="1"/>
              </p:cNvSpPr>
              <p:nvPr/>
            </p:nvSpPr>
            <p:spPr bwMode="auto">
              <a:xfrm flipV="1">
                <a:off x="1927" y="3385"/>
                <a:ext cx="0" cy="454"/>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4" name="Line 35">
                <a:extLst>
                  <a:ext uri="{FF2B5EF4-FFF2-40B4-BE49-F238E27FC236}">
                    <a16:creationId xmlns:a16="http://schemas.microsoft.com/office/drawing/2014/main" id="{64DD4F07-9BBB-37D6-5528-9BA6A9E8F01E}"/>
                  </a:ext>
                </a:extLst>
              </p:cNvPr>
              <p:cNvSpPr>
                <a:spLocks noChangeShapeType="1"/>
              </p:cNvSpPr>
              <p:nvPr/>
            </p:nvSpPr>
            <p:spPr bwMode="auto">
              <a:xfrm>
                <a:off x="1927" y="3113"/>
                <a:ext cx="0"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5" name="Line 36">
                <a:extLst>
                  <a:ext uri="{FF2B5EF4-FFF2-40B4-BE49-F238E27FC236}">
                    <a16:creationId xmlns:a16="http://schemas.microsoft.com/office/drawing/2014/main" id="{9FB01000-2121-A331-6F2A-2BA3EF957921}"/>
                  </a:ext>
                </a:extLst>
              </p:cNvPr>
              <p:cNvSpPr>
                <a:spLocks noChangeShapeType="1"/>
              </p:cNvSpPr>
              <p:nvPr/>
            </p:nvSpPr>
            <p:spPr bwMode="auto">
              <a:xfrm>
                <a:off x="1927" y="3385"/>
                <a:ext cx="363"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56" name="Text Box 37">
                <a:extLst>
                  <a:ext uri="{FF2B5EF4-FFF2-40B4-BE49-F238E27FC236}">
                    <a16:creationId xmlns:a16="http://schemas.microsoft.com/office/drawing/2014/main" id="{F4923BA3-B7B0-0F4E-A4DC-6E5896FDA892}"/>
                  </a:ext>
                </a:extLst>
              </p:cNvPr>
              <p:cNvSpPr txBox="1">
                <a:spLocks noChangeArrowheads="1"/>
              </p:cNvSpPr>
              <p:nvPr/>
            </p:nvSpPr>
            <p:spPr bwMode="auto">
              <a:xfrm>
                <a:off x="2245" y="3022"/>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57" name="Text Box 38">
                <a:extLst>
                  <a:ext uri="{FF2B5EF4-FFF2-40B4-BE49-F238E27FC236}">
                    <a16:creationId xmlns:a16="http://schemas.microsoft.com/office/drawing/2014/main" id="{65DAD1F1-A242-C41F-B3EC-516D2EC408BB}"/>
                  </a:ext>
                </a:extLst>
              </p:cNvPr>
              <p:cNvSpPr txBox="1">
                <a:spLocks noChangeArrowheads="1"/>
              </p:cNvSpPr>
              <p:nvPr/>
            </p:nvSpPr>
            <p:spPr bwMode="auto">
              <a:xfrm>
                <a:off x="2290" y="311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58" name="Text Box 39">
                <a:extLst>
                  <a:ext uri="{FF2B5EF4-FFF2-40B4-BE49-F238E27FC236}">
                    <a16:creationId xmlns:a16="http://schemas.microsoft.com/office/drawing/2014/main" id="{E2FD1B67-C206-074D-34CB-80DCA53BCBE1}"/>
                  </a:ext>
                </a:extLst>
              </p:cNvPr>
              <p:cNvSpPr txBox="1">
                <a:spLocks noChangeArrowheads="1"/>
              </p:cNvSpPr>
              <p:nvPr/>
            </p:nvSpPr>
            <p:spPr bwMode="auto">
              <a:xfrm>
                <a:off x="2245" y="320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grpSp>
        <p:grpSp>
          <p:nvGrpSpPr>
            <p:cNvPr id="16" name="Group 40">
              <a:extLst>
                <a:ext uri="{FF2B5EF4-FFF2-40B4-BE49-F238E27FC236}">
                  <a16:creationId xmlns:a16="http://schemas.microsoft.com/office/drawing/2014/main" id="{1DDE2BA7-77BD-CAE1-F6B0-CF493DF0A165}"/>
                </a:ext>
              </a:extLst>
            </p:cNvPr>
            <p:cNvGrpSpPr>
              <a:grpSpLocks/>
            </p:cNvGrpSpPr>
            <p:nvPr/>
          </p:nvGrpSpPr>
          <p:grpSpPr bwMode="auto">
            <a:xfrm>
              <a:off x="6156325" y="4797425"/>
              <a:ext cx="1406525" cy="1463675"/>
              <a:chOff x="3470" y="3022"/>
              <a:chExt cx="886" cy="922"/>
            </a:xfrm>
          </p:grpSpPr>
          <p:sp>
            <p:nvSpPr>
              <p:cNvPr id="21" name="Rectangle 41">
                <a:extLst>
                  <a:ext uri="{FF2B5EF4-FFF2-40B4-BE49-F238E27FC236}">
                    <a16:creationId xmlns:a16="http://schemas.microsoft.com/office/drawing/2014/main" id="{677879A1-F152-BD6D-4BFB-8065CF28D308}"/>
                  </a:ext>
                </a:extLst>
              </p:cNvPr>
              <p:cNvSpPr>
                <a:spLocks noChangeArrowheads="1"/>
              </p:cNvSpPr>
              <p:nvPr/>
            </p:nvSpPr>
            <p:spPr bwMode="auto">
              <a:xfrm>
                <a:off x="3742" y="3068"/>
                <a:ext cx="454" cy="725"/>
              </a:xfrm>
              <a:prstGeom prst="rect">
                <a:avLst/>
              </a:prstGeom>
              <a:solidFill>
                <a:srgbClr val="FFFFFF"/>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2" name="Line 42">
                <a:extLst>
                  <a:ext uri="{FF2B5EF4-FFF2-40B4-BE49-F238E27FC236}">
                    <a16:creationId xmlns:a16="http://schemas.microsoft.com/office/drawing/2014/main" id="{134557BE-A08D-BC84-4850-F6C436E6B166}"/>
                  </a:ext>
                </a:extLst>
              </p:cNvPr>
              <p:cNvSpPr>
                <a:spLocks noChangeShapeType="1"/>
              </p:cNvSpPr>
              <p:nvPr/>
            </p:nvSpPr>
            <p:spPr bwMode="auto">
              <a:xfrm>
                <a:off x="3742" y="3158"/>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3" name="Line 43">
                <a:extLst>
                  <a:ext uri="{FF2B5EF4-FFF2-40B4-BE49-F238E27FC236}">
                    <a16:creationId xmlns:a16="http://schemas.microsoft.com/office/drawing/2014/main" id="{5058A481-47E6-5C00-F1EA-199E3961092B}"/>
                  </a:ext>
                </a:extLst>
              </p:cNvPr>
              <p:cNvSpPr>
                <a:spLocks noChangeShapeType="1"/>
              </p:cNvSpPr>
              <p:nvPr/>
            </p:nvSpPr>
            <p:spPr bwMode="auto">
              <a:xfrm>
                <a:off x="3742" y="324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4" name="Line 44">
                <a:extLst>
                  <a:ext uri="{FF2B5EF4-FFF2-40B4-BE49-F238E27FC236}">
                    <a16:creationId xmlns:a16="http://schemas.microsoft.com/office/drawing/2014/main" id="{15A6E4A2-D18D-CF54-2FC2-4A22A015F203}"/>
                  </a:ext>
                </a:extLst>
              </p:cNvPr>
              <p:cNvSpPr>
                <a:spLocks noChangeShapeType="1"/>
              </p:cNvSpPr>
              <p:nvPr/>
            </p:nvSpPr>
            <p:spPr bwMode="auto">
              <a:xfrm>
                <a:off x="3742" y="334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5" name="Line 45">
                <a:extLst>
                  <a:ext uri="{FF2B5EF4-FFF2-40B4-BE49-F238E27FC236}">
                    <a16:creationId xmlns:a16="http://schemas.microsoft.com/office/drawing/2014/main" id="{1BF15930-DB07-923C-94B7-379B8C92EF7F}"/>
                  </a:ext>
                </a:extLst>
              </p:cNvPr>
              <p:cNvSpPr>
                <a:spLocks noChangeShapeType="1"/>
              </p:cNvSpPr>
              <p:nvPr/>
            </p:nvSpPr>
            <p:spPr bwMode="auto">
              <a:xfrm>
                <a:off x="3742" y="3430"/>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6" name="Line 46">
                <a:extLst>
                  <a:ext uri="{FF2B5EF4-FFF2-40B4-BE49-F238E27FC236}">
                    <a16:creationId xmlns:a16="http://schemas.microsoft.com/office/drawing/2014/main" id="{58F9B9BB-C837-A5BE-D729-AB6A47C6CDED}"/>
                  </a:ext>
                </a:extLst>
              </p:cNvPr>
              <p:cNvSpPr>
                <a:spLocks noChangeShapeType="1"/>
              </p:cNvSpPr>
              <p:nvPr/>
            </p:nvSpPr>
            <p:spPr bwMode="auto">
              <a:xfrm>
                <a:off x="3742" y="3521"/>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7" name="Line 47">
                <a:extLst>
                  <a:ext uri="{FF2B5EF4-FFF2-40B4-BE49-F238E27FC236}">
                    <a16:creationId xmlns:a16="http://schemas.microsoft.com/office/drawing/2014/main" id="{DAA5DD5B-3105-81DF-42D4-083A470D9304}"/>
                  </a:ext>
                </a:extLst>
              </p:cNvPr>
              <p:cNvSpPr>
                <a:spLocks noChangeShapeType="1"/>
              </p:cNvSpPr>
              <p:nvPr/>
            </p:nvSpPr>
            <p:spPr bwMode="auto">
              <a:xfrm>
                <a:off x="3742" y="3612"/>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8" name="Line 48">
                <a:extLst>
                  <a:ext uri="{FF2B5EF4-FFF2-40B4-BE49-F238E27FC236}">
                    <a16:creationId xmlns:a16="http://schemas.microsoft.com/office/drawing/2014/main" id="{0027208F-6B43-A7F2-CF8F-DA19A735D6F9}"/>
                  </a:ext>
                </a:extLst>
              </p:cNvPr>
              <p:cNvSpPr>
                <a:spLocks noChangeShapeType="1"/>
              </p:cNvSpPr>
              <p:nvPr/>
            </p:nvSpPr>
            <p:spPr bwMode="auto">
              <a:xfrm>
                <a:off x="3742" y="3703"/>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29" name="Rectangle 49">
                <a:extLst>
                  <a:ext uri="{FF2B5EF4-FFF2-40B4-BE49-F238E27FC236}">
                    <a16:creationId xmlns:a16="http://schemas.microsoft.com/office/drawing/2014/main" id="{A208A939-029F-6C6B-EF6B-4D5A2C1B348D}"/>
                  </a:ext>
                </a:extLst>
              </p:cNvPr>
              <p:cNvSpPr>
                <a:spLocks noChangeArrowheads="1"/>
              </p:cNvSpPr>
              <p:nvPr/>
            </p:nvSpPr>
            <p:spPr bwMode="auto">
              <a:xfrm>
                <a:off x="3742" y="3793"/>
                <a:ext cx="454" cy="91"/>
              </a:xfrm>
              <a:prstGeom prst="rect">
                <a:avLst/>
              </a:prstGeom>
              <a:solidFill>
                <a:srgbClr val="11C1D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FFCF01"/>
                  </a:solidFill>
                  <a:effectLst/>
                  <a:uLnTx/>
                  <a:uFillTx/>
                  <a:latin typeface="Tahoma" pitchFamily="34" charset="0"/>
                </a:endParaRPr>
              </a:p>
            </p:txBody>
          </p:sp>
          <p:sp>
            <p:nvSpPr>
              <p:cNvPr id="30" name="Text Box 50">
                <a:extLst>
                  <a:ext uri="{FF2B5EF4-FFF2-40B4-BE49-F238E27FC236}">
                    <a16:creationId xmlns:a16="http://schemas.microsoft.com/office/drawing/2014/main" id="{31252545-F46A-12EB-A0CD-CC68C8593D55}"/>
                  </a:ext>
                </a:extLst>
              </p:cNvPr>
              <p:cNvSpPr txBox="1">
                <a:spLocks noChangeArrowheads="1"/>
              </p:cNvSpPr>
              <p:nvPr/>
            </p:nvSpPr>
            <p:spPr bwMode="auto">
              <a:xfrm>
                <a:off x="4196" y="3022"/>
                <a:ext cx="160" cy="92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0</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2</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3</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4</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5</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6</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1000" b="0" i="0" u="none" strike="noStrike" kern="0" cap="none" spc="0" normalizeH="0" baseline="0" noProof="0">
                  <a:ln>
                    <a:noFill/>
                  </a:ln>
                  <a:solidFill>
                    <a:srgbClr val="000000"/>
                  </a:solidFill>
                  <a:effectLst/>
                  <a:uLnTx/>
                  <a:uFillTx/>
                  <a:latin typeface="Tahoma" pitchFamily="34" charset="0"/>
                </a:endParaRPr>
              </a:p>
            </p:txBody>
          </p:sp>
          <p:sp>
            <p:nvSpPr>
              <p:cNvPr id="31" name="Line 51">
                <a:extLst>
                  <a:ext uri="{FF2B5EF4-FFF2-40B4-BE49-F238E27FC236}">
                    <a16:creationId xmlns:a16="http://schemas.microsoft.com/office/drawing/2014/main" id="{8EDC5983-7A9A-F1EC-1E24-3009BB488E97}"/>
                  </a:ext>
                </a:extLst>
              </p:cNvPr>
              <p:cNvSpPr>
                <a:spLocks noChangeShapeType="1"/>
              </p:cNvSpPr>
              <p:nvPr/>
            </p:nvSpPr>
            <p:spPr bwMode="auto">
              <a:xfrm flipH="1">
                <a:off x="3470" y="3839"/>
                <a:ext cx="454" cy="0"/>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2" name="Line 52">
                <a:extLst>
                  <a:ext uri="{FF2B5EF4-FFF2-40B4-BE49-F238E27FC236}">
                    <a16:creationId xmlns:a16="http://schemas.microsoft.com/office/drawing/2014/main" id="{E504068F-4D05-B2DE-468F-BF92ACAF239B}"/>
                  </a:ext>
                </a:extLst>
              </p:cNvPr>
              <p:cNvSpPr>
                <a:spLocks noChangeShapeType="1"/>
              </p:cNvSpPr>
              <p:nvPr/>
            </p:nvSpPr>
            <p:spPr bwMode="auto">
              <a:xfrm flipV="1">
                <a:off x="3470" y="3748"/>
                <a:ext cx="0" cy="91"/>
              </a:xfrm>
              <a:prstGeom prst="line">
                <a:avLst/>
              </a:prstGeom>
              <a:noFill/>
              <a:ln w="9525">
                <a:solidFill>
                  <a:srgbClr val="000000"/>
                </a:solidFill>
                <a:miter lim="800000"/>
                <a:headEnd/>
                <a:tailEn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3" name="Line 53">
                <a:extLst>
                  <a:ext uri="{FF2B5EF4-FFF2-40B4-BE49-F238E27FC236}">
                    <a16:creationId xmlns:a16="http://schemas.microsoft.com/office/drawing/2014/main" id="{5813323E-85E6-32D5-4425-260F11B33ECF}"/>
                  </a:ext>
                </a:extLst>
              </p:cNvPr>
              <p:cNvSpPr>
                <a:spLocks noChangeShapeType="1"/>
              </p:cNvSpPr>
              <p:nvPr/>
            </p:nvSpPr>
            <p:spPr bwMode="auto">
              <a:xfrm>
                <a:off x="3470" y="3113"/>
                <a:ext cx="0"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4" name="Line 54">
                <a:extLst>
                  <a:ext uri="{FF2B5EF4-FFF2-40B4-BE49-F238E27FC236}">
                    <a16:creationId xmlns:a16="http://schemas.microsoft.com/office/drawing/2014/main" id="{25CC6EE0-1559-9B40-9208-6474398E01E1}"/>
                  </a:ext>
                </a:extLst>
              </p:cNvPr>
              <p:cNvSpPr>
                <a:spLocks noChangeShapeType="1"/>
              </p:cNvSpPr>
              <p:nvPr/>
            </p:nvSpPr>
            <p:spPr bwMode="auto">
              <a:xfrm>
                <a:off x="3470" y="3748"/>
                <a:ext cx="317" cy="0"/>
              </a:xfrm>
              <a:prstGeom prst="line">
                <a:avLst/>
              </a:prstGeom>
              <a:noFill/>
              <a:ln w="9525">
                <a:solidFill>
                  <a:srgbClr val="000000"/>
                </a:solidFill>
                <a:miter lim="800000"/>
                <a:headEnd/>
                <a:tailEnd type="triangle" w="med" len="med"/>
              </a:ln>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35" name="Text Box 55">
                <a:extLst>
                  <a:ext uri="{FF2B5EF4-FFF2-40B4-BE49-F238E27FC236}">
                    <a16:creationId xmlns:a16="http://schemas.microsoft.com/office/drawing/2014/main" id="{0EAC9131-8A6C-188F-27BB-6F39D854997E}"/>
                  </a:ext>
                </a:extLst>
              </p:cNvPr>
              <p:cNvSpPr txBox="1">
                <a:spLocks noChangeArrowheads="1"/>
              </p:cNvSpPr>
              <p:nvPr/>
            </p:nvSpPr>
            <p:spPr bwMode="auto">
              <a:xfrm>
                <a:off x="3788" y="3022"/>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6" name="Text Box 56">
                <a:extLst>
                  <a:ext uri="{FF2B5EF4-FFF2-40B4-BE49-F238E27FC236}">
                    <a16:creationId xmlns:a16="http://schemas.microsoft.com/office/drawing/2014/main" id="{54A9EFB1-FF31-0E65-AF9A-286729681D7D}"/>
                  </a:ext>
                </a:extLst>
              </p:cNvPr>
              <p:cNvSpPr txBox="1">
                <a:spLocks noChangeArrowheads="1"/>
              </p:cNvSpPr>
              <p:nvPr/>
            </p:nvSpPr>
            <p:spPr bwMode="auto">
              <a:xfrm>
                <a:off x="3833" y="311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7" name="Text Box 57">
                <a:extLst>
                  <a:ext uri="{FF2B5EF4-FFF2-40B4-BE49-F238E27FC236}">
                    <a16:creationId xmlns:a16="http://schemas.microsoft.com/office/drawing/2014/main" id="{2D032DEB-29C8-D9DA-0991-09C55E0C100C}"/>
                  </a:ext>
                </a:extLst>
              </p:cNvPr>
              <p:cNvSpPr txBox="1">
                <a:spLocks noChangeArrowheads="1"/>
              </p:cNvSpPr>
              <p:nvPr/>
            </p:nvSpPr>
            <p:spPr bwMode="auto">
              <a:xfrm>
                <a:off x="3788" y="3203"/>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8" name="Text Box 58">
                <a:extLst>
                  <a:ext uri="{FF2B5EF4-FFF2-40B4-BE49-F238E27FC236}">
                    <a16:creationId xmlns:a16="http://schemas.microsoft.com/office/drawing/2014/main" id="{8760EE05-C110-732C-D2CD-3873BCC8796F}"/>
                  </a:ext>
                </a:extLst>
              </p:cNvPr>
              <p:cNvSpPr txBox="1">
                <a:spLocks noChangeArrowheads="1"/>
              </p:cNvSpPr>
              <p:nvPr/>
            </p:nvSpPr>
            <p:spPr bwMode="auto">
              <a:xfrm>
                <a:off x="3787" y="3294"/>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39" name="Text Box 59">
                <a:extLst>
                  <a:ext uri="{FF2B5EF4-FFF2-40B4-BE49-F238E27FC236}">
                    <a16:creationId xmlns:a16="http://schemas.microsoft.com/office/drawing/2014/main" id="{08067D21-0DB1-245E-F009-D1C9A3273123}"/>
                  </a:ext>
                </a:extLst>
              </p:cNvPr>
              <p:cNvSpPr txBox="1">
                <a:spLocks noChangeArrowheads="1"/>
              </p:cNvSpPr>
              <p:nvPr/>
            </p:nvSpPr>
            <p:spPr bwMode="auto">
              <a:xfrm>
                <a:off x="3787" y="3385"/>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40" name="Text Box 60">
                <a:extLst>
                  <a:ext uri="{FF2B5EF4-FFF2-40B4-BE49-F238E27FC236}">
                    <a16:creationId xmlns:a16="http://schemas.microsoft.com/office/drawing/2014/main" id="{8643FC3D-C615-121A-ADE9-C8FC49A4D5A5}"/>
                  </a:ext>
                </a:extLst>
              </p:cNvPr>
              <p:cNvSpPr txBox="1">
                <a:spLocks noChangeArrowheads="1"/>
              </p:cNvSpPr>
              <p:nvPr/>
            </p:nvSpPr>
            <p:spPr bwMode="auto">
              <a:xfrm>
                <a:off x="3787" y="3475"/>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sp>
            <p:nvSpPr>
              <p:cNvPr id="41" name="Text Box 61">
                <a:extLst>
                  <a:ext uri="{FF2B5EF4-FFF2-40B4-BE49-F238E27FC236}">
                    <a16:creationId xmlns:a16="http://schemas.microsoft.com/office/drawing/2014/main" id="{2E95922D-3221-4D84-3DC2-62FD599C1FEC}"/>
                  </a:ext>
                </a:extLst>
              </p:cNvPr>
              <p:cNvSpPr txBox="1">
                <a:spLocks noChangeArrowheads="1"/>
              </p:cNvSpPr>
              <p:nvPr/>
            </p:nvSpPr>
            <p:spPr bwMode="auto">
              <a:xfrm>
                <a:off x="3787" y="3566"/>
                <a:ext cx="292" cy="154"/>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000" b="0" i="0" u="none" strike="noStrike" kern="0" cap="none" spc="0" normalizeH="0" baseline="0" noProof="0">
                    <a:ln>
                      <a:noFill/>
                    </a:ln>
                    <a:solidFill>
                      <a:srgbClr val="000000"/>
                    </a:solidFill>
                    <a:effectLst/>
                    <a:uLnTx/>
                    <a:uFillTx/>
                    <a:latin typeface="Tahoma" pitchFamily="34" charset="0"/>
                  </a:rPr>
                  <a:t>1234</a:t>
                </a:r>
              </a:p>
            </p:txBody>
          </p:sp>
        </p:grpSp>
        <p:sp>
          <p:nvSpPr>
            <p:cNvPr id="17" name="Text Box 62">
              <a:extLst>
                <a:ext uri="{FF2B5EF4-FFF2-40B4-BE49-F238E27FC236}">
                  <a16:creationId xmlns:a16="http://schemas.microsoft.com/office/drawing/2014/main" id="{DB88F954-E076-8488-F029-3D8D0B149446}"/>
                </a:ext>
              </a:extLst>
            </p:cNvPr>
            <p:cNvSpPr txBox="1">
              <a:spLocks noChangeArrowheads="1"/>
            </p:cNvSpPr>
            <p:nvPr/>
          </p:nvSpPr>
          <p:spPr bwMode="auto">
            <a:xfrm>
              <a:off x="7116750" y="3827292"/>
              <a:ext cx="1702710" cy="461665"/>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Tahoma" pitchFamily="34" charset="0"/>
                </a:rPr>
                <a:t>Instances</a:t>
              </a:r>
              <a:endParaRPr kumimoji="0" lang="el-GR" sz="2400" b="1" i="0" u="none" strike="noStrike" kern="0" cap="none" spc="0" normalizeH="0" baseline="0" noProof="0" dirty="0">
                <a:ln>
                  <a:noFill/>
                </a:ln>
                <a:solidFill>
                  <a:srgbClr val="000000"/>
                </a:solidFill>
                <a:effectLst/>
                <a:uLnTx/>
                <a:uFillTx/>
                <a:latin typeface="Tahoma" pitchFamily="34" charset="0"/>
              </a:endParaRPr>
            </a:p>
          </p:txBody>
        </p:sp>
        <p:sp>
          <p:nvSpPr>
            <p:cNvPr id="18" name="TextBox 17">
              <a:extLst>
                <a:ext uri="{FF2B5EF4-FFF2-40B4-BE49-F238E27FC236}">
                  <a16:creationId xmlns:a16="http://schemas.microsoft.com/office/drawing/2014/main" id="{E596F9CA-7AEE-2E1C-35D1-8927EDAD8B21}"/>
                </a:ext>
              </a:extLst>
            </p:cNvPr>
            <p:cNvSpPr txBox="1"/>
            <p:nvPr/>
          </p:nvSpPr>
          <p:spPr>
            <a:xfrm>
              <a:off x="1039814" y="4405610"/>
              <a:ext cx="903286" cy="46166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itchFamily="34" charset="0"/>
                </a:rPr>
                <a:t>st1</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19" name="TextBox 18">
              <a:extLst>
                <a:ext uri="{FF2B5EF4-FFF2-40B4-BE49-F238E27FC236}">
                  <a16:creationId xmlns:a16="http://schemas.microsoft.com/office/drawing/2014/main" id="{1F30A5A6-24BB-8C6D-F917-52C2A403755A}"/>
                </a:ext>
              </a:extLst>
            </p:cNvPr>
            <p:cNvSpPr txBox="1"/>
            <p:nvPr/>
          </p:nvSpPr>
          <p:spPr>
            <a:xfrm>
              <a:off x="3511407" y="4342115"/>
              <a:ext cx="903286" cy="46166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itchFamily="34" charset="0"/>
                </a:rPr>
                <a:t>st2</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20" name="TextBox 19">
              <a:extLst>
                <a:ext uri="{FF2B5EF4-FFF2-40B4-BE49-F238E27FC236}">
                  <a16:creationId xmlns:a16="http://schemas.microsoft.com/office/drawing/2014/main" id="{2A6F34DB-73E8-DBB7-CA03-190D0B5BBB74}"/>
                </a:ext>
              </a:extLst>
            </p:cNvPr>
            <p:cNvSpPr txBox="1"/>
            <p:nvPr/>
          </p:nvSpPr>
          <p:spPr>
            <a:xfrm>
              <a:off x="6641307" y="4457998"/>
              <a:ext cx="903286" cy="46166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itchFamily="34" charset="0"/>
                </a:rPr>
                <a:t>st3</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grpSp>
      <p:sp>
        <p:nvSpPr>
          <p:cNvPr id="73" name="WordArt 68">
            <a:extLst>
              <a:ext uri="{FF2B5EF4-FFF2-40B4-BE49-F238E27FC236}">
                <a16:creationId xmlns:a16="http://schemas.microsoft.com/office/drawing/2014/main" id="{523E7CA9-0CAB-FDAD-BB40-069C21C7112E}"/>
              </a:ext>
            </a:extLst>
          </p:cNvPr>
          <p:cNvSpPr>
            <a:spLocks noChangeArrowheads="1" noChangeShapeType="1" noTextEdit="1"/>
          </p:cNvSpPr>
          <p:nvPr/>
        </p:nvSpPr>
        <p:spPr bwMode="auto">
          <a:xfrm>
            <a:off x="319260" y="3154211"/>
            <a:ext cx="3816350" cy="1789113"/>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Stack    st1, st2, st3</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Tree>
    <p:extLst>
      <p:ext uri="{BB962C8B-B14F-4D97-AF65-F5344CB8AC3E}">
        <p14:creationId xmlns:p14="http://schemas.microsoft.com/office/powerpoint/2010/main" val="21270840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Ενθυλάκωση (</a:t>
            </a:r>
            <a:r>
              <a:rPr lang="en-US" sz="4000" b="1" dirty="0">
                <a:solidFill>
                  <a:srgbClr val="F9853D"/>
                </a:solidFill>
                <a:latin typeface="Bahnschrift" panose="020B0502040204020203" pitchFamily="34" charset="0"/>
              </a:rPr>
              <a:t>Encapsulation</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3" name="Rectangle 3">
            <a:extLst>
              <a:ext uri="{FF2B5EF4-FFF2-40B4-BE49-F238E27FC236}">
                <a16:creationId xmlns:a16="http://schemas.microsoft.com/office/drawing/2014/main" id="{BFA01146-9422-9A69-77B0-FB7349B1D697}"/>
              </a:ext>
            </a:extLst>
          </p:cNvPr>
          <p:cNvSpPr>
            <a:spLocks noChangeArrowheads="1"/>
          </p:cNvSpPr>
          <p:nvPr/>
        </p:nvSpPr>
        <p:spPr bwMode="auto">
          <a:xfrm>
            <a:off x="0" y="4005263"/>
            <a:ext cx="12192000" cy="2160587"/>
          </a:xfrm>
          <a:prstGeom prst="rect">
            <a:avLst/>
          </a:prstGeom>
          <a:solidFill>
            <a:srgbClr val="ADF2F7"/>
          </a:solidFill>
          <a:ln w="9525">
            <a:noFill/>
            <a:miter lim="800000"/>
            <a:headEnd/>
            <a:tailEnd/>
          </a:ln>
        </p:spPr>
        <p:txBody>
          <a:bodyPr wrap="none" anchor="ctr"/>
          <a:lstStyle/>
          <a:p>
            <a:pPr fontAlgn="base">
              <a:spcBef>
                <a:spcPct val="0"/>
              </a:spcBef>
              <a:spcAft>
                <a:spcPct val="0"/>
              </a:spcAft>
            </a:pPr>
            <a:endParaRPr lang="el-GR" sz="2400">
              <a:solidFill>
                <a:srgbClr val="000000"/>
              </a:solidFill>
              <a:latin typeface="Tahoma" pitchFamily="34" charset="0"/>
            </a:endParaRPr>
          </a:p>
        </p:txBody>
      </p:sp>
      <p:sp>
        <p:nvSpPr>
          <p:cNvPr id="4" name="Text Box 5">
            <a:extLst>
              <a:ext uri="{FF2B5EF4-FFF2-40B4-BE49-F238E27FC236}">
                <a16:creationId xmlns:a16="http://schemas.microsoft.com/office/drawing/2014/main" id="{E205DBFF-527C-C0B3-70F3-2338E6D4FAC4}"/>
              </a:ext>
            </a:extLst>
          </p:cNvPr>
          <p:cNvSpPr txBox="1">
            <a:spLocks noChangeArrowheads="1"/>
          </p:cNvSpPr>
          <p:nvPr/>
        </p:nvSpPr>
        <p:spPr bwMode="auto">
          <a:xfrm>
            <a:off x="515205" y="4005263"/>
            <a:ext cx="4621778" cy="2062103"/>
          </a:xfrm>
          <a:prstGeom prst="rect">
            <a:avLst/>
          </a:prstGeom>
          <a:noFill/>
          <a:ln w="9525">
            <a:noFill/>
            <a:miter lim="800000"/>
            <a:headEnd/>
            <a:tailEnd/>
          </a:ln>
        </p:spPr>
        <p:txBody>
          <a:bodyPr wrap="none">
            <a:spAutoFit/>
          </a:bodyPr>
          <a:lstStyle/>
          <a:p>
            <a:pPr fontAlgn="base">
              <a:spcBef>
                <a:spcPct val="0"/>
              </a:spcBef>
              <a:spcAft>
                <a:spcPct val="0"/>
              </a:spcAft>
            </a:pPr>
            <a:r>
              <a:rPr lang="en-US" sz="3200" b="1" dirty="0">
                <a:solidFill>
                  <a:srgbClr val="D2D70D"/>
                </a:solidFill>
                <a:latin typeface="Tahoma" pitchFamily="34" charset="0"/>
              </a:rPr>
              <a:t>private int stack[</a:t>
            </a:r>
            <a:r>
              <a:rPr lang="el-GR" sz="3200" b="1" dirty="0">
                <a:solidFill>
                  <a:srgbClr val="D2D70D"/>
                </a:solidFill>
                <a:latin typeface="Tahoma" pitchFamily="34" charset="0"/>
              </a:rPr>
              <a:t>6</a:t>
            </a:r>
            <a:r>
              <a:rPr lang="en-US" sz="3200" b="1" dirty="0">
                <a:solidFill>
                  <a:srgbClr val="D2D70D"/>
                </a:solidFill>
                <a:latin typeface="Tahoma" pitchFamily="34" charset="0"/>
              </a:rPr>
              <a:t>];</a:t>
            </a:r>
          </a:p>
          <a:p>
            <a:pPr fontAlgn="base">
              <a:spcBef>
                <a:spcPct val="0"/>
              </a:spcBef>
              <a:spcAft>
                <a:spcPct val="0"/>
              </a:spcAft>
            </a:pPr>
            <a:r>
              <a:rPr lang="en-US" sz="3200" b="1" dirty="0">
                <a:solidFill>
                  <a:srgbClr val="D2D70D"/>
                </a:solidFill>
                <a:latin typeface="Tahoma" pitchFamily="34" charset="0"/>
              </a:rPr>
              <a:t>private int </a:t>
            </a:r>
            <a:r>
              <a:rPr lang="en-US" sz="3200" b="1" dirty="0" err="1">
                <a:solidFill>
                  <a:srgbClr val="D2D70D"/>
                </a:solidFill>
                <a:latin typeface="Tahoma" pitchFamily="34" charset="0"/>
              </a:rPr>
              <a:t>sp</a:t>
            </a:r>
            <a:r>
              <a:rPr lang="en-US" sz="3200" b="1" dirty="0">
                <a:solidFill>
                  <a:srgbClr val="D2D70D"/>
                </a:solidFill>
                <a:latin typeface="Tahoma" pitchFamily="34" charset="0"/>
              </a:rPr>
              <a:t> = 0;</a:t>
            </a:r>
            <a:endParaRPr lang="el-GR" sz="3200" b="1" dirty="0">
              <a:solidFill>
                <a:srgbClr val="D2D70D"/>
              </a:solidFill>
              <a:latin typeface="Tahoma" pitchFamily="34" charset="0"/>
            </a:endParaRPr>
          </a:p>
          <a:p>
            <a:pPr fontAlgn="base">
              <a:spcBef>
                <a:spcPct val="0"/>
              </a:spcBef>
              <a:spcAft>
                <a:spcPct val="0"/>
              </a:spcAft>
            </a:pPr>
            <a:r>
              <a:rPr lang="en-US" sz="3200" b="1" dirty="0">
                <a:solidFill>
                  <a:srgbClr val="3333CC"/>
                </a:solidFill>
                <a:latin typeface="Tahoma" pitchFamily="34" charset="0"/>
              </a:rPr>
              <a:t>void push(int v)</a:t>
            </a:r>
            <a:r>
              <a:rPr lang="en-US" sz="2800" dirty="0">
                <a:solidFill>
                  <a:srgbClr val="000000"/>
                </a:solidFill>
                <a:latin typeface="Tahoma" pitchFamily="34" charset="0"/>
              </a:rPr>
              <a:t> </a:t>
            </a:r>
            <a:r>
              <a:rPr lang="en-US" sz="3200" b="1" dirty="0">
                <a:solidFill>
                  <a:srgbClr val="D2D70D"/>
                </a:solidFill>
                <a:latin typeface="Tahoma" pitchFamily="34" charset="0"/>
              </a:rPr>
              <a:t>{….}</a:t>
            </a:r>
          </a:p>
          <a:p>
            <a:pPr fontAlgn="base">
              <a:spcBef>
                <a:spcPct val="0"/>
              </a:spcBef>
              <a:spcAft>
                <a:spcPct val="0"/>
              </a:spcAft>
            </a:pPr>
            <a:r>
              <a:rPr lang="en-US" sz="3200" b="1" dirty="0">
                <a:solidFill>
                  <a:srgbClr val="3333CC"/>
                </a:solidFill>
                <a:latin typeface="Tahoma" pitchFamily="34" charset="0"/>
              </a:rPr>
              <a:t>int pop(void)</a:t>
            </a:r>
            <a:r>
              <a:rPr lang="en-US" sz="2800" dirty="0">
                <a:solidFill>
                  <a:srgbClr val="000000"/>
                </a:solidFill>
                <a:latin typeface="Tahoma" pitchFamily="34" charset="0"/>
              </a:rPr>
              <a:t> </a:t>
            </a:r>
            <a:r>
              <a:rPr lang="en-US" sz="3200" b="1" dirty="0">
                <a:solidFill>
                  <a:srgbClr val="D2D70D"/>
                </a:solidFill>
                <a:latin typeface="Tahoma" pitchFamily="34" charset="0"/>
              </a:rPr>
              <a:t>{…}</a:t>
            </a:r>
            <a:endParaRPr lang="el-GR" sz="3200" b="1" dirty="0">
              <a:solidFill>
                <a:srgbClr val="D2D70D"/>
              </a:solidFill>
              <a:latin typeface="Tahoma" pitchFamily="34" charset="0"/>
            </a:endParaRPr>
          </a:p>
        </p:txBody>
      </p:sp>
      <p:sp>
        <p:nvSpPr>
          <p:cNvPr id="6" name="WordArt 63">
            <a:extLst>
              <a:ext uri="{FF2B5EF4-FFF2-40B4-BE49-F238E27FC236}">
                <a16:creationId xmlns:a16="http://schemas.microsoft.com/office/drawing/2014/main" id="{C533C1B4-C7B1-7A60-F321-B84A3143ED42}"/>
              </a:ext>
            </a:extLst>
          </p:cNvPr>
          <p:cNvSpPr>
            <a:spLocks noChangeArrowheads="1" noChangeShapeType="1" noTextEdit="1"/>
          </p:cNvSpPr>
          <p:nvPr/>
        </p:nvSpPr>
        <p:spPr bwMode="auto">
          <a:xfrm>
            <a:off x="899319" y="1679122"/>
            <a:ext cx="3168650" cy="1573212"/>
          </a:xfrm>
          <a:prstGeom prst="rect">
            <a:avLst/>
          </a:prstGeom>
        </p:spPr>
        <p:txBody>
          <a:bodyPr wrap="none" fromWordArt="1">
            <a:prstTxWarp prst="textSlantUp">
              <a:avLst>
                <a:gd name="adj" fmla="val 32056"/>
              </a:avLst>
            </a:prstTxWarp>
          </a:bodyPr>
          <a:lstStyle/>
          <a:p>
            <a:pPr algn="ctr" fontAlgn="base">
              <a:spcBef>
                <a:spcPct val="0"/>
              </a:spcBef>
              <a:spcAft>
                <a:spcPct val="0"/>
              </a:spcAft>
            </a:pPr>
            <a:r>
              <a:rPr lang="en-GB"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class Stack</a:t>
            </a:r>
            <a:endParaRPr lang="el-GR" sz="3600" kern="10" dirty="0">
              <a:ln w="9525">
                <a:solidFill>
                  <a:srgbClr val="CC99FF"/>
                </a:solidFill>
                <a:miter lim="800000"/>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
        <p:nvSpPr>
          <p:cNvPr id="7" name="Text Box 67">
            <a:extLst>
              <a:ext uri="{FF2B5EF4-FFF2-40B4-BE49-F238E27FC236}">
                <a16:creationId xmlns:a16="http://schemas.microsoft.com/office/drawing/2014/main" id="{244B0FDD-B8B9-691E-5D2A-D23A9848DA89}"/>
              </a:ext>
            </a:extLst>
          </p:cNvPr>
          <p:cNvSpPr txBox="1">
            <a:spLocks noChangeArrowheads="1"/>
          </p:cNvSpPr>
          <p:nvPr/>
        </p:nvSpPr>
        <p:spPr bwMode="auto">
          <a:xfrm>
            <a:off x="7359552" y="4120465"/>
            <a:ext cx="3522118" cy="1508105"/>
          </a:xfrm>
          <a:prstGeom prst="rect">
            <a:avLst/>
          </a:prstGeom>
          <a:noFill/>
          <a:ln w="9525">
            <a:noFill/>
            <a:miter lim="800000"/>
            <a:headEnd/>
            <a:tailEnd/>
          </a:ln>
        </p:spPr>
        <p:txBody>
          <a:bodyPr wrap="none">
            <a:spAutoFit/>
          </a:bodyPr>
          <a:lstStyle/>
          <a:p>
            <a:pPr algn="r" fontAlgn="base">
              <a:spcBef>
                <a:spcPct val="0"/>
              </a:spcBef>
              <a:spcAft>
                <a:spcPct val="0"/>
              </a:spcAft>
            </a:pPr>
            <a:r>
              <a:rPr lang="en-US" sz="3200" b="1" dirty="0">
                <a:solidFill>
                  <a:srgbClr val="3333CC"/>
                </a:solidFill>
                <a:latin typeface="Tahoma" pitchFamily="34" charset="0"/>
              </a:rPr>
              <a:t>Interface</a:t>
            </a:r>
          </a:p>
          <a:p>
            <a:pPr fontAlgn="base">
              <a:spcBef>
                <a:spcPct val="0"/>
              </a:spcBef>
              <a:spcAft>
                <a:spcPct val="0"/>
              </a:spcAft>
            </a:pPr>
            <a:endParaRPr lang="en-US" sz="2800" b="1" dirty="0">
              <a:solidFill>
                <a:srgbClr val="3333CC"/>
              </a:solidFill>
              <a:latin typeface="Tahoma" pitchFamily="34" charset="0"/>
            </a:endParaRPr>
          </a:p>
          <a:p>
            <a:pPr fontAlgn="base">
              <a:spcBef>
                <a:spcPct val="0"/>
              </a:spcBef>
              <a:spcAft>
                <a:spcPct val="0"/>
              </a:spcAft>
            </a:pPr>
            <a:r>
              <a:rPr lang="en-US" sz="3200" b="1" dirty="0">
                <a:solidFill>
                  <a:srgbClr val="D2D70D"/>
                </a:solidFill>
                <a:latin typeface="Tahoma" pitchFamily="34" charset="0"/>
              </a:rPr>
              <a:t>Implementation</a:t>
            </a:r>
            <a:endParaRPr lang="el-GR" sz="3200" b="1" dirty="0">
              <a:solidFill>
                <a:srgbClr val="D2D70D"/>
              </a:solidFill>
              <a:latin typeface="Tahoma" pitchFamily="34" charset="0"/>
            </a:endParaRPr>
          </a:p>
        </p:txBody>
      </p:sp>
      <p:pic>
        <p:nvPicPr>
          <p:cNvPr id="9" name="Picture 8">
            <a:extLst>
              <a:ext uri="{FF2B5EF4-FFF2-40B4-BE49-F238E27FC236}">
                <a16:creationId xmlns:a16="http://schemas.microsoft.com/office/drawing/2014/main" id="{0E1399D2-2333-8F20-59FE-003F9DA45E20}"/>
              </a:ext>
            </a:extLst>
          </p:cNvPr>
          <p:cNvPicPr>
            <a:picLocks noChangeAspect="1"/>
          </p:cNvPicPr>
          <p:nvPr/>
        </p:nvPicPr>
        <p:blipFill>
          <a:blip r:embed="rId3"/>
          <a:stretch>
            <a:fillRect/>
          </a:stretch>
        </p:blipFill>
        <p:spPr>
          <a:xfrm>
            <a:off x="7620002" y="814860"/>
            <a:ext cx="3001219" cy="2855142"/>
          </a:xfrm>
          <a:prstGeom prst="rect">
            <a:avLst/>
          </a:prstGeom>
        </p:spPr>
      </p:pic>
    </p:spTree>
    <p:extLst>
      <p:ext uri="{BB962C8B-B14F-4D97-AF65-F5344CB8AC3E}">
        <p14:creationId xmlns:p14="http://schemas.microsoft.com/office/powerpoint/2010/main" val="2302464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Απλές ερωτήσεις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13" name="Rectangle 3">
            <a:extLst>
              <a:ext uri="{FF2B5EF4-FFF2-40B4-BE49-F238E27FC236}">
                <a16:creationId xmlns:a16="http://schemas.microsoft.com/office/drawing/2014/main" id="{63AD38FE-E643-1336-9740-EE91B40DDFD5}"/>
              </a:ext>
            </a:extLst>
          </p:cNvPr>
          <p:cNvSpPr txBox="1">
            <a:spLocks noChangeArrowheads="1"/>
          </p:cNvSpPr>
          <p:nvPr/>
        </p:nvSpPr>
        <p:spPr bwMode="auto">
          <a:xfrm>
            <a:off x="371962" y="684451"/>
            <a:ext cx="9792909"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rgbClr val="3333CC"/>
              </a:buClr>
              <a:buSzPct val="60000"/>
              <a:buFont typeface="Wingdings" pitchFamily="2" charset="2"/>
              <a:buChar char="n"/>
              <a:tabLst/>
              <a:defRPr/>
            </a:pPr>
            <a:r>
              <a:rPr kumimoji="0" lang="el-GR" b="0" i="0" u="none" strike="noStrike" kern="0" cap="none" spc="0" normalizeH="0" baseline="0" noProof="0" dirty="0">
                <a:ln>
                  <a:noFill/>
                </a:ln>
                <a:solidFill>
                  <a:srgbClr val="000000"/>
                </a:solidFill>
                <a:effectLst/>
                <a:uLnTx/>
                <a:uFillTx/>
                <a:latin typeface="Tahoma"/>
                <a:ea typeface="+mn-ea"/>
                <a:cs typeface="+mn-cs"/>
              </a:rPr>
              <a:t>Που θα βρω την </a:t>
            </a:r>
            <a:r>
              <a:rPr lang="en-US" kern="0" dirty="0">
                <a:solidFill>
                  <a:srgbClr val="000000"/>
                </a:solidFill>
                <a:latin typeface="Tahoma"/>
              </a:rPr>
              <a:t>c</a:t>
            </a:r>
            <a:r>
              <a:rPr kumimoji="0" lang="en-US" b="0" i="0" u="none" strike="noStrike" kern="0" cap="none" spc="0" normalizeH="0" baseline="0" noProof="0" dirty="0">
                <a:ln>
                  <a:noFill/>
                </a:ln>
                <a:solidFill>
                  <a:srgbClr val="000000"/>
                </a:solidFill>
                <a:effectLst/>
                <a:uLnTx/>
                <a:uFillTx/>
                <a:latin typeface="Tahoma"/>
                <a:ea typeface="+mn-ea"/>
                <a:cs typeface="+mn-cs"/>
              </a:rPr>
              <a:t>lass Stack;</a:t>
            </a:r>
          </a:p>
          <a:p>
            <a:pPr marL="342900" marR="0" lvl="0" indent="-342900" algn="l" defTabSz="914400" rtl="0" eaLnBrk="1" fontAlgn="base" latinLnBrk="0" hangingPunct="1">
              <a:lnSpc>
                <a:spcPct val="150000"/>
              </a:lnSpc>
              <a:spcBef>
                <a:spcPct val="20000"/>
              </a:spcBef>
              <a:spcAft>
                <a:spcPct val="0"/>
              </a:spcAft>
              <a:buClr>
                <a:srgbClr val="3333CC"/>
              </a:buClr>
              <a:buSzPct val="60000"/>
              <a:buFont typeface="Wingdings" pitchFamily="2" charset="2"/>
              <a:buChar char="n"/>
              <a:tabLst/>
              <a:defRPr/>
            </a:pPr>
            <a:r>
              <a:rPr kumimoji="0" lang="el-GR" b="0" i="0" u="none" strike="noStrike" kern="0" cap="none" spc="0" normalizeH="0" baseline="0" noProof="0" dirty="0">
                <a:ln>
                  <a:noFill/>
                </a:ln>
                <a:solidFill>
                  <a:srgbClr val="000000"/>
                </a:solidFill>
                <a:effectLst/>
                <a:uLnTx/>
                <a:uFillTx/>
                <a:latin typeface="Tahoma"/>
                <a:ea typeface="+mn-ea"/>
                <a:cs typeface="+mn-cs"/>
              </a:rPr>
              <a:t>Πως μπορώ να την χρησιμοποιήσω;</a:t>
            </a:r>
          </a:p>
          <a:p>
            <a:pPr marL="342900" marR="0" lvl="0" indent="-342900" algn="l" defTabSz="914400" rtl="0" eaLnBrk="1" fontAlgn="base" latinLnBrk="0" hangingPunct="1">
              <a:lnSpc>
                <a:spcPct val="150000"/>
              </a:lnSpc>
              <a:spcBef>
                <a:spcPct val="20000"/>
              </a:spcBef>
              <a:spcAft>
                <a:spcPct val="0"/>
              </a:spcAft>
              <a:buClr>
                <a:srgbClr val="3333CC"/>
              </a:buClr>
              <a:buSzPct val="60000"/>
              <a:buFont typeface="Wingdings" pitchFamily="2" charset="2"/>
              <a:buChar char="n"/>
              <a:tabLst/>
              <a:defRPr/>
            </a:pPr>
            <a:r>
              <a:rPr kumimoji="0" lang="el-GR" b="0" i="0" u="none" strike="noStrike" kern="0" cap="none" spc="0" normalizeH="0" baseline="0" noProof="0" dirty="0">
                <a:ln>
                  <a:noFill/>
                </a:ln>
                <a:solidFill>
                  <a:srgbClr val="000000"/>
                </a:solidFill>
                <a:effectLst/>
                <a:uLnTx/>
                <a:uFillTx/>
                <a:latin typeface="Tahoma"/>
                <a:ea typeface="+mn-ea"/>
                <a:cs typeface="+mn-cs"/>
              </a:rPr>
              <a:t>Που θα βρω τα στιγμιότυπα </a:t>
            </a:r>
            <a:r>
              <a:rPr kumimoji="0" lang="en-US" b="0" i="0" u="none" strike="noStrike" kern="0" cap="none" spc="0" normalizeH="0" baseline="0" noProof="0" dirty="0">
                <a:ln>
                  <a:noFill/>
                </a:ln>
                <a:solidFill>
                  <a:srgbClr val="000000"/>
                </a:solidFill>
                <a:effectLst/>
                <a:uLnTx/>
                <a:uFillTx/>
                <a:latin typeface="Tahoma"/>
                <a:ea typeface="+mn-ea"/>
                <a:cs typeface="+mn-cs"/>
              </a:rPr>
              <a:t>st1, st2, st3 </a:t>
            </a:r>
            <a:r>
              <a:rPr kumimoji="0" lang="el-GR" b="0" i="0" u="none" strike="noStrike" kern="0" cap="none" spc="0" normalizeH="0" baseline="0" noProof="0" dirty="0">
                <a:ln>
                  <a:noFill/>
                </a:ln>
                <a:solidFill>
                  <a:srgbClr val="000000"/>
                </a:solidFill>
                <a:effectLst/>
                <a:uLnTx/>
                <a:uFillTx/>
                <a:latin typeface="Tahoma"/>
                <a:ea typeface="+mn-ea"/>
                <a:cs typeface="+mn-cs"/>
              </a:rPr>
              <a:t>ή κάποιο στιγμιότυπο;</a:t>
            </a:r>
          </a:p>
          <a:p>
            <a:pPr marL="342900" marR="0" lvl="0" indent="-342900" algn="l" defTabSz="914400" rtl="0" eaLnBrk="1" fontAlgn="base" latinLnBrk="0" hangingPunct="1">
              <a:lnSpc>
                <a:spcPct val="150000"/>
              </a:lnSpc>
              <a:spcBef>
                <a:spcPct val="20000"/>
              </a:spcBef>
              <a:spcAft>
                <a:spcPct val="0"/>
              </a:spcAft>
              <a:buClr>
                <a:srgbClr val="3333CC"/>
              </a:buClr>
              <a:buSzPct val="60000"/>
              <a:buFont typeface="Wingdings" pitchFamily="2" charset="2"/>
              <a:buChar char="n"/>
              <a:tabLst/>
              <a:defRPr/>
            </a:pPr>
            <a:r>
              <a:rPr kumimoji="0" lang="el-GR" b="0" i="0" u="none" strike="noStrike" kern="0" cap="none" spc="0" normalizeH="0" baseline="0" noProof="0" dirty="0">
                <a:ln>
                  <a:noFill/>
                </a:ln>
                <a:solidFill>
                  <a:srgbClr val="000000"/>
                </a:solidFill>
                <a:effectLst/>
                <a:uLnTx/>
                <a:uFillTx/>
                <a:latin typeface="Tahoma"/>
                <a:ea typeface="+mn-ea"/>
                <a:cs typeface="+mn-cs"/>
              </a:rPr>
              <a:t>Πως μπορώ να χρησιμοποιήσω τα στιγμιότυπα της κλάσης </a:t>
            </a:r>
            <a:r>
              <a:rPr kumimoji="0" lang="en-US" b="0" i="0" u="none" strike="noStrike" kern="0" cap="none" spc="0" normalizeH="0" baseline="0" noProof="0" dirty="0">
                <a:ln>
                  <a:noFill/>
                </a:ln>
                <a:solidFill>
                  <a:srgbClr val="000000"/>
                </a:solidFill>
                <a:effectLst/>
                <a:uLnTx/>
                <a:uFillTx/>
                <a:latin typeface="Tahoma"/>
                <a:ea typeface="+mn-ea"/>
                <a:cs typeface="+mn-cs"/>
              </a:rPr>
              <a:t>Stack</a:t>
            </a:r>
            <a:r>
              <a:rPr kumimoji="0" lang="el-GR" b="0"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150000"/>
              </a:lnSpc>
              <a:spcBef>
                <a:spcPct val="20000"/>
              </a:spcBef>
              <a:spcAft>
                <a:spcPct val="0"/>
              </a:spcAft>
              <a:buClr>
                <a:srgbClr val="3333CC"/>
              </a:buClr>
              <a:buSzPct val="60000"/>
              <a:buFont typeface="Wingdings" pitchFamily="2" charset="2"/>
              <a:buChar char="n"/>
              <a:tabLst/>
              <a:defRPr/>
            </a:pPr>
            <a:endParaRPr kumimoji="0" lang="el-GR" b="0" i="0" u="none" strike="noStrike" kern="0" cap="none" spc="0" normalizeH="0" baseline="0" noProof="0" dirty="0">
              <a:ln>
                <a:noFill/>
              </a:ln>
              <a:solidFill>
                <a:srgbClr val="000000"/>
              </a:solidFill>
              <a:effectLst/>
              <a:uLnTx/>
              <a:uFillTx/>
              <a:latin typeface="Tahoma"/>
              <a:ea typeface="+mn-ea"/>
              <a:cs typeface="+mn-cs"/>
            </a:endParaRPr>
          </a:p>
        </p:txBody>
      </p:sp>
      <p:sp>
        <p:nvSpPr>
          <p:cNvPr id="14" name="AutoShape 4">
            <a:extLst>
              <a:ext uri="{FF2B5EF4-FFF2-40B4-BE49-F238E27FC236}">
                <a16:creationId xmlns:a16="http://schemas.microsoft.com/office/drawing/2014/main" id="{1D828409-0382-A18B-28CF-0D26E9A64012}"/>
              </a:ext>
            </a:extLst>
          </p:cNvPr>
          <p:cNvSpPr>
            <a:spLocks noChangeArrowheads="1"/>
          </p:cNvSpPr>
          <p:nvPr/>
        </p:nvSpPr>
        <p:spPr bwMode="auto">
          <a:xfrm>
            <a:off x="311186" y="5500655"/>
            <a:ext cx="11441236" cy="719331"/>
          </a:xfrm>
          <a:prstGeom prst="wedgeRoundRectCallout">
            <a:avLst>
              <a:gd name="adj1" fmla="val -47813"/>
              <a:gd name="adj2" fmla="val 108296"/>
              <a:gd name="adj3" fmla="val 16667"/>
            </a:avLst>
          </a:prstGeom>
          <a:solidFill>
            <a:srgbClr val="FCFF8D"/>
          </a:solidFill>
          <a:ln w="9525">
            <a:solidFill>
              <a:schemeClr val="bg1"/>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itchFamily="34" charset="0"/>
              </a:rPr>
              <a:t>Χρησιμοποίησε το </a:t>
            </a:r>
            <a:r>
              <a:rPr kumimoji="0" lang="en-US" sz="2000" b="0" i="0" u="none" strike="noStrike" kern="0" cap="none" spc="0" normalizeH="0" baseline="0" noProof="0" dirty="0" err="1">
                <a:ln>
                  <a:noFill/>
                </a:ln>
                <a:solidFill>
                  <a:srgbClr val="000000"/>
                </a:solidFill>
                <a:effectLst/>
                <a:uLnTx/>
                <a:uFillTx/>
                <a:latin typeface="Tahoma" pitchFamily="34" charset="0"/>
              </a:rPr>
              <a:t>BlueJ</a:t>
            </a:r>
            <a:r>
              <a:rPr kumimoji="0" lang="en-US" sz="2000" b="0" i="0" u="none" strike="noStrike" kern="0" cap="none" spc="0" normalizeH="0" baseline="0" noProof="0" dirty="0">
                <a:ln>
                  <a:noFill/>
                </a:ln>
                <a:solidFill>
                  <a:srgbClr val="000000"/>
                </a:solidFill>
                <a:effectLst/>
                <a:uLnTx/>
                <a:uFillTx/>
                <a:latin typeface="Tahoma" pitchFamily="34" charset="0"/>
              </a:rPr>
              <a:t> </a:t>
            </a:r>
            <a:r>
              <a:rPr kumimoji="0" lang="el-GR" sz="2000" b="0" i="0" u="none" strike="noStrike" kern="0" cap="none" spc="0" normalizeH="0" baseline="0" noProof="0" dirty="0">
                <a:ln>
                  <a:noFill/>
                </a:ln>
                <a:solidFill>
                  <a:srgbClr val="000000"/>
                </a:solidFill>
                <a:effectLst/>
                <a:uLnTx/>
                <a:uFillTx/>
                <a:latin typeface="Tahoma" pitchFamily="34" charset="0"/>
              </a:rPr>
              <a:t>σε συνδυασμό με την βασική βιβλιοθήκη της </a:t>
            </a:r>
            <a:r>
              <a:rPr kumimoji="0" lang="en-US" sz="2000" b="0" i="0" u="none" strike="noStrike" kern="0" cap="none" spc="0" normalizeH="0" baseline="0" noProof="0" dirty="0">
                <a:ln>
                  <a:noFill/>
                </a:ln>
                <a:solidFill>
                  <a:srgbClr val="000000"/>
                </a:solidFill>
                <a:effectLst/>
                <a:uLnTx/>
                <a:uFillTx/>
                <a:latin typeface="Tahoma" pitchFamily="34" charset="0"/>
              </a:rPr>
              <a:t>Java (Java API) </a:t>
            </a:r>
            <a:r>
              <a:rPr kumimoji="0" lang="el-GR" sz="2000" b="0" i="0" u="none" strike="noStrike" kern="0" cap="none" spc="0" normalizeH="0" baseline="0" noProof="0" dirty="0">
                <a:ln>
                  <a:noFill/>
                </a:ln>
                <a:solidFill>
                  <a:srgbClr val="000000"/>
                </a:solidFill>
                <a:effectLst/>
                <a:uLnTx/>
                <a:uFillTx/>
                <a:latin typeface="Tahoma" pitchFamily="34" charset="0"/>
              </a:rPr>
              <a:t>για την εξοικείωση σου με τις έννοιες αυτές</a:t>
            </a:r>
            <a:r>
              <a:rPr kumimoji="0" lang="en-US" sz="2000" b="0" i="0" u="none" strike="noStrike" kern="0" cap="none" spc="0" normalizeH="0" baseline="0" noProof="0" dirty="0">
                <a:ln>
                  <a:noFill/>
                </a:ln>
                <a:solidFill>
                  <a:srgbClr val="000000"/>
                </a:solidFill>
                <a:effectLst/>
                <a:uLnTx/>
                <a:uFillTx/>
                <a:latin typeface="Tahoma" pitchFamily="34" charset="0"/>
              </a:rPr>
              <a:t>.</a:t>
            </a:r>
            <a:endParaRPr kumimoji="0" lang="el-GR" sz="2000" b="0" i="0" u="none" strike="noStrike" kern="0" cap="none" spc="0" normalizeH="0" baseline="0" noProof="0" dirty="0">
              <a:ln>
                <a:noFill/>
              </a:ln>
              <a:solidFill>
                <a:srgbClr val="000000"/>
              </a:solidFill>
              <a:effectLst/>
              <a:uLnTx/>
              <a:uFillTx/>
              <a:latin typeface="Tahoma" pitchFamily="34" charset="0"/>
            </a:endParaRPr>
          </a:p>
        </p:txBody>
      </p:sp>
    </p:spTree>
    <p:extLst>
      <p:ext uri="{BB962C8B-B14F-4D97-AF65-F5344CB8AC3E}">
        <p14:creationId xmlns:p14="http://schemas.microsoft.com/office/powerpoint/2010/main" val="323855541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blinds(horizontal)">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blinds(horizontal)">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53BB3-DE43-4D97-C872-59B5EFB8B2F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A731A63-9ECB-03A4-E3C6-0A915AE76F58}"/>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12412AF0-FB53-BE43-C421-CFE7C3FA4DE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88230C34-8CE9-1197-04F6-B99F2755EC6A}"/>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FCDE5EA1-A83F-0FD2-4575-262C63DB7EAF}"/>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ECB69CF-E600-46A8-113F-A19CF7EB90F2}"/>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2B6A4531-C786-8D6D-2F84-9F1B6C77E69A}"/>
              </a:ext>
            </a:extLst>
          </p:cNvPr>
          <p:cNvSpPr txBox="1">
            <a:spLocks noChangeArrowheads="1"/>
          </p:cNvSpPr>
          <p:nvPr/>
        </p:nvSpPr>
        <p:spPr bwMode="auto">
          <a:xfrm>
            <a:off x="179511" y="1052736"/>
            <a:ext cx="10165491"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i="0" u="none" strike="noStrike" kern="0" cap="none" spc="0" normalizeH="0" baseline="0" noProof="0" dirty="0">
                <a:ln>
                  <a:noFill/>
                </a:ln>
                <a:solidFill>
                  <a:srgbClr val="000000"/>
                </a:solidFill>
                <a:effectLst/>
                <a:uLnTx/>
                <a:uFillTx/>
                <a:latin typeface="Tahoma"/>
                <a:ea typeface="+mn-ea"/>
                <a:cs typeface="+mn-cs"/>
              </a:rPr>
              <a:t>Νοητικό μοντέλο Αντικειμενοστρεφούς Προγραμματισμού </a:t>
            </a:r>
            <a:r>
              <a:rPr kumimoji="0" lang="en-US" sz="3200" i="0" u="none" strike="noStrike" kern="0" cap="none" spc="0" normalizeH="0" baseline="0" noProof="0" dirty="0">
                <a:ln>
                  <a:noFill/>
                </a:ln>
                <a:solidFill>
                  <a:srgbClr val="000000"/>
                </a:solidFill>
                <a:effectLst/>
                <a:uLnTx/>
                <a:uFillTx/>
                <a:latin typeface="Tahoma"/>
                <a:ea typeface="+mn-ea"/>
                <a:cs typeface="+mn-cs"/>
              </a:rPr>
              <a:t>(</a:t>
            </a:r>
            <a:r>
              <a:rPr lang="en-US" kern="0" dirty="0">
                <a:solidFill>
                  <a:srgbClr val="000000"/>
                </a:solidFill>
                <a:latin typeface="Tahoma"/>
              </a:rPr>
              <a:t>OOP </a:t>
            </a:r>
            <a:r>
              <a:rPr kumimoji="0" lang="en-US" sz="3200" i="0" u="none" strike="noStrike" kern="0" cap="none" spc="0" normalizeH="0" baseline="0" noProof="0" dirty="0">
                <a:ln>
                  <a:noFill/>
                </a:ln>
                <a:solidFill>
                  <a:srgbClr val="000000"/>
                </a:solidFill>
                <a:effectLst/>
                <a:uLnTx/>
                <a:uFillTx/>
                <a:latin typeface="Tahoma"/>
                <a:ea typeface="+mn-ea"/>
                <a:cs typeface="+mn-cs"/>
              </a:rPr>
              <a:t>Conceptual model</a:t>
            </a:r>
            <a:r>
              <a:rPr kumimoji="0" lang="el-GR" sz="320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lang="el-GR" kern="0" dirty="0">
                <a:solidFill>
                  <a:srgbClr val="000000"/>
                </a:solidFill>
                <a:latin typeface="Tahoma"/>
              </a:rPr>
              <a:t>Α</a:t>
            </a:r>
            <a:r>
              <a:rPr kumimoji="0" lang="el-GR" sz="3200" i="0" u="none" strike="noStrike" kern="0" cap="none" spc="0" normalizeH="0" baseline="0" noProof="0" dirty="0" err="1">
                <a:ln>
                  <a:noFill/>
                </a:ln>
                <a:solidFill>
                  <a:srgbClr val="000000"/>
                </a:solidFill>
                <a:effectLst/>
                <a:uLnTx/>
                <a:uFillTx/>
                <a:latin typeface="Tahoma"/>
                <a:ea typeface="+mn-ea"/>
                <a:cs typeface="+mn-cs"/>
              </a:rPr>
              <a:t>ντικε</a:t>
            </a:r>
            <a:r>
              <a:rPr lang="el-GR" kern="0" dirty="0" err="1">
                <a:solidFill>
                  <a:srgbClr val="000000"/>
                </a:solidFill>
                <a:latin typeface="Tahoma"/>
              </a:rPr>
              <a:t>ίμενο</a:t>
            </a:r>
            <a:r>
              <a:rPr lang="el-GR" kern="0" dirty="0">
                <a:solidFill>
                  <a:srgbClr val="000000"/>
                </a:solidFill>
                <a:latin typeface="Tahoma"/>
              </a:rPr>
              <a:t> το βασικό δομικό στοιχείο</a:t>
            </a:r>
            <a:endParaRPr kumimoji="0" lang="en-US" sz="3200"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Object-class-instance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i="0" u="none" strike="noStrike" kern="0" cap="none" spc="0" normalizeH="0" baseline="0" noProof="0" dirty="0">
                <a:ln>
                  <a:noFill/>
                </a:ln>
                <a:solidFill>
                  <a:srgbClr val="000000"/>
                </a:solidFill>
                <a:effectLst/>
                <a:uLnTx/>
                <a:uFillTx/>
                <a:latin typeface="Tahoma"/>
              </a:rPr>
              <a:t>Objects collaborate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rPr>
              <a:t>Associations</a:t>
            </a:r>
            <a:endParaRPr kumimoji="0" lang="el-GR" sz="28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r>
              <a:rPr kumimoji="0" lang="el-GR" sz="3200" b="1" i="0" u="none" strike="noStrike" kern="0" cap="none" spc="0" normalizeH="0" baseline="0" noProof="0" dirty="0">
                <a:ln>
                  <a:noFill/>
                </a:ln>
                <a:solidFill>
                  <a:srgbClr val="000000"/>
                </a:solidFill>
                <a:effectLst/>
                <a:uLnTx/>
                <a:uFillTx/>
                <a:latin typeface="Tahoma"/>
                <a:ea typeface="+mn-ea"/>
                <a:cs typeface="+mn-cs"/>
              </a:rPr>
              <a:t>Το παράδειγμα της Στοίβας</a:t>
            </a:r>
            <a:endParaRPr kumimoji="0" lang="en-US" sz="3200" b="1"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kern="0" dirty="0">
                <a:solidFill>
                  <a:srgbClr val="000000"/>
                </a:solidFill>
                <a:latin typeface="Tahoma"/>
              </a:rPr>
              <a:t>H </a:t>
            </a:r>
            <a:r>
              <a:rPr lang="el-GR" kern="0" dirty="0">
                <a:solidFill>
                  <a:srgbClr val="000000"/>
                </a:solidFill>
                <a:latin typeface="Tahoma"/>
              </a:rPr>
              <a:t>κλάση </a:t>
            </a:r>
            <a:r>
              <a:rPr lang="en-US" kern="0" dirty="0">
                <a:solidFill>
                  <a:srgbClr val="000000"/>
                </a:solidFill>
                <a:latin typeface="Tahoma"/>
              </a:rPr>
              <a:t>Stack</a:t>
            </a:r>
          </a:p>
          <a:p>
            <a:pPr lvl="1" indent="-342900" eaLnBrk="1" hangingPunct="1">
              <a:buClr>
                <a:srgbClr val="3333CC"/>
              </a:buClr>
              <a:buSzPct val="60000"/>
              <a:defRPr/>
            </a:pPr>
            <a:r>
              <a:rPr lang="el-GR" kern="0" dirty="0">
                <a:solidFill>
                  <a:srgbClr val="000000"/>
                </a:solidFill>
                <a:latin typeface="Tahoma"/>
              </a:rPr>
              <a:t>Στιγμιότυπα της </a:t>
            </a:r>
            <a:r>
              <a:rPr lang="en-US" kern="0" dirty="0">
                <a:solidFill>
                  <a:srgbClr val="000000"/>
                </a:solidFill>
                <a:latin typeface="Tahoma"/>
              </a:rPr>
              <a:t>Stack</a:t>
            </a:r>
          </a:p>
          <a:p>
            <a:pPr lvl="1" indent="-342900" eaLnBrk="1" hangingPunct="1">
              <a:buClr>
                <a:srgbClr val="3333CC"/>
              </a:buClr>
              <a:buSzPct val="60000"/>
              <a:defRPr/>
            </a:pPr>
            <a:r>
              <a:rPr kumimoji="0" lang="el-GR" b="1" i="0" u="none" strike="noStrike" kern="0" cap="none" spc="0" normalizeH="0" baseline="0" noProof="0" dirty="0">
                <a:ln>
                  <a:noFill/>
                </a:ln>
                <a:solidFill>
                  <a:srgbClr val="000000"/>
                </a:solidFill>
                <a:effectLst/>
                <a:uLnTx/>
                <a:uFillTx/>
                <a:latin typeface="Tahoma"/>
                <a:ea typeface="+mn-ea"/>
                <a:cs typeface="+mn-cs"/>
              </a:rPr>
              <a:t>Αξιοποίηση της </a:t>
            </a:r>
            <a:r>
              <a:rPr kumimoji="0" lang="en-US" b="1" i="0" u="none" strike="noStrike" kern="0" cap="none" spc="0" normalizeH="0" baseline="0" noProof="0" dirty="0">
                <a:ln>
                  <a:noFill/>
                </a:ln>
                <a:solidFill>
                  <a:srgbClr val="000000"/>
                </a:solidFill>
                <a:effectLst/>
                <a:uLnTx/>
                <a:uFillTx/>
                <a:latin typeface="Tahoma"/>
                <a:ea typeface="+mn-ea"/>
                <a:cs typeface="+mn-cs"/>
              </a:rPr>
              <a:t>Stack </a:t>
            </a:r>
            <a:r>
              <a:rPr kumimoji="0" lang="el-GR" b="1" i="0" u="none" strike="noStrike" kern="0" cap="none" spc="0" normalizeH="0" baseline="0" noProof="0" dirty="0">
                <a:ln>
                  <a:noFill/>
                </a:ln>
                <a:solidFill>
                  <a:srgbClr val="000000"/>
                </a:solidFill>
                <a:effectLst/>
                <a:uLnTx/>
                <a:uFillTx/>
                <a:latin typeface="Tahoma"/>
                <a:ea typeface="+mn-ea"/>
                <a:cs typeface="+mn-cs"/>
              </a:rPr>
              <a:t>μέσα από το </a:t>
            </a:r>
            <a:r>
              <a:rPr kumimoji="0" lang="en-US" b="1" i="0" u="none" strike="noStrike" kern="0" cap="none" spc="0" normalizeH="0" baseline="0" noProof="0" dirty="0" err="1">
                <a:ln>
                  <a:noFill/>
                </a:ln>
                <a:solidFill>
                  <a:srgbClr val="000000"/>
                </a:solidFill>
                <a:effectLst/>
                <a:uLnTx/>
                <a:uFillTx/>
                <a:latin typeface="Tahoma"/>
                <a:ea typeface="+mn-ea"/>
                <a:cs typeface="+mn-cs"/>
              </a:rPr>
              <a:t>BlueJ</a:t>
            </a:r>
            <a:endParaRPr kumimoji="0" lang="el-GR"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itchFamily="2" charset="2"/>
              <a:buChar char="n"/>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4463151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3B743-FFB7-95CE-DC06-C68C1F42EB82}"/>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7752426-C58A-C651-DF09-7887A160C23D}"/>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1BD3E195-980E-CF04-D616-639F35D52C01}"/>
              </a:ext>
            </a:extLst>
          </p:cNvPr>
          <p:cNvSpPr>
            <a:spLocks noGrp="1"/>
          </p:cNvSpPr>
          <p:nvPr>
            <p:ph type="title"/>
          </p:nvPr>
        </p:nvSpPr>
        <p:spPr>
          <a:xfrm>
            <a:off x="0" y="0"/>
            <a:ext cx="12191999" cy="719331"/>
          </a:xfrm>
          <a:solidFill>
            <a:srgbClr val="FDCBAD"/>
          </a:solidFill>
        </p:spPr>
        <p:txBody>
          <a:bodyPr>
            <a:normAutofit/>
          </a:bodyPr>
          <a:lstStyle/>
          <a:p>
            <a:r>
              <a:rPr lang="en-US" sz="4000" b="1" dirty="0" err="1">
                <a:solidFill>
                  <a:srgbClr val="F9853D"/>
                </a:solidFill>
                <a:latin typeface="Bahnschrift" panose="020B0502040204020203" pitchFamily="34" charset="0"/>
              </a:rPr>
              <a:t>BlueJ</a:t>
            </a:r>
            <a:r>
              <a:rPr lang="en-US" sz="4000" b="1" dirty="0">
                <a:solidFill>
                  <a:srgbClr val="F9853D"/>
                </a:solidFill>
                <a:latin typeface="Bahnschrift" panose="020B0502040204020203" pitchFamily="34" charset="0"/>
              </a:rPr>
              <a:t> – Integrated Development Environment (IDE)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C11A6E12-912E-C659-6AAC-6B2143F92AA2}"/>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63C5C83-81E9-800C-8EFB-6D6107A5964D}"/>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F0F0C45A-57A5-36DE-D644-37DE9D97F77E}"/>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pic>
        <p:nvPicPr>
          <p:cNvPr id="7" name="Picture 6">
            <a:extLst>
              <a:ext uri="{FF2B5EF4-FFF2-40B4-BE49-F238E27FC236}">
                <a16:creationId xmlns:a16="http://schemas.microsoft.com/office/drawing/2014/main" id="{3C082C9F-8214-FA1C-FEC8-AD2046BD2521}"/>
              </a:ext>
            </a:extLst>
          </p:cNvPr>
          <p:cNvPicPr>
            <a:picLocks noChangeAspect="1"/>
          </p:cNvPicPr>
          <p:nvPr/>
        </p:nvPicPr>
        <p:blipFill>
          <a:blip r:embed="rId3"/>
          <a:stretch>
            <a:fillRect/>
          </a:stretch>
        </p:blipFill>
        <p:spPr>
          <a:xfrm>
            <a:off x="4563636" y="719331"/>
            <a:ext cx="7487695" cy="5668166"/>
          </a:xfrm>
          <a:prstGeom prst="rect">
            <a:avLst/>
          </a:prstGeom>
        </p:spPr>
      </p:pic>
      <p:pic>
        <p:nvPicPr>
          <p:cNvPr id="12" name="Picture 11">
            <a:extLst>
              <a:ext uri="{FF2B5EF4-FFF2-40B4-BE49-F238E27FC236}">
                <a16:creationId xmlns:a16="http://schemas.microsoft.com/office/drawing/2014/main" id="{A0396F63-290B-5082-8183-B8A42F3912C2}"/>
              </a:ext>
            </a:extLst>
          </p:cNvPr>
          <p:cNvPicPr>
            <a:picLocks noChangeAspect="1"/>
          </p:cNvPicPr>
          <p:nvPr/>
        </p:nvPicPr>
        <p:blipFill>
          <a:blip r:embed="rId4"/>
          <a:stretch>
            <a:fillRect/>
          </a:stretch>
        </p:blipFill>
        <p:spPr>
          <a:xfrm>
            <a:off x="0" y="789309"/>
            <a:ext cx="4292082" cy="5837232"/>
          </a:xfrm>
          <a:prstGeom prst="rect">
            <a:avLst/>
          </a:prstGeom>
        </p:spPr>
      </p:pic>
    </p:spTree>
    <p:extLst>
      <p:ext uri="{BB962C8B-B14F-4D97-AF65-F5344CB8AC3E}">
        <p14:creationId xmlns:p14="http://schemas.microsoft.com/office/powerpoint/2010/main" val="35399727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FB33C-6EE1-562F-F428-AE479DC5AE94}"/>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BAF9045-E65E-BCD2-1714-256D23AA0213}"/>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B383F7C0-5B91-699F-735E-EC633CD7D691}"/>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Java API</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E2606AD7-1CB4-192F-515A-3AFA929EDCDD}"/>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2DFB37CA-7E34-F6D4-EF79-F21E56A53507}"/>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28A7BCB4-5740-2632-7DF6-BFA64A9E3297}"/>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sp>
        <p:nvSpPr>
          <p:cNvPr id="6" name="Rectangle 3">
            <a:extLst>
              <a:ext uri="{FF2B5EF4-FFF2-40B4-BE49-F238E27FC236}">
                <a16:creationId xmlns:a16="http://schemas.microsoft.com/office/drawing/2014/main" id="{F350CF0E-D6C7-8110-7370-61A2B6B32CDC}"/>
              </a:ext>
            </a:extLst>
          </p:cNvPr>
          <p:cNvSpPr txBox="1">
            <a:spLocks noChangeArrowheads="1"/>
          </p:cNvSpPr>
          <p:nvPr/>
        </p:nvSpPr>
        <p:spPr bwMode="auto">
          <a:xfrm>
            <a:off x="0" y="1582739"/>
            <a:ext cx="2997499"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0" eaLnBrk="1" hangingPunct="1">
              <a:spcBef>
                <a:spcPts val="0"/>
              </a:spcBef>
              <a:buClr>
                <a:srgbClr val="3333CC"/>
              </a:buClr>
              <a:defRPr/>
            </a:pPr>
            <a:r>
              <a:rPr lang="en-GB" sz="2400" kern="0" dirty="0">
                <a:solidFill>
                  <a:srgbClr val="000000"/>
                </a:solidFill>
                <a:latin typeface="Tahoma"/>
              </a:rPr>
              <a:t>The Java API </a:t>
            </a:r>
            <a:r>
              <a:rPr lang="en-GB" sz="2400" b="1" kern="0" dirty="0">
                <a:solidFill>
                  <a:srgbClr val="000000"/>
                </a:solidFill>
                <a:latin typeface="Tahoma"/>
              </a:rPr>
              <a:t>is</a:t>
            </a:r>
            <a:r>
              <a:rPr lang="en-GB" sz="2400" kern="0" dirty="0">
                <a:solidFill>
                  <a:srgbClr val="000000"/>
                </a:solidFill>
                <a:latin typeface="Tahoma"/>
              </a:rPr>
              <a:t> </a:t>
            </a:r>
            <a:r>
              <a:rPr lang="en-GB" sz="2400" b="1" kern="0" dirty="0">
                <a:solidFill>
                  <a:srgbClr val="000000"/>
                </a:solidFill>
                <a:latin typeface="Tahoma"/>
              </a:rPr>
              <a:t>a library of prewritten classes</a:t>
            </a:r>
            <a:r>
              <a:rPr lang="en-GB" sz="2400" kern="0" dirty="0">
                <a:solidFill>
                  <a:srgbClr val="000000"/>
                </a:solidFill>
                <a:latin typeface="Tahoma"/>
              </a:rPr>
              <a:t>, that are free to use, included in the Java Development Environment (JDK). The library contains components for ...</a:t>
            </a:r>
          </a:p>
          <a:p>
            <a:pPr marL="342900" marR="0" lvl="0" indent="-342900" algn="l" defTabSz="914400" rtl="0" eaLnBrk="1" fontAlgn="base" latinLnBrk="0" hangingPunct="1">
              <a:lnSpc>
                <a:spcPct val="150000"/>
              </a:lnSpc>
              <a:spcBef>
                <a:spcPct val="20000"/>
              </a:spcBef>
              <a:spcAft>
                <a:spcPct val="0"/>
              </a:spcAft>
              <a:buClr>
                <a:srgbClr val="3333CC"/>
              </a:buClr>
              <a:buSzPct val="60000"/>
              <a:buFont typeface="Wingdings" pitchFamily="2" charset="2"/>
              <a:buChar char="n"/>
              <a:tabLst/>
              <a:defRPr/>
            </a:pPr>
            <a:endParaRPr kumimoji="0" lang="el-GR" sz="2400" b="0" i="0" u="none" strike="noStrike" kern="0" cap="none" spc="0" normalizeH="0" baseline="0" noProof="0" dirty="0">
              <a:ln>
                <a:noFill/>
              </a:ln>
              <a:solidFill>
                <a:srgbClr val="000000"/>
              </a:solidFill>
              <a:effectLst/>
              <a:uLnTx/>
              <a:uFillTx/>
              <a:latin typeface="Tahoma"/>
            </a:endParaRPr>
          </a:p>
        </p:txBody>
      </p:sp>
      <p:pic>
        <p:nvPicPr>
          <p:cNvPr id="13" name="Picture 12">
            <a:extLst>
              <a:ext uri="{FF2B5EF4-FFF2-40B4-BE49-F238E27FC236}">
                <a16:creationId xmlns:a16="http://schemas.microsoft.com/office/drawing/2014/main" id="{DE6D0567-D9DD-ACC3-F17D-B4A5EF013B8D}"/>
              </a:ext>
            </a:extLst>
          </p:cNvPr>
          <p:cNvPicPr>
            <a:picLocks noChangeAspect="1"/>
          </p:cNvPicPr>
          <p:nvPr/>
        </p:nvPicPr>
        <p:blipFill>
          <a:blip r:embed="rId3"/>
          <a:stretch>
            <a:fillRect/>
          </a:stretch>
        </p:blipFill>
        <p:spPr>
          <a:xfrm>
            <a:off x="3048950" y="1423407"/>
            <a:ext cx="9002381" cy="4725059"/>
          </a:xfrm>
          <a:prstGeom prst="rect">
            <a:avLst/>
          </a:prstGeom>
        </p:spPr>
      </p:pic>
      <p:sp>
        <p:nvSpPr>
          <p:cNvPr id="14" name="TextBox 13">
            <a:extLst>
              <a:ext uri="{FF2B5EF4-FFF2-40B4-BE49-F238E27FC236}">
                <a16:creationId xmlns:a16="http://schemas.microsoft.com/office/drawing/2014/main" id="{0FA66054-AA7E-9FBC-4F03-5AD7C1DFA99E}"/>
              </a:ext>
            </a:extLst>
          </p:cNvPr>
          <p:cNvSpPr txBox="1"/>
          <p:nvPr/>
        </p:nvSpPr>
        <p:spPr>
          <a:xfrm>
            <a:off x="3951149" y="758816"/>
            <a:ext cx="7115921" cy="954107"/>
          </a:xfrm>
          <a:prstGeom prst="rect">
            <a:avLst/>
          </a:prstGeom>
          <a:noFill/>
        </p:spPr>
        <p:txBody>
          <a:bodyPr wrap="square" rtlCol="0">
            <a:spAutoFit/>
          </a:bodyPr>
          <a:lstStyle/>
          <a:p>
            <a:r>
              <a:rPr lang="en-GB" sz="2800" dirty="0">
                <a:hlinkClick r:id="rId4"/>
              </a:rPr>
              <a:t>https://docs.oracle.com/javase/8/docs/api/</a:t>
            </a:r>
            <a:endParaRPr lang="en-GB" sz="2800" dirty="0"/>
          </a:p>
          <a:p>
            <a:endParaRPr lang="en-GB" sz="2800" dirty="0"/>
          </a:p>
        </p:txBody>
      </p:sp>
    </p:spTree>
    <p:extLst>
      <p:ext uri="{BB962C8B-B14F-4D97-AF65-F5344CB8AC3E}">
        <p14:creationId xmlns:p14="http://schemas.microsoft.com/office/powerpoint/2010/main" val="27566409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7E0D5-CF9D-720F-64A5-00E392AF7D1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1C41AD40-F38F-11BB-A9E9-8D0E6FEAB900}"/>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40988D66-FB67-ADCE-6B26-10A6DF8A6C22}"/>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EA-2 Add2Numbers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EAA0EE6E-F974-504C-B494-12B1E5617AA0}"/>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71BC0C6C-2158-1893-8646-3F46B1B47F1D}"/>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4D0AB9D8-468E-0EB7-929D-5F7F53CA0CF2}"/>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pic>
        <p:nvPicPr>
          <p:cNvPr id="3" name="Picture 2">
            <a:extLst>
              <a:ext uri="{FF2B5EF4-FFF2-40B4-BE49-F238E27FC236}">
                <a16:creationId xmlns:a16="http://schemas.microsoft.com/office/drawing/2014/main" id="{EB02C125-F2D3-2B76-1840-DCF237733D6D}"/>
              </a:ext>
            </a:extLst>
          </p:cNvPr>
          <p:cNvPicPr>
            <a:picLocks noChangeAspect="1"/>
          </p:cNvPicPr>
          <p:nvPr/>
        </p:nvPicPr>
        <p:blipFill>
          <a:blip r:embed="rId3"/>
          <a:stretch>
            <a:fillRect/>
          </a:stretch>
        </p:blipFill>
        <p:spPr>
          <a:xfrm>
            <a:off x="0" y="913461"/>
            <a:ext cx="5669634" cy="4666245"/>
          </a:xfrm>
          <a:prstGeom prst="rect">
            <a:avLst/>
          </a:prstGeom>
        </p:spPr>
      </p:pic>
      <p:pic>
        <p:nvPicPr>
          <p:cNvPr id="6" name="Picture 5">
            <a:extLst>
              <a:ext uri="{FF2B5EF4-FFF2-40B4-BE49-F238E27FC236}">
                <a16:creationId xmlns:a16="http://schemas.microsoft.com/office/drawing/2014/main" id="{0D80CA98-3709-0429-F16D-14855A102703}"/>
              </a:ext>
            </a:extLst>
          </p:cNvPr>
          <p:cNvPicPr>
            <a:picLocks noChangeAspect="1"/>
          </p:cNvPicPr>
          <p:nvPr/>
        </p:nvPicPr>
        <p:blipFill>
          <a:blip r:embed="rId4"/>
          <a:stretch>
            <a:fillRect/>
          </a:stretch>
        </p:blipFill>
        <p:spPr>
          <a:xfrm>
            <a:off x="3228957" y="2541586"/>
            <a:ext cx="8646590" cy="3912278"/>
          </a:xfrm>
          <a:prstGeom prst="rect">
            <a:avLst/>
          </a:prstGeom>
        </p:spPr>
      </p:pic>
    </p:spTree>
    <p:extLst>
      <p:ext uri="{BB962C8B-B14F-4D97-AF65-F5344CB8AC3E}">
        <p14:creationId xmlns:p14="http://schemas.microsoft.com/office/powerpoint/2010/main" val="183082809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Message</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Θέση υποσέλιδου 4">
            <a:extLst>
              <a:ext uri="{FF2B5EF4-FFF2-40B4-BE49-F238E27FC236}">
                <a16:creationId xmlns:a16="http://schemas.microsoft.com/office/drawing/2014/main" id="{76D7275F-911A-0C36-EBBE-534ADA84CFE9}"/>
              </a:ext>
            </a:extLst>
          </p:cNvPr>
          <p:cNvSpPr txBox="1">
            <a:spLocks/>
          </p:cNvSpPr>
          <p:nvPr/>
        </p:nvSpPr>
        <p:spPr>
          <a:xfrm>
            <a:off x="4121971" y="6599394"/>
            <a:ext cx="3819667"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Αντικειμενοστρεφής Προγραμματισμός – Βασικές έννοιες</a:t>
            </a:r>
          </a:p>
        </p:txBody>
      </p:sp>
      <p:pic>
        <p:nvPicPr>
          <p:cNvPr id="3" name="Picture 4">
            <a:extLst>
              <a:ext uri="{FF2B5EF4-FFF2-40B4-BE49-F238E27FC236}">
                <a16:creationId xmlns:a16="http://schemas.microsoft.com/office/drawing/2014/main" id="{4D1CB1C5-ACE2-118D-B159-B5CCFA66DAEE}"/>
              </a:ext>
            </a:extLst>
          </p:cNvPr>
          <p:cNvPicPr>
            <a:picLocks noChangeAspect="1" noChangeArrowheads="1"/>
          </p:cNvPicPr>
          <p:nvPr/>
        </p:nvPicPr>
        <p:blipFill>
          <a:blip r:embed="rId3" cstate="print"/>
          <a:srcRect/>
          <a:stretch>
            <a:fillRect/>
          </a:stretch>
        </p:blipFill>
        <p:spPr bwMode="auto">
          <a:xfrm>
            <a:off x="-1" y="0"/>
            <a:ext cx="9720944" cy="6559909"/>
          </a:xfrm>
          <a:prstGeom prst="rect">
            <a:avLst/>
          </a:prstGeom>
          <a:noFill/>
          <a:ln w="9525">
            <a:noFill/>
            <a:miter lim="800000"/>
            <a:headEnd/>
            <a:tailEnd/>
          </a:ln>
        </p:spPr>
      </p:pic>
      <p:sp>
        <p:nvSpPr>
          <p:cNvPr id="9" name="Rounded Rectangular Callout 4">
            <a:extLst>
              <a:ext uri="{FF2B5EF4-FFF2-40B4-BE49-F238E27FC236}">
                <a16:creationId xmlns:a16="http://schemas.microsoft.com/office/drawing/2014/main" id="{802F2C80-7431-8741-409B-4BF534B98573}"/>
              </a:ext>
            </a:extLst>
          </p:cNvPr>
          <p:cNvSpPr/>
          <p:nvPr/>
        </p:nvSpPr>
        <p:spPr bwMode="auto">
          <a:xfrm>
            <a:off x="2056097" y="4844210"/>
            <a:ext cx="3819107" cy="936105"/>
          </a:xfrm>
          <a:prstGeom prst="wedgeRoundRectCallout">
            <a:avLst>
              <a:gd name="adj1" fmla="val -72527"/>
              <a:gd name="adj2" fmla="val 136900"/>
              <a:gd name="adj3" fmla="val 16667"/>
            </a:avLst>
          </a:prstGeom>
          <a:solidFill>
            <a:srgbClr val="FFFF00">
              <a:alpha val="48000"/>
            </a:srgbClr>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Δομήστε το πρόγραμμα σας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όπως το σύστημα </a:t>
            </a:r>
            <a:r>
              <a:rPr kumimoji="0" lang="en-US" sz="2400" b="0" i="0" u="none" strike="noStrike" kern="0" cap="none" spc="0" normalizeH="0" baseline="0" noProof="0" dirty="0" err="1">
                <a:ln>
                  <a:noFill/>
                </a:ln>
                <a:solidFill>
                  <a:srgbClr val="000000"/>
                </a:solidFill>
                <a:effectLst/>
                <a:uLnTx/>
                <a:uFillTx/>
                <a:latin typeface="Tahoma" pitchFamily="34" charset="0"/>
              </a:rPr>
              <a:t>Goodys</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12" name="TextBox 11">
            <a:extLst>
              <a:ext uri="{FF2B5EF4-FFF2-40B4-BE49-F238E27FC236}">
                <a16:creationId xmlns:a16="http://schemas.microsoft.com/office/drawing/2014/main" id="{9CFA319D-46D2-2B9C-D6BF-FC95DCFB0BF3}"/>
              </a:ext>
            </a:extLst>
          </p:cNvPr>
          <p:cNvSpPr txBox="1"/>
          <p:nvPr/>
        </p:nvSpPr>
        <p:spPr>
          <a:xfrm>
            <a:off x="9847627" y="1166842"/>
            <a:ext cx="2134445" cy="4524315"/>
          </a:xfrm>
          <a:prstGeom prst="rect">
            <a:avLst/>
          </a:prstGeom>
          <a:noFill/>
        </p:spPr>
        <p:txBody>
          <a:bodyPr wrap="square" rtlCol="0">
            <a:spAutoFit/>
          </a:bodyPr>
          <a:lstStyle/>
          <a:p>
            <a:pPr algn="ctr"/>
            <a:r>
              <a:rPr lang="el-GR" sz="2400" dirty="0"/>
              <a:t>Ένα σύνολο από </a:t>
            </a:r>
            <a:r>
              <a:rPr lang="el-GR" sz="2400" b="1" dirty="0"/>
              <a:t>αντικείμενα</a:t>
            </a:r>
            <a:r>
              <a:rPr lang="el-GR" sz="2400" dirty="0"/>
              <a:t> που </a:t>
            </a:r>
            <a:r>
              <a:rPr lang="el-GR" sz="2400" b="1" dirty="0"/>
              <a:t>συνεργάζονται</a:t>
            </a:r>
            <a:r>
              <a:rPr lang="el-GR" sz="2400" dirty="0"/>
              <a:t> για να </a:t>
            </a:r>
            <a:r>
              <a:rPr lang="el-GR" sz="2400" b="1" dirty="0"/>
              <a:t>υλοποιήσουν</a:t>
            </a:r>
            <a:r>
              <a:rPr lang="el-GR" sz="2400" dirty="0"/>
              <a:t> τις </a:t>
            </a:r>
            <a:r>
              <a:rPr lang="el-GR" sz="2400" b="1" dirty="0"/>
              <a:t>υπηρεσίες</a:t>
            </a:r>
            <a:r>
              <a:rPr lang="el-GR" sz="2400" dirty="0"/>
              <a:t> που το σύστημα πρέπει να παρέχει.</a:t>
            </a:r>
          </a:p>
        </p:txBody>
      </p:sp>
    </p:spTree>
    <p:extLst>
      <p:ext uri="{BB962C8B-B14F-4D97-AF65-F5344CB8AC3E}">
        <p14:creationId xmlns:p14="http://schemas.microsoft.com/office/powerpoint/2010/main" val="14507636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AA13B-6706-950F-95F7-6A2C831F9DA1}"/>
              </a:ext>
            </a:extLst>
          </p:cNvPr>
          <p:cNvSpPr>
            <a:spLocks noGrp="1"/>
          </p:cNvSpPr>
          <p:nvPr>
            <p:ph type="title"/>
          </p:nvPr>
        </p:nvSpPr>
        <p:spPr/>
        <p:txBody>
          <a:bodyPr/>
          <a:lstStyle/>
          <a:p>
            <a:endParaRPr lang="el-GR"/>
          </a:p>
        </p:txBody>
      </p:sp>
      <p:sp>
        <p:nvSpPr>
          <p:cNvPr id="3" name="Content Placeholder 2">
            <a:extLst>
              <a:ext uri="{FF2B5EF4-FFF2-40B4-BE49-F238E27FC236}">
                <a16:creationId xmlns:a16="http://schemas.microsoft.com/office/drawing/2014/main" id="{2C26ED1D-5A79-D9AC-68EC-87581DE67BFA}"/>
              </a:ext>
            </a:extLst>
          </p:cNvPr>
          <p:cNvSpPr>
            <a:spLocks noGrp="1"/>
          </p:cNvSpPr>
          <p:nvPr>
            <p:ph idx="1"/>
          </p:nvPr>
        </p:nvSpPr>
        <p:spPr/>
        <p:txBody>
          <a:bodyPr/>
          <a:lstStyle/>
          <a:p>
            <a:endParaRPr lang="el-GR"/>
          </a:p>
        </p:txBody>
      </p:sp>
      <p:pic>
        <p:nvPicPr>
          <p:cNvPr id="5" name="Picture 4">
            <a:extLst>
              <a:ext uri="{FF2B5EF4-FFF2-40B4-BE49-F238E27FC236}">
                <a16:creationId xmlns:a16="http://schemas.microsoft.com/office/drawing/2014/main" id="{0D13EF26-131D-52FB-4F46-A234C111ABE0}"/>
              </a:ext>
            </a:extLst>
          </p:cNvPr>
          <p:cNvPicPr>
            <a:picLocks noChangeAspect="1"/>
          </p:cNvPicPr>
          <p:nvPr/>
        </p:nvPicPr>
        <p:blipFill>
          <a:blip r:embed="rId2"/>
          <a:stretch>
            <a:fillRect/>
          </a:stretch>
        </p:blipFill>
        <p:spPr>
          <a:xfrm>
            <a:off x="2" y="0"/>
            <a:ext cx="12235758" cy="6857999"/>
          </a:xfrm>
          <a:prstGeom prst="rect">
            <a:avLst/>
          </a:prstGeom>
        </p:spPr>
      </p:pic>
      <p:sp>
        <p:nvSpPr>
          <p:cNvPr id="4" name="TextBox 3">
            <a:extLst>
              <a:ext uri="{FF2B5EF4-FFF2-40B4-BE49-F238E27FC236}">
                <a16:creationId xmlns:a16="http://schemas.microsoft.com/office/drawing/2014/main" id="{DDAC7942-D02B-10AA-6D7E-FFD68B938AD1}"/>
              </a:ext>
            </a:extLst>
          </p:cNvPr>
          <p:cNvSpPr txBox="1"/>
          <p:nvPr/>
        </p:nvSpPr>
        <p:spPr>
          <a:xfrm>
            <a:off x="-43760" y="1677263"/>
            <a:ext cx="3004349" cy="707886"/>
          </a:xfrm>
          <a:prstGeom prst="rect">
            <a:avLst/>
          </a:prstGeom>
          <a:noFill/>
        </p:spPr>
        <p:txBody>
          <a:bodyPr wrap="none" rtlCol="0">
            <a:spAutoFit/>
          </a:bodyPr>
          <a:lstStyle/>
          <a:p>
            <a:r>
              <a:rPr lang="en-US" sz="4000" b="1" i="1" dirty="0">
                <a:solidFill>
                  <a:srgbClr val="C00000"/>
                </a:solidFill>
                <a:latin typeface="Tahoma" panose="020B0604030504040204" pitchFamily="34" charset="0"/>
                <a:ea typeface="Tahoma" panose="020B0604030504040204" pitchFamily="34" charset="0"/>
                <a:cs typeface="Tahoma" panose="020B0604030504040204" pitchFamily="34" charset="0"/>
              </a:rPr>
              <a:t>Next Week</a:t>
            </a:r>
            <a:endParaRPr lang="en-GB" sz="4000" b="1" i="1" dirty="0">
              <a:solidFill>
                <a:srgbClr val="C0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613553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5973</TotalTime>
  <Words>1896</Words>
  <Application>Microsoft Office PowerPoint</Application>
  <PresentationFormat>Widescreen</PresentationFormat>
  <Paragraphs>457</Paragraphs>
  <Slides>33</Slides>
  <Notes>32</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7" baseType="lpstr">
      <vt:lpstr>Arial</vt:lpstr>
      <vt:lpstr>Bahnschrift</vt:lpstr>
      <vt:lpstr>Bahnschrift Light</vt:lpstr>
      <vt:lpstr>Calibri</vt:lpstr>
      <vt:lpstr>Calibri Light</vt:lpstr>
      <vt:lpstr>Impact</vt:lpstr>
      <vt:lpstr>Monotype Sorts</vt:lpstr>
      <vt:lpstr>Tahoma</vt:lpstr>
      <vt:lpstr>Times New Roman</vt:lpstr>
      <vt:lpstr>Times New Roman Greek</vt:lpstr>
      <vt:lpstr>Wingdings</vt:lpstr>
      <vt:lpstr>Προσαρμοσμένη σχεδίαση</vt:lpstr>
      <vt:lpstr>Θέμα του Office</vt:lpstr>
      <vt:lpstr>Bitmap Image</vt:lpstr>
      <vt:lpstr>PowerPoint Presentation</vt:lpstr>
      <vt:lpstr>Διεργασίες: Υπολογιστικές - Κυβερνοφυσικές</vt:lpstr>
      <vt:lpstr>Αντικείμενα – Διεργασίες και Υπηρεσίες</vt:lpstr>
      <vt:lpstr>Οργάνωση Διάλεξης</vt:lpstr>
      <vt:lpstr>ΟΟP Conceptual Model</vt:lpstr>
      <vt:lpstr>ΟΟP Conceptual Model </vt:lpstr>
      <vt:lpstr>Οργάνωση Διάλεξης</vt:lpstr>
      <vt:lpstr>Αντικείμενο …το βασικό δομικό στοιχείο</vt:lpstr>
      <vt:lpstr>Έννοια vs. Αντικείμενο φυσικού κόσμου</vt:lpstr>
      <vt:lpstr>Κλάση (class) – Στιγμιότυπο (instance)</vt:lpstr>
      <vt:lpstr>Αντικείμενο (Object)</vt:lpstr>
      <vt:lpstr>Αναγνωριστικά  (Identifiers) αντικειμένων</vt:lpstr>
      <vt:lpstr>Απόκρυψη πληροφορίας (Information hiding)</vt:lpstr>
      <vt:lpstr>Οργάνωση Διάλεξης</vt:lpstr>
      <vt:lpstr>Objects collaborate (Class-Responsibility-Collaboration )</vt:lpstr>
      <vt:lpstr>Μήνυμα (Message)</vt:lpstr>
      <vt:lpstr>Objects provide services</vt:lpstr>
      <vt:lpstr>Οργάνωση Διάλεξης</vt:lpstr>
      <vt:lpstr>Σχέσεις μεταξύ αντικειμένων</vt:lpstr>
      <vt:lpstr>Classification (Ταξινόμηση)</vt:lpstr>
      <vt:lpstr>Generalization - UML</vt:lpstr>
      <vt:lpstr>Aggregation - Composition</vt:lpstr>
      <vt:lpstr>Οργάνωση Διάλεξης</vt:lpstr>
      <vt:lpstr>Η στοίβα στην ΟΟ προσέγγιση</vt:lpstr>
      <vt:lpstr>Κλάση – Στιγμιότυπο - Αναφορά</vt:lpstr>
      <vt:lpstr>Ενθυλάκωση (Encapsulation)</vt:lpstr>
      <vt:lpstr>Απλές ερωτήσεις</vt:lpstr>
      <vt:lpstr>Οργάνωση Διάλεξης</vt:lpstr>
      <vt:lpstr>BlueJ – Integrated Development Environment (IDE) </vt:lpstr>
      <vt:lpstr>Java API</vt:lpstr>
      <vt:lpstr>EA-2 Add2Numbers</vt:lpstr>
      <vt:lpstr>Message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ConseptualModelOfOop</dc:title>
  <dc:creator>Kleanthis Thramboulidis</dc:creator>
  <cp:lastModifiedBy>thrambo@ece.upatras.gr</cp:lastModifiedBy>
  <cp:revision>57</cp:revision>
  <dcterms:created xsi:type="dcterms:W3CDTF">2020-03-13T12:21:17Z</dcterms:created>
  <dcterms:modified xsi:type="dcterms:W3CDTF">2024-10-09T05:55:02Z</dcterms:modified>
</cp:coreProperties>
</file>