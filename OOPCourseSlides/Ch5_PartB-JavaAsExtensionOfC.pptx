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892" r:id="rId2"/>
  </p:sldMasterIdLst>
  <p:notesMasterIdLst>
    <p:notesMasterId r:id="rId27"/>
  </p:notesMasterIdLst>
  <p:sldIdLst>
    <p:sldId id="262" r:id="rId3"/>
    <p:sldId id="833" r:id="rId4"/>
    <p:sldId id="834" r:id="rId5"/>
    <p:sldId id="835" r:id="rId6"/>
    <p:sldId id="837" r:id="rId7"/>
    <p:sldId id="838" r:id="rId8"/>
    <p:sldId id="836" r:id="rId9"/>
    <p:sldId id="839" r:id="rId10"/>
    <p:sldId id="842" r:id="rId11"/>
    <p:sldId id="843" r:id="rId12"/>
    <p:sldId id="840" r:id="rId13"/>
    <p:sldId id="841" r:id="rId14"/>
    <p:sldId id="844" r:id="rId15"/>
    <p:sldId id="845" r:id="rId16"/>
    <p:sldId id="846" r:id="rId17"/>
    <p:sldId id="847" r:id="rId18"/>
    <p:sldId id="848" r:id="rId19"/>
    <p:sldId id="849" r:id="rId20"/>
    <p:sldId id="850" r:id="rId21"/>
    <p:sldId id="851" r:id="rId22"/>
    <p:sldId id="852" r:id="rId23"/>
    <p:sldId id="853" r:id="rId24"/>
    <p:sldId id="856" r:id="rId25"/>
    <p:sldId id="854" r:id="rId26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CDBB"/>
    <a:srgbClr val="60D69E"/>
    <a:srgbClr val="869391"/>
    <a:srgbClr val="F9853D"/>
    <a:srgbClr val="FDCBAD"/>
    <a:srgbClr val="FBAD7D"/>
    <a:srgbClr val="61649B"/>
    <a:srgbClr val="E49252"/>
    <a:srgbClr val="FFFFFF"/>
    <a:srgbClr val="2E35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82" autoAdjust="0"/>
    <p:restoredTop sz="75587" autoAdjust="0"/>
  </p:normalViewPr>
  <p:slideViewPr>
    <p:cSldViewPr snapToGrid="0">
      <p:cViewPr varScale="1">
        <p:scale>
          <a:sx n="52" d="100"/>
          <a:sy n="52" d="100"/>
        </p:scale>
        <p:origin x="1218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20127-9FC1-4D44-BFF2-2F77E5433948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89646-4F35-49C2-BD28-89287C170E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4866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8972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020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86025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0553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0964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12514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8045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0146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62515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4062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87966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200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68264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07201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64579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58168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34635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34940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25972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1002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48071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13012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516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0249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720F0C6-20AC-41EB-97A9-F4D49B814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E32E3D7A-E6B7-4F3B-A3A4-432551739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913F9FC-9EB9-4B41-B003-FC4C036B1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FB8E113-6156-4872-81CC-442E8373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6173B9A-A0EA-47D7-8D18-B6E2BD95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227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FF7B4CC-9312-4102-9C7A-DD5776C3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9207E59-B014-409F-8E39-F07CF6FA4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28C698E-FDE3-406F-AEF7-58C354D6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DBB6EE0-1F7E-4C3D-8524-627F4FAB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15A0C17-4537-4F4D-B727-1C89BF11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0215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AD7298-5AF8-4835-97EB-C16ED6D2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3D2EC4FE-ACD0-4F71-A34B-36ED90506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525369C-E8DA-4A41-A021-C2AFFA6B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9E6631D-4B2B-42B6-B88C-990FA7605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4B4A319-5C9B-46DF-96B8-F30BC39F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4177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DD86A31-D5EC-46FA-A235-F151422FA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52F68FD-8072-4020-B6C4-C8DEF5ACC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CB43AF00-F0E0-4F57-8814-5AB4B0C03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9D9695B-1677-4255-A36B-ADA53963E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32F05351-67C2-46C6-A91C-414650F2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D2959A3-E6A4-4BB0-BE95-F23CF5F5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9874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1550276-9848-4578-8364-691220AD2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11C9CFA5-81EF-4418-9CE2-C9EB8CE5F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8144BA92-B3F1-426D-9721-D505666C5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34964523-2FE6-420B-BF7F-3ED590658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4EE8D821-AC0B-4F1C-AC1B-68CAEA6E8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0836FDB2-AE28-437A-B450-FC5FA097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3CC56F37-5360-4ED6-9EFB-B4959D6A0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8423FDBB-6E0A-4AD0-AD73-FB22040EE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523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2BE337C-659B-44A0-815E-1CE7F2FDB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59D7B6A3-3626-4AD7-97D4-F6210A237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D50B290B-CDC6-4F07-927A-EB7F796E2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5AD0E512-8E7A-4A77-8496-D36864CFC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2446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05F803E6-97F1-4D9B-A18A-566A4A16D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D16003C0-6EB6-4C9B-A531-7B4E3CE4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EA301AA-05AA-466A-BB11-E4CEB6F9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0658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EAAEFBB-DCF4-46CF-9FC6-8D65BCEB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FACB05B-E524-44F7-BF66-694B0E333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5473C60C-80C9-4542-852E-B22F6BA60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5209058B-2FCA-4D37-A928-B77A09F78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2F8D9052-7B1B-4DEA-BE59-76E1CA20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F7BFCBB-BB2D-41CB-8EF4-1D6154D0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644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AA72A12-B4CE-41C0-824E-4DB22C0C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4331ABF6-AF41-4DA6-82BC-340BA6382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D4AD854A-F202-4241-AFA5-8F8D5175F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D2D25601-E5C6-4DAA-A438-750D7B0C4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C1A411BF-7CE1-4136-85D0-CEA759EB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EBD64BFB-00A3-49A7-B9AF-C93C938A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686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CBF383B-9D9C-4567-A73F-3964FF66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42568873-5978-4A13-BA12-F77F173EB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788EFFCE-A34B-4F95-B3D5-603927E1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BE576DF-BE6C-4DE7-BDD8-60E8F026D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4B323CB-AAB1-4C9E-AE28-C6179CB9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965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E176F3CB-2A60-46CD-8CF9-DD053E08C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62F4BEC8-6DEB-41E5-B12D-18B14C6B0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CC7DD041-7F64-4984-A13C-EE7907028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502BD5F-24B7-4FDD-BD59-39295F573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E0B5687-7B67-47CF-995B-36EF0D41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9713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Στυλ κύριου υπότιτλου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2421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1009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258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14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613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2742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529390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7656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5792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2890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2701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992F1800-E376-4EAC-8DCE-EF767BC9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93EDA18A-E08C-433A-8864-CE510E638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F5AF37D2-402E-4529-9EEC-414BB35C5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CF16FB6-3B9A-47F7-BC11-0CD0D4478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A057F2B-A2D8-4FC1-B53F-4487A3875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7764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368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thramboulidiskleanthis/" TargetMode="External"/><Relationship Id="rId7" Type="http://schemas.openxmlformats.org/officeDocument/2006/relationships/hyperlink" Target="https://www.javatpoint.com/difference-between-c-and-jav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docs.oracle.com/javase/tutorial/java/nutsandbolts/datatypes.htm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docs.oracle.com/javase/tutorial/java/nutsandbolts/opsummary.html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tutorial/java/javaOO/enum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docs.oracle.com/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76E192A2-3ED3-4081-8A86-A22B51141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152902" y="-1181101"/>
            <a:ext cx="3886200" cy="121920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Υπότιτλος 2">
            <a:extLst>
              <a:ext uri="{FF2B5EF4-FFF2-40B4-BE49-F238E27FC236}">
                <a16:creationId xmlns:a16="http://schemas.microsoft.com/office/drawing/2014/main" id="{999AB7B1-2CA7-4F2E-91BE-62A4C3CC57D6}"/>
              </a:ext>
            </a:extLst>
          </p:cNvPr>
          <p:cNvSpPr txBox="1">
            <a:spLocks/>
          </p:cNvSpPr>
          <p:nvPr/>
        </p:nvSpPr>
        <p:spPr>
          <a:xfrm>
            <a:off x="-3" y="48411"/>
            <a:ext cx="12192002" cy="124981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Αντικειμενοστρεφής Προγραμματισμός </a:t>
            </a:r>
            <a:b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</a:b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(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Object-Oriented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Programming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  <a:endParaRPr lang="en-US" sz="28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50C4F10-C081-CD71-17C8-8DAD4C7DE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773068"/>
            <a:ext cx="8610600" cy="141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4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Book Antiqua" panose="02040602050305030304" pitchFamily="18" charset="0"/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800" b="0" i="0" kern="0" dirty="0">
                <a:solidFill>
                  <a:srgbClr val="800000"/>
                </a:solidFill>
                <a:latin typeface="Times New Roman" panose="02020603050405020304" pitchFamily="18" charset="0"/>
              </a:rPr>
              <a:t>Kleanthis Thramboulidis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i="0" kern="0" dirty="0">
                <a:latin typeface="Times New Roman" panose="02020603050405020304" pitchFamily="18" charset="0"/>
              </a:rPr>
              <a:t>Prof. of Software and System Engineering 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b="0" i="0" kern="0" dirty="0">
                <a:latin typeface="Times New Roman" panose="02020603050405020304" pitchFamily="18" charset="0"/>
              </a:rPr>
              <a:t>University of Patras</a:t>
            </a:r>
            <a:r>
              <a:rPr lang="el-GR" altLang="el-GR" sz="1800" b="0" i="0" kern="0" dirty="0">
                <a:latin typeface="Times New Roman" panose="02020603050405020304" pitchFamily="18" charset="0"/>
              </a:rPr>
              <a:t> </a:t>
            </a:r>
            <a:endParaRPr lang="en-US" altLang="el-GR" sz="1800" b="0" i="0" kern="0" dirty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b="0" i="0" dirty="0">
                <a:latin typeface="Times New Roman" panose="02020603050405020304" pitchFamily="18" charset="0"/>
                <a:hlinkClick r:id="rId3"/>
              </a:rPr>
              <a:t>https://sites.google.com/site/thramboulidiskleanthis/</a:t>
            </a:r>
            <a:endParaRPr lang="en-US" altLang="el-GR" sz="1600" b="0" i="0" dirty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endParaRPr lang="el-GR" altLang="el-GR" sz="1800" kern="0" dirty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endParaRPr lang="en-GB" altLang="el-GR" sz="1800" b="1" kern="0" dirty="0">
              <a:latin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036E0A-62C8-F25D-25D5-595B0B27A6B1}"/>
              </a:ext>
            </a:extLst>
          </p:cNvPr>
          <p:cNvSpPr txBox="1"/>
          <p:nvPr/>
        </p:nvSpPr>
        <p:spPr>
          <a:xfrm>
            <a:off x="0" y="1318086"/>
            <a:ext cx="1769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9853D"/>
                </a:solidFill>
                <a:latin typeface="Bahnschrift" panose="020B0502040204020203" pitchFamily="34" charset="0"/>
              </a:rPr>
              <a:t>(CEID_NNY106)</a:t>
            </a:r>
            <a:endParaRPr lang="el-GR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5F3EE9-A938-D663-D46A-160783F1F27F}"/>
              </a:ext>
            </a:extLst>
          </p:cNvPr>
          <p:cNvSpPr txBox="1"/>
          <p:nvPr/>
        </p:nvSpPr>
        <p:spPr>
          <a:xfrm>
            <a:off x="560303" y="2462259"/>
            <a:ext cx="1314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Κύρια Πηγή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171E6F-8AE9-B75E-1823-7991CADC8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123" y="2741663"/>
            <a:ext cx="1950889" cy="2819644"/>
          </a:xfrm>
          <a:prstGeom prst="rect">
            <a:avLst/>
          </a:prstGeom>
        </p:spPr>
      </p:pic>
      <p:sp>
        <p:nvSpPr>
          <p:cNvPr id="4" name="Υπότιτλος 2">
            <a:extLst>
              <a:ext uri="{FF2B5EF4-FFF2-40B4-BE49-F238E27FC236}">
                <a16:creationId xmlns:a16="http://schemas.microsoft.com/office/drawing/2014/main" id="{1FEF44B4-5484-7F60-BA37-96313DC3B896}"/>
              </a:ext>
            </a:extLst>
          </p:cNvPr>
          <p:cNvSpPr txBox="1">
            <a:spLocks/>
          </p:cNvSpPr>
          <p:nvPr/>
        </p:nvSpPr>
        <p:spPr>
          <a:xfrm>
            <a:off x="-4" y="1296692"/>
            <a:ext cx="7748956" cy="14633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60D69E"/>
                </a:solidFill>
                <a:latin typeface="Bahnschrift" panose="020B0502040204020203" pitchFamily="34" charset="0"/>
              </a:rPr>
              <a:t>Java as an OOP Language 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Java as Extension of 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F3F1DF-97A8-0745-D06F-F345A61D9C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8952" y="1249095"/>
            <a:ext cx="4443044" cy="501923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1AC6608-7C00-770A-D4FC-06C135BF8CDE}"/>
              </a:ext>
            </a:extLst>
          </p:cNvPr>
          <p:cNvSpPr/>
          <p:nvPr/>
        </p:nvSpPr>
        <p:spPr>
          <a:xfrm>
            <a:off x="239084" y="3913536"/>
            <a:ext cx="1950889" cy="31272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600" dirty="0"/>
              <a:t>Κεφάλαιο: </a:t>
            </a:r>
            <a:r>
              <a:rPr lang="en-GB" sz="1600" dirty="0"/>
              <a:t>5</a:t>
            </a:r>
            <a:endParaRPr lang="el-GR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96A4A3-88B3-F04A-0B91-01BBBF200BC0}"/>
              </a:ext>
            </a:extLst>
          </p:cNvPr>
          <p:cNvSpPr txBox="1"/>
          <p:nvPr/>
        </p:nvSpPr>
        <p:spPr>
          <a:xfrm>
            <a:off x="192732" y="4202653"/>
            <a:ext cx="1084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5.4-5.9</a:t>
            </a:r>
            <a:endParaRPr lang="el-G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091419-5B61-CE1E-CFCC-D54A6332BF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8847" y="2646925"/>
            <a:ext cx="4077066" cy="38735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FCE22B6-D237-7820-7053-79240CAEAE79}"/>
              </a:ext>
            </a:extLst>
          </p:cNvPr>
          <p:cNvSpPr txBox="1"/>
          <p:nvPr/>
        </p:nvSpPr>
        <p:spPr>
          <a:xfrm>
            <a:off x="3783986" y="3429000"/>
            <a:ext cx="4443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hlinkClick r:id="rId7"/>
              </a:rPr>
              <a:t>https://www.javatpoint.com/difference-between-c-and-java</a:t>
            </a:r>
            <a:endParaRPr lang="en-GB" sz="1200" dirty="0"/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07325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Extension of C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FBEE854-361E-77E1-DB76-7317F4991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1500188"/>
            <a:ext cx="7772400" cy="338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AU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Τύποι Δεδομένων</a:t>
            </a:r>
            <a:endParaRPr kumimoji="0" lang="el-GR" altLang="el-GR" sz="3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Τελεστές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AU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Προτάσεις ροής ελέγχου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AU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Functions vs Methods</a:t>
            </a:r>
            <a:endParaRPr kumimoji="0" lang="el-GR" altLang="el-GR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AU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Λοιπές διαφορές της </a:t>
            </a:r>
            <a:r>
              <a:rPr kumimoji="0" lang="en-US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 </a:t>
            </a:r>
            <a:r>
              <a:rPr kumimoji="0" lang="en-AU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από την </a:t>
            </a:r>
            <a:r>
              <a:rPr kumimoji="0" lang="en-US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</a:t>
            </a: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2226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Τύποι Δεδομένων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Extension of C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950B592-DA75-13D9-E53E-CB57D161F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945" y="1032226"/>
            <a:ext cx="5789952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διαθέτει  μικρό σύνολο πρωτογενών τύπων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υποστηρίζει τη δημιουργία οποιουδήποτε σύνθετου διαμέσου των μηχανισμών 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της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κλάσης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, 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του 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interface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και 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του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πίνακα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7836AC-C1D5-209D-E595-83F7F665D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840" y="719331"/>
            <a:ext cx="6138160" cy="55671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63192F-9CF7-9271-8E1D-8251D1388D9F}"/>
              </a:ext>
            </a:extLst>
          </p:cNvPr>
          <p:cNvSpPr txBox="1"/>
          <p:nvPr/>
        </p:nvSpPr>
        <p:spPr>
          <a:xfrm>
            <a:off x="4851366" y="6138669"/>
            <a:ext cx="7510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4"/>
              </a:rPr>
              <a:t>https://docs.oracle.com/javase/tutorial/java/nutsandbolts/datatypes.html</a:t>
            </a:r>
            <a:endParaRPr lang="el-GR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428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Πρωτογενείς Τύποι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Extension of C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94FA570-9D39-31A2-09C5-D0B46F4AF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708" y="758816"/>
            <a:ext cx="11638581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r>
              <a:rPr kumimoji="0" lang="el-GR" altLang="el-GR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υιοθετεί τους τύπους της </a:t>
            </a:r>
            <a:r>
              <a:rPr kumimoji="0" lang="en-US" altLang="el-GR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</a:t>
            </a: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με τις παρακάτω διαφοροποιήσεις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υποστηρίζει επιπλέον τους τύπους </a:t>
            </a:r>
            <a:r>
              <a:rPr kumimoji="0" lang="el-GR" altLang="el-GR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byte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και </a:t>
            </a:r>
            <a:r>
              <a:rPr kumimoji="0" lang="el-GR" altLang="el-GR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boolean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καθορίζει αυστηρά το μέγεθος κάθε τύπου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δεν υποστηρίζει απρόσημους αριθμούς</a:t>
            </a:r>
            <a:endParaRPr lang="el-GR" altLang="el-GR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indent="-342900" eaLnBrk="1" hangingPunct="1">
              <a:buClr>
                <a:srgbClr val="3333CC"/>
              </a:buClr>
              <a:buSzPct val="60000"/>
            </a:pP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Java 8 adds support for unsigned </a:t>
            </a:r>
            <a:r>
              <a:rPr kumimoji="0" lang="en-US" altLang="el-GR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ints</a:t>
            </a: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and longs</a:t>
            </a:r>
            <a:endParaRPr lang="el-GR" altLang="el-GR" kern="0" noProof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δεν υποστηρίζει τον τύπο του δείκτη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ορίζει για κάθε τύπο μια </a:t>
            </a: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default 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τιμή </a:t>
            </a: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  <a:p>
            <a:pPr lvl="1" indent="-228600" eaLnBrk="1" hangingPunct="1">
              <a:buClr>
                <a:srgbClr val="3333CC"/>
              </a:buClr>
              <a:buSzPct val="50000"/>
            </a:pP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Η τιμή αυτή αποδίδεται σε κάθε δήλωση μεταβλητής του τύπου, αν ο προγραμματιστής δεν ορίσει αρχική τιμή</a:t>
            </a: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  <a:p>
            <a:pPr lvl="1" indent="-228600" eaLnBrk="1" hangingPunct="1">
              <a:buClr>
                <a:srgbClr val="3333CC"/>
              </a:buClr>
              <a:buSzPct val="50000"/>
            </a:pP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local/block variables don't get the default values (should be initialized</a:t>
            </a: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4255556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Πρωτογενείς Τύποι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Extension of C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5EDB9187-D6DD-B320-7757-845428404C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0075146"/>
              </p:ext>
            </p:extLst>
          </p:nvPr>
        </p:nvGraphicFramePr>
        <p:xfrm>
          <a:off x="209550" y="719330"/>
          <a:ext cx="11781144" cy="4900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725668" imgH="2257044" progId="Word.Document.8">
                  <p:embed/>
                </p:oleObj>
              </mc:Choice>
              <mc:Fallback>
                <p:oleObj name="Document" r:id="rId3" imgW="5725668" imgH="2257044" progId="Word.Document.8">
                  <p:embed/>
                  <p:pic>
                    <p:nvPicPr>
                      <p:cNvPr id="14339" name="Object 3">
                        <a:extLst>
                          <a:ext uri="{FF2B5EF4-FFF2-40B4-BE49-F238E27FC236}">
                            <a16:creationId xmlns:a16="http://schemas.microsoft.com/office/drawing/2014/main" id="{D58D9605-2616-4178-9149-65639D9A1D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" y="719330"/>
                        <a:ext cx="11781144" cy="49004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8021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O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τύπος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Boolean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A6131CC-51AC-7772-5DFB-DAF535789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187" y="1443923"/>
            <a:ext cx="10165491" cy="4675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914400" lvl="1" indent="-457200" eaLnBrk="1" hangingPunct="1">
              <a:defRPr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Extension of C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06EECBD-1E22-D884-068A-4CCCEE091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500188"/>
            <a:ext cx="84582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oι μεταβλητές τύπου </a:t>
            </a:r>
            <a:r>
              <a:rPr kumimoji="0" lang="en-US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Boolean </a:t>
            </a:r>
            <a:r>
              <a:rPr kumimoji="0" lang="el-GR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δεν μπορούν 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να χρησιμοποιηθούν ως ακέραιοι αριθμοί και 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να μετατραπούν από και προς άλλον τύπο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έμμεση μετατροπή του ακεραίου </a:t>
            </a:r>
            <a:r>
              <a:rPr kumimoji="0" lang="en-US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 </a:t>
            </a:r>
            <a:r>
              <a:rPr kumimoji="0" lang="el-GR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σε </a:t>
            </a:r>
            <a:r>
              <a:rPr kumimoji="0" lang="en-US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boolean b,</a:t>
            </a:r>
            <a:endParaRPr kumimoji="0" lang="el-GR" altLang="el-GR" sz="4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1143000" marR="0" lvl="2" indent="-2286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1" i="1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</a:rPr>
              <a:t>b=(i!=0);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έμμεση μετατροπή του </a:t>
            </a:r>
            <a:r>
              <a:rPr kumimoji="0" lang="en-US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boolean b </a:t>
            </a:r>
            <a:r>
              <a:rPr kumimoji="0" lang="el-GR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σε ακέραιο </a:t>
            </a:r>
            <a:r>
              <a:rPr kumimoji="0" lang="en-US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endParaRPr kumimoji="0" lang="en-GB" altLang="el-GR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143000" marR="0" lvl="2" indent="-2286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1" i="1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</a:rPr>
              <a:t>i=(b)?1:0;</a:t>
            </a:r>
            <a:r>
              <a:rPr kumimoji="0" lang="en-GB" altLang="el-GR" sz="2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</a:rPr>
              <a:t> 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586633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Δηλώσεις μεταβλητών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Extension of C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86F4E6C-2BB8-9810-A060-FF4D53842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999" y="984250"/>
            <a:ext cx="11430000" cy="488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Γενικά ακολουθεί τη σύνταξη της </a:t>
            </a: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C, 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C++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&lt;τύπος&gt; &lt;όνομα μεταβλητής&gt;</a:t>
            </a: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π.χ.    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  int num;</a:t>
            </a:r>
          </a:p>
          <a:p>
            <a:pPr marL="2057400" marR="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E4A8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char </a:t>
            </a:r>
            <a:r>
              <a:rPr kumimoji="0" lang="en-US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ch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;</a:t>
            </a:r>
          </a:p>
          <a:p>
            <a:pPr marL="2057400" marR="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E4A8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float </a:t>
            </a:r>
            <a:r>
              <a:rPr kumimoji="0" lang="en-US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fl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;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2057400" marR="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E4A8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Όπως και στη 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C++ 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μπορούν να δηλώνονται και μέσα στον κώδικα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for(</a:t>
            </a: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int </a:t>
            </a:r>
            <a:r>
              <a:rPr kumimoji="0" lang="en-US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i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 = 0 ; </a:t>
            </a:r>
            <a:r>
              <a:rPr kumimoji="0" lang="en-US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i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&lt;20 ; </a:t>
            </a:r>
            <a:r>
              <a:rPr kumimoji="0" lang="en-US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i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++)</a:t>
            </a:r>
          </a:p>
        </p:txBody>
      </p:sp>
    </p:spTree>
    <p:extLst>
      <p:ext uri="{BB962C8B-B14F-4D97-AF65-F5344CB8AC3E}">
        <p14:creationId xmlns:p14="http://schemas.microsoft.com/office/powerpoint/2010/main" val="307709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Τύποι αναφοράς (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reference types)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Extension of C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4F2ACE4-B286-D88D-9D76-B90023CE8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799" y="949693"/>
            <a:ext cx="11887200" cy="5570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lang="en-GB" altLang="el-GR" sz="2800" b="1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Class, Array, Enumeration, Interface, and Annotation</a:t>
            </a:r>
            <a:endParaRPr kumimoji="0" lang="el-GR" altLang="el-GR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χρησιμοποιούνται για να προσδιορίσουν τον τύπο αναφορών.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lang="el-GR" altLang="el-GR" sz="28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Η αναφορά  (</a:t>
            </a:r>
            <a:r>
              <a:rPr lang="en-GB" altLang="el-GR" sz="28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reference</a:t>
            </a:r>
            <a:r>
              <a:rPr lang="el-GR" altLang="el-GR" sz="28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) μας δίνει τη δυνατότητα αναφοράς σε στιγμιότυπο</a:t>
            </a:r>
            <a:endParaRPr lang="en-GB" altLang="el-GR" sz="2800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Αντιγραφή αντικειμένου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Circle</a:t>
            </a:r>
            <a:r>
              <a:rPr kumimoji="0" lang="en-GB" altLang="el-GR" sz="240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 c1 = new Circle();</a:t>
            </a:r>
            <a:endParaRPr kumimoji="0" lang="el-GR" altLang="el-GR" sz="240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c</a:t>
            </a:r>
            <a:r>
              <a:rPr kumimoji="0" lang="el-GR" altLang="el-GR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2</a:t>
            </a:r>
            <a:r>
              <a:rPr kumimoji="0" lang="en-US" altLang="el-GR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= c</a:t>
            </a:r>
            <a:r>
              <a:rPr kumimoji="0" lang="el-GR" altLang="el-GR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1;</a:t>
            </a:r>
            <a:r>
              <a:rPr kumimoji="0" lang="en-US" altLang="el-GR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  </a:t>
            </a:r>
            <a:r>
              <a:rPr kumimoji="0" lang="en-US" altLang="el-GR" sz="40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?</a:t>
            </a:r>
            <a:endParaRPr kumimoji="0" lang="el-GR" altLang="el-GR" sz="40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</a:rPr>
              <a:t>Circle c2 = c1.clone(); </a:t>
            </a:r>
            <a:r>
              <a:rPr kumimoji="0" lang="en-GB" altLang="el-GR" sz="24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</a:rPr>
              <a:t>// assuming that Circle implements the </a:t>
            </a:r>
            <a:r>
              <a:rPr kumimoji="0" lang="en-GB" altLang="el-GR" sz="240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</a:rPr>
              <a:t>Clonable</a:t>
            </a:r>
            <a:r>
              <a:rPr kumimoji="0" lang="en-GB" altLang="el-GR" sz="24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</a:rPr>
              <a:t> 					       //	interface</a:t>
            </a:r>
            <a:endParaRPr kumimoji="0" lang="el-GR" altLang="el-GR" sz="280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8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Έλεγχος ισότητας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c1 == c2</a:t>
            </a:r>
            <a:endParaRPr kumimoji="0" lang="el-GR" altLang="el-GR" sz="32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αναφορά που δεν αναφέρεται σε </a:t>
            </a:r>
            <a:r>
              <a:rPr lang="el-GR" altLang="el-GR" sz="28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στιγμιότυπο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ή πίνακα, έχει τιμή </a:t>
            </a:r>
            <a:r>
              <a:rPr kumimoji="0" lang="el-GR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null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endParaRPr kumimoji="0" lang="en-US" altLang="el-GR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D488EC6-56F2-6A7B-FDFE-D7552B898EF7}"/>
              </a:ext>
            </a:extLst>
          </p:cNvPr>
          <p:cNvGrpSpPr/>
          <p:nvPr/>
        </p:nvGrpSpPr>
        <p:grpSpPr>
          <a:xfrm>
            <a:off x="637822" y="3616694"/>
            <a:ext cx="1947495" cy="534785"/>
            <a:chOff x="4438650" y="4210050"/>
            <a:chExt cx="1947495" cy="53478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4554ED8-F1FC-25FD-C220-CFE11C6D798E}"/>
                </a:ext>
              </a:extLst>
            </p:cNvPr>
            <p:cNvCxnSpPr/>
            <p:nvPr/>
          </p:nvCxnSpPr>
          <p:spPr>
            <a:xfrm>
              <a:off x="4438650" y="4210050"/>
              <a:ext cx="1947495" cy="4953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409B576-EC8E-EE51-5A49-C8AB52841B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8650" y="4210050"/>
              <a:ext cx="1947495" cy="53478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3927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Τύποι αναφοράς (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reference types)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Extension of C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4F2ACE4-B286-D88D-9D76-B90023CE8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762000"/>
            <a:ext cx="83820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τα αντικείμενα και οι πίνακες στην 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 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ονομάζονται και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τύποι αναφοράς (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reference types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 γιατί η διαχείριση τους βασίζεται στην έννοια της αναφοράς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Αντιγραφή αντικειμένου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Circle</a:t>
            </a:r>
            <a:r>
              <a:rPr kumimoji="0" lang="en-GB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 c1 = new Circle();</a:t>
            </a:r>
            <a:endParaRPr kumimoji="0" lang="el-GR" altLang="el-GR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c</a:t>
            </a: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2</a:t>
            </a:r>
            <a:r>
              <a:rPr kumimoji="0" lang="en-US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= c</a:t>
            </a: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1;</a:t>
            </a:r>
            <a:r>
              <a:rPr kumimoji="0" lang="en-US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  </a:t>
            </a:r>
            <a:r>
              <a:rPr kumimoji="0" lang="en-US" altLang="el-GR" sz="40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?</a:t>
            </a:r>
            <a:endParaRPr kumimoji="0" lang="el-GR" altLang="el-GR" sz="40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</a:rPr>
              <a:t>c2 = c1.clone();</a:t>
            </a:r>
            <a:endParaRPr kumimoji="0" lang="el-GR" altLang="el-GR" sz="28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8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Έλεγχος ισότητας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2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c1 == c2</a:t>
            </a:r>
            <a:endParaRPr kumimoji="0" lang="el-GR" altLang="el-GR" sz="32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endParaRPr kumimoji="0" lang="el-GR" altLang="el-GR" sz="32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αναφορά που δεν αναφέρεται σε αντικείμενο ή πίνακα, έχει τιμή </a:t>
            </a:r>
            <a:r>
              <a:rPr kumimoji="0" lang="el-GR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null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endParaRPr kumimoji="0" lang="en-US" altLang="el-GR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F6225E-9422-EEA3-3D34-F7267E58095A}"/>
              </a:ext>
            </a:extLst>
          </p:cNvPr>
          <p:cNvSpPr/>
          <p:nvPr/>
        </p:nvSpPr>
        <p:spPr bwMode="auto">
          <a:xfrm>
            <a:off x="7802859" y="1591447"/>
            <a:ext cx="4248472" cy="3510136"/>
          </a:xfrm>
          <a:prstGeom prst="rect">
            <a:avLst/>
          </a:prstGeom>
          <a:solidFill>
            <a:srgbClr val="333399">
              <a:lumMod val="20000"/>
              <a:lumOff val="80000"/>
            </a:srgbClr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Python</a:t>
            </a:r>
            <a:endParaRPr kumimoji="0" lang="el-GR" sz="24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&gt;&gt;&gt; p1 = Point()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&gt;&gt;&gt; p1.x = 3.0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&gt;&gt;&gt; p1.y = 4.0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&gt;&gt;&gt; import copy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&gt;&gt;&gt; p2 =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copy.copy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(p1)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&gt;&gt;&gt; p1 is p2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False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33D1C8-8239-FED8-B3C2-7AC7A18890C5}"/>
              </a:ext>
            </a:extLst>
          </p:cNvPr>
          <p:cNvSpPr/>
          <p:nvPr/>
        </p:nvSpPr>
        <p:spPr bwMode="auto">
          <a:xfrm>
            <a:off x="5995533" y="4723218"/>
            <a:ext cx="5112568" cy="1584994"/>
          </a:xfrm>
          <a:prstGeom prst="rect">
            <a:avLst/>
          </a:prstGeom>
          <a:solidFill>
            <a:srgbClr val="333399">
              <a:lumMod val="20000"/>
              <a:lumOff val="80000"/>
            </a:srgbClr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Python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&gt;&gt;&gt;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isinstance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(p, Point)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&gt;&gt;&gt;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hasattr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(p, 'x')</a:t>
            </a:r>
            <a:endParaRPr kumimoji="0" 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41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Αλφαριθμητικά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Extension of C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25550AA-E9D8-2DC7-A660-C29D5A193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76300"/>
            <a:ext cx="5543549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θεώρηση της </a:t>
            </a: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τα αλφαριθμητικά είναι πίνακες χαρακτήρων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θεώρηση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altLang="el-GR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της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Java</a:t>
            </a: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το αλφαριθμητικό είναι αντικείμενο με σαφώς ορισμένη συμπεριφορά που περιγράφεται από την κλάση 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String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κάθε αλφαριθμητικό είναι στιγμιότυπο αυτής της κλάσης και συμπεριφέρεται όπως αυτή ορίζει</a:t>
            </a: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ABC992-CCF7-1EB3-6627-25D8D38F3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490" y="719331"/>
            <a:ext cx="6395510" cy="580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996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Array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Extension of C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3D95886-5A61-31E5-E2AA-477D2F7EF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19331"/>
            <a:ext cx="12192000" cy="516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δημιουργία πίνακα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en-GB" altLang="el-GR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[ ] x;	</a:t>
            </a:r>
            <a:r>
              <a:rPr kumimoji="0" lang="el-GR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// δημιουργία αναφοράς</a:t>
            </a:r>
            <a:r>
              <a:rPr kumimoji="0" lang="en-GB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l-GR" altLang="el-GR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σε</a:t>
            </a:r>
            <a:r>
              <a:rPr kumimoji="0" lang="el-GR" altLang="el-GR" sz="2800" b="0" i="1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πίνακα ακαραίων</a:t>
            </a:r>
            <a:endParaRPr lang="en-GB" altLang="el-GR" sz="2800" b="1" i="1" kern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Clr>
                <a:srgbClr val="3333CC"/>
              </a:buClr>
              <a:buNone/>
            </a:pPr>
            <a:r>
              <a:rPr kumimoji="0" lang="en-GB" altLang="el-GR" sz="2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</a:t>
            </a:r>
            <a:r>
              <a:rPr kumimoji="0" lang="en-GB" altLang="el-GR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 = new int [10];</a:t>
            </a:r>
            <a:r>
              <a:rPr kumimoji="0" lang="en-GB" altLang="el-GR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el-GR" altLang="el-GR" sz="2800" i="1" kern="0" dirty="0">
                <a:solidFill>
                  <a:srgbClr val="000000"/>
                </a:solidFill>
                <a:latin typeface="Arial" panose="020B0604020202020204" pitchFamily="34" charset="0"/>
              </a:rPr>
              <a:t>// δημιουργία πίνακα και ανάθεση του στην αναφορά</a:t>
            </a:r>
          </a:p>
          <a:p>
            <a:pPr eaLnBrk="1" hangingPunct="1">
              <a:lnSpc>
                <a:spcPct val="90000"/>
              </a:lnSpc>
              <a:buClr>
                <a:srgbClr val="3333CC"/>
              </a:buClr>
              <a:buNone/>
            </a:pPr>
            <a:r>
              <a:rPr lang="el-GR" altLang="el-GR" b="1" i="1" dirty="0">
                <a:solidFill>
                  <a:srgbClr val="800000"/>
                </a:solidFill>
                <a:latin typeface="Arial" panose="020B0604020202020204" pitchFamily="34" charset="0"/>
              </a:rPr>
              <a:t>   Circle[]  circles  =  new  Circle[12];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αναφορά στο μέγεθος του πίνακα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    &lt;</a:t>
            </a:r>
            <a:r>
              <a:rPr kumimoji="0" lang="el-GR" altLang="el-GR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όνομα αναφοράς πίνακα</a:t>
            </a:r>
            <a:r>
              <a:rPr kumimoji="0" lang="el-GR" altLang="el-GR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&gt;.</a:t>
            </a:r>
            <a:r>
              <a:rPr kumimoji="0" lang="el-GR" altLang="el-GR" b="1" i="1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length</a:t>
            </a:r>
            <a:r>
              <a:rPr kumimoji="0" lang="el-GR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</a:p>
          <a:p>
            <a:pPr lvl="0" eaLnBrk="1" hangingPunct="1">
              <a:lnSpc>
                <a:spcPct val="90000"/>
              </a:lnSpc>
              <a:buClr>
                <a:srgbClr val="3333CC"/>
              </a:buClr>
            </a:pPr>
            <a:r>
              <a:rPr kumimoji="0" lang="el-GR" altLang="el-GR" sz="36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l-GR" altLang="el-GR" sz="40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πρόσβαση στα στοιχεία πίνακα</a:t>
            </a:r>
          </a:p>
          <a:p>
            <a:pPr lvl="0" algn="just" eaLnBrk="1" hangingPunct="1">
              <a:lnSpc>
                <a:spcPct val="110000"/>
              </a:lnSpc>
              <a:buClr>
                <a:srgbClr val="3333CC"/>
              </a:buClr>
              <a:buNone/>
            </a:pPr>
            <a:r>
              <a:rPr lang="el-GR" altLang="el-GR" sz="2800" b="1" i="1" kern="0" dirty="0">
                <a:solidFill>
                  <a:srgbClr val="3333CC"/>
                </a:solidFill>
                <a:latin typeface="Arial" panose="020B0604020202020204" pitchFamily="34" charset="0"/>
              </a:rPr>
              <a:t>	</a:t>
            </a:r>
            <a:r>
              <a:rPr lang="el-GR" altLang="el-GR" sz="2800" b="1" i="1" kern="0" dirty="0">
                <a:solidFill>
                  <a:srgbClr val="333399"/>
                </a:solidFill>
                <a:latin typeface="Arial" panose="020B0604020202020204" pitchFamily="34" charset="0"/>
              </a:rPr>
              <a:t>for  (int  i  =  0;  i  &lt;  </a:t>
            </a:r>
            <a:r>
              <a:rPr lang="el-GR" altLang="el-GR" sz="2800" b="1" i="1" kern="0" dirty="0">
                <a:solidFill>
                  <a:srgbClr val="800000"/>
                </a:solidFill>
                <a:latin typeface="Arial" panose="020B0604020202020204" pitchFamily="34" charset="0"/>
              </a:rPr>
              <a:t>circles.length</a:t>
            </a:r>
            <a:r>
              <a:rPr lang="el-GR" altLang="el-GR" sz="2800" b="1" i="1" kern="0" dirty="0">
                <a:solidFill>
                  <a:srgbClr val="333399"/>
                </a:solidFill>
                <a:latin typeface="Arial" panose="020B0604020202020204" pitchFamily="34" charset="0"/>
              </a:rPr>
              <a:t>;  i++)</a:t>
            </a:r>
          </a:p>
          <a:p>
            <a:pPr lvl="0" algn="just" eaLnBrk="1" hangingPunct="1">
              <a:lnSpc>
                <a:spcPct val="110000"/>
              </a:lnSpc>
              <a:buClr>
                <a:srgbClr val="3333CC"/>
              </a:buClr>
              <a:buNone/>
            </a:pPr>
            <a:r>
              <a:rPr lang="el-GR" altLang="el-GR" sz="2800" b="1" i="1" kern="0" dirty="0">
                <a:solidFill>
                  <a:srgbClr val="800000"/>
                </a:solidFill>
                <a:latin typeface="Arial" panose="020B0604020202020204" pitchFamily="34" charset="0"/>
              </a:rPr>
              <a:t>		circles[i]  =  new  Circle(point[i], radius[i]);</a:t>
            </a:r>
            <a:endParaRPr kumimoji="0" lang="en-US" altLang="el-GR" sz="36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642946-F305-EB51-C225-0F678C9CB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8330" y="3867150"/>
            <a:ext cx="3967030" cy="265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01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Τελεστές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1/2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Extension of 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E4BD21-90E5-A056-5CE0-2E95DC78E5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399" y="758816"/>
            <a:ext cx="7581901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δεν υποστηρίζει 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τον τελεστή κόμμα (,) για συνδυασμό δύο εκφράσεων σε μία 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τους τελεστές δεικτών * and &amp;, 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τον τελεστή sizeof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υποστηρίζει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τους παρακάτω νέους τελεστές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+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,  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instanceof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, 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</a:rPr>
              <a:t>&gt;&gt;&gt;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 , 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</a:rPr>
              <a:t>&amp;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και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</a:rPr>
              <a:t>|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</a:t>
            </a:r>
            <a:endParaRPr kumimoji="0" lang="en-US" altLang="el-GR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B6ED2C-6FDE-B930-3FA2-CBF3B1B82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506" y="758816"/>
            <a:ext cx="3926493" cy="48832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8D8297-27DA-E5BF-3FCD-93C2AA13A52D}"/>
              </a:ext>
            </a:extLst>
          </p:cNvPr>
          <p:cNvSpPr txBox="1"/>
          <p:nvPr/>
        </p:nvSpPr>
        <p:spPr>
          <a:xfrm>
            <a:off x="8305800" y="5797541"/>
            <a:ext cx="38861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4"/>
              </a:rPr>
              <a:t>https://docs.oracle.com/javase/tutorial/java/nutsandbolts/opsummary.html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0760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Τελεστές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2/2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Extension of C</a:t>
            </a:r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B47DEA8C-8F4C-603F-A4EC-4C2547A0B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19331"/>
            <a:ext cx="11269662" cy="3947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Greek" panose="02020603050405020304" pitchFamily="18" charset="0"/>
                <a:ea typeface="+mn-ea"/>
                <a:cs typeface="+mn-cs"/>
              </a:rPr>
              <a:t>δυαδικός</a:t>
            </a:r>
            <a:r>
              <a:rPr kumimoji="0" lang="el-GR" altLang="el-GR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Greek" panose="02020603050405020304" pitchFamily="18" charset="0"/>
                <a:ea typeface="+mn-ea"/>
                <a:cs typeface="+mn-cs"/>
              </a:rPr>
              <a:t> </a:t>
            </a:r>
            <a:r>
              <a:rPr kumimoji="0" lang="el-GR" altLang="el-GR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 Greek" panose="02020603050405020304" pitchFamily="18" charset="0"/>
                <a:ea typeface="+mn-ea"/>
                <a:cs typeface="+mn-cs"/>
              </a:rPr>
              <a:t>+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Greek" panose="02020603050405020304" pitchFamily="18" charset="0"/>
                <a:ea typeface="+mn-ea"/>
                <a:cs typeface="+mn-cs"/>
              </a:rPr>
              <a:t>(string concatenation)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Greek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 Greek" panose="02020603050405020304" pitchFamily="18" charset="0"/>
              </a:rPr>
              <a:t>string + string</a:t>
            </a: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 Greek" panose="02020603050405020304" pitchFamily="18" charset="0"/>
              </a:rPr>
              <a:t>      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 Greek" panose="02020603050405020304" pitchFamily="18" charset="0"/>
              </a:rPr>
              <a:t>string + int</a:t>
            </a: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 Greek" panose="02020603050405020304" pitchFamily="18" charset="0"/>
              </a:rPr>
              <a:t>        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 Greek" panose="02020603050405020304" pitchFamily="18" charset="0"/>
              </a:rPr>
              <a:t>string  + float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 Greek" panose="02020603050405020304" pitchFamily="18" charset="0"/>
                <a:ea typeface="+mn-ea"/>
                <a:cs typeface="+mn-cs"/>
              </a:rPr>
              <a:t>==</a:t>
            </a:r>
            <a:r>
              <a:rPr kumimoji="0" lang="el-GR" altLang="el-GR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Greek" panose="02020603050405020304" pitchFamily="18" charset="0"/>
                <a:ea typeface="+mn-ea"/>
                <a:cs typeface="+mn-cs"/>
              </a:rPr>
              <a:t>, </a:t>
            </a:r>
            <a:r>
              <a:rPr kumimoji="0" lang="el-GR" altLang="el-GR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 Greek" panose="02020603050405020304" pitchFamily="18" charset="0"/>
                <a:ea typeface="+mn-ea"/>
                <a:cs typeface="+mn-cs"/>
              </a:rPr>
              <a:t>!=</a:t>
            </a:r>
            <a:r>
              <a:rPr kumimoji="0" lang="el-GR" altLang="el-GR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Greek" panose="02020603050405020304" pitchFamily="18" charset="0"/>
                <a:ea typeface="+mn-ea"/>
                <a:cs typeface="+mn-cs"/>
              </a:rPr>
              <a:t> </a:t>
            </a:r>
            <a:endParaRPr kumimoji="0" lang="en-US" altLang="el-GR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Greek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Greek" panose="02020603050405020304" pitchFamily="18" charset="0"/>
              </a:rPr>
              <a:t>επιτρέπουν τη σύγκριση ανάμεσα σε αναφορές</a:t>
            </a:r>
            <a:endParaRPr kumimoji="0" lang="el-GR" altLang="el-GR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Greek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Greek" panose="02020603050405020304" pitchFamily="18" charset="0"/>
                <a:ea typeface="+mn-ea"/>
                <a:cs typeface="+mn-cs"/>
              </a:rPr>
              <a:t>λογικοί </a:t>
            </a:r>
            <a:r>
              <a:rPr kumimoji="0" lang="el-GR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 Greek" panose="02020603050405020304" pitchFamily="18" charset="0"/>
                <a:ea typeface="+mn-ea"/>
                <a:cs typeface="+mn-cs"/>
              </a:rPr>
              <a:t>&amp;&amp;</a:t>
            </a:r>
            <a:r>
              <a:rPr kumimoji="0" lang="el-GR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Greek" panose="02020603050405020304" pitchFamily="18" charset="0"/>
                <a:ea typeface="+mn-ea"/>
                <a:cs typeface="+mn-cs"/>
              </a:rPr>
              <a:t>, </a:t>
            </a:r>
            <a:r>
              <a:rPr kumimoji="0" lang="el-GR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 Greek" panose="02020603050405020304" pitchFamily="18" charset="0"/>
                <a:ea typeface="+mn-ea"/>
                <a:cs typeface="+mn-cs"/>
              </a:rPr>
              <a:t>&amp;</a:t>
            </a:r>
            <a:r>
              <a:rPr kumimoji="0" lang="el-GR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Greek" panose="02020603050405020304" pitchFamily="18" charset="0"/>
                <a:ea typeface="+mn-ea"/>
                <a:cs typeface="+mn-cs"/>
              </a:rPr>
              <a:t>, </a:t>
            </a:r>
            <a:r>
              <a:rPr kumimoji="0" lang="el-GR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 Greek" panose="02020603050405020304" pitchFamily="18" charset="0"/>
                <a:ea typeface="+mn-ea"/>
                <a:cs typeface="+mn-cs"/>
              </a:rPr>
              <a:t>||</a:t>
            </a:r>
            <a:r>
              <a:rPr kumimoji="0" lang="el-GR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Greek" panose="02020603050405020304" pitchFamily="18" charset="0"/>
                <a:ea typeface="+mn-ea"/>
                <a:cs typeface="+mn-cs"/>
              </a:rPr>
              <a:t>, </a:t>
            </a:r>
            <a:r>
              <a:rPr kumimoji="0" lang="el-GR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 Greek" panose="02020603050405020304" pitchFamily="18" charset="0"/>
                <a:ea typeface="+mn-ea"/>
                <a:cs typeface="+mn-cs"/>
              </a:rPr>
              <a:t>|</a:t>
            </a:r>
            <a:r>
              <a:rPr kumimoji="0" lang="el-GR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Greek" panose="02020603050405020304" pitchFamily="18" charset="0"/>
                <a:ea typeface="+mn-ea"/>
                <a:cs typeface="+mn-cs"/>
              </a:rPr>
              <a:t>, </a:t>
            </a:r>
            <a:r>
              <a:rPr kumimoji="0" lang="el-GR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 Greek" panose="02020603050405020304" pitchFamily="18" charset="0"/>
                <a:ea typeface="+mn-ea"/>
                <a:cs typeface="+mn-cs"/>
              </a:rPr>
              <a:t>!</a:t>
            </a: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 Greek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Greek" panose="02020603050405020304" pitchFamily="18" charset="0"/>
              </a:rPr>
              <a:t>εκτός απο τον 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 Greek" panose="02020603050405020304" pitchFamily="18" charset="0"/>
              </a:rPr>
              <a:t>short-circuit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Greek" panose="02020603050405020304" pitchFamily="18" charset="0"/>
              </a:rPr>
              <a:t> υπολογισμό (&amp;&amp;,||) προσφέρονται και οι </a:t>
            </a:r>
            <a:r>
              <a:rPr kumimoji="0" lang="el-GR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 Greek" panose="02020603050405020304" pitchFamily="18" charset="0"/>
              </a:rPr>
              <a:t>&amp;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Greek" panose="02020603050405020304" pitchFamily="18" charset="0"/>
              </a:rPr>
              <a:t>, </a:t>
            </a:r>
            <a:r>
              <a:rPr kumimoji="0" lang="el-GR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 Greek" panose="02020603050405020304" pitchFamily="18" charset="0"/>
              </a:rPr>
              <a:t>|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Greek" panose="02020603050405020304" pitchFamily="18" charset="0"/>
              </a:rPr>
              <a:t> τελεστές που υπολογίζουν και τα δύο ορίσματα</a:t>
            </a: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Greek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DAB9DC-45D6-8EC7-ECE7-37F55E1FC3F4}"/>
              </a:ext>
            </a:extLst>
          </p:cNvPr>
          <p:cNvSpPr txBox="1"/>
          <p:nvPr/>
        </p:nvSpPr>
        <p:spPr>
          <a:xfrm>
            <a:off x="8629650" y="893505"/>
            <a:ext cx="3421681" cy="25545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eaLnBrk="1" hangingPunct="1"/>
            <a:r>
              <a:rPr lang="el-GR" altLang="el-GR" sz="2000" b="1" dirty="0"/>
              <a:t>Εφαρμοστική σειρά </a:t>
            </a:r>
            <a:r>
              <a:rPr lang="en-GB" altLang="el-GR" sz="2000" dirty="0"/>
              <a:t>: </a:t>
            </a:r>
            <a:r>
              <a:rPr lang="en-US" altLang="el-GR" sz="2000" dirty="0"/>
              <a:t>applicative order calculate operands, next apply operator</a:t>
            </a:r>
          </a:p>
          <a:p>
            <a:pPr eaLnBrk="1" hangingPunct="1"/>
            <a:r>
              <a:rPr lang="el-GR" altLang="el-GR" sz="2000" b="1" dirty="0"/>
              <a:t>Υπολογισμός περιορισμένης έκτασης</a:t>
            </a:r>
            <a:r>
              <a:rPr lang="en-GB" altLang="el-GR" sz="2000" dirty="0"/>
              <a:t>:</a:t>
            </a:r>
            <a:r>
              <a:rPr lang="el-GR" altLang="el-GR" sz="2000" dirty="0"/>
              <a:t> </a:t>
            </a:r>
            <a:r>
              <a:rPr lang="en-US" altLang="el-GR" sz="2000" dirty="0"/>
              <a:t>short circuit evaluation calculate left operand and only if required calculates the right one.</a:t>
            </a:r>
            <a:endParaRPr lang="en-GB" sz="2000" dirty="0"/>
          </a:p>
        </p:txBody>
      </p:sp>
      <p:sp>
        <p:nvSpPr>
          <p:cNvPr id="6" name="Rectangle 1027">
            <a:extLst>
              <a:ext uri="{FF2B5EF4-FFF2-40B4-BE49-F238E27FC236}">
                <a16:creationId xmlns:a16="http://schemas.microsoft.com/office/drawing/2014/main" id="{01BDEA9D-72DB-041C-983F-2A25E0844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92572"/>
            <a:ext cx="12009180" cy="2187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90000"/>
              </a:lnSpc>
              <a:buClr>
                <a:srgbClr val="3333CC"/>
              </a:buClr>
            </a:pPr>
            <a:r>
              <a:rPr lang="el-GR" altLang="el-GR" sz="3600" b="1" kern="0" dirty="0" err="1">
                <a:solidFill>
                  <a:srgbClr val="FF0000"/>
                </a:solidFill>
                <a:latin typeface="Times New Roman Greek" panose="02020603050405020304" pitchFamily="18" charset="0"/>
              </a:rPr>
              <a:t>instanceof</a:t>
            </a:r>
            <a:endParaRPr lang="el-GR" altLang="el-GR" sz="2800" kern="0" dirty="0">
              <a:solidFill>
                <a:srgbClr val="FF0000"/>
              </a:solidFill>
              <a:latin typeface="Times New Roman Greek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rgbClr val="FF0000"/>
              </a:buClr>
            </a:pPr>
            <a:r>
              <a:rPr lang="el-GR" altLang="el-GR" kern="0" dirty="0">
                <a:solidFill>
                  <a:srgbClr val="000000"/>
                </a:solidFill>
                <a:latin typeface="Times New Roman Greek" panose="02020603050405020304" pitchFamily="18" charset="0"/>
              </a:rPr>
              <a:t> ελέγχει αν ένα στιγμιότυπο είναι του δεδομένου τύπου ή </a:t>
            </a:r>
            <a:r>
              <a:rPr lang="el-GR" altLang="el-GR" kern="0" dirty="0" err="1">
                <a:solidFill>
                  <a:srgbClr val="000000"/>
                </a:solidFill>
                <a:latin typeface="Times New Roman Greek" panose="02020603050405020304" pitchFamily="18" charset="0"/>
              </a:rPr>
              <a:t>υποκλάσης</a:t>
            </a:r>
            <a:r>
              <a:rPr lang="el-GR" altLang="el-GR" kern="0" dirty="0">
                <a:solidFill>
                  <a:srgbClr val="000000"/>
                </a:solidFill>
                <a:latin typeface="Times New Roman Greek" panose="02020603050405020304" pitchFamily="18" charset="0"/>
              </a:rPr>
              <a:t> του </a:t>
            </a:r>
            <a:endParaRPr lang="en-US" altLang="el-GR" kern="0" dirty="0">
              <a:solidFill>
                <a:srgbClr val="000000"/>
              </a:solidFill>
              <a:latin typeface="Times New Roman Greek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rgbClr val="FF0000"/>
              </a:buClr>
              <a:buNone/>
            </a:pPr>
            <a:r>
              <a:rPr lang="el-GR" altLang="el-GR" sz="3200" b="1" kern="0" dirty="0">
                <a:solidFill>
                  <a:srgbClr val="3333CC"/>
                </a:solidFill>
                <a:latin typeface="Times New Roman Greek" panose="02020603050405020304" pitchFamily="18" charset="0"/>
              </a:rPr>
              <a:t>if (someObject </a:t>
            </a:r>
            <a:r>
              <a:rPr lang="el-GR" altLang="el-GR" sz="3200" b="1" kern="0" dirty="0">
                <a:solidFill>
                  <a:srgbClr val="800000"/>
                </a:solidFill>
                <a:latin typeface="Times New Roman Greek" panose="02020603050405020304" pitchFamily="18" charset="0"/>
              </a:rPr>
              <a:t>instanceof</a:t>
            </a:r>
            <a:r>
              <a:rPr lang="el-GR" altLang="el-GR" sz="3200" b="1" kern="0" dirty="0">
                <a:solidFill>
                  <a:srgbClr val="3333CC"/>
                </a:solidFill>
                <a:latin typeface="Times New Roman Greek" panose="02020603050405020304" pitchFamily="18" charset="0"/>
              </a:rPr>
              <a:t> Stack)</a:t>
            </a:r>
          </a:p>
          <a:p>
            <a:pPr lvl="2" eaLnBrk="1" hangingPunct="1">
              <a:lnSpc>
                <a:spcPct val="90000"/>
              </a:lnSpc>
              <a:buClr>
                <a:srgbClr val="3333CC"/>
              </a:buClr>
              <a:buNone/>
            </a:pPr>
            <a:r>
              <a:rPr lang="el-GR" altLang="el-GR" sz="2800" b="1" kern="0" dirty="0">
                <a:solidFill>
                  <a:srgbClr val="3333CC"/>
                </a:solidFill>
                <a:latin typeface="Times New Roman Greek" panose="02020603050405020304" pitchFamily="18" charset="0"/>
              </a:rPr>
              <a:t>	  ((Stack)someObect).push(element);</a:t>
            </a: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Greek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259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5" grpId="0" animBg="1"/>
      <p:bldP spid="6" grpId="0" build="p" bldLvl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Προτάσεις ελέγχου ροής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Extension of C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5804EE1-B4EC-FE22-476A-BECD305AF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795337"/>
            <a:ext cx="7772400" cy="526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el-GR" kern="0" dirty="0">
                <a:solidFill>
                  <a:srgbClr val="800000"/>
                </a:solidFill>
                <a:latin typeface="Times New Roman" panose="02020603050405020304" pitchFamily="18" charset="0"/>
              </a:rPr>
              <a:t>Επα</a:t>
            </a:r>
            <a:r>
              <a:rPr lang="en-US" altLang="el-GR" kern="0" dirty="0" err="1">
                <a:solidFill>
                  <a:srgbClr val="800000"/>
                </a:solidFill>
                <a:latin typeface="Times New Roman" panose="02020603050405020304" pitchFamily="18" charset="0"/>
              </a:rPr>
              <a:t>νάληψης</a:t>
            </a:r>
            <a:endParaRPr lang="en-US" altLang="el-GR" kern="0" dirty="0">
              <a:solidFill>
                <a:srgbClr val="800000"/>
              </a:solidFill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el-GR" kern="0" dirty="0">
                <a:latin typeface="Times New Roman" panose="02020603050405020304" pitchFamily="18" charset="0"/>
              </a:rPr>
              <a:t>for</a:t>
            </a:r>
          </a:p>
          <a:p>
            <a:pPr lvl="1" eaLnBrk="1" hangingPunct="1"/>
            <a:r>
              <a:rPr lang="en-US" altLang="el-GR" kern="0" dirty="0">
                <a:latin typeface="Times New Roman" panose="02020603050405020304" pitchFamily="18" charset="0"/>
              </a:rPr>
              <a:t>while</a:t>
            </a:r>
          </a:p>
          <a:p>
            <a:pPr lvl="1" eaLnBrk="1" hangingPunct="1"/>
            <a:r>
              <a:rPr lang="en-US" altLang="el-GR" kern="0" dirty="0">
                <a:latin typeface="Times New Roman" panose="02020603050405020304" pitchFamily="18" charset="0"/>
              </a:rPr>
              <a:t>do … while</a:t>
            </a:r>
          </a:p>
          <a:p>
            <a:pPr eaLnBrk="1" hangingPunct="1"/>
            <a:r>
              <a:rPr lang="en-US" altLang="el-GR" kern="0" dirty="0" err="1">
                <a:solidFill>
                  <a:srgbClr val="800000"/>
                </a:solidFill>
                <a:latin typeface="Times New Roman" panose="02020603050405020304" pitchFamily="18" charset="0"/>
              </a:rPr>
              <a:t>δι</a:t>
            </a:r>
            <a:r>
              <a:rPr lang="en-US" altLang="el-GR" kern="0" dirty="0">
                <a:solidFill>
                  <a:srgbClr val="800000"/>
                </a:solidFill>
                <a:latin typeface="Times New Roman" panose="02020603050405020304" pitchFamily="18" charset="0"/>
              </a:rPr>
              <a:t>ακλάδωσης υπό συνθήκη</a:t>
            </a:r>
          </a:p>
          <a:p>
            <a:pPr lvl="1" eaLnBrk="1" hangingPunct="1"/>
            <a:r>
              <a:rPr lang="en-US" altLang="el-GR" kern="0" dirty="0">
                <a:latin typeface="Times New Roman" panose="02020603050405020304" pitchFamily="18" charset="0"/>
              </a:rPr>
              <a:t>if     		if … else</a:t>
            </a:r>
          </a:p>
          <a:p>
            <a:pPr lvl="1" eaLnBrk="1" hangingPunct="1"/>
            <a:r>
              <a:rPr lang="en-US" altLang="el-GR" kern="0" dirty="0">
                <a:latin typeface="Times New Roman" panose="02020603050405020304" pitchFamily="18" charset="0"/>
              </a:rPr>
              <a:t>switch	(see also </a:t>
            </a:r>
            <a:r>
              <a:rPr lang="en-US" altLang="el-GR" b="1" kern="0" dirty="0">
                <a:latin typeface="Times New Roman" panose="02020603050405020304" pitchFamily="18" charset="0"/>
              </a:rPr>
              <a:t>switch expression </a:t>
            </a:r>
            <a:r>
              <a:rPr lang="en-US" altLang="el-GR" kern="0" dirty="0">
                <a:latin typeface="Times New Roman" panose="02020603050405020304" pitchFamily="18" charset="0"/>
              </a:rPr>
              <a:t>in Java 13)	</a:t>
            </a:r>
          </a:p>
          <a:p>
            <a:pPr eaLnBrk="1" hangingPunct="1"/>
            <a:r>
              <a:rPr lang="en-US" altLang="el-GR" kern="0" dirty="0" err="1">
                <a:solidFill>
                  <a:srgbClr val="800000"/>
                </a:solidFill>
                <a:latin typeface="Times New Roman" panose="02020603050405020304" pitchFamily="18" charset="0"/>
              </a:rPr>
              <a:t>δι</a:t>
            </a:r>
            <a:r>
              <a:rPr lang="en-US" altLang="el-GR" kern="0" dirty="0">
                <a:solidFill>
                  <a:srgbClr val="800000"/>
                </a:solidFill>
                <a:latin typeface="Times New Roman" panose="02020603050405020304" pitchFamily="18" charset="0"/>
              </a:rPr>
              <a:t>ακλάδωσης </a:t>
            </a:r>
            <a:r>
              <a:rPr lang="el-GR" altLang="el-GR" kern="0" dirty="0">
                <a:solidFill>
                  <a:srgbClr val="800000"/>
                </a:solidFill>
                <a:latin typeface="Times New Roman" panose="02020603050405020304" pitchFamily="18" charset="0"/>
              </a:rPr>
              <a:t>χωρίς</a:t>
            </a:r>
            <a:r>
              <a:rPr lang="en-US" altLang="el-GR" kern="0" dirty="0">
                <a:solidFill>
                  <a:srgbClr val="8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l-GR" kern="0" dirty="0" err="1">
                <a:solidFill>
                  <a:srgbClr val="800000"/>
                </a:solidFill>
                <a:latin typeface="Times New Roman" panose="02020603050405020304" pitchFamily="18" charset="0"/>
              </a:rPr>
              <a:t>συνθήκη</a:t>
            </a:r>
            <a:endParaRPr lang="en-US" altLang="el-GR" kern="0" dirty="0">
              <a:solidFill>
                <a:srgbClr val="800000"/>
              </a:solidFill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el-GR" kern="0" dirty="0">
                <a:latin typeface="Times New Roman" panose="02020603050405020304" pitchFamily="18" charset="0"/>
              </a:rPr>
              <a:t>break</a:t>
            </a:r>
          </a:p>
          <a:p>
            <a:pPr lvl="1" eaLnBrk="1" hangingPunct="1"/>
            <a:r>
              <a:rPr lang="en-US" altLang="el-GR" kern="0" dirty="0">
                <a:latin typeface="Times New Roman" panose="02020603050405020304" pitchFamily="18" charset="0"/>
              </a:rPr>
              <a:t>continue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CB8B7975-0609-156E-D09F-31B23E1AF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8621" y="1218581"/>
            <a:ext cx="2959100" cy="1068388"/>
          </a:xfrm>
          <a:prstGeom prst="wedgeRoundRectCallout">
            <a:avLst>
              <a:gd name="adj1" fmla="val -50000"/>
              <a:gd name="adj2" fmla="val 66667"/>
              <a:gd name="adj3" fmla="val 16667"/>
            </a:avLst>
          </a:prstGeom>
          <a:solidFill>
            <a:srgbClr val="F4F777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γενικά</a:t>
            </a: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διατηρείται η </a:t>
            </a: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σ</a:t>
            </a:r>
            <a:r>
              <a:rPr kumimoji="0" lang="en-US" altLang="el-GR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ύνταξη </a:t>
            </a:r>
            <a:r>
              <a:rPr kumimoji="0" lang="el-GR" altLang="el-GR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της </a:t>
            </a:r>
            <a:r>
              <a:rPr kumimoji="0" lang="en-US" altLang="el-GR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9C02D9FF-7599-7BE1-206D-93D5E99EF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2400" y="4570064"/>
            <a:ext cx="3340100" cy="1511300"/>
          </a:xfrm>
          <a:prstGeom prst="star16">
            <a:avLst>
              <a:gd name="adj" fmla="val 37500"/>
            </a:avLst>
          </a:prstGeom>
          <a:solidFill>
            <a:srgbClr val="F4F777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multi-level</a:t>
            </a: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break/continue</a:t>
            </a:r>
          </a:p>
        </p:txBody>
      </p:sp>
    </p:spTree>
    <p:extLst>
      <p:ext uri="{BB962C8B-B14F-4D97-AF65-F5344CB8AC3E}">
        <p14:creationId xmlns:p14="http://schemas.microsoft.com/office/powerpoint/2010/main" val="442076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140669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Προτάσεις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if/else, while και do/while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Extension of C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3067813-5B13-FFAE-4622-50C5FB89C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1022321"/>
            <a:ext cx="11542712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fontAlgn="base">
              <a:spcAft>
                <a:spcPct val="0"/>
              </a:spcAft>
              <a:buClr>
                <a:srgbClr val="3333CC"/>
              </a:buClr>
            </a:pPr>
            <a:r>
              <a:rPr lang="el-GR" altLang="el-GR" dirty="0">
                <a:solidFill>
                  <a:srgbClr val="000000"/>
                </a:solidFill>
                <a:latin typeface="Times New Roman" panose="02020603050405020304" pitchFamily="18" charset="0"/>
              </a:rPr>
              <a:t>διατηρείται η C σύνταξη</a:t>
            </a:r>
            <a:endParaRPr lang="en-US" altLang="el-GR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Aft>
                <a:spcPct val="0"/>
              </a:spcAft>
              <a:buClr>
                <a:srgbClr val="3333CC"/>
              </a:buClr>
            </a:pPr>
            <a:r>
              <a:rPr lang="el-GR" altLang="el-GR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η έκφραση στην οποία βασίζονται οι υπό συνθήκη προτάσεις πρέπει να είναι τύπου boolean και όχι ακέραιου τύπου ή τύπου αναφοράς</a:t>
            </a:r>
            <a:endParaRPr lang="en-US" altLang="el-GR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" name="Group 8">
            <a:extLst>
              <a:ext uri="{FF2B5EF4-FFF2-40B4-BE49-F238E27FC236}">
                <a16:creationId xmlns:a16="http://schemas.microsoft.com/office/drawing/2014/main" id="{59FA42FB-2C82-21EF-D22D-42BB9B08369B}"/>
              </a:ext>
            </a:extLst>
          </p:cNvPr>
          <p:cNvGrpSpPr>
            <a:grpSpLocks/>
          </p:cNvGrpSpPr>
          <p:nvPr/>
        </p:nvGrpSpPr>
        <p:grpSpPr bwMode="auto">
          <a:xfrm>
            <a:off x="180622" y="2844557"/>
            <a:ext cx="4829175" cy="3416301"/>
            <a:chOff x="192" y="2304"/>
            <a:chExt cx="3042" cy="2152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66E24346-A3D9-4E8D-4D6F-09D1AF9DA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2304"/>
              <a:ext cx="3042" cy="2152"/>
            </a:xfrm>
            <a:prstGeom prst="rect">
              <a:avLst/>
            </a:prstGeom>
            <a:solidFill>
              <a:srgbClr val="F4F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34A7B27D-8AE9-8CE3-1B8C-0480F5D87F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304"/>
              <a:ext cx="2592" cy="2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alt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int </a:t>
              </a:r>
              <a:r>
                <a:rPr kumimoji="0" lang="en-GB" altLang="el-GR" sz="2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i</a:t>
              </a:r>
              <a:r>
                <a:rPr kumimoji="0" lang="en-GB" alt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 </a:t>
              </a:r>
              <a:r>
                <a:rPr kumimoji="0" lang="el-GR" alt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= 10;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alt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while( </a:t>
              </a:r>
              <a:r>
                <a:rPr kumimoji="0" lang="el-GR" altLang="el-GR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i- -</a:t>
              </a:r>
              <a:r>
                <a:rPr kumimoji="0" lang="el-GR" alt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 ) {		</a:t>
              </a:r>
              <a:r>
                <a:rPr kumimoji="0" lang="el-GR" alt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// λάθος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alt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     Circle c1= new Circle();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alt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     if ( </a:t>
              </a:r>
              <a:r>
                <a:rPr kumimoji="0" lang="el-GR" altLang="el-GR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c1</a:t>
              </a:r>
              <a:r>
                <a:rPr kumimoji="0" lang="el-GR" alt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 ) {		</a:t>
              </a:r>
              <a:r>
                <a:rPr kumimoji="0" lang="el-GR" alt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// λάθος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alt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           int j;	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alt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           do { …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alt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	  } while ( </a:t>
              </a:r>
              <a:r>
                <a:rPr kumimoji="0" lang="el-GR" altLang="el-GR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j</a:t>
              </a:r>
              <a:r>
                <a:rPr kumimoji="0" lang="el-GR" alt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 ) ;	</a:t>
              </a:r>
              <a:r>
                <a:rPr kumimoji="0" lang="el-GR" alt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// λάθος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alt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            }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alt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       }</a:t>
              </a:r>
              <a:endPara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</p:grpSp>
      <p:sp>
        <p:nvSpPr>
          <p:cNvPr id="9" name="Text Box 7">
            <a:extLst>
              <a:ext uri="{FF2B5EF4-FFF2-40B4-BE49-F238E27FC236}">
                <a16:creationId xmlns:a16="http://schemas.microsoft.com/office/drawing/2014/main" id="{A42997A2-2075-C880-B051-5D1B5C607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630" y="2844557"/>
            <a:ext cx="5140570" cy="3416320"/>
          </a:xfrm>
          <a:prstGeom prst="rect">
            <a:avLst/>
          </a:prstGeom>
          <a:solidFill>
            <a:srgbClr val="F4F777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l-GR" altLang="el-GR" sz="2400">
                <a:solidFill>
                  <a:srgbClr val="3333CC"/>
                </a:solidFill>
                <a:latin typeface="Arial" panose="020B0604020202020204" pitchFamily="34" charset="0"/>
              </a:rPr>
              <a:t>int </a:t>
            </a:r>
            <a:r>
              <a:rPr lang="en-GB" altLang="el-GR" sz="2400">
                <a:solidFill>
                  <a:srgbClr val="3333CC"/>
                </a:solidFill>
                <a:latin typeface="Arial" panose="020B0604020202020204" pitchFamily="34" charset="0"/>
              </a:rPr>
              <a:t>i</a:t>
            </a:r>
            <a:r>
              <a:rPr lang="el-GR" altLang="el-GR" sz="2400">
                <a:solidFill>
                  <a:srgbClr val="3333CC"/>
                </a:solidFill>
                <a:latin typeface="Arial" panose="020B0604020202020204" pitchFamily="34" charset="0"/>
              </a:rPr>
              <a:t>= 10;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l-GR" altLang="el-GR" sz="2400">
                <a:solidFill>
                  <a:srgbClr val="3333CC"/>
                </a:solidFill>
                <a:latin typeface="Arial" panose="020B0604020202020204" pitchFamily="34" charset="0"/>
              </a:rPr>
              <a:t>while( </a:t>
            </a:r>
            <a:r>
              <a:rPr lang="el-GR" altLang="el-GR" sz="2400" b="1">
                <a:solidFill>
                  <a:srgbClr val="3333CC"/>
                </a:solidFill>
                <a:latin typeface="Arial" panose="020B0604020202020204" pitchFamily="34" charset="0"/>
              </a:rPr>
              <a:t>i- - &gt;0</a:t>
            </a:r>
            <a:r>
              <a:rPr lang="el-GR" altLang="el-GR" sz="2400">
                <a:solidFill>
                  <a:srgbClr val="3333CC"/>
                </a:solidFill>
                <a:latin typeface="Arial" panose="020B0604020202020204" pitchFamily="34" charset="0"/>
              </a:rPr>
              <a:t> ) {			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l-GR" altLang="el-GR" sz="2400">
                <a:solidFill>
                  <a:srgbClr val="3333CC"/>
                </a:solidFill>
                <a:latin typeface="Arial" panose="020B0604020202020204" pitchFamily="34" charset="0"/>
              </a:rPr>
              <a:t>      Circle c1= new Circle();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l-GR" altLang="el-GR" sz="2400">
                <a:solidFill>
                  <a:srgbClr val="3333CC"/>
                </a:solidFill>
                <a:latin typeface="Arial" panose="020B0604020202020204" pitchFamily="34" charset="0"/>
              </a:rPr>
              <a:t>      if ( </a:t>
            </a:r>
            <a:r>
              <a:rPr lang="el-GR" altLang="el-GR" sz="2400" b="1">
                <a:solidFill>
                  <a:srgbClr val="3333CC"/>
                </a:solidFill>
                <a:latin typeface="Arial" panose="020B0604020202020204" pitchFamily="34" charset="0"/>
              </a:rPr>
              <a:t>c1 != </a:t>
            </a:r>
            <a:r>
              <a:rPr lang="en-GB" altLang="el-GR" sz="2400" b="1">
                <a:solidFill>
                  <a:srgbClr val="3333CC"/>
                </a:solidFill>
                <a:latin typeface="Arial" panose="020B0604020202020204" pitchFamily="34" charset="0"/>
              </a:rPr>
              <a:t>null</a:t>
            </a:r>
            <a:r>
              <a:rPr lang="en-GB" altLang="el-GR" sz="2400">
                <a:solidFill>
                  <a:srgbClr val="3333CC"/>
                </a:solidFill>
                <a:latin typeface="Arial" panose="020B0604020202020204" pitchFamily="34" charset="0"/>
              </a:rPr>
              <a:t> </a:t>
            </a:r>
            <a:r>
              <a:rPr lang="el-GR" altLang="el-GR" sz="2400">
                <a:solidFill>
                  <a:srgbClr val="3333CC"/>
                </a:solidFill>
                <a:latin typeface="Arial" panose="020B0604020202020204" pitchFamily="34" charset="0"/>
              </a:rPr>
              <a:t>) {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l-GR" altLang="el-GR" sz="2400">
                <a:solidFill>
                  <a:srgbClr val="3333CC"/>
                </a:solidFill>
                <a:latin typeface="Arial" panose="020B0604020202020204" pitchFamily="34" charset="0"/>
              </a:rPr>
              <a:t>	int j;	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l-GR" altLang="el-GR" sz="2400">
                <a:solidFill>
                  <a:srgbClr val="3333CC"/>
                </a:solidFill>
                <a:latin typeface="Arial" panose="020B0604020202020204" pitchFamily="34" charset="0"/>
              </a:rPr>
              <a:t> 	do {  ….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l-GR" altLang="el-GR" sz="2400">
                <a:solidFill>
                  <a:srgbClr val="3333CC"/>
                </a:solidFill>
                <a:latin typeface="Arial" panose="020B0604020202020204" pitchFamily="34" charset="0"/>
              </a:rPr>
              <a:t>	      } while ( </a:t>
            </a:r>
            <a:r>
              <a:rPr lang="el-GR" altLang="el-GR" sz="2400" b="1">
                <a:solidFill>
                  <a:srgbClr val="3333CC"/>
                </a:solidFill>
                <a:latin typeface="Arial" panose="020B0604020202020204" pitchFamily="34" charset="0"/>
              </a:rPr>
              <a:t>j != 0</a:t>
            </a:r>
            <a:r>
              <a:rPr lang="el-GR" altLang="el-GR" sz="2400">
                <a:solidFill>
                  <a:srgbClr val="3333CC"/>
                </a:solidFill>
                <a:latin typeface="Arial" panose="020B0604020202020204" pitchFamily="34" charset="0"/>
              </a:rPr>
              <a:t> ) ;	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l-GR" altLang="el-GR" sz="2400">
                <a:solidFill>
                  <a:srgbClr val="3333CC"/>
                </a:solidFill>
                <a:latin typeface="Arial" panose="020B0604020202020204" pitchFamily="34" charset="0"/>
              </a:rPr>
              <a:t>	}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l-GR" altLang="el-GR" sz="2400">
                <a:solidFill>
                  <a:srgbClr val="3333CC"/>
                </a:solidFill>
                <a:latin typeface="Arial" panose="020B0604020202020204" pitchFamily="34" charset="0"/>
              </a:rPr>
              <a:t>      }</a:t>
            </a:r>
            <a:endParaRPr lang="en-US" altLang="el-GR" sz="24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951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Προτάσεις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break, continue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Extension of C</a:t>
            </a:r>
          </a:p>
        </p:txBody>
      </p:sp>
      <p:grpSp>
        <p:nvGrpSpPr>
          <p:cNvPr id="22" name="Group 15">
            <a:extLst>
              <a:ext uri="{FF2B5EF4-FFF2-40B4-BE49-F238E27FC236}">
                <a16:creationId xmlns:a16="http://schemas.microsoft.com/office/drawing/2014/main" id="{98F9A503-D333-89A0-8C1D-87E212E4BDAA}"/>
              </a:ext>
            </a:extLst>
          </p:cNvPr>
          <p:cNvGrpSpPr>
            <a:grpSpLocks/>
          </p:cNvGrpSpPr>
          <p:nvPr/>
        </p:nvGrpSpPr>
        <p:grpSpPr bwMode="auto">
          <a:xfrm>
            <a:off x="560388" y="1956768"/>
            <a:ext cx="4419600" cy="3744913"/>
            <a:chOff x="96" y="1776"/>
            <a:chExt cx="2784" cy="2359"/>
          </a:xfrm>
        </p:grpSpPr>
        <p:sp>
          <p:nvSpPr>
            <p:cNvPr id="23" name="Text Box 3">
              <a:extLst>
                <a:ext uri="{FF2B5EF4-FFF2-40B4-BE49-F238E27FC236}">
                  <a16:creationId xmlns:a16="http://schemas.microsoft.com/office/drawing/2014/main" id="{8311390B-D1E4-6906-E3D4-57CFCA7834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1776"/>
              <a:ext cx="2784" cy="2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label_one:</a:t>
              </a:r>
              <a:endParaRPr kumimoji="0" lang="en-US" altLang="el-GR" sz="1800" b="0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18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for(int i = 0; i &lt; len ; i++) {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18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   if(i &lt; len/2) {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18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        while (e1) {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18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         	if(e2) 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18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	    </a:t>
              </a:r>
              <a:r>
                <a:rPr kumimoji="0" lang="en-US" altLang="el-GR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break label_one;</a:t>
              </a:r>
              <a:endParaRPr kumimoji="0" lang="en-US" altLang="el-GR" sz="1800" b="0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18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	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18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	:	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18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	}			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18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          :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18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          }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18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     :	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18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     }</a:t>
              </a:r>
              <a:endParaRPr kumimoji="0" lang="en-US" altLang="el-GR" sz="1800" b="0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 Greek" panose="02020603050405020304" pitchFamily="18" charset="0"/>
              </a:endParaRPr>
            </a:p>
          </p:txBody>
        </p:sp>
        <p:sp>
          <p:nvSpPr>
            <p:cNvPr id="24" name="Line 4">
              <a:extLst>
                <a:ext uri="{FF2B5EF4-FFF2-40B4-BE49-F238E27FC236}">
                  <a16:creationId xmlns:a16="http://schemas.microsoft.com/office/drawing/2014/main" id="{EE58D781-2540-532D-2B27-868A271929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784"/>
              <a:ext cx="43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5" name="Line 5">
              <a:extLst>
                <a:ext uri="{FF2B5EF4-FFF2-40B4-BE49-F238E27FC236}">
                  <a16:creationId xmlns:a16="http://schemas.microsoft.com/office/drawing/2014/main" id="{4097EE45-4DD6-902B-2FC0-7588B2AA2F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784"/>
              <a:ext cx="4" cy="13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6" name="Line 6">
              <a:extLst>
                <a:ext uri="{FF2B5EF4-FFF2-40B4-BE49-F238E27FC236}">
                  <a16:creationId xmlns:a16="http://schemas.microsoft.com/office/drawing/2014/main" id="{F164499D-408A-D167-E784-DF5095A249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9" y="4135"/>
              <a:ext cx="204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grpSp>
        <p:nvGrpSpPr>
          <p:cNvPr id="27" name="Group 14">
            <a:extLst>
              <a:ext uri="{FF2B5EF4-FFF2-40B4-BE49-F238E27FC236}">
                <a16:creationId xmlns:a16="http://schemas.microsoft.com/office/drawing/2014/main" id="{3CEDA115-0EB6-8312-4B77-5141B70B28E2}"/>
              </a:ext>
            </a:extLst>
          </p:cNvPr>
          <p:cNvGrpSpPr>
            <a:grpSpLocks/>
          </p:cNvGrpSpPr>
          <p:nvPr/>
        </p:nvGrpSpPr>
        <p:grpSpPr bwMode="auto">
          <a:xfrm>
            <a:off x="6118225" y="2537793"/>
            <a:ext cx="4191000" cy="3113088"/>
            <a:chOff x="2880" y="1824"/>
            <a:chExt cx="2640" cy="1961"/>
          </a:xfrm>
        </p:grpSpPr>
        <p:sp>
          <p:nvSpPr>
            <p:cNvPr id="28" name="Text Box 7">
              <a:extLst>
                <a:ext uri="{FF2B5EF4-FFF2-40B4-BE49-F238E27FC236}">
                  <a16:creationId xmlns:a16="http://schemas.microsoft.com/office/drawing/2014/main" id="{AA3EBD3B-3196-479E-7FE0-D064D294E3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824"/>
              <a:ext cx="2640" cy="1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label_one</a:t>
              </a:r>
              <a:r>
                <a:rPr kumimoji="0" lang="en-US" altLang="el-G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: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for( </a:t>
              </a:r>
              <a:r>
                <a:rPr kumimoji="0" lang="en-US" altLang="el-GR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i</a:t>
              </a:r>
              <a:r>
                <a:rPr kumimoji="0" lang="en-US" altLang="el-G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 = 0; </a:t>
              </a:r>
              <a:r>
                <a:rPr kumimoji="0" lang="en-US" altLang="el-GR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i</a:t>
              </a:r>
              <a:r>
                <a:rPr kumimoji="0" lang="en-US" altLang="el-G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&lt; </a:t>
              </a:r>
              <a:r>
                <a:rPr kumimoji="0" lang="en-US" altLang="el-GR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len</a:t>
              </a:r>
              <a:r>
                <a:rPr kumimoji="0" lang="en-US" altLang="el-G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 ; </a:t>
              </a:r>
              <a:r>
                <a:rPr kumimoji="0" lang="en-US" altLang="el-GR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i</a:t>
              </a:r>
              <a:r>
                <a:rPr kumimoji="0" lang="en-US" altLang="el-G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++) {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       :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       while(e1) {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	: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	if(e2) 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    	       </a:t>
              </a:r>
              <a:r>
                <a:rPr kumimoji="0" lang="en-US" altLang="el-G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continue </a:t>
              </a:r>
              <a:r>
                <a:rPr kumimoji="0" lang="en-US" altLang="el-GR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label_one</a:t>
              </a:r>
              <a:r>
                <a:rPr kumimoji="0" lang="en-US" altLang="el-G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;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	: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	}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        :</a:t>
              </a:r>
            </a:p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</a:rPr>
                <a:t>        }</a:t>
              </a:r>
              <a:endParaRPr kumimoji="0" lang="en-US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9" name="Line 8">
              <a:extLst>
                <a:ext uri="{FF2B5EF4-FFF2-40B4-BE49-F238E27FC236}">
                  <a16:creationId xmlns:a16="http://schemas.microsoft.com/office/drawing/2014/main" id="{CEE451DD-F548-27FA-3FC5-0A3F9EBA62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2976"/>
              <a:ext cx="2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0" name="Line 9">
              <a:extLst>
                <a:ext uri="{FF2B5EF4-FFF2-40B4-BE49-F238E27FC236}">
                  <a16:creationId xmlns:a16="http://schemas.microsoft.com/office/drawing/2014/main" id="{6328C99E-8D0E-F58E-6A34-44388ADEA3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76" y="1824"/>
              <a:ext cx="0" cy="11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1" name="Line 10">
              <a:extLst>
                <a:ext uri="{FF2B5EF4-FFF2-40B4-BE49-F238E27FC236}">
                  <a16:creationId xmlns:a16="http://schemas.microsoft.com/office/drawing/2014/main" id="{9ABC7CCE-C780-8594-98EC-3B857A6497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1824"/>
              <a:ext cx="124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2" name="Line 11">
              <a:extLst>
                <a:ext uri="{FF2B5EF4-FFF2-40B4-BE49-F238E27FC236}">
                  <a16:creationId xmlns:a16="http://schemas.microsoft.com/office/drawing/2014/main" id="{5F586948-F026-AEEB-5CB0-B16E4007C0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824"/>
              <a:ext cx="0" cy="2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sp>
        <p:nvSpPr>
          <p:cNvPr id="33" name="Rectangle 12">
            <a:extLst>
              <a:ext uri="{FF2B5EF4-FFF2-40B4-BE49-F238E27FC236}">
                <a16:creationId xmlns:a16="http://schemas.microsoft.com/office/drawing/2014/main" id="{6AD582EF-D5F3-B892-1A74-73CA05693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75" y="891556"/>
            <a:ext cx="3657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l-GR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break [label];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l-GR" b="1" i="1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  <p:sp>
        <p:nvSpPr>
          <p:cNvPr id="34" name="Rectangle 13">
            <a:extLst>
              <a:ext uri="{FF2B5EF4-FFF2-40B4-BE49-F238E27FC236}">
                <a16:creationId xmlns:a16="http://schemas.microsoft.com/office/drawing/2014/main" id="{2C3D930D-D39C-D0B7-B00B-7D577B68F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909018"/>
            <a:ext cx="4343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l-GR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continue [label];</a:t>
            </a:r>
          </a:p>
        </p:txBody>
      </p:sp>
      <p:sp>
        <p:nvSpPr>
          <p:cNvPr id="35" name="Line 16">
            <a:extLst>
              <a:ext uri="{FF2B5EF4-FFF2-40B4-BE49-F238E27FC236}">
                <a16:creationId xmlns:a16="http://schemas.microsoft.com/office/drawing/2014/main" id="{0DFF5B0D-8A6D-C30E-BC39-5C22EC7F6B3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313" y="1534493"/>
            <a:ext cx="3352800" cy="0"/>
          </a:xfrm>
          <a:prstGeom prst="line">
            <a:avLst/>
          </a:prstGeom>
          <a:noFill/>
          <a:ln w="38100">
            <a:solidFill>
              <a:srgbClr val="33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36" name="Line 17">
            <a:extLst>
              <a:ext uri="{FF2B5EF4-FFF2-40B4-BE49-F238E27FC236}">
                <a16:creationId xmlns:a16="http://schemas.microsoft.com/office/drawing/2014/main" id="{8B853119-E642-35C6-517B-426BAE64BC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2025" y="1544986"/>
            <a:ext cx="4038600" cy="0"/>
          </a:xfrm>
          <a:prstGeom prst="line">
            <a:avLst/>
          </a:prstGeom>
          <a:noFill/>
          <a:ln w="38100">
            <a:solidFill>
              <a:srgbClr val="33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51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Σταθερές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Extension of C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5B006FF-B69D-9BBD-3947-0CD4480F3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1160840"/>
            <a:ext cx="11372850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Οι σταθερές έχουν τύπο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Δηλώνονται όπως και οι μεταβλητές με προσθήκη δύο προσδιοριστών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static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final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		</a:t>
            </a:r>
            <a:r>
              <a:rPr kumimoji="0" lang="en-US" altLang="el-GR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static final</a:t>
            </a:r>
            <a:r>
              <a:rPr kumimoji="0" lang="en-US" altLang="el-GR" sz="2800" b="0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/>
              </a:rPr>
              <a:t> double PI = 3,14…;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Όπως και στις </a:t>
            </a:r>
            <a:r>
              <a:rPr kumimoji="0" lang="en-US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C/C++, </a:t>
            </a:r>
            <a:r>
              <a:rPr kumimoji="0" lang="el-GR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συνηθίζεται </a:t>
            </a:r>
            <a:r>
              <a:rPr kumimoji="0" lang="en-US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να γράφονται με κεφαλαία</a:t>
            </a:r>
            <a:endParaRPr kumimoji="0" lang="el-GR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582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παριθμητικός τύπος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Extension of 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100" dirty="0">
              <a:solidFill>
                <a:prstClr val="black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A6F18C6-601F-E75D-5FF8-632854064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554" y="887186"/>
            <a:ext cx="6988175" cy="484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public </a:t>
            </a:r>
            <a:r>
              <a:rPr kumimoji="0" lang="en-US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enum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Day 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{ 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SUNDAY, MONDAY, TUESDAY, WEDNESDAY, THURSDAY, FRIDAY, SATURDAY 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}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l-GR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public class </a:t>
            </a:r>
            <a:r>
              <a:rPr kumimoji="0" lang="en-US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EnumTest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{ 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Day </a:t>
            </a:r>
            <a:r>
              <a:rPr kumimoji="0" lang="en-US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day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; 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main() {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	….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 	switch (day) {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		case MONDAY: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			…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		 </a:t>
            </a:r>
            <a:r>
              <a:rPr lang="en-US" altLang="el-GR" sz="2400" kern="0" dirty="0">
                <a:solidFill>
                  <a:srgbClr val="000000"/>
                </a:solidFill>
                <a:latin typeface="Tahoma"/>
              </a:rPr>
              <a:t>case TUESDAY :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			…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A393F3-0E6E-F8F2-7E26-480985F32F3A}"/>
              </a:ext>
            </a:extLst>
          </p:cNvPr>
          <p:cNvSpPr txBox="1"/>
          <p:nvPr/>
        </p:nvSpPr>
        <p:spPr>
          <a:xfrm>
            <a:off x="7669321" y="1005568"/>
            <a:ext cx="4302125" cy="501675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 </a:t>
            </a:r>
            <a:r>
              <a:rPr lang="en-GB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enum</a:t>
            </a:r>
            <a:r>
              <a:rPr lang="en-GB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type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is a 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special data type 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that enables for a variable to be 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set of predefined constants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variable must be equal to one of the values that have been predefined for it.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Common examples include compass directions (values of NORTH, SOUTH, EAST, and WEST) and the days of the week.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Because they are constants, the names of an </a:t>
            </a:r>
            <a:r>
              <a:rPr lang="en-GB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enum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type's fields are in uppercase letters.</a:t>
            </a:r>
          </a:p>
          <a:p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FB92F8-3197-A4F1-3E27-9D99BD0CC6C5}"/>
              </a:ext>
            </a:extLst>
          </p:cNvPr>
          <p:cNvSpPr txBox="1"/>
          <p:nvPr/>
        </p:nvSpPr>
        <p:spPr>
          <a:xfrm>
            <a:off x="5915244" y="6106451"/>
            <a:ext cx="657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3"/>
              </a:rPr>
              <a:t>https://docs.oracle.com/javase/tutorial/java/javaOO/enum.html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968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var keyword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Extension of C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26C6495-084E-6C40-F9AC-035B0CE96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" y="969962"/>
            <a:ext cx="11106150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var 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222635"/>
                </a:solidFill>
                <a:effectLst/>
                <a:uLnTx/>
                <a:uFillTx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allows you to </a:t>
            </a: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222635"/>
                </a:solidFill>
                <a:effectLst/>
                <a:uLnTx/>
                <a:uFillTx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declare variables without their type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222635"/>
                </a:solidFill>
                <a:effectLst/>
                <a:uLnTx/>
                <a:uFillTx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e.g. 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var str = "Java"</a:t>
            </a:r>
            <a:endParaRPr kumimoji="0" lang="en-US" altLang="el-GR" sz="5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457200" marR="0" lvl="1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222635"/>
                </a:solidFill>
                <a:effectLst/>
                <a:uLnTx/>
                <a:uFillTx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instead of  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String str = "Java"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var list = 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77008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new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ArrayList&lt;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8855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String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&gt;(); 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r>
              <a:rPr lang="el-GR" altLang="el-GR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AA55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// infers ArrayList&lt;String&gt;</a:t>
            </a: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AA55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var stream = list.stream(); 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</a:t>
            </a:r>
            <a:endParaRPr kumimoji="0" lang="el-GR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AA55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// infers Stream&lt;String&gt;</a:t>
            </a: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AA55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var bos = new ByteArrayOutputStream(); </a:t>
            </a:r>
            <a:endParaRPr kumimoji="0" lang="el-GR" altLang="el-GR" sz="6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22B0EA-B249-EFD1-FBD2-9D617712F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1033" y="5820835"/>
            <a:ext cx="9710967" cy="71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87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Enhanced switch (without break)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Extension of 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EF924F-E707-A4F3-EDEF-4FE932362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" y="1345654"/>
            <a:ext cx="8080698" cy="21385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5C2E61-0DD0-1BE6-845F-C40C5A223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9" y="4243145"/>
            <a:ext cx="6689296" cy="21385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5663BC-EB0A-D48D-B6CE-19662368F0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1497" y="3147519"/>
            <a:ext cx="9239985" cy="15562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FD4312-0E1E-8528-E16E-821030C9EC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58" y="758816"/>
            <a:ext cx="4062428" cy="6593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A56DFB-EE5B-34B5-2EAF-8EB730428892}"/>
              </a:ext>
            </a:extLst>
          </p:cNvPr>
          <p:cNvSpPr txBox="1"/>
          <p:nvPr/>
        </p:nvSpPr>
        <p:spPr>
          <a:xfrm>
            <a:off x="9231931" y="1720370"/>
            <a:ext cx="2819400" cy="193899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400" b="0" i="0" dirty="0">
                <a:effectLst/>
                <a:latin typeface="-apple-system"/>
              </a:rPr>
              <a:t>Enhanced switch functionality is currently only available as a </a:t>
            </a:r>
            <a:r>
              <a:rPr lang="en-GB" sz="2400" b="0" i="0" dirty="0">
                <a:solidFill>
                  <a:srgbClr val="007ACC"/>
                </a:solidFill>
                <a:effectLst/>
                <a:latin typeface="-apple-system"/>
              </a:rPr>
              <a:t>preview feature</a:t>
            </a:r>
            <a:r>
              <a:rPr lang="en-GB" sz="2400" b="0" i="0" dirty="0">
                <a:effectLst/>
                <a:latin typeface="-apple-system"/>
              </a:rPr>
              <a:t>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682241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8C7F7F-BAE6-EC41-76A2-9C1DA8A4B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363" y="816534"/>
            <a:ext cx="5631637" cy="2827956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switch Expression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Extension of 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61EEAD-2C1B-9ED6-2D7B-984FE3FF5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97477"/>
            <a:ext cx="7455974" cy="19442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F0160D-25D3-49EE-6D68-804EB5B9BD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512" y="4115544"/>
            <a:ext cx="8728070" cy="13383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31F017-8E06-8921-0F42-1FAF9B8EC16F}"/>
              </a:ext>
            </a:extLst>
          </p:cNvPr>
          <p:cNvSpPr txBox="1"/>
          <p:nvPr/>
        </p:nvSpPr>
        <p:spPr>
          <a:xfrm>
            <a:off x="9606485" y="3527074"/>
            <a:ext cx="25198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linkClick r:id="rId6"/>
              </a:rPr>
              <a:t>https://docs.oracle.com/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2364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Functions vs Methods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Extension of C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5AA6432-5F9D-3D73-7A1F-A734D8723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24744"/>
            <a:ext cx="11639550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 method defines behavior like a function.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However:</a:t>
            </a: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Methods are defined inside a class definition (establish a relationship between the class and the method)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The invocation of a method is different from the call of a function.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 has no functions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C++ and Python have both methods and functions</a:t>
            </a:r>
            <a:endParaRPr kumimoji="0" lang="el-GR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6968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Λοιπές διαφορές από την C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1/2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Extension of C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9E7934F-28BB-6818-96B3-870B7424F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484313"/>
            <a:ext cx="11800506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δυνατότητα δήλωσης τοπικών μεταβλητών σε κάθε μπλοκ κώδικα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επιτρέπει υπερφόρτωση μεθόδων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Δεν</a:t>
            </a: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υποστηρίζει καθολικές μεταβλητές (τις υποστηρίζει όμως έμμεσα)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δεν υποστηρίζει τη λέξη κλειδί </a:t>
            </a: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typedef</a:t>
            </a: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δεν υποστηρίζει </a:t>
            </a: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struct</a:t>
            </a: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union</a:t>
            </a: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και </a:t>
            </a: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bitfields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Υποστηρίζει </a:t>
            </a: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Bitwise and Bit Shift Operators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187461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Λοιπές διαφορές από την C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2/2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Java as Extension of 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100" dirty="0">
              <a:solidFill>
                <a:prstClr val="black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3147E1B-77B6-E053-B306-C8F1A7F55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4" y="1052512"/>
            <a:ext cx="11617325" cy="466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δεν</a:t>
            </a:r>
            <a:r>
              <a:rPr kumimoji="0" 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 υποστηρίζει μεταβλητό αριθμό παραμέτρων 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</a:rPr>
              <a:t>see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Arbitrary Number of Arguments i.e., (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Point... corners)-&gt; (Point[] corners)</a:t>
            </a:r>
            <a:endParaRPr kumimoji="0" 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αντιμετωπίζει διαφορετικά τα ορίσματα γραμμής διαταγών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δεν χρησιμοποιεί το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void </a:t>
            </a:r>
            <a:r>
              <a:rPr kumimoji="0" 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σε περίπτωση που μια μέθοδος δεν δέχεται παραμέτρους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δεν διαθέτει προ-επεξεργαστή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υποστηρίζει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exception handling</a:t>
            </a:r>
            <a:endParaRPr kumimoji="0" lang="el-GR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υποστηρίζει πολλαπλά νήματα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multiple threads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Διαθέτει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Garbage Collector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υποστηρίζει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 </a:t>
            </a:r>
            <a:r>
              <a:rPr kumimoji="0" 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γραφική </a:t>
            </a:r>
            <a:r>
              <a:rPr kumimoji="0" lang="el-GR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διεπαφή</a:t>
            </a:r>
            <a:r>
              <a:rPr kumimoji="0" 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 (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awt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, swing, …</a:t>
            </a:r>
            <a:r>
              <a:rPr kumimoji="0" 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)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3789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theme/theme1.xml><?xml version="1.0" encoding="utf-8"?>
<a:theme xmlns:a="http://schemas.openxmlformats.org/drawingml/2006/main" name="Προσαρμοσμένη σχεδίαση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16004</TotalTime>
  <Words>1892</Words>
  <Application>Microsoft Office PowerPoint</Application>
  <PresentationFormat>Widescreen</PresentationFormat>
  <Paragraphs>350</Paragraphs>
  <Slides>24</Slides>
  <Notes>24</Notes>
  <HiddenSlides>1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9" baseType="lpstr">
      <vt:lpstr>-apple-system</vt:lpstr>
      <vt:lpstr>Arial</vt:lpstr>
      <vt:lpstr>Bahnschrift</vt:lpstr>
      <vt:lpstr>Bahnschrift Light</vt:lpstr>
      <vt:lpstr>Calibri</vt:lpstr>
      <vt:lpstr>Calibri Light</vt:lpstr>
      <vt:lpstr>Cambria</vt:lpstr>
      <vt:lpstr>Courier New</vt:lpstr>
      <vt:lpstr>Tahoma</vt:lpstr>
      <vt:lpstr>Times New Roman</vt:lpstr>
      <vt:lpstr>Times New Roman Greek</vt:lpstr>
      <vt:lpstr>Wingdings</vt:lpstr>
      <vt:lpstr>Προσαρμοσμένη σχεδίαση</vt:lpstr>
      <vt:lpstr>Θέμα του Office</vt:lpstr>
      <vt:lpstr>Document</vt:lpstr>
      <vt:lpstr>PowerPoint Presentation</vt:lpstr>
      <vt:lpstr>Οργάνωση Διάλεξης</vt:lpstr>
      <vt:lpstr>Τύποι Δεδομένων</vt:lpstr>
      <vt:lpstr>Πρωτογενείς Τύποι</vt:lpstr>
      <vt:lpstr>Πρωτογενείς Τύποι</vt:lpstr>
      <vt:lpstr>O τύπος Boolean</vt:lpstr>
      <vt:lpstr>Δηλώσεις μεταβλητών</vt:lpstr>
      <vt:lpstr>Τύποι αναφοράς (reference types)</vt:lpstr>
      <vt:lpstr>Τύποι αναφοράς (reference types)</vt:lpstr>
      <vt:lpstr>Αλφαριθμητικά</vt:lpstr>
      <vt:lpstr>Array</vt:lpstr>
      <vt:lpstr>Τελεστές 1/2</vt:lpstr>
      <vt:lpstr>Τελεστές 2/2</vt:lpstr>
      <vt:lpstr>Προτάσεις ελέγχου ροής</vt:lpstr>
      <vt:lpstr>Προτάσεις if/else, while και do/while</vt:lpstr>
      <vt:lpstr>Προτάσεις break, continue</vt:lpstr>
      <vt:lpstr>Σταθερές</vt:lpstr>
      <vt:lpstr>Aπαριθμητικός τύπος</vt:lpstr>
      <vt:lpstr>var keyword</vt:lpstr>
      <vt:lpstr>Enhanced switch (without break)</vt:lpstr>
      <vt:lpstr>switch Expression</vt:lpstr>
      <vt:lpstr>Functions vs Methods</vt:lpstr>
      <vt:lpstr>Λοιπές διαφορές από την C 1/2</vt:lpstr>
      <vt:lpstr>Λοιπές διαφορές από την C 2/2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JavaAsExtensionOfC</dc:title>
  <dc:creator>Kleanthis Thramboulidis</dc:creator>
  <cp:lastModifiedBy>thrambo@ece.upatras.gr</cp:lastModifiedBy>
  <cp:revision>79</cp:revision>
  <dcterms:created xsi:type="dcterms:W3CDTF">2020-03-13T12:21:17Z</dcterms:created>
  <dcterms:modified xsi:type="dcterms:W3CDTF">2024-10-09T06:06:31Z</dcterms:modified>
</cp:coreProperties>
</file>