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92" r:id="rId2"/>
  </p:sldMasterIdLst>
  <p:notesMasterIdLst>
    <p:notesMasterId r:id="rId24"/>
  </p:notesMasterIdLst>
  <p:sldIdLst>
    <p:sldId id="262" r:id="rId3"/>
    <p:sldId id="760" r:id="rId4"/>
    <p:sldId id="806" r:id="rId5"/>
    <p:sldId id="808" r:id="rId6"/>
    <p:sldId id="823" r:id="rId7"/>
    <p:sldId id="805" r:id="rId8"/>
    <p:sldId id="822" r:id="rId9"/>
    <p:sldId id="824" r:id="rId10"/>
    <p:sldId id="807" r:id="rId11"/>
    <p:sldId id="810" r:id="rId12"/>
    <p:sldId id="809" r:id="rId13"/>
    <p:sldId id="812" r:id="rId14"/>
    <p:sldId id="813" r:id="rId15"/>
    <p:sldId id="814" r:id="rId16"/>
    <p:sldId id="815" r:id="rId17"/>
    <p:sldId id="817" r:id="rId18"/>
    <p:sldId id="816" r:id="rId19"/>
    <p:sldId id="820" r:id="rId20"/>
    <p:sldId id="818" r:id="rId21"/>
    <p:sldId id="819" r:id="rId22"/>
    <p:sldId id="821" r:id="rId23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DBB"/>
    <a:srgbClr val="60D69E"/>
    <a:srgbClr val="869391"/>
    <a:srgbClr val="F9853D"/>
    <a:srgbClr val="FDCBAD"/>
    <a:srgbClr val="FBAD7D"/>
    <a:srgbClr val="61649B"/>
    <a:srgbClr val="E49252"/>
    <a:srgbClr val="FFFFFF"/>
    <a:srgbClr val="2E3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53" autoAdjust="0"/>
    <p:restoredTop sz="85798" autoAdjust="0"/>
  </p:normalViewPr>
  <p:slideViewPr>
    <p:cSldViewPr snapToGrid="0">
      <p:cViewPr varScale="1">
        <p:scale>
          <a:sx n="59" d="100"/>
          <a:sy n="59" d="100"/>
        </p:scale>
        <p:origin x="834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20127-9FC1-4D44-BFF2-2F77E5433948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89646-4F35-49C2-BD28-89287C170E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866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2788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1872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584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1315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1721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5249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9133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6780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366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1703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78533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31964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32656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5640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45860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8438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22664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3448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62409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9650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20F0C6-20AC-41EB-97A9-F4D49B814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32E3D7A-E6B7-4F3B-A3A4-432551739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913F9FC-9EB9-4B41-B003-FC4C036B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B8E113-6156-4872-81CC-442E8373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173B9A-A0EA-47D7-8D18-B6E2BD9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22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FF7B4CC-9312-4102-9C7A-DD5776C3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9207E59-B014-409F-8E39-F07CF6FA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28C698E-FDE3-406F-AEF7-58C354D6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DBB6EE0-1F7E-4C3D-8524-627F4FA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15A0C17-4537-4F4D-B727-1C89BF11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21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AD7298-5AF8-4835-97EB-C16ED6D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D2EC4FE-ACD0-4F71-A34B-36ED9050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525369C-E8DA-4A41-A021-C2AFFA6B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E6631D-4B2B-42B6-B88C-990FA760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4B4A319-5C9B-46DF-96B8-F30BC39F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17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D86A31-D5EC-46FA-A235-F151422F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52F68FD-8072-4020-B6C4-C8DEF5AC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B43AF00-F0E0-4F57-8814-5AB4B0C03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9D9695B-1677-4255-A36B-ADA53963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2F05351-67C2-46C6-A91C-414650F2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D2959A3-E6A4-4BB0-BE95-F23CF5F5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874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550276-9848-4578-8364-691220AD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1C9CFA5-81EF-4418-9CE2-C9EB8CE5F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144BA92-B3F1-426D-9721-D505666C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4964523-2FE6-420B-BF7F-3ED590658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EE8D821-AC0B-4F1C-AC1B-68CAEA6E8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0836FDB2-AE28-437A-B450-FC5FA097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CC56F37-5360-4ED6-9EFB-B4959D6A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423FDBB-6E0A-4AD0-AD73-FB22040E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52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2BE337C-659B-44A0-815E-1CE7F2FD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9D7B6A3-3626-4AD7-97D4-F6210A23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50B290B-CDC6-4F07-927A-EB7F796E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AD0E512-8E7A-4A77-8496-D36864CF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44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5F803E6-97F1-4D9B-A18A-566A4A16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D16003C0-6EB6-4C9B-A531-7B4E3CE4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EA301AA-05AA-466A-BB11-E4CEB6F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658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AAEFBB-DCF4-46CF-9FC6-8D65BCEB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FACB05B-E524-44F7-BF66-694B0E33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473C60C-80C9-4542-852E-B22F6BA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209058B-2FCA-4D37-A928-B77A09F7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F8D9052-7B1B-4DEA-BE59-76E1CA20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F7BFCBB-BB2D-41CB-8EF4-1D6154D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64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A72A12-B4CE-41C0-824E-4DB22C0C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4331ABF6-AF41-4DA6-82BC-340BA638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4AD854A-F202-4241-AFA5-8F8D5175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2D25601-E5C6-4DAA-A438-750D7B0C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1A411BF-7CE1-4136-85D0-CEA759E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BD64BFB-00A3-49A7-B9AF-C93C938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86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BF383B-9D9C-4567-A73F-3964FF66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2568873-5978-4A13-BA12-F77F173EB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88EFFCE-A34B-4F95-B3D5-603927E1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BE576DF-BE6C-4DE7-BDD8-60E8F026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B323CB-AAB1-4C9E-AE28-C6179CB9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6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176F3CB-2A60-46CD-8CF9-DD053E08C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2F4BEC8-6DEB-41E5-B12D-18B14C6B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C7DD041-7F64-4984-A13C-EE790702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502BD5F-24B7-4FDD-BD59-39295F57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E0B5687-7B67-47CF-995B-36EF0D4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971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Στυλ κύριου υπότιτλου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42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009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58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13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742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2939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65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79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89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701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992F1800-E376-4EAC-8DCE-EF767BC9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3EDA18A-E08C-433A-8864-CE510E638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5AF37D2-402E-4529-9EEC-414BB35C5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CF16FB6-3B9A-47F7-BC11-0CD0D447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057F2B-A2D8-4FC1-B53F-4487A3875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764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368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thramboulidiskleanthi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7/docs/technotes/tools/windows/javac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docs.oracle.com/javase/7/docs/technotes/tools/windows/java.htm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download.oracle.com/javase/1.4.2/docs/tooldocs/windows/java.html#-jar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docs.oracle.com/javase/7/docs/technotes/tools/windows/java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7/docs/technotes/tools/windows/javadoc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7/docs/technotes/tools/windows/jar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download.oracle.com/javase/1.4.2/docs/tooldocs/windows/jdb.html#options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6E192A2-3ED3-4081-8A86-A22B5114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152902" y="-1181101"/>
            <a:ext cx="3886200" cy="12192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Υπότιτλος 2">
            <a:extLst>
              <a:ext uri="{FF2B5EF4-FFF2-40B4-BE49-F238E27FC236}">
                <a16:creationId xmlns:a16="http://schemas.microsoft.com/office/drawing/2014/main" id="{999AB7B1-2CA7-4F2E-91BE-62A4C3CC57D6}"/>
              </a:ext>
            </a:extLst>
          </p:cNvPr>
          <p:cNvSpPr txBox="1">
            <a:spLocks/>
          </p:cNvSpPr>
          <p:nvPr/>
        </p:nvSpPr>
        <p:spPr>
          <a:xfrm>
            <a:off x="-3" y="48411"/>
            <a:ext cx="12192002" cy="124981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Αντικειμενοστρεφής Προγραμματισμός </a:t>
            </a:r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(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Object-Oriented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Programming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  <a:endParaRPr lang="en-US" sz="28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50C4F10-C081-CD71-17C8-8DAD4C7DE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73068"/>
            <a:ext cx="8610600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4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800" b="0" i="0" kern="0" dirty="0">
                <a:solidFill>
                  <a:srgbClr val="800000"/>
                </a:solidFill>
                <a:latin typeface="Times New Roman" panose="02020603050405020304" pitchFamily="18" charset="0"/>
              </a:rPr>
              <a:t>Kleanthis Thramboulidis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i="0" kern="0" dirty="0">
                <a:latin typeface="Times New Roman" panose="02020603050405020304" pitchFamily="18" charset="0"/>
              </a:rPr>
              <a:t>Prof. of Software and System Engineering 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 kern="0" dirty="0">
                <a:latin typeface="Times New Roman" panose="02020603050405020304" pitchFamily="18" charset="0"/>
              </a:rPr>
              <a:t>University of Patras</a:t>
            </a:r>
            <a:r>
              <a:rPr lang="el-GR" altLang="el-GR" sz="1800" b="0" i="0" kern="0" dirty="0">
                <a:latin typeface="Times New Roman" panose="02020603050405020304" pitchFamily="18" charset="0"/>
              </a:rPr>
              <a:t> </a:t>
            </a:r>
            <a:endParaRPr lang="en-US" altLang="el-GR" sz="1800" b="0" i="0" kern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 dirty="0">
                <a:latin typeface="Times New Roman" panose="02020603050405020304" pitchFamily="18" charset="0"/>
                <a:hlinkClick r:id="rId3"/>
              </a:rPr>
              <a:t>https://sites.google.com/site/thramboulidiskleanthis/</a:t>
            </a:r>
            <a:endParaRPr lang="en-US" altLang="el-GR" sz="1600" b="0" i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l-GR" altLang="el-GR" sz="1800" kern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n-GB" altLang="el-GR" sz="1800" b="1" kern="0" dirty="0">
              <a:latin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36E0A-62C8-F25D-25D5-595B0B27A6B1}"/>
              </a:ext>
            </a:extLst>
          </p:cNvPr>
          <p:cNvSpPr txBox="1"/>
          <p:nvPr/>
        </p:nvSpPr>
        <p:spPr>
          <a:xfrm>
            <a:off x="0" y="1318086"/>
            <a:ext cx="1769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9853D"/>
                </a:solidFill>
                <a:latin typeface="Bahnschrift" panose="020B0502040204020203" pitchFamily="34" charset="0"/>
              </a:rPr>
              <a:t>(CEID_NNY106)</a:t>
            </a:r>
            <a:endParaRPr lang="el-GR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5F3EE9-A938-D663-D46A-160783F1F27F}"/>
              </a:ext>
            </a:extLst>
          </p:cNvPr>
          <p:cNvSpPr txBox="1"/>
          <p:nvPr/>
        </p:nvSpPr>
        <p:spPr>
          <a:xfrm>
            <a:off x="560303" y="2462259"/>
            <a:ext cx="1314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Κύρια Πηγή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71E6F-8AE9-B75E-1823-7991CADC8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123" y="2741663"/>
            <a:ext cx="1950889" cy="2819644"/>
          </a:xfrm>
          <a:prstGeom prst="rect">
            <a:avLst/>
          </a:prstGeom>
        </p:spPr>
      </p:pic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-4" y="1296692"/>
            <a:ext cx="7748956" cy="14633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60D69E"/>
                </a:solidFill>
                <a:latin typeface="Bahnschrift" panose="020B0502040204020203" pitchFamily="34" charset="0"/>
              </a:rPr>
              <a:t>Java Technology</a:t>
            </a:r>
            <a:endParaRPr lang="el-GR" sz="40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Introduction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3F1DF-97A8-0745-D06F-F345A61D9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8952" y="1249095"/>
            <a:ext cx="4443044" cy="50192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79DEFE-DA21-5B09-1975-D7FBC8EF7843}"/>
              </a:ext>
            </a:extLst>
          </p:cNvPr>
          <p:cNvSpPr/>
          <p:nvPr/>
        </p:nvSpPr>
        <p:spPr>
          <a:xfrm>
            <a:off x="239084" y="3913536"/>
            <a:ext cx="1950889" cy="3127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/>
              <a:t>Κεφάλαιο: 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3BE5D11-3734-C553-D78A-F819519CFA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345" y="3020926"/>
            <a:ext cx="3581710" cy="33530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8B08B8-2CBC-E7C9-78BD-BD3F91D098D6}"/>
              </a:ext>
            </a:extLst>
          </p:cNvPr>
          <p:cNvSpPr txBox="1"/>
          <p:nvPr/>
        </p:nvSpPr>
        <p:spPr>
          <a:xfrm>
            <a:off x="207406" y="4212331"/>
            <a:ext cx="968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3.1-3.5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6131CC-51AC-7772-5DFB-DAF535789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6" y="758816"/>
            <a:ext cx="10165491" cy="4686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Technology</a:t>
            </a: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Απλά Προγράμματα σε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Hello World! </a:t>
            </a: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Echo</a:t>
            </a: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Development Kit (JDK)</a:t>
            </a: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Virtual Machine (JVM)</a:t>
            </a:r>
          </a:p>
          <a:p>
            <a:pPr marL="914400" lvl="1" indent="-457200" eaLnBrk="1" hangingPunct="1">
              <a:defRPr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javac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</a:t>
            </a:r>
          </a:p>
          <a:p>
            <a:pPr marL="914400" lvl="1" indent="-457200" eaLnBrk="1" hangingPunct="1">
              <a:defRPr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javadoc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jar</a:t>
            </a:r>
          </a:p>
          <a:p>
            <a:pPr marL="914400" lvl="1" indent="-457200" eaLnBrk="1" hangingPunct="1">
              <a:defRPr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jdb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</p:spTree>
    <p:extLst>
      <p:ext uri="{BB962C8B-B14F-4D97-AF65-F5344CB8AC3E}">
        <p14:creationId xmlns:p14="http://schemas.microsoft.com/office/powerpoint/2010/main" val="173361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Java Technology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76D7275F-911A-0C36-EBBE-534ADA84CFE9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8614663-47B1-EE3E-AE8F-9569BC2B9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680" y="1085734"/>
            <a:ext cx="11332551" cy="4686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dirty="0">
                <a:solidFill>
                  <a:srgbClr val="000000"/>
                </a:solidFill>
                <a:latin typeface="Times New Roman" panose="02020603050405020304" pitchFamily="18" charset="0"/>
              </a:rPr>
              <a:t>Με </a:t>
            </a:r>
            <a:r>
              <a:rPr lang="el-GR" sz="3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τον όρο τεχνολογία </a:t>
            </a:r>
            <a:r>
              <a:rPr lang="el-GR" sz="32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Java</a:t>
            </a:r>
            <a:r>
              <a:rPr lang="el-GR" sz="3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αναφερόμαστε:</a:t>
            </a:r>
          </a:p>
          <a:p>
            <a:pPr marL="914400" lvl="1" indent="-457200" eaLnBrk="1" hangingPunct="1">
              <a:defRPr/>
            </a:pPr>
            <a:r>
              <a:rPr lang="el-GR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στη γλώσσα προγραμματισμού, και </a:t>
            </a:r>
          </a:p>
          <a:p>
            <a:pPr marL="914400" lvl="1" indent="-457200" eaLnBrk="1" hangingPunct="1">
              <a:defRPr/>
            </a:pPr>
            <a:r>
              <a:rPr lang="el-GR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στην πλατφόρμα λογισμικού που είναι η υποδομή για ανάπτυξη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l-GR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προγραμμάτων με χρήση της γλώσσας.</a:t>
            </a:r>
            <a:endParaRPr lang="en-US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514350" indent="-457200"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Java Development Kit (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JDK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914400" lvl="1" indent="-457200" eaLnBrk="1" hangingPunct="1">
              <a:defRPr/>
            </a:pPr>
            <a:r>
              <a:rPr 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Javac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O </a:t>
            </a:r>
            <a:r>
              <a:rPr lang="el-GR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μεταγλωττιστής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(compiler) </a:t>
            </a:r>
            <a:r>
              <a:rPr lang="el-GR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της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Java</a:t>
            </a:r>
          </a:p>
          <a:p>
            <a:pPr marL="914400" lvl="1" indent="-457200" eaLnBrk="1" hangingPunct="1">
              <a:defRPr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Java: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O </a:t>
            </a:r>
            <a:r>
              <a:rPr lang="el-GR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διερμηνευτής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(interpreter) </a:t>
            </a:r>
            <a:r>
              <a:rPr lang="el-GR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της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Java</a:t>
            </a:r>
          </a:p>
          <a:p>
            <a:pPr marL="914400" lvl="1" indent="-457200"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Java Runtime Environment (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JRE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ahoma" panose="020B0604030504040204" pitchFamily="34" charset="0"/>
              </a:rPr>
              <a:t>): Java Virtual Machine (JVM) + class libraries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15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Java Technology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76D7275F-911A-0C36-EBBE-534ADA84CFE9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7CBC47-C56B-B8FF-238F-A523B5371F0D}"/>
              </a:ext>
            </a:extLst>
          </p:cNvPr>
          <p:cNvSpPr/>
          <p:nvPr/>
        </p:nvSpPr>
        <p:spPr bwMode="auto">
          <a:xfrm>
            <a:off x="2369284" y="3987200"/>
            <a:ext cx="9682047" cy="1296987"/>
          </a:xfrm>
          <a:prstGeom prst="rect">
            <a:avLst/>
          </a:prstGeom>
          <a:solidFill>
            <a:srgbClr val="FFFFFF">
              <a:lumMod val="85000"/>
            </a:srgbClr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JDK</a:t>
            </a:r>
            <a:endParaRPr kumimoji="0" lang="el-GR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0B68F56-67AA-C8D7-6956-F7271CD21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9171" y="5644550"/>
            <a:ext cx="1800225" cy="863600"/>
          </a:xfrm>
          <a:prstGeom prst="rect">
            <a:avLst/>
          </a:prstGeom>
          <a:solidFill>
            <a:srgbClr val="00E4A8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Source Code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(.java)</a:t>
            </a: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67667104-F02E-C222-385A-CA5CD0AE1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571" y="4347562"/>
            <a:ext cx="1584325" cy="6477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Editor</a:t>
            </a: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D5B6F157-7314-328A-C550-8E8161B4F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0258" y="4563462"/>
            <a:ext cx="1584325" cy="649288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javac</a:t>
            </a: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543AD06A-BF19-D817-97AB-C504A1A25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0946" y="4563462"/>
            <a:ext cx="1584325" cy="649288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java</a:t>
            </a: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6D853A56-1220-0208-DA6E-2C1800A95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7709" y="5644550"/>
            <a:ext cx="1800225" cy="863600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</a:rPr>
              <a:t>Byte Code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</a:rPr>
              <a:t>(.class)</a:t>
            </a:r>
            <a:endParaRPr kumimoji="0" lang="el-GR" altLang="el-GR" sz="2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8ED1B87E-CEA4-309A-33AD-515248065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734" y="4563462"/>
            <a:ext cx="1584325" cy="649288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jdb</a:t>
            </a: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1E2D99FF-863A-A74F-234A-7DEF5C862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3446" y="4563462"/>
            <a:ext cx="1584325" cy="649288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…</a:t>
            </a: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cxnSp>
        <p:nvCxnSpPr>
          <p:cNvPr id="16" name="Straight Arrow Connector 13">
            <a:extLst>
              <a:ext uri="{FF2B5EF4-FFF2-40B4-BE49-F238E27FC236}">
                <a16:creationId xmlns:a16="http://schemas.microsoft.com/office/drawing/2014/main" id="{6F81AED6-686E-54EA-5D44-0D98B5F9792D}"/>
              </a:ext>
            </a:extLst>
          </p:cNvPr>
          <p:cNvCxnSpPr>
            <a:cxnSpLocks noChangeShapeType="1"/>
            <a:stCxn id="7" idx="2"/>
            <a:endCxn id="6" idx="0"/>
          </p:cNvCxnSpPr>
          <p:nvPr/>
        </p:nvCxnSpPr>
        <p:spPr bwMode="auto">
          <a:xfrm>
            <a:off x="1397734" y="4995262"/>
            <a:ext cx="971550" cy="6492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Arrow Connector 15">
            <a:extLst>
              <a:ext uri="{FF2B5EF4-FFF2-40B4-BE49-F238E27FC236}">
                <a16:creationId xmlns:a16="http://schemas.microsoft.com/office/drawing/2014/main" id="{B2CB3DB4-9E54-C63A-E1F5-9D39432D5498}"/>
              </a:ext>
            </a:extLst>
          </p:cNvPr>
          <p:cNvCxnSpPr>
            <a:cxnSpLocks noChangeShapeType="1"/>
            <a:stCxn id="6" idx="0"/>
            <a:endCxn id="9" idx="2"/>
          </p:cNvCxnSpPr>
          <p:nvPr/>
        </p:nvCxnSpPr>
        <p:spPr bwMode="auto">
          <a:xfrm flipV="1">
            <a:off x="2369284" y="5212750"/>
            <a:ext cx="973137" cy="4318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44B03C-08F2-37D4-A5F4-F72339DAB2BC}"/>
              </a:ext>
            </a:extLst>
          </p:cNvPr>
          <p:cNvCxnSpPr>
            <a:cxnSpLocks noChangeShapeType="1"/>
            <a:stCxn id="9" idx="2"/>
            <a:endCxn id="13" idx="0"/>
          </p:cNvCxnSpPr>
          <p:nvPr/>
        </p:nvCxnSpPr>
        <p:spPr bwMode="auto">
          <a:xfrm>
            <a:off x="3342421" y="5212750"/>
            <a:ext cx="1295401" cy="4318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Arrow Connector 20">
            <a:extLst>
              <a:ext uri="{FF2B5EF4-FFF2-40B4-BE49-F238E27FC236}">
                <a16:creationId xmlns:a16="http://schemas.microsoft.com/office/drawing/2014/main" id="{3C502A53-5F33-0520-AF85-D23236EFFE35}"/>
              </a:ext>
            </a:extLst>
          </p:cNvPr>
          <p:cNvCxnSpPr>
            <a:cxnSpLocks noChangeShapeType="1"/>
            <a:stCxn id="13" idx="0"/>
            <a:endCxn id="12" idx="2"/>
          </p:cNvCxnSpPr>
          <p:nvPr/>
        </p:nvCxnSpPr>
        <p:spPr bwMode="auto">
          <a:xfrm flipV="1">
            <a:off x="4637821" y="5212750"/>
            <a:ext cx="395288" cy="4318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" name="Picture 4">
            <a:extLst>
              <a:ext uri="{FF2B5EF4-FFF2-40B4-BE49-F238E27FC236}">
                <a16:creationId xmlns:a16="http://schemas.microsoft.com/office/drawing/2014/main" id="{6BD3E309-056A-2212-029E-40A1DAF26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7" y="2524664"/>
            <a:ext cx="1296987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Arrow Connector 25">
            <a:extLst>
              <a:ext uri="{FF2B5EF4-FFF2-40B4-BE49-F238E27FC236}">
                <a16:creationId xmlns:a16="http://schemas.microsoft.com/office/drawing/2014/main" id="{590EBF66-0194-EC17-63E9-452F7492C2A9}"/>
              </a:ext>
            </a:extLst>
          </p:cNvPr>
          <p:cNvCxnSpPr>
            <a:cxnSpLocks noChangeShapeType="1"/>
            <a:endCxn id="7" idx="0"/>
          </p:cNvCxnSpPr>
          <p:nvPr/>
        </p:nvCxnSpPr>
        <p:spPr bwMode="auto">
          <a:xfrm>
            <a:off x="1037371" y="3699862"/>
            <a:ext cx="360362" cy="6477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Arrow Connector 27">
            <a:extLst>
              <a:ext uri="{FF2B5EF4-FFF2-40B4-BE49-F238E27FC236}">
                <a16:creationId xmlns:a16="http://schemas.microsoft.com/office/drawing/2014/main" id="{1BFCF35F-1DFD-FED6-DCEF-6C392144BE15}"/>
              </a:ext>
            </a:extLst>
          </p:cNvPr>
          <p:cNvCxnSpPr>
            <a:cxnSpLocks noChangeShapeType="1"/>
            <a:endCxn id="9" idx="0"/>
          </p:cNvCxnSpPr>
          <p:nvPr/>
        </p:nvCxnSpPr>
        <p:spPr bwMode="auto">
          <a:xfrm>
            <a:off x="1326296" y="3628425"/>
            <a:ext cx="2016125" cy="9350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29">
            <a:extLst>
              <a:ext uri="{FF2B5EF4-FFF2-40B4-BE49-F238E27FC236}">
                <a16:creationId xmlns:a16="http://schemas.microsoft.com/office/drawing/2014/main" id="{08EF8C34-2B9D-03B9-E5D9-D1A1539F8C84}"/>
              </a:ext>
            </a:extLst>
          </p:cNvPr>
          <p:cNvCxnSpPr>
            <a:cxnSpLocks noChangeShapeType="1"/>
            <a:endCxn id="12" idx="0"/>
          </p:cNvCxnSpPr>
          <p:nvPr/>
        </p:nvCxnSpPr>
        <p:spPr bwMode="auto">
          <a:xfrm>
            <a:off x="1793021" y="3699862"/>
            <a:ext cx="3240088" cy="8636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Arrow Connector 31">
            <a:extLst>
              <a:ext uri="{FF2B5EF4-FFF2-40B4-BE49-F238E27FC236}">
                <a16:creationId xmlns:a16="http://schemas.microsoft.com/office/drawing/2014/main" id="{FF3B5888-4A82-BA9A-072E-ABE138F77D45}"/>
              </a:ext>
            </a:extLst>
          </p:cNvPr>
          <p:cNvCxnSpPr>
            <a:cxnSpLocks noChangeShapeType="1"/>
            <a:endCxn id="14" idx="0"/>
          </p:cNvCxnSpPr>
          <p:nvPr/>
        </p:nvCxnSpPr>
        <p:spPr bwMode="auto">
          <a:xfrm>
            <a:off x="1505684" y="3412525"/>
            <a:ext cx="5256212" cy="11509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5" name="Picture 5">
            <a:extLst>
              <a:ext uri="{FF2B5EF4-FFF2-40B4-BE49-F238E27FC236}">
                <a16:creationId xmlns:a16="http://schemas.microsoft.com/office/drawing/2014/main" id="{F4271AB4-F5F7-0C87-14A4-6BC302F36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934" y="993175"/>
            <a:ext cx="1222375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6">
            <a:extLst>
              <a:ext uri="{FF2B5EF4-FFF2-40B4-BE49-F238E27FC236}">
                <a16:creationId xmlns:a16="http://schemas.microsoft.com/office/drawing/2014/main" id="{14DD1CC6-0BCB-2DCE-1DEC-03869F8DC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621" y="1240825"/>
            <a:ext cx="4714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7" name="Straight Arrow Connector 36">
            <a:extLst>
              <a:ext uri="{FF2B5EF4-FFF2-40B4-BE49-F238E27FC236}">
                <a16:creationId xmlns:a16="http://schemas.microsoft.com/office/drawing/2014/main" id="{9EB78BCF-8820-9B48-901F-3B19D2E6F97D}"/>
              </a:ext>
            </a:extLst>
          </p:cNvPr>
          <p:cNvCxnSpPr>
            <a:cxnSpLocks noChangeShapeType="1"/>
            <a:endCxn id="41" idx="1"/>
          </p:cNvCxnSpPr>
          <p:nvPr/>
        </p:nvCxnSpPr>
        <p:spPr bwMode="auto">
          <a:xfrm flipV="1">
            <a:off x="1512034" y="2681109"/>
            <a:ext cx="2129937" cy="45360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8" name="Picture 7">
            <a:extLst>
              <a:ext uri="{FF2B5EF4-FFF2-40B4-BE49-F238E27FC236}">
                <a16:creationId xmlns:a16="http://schemas.microsoft.com/office/drawing/2014/main" id="{AEF1EF15-D3A4-5A75-2C84-1F06B2341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971" y="3015278"/>
            <a:ext cx="135255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Straight Arrow Connector 42">
            <a:extLst>
              <a:ext uri="{FF2B5EF4-FFF2-40B4-BE49-F238E27FC236}">
                <a16:creationId xmlns:a16="http://schemas.microsoft.com/office/drawing/2014/main" id="{E701DB12-BCB9-8ADE-6AEF-1BFD392DECC2}"/>
              </a:ext>
            </a:extLst>
          </p:cNvPr>
          <p:cNvCxnSpPr>
            <a:cxnSpLocks noChangeShapeType="1"/>
            <a:stCxn id="20" idx="3"/>
            <a:endCxn id="28" idx="1"/>
          </p:cNvCxnSpPr>
          <p:nvPr/>
        </p:nvCxnSpPr>
        <p:spPr bwMode="auto">
          <a:xfrm>
            <a:off x="1362014" y="3112039"/>
            <a:ext cx="3041957" cy="22232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TextBox 44">
            <a:extLst>
              <a:ext uri="{FF2B5EF4-FFF2-40B4-BE49-F238E27FC236}">
                <a16:creationId xmlns:a16="http://schemas.microsoft.com/office/drawing/2014/main" id="{7F48EE68-9C2D-FC52-32B6-AAF9E1C0C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4571" y="2462028"/>
            <a:ext cx="4826000" cy="144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100" dirty="0">
                <a:solidFill>
                  <a:srgbClr val="000000"/>
                </a:solidFill>
                <a:latin typeface="Tahoma" panose="020B0604030504040204" pitchFamily="34" charset="0"/>
              </a:rPr>
              <a:t>- a multi-language Integrated development environment (IDE) comprising a base workspace and an extensible plug-in system for customizing the environment.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100" dirty="0">
                <a:solidFill>
                  <a:srgbClr val="000000"/>
                </a:solidFill>
                <a:latin typeface="Tahoma" panose="020B0604030504040204" pitchFamily="34" charset="0"/>
              </a:rPr>
              <a:t>- is written mostly in Java.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100" dirty="0">
                <a:solidFill>
                  <a:srgbClr val="000000"/>
                </a:solidFill>
                <a:latin typeface="Tahoma" panose="020B0604030504040204" pitchFamily="34" charset="0"/>
              </a:rPr>
              <a:t>- </a:t>
            </a:r>
            <a:r>
              <a:rPr lang="en-GB" sz="1050" dirty="0">
                <a:solidFill>
                  <a:srgbClr val="000000"/>
                </a:solidFill>
                <a:latin typeface="Tahoma" panose="020B0604030504040204" pitchFamily="34" charset="0"/>
              </a:rPr>
              <a:t>can be used to develop applications in Java and, by means of various plug-ins, other programming languages including </a:t>
            </a:r>
            <a:r>
              <a:rPr lang="en-GB" sz="1050" dirty="0" err="1">
                <a:solidFill>
                  <a:srgbClr val="000000"/>
                </a:solidFill>
                <a:latin typeface="Tahoma" panose="020B0604030504040204" pitchFamily="34" charset="0"/>
              </a:rPr>
              <a:t>Ada</a:t>
            </a:r>
            <a:r>
              <a:rPr lang="en-GB" sz="1050" dirty="0">
                <a:solidFill>
                  <a:srgbClr val="000000"/>
                </a:solidFill>
                <a:latin typeface="Tahoma" panose="020B0604030504040204" pitchFamily="34" charset="0"/>
              </a:rPr>
              <a:t>, C, C++, COBOL, Fortran, Haskell, JavaScript, Perl, PHP, Python, R, Ruby (including Ruby on Rails framework), </a:t>
            </a:r>
            <a:r>
              <a:rPr lang="en-GB" sz="1050" dirty="0" err="1">
                <a:solidFill>
                  <a:srgbClr val="000000"/>
                </a:solidFill>
                <a:latin typeface="Tahoma" panose="020B0604030504040204" pitchFamily="34" charset="0"/>
              </a:rPr>
              <a:t>Scala</a:t>
            </a:r>
            <a:r>
              <a:rPr lang="en-GB" sz="1050" dirty="0">
                <a:solidFill>
                  <a:srgbClr val="000000"/>
                </a:solidFill>
                <a:latin typeface="Tahoma" panose="020B0604030504040204" pitchFamily="34" charset="0"/>
              </a:rPr>
              <a:t>, </a:t>
            </a:r>
            <a:r>
              <a:rPr lang="en-GB" sz="1050" dirty="0" err="1">
                <a:solidFill>
                  <a:srgbClr val="000000"/>
                </a:solidFill>
                <a:latin typeface="Tahoma" panose="020B0604030504040204" pitchFamily="34" charset="0"/>
              </a:rPr>
              <a:t>Clojure</a:t>
            </a:r>
            <a:r>
              <a:rPr lang="en-GB" sz="1050" dirty="0">
                <a:solidFill>
                  <a:srgbClr val="000000"/>
                </a:solidFill>
                <a:latin typeface="Tahoma" panose="020B0604030504040204" pitchFamily="34" charset="0"/>
              </a:rPr>
              <a:t>, Groovy, Scheme, and </a:t>
            </a:r>
            <a:r>
              <a:rPr lang="en-GB" sz="1050" dirty="0" err="1">
                <a:solidFill>
                  <a:srgbClr val="000000"/>
                </a:solidFill>
                <a:latin typeface="Tahoma" panose="020B0604030504040204" pitchFamily="34" charset="0"/>
              </a:rPr>
              <a:t>Erlang</a:t>
            </a:r>
            <a:r>
              <a:rPr lang="en-GB" sz="1050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  <a:endParaRPr lang="el-GR" sz="11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cxnSp>
        <p:nvCxnSpPr>
          <p:cNvPr id="31" name="Straight Connector 46">
            <a:extLst>
              <a:ext uri="{FF2B5EF4-FFF2-40B4-BE49-F238E27FC236}">
                <a16:creationId xmlns:a16="http://schemas.microsoft.com/office/drawing/2014/main" id="{EC9B1ED9-B928-67AB-F1D8-490BB47DE0B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756521" y="2582306"/>
            <a:ext cx="908050" cy="438922"/>
          </a:xfrm>
          <a:prstGeom prst="line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Straight Connector 48">
            <a:extLst>
              <a:ext uri="{FF2B5EF4-FFF2-40B4-BE49-F238E27FC236}">
                <a16:creationId xmlns:a16="http://schemas.microsoft.com/office/drawing/2014/main" id="{61D22F68-1123-39FC-2890-80F98953D33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27946" y="3648103"/>
            <a:ext cx="1033950" cy="157472"/>
          </a:xfrm>
          <a:prstGeom prst="line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3" name="Picture 8">
            <a:extLst>
              <a:ext uri="{FF2B5EF4-FFF2-40B4-BE49-F238E27FC236}">
                <a16:creationId xmlns:a16="http://schemas.microsoft.com/office/drawing/2014/main" id="{2418AC69-F88C-CF30-C3C6-2958E9DED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21" y="1251937"/>
            <a:ext cx="18415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4" name="Straight Arrow Connector 52">
            <a:extLst>
              <a:ext uri="{FF2B5EF4-FFF2-40B4-BE49-F238E27FC236}">
                <a16:creationId xmlns:a16="http://schemas.microsoft.com/office/drawing/2014/main" id="{E97CC3BA-9FDD-54A4-0D1A-D248925A0B8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29421" y="1828200"/>
            <a:ext cx="73025" cy="8636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5" name="Group 33">
            <a:extLst>
              <a:ext uri="{FF2B5EF4-FFF2-40B4-BE49-F238E27FC236}">
                <a16:creationId xmlns:a16="http://schemas.microsoft.com/office/drawing/2014/main" id="{5B5BEB62-8144-A72D-9EDF-0F96B3644C37}"/>
              </a:ext>
            </a:extLst>
          </p:cNvPr>
          <p:cNvGrpSpPr>
            <a:grpSpLocks/>
          </p:cNvGrpSpPr>
          <p:nvPr/>
        </p:nvGrpSpPr>
        <p:grpSpPr bwMode="auto">
          <a:xfrm>
            <a:off x="3305909" y="270862"/>
            <a:ext cx="4067175" cy="896938"/>
            <a:chOff x="2699792" y="404664"/>
            <a:chExt cx="4067944" cy="897632"/>
          </a:xfrm>
        </p:grpSpPr>
        <p:pic>
          <p:nvPicPr>
            <p:cNvPr id="36" name="Picture 30">
              <a:extLst>
                <a:ext uri="{FF2B5EF4-FFF2-40B4-BE49-F238E27FC236}">
                  <a16:creationId xmlns:a16="http://schemas.microsoft.com/office/drawing/2014/main" id="{B2D232F7-1E20-6F8A-1DE7-6751F1FEAC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52120" y="404664"/>
              <a:ext cx="1115616" cy="890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31">
              <a:extLst>
                <a:ext uri="{FF2B5EF4-FFF2-40B4-BE49-F238E27FC236}">
                  <a16:creationId xmlns:a16="http://schemas.microsoft.com/office/drawing/2014/main" id="{23A9C398-4487-BEF8-6EE1-8D67A53764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9792" y="692696"/>
              <a:ext cx="3019425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8" name="Group 40">
            <a:extLst>
              <a:ext uri="{FF2B5EF4-FFF2-40B4-BE49-F238E27FC236}">
                <a16:creationId xmlns:a16="http://schemas.microsoft.com/office/drawing/2014/main" id="{AADDACFC-676C-6DD3-C078-44EC6FC9CF0B}"/>
              </a:ext>
            </a:extLst>
          </p:cNvPr>
          <p:cNvGrpSpPr>
            <a:grpSpLocks/>
          </p:cNvGrpSpPr>
          <p:nvPr/>
        </p:nvGrpSpPr>
        <p:grpSpPr bwMode="auto">
          <a:xfrm>
            <a:off x="4025046" y="1755175"/>
            <a:ext cx="5329238" cy="600075"/>
            <a:chOff x="3635896" y="1484784"/>
            <a:chExt cx="5328592" cy="600164"/>
          </a:xfrm>
        </p:grpSpPr>
        <p:pic>
          <p:nvPicPr>
            <p:cNvPr id="39" name="Picture 34">
              <a:extLst>
                <a:ext uri="{FF2B5EF4-FFF2-40B4-BE49-F238E27FC236}">
                  <a16:creationId xmlns:a16="http://schemas.microsoft.com/office/drawing/2014/main" id="{1152176E-44B5-6D10-109E-4F35671972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5896" y="1700808"/>
              <a:ext cx="1952625" cy="333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66A49E1-19C1-D3A8-F582-4338FDD6F3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0112" y="1484784"/>
              <a:ext cx="3384376" cy="60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Oracle JDeveloper is a free integrated development environment that simplifies the development of Java-based SOA and Java EE applications.</a:t>
              </a:r>
              <a:endParaRPr kumimoji="0" lang="el-GR" altLang="el-G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pic>
        <p:nvPicPr>
          <p:cNvPr id="41" name="Picture 3">
            <a:extLst>
              <a:ext uri="{FF2B5EF4-FFF2-40B4-BE49-F238E27FC236}">
                <a16:creationId xmlns:a16="http://schemas.microsoft.com/office/drawing/2014/main" id="{97FB4445-FC57-AC13-2300-652CF2C4FD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971" y="2490609"/>
            <a:ext cx="1828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2" name="Straight Arrow Connector 36">
            <a:extLst>
              <a:ext uri="{FF2B5EF4-FFF2-40B4-BE49-F238E27FC236}">
                <a16:creationId xmlns:a16="http://schemas.microsoft.com/office/drawing/2014/main" id="{F3FC6BF6-3E2C-AD83-582D-63E11D72B16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404084" y="1774225"/>
            <a:ext cx="2044700" cy="12588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Arrow Connector 36">
            <a:extLst>
              <a:ext uri="{FF2B5EF4-FFF2-40B4-BE49-F238E27FC236}">
                <a16:creationId xmlns:a16="http://schemas.microsoft.com/office/drawing/2014/main" id="{459D7EB2-4F95-B70A-74FA-AECC51AEFCC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145321" y="1178912"/>
            <a:ext cx="2303463" cy="16573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9B6AB43-0938-2132-E2CB-3FC0D907F6B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505684" y="2260000"/>
            <a:ext cx="2519362" cy="79216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Rounded Rectangle 11">
            <a:extLst>
              <a:ext uri="{FF2B5EF4-FFF2-40B4-BE49-F238E27FC236}">
                <a16:creationId xmlns:a16="http://schemas.microsoft.com/office/drawing/2014/main" id="{BAD2B3CE-A00D-0862-7886-0559D5F0A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0053" y="4533920"/>
            <a:ext cx="1584325" cy="649288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l-GR" sz="2400" kern="0" dirty="0">
                <a:solidFill>
                  <a:srgbClr val="000000"/>
                </a:solidFill>
              </a:rPr>
              <a:t>JRE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601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5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8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2" grpId="0" animBg="1"/>
      <p:bldP spid="13" grpId="0" animBg="1"/>
      <p:bldP spid="14" grpId="0" animBg="1"/>
      <p:bldP spid="15" grpId="0" animBg="1"/>
      <p:bldP spid="30" grpId="0"/>
      <p:bldP spid="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6131CC-51AC-7772-5DFB-DAF535789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6" y="758816"/>
            <a:ext cx="10165491" cy="4686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Technology</a:t>
            </a: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Απλά Προγράμματα σε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</a:t>
            </a:r>
            <a:endParaRPr lang="el-GR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Hello World! </a:t>
            </a:r>
          </a:p>
          <a:p>
            <a:pPr marL="914400" lvl="1" indent="-457200" eaLnBrk="1" hangingPunct="1">
              <a:defRPr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Echo</a:t>
            </a: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Development Kit (JDK)</a:t>
            </a: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Virtual Machine (JVM)</a:t>
            </a:r>
          </a:p>
          <a:p>
            <a:pPr marL="914400" lvl="1" indent="-457200" eaLnBrk="1" hangingPunct="1">
              <a:defRPr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javac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</a:t>
            </a:r>
          </a:p>
          <a:p>
            <a:pPr marL="914400" lvl="1" indent="-457200" eaLnBrk="1" hangingPunct="1">
              <a:defRPr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javadoc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jar</a:t>
            </a:r>
          </a:p>
          <a:p>
            <a:pPr marL="914400" lvl="1" indent="-457200" eaLnBrk="1" hangingPunct="1">
              <a:defRPr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jdb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</p:spTree>
    <p:extLst>
      <p:ext uri="{BB962C8B-B14F-4D97-AF65-F5344CB8AC3E}">
        <p14:creationId xmlns:p14="http://schemas.microsoft.com/office/powerpoint/2010/main" val="388641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Hello World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σε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Java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91A60A-5782-7888-248A-E1A89411C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366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/****************************************************************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* File name : </a:t>
            </a:r>
            <a:r>
              <a:rPr kumimoji="0" lang="en-US" altLang="el-G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HelloWorld.java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* Compile with </a:t>
            </a:r>
            <a:r>
              <a:rPr kumimoji="0" lang="en-US" altLang="el-G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javac</a:t>
            </a: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	</a:t>
            </a:r>
            <a:r>
              <a:rPr kumimoji="0" lang="en-US" altLang="el-G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javac</a:t>
            </a: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HelloWorld.java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* Execute with java: 	java HelloWorld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*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* </a:t>
            </a:r>
            <a:r>
              <a:rPr kumimoji="0" lang="en-US" altLang="el-GR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Developer’s Comments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* The HelloWorld class implements an application that simply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* displays "Hello World!" to the standard output.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****************************************************************/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US" altLang="el-GR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class 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HelloWorld {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US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static void </a:t>
            </a:r>
            <a:r>
              <a:rPr kumimoji="0" lang="en-US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main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(String[] 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args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{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System.out.println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("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Hello, World!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");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}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US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}</a:t>
            </a:r>
            <a:endParaRPr kumimoji="0" lang="el-GR" alt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045D0AEB-ABB5-E180-8A58-D6C1F1B0F637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533EB9-432A-8169-BB83-7CE468CEDA15}"/>
              </a:ext>
            </a:extLst>
          </p:cNvPr>
          <p:cNvSpPr/>
          <p:nvPr/>
        </p:nvSpPr>
        <p:spPr>
          <a:xfrm>
            <a:off x="7799294" y="2672709"/>
            <a:ext cx="4392705" cy="133658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l-GR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Δραστηριότητα </a:t>
            </a:r>
            <a:r>
              <a:rPr lang="en-US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3.2</a:t>
            </a:r>
            <a:r>
              <a:rPr lang="el-GR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800" b="1" i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l-GR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Το πρόγραμμα </a:t>
            </a:r>
            <a:r>
              <a:rPr lang="en-US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HelloWorld</a:t>
            </a:r>
            <a:endParaRPr lang="el-GR" sz="2800" b="1" i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57A258-E13C-BF57-C870-68ECBF4A2405}"/>
              </a:ext>
            </a:extLst>
          </p:cNvPr>
          <p:cNvSpPr txBox="1"/>
          <p:nvPr/>
        </p:nvSpPr>
        <p:spPr>
          <a:xfrm>
            <a:off x="7799294" y="4009293"/>
            <a:ext cx="43927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Αναπτύξτε ένα πρόγραμμα σε </a:t>
            </a:r>
            <a:r>
              <a:rPr lang="el-GR" sz="2000" b="0" i="1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Java</a:t>
            </a:r>
            <a:r>
              <a:rPr lang="el-GR" sz="20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που θα τυπώνει στην οθόνη τη φράση «</a:t>
            </a:r>
            <a:r>
              <a:rPr lang="el-GR" sz="2000" b="0" i="1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Hello</a:t>
            </a:r>
            <a:endParaRPr lang="el-GR" sz="2000" b="0" i="1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l-GR" sz="20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World!».</a:t>
            </a:r>
            <a:endParaRPr lang="el-GR" sz="2000" dirty="0"/>
          </a:p>
        </p:txBody>
      </p:sp>
    </p:spTree>
    <p:extLst>
      <p:ext uri="{BB962C8B-B14F-4D97-AF65-F5344CB8AC3E}">
        <p14:creationId xmlns:p14="http://schemas.microsoft.com/office/powerpoint/2010/main" val="411720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Echo example program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045D0AEB-ABB5-E180-8A58-D6C1F1B0F637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05F68E-4760-83A1-9BEE-271E5268C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19331"/>
            <a:ext cx="9161903" cy="58221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394170-78E1-66DB-AC66-38BB875E4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25" y="3304941"/>
            <a:ext cx="3030098" cy="20080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04178A-A91E-9136-050A-E602EEB136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9839" y="4996291"/>
            <a:ext cx="3596952" cy="152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6131CC-51AC-7772-5DFB-DAF535789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6" y="758816"/>
            <a:ext cx="10165491" cy="4686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Technology</a:t>
            </a: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Απλά Προγράμματα σε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Hello World! </a:t>
            </a: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Echo</a:t>
            </a: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Development Kit (JDK)</a:t>
            </a:r>
          </a:p>
          <a:p>
            <a:pPr marL="914400" lvl="1" indent="-457200" eaLnBrk="1" hangingPunct="1">
              <a:defRPr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Virtual Machine (JVM)</a:t>
            </a:r>
          </a:p>
          <a:p>
            <a:pPr marL="914400" lvl="1" indent="-457200" eaLnBrk="1" hangingPunct="1">
              <a:defRPr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javac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</a:t>
            </a:r>
          </a:p>
          <a:p>
            <a:pPr marL="914400" lvl="1" indent="-457200" eaLnBrk="1" hangingPunct="1">
              <a:defRPr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javadoc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jar</a:t>
            </a:r>
          </a:p>
          <a:p>
            <a:pPr marL="914400" lvl="1" indent="-457200" eaLnBrk="1" hangingPunct="1">
              <a:defRPr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jdb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</p:spTree>
    <p:extLst>
      <p:ext uri="{BB962C8B-B14F-4D97-AF65-F5344CB8AC3E}">
        <p14:creationId xmlns:p14="http://schemas.microsoft.com/office/powerpoint/2010/main" val="241463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Java Development Kit (JDK)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DE1D3CBE-0755-46FB-653C-E2AD642941DD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85871A-D5E6-FC63-B85B-4FA29176B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08" y="1034748"/>
            <a:ext cx="11949023" cy="47885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A75228-81BA-E113-661E-87A5060065A4}"/>
              </a:ext>
            </a:extLst>
          </p:cNvPr>
          <p:cNvSpPr txBox="1"/>
          <p:nvPr/>
        </p:nvSpPr>
        <p:spPr>
          <a:xfrm>
            <a:off x="10464282" y="6138669"/>
            <a:ext cx="1727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Πηγή: </a:t>
            </a:r>
            <a:r>
              <a:rPr lang="en-US" dirty="0"/>
              <a:t>Wikipedia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51354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Java Development Kit (JDK)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DE1D3CBE-0755-46FB-653C-E2AD642941DD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A2844A3-26C6-3C31-C5E4-14170F222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4574"/>
            <a:ext cx="10996246" cy="5118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D9E8817A-F105-D2F5-8DA1-569376A50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65850"/>
            <a:ext cx="1292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l-G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Forbes</a:t>
            </a:r>
            <a:endParaRPr lang="el-GR" altLang="el-GR" sz="14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32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5873211-75CD-CCA7-25AC-B93A329A1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44438"/>
            <a:ext cx="8135815" cy="5797216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JDK Tools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DE1D3CBE-0755-46FB-653C-E2AD642941DD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557D8A5-5D36-6A65-4B1B-5F1F0F5D5AC0}"/>
              </a:ext>
            </a:extLst>
          </p:cNvPr>
          <p:cNvCxnSpPr>
            <a:cxnSpLocks/>
          </p:cNvCxnSpPr>
          <p:nvPr/>
        </p:nvCxnSpPr>
        <p:spPr>
          <a:xfrm flipH="1">
            <a:off x="1500554" y="2848708"/>
            <a:ext cx="691661" cy="4103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FD078FD-B4A4-3FE5-38A1-846BF02392BE}"/>
              </a:ext>
            </a:extLst>
          </p:cNvPr>
          <p:cNvCxnSpPr>
            <a:cxnSpLocks/>
          </p:cNvCxnSpPr>
          <p:nvPr/>
        </p:nvCxnSpPr>
        <p:spPr>
          <a:xfrm flipH="1">
            <a:off x="1500554" y="3598986"/>
            <a:ext cx="691661" cy="4103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CE5543-F106-A481-A884-20F87A352604}"/>
              </a:ext>
            </a:extLst>
          </p:cNvPr>
          <p:cNvCxnSpPr>
            <a:cxnSpLocks/>
          </p:cNvCxnSpPr>
          <p:nvPr/>
        </p:nvCxnSpPr>
        <p:spPr>
          <a:xfrm flipH="1">
            <a:off x="1622561" y="4072225"/>
            <a:ext cx="691661" cy="4103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1B6DE0-60E0-A87C-5119-A2BE23157460}"/>
              </a:ext>
            </a:extLst>
          </p:cNvPr>
          <p:cNvCxnSpPr>
            <a:cxnSpLocks/>
          </p:cNvCxnSpPr>
          <p:nvPr/>
        </p:nvCxnSpPr>
        <p:spPr>
          <a:xfrm flipH="1">
            <a:off x="1774961" y="4340310"/>
            <a:ext cx="691661" cy="4103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DEBA2B-C977-FC43-EF67-0A13823FE8E6}"/>
              </a:ext>
            </a:extLst>
          </p:cNvPr>
          <p:cNvCxnSpPr>
            <a:cxnSpLocks/>
          </p:cNvCxnSpPr>
          <p:nvPr/>
        </p:nvCxnSpPr>
        <p:spPr>
          <a:xfrm flipH="1">
            <a:off x="1504244" y="5964191"/>
            <a:ext cx="691661" cy="4103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158AD2B-1B99-6AC8-8246-F09A99F97E48}"/>
              </a:ext>
            </a:extLst>
          </p:cNvPr>
          <p:cNvSpPr/>
          <p:nvPr/>
        </p:nvSpPr>
        <p:spPr>
          <a:xfrm>
            <a:off x="1500553" y="2400227"/>
            <a:ext cx="3927231" cy="385548"/>
          </a:xfrm>
          <a:prstGeom prst="rect">
            <a:avLst/>
          </a:prstGeom>
          <a:solidFill>
            <a:schemeClr val="bg1">
              <a:alpha val="6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21A9E5-8C26-1BA1-54B1-09178693697A}"/>
              </a:ext>
            </a:extLst>
          </p:cNvPr>
          <p:cNvSpPr/>
          <p:nvPr/>
        </p:nvSpPr>
        <p:spPr>
          <a:xfrm>
            <a:off x="8135813" y="2672709"/>
            <a:ext cx="4056186" cy="133658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l-GR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Δραστηριότητα </a:t>
            </a:r>
            <a:r>
              <a:rPr lang="en-US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3.1</a:t>
            </a:r>
            <a:r>
              <a:rPr lang="el-GR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800" b="1" i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l-GR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Εγκατάσταση του J</a:t>
            </a:r>
            <a:r>
              <a:rPr lang="en-US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DK</a:t>
            </a:r>
            <a:r>
              <a:rPr lang="el-GR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7C12D-82F4-CF3C-56B1-28BED7E5015E}"/>
              </a:ext>
            </a:extLst>
          </p:cNvPr>
          <p:cNvSpPr txBox="1"/>
          <p:nvPr/>
        </p:nvSpPr>
        <p:spPr>
          <a:xfrm>
            <a:off x="8136777" y="4048778"/>
            <a:ext cx="40561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Κατεβάστε1 και εγκαταστήστε στον υπολογιστή σας το </a:t>
            </a:r>
            <a:r>
              <a:rPr lang="el-GR" sz="2000" b="0" i="1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Java</a:t>
            </a:r>
            <a:r>
              <a:rPr lang="el-GR" sz="20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Development </a:t>
            </a:r>
            <a:r>
              <a:rPr lang="el-GR" sz="2000" b="0" i="1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Kit</a:t>
            </a:r>
            <a:r>
              <a:rPr lang="el-GR" sz="20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(JDK). </a:t>
            </a:r>
            <a:endParaRPr lang="el-GR" sz="2000" dirty="0"/>
          </a:p>
        </p:txBody>
      </p:sp>
    </p:spTree>
    <p:extLst>
      <p:ext uri="{BB962C8B-B14F-4D97-AF65-F5344CB8AC3E}">
        <p14:creationId xmlns:p14="http://schemas.microsoft.com/office/powerpoint/2010/main" val="2702491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javac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DE1D3CBE-0755-46FB-653C-E2AD642941DD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017E7A49-052F-3028-9422-9B6D2A492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87523"/>
            <a:ext cx="12056947" cy="2493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The 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 programming language compiler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5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The </a:t>
            </a:r>
            <a:r>
              <a:rPr kumimoji="0" lang="en-US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javac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tool reads class and interface definitions, written in the Java programming language, and compiles them into bytecode class files.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			</a:t>
            </a:r>
            <a:r>
              <a:rPr kumimoji="0" lang="en-US" altLang="el-GR" sz="28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javac</a:t>
            </a: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HelloWorld.java</a:t>
            </a:r>
            <a:endParaRPr kumimoji="0" lang="en-US" altLang="el-GR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endParaRPr kumimoji="0" lang="el-GR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1C2FF1F-8ABB-0F37-1DF0-FDB3C6DF3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258" y="5619183"/>
            <a:ext cx="1800225" cy="863600"/>
          </a:xfrm>
          <a:prstGeom prst="rect">
            <a:avLst/>
          </a:prstGeom>
          <a:solidFill>
            <a:srgbClr val="00E4A8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Source Code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(.java)</a:t>
            </a: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8597BE51-F7A9-9A36-C096-3922E4D4D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771" y="4373428"/>
            <a:ext cx="1584325" cy="6477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Editor</a:t>
            </a: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4784061-986D-6075-1E59-B2AA95020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64" y="4363302"/>
            <a:ext cx="1584325" cy="649288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javac</a:t>
            </a: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8D65A9-44B5-C2B4-FAC2-E05C8E3DE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0258" y="5628117"/>
            <a:ext cx="1800225" cy="863600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</a:rPr>
              <a:t>Byte Code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</a:rPr>
              <a:t>(.class)</a:t>
            </a:r>
            <a:endParaRPr kumimoji="0" lang="el-GR" altLang="el-GR" sz="2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cxnSp>
        <p:nvCxnSpPr>
          <p:cNvPr id="12" name="Straight Arrow Connector 13">
            <a:extLst>
              <a:ext uri="{FF2B5EF4-FFF2-40B4-BE49-F238E27FC236}">
                <a16:creationId xmlns:a16="http://schemas.microsoft.com/office/drawing/2014/main" id="{09FF7C33-B14E-59B1-1360-6EEA3C3B5A3F}"/>
              </a:ext>
            </a:extLst>
          </p:cNvPr>
          <p:cNvCxnSpPr>
            <a:cxnSpLocks noChangeShapeType="1"/>
            <a:stCxn id="6" idx="2"/>
            <a:endCxn id="5" idx="0"/>
          </p:cNvCxnSpPr>
          <p:nvPr/>
        </p:nvCxnSpPr>
        <p:spPr bwMode="auto">
          <a:xfrm>
            <a:off x="965934" y="5021128"/>
            <a:ext cx="71437" cy="59805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14D53FF-1EE5-D0D5-7723-ADCE9B989B05}"/>
              </a:ext>
            </a:extLst>
          </p:cNvPr>
          <p:cNvCxnSpPr>
            <a:cxnSpLocks noChangeShapeType="1"/>
            <a:stCxn id="7" idx="2"/>
            <a:endCxn id="9" idx="0"/>
          </p:cNvCxnSpPr>
          <p:nvPr/>
        </p:nvCxnSpPr>
        <p:spPr bwMode="auto">
          <a:xfrm>
            <a:off x="2888427" y="5012590"/>
            <a:ext cx="561944" cy="61552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4" name="Picture 4">
            <a:extLst>
              <a:ext uri="{FF2B5EF4-FFF2-40B4-BE49-F238E27FC236}">
                <a16:creationId xmlns:a16="http://schemas.microsoft.com/office/drawing/2014/main" id="{2F7912B4-D838-0C33-F185-8EFA270FD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7" y="2524664"/>
            <a:ext cx="1296987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Arrow Connector 25">
            <a:extLst>
              <a:ext uri="{FF2B5EF4-FFF2-40B4-BE49-F238E27FC236}">
                <a16:creationId xmlns:a16="http://schemas.microsoft.com/office/drawing/2014/main" id="{6B04D495-584E-758C-E8FC-DABF1375057A}"/>
              </a:ext>
            </a:extLst>
          </p:cNvPr>
          <p:cNvCxnSpPr>
            <a:cxnSpLocks noChangeShapeType="1"/>
            <a:stCxn id="14" idx="2"/>
            <a:endCxn id="6" idx="0"/>
          </p:cNvCxnSpPr>
          <p:nvPr/>
        </p:nvCxnSpPr>
        <p:spPr bwMode="auto">
          <a:xfrm>
            <a:off x="713521" y="3699414"/>
            <a:ext cx="252413" cy="674014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Straight Arrow Connector 27">
            <a:extLst>
              <a:ext uri="{FF2B5EF4-FFF2-40B4-BE49-F238E27FC236}">
                <a16:creationId xmlns:a16="http://schemas.microsoft.com/office/drawing/2014/main" id="{D9CA20DA-A48E-8543-3A0A-386BA3F0ADF0}"/>
              </a:ext>
            </a:extLst>
          </p:cNvPr>
          <p:cNvCxnSpPr>
            <a:cxnSpLocks noChangeShapeType="1"/>
            <a:stCxn id="14" idx="3"/>
          </p:cNvCxnSpPr>
          <p:nvPr/>
        </p:nvCxnSpPr>
        <p:spPr bwMode="auto">
          <a:xfrm>
            <a:off x="1362014" y="3112039"/>
            <a:ext cx="1560331" cy="125126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027">
            <a:extLst>
              <a:ext uri="{FF2B5EF4-FFF2-40B4-BE49-F238E27FC236}">
                <a16:creationId xmlns:a16="http://schemas.microsoft.com/office/drawing/2014/main" id="{89717122-15BA-4FD1-064E-A836A6D9C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1872" y="4466491"/>
            <a:ext cx="7389459" cy="2016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Source code file names must have .java suffixes,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class file names must have .class suffixes, and both source and class files must have root names that identify the class.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For example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a class called 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MyClass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would be written in a source file called MyClass.java and compiled into a bytecode class file called 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MyClass.class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 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endParaRPr kumimoji="0" lang="el-GR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cxnSp>
        <p:nvCxnSpPr>
          <p:cNvPr id="20" name="Straight Arrow Connector 15">
            <a:extLst>
              <a:ext uri="{FF2B5EF4-FFF2-40B4-BE49-F238E27FC236}">
                <a16:creationId xmlns:a16="http://schemas.microsoft.com/office/drawing/2014/main" id="{51F6069E-0B2F-C855-D77E-62F3056DC007}"/>
              </a:ext>
            </a:extLst>
          </p:cNvPr>
          <p:cNvCxnSpPr>
            <a:cxnSpLocks noChangeShapeType="1"/>
            <a:stCxn id="5" idx="3"/>
          </p:cNvCxnSpPr>
          <p:nvPr/>
        </p:nvCxnSpPr>
        <p:spPr bwMode="auto">
          <a:xfrm flipV="1">
            <a:off x="1937483" y="5005386"/>
            <a:ext cx="984862" cy="104559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258D742B-DFF2-6A92-3587-F975B3001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8238" y="3079531"/>
            <a:ext cx="6950042" cy="13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7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Javac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DE1D3CBE-0755-46FB-653C-E2AD642941DD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  <p:sp>
        <p:nvSpPr>
          <p:cNvPr id="9" name="Rectangle 1027">
            <a:extLst>
              <a:ext uri="{FF2B5EF4-FFF2-40B4-BE49-F238E27FC236}">
                <a16:creationId xmlns:a16="http://schemas.microsoft.com/office/drawing/2014/main" id="{8C712B6D-EAD6-32EC-F96D-BF62034DD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519" y="907933"/>
            <a:ext cx="11893812" cy="3546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buClr>
                <a:srgbClr val="3333CC"/>
              </a:buClr>
              <a:buNone/>
            </a:pPr>
            <a:r>
              <a:rPr kumimoji="0" lang="en-US" altLang="el-GR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javac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[ options ] [ </a:t>
            </a:r>
            <a:r>
              <a:rPr kumimoji="0" lang="en-US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sourcefiles</a:t>
            </a:r>
            <a:r>
              <a:rPr lang="en-US" altLang="el-GR" kern="0" dirty="0">
                <a:solidFill>
                  <a:srgbClr val="000000"/>
                </a:solidFill>
                <a:latin typeface="Tahoma"/>
              </a:rPr>
              <a:t> ] [ classes ]  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[ @argfiles ]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Arguments may be in any order.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n-US" altLang="el-GR" sz="2400" i="1" kern="0" dirty="0">
                <a:solidFill>
                  <a:srgbClr val="000000"/>
                </a:solidFill>
                <a:latin typeface="Tahoma"/>
              </a:rPr>
              <a:t>o</a:t>
            </a:r>
            <a:r>
              <a:rPr kumimoji="0" lang="en-US" altLang="el-GR" sz="24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ptions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Command-line options.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n-US" altLang="el-GR" sz="2400" i="1" kern="0" dirty="0">
                <a:solidFill>
                  <a:srgbClr val="000000"/>
                </a:solidFill>
                <a:latin typeface="Tahoma"/>
              </a:rPr>
              <a:t>s</a:t>
            </a:r>
            <a:r>
              <a:rPr kumimoji="0" lang="en-US" altLang="el-GR" sz="24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ourcefiles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One or more source files to be compiled </a:t>
            </a: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(such as MyClass.java).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0" eaLnBrk="1" hangingPunct="1">
              <a:buClr>
                <a:srgbClr val="3333CC"/>
              </a:buClr>
            </a:pPr>
            <a:r>
              <a:rPr lang="en-US" altLang="el-GR" sz="2400" i="1" kern="0" dirty="0">
                <a:solidFill>
                  <a:srgbClr val="000000"/>
                </a:solidFill>
                <a:latin typeface="Tahoma"/>
              </a:rPr>
              <a:t>classes:</a:t>
            </a:r>
            <a:r>
              <a:rPr lang="en-US" altLang="el-GR" sz="2400" kern="0" dirty="0">
                <a:solidFill>
                  <a:srgbClr val="000000"/>
                </a:solidFill>
                <a:latin typeface="Tahoma"/>
              </a:rPr>
              <a:t> One or more classes to be processed for annotations </a:t>
            </a:r>
            <a:r>
              <a:rPr lang="en-US" altLang="el-GR" sz="1600" kern="0" dirty="0">
                <a:solidFill>
                  <a:srgbClr val="000000"/>
                </a:solidFill>
                <a:latin typeface="Tahoma"/>
              </a:rPr>
              <a:t>(such as </a:t>
            </a:r>
            <a:r>
              <a:rPr lang="en-US" altLang="el-GR" sz="1600" kern="0" dirty="0" err="1">
                <a:solidFill>
                  <a:srgbClr val="000000"/>
                </a:solidFill>
                <a:latin typeface="Tahoma"/>
              </a:rPr>
              <a:t>MyPackage.MyClass</a:t>
            </a:r>
            <a:r>
              <a:rPr lang="en-US" altLang="el-GR" sz="1600" kern="0" dirty="0">
                <a:solidFill>
                  <a:srgbClr val="000000"/>
                </a:solidFill>
                <a:latin typeface="Tahoma"/>
              </a:rPr>
              <a:t>).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@argfiles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One or more files that lists options and source files. The -J options are not allowed in these files.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170745-7B3C-9A61-2F93-9559BEDD49E9}"/>
              </a:ext>
            </a:extLst>
          </p:cNvPr>
          <p:cNvSpPr txBox="1"/>
          <p:nvPr/>
        </p:nvSpPr>
        <p:spPr>
          <a:xfrm>
            <a:off x="0" y="6204062"/>
            <a:ext cx="9401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>
                <a:hlinkClick r:id="rId3"/>
              </a:rPr>
              <a:t>https://docs.oracle.com/javase/7/docs/technotes/tools/windows/javac.html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5B1609-0292-C415-231A-2AE627ED498B}"/>
              </a:ext>
            </a:extLst>
          </p:cNvPr>
          <p:cNvSpPr txBox="1"/>
          <p:nvPr/>
        </p:nvSpPr>
        <p:spPr>
          <a:xfrm>
            <a:off x="8425" y="5056451"/>
            <a:ext cx="12192000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javac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tool reads class and interface definitions, written in the Java programming language, and compiles them into bytecode class files. (…)</a:t>
            </a: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3095657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Java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DE1D3CBE-0755-46FB-653C-E2AD642941DD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39E3C5D4-F557-15FB-F65A-BABE3CA39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27" y="794991"/>
            <a:ext cx="12061946" cy="1638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The 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 application launcher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The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tool launches a Java application.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It does this by starting a Java runtime environment, loading a specified class, and invoking that class's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main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method. 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eaLnBrk="1" hangingPunct="1">
              <a:buClr>
                <a:srgbClr val="3333CC"/>
              </a:buClr>
            </a:pPr>
            <a:r>
              <a:rPr lang="el-GR" altLang="el-GR" sz="2400" b="1" kern="0" dirty="0">
                <a:solidFill>
                  <a:srgbClr val="C00000"/>
                </a:solidFill>
                <a:latin typeface="Tahoma"/>
              </a:rPr>
              <a:t>                                                      </a:t>
            </a:r>
            <a:r>
              <a:rPr lang="en-US" altLang="el-GR" sz="2800" b="1" kern="0" dirty="0">
                <a:solidFill>
                  <a:srgbClr val="C00000"/>
                </a:solidFill>
                <a:latin typeface="Tahoma"/>
              </a:rPr>
              <a:t>java HelloWorld</a:t>
            </a:r>
            <a:endParaRPr lang="en-US" altLang="el-GR" sz="2400" b="1" kern="0" dirty="0">
              <a:solidFill>
                <a:srgbClr val="C00000"/>
              </a:solidFill>
              <a:latin typeface="Tahoma"/>
            </a:endParaRPr>
          </a:p>
          <a:p>
            <a:pPr eaLnBrk="1" hangingPunct="1">
              <a:buClr>
                <a:srgbClr val="3333CC"/>
              </a:buClr>
            </a:pP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26C3FBD-0807-9205-41D3-6FC1E5BB7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9171" y="5644550"/>
            <a:ext cx="1800225" cy="863600"/>
          </a:xfrm>
          <a:prstGeom prst="rect">
            <a:avLst/>
          </a:prstGeom>
          <a:solidFill>
            <a:srgbClr val="00E4A8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Source Code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(.java)</a:t>
            </a: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7E2AD089-2D8D-33E4-8711-33D46BBAD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571" y="4347562"/>
            <a:ext cx="1584325" cy="6477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Editor</a:t>
            </a: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139D7B64-A571-55CF-C0F9-22E411624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0258" y="4563462"/>
            <a:ext cx="1584325" cy="649288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javac</a:t>
            </a: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472A9D67-F474-6192-1634-B6D09D635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0946" y="4563462"/>
            <a:ext cx="1584325" cy="649288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java</a:t>
            </a:r>
            <a:endParaRPr kumimoji="0" lang="el-GR" altLang="el-GR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CED87A0-E5FD-3905-2192-799EA82AA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7709" y="5644550"/>
            <a:ext cx="1800225" cy="863600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</a:rPr>
              <a:t>Byte Code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</a:rPr>
              <a:t>(.class)</a:t>
            </a:r>
            <a:endParaRPr kumimoji="0" lang="el-GR" altLang="el-GR" sz="2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59143D-EC77-8BD9-6420-6DFB0F3F6630}"/>
              </a:ext>
            </a:extLst>
          </p:cNvPr>
          <p:cNvCxnSpPr>
            <a:cxnSpLocks noChangeShapeType="1"/>
            <a:stCxn id="7" idx="2"/>
            <a:endCxn id="6" idx="0"/>
          </p:cNvCxnSpPr>
          <p:nvPr/>
        </p:nvCxnSpPr>
        <p:spPr bwMode="auto">
          <a:xfrm>
            <a:off x="1397734" y="4995262"/>
            <a:ext cx="971550" cy="6492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Arrow Connector 15">
            <a:extLst>
              <a:ext uri="{FF2B5EF4-FFF2-40B4-BE49-F238E27FC236}">
                <a16:creationId xmlns:a16="http://schemas.microsoft.com/office/drawing/2014/main" id="{FB8DFC37-5D47-3E62-85CD-87CE1BA5EB87}"/>
              </a:ext>
            </a:extLst>
          </p:cNvPr>
          <p:cNvCxnSpPr>
            <a:cxnSpLocks noChangeShapeType="1"/>
            <a:stCxn id="6" idx="0"/>
            <a:endCxn id="9" idx="2"/>
          </p:cNvCxnSpPr>
          <p:nvPr/>
        </p:nvCxnSpPr>
        <p:spPr bwMode="auto">
          <a:xfrm flipV="1">
            <a:off x="2369284" y="5212750"/>
            <a:ext cx="973137" cy="4318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Straight Arrow Connector 20">
            <a:extLst>
              <a:ext uri="{FF2B5EF4-FFF2-40B4-BE49-F238E27FC236}">
                <a16:creationId xmlns:a16="http://schemas.microsoft.com/office/drawing/2014/main" id="{0080BCAF-47DE-7F37-FB58-177009979ED5}"/>
              </a:ext>
            </a:extLst>
          </p:cNvPr>
          <p:cNvCxnSpPr>
            <a:cxnSpLocks noChangeShapeType="1"/>
            <a:stCxn id="13" idx="0"/>
            <a:endCxn id="12" idx="2"/>
          </p:cNvCxnSpPr>
          <p:nvPr/>
        </p:nvCxnSpPr>
        <p:spPr bwMode="auto">
          <a:xfrm flipV="1">
            <a:off x="4637821" y="5212750"/>
            <a:ext cx="395288" cy="4318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7" name="Picture 4">
            <a:extLst>
              <a:ext uri="{FF2B5EF4-FFF2-40B4-BE49-F238E27FC236}">
                <a16:creationId xmlns:a16="http://schemas.microsoft.com/office/drawing/2014/main" id="{F9C92964-C185-78CF-250B-503B2B8AA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7" y="2524664"/>
            <a:ext cx="1296987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Straight Arrow Connector 25">
            <a:extLst>
              <a:ext uri="{FF2B5EF4-FFF2-40B4-BE49-F238E27FC236}">
                <a16:creationId xmlns:a16="http://schemas.microsoft.com/office/drawing/2014/main" id="{32F74D1B-F474-B0FC-4B1E-3E324BE1AF2E}"/>
              </a:ext>
            </a:extLst>
          </p:cNvPr>
          <p:cNvCxnSpPr>
            <a:cxnSpLocks noChangeShapeType="1"/>
            <a:endCxn id="7" idx="0"/>
          </p:cNvCxnSpPr>
          <p:nvPr/>
        </p:nvCxnSpPr>
        <p:spPr bwMode="auto">
          <a:xfrm>
            <a:off x="1037371" y="3699862"/>
            <a:ext cx="360362" cy="6477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Arrow Connector 27">
            <a:extLst>
              <a:ext uri="{FF2B5EF4-FFF2-40B4-BE49-F238E27FC236}">
                <a16:creationId xmlns:a16="http://schemas.microsoft.com/office/drawing/2014/main" id="{A1B800B0-1CBC-4277-A4D3-C584A7A7A943}"/>
              </a:ext>
            </a:extLst>
          </p:cNvPr>
          <p:cNvCxnSpPr>
            <a:cxnSpLocks noChangeShapeType="1"/>
            <a:endCxn id="9" idx="0"/>
          </p:cNvCxnSpPr>
          <p:nvPr/>
        </p:nvCxnSpPr>
        <p:spPr bwMode="auto">
          <a:xfrm>
            <a:off x="1326296" y="3628425"/>
            <a:ext cx="2016125" cy="9350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Straight Arrow Connector 29">
            <a:extLst>
              <a:ext uri="{FF2B5EF4-FFF2-40B4-BE49-F238E27FC236}">
                <a16:creationId xmlns:a16="http://schemas.microsoft.com/office/drawing/2014/main" id="{1206F381-6C24-6E85-56D5-BB4985D4F146}"/>
              </a:ext>
            </a:extLst>
          </p:cNvPr>
          <p:cNvCxnSpPr>
            <a:cxnSpLocks noChangeShapeType="1"/>
            <a:stCxn id="17" idx="3"/>
            <a:endCxn id="12" idx="0"/>
          </p:cNvCxnSpPr>
          <p:nvPr/>
        </p:nvCxnSpPr>
        <p:spPr bwMode="auto">
          <a:xfrm>
            <a:off x="1362014" y="3112039"/>
            <a:ext cx="3671095" cy="145142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Rectangle 1027">
            <a:extLst>
              <a:ext uri="{FF2B5EF4-FFF2-40B4-BE49-F238E27FC236}">
                <a16:creationId xmlns:a16="http://schemas.microsoft.com/office/drawing/2014/main" id="{BB079236-4C2D-470E-A08C-0EBBFB1A8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9649" y="3837750"/>
            <a:ext cx="6037324" cy="2234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The method declaration must look like the following: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n-US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static void main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(String 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args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[])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The method must be declared public and static, it must not return any value, and it must accept a String array as a parameter.</a:t>
            </a:r>
            <a:endParaRPr kumimoji="0" lang="el-GR" alt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endParaRPr kumimoji="0" lang="el-GR" alt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29227E-F714-3809-74B4-E8F120B16189}"/>
              </a:ext>
            </a:extLst>
          </p:cNvPr>
          <p:cNvSpPr txBox="1"/>
          <p:nvPr/>
        </p:nvSpPr>
        <p:spPr>
          <a:xfrm>
            <a:off x="5655835" y="6273223"/>
            <a:ext cx="6471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>
                <a:hlinkClick r:id="rId4"/>
              </a:rPr>
              <a:t>https://docs.oracle.com/javase/7/docs/technotes/tools/windows/java.html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9031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Java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DE1D3CBE-0755-46FB-653C-E2AD642941DD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  <p:sp>
        <p:nvSpPr>
          <p:cNvPr id="13" name="Rectangle 1027">
            <a:extLst>
              <a:ext uri="{FF2B5EF4-FFF2-40B4-BE49-F238E27FC236}">
                <a16:creationId xmlns:a16="http://schemas.microsoft.com/office/drawing/2014/main" id="{9D920031-87AF-0605-3C27-1BFB3A097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7" y="758816"/>
            <a:ext cx="10676181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buClr>
                <a:srgbClr val="3333CC"/>
              </a:buClr>
              <a:buNone/>
            </a:pP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[ options ] </a:t>
            </a:r>
            <a:r>
              <a:rPr lang="en-US" altLang="el-GR" sz="2400" kern="0" dirty="0">
                <a:solidFill>
                  <a:srgbClr val="000000"/>
                </a:solidFill>
                <a:latin typeface="Tahoma"/>
              </a:rPr>
              <a:t>class [ arguments ] 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0" eaLnBrk="1" hangingPunct="1">
              <a:buClr>
                <a:srgbClr val="3333CC"/>
              </a:buClr>
              <a:buNone/>
            </a:pP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[ options ]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-jar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file.jar </a:t>
            </a:r>
            <a:r>
              <a:rPr lang="en-US" altLang="el-GR" sz="2400" kern="0" dirty="0">
                <a:solidFill>
                  <a:srgbClr val="000000"/>
                </a:solidFill>
                <a:latin typeface="Tahoma"/>
              </a:rPr>
              <a:t>[ arguments ] 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0" eaLnBrk="1" hangingPunct="1">
              <a:buClr>
                <a:srgbClr val="3333CC"/>
              </a:buClr>
              <a:buNone/>
            </a:pPr>
            <a:r>
              <a:rPr kumimoji="0" lang="en-US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javaw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[ options ] class </a:t>
            </a:r>
            <a:r>
              <a:rPr lang="en-US" altLang="el-GR" sz="2400" kern="0" dirty="0">
                <a:solidFill>
                  <a:srgbClr val="000000"/>
                </a:solidFill>
                <a:latin typeface="Tahoma"/>
              </a:rPr>
              <a:t>[ arguments ] 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0" eaLnBrk="1" hangingPunct="1">
              <a:buClr>
                <a:srgbClr val="3333CC"/>
              </a:buClr>
              <a:buNone/>
            </a:pPr>
            <a:r>
              <a:rPr kumimoji="0" lang="en-US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javaw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[ options ]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-jar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file.</a:t>
            </a:r>
            <a:r>
              <a:rPr lang="en-US" altLang="el-GR" sz="2400" kern="0" dirty="0">
                <a:solidFill>
                  <a:srgbClr val="000000"/>
                </a:solidFill>
                <a:latin typeface="Tahoma"/>
              </a:rPr>
              <a:t>jar [ arguments ] 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options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Command-line options.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class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Name of the class to be invoked.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file.jar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Name of the jar file to be invoked. Used only with 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hlinkClick r:id="rId3"/>
              </a:rPr>
              <a:t>-jar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argument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Argument passed to the </a:t>
            </a:r>
            <a:r>
              <a:rPr kumimoji="0" lang="en-US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main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function.</a:t>
            </a:r>
          </a:p>
          <a:p>
            <a:pPr lvl="1" eaLnBrk="1" hangingPunct="1">
              <a:buClr>
                <a:srgbClr val="FF0000"/>
              </a:buClr>
            </a:pPr>
            <a:r>
              <a:rPr lang="en-US" altLang="el-GR" sz="2000" kern="0" dirty="0">
                <a:solidFill>
                  <a:srgbClr val="000000"/>
                </a:solidFill>
                <a:latin typeface="Tahoma"/>
              </a:rPr>
              <a:t>By default, the first argument without an option is the name of the class to be called.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endParaRPr kumimoji="0" lang="el-GR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BFC688-ACC3-5231-397B-EDF61F832D8A}"/>
              </a:ext>
            </a:extLst>
          </p:cNvPr>
          <p:cNvSpPr txBox="1"/>
          <p:nvPr/>
        </p:nvSpPr>
        <p:spPr>
          <a:xfrm>
            <a:off x="5655835" y="6273223"/>
            <a:ext cx="6471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>
                <a:hlinkClick r:id="rId4"/>
              </a:rPr>
              <a:t>https://docs.oracle.com/javase/7/docs/technotes/tools/windows/java.html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974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Java HelloWorld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DE1D3CBE-0755-46FB-653C-E2AD642941DD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39521E-AAB4-A997-ED66-12C2ED31D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1" y="892711"/>
            <a:ext cx="8307771" cy="526676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75681B8-F21B-43AE-57BC-A04388A6336C}"/>
              </a:ext>
            </a:extLst>
          </p:cNvPr>
          <p:cNvSpPr/>
          <p:nvPr/>
        </p:nvSpPr>
        <p:spPr>
          <a:xfrm>
            <a:off x="5468658" y="5624988"/>
            <a:ext cx="2004646" cy="375139"/>
          </a:xfrm>
          <a:prstGeom prst="rect">
            <a:avLst/>
          </a:prstGeom>
          <a:solidFill>
            <a:schemeClr val="bg1">
              <a:alpha val="14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AC3597-6B06-12B0-7CBE-B40B05E6F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550" y="3297503"/>
            <a:ext cx="6215472" cy="189289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C7F6B98-6AAE-2EAB-6E95-1B5CBA325970}"/>
              </a:ext>
            </a:extLst>
          </p:cNvPr>
          <p:cNvSpPr/>
          <p:nvPr/>
        </p:nvSpPr>
        <p:spPr>
          <a:xfrm>
            <a:off x="3968263" y="3559052"/>
            <a:ext cx="2502718" cy="883994"/>
          </a:xfrm>
          <a:prstGeom prst="rect">
            <a:avLst/>
          </a:prstGeom>
          <a:solidFill>
            <a:schemeClr val="bg1">
              <a:alpha val="14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3676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Set path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DE1D3CBE-0755-46FB-653C-E2AD642941DD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F2DF664-2846-E06E-17DA-A20E9CB56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742" y="918800"/>
            <a:ext cx="769363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Windows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in the Environment Variables window (as shown below), highlight the </a:t>
            </a:r>
            <a:r>
              <a:rPr kumimoji="0" lang="en-US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Path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variable in the Systems Variable section and click the </a:t>
            </a:r>
            <a:r>
              <a:rPr kumimoji="0" lang="en-US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Edit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button. Add or modify the path lines with the paths you wish the computer to access.</a:t>
            </a:r>
            <a:endParaRPr kumimoji="0" lang="el-GR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CAAF3E-61B2-460E-C2EB-D559017E8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676" y="21092"/>
            <a:ext cx="4431323" cy="411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2C1864-6642-E216-FA5A-04458C69B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3" y="2766987"/>
            <a:ext cx="5858903" cy="3015975"/>
          </a:xfrm>
          <a:prstGeom prst="rect">
            <a:avLst/>
          </a:prstGeom>
        </p:spPr>
      </p:pic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4FAEB77A-F0D3-1042-C8D1-AB1AB19B2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2216" y="4408085"/>
            <a:ext cx="769363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Windows command prompt</a:t>
            </a:r>
            <a:endParaRPr lang="en-US" altLang="el-GR" kern="0" dirty="0">
              <a:solidFill>
                <a:srgbClr val="000000"/>
              </a:solidFill>
              <a:latin typeface="Tahom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lang="en-US" altLang="el-GR" b="1" kern="0" dirty="0">
                <a:solidFill>
                  <a:srgbClr val="000000"/>
                </a:solidFill>
                <a:latin typeface="Tahoma"/>
              </a:rPr>
              <a:t>path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el-GR" b="1" kern="0" dirty="0">
                <a:solidFill>
                  <a:srgbClr val="000000"/>
                </a:solidFill>
                <a:latin typeface="Tahoma"/>
              </a:rPr>
              <a:t>s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et path=%PATH%;c:\bin;</a:t>
            </a:r>
            <a:endParaRPr kumimoji="0" lang="el-GR" altLang="el-GR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E66068-2EFA-4410-F455-EA5A0E1688D1}"/>
              </a:ext>
            </a:extLst>
          </p:cNvPr>
          <p:cNvSpPr/>
          <p:nvPr/>
        </p:nvSpPr>
        <p:spPr>
          <a:xfrm>
            <a:off x="10105778" y="3691546"/>
            <a:ext cx="2004646" cy="375139"/>
          </a:xfrm>
          <a:prstGeom prst="rect">
            <a:avLst/>
          </a:prstGeom>
          <a:solidFill>
            <a:schemeClr val="bg1">
              <a:alpha val="14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1F68DA-F74B-37BE-3172-B77FE96F03EC}"/>
              </a:ext>
            </a:extLst>
          </p:cNvPr>
          <p:cNvSpPr/>
          <p:nvPr/>
        </p:nvSpPr>
        <p:spPr>
          <a:xfrm>
            <a:off x="318192" y="4704926"/>
            <a:ext cx="5229992" cy="368160"/>
          </a:xfrm>
          <a:prstGeom prst="rect">
            <a:avLst/>
          </a:prstGeom>
          <a:solidFill>
            <a:schemeClr val="bg1">
              <a:alpha val="14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5102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Javadoc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DE1D3CBE-0755-46FB-653C-E2AD642941DD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  <p:sp>
        <p:nvSpPr>
          <p:cNvPr id="6" name="Rectangle 1027">
            <a:extLst>
              <a:ext uri="{FF2B5EF4-FFF2-40B4-BE49-F238E27FC236}">
                <a16:creationId xmlns:a16="http://schemas.microsoft.com/office/drawing/2014/main" id="{EA00C37E-2A84-14A6-B14C-41F83D5D0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7" y="801612"/>
            <a:ext cx="11871944" cy="3825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The </a:t>
            </a:r>
            <a:r>
              <a:rPr kumimoji="0" lang="it-IT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 API Documentation Generator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Generates HTML pages of API documentation from Java source files.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The </a:t>
            </a:r>
            <a:r>
              <a:rPr kumimoji="0" lang="en-US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Javadoc</a:t>
            </a:r>
            <a:r>
              <a:rPr kumimoji="0" lang="en-US" altLang="el-GR" sz="2400" b="0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TM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tool parses the declarations and documentation comments in a set of Java source files and produces a corresponding set of HTML pages describing (by default) the public and protected classes, nested classes (but not anonymous inner classes), interfaces, constructors, methods, and fields.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You can use it to generate the API (Application Programming Interface) documentation or the implementation documentation for a set of source files.</a:t>
            </a: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endParaRPr kumimoji="0" lang="el-GR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39D747D5-2286-698B-326C-4FE8609B3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59" y="5007822"/>
            <a:ext cx="12172641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80000"/>
              </a:lnSpc>
              <a:spcBef>
                <a:spcPct val="5000"/>
              </a:spcBef>
              <a:buClr>
                <a:srgbClr val="3333CC"/>
              </a:buClr>
              <a:buNone/>
            </a:pPr>
            <a:r>
              <a:rPr lang="en-US" altLang="el-GR" sz="2400" b="1" kern="0" dirty="0" err="1">
                <a:solidFill>
                  <a:srgbClr val="000000"/>
                </a:solidFill>
                <a:latin typeface="Tahoma"/>
              </a:rPr>
              <a:t>javadoc</a:t>
            </a:r>
            <a:r>
              <a:rPr lang="en-US" altLang="el-GR" sz="2400" b="1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altLang="el-GR" sz="2400" kern="0" dirty="0">
                <a:solidFill>
                  <a:srgbClr val="000000"/>
                </a:solidFill>
                <a:latin typeface="Tahoma"/>
              </a:rPr>
              <a:t>[ options ] [ </a:t>
            </a:r>
            <a:r>
              <a:rPr lang="en-US" altLang="el-GR" sz="2400" kern="0" dirty="0" err="1">
                <a:solidFill>
                  <a:srgbClr val="000000"/>
                </a:solidFill>
                <a:latin typeface="Tahoma"/>
              </a:rPr>
              <a:t>packagenames</a:t>
            </a:r>
            <a:r>
              <a:rPr lang="en-US" altLang="el-GR" sz="2400" kern="0" dirty="0">
                <a:solidFill>
                  <a:srgbClr val="000000"/>
                </a:solidFill>
                <a:latin typeface="Tahoma"/>
              </a:rPr>
              <a:t> ] [ </a:t>
            </a:r>
            <a:r>
              <a:rPr lang="en-US" altLang="el-GR" sz="2400" kern="0" dirty="0" err="1">
                <a:solidFill>
                  <a:srgbClr val="000000"/>
                </a:solidFill>
                <a:latin typeface="Tahoma"/>
              </a:rPr>
              <a:t>sourcefilenames</a:t>
            </a:r>
            <a:r>
              <a:rPr lang="en-US" altLang="el-GR" sz="2400" kern="0" dirty="0">
                <a:solidFill>
                  <a:srgbClr val="000000"/>
                </a:solidFill>
                <a:latin typeface="Tahoma"/>
              </a:rPr>
              <a:t> ][ -subpackages </a:t>
            </a:r>
            <a:r>
              <a:rPr lang="en-US" altLang="el-GR" sz="2400" i="1" kern="0" dirty="0">
                <a:solidFill>
                  <a:srgbClr val="000000"/>
                </a:solidFill>
                <a:latin typeface="Tahoma"/>
              </a:rPr>
              <a:t>pkg1:pkg2:.. </a:t>
            </a:r>
            <a:r>
              <a:rPr lang="en-US" altLang="el-GR" sz="2400" kern="0" dirty="0">
                <a:solidFill>
                  <a:srgbClr val="000000"/>
                </a:solidFill>
                <a:latin typeface="Tahoma"/>
              </a:rPr>
              <a:t>]         		[ @argfiles ]</a:t>
            </a:r>
            <a:endParaRPr kumimoji="0" lang="en-US" altLang="el-GR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US" altLang="el-G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endParaRPr kumimoji="0" lang="el-GR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5955D7-A115-C30F-8DCB-F06015DA8E5A}"/>
              </a:ext>
            </a:extLst>
          </p:cNvPr>
          <p:cNvSpPr txBox="1"/>
          <p:nvPr/>
        </p:nvSpPr>
        <p:spPr>
          <a:xfrm>
            <a:off x="5122985" y="6273223"/>
            <a:ext cx="7003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>
                <a:hlinkClick r:id="rId3"/>
              </a:rPr>
              <a:t>https://docs.oracle.com/javase/7/docs/technotes/tools/windows/javadoc.html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07968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Javadoc for HelloWorld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DE1D3CBE-0755-46FB-653C-E2AD642941DD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627216-E05F-F77E-6E17-56DB2B839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2914"/>
            <a:ext cx="5494496" cy="3215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1DC768-1F00-DAEA-4531-4AFA3ED34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20637"/>
            <a:ext cx="6058425" cy="19508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61F129-D29E-7BBE-CAB0-A9EA8D3C7E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6750" y="717928"/>
            <a:ext cx="6805250" cy="47781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AA90D5A-EDFE-C8D9-62AC-5CE777DC3717}"/>
              </a:ext>
            </a:extLst>
          </p:cNvPr>
          <p:cNvSpPr txBox="1"/>
          <p:nvPr/>
        </p:nvSpPr>
        <p:spPr>
          <a:xfrm>
            <a:off x="470115" y="774340"/>
            <a:ext cx="4446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C00000"/>
                </a:solidFill>
              </a:rPr>
              <a:t>javadoc</a:t>
            </a:r>
            <a:r>
              <a:rPr lang="en-US" sz="2000" b="1" dirty="0">
                <a:solidFill>
                  <a:srgbClr val="C00000"/>
                </a:solidFill>
              </a:rPr>
              <a:t> -d doc HelloWorld.java</a:t>
            </a:r>
            <a:endParaRPr lang="el-G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23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jar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DE1D3CBE-0755-46FB-653C-E2AD642941DD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E3788EC5-5DFC-4571-9218-FF22A9CD3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81075"/>
            <a:ext cx="10875474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The 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 Archive Tool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Combines multiple files into a single JAR archive file.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jar is a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general-purpose archiving and compression tool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based on ZIP and the ZLIB compression format.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However,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jar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was designed mainly to facilitate the packaging of java applets or applications into a single archive.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endParaRPr kumimoji="0" lang="el-GR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0" eaLnBrk="1" hangingPunct="1">
              <a:lnSpc>
                <a:spcPct val="80000"/>
              </a:lnSpc>
              <a:buClr>
                <a:srgbClr val="3333CC"/>
              </a:buClr>
              <a:buNone/>
            </a:pPr>
            <a:r>
              <a:rPr lang="en-GB" altLang="el-GR" sz="2000" b="1" kern="0" dirty="0">
                <a:solidFill>
                  <a:srgbClr val="000000"/>
                </a:solidFill>
                <a:latin typeface="Tahoma"/>
              </a:rPr>
              <a:t>Create jar file</a:t>
            </a:r>
          </a:p>
          <a:p>
            <a:pPr lvl="0" eaLnBrk="1" hangingPunct="1">
              <a:lnSpc>
                <a:spcPct val="80000"/>
              </a:lnSpc>
              <a:buClr>
                <a:srgbClr val="3333CC"/>
              </a:buClr>
              <a:buNone/>
            </a:pPr>
            <a:r>
              <a:rPr lang="en-GB" altLang="el-GR" sz="2000" kern="0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jar c[v0M]f </a:t>
            </a:r>
            <a:r>
              <a:rPr lang="en-GB" altLang="el-GR" sz="2400" kern="0" dirty="0" err="1">
                <a:solidFill>
                  <a:srgbClr val="000000"/>
                </a:solidFill>
                <a:latin typeface="Tahoma"/>
              </a:rPr>
              <a:t>jarfile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 [-C </a:t>
            </a:r>
            <a:r>
              <a:rPr lang="en-GB" altLang="el-GR" sz="2400" kern="0" dirty="0" err="1">
                <a:solidFill>
                  <a:srgbClr val="000000"/>
                </a:solidFill>
                <a:latin typeface="Tahoma"/>
              </a:rPr>
              <a:t>dir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] </a:t>
            </a:r>
            <a:r>
              <a:rPr lang="en-GB" altLang="el-GR" sz="2400" kern="0" dirty="0" err="1">
                <a:solidFill>
                  <a:srgbClr val="000000"/>
                </a:solidFill>
                <a:latin typeface="Tahoma"/>
              </a:rPr>
              <a:t>inputfiles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 [-</a:t>
            </a:r>
            <a:r>
              <a:rPr lang="en-GB" altLang="el-GR" sz="2400" kern="0" dirty="0" err="1">
                <a:solidFill>
                  <a:srgbClr val="000000"/>
                </a:solidFill>
                <a:latin typeface="Tahoma"/>
              </a:rPr>
              <a:t>Joption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]</a:t>
            </a:r>
          </a:p>
          <a:p>
            <a:pPr lvl="0" eaLnBrk="1" hangingPunct="1">
              <a:lnSpc>
                <a:spcPct val="80000"/>
              </a:lnSpc>
              <a:buClr>
                <a:srgbClr val="3333CC"/>
              </a:buClr>
              <a:buNone/>
            </a:pP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0" eaLnBrk="1" hangingPunct="1">
              <a:lnSpc>
                <a:spcPct val="80000"/>
              </a:lnSpc>
              <a:buClr>
                <a:srgbClr val="3333CC"/>
              </a:buClr>
              <a:buNone/>
            </a:pPr>
            <a:r>
              <a:rPr lang="en-US" altLang="el-GR" sz="2000" kern="0" dirty="0">
                <a:solidFill>
                  <a:srgbClr val="000000"/>
                </a:solidFill>
                <a:latin typeface="Tahoma"/>
              </a:rPr>
              <a:t>Typical usage to combine files into a jar file is:</a:t>
            </a:r>
          </a:p>
          <a:p>
            <a:pPr lvl="0" eaLnBrk="1" hangingPunct="1">
              <a:lnSpc>
                <a:spcPct val="80000"/>
              </a:lnSpc>
              <a:buClr>
                <a:srgbClr val="3333CC"/>
              </a:buClr>
              <a:buNone/>
            </a:pPr>
            <a:r>
              <a:rPr lang="en-US" altLang="el-GR" sz="2000" kern="0" dirty="0">
                <a:solidFill>
                  <a:srgbClr val="000000"/>
                </a:solidFill>
                <a:latin typeface="Tahoma"/>
              </a:rPr>
              <a:t>		C:\Java&gt; jar </a:t>
            </a:r>
            <a:r>
              <a:rPr lang="en-US" altLang="el-GR" sz="2000" kern="0" dirty="0" err="1">
                <a:solidFill>
                  <a:srgbClr val="000000"/>
                </a:solidFill>
                <a:latin typeface="Tahoma"/>
              </a:rPr>
              <a:t>cf</a:t>
            </a:r>
            <a:r>
              <a:rPr lang="en-US" altLang="el-GR" sz="2000" kern="0" dirty="0">
                <a:solidFill>
                  <a:srgbClr val="000000"/>
                </a:solidFill>
                <a:latin typeface="Tahoma"/>
              </a:rPr>
              <a:t> myFile.jar *.class</a:t>
            </a: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61B013-488F-4947-F43C-40F1D1F4CB30}"/>
              </a:ext>
            </a:extLst>
          </p:cNvPr>
          <p:cNvSpPr txBox="1"/>
          <p:nvPr/>
        </p:nvSpPr>
        <p:spPr>
          <a:xfrm>
            <a:off x="5122985" y="6273223"/>
            <a:ext cx="7003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>
                <a:hlinkClick r:id="rId3"/>
              </a:rPr>
              <a:t>https://docs.oracle.com/javase/7/docs/technotes/tools/windows/jar.html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77540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jdb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DE1D3CBE-0755-46FB-653C-E2AD642941DD}"/>
              </a:ext>
            </a:extLst>
          </p:cNvPr>
          <p:cNvSpPr txBox="1">
            <a:spLocks/>
          </p:cNvSpPr>
          <p:nvPr/>
        </p:nvSpPr>
        <p:spPr>
          <a:xfrm>
            <a:off x="3305909" y="6559909"/>
            <a:ext cx="5334000" cy="298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Technology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– Εισαγωγή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CDD6D195-CB89-8CAA-4BF0-69935AAF0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81075"/>
            <a:ext cx="8964612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The 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 Debugger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jdb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helps you find and fix bugs in Java language programs.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is a simple command-line debugger for Java classes.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jdb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[ options ] [ class ] [ arguments ]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options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hlinkClick r:id="rId3"/>
              </a:rPr>
              <a:t>Command-line options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class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Name of the class to begin debugging.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arguments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Arguments passed to the main() method of class.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endParaRPr kumimoji="0" lang="el-GR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5196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Προσαρμοσμένη σχεδίαση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7892</TotalTime>
  <Words>1606</Words>
  <Application>Microsoft Office PowerPoint</Application>
  <PresentationFormat>Widescreen</PresentationFormat>
  <Paragraphs>311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Bahnschrift</vt:lpstr>
      <vt:lpstr>Bahnschrift Light</vt:lpstr>
      <vt:lpstr>Calibri</vt:lpstr>
      <vt:lpstr>Calibri Light</vt:lpstr>
      <vt:lpstr>Tahoma</vt:lpstr>
      <vt:lpstr>Times New Roman</vt:lpstr>
      <vt:lpstr>Times New Roman Greek</vt:lpstr>
      <vt:lpstr>Wingdings</vt:lpstr>
      <vt:lpstr>Προσαρμοσμένη σχεδίαση</vt:lpstr>
      <vt:lpstr>Θέμα του Office</vt:lpstr>
      <vt:lpstr>PowerPoint Presentation</vt:lpstr>
      <vt:lpstr>Οργάνωση Διάλεξης</vt:lpstr>
      <vt:lpstr>Java Technology</vt:lpstr>
      <vt:lpstr>Java Technology</vt:lpstr>
      <vt:lpstr>Οργάνωση Διάλεξης</vt:lpstr>
      <vt:lpstr>Hello World σε Java</vt:lpstr>
      <vt:lpstr>Echo example program</vt:lpstr>
      <vt:lpstr>Οργάνωση Διάλεξης</vt:lpstr>
      <vt:lpstr>Java Development Kit (JDK)</vt:lpstr>
      <vt:lpstr>Java Development Kit (JDK)</vt:lpstr>
      <vt:lpstr>JDK Tools</vt:lpstr>
      <vt:lpstr>javac</vt:lpstr>
      <vt:lpstr>Javac</vt:lpstr>
      <vt:lpstr>Java</vt:lpstr>
      <vt:lpstr>Java</vt:lpstr>
      <vt:lpstr>Java HelloWorld</vt:lpstr>
      <vt:lpstr>Set path</vt:lpstr>
      <vt:lpstr>Javadoc</vt:lpstr>
      <vt:lpstr>Javadoc for HelloWorld</vt:lpstr>
      <vt:lpstr>jar</vt:lpstr>
      <vt:lpstr>jdb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Ch3_PartA-JavaTechnologyIntro</dc:title>
  <dc:creator>Kleanthis Thramboulidis</dc:creator>
  <cp:lastModifiedBy>thrambo@ece.upatras.gr</cp:lastModifiedBy>
  <cp:revision>53</cp:revision>
  <dcterms:created xsi:type="dcterms:W3CDTF">2020-03-13T12:21:17Z</dcterms:created>
  <dcterms:modified xsi:type="dcterms:W3CDTF">2024-10-09T06:07:59Z</dcterms:modified>
</cp:coreProperties>
</file>