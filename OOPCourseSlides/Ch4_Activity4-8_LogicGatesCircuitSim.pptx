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892" r:id="rId2"/>
  </p:sldMasterIdLst>
  <p:notesMasterIdLst>
    <p:notesMasterId r:id="rId25"/>
  </p:notesMasterIdLst>
  <p:sldIdLst>
    <p:sldId id="860" r:id="rId3"/>
    <p:sldId id="862" r:id="rId4"/>
    <p:sldId id="854" r:id="rId5"/>
    <p:sldId id="863" r:id="rId6"/>
    <p:sldId id="864" r:id="rId7"/>
    <p:sldId id="867" r:id="rId8"/>
    <p:sldId id="882" r:id="rId9"/>
    <p:sldId id="865" r:id="rId10"/>
    <p:sldId id="869" r:id="rId11"/>
    <p:sldId id="872" r:id="rId12"/>
    <p:sldId id="871" r:id="rId13"/>
    <p:sldId id="870" r:id="rId14"/>
    <p:sldId id="868" r:id="rId15"/>
    <p:sldId id="873" r:id="rId16"/>
    <p:sldId id="878" r:id="rId17"/>
    <p:sldId id="876" r:id="rId18"/>
    <p:sldId id="875" r:id="rId19"/>
    <p:sldId id="877" r:id="rId20"/>
    <p:sldId id="879" r:id="rId21"/>
    <p:sldId id="880" r:id="rId22"/>
    <p:sldId id="874" r:id="rId23"/>
    <p:sldId id="881" r:id="rId24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CDBB"/>
    <a:srgbClr val="60D69E"/>
    <a:srgbClr val="869391"/>
    <a:srgbClr val="F9853D"/>
    <a:srgbClr val="FDCBAD"/>
    <a:srgbClr val="FBAD7D"/>
    <a:srgbClr val="61649B"/>
    <a:srgbClr val="E49252"/>
    <a:srgbClr val="FFFFFF"/>
    <a:srgbClr val="2E35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53" autoAdjust="0"/>
    <p:restoredTop sz="77956" autoAdjust="0"/>
  </p:normalViewPr>
  <p:slideViewPr>
    <p:cSldViewPr snapToGrid="0">
      <p:cViewPr varScale="1">
        <p:scale>
          <a:sx n="53" d="100"/>
          <a:sy n="53" d="100"/>
        </p:scale>
        <p:origin x="1074" y="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120127-9FC1-4D44-BFF2-2F77E5433948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D89646-4F35-49C2-BD28-89287C170EC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48665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8972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3308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5900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5189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95975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29056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32145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88827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71413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44323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92810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8097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02428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46606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84750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47342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55010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86767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10117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00094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31349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700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720F0C6-20AC-41EB-97A9-F4D49B814E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E32E3D7A-E6B7-4F3B-A3A4-432551739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5913F9FC-9EB9-4B41-B003-FC4C036B1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FB8E113-6156-4872-81CC-442E8373B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6173B9A-A0EA-47D7-8D18-B6E2BD95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92271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FF7B4CC-9312-4102-9C7A-DD5776C3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9207E59-B014-409F-8E39-F07CF6FA4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D28C698E-FDE3-406F-AEF7-58C354D6F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DBB6EE0-1F7E-4C3D-8524-627F4FAB7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15A0C17-4537-4F4D-B727-1C89BF11B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02150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AD7298-5AF8-4835-97EB-C16ED6D23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3D2EC4FE-ACD0-4F71-A34B-36ED90506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525369C-E8DA-4A41-A021-C2AFFA6B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09E6631D-4B2B-42B6-B88C-990FA7605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54B4A319-5C9B-46DF-96B8-F30BC39F7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4177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DD86A31-D5EC-46FA-A235-F151422FA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052F68FD-8072-4020-B6C4-C8DEF5ACC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CB43AF00-F0E0-4F57-8814-5AB4B0C03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89D9695B-1677-4255-A36B-ADA53963E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32F05351-67C2-46C6-A91C-414650F2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D2959A3-E6A4-4BB0-BE95-F23CF5F5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9874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1550276-9848-4578-8364-691220AD2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11C9CFA5-81EF-4418-9CE2-C9EB8CE5F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8144BA92-B3F1-426D-9721-D505666C5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34964523-2FE6-420B-BF7F-3ED5906588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4EE8D821-AC0B-4F1C-AC1B-68CAEA6E8C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0836FDB2-AE28-437A-B450-FC5FA0970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3CC56F37-5360-4ED6-9EFB-B4959D6A0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8423FDBB-6E0A-4AD0-AD73-FB22040EE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8523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2BE337C-659B-44A0-815E-1CE7F2FDB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59D7B6A3-3626-4AD7-97D4-F6210A237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D50B290B-CDC6-4F07-927A-EB7F796E2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5AD0E512-8E7A-4A77-8496-D36864CFC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2446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05F803E6-97F1-4D9B-A18A-566A4A16D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D16003C0-6EB6-4C9B-A531-7B4E3CE4C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EA301AA-05AA-466A-BB11-E4CEB6F9F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0658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EAAEFBB-DCF4-46CF-9FC6-8D65BCEB9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DFACB05B-E524-44F7-BF66-694B0E333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5473C60C-80C9-4542-852E-B22F6BA60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5209058B-2FCA-4D37-A928-B77A09F78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2F8D9052-7B1B-4DEA-BE59-76E1CA206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F7BFCBB-BB2D-41CB-8EF4-1D6154D05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4644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AA72A12-B4CE-41C0-824E-4DB22C0C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4331ABF6-AF41-4DA6-82BC-340BA6382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D4AD854A-F202-4241-AFA5-8F8D5175F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D2D25601-E5C6-4DAA-A438-750D7B0C4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C1A411BF-7CE1-4136-85D0-CEA759EB3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EBD64BFB-00A3-49A7-B9AF-C93C938A5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6863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CBF383B-9D9C-4567-A73F-3964FF66D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42568873-5978-4A13-BA12-F77F173EB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788EFFCE-A34B-4F95-B3D5-603927E16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BE576DF-BE6C-4DE7-BDD8-60E8F026D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4B323CB-AAB1-4C9E-AE28-C6179CB9C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9656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E176F3CB-2A60-46CD-8CF9-DD053E08C8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62F4BEC8-6DEB-41E5-B12D-18B14C6B0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CC7DD041-7F64-4984-A13C-EE7907028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6502BD5F-24B7-4FDD-BD59-39295F573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4E0B5687-7B67-47CF-995B-36EF0D417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9713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Στυλ κύριου υπότιτλου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24216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10095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2586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143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κειμένου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6" name="Θέση περιεχομένου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7" name="Θέση ημερομηνίας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8" name="Θέση υποσέλιδου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6135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27422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3" name="Θέση υποσέλιδου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529390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76569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εικόνας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5792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28904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27019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992F1800-E376-4EAC-8DCE-EF767BC9F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93EDA18A-E08C-433A-8864-CE510E638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F5AF37D2-402E-4529-9EEC-414BB35C59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CF16FB6-3B9A-47F7-BC11-0CD0D44781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A057F2B-A2D8-4FC1-B53F-4487A3875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77641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43682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site/thramboulidiskleanthi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steemit.com/steemmakers/@filler/make-a-calculator-with-logic-gates-digital-electronics-series-part-3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Υπότιτλος 2">
            <a:extLst>
              <a:ext uri="{FF2B5EF4-FFF2-40B4-BE49-F238E27FC236}">
                <a16:creationId xmlns:a16="http://schemas.microsoft.com/office/drawing/2014/main" id="{999AB7B1-2CA7-4F2E-91BE-62A4C3CC57D6}"/>
              </a:ext>
            </a:extLst>
          </p:cNvPr>
          <p:cNvSpPr txBox="1">
            <a:spLocks/>
          </p:cNvSpPr>
          <p:nvPr/>
        </p:nvSpPr>
        <p:spPr>
          <a:xfrm>
            <a:off x="-3" y="48411"/>
            <a:ext cx="12192002" cy="124981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Αντικειμενοστρεφής Προγραμματισμός </a:t>
            </a:r>
            <a:b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</a:b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(</a:t>
            </a:r>
            <a:r>
              <a:rPr lang="el-GR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Object-Oriented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</a:t>
            </a:r>
            <a:r>
              <a:rPr lang="el-GR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Programming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)</a:t>
            </a:r>
            <a:endParaRPr lang="en-US" sz="28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50C4F10-C081-CD71-17C8-8DAD4C7DE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773068"/>
            <a:ext cx="8610600" cy="141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4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Book Antiqua" panose="02040602050305030304" pitchFamily="18" charset="0"/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800" b="0" i="0" kern="0" dirty="0">
                <a:solidFill>
                  <a:srgbClr val="800000"/>
                </a:solidFill>
                <a:latin typeface="Times New Roman" panose="02020603050405020304" pitchFamily="18" charset="0"/>
              </a:rPr>
              <a:t>Kleanthis Thramboulidis</a:t>
            </a: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600" i="0" kern="0" dirty="0">
                <a:latin typeface="Times New Roman" panose="02020603050405020304" pitchFamily="18" charset="0"/>
              </a:rPr>
              <a:t>Prof. of Software and System Engineering </a:t>
            </a: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600" b="0" i="0" kern="0" dirty="0">
                <a:latin typeface="Times New Roman" panose="02020603050405020304" pitchFamily="18" charset="0"/>
              </a:rPr>
              <a:t>University of Patras</a:t>
            </a:r>
            <a:r>
              <a:rPr lang="el-GR" altLang="el-GR" sz="1800" b="0" i="0" kern="0" dirty="0">
                <a:latin typeface="Times New Roman" panose="02020603050405020304" pitchFamily="18" charset="0"/>
              </a:rPr>
              <a:t> </a:t>
            </a:r>
            <a:endParaRPr lang="en-US" altLang="el-GR" sz="1800" b="0" i="0" kern="0" dirty="0"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600" b="0" i="0" dirty="0">
                <a:latin typeface="Times New Roman" panose="02020603050405020304" pitchFamily="18" charset="0"/>
                <a:hlinkClick r:id="rId3"/>
              </a:rPr>
              <a:t>https://sites.google.com/site/thramboulidiskleanthis/</a:t>
            </a:r>
            <a:endParaRPr lang="en-US" altLang="el-GR" sz="1600" b="0" i="0" dirty="0"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endParaRPr lang="el-GR" altLang="el-GR" sz="1800" kern="0" dirty="0"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endParaRPr lang="en-GB" altLang="el-GR" sz="1800" b="1" kern="0" dirty="0">
              <a:latin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036E0A-62C8-F25D-25D5-595B0B27A6B1}"/>
              </a:ext>
            </a:extLst>
          </p:cNvPr>
          <p:cNvSpPr txBox="1"/>
          <p:nvPr/>
        </p:nvSpPr>
        <p:spPr>
          <a:xfrm>
            <a:off x="0" y="1318086"/>
            <a:ext cx="1769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9853D"/>
                </a:solidFill>
                <a:latin typeface="Bahnschrift" panose="020B0502040204020203" pitchFamily="34" charset="0"/>
              </a:rPr>
              <a:t>(CEID_NNY106)</a:t>
            </a:r>
            <a:endParaRPr lang="el-GR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5F3EE9-A938-D663-D46A-160783F1F27F}"/>
              </a:ext>
            </a:extLst>
          </p:cNvPr>
          <p:cNvSpPr txBox="1"/>
          <p:nvPr/>
        </p:nvSpPr>
        <p:spPr>
          <a:xfrm>
            <a:off x="560303" y="2462259"/>
            <a:ext cx="1314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Κύρια Πηγή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171E6F-8AE9-B75E-1823-7991CADC80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123" y="2741663"/>
            <a:ext cx="1950889" cy="2819644"/>
          </a:xfrm>
          <a:prstGeom prst="rect">
            <a:avLst/>
          </a:prstGeom>
        </p:spPr>
      </p:pic>
      <p:sp>
        <p:nvSpPr>
          <p:cNvPr id="4" name="Υπότιτλος 2">
            <a:extLst>
              <a:ext uri="{FF2B5EF4-FFF2-40B4-BE49-F238E27FC236}">
                <a16:creationId xmlns:a16="http://schemas.microsoft.com/office/drawing/2014/main" id="{1FEF44B4-5484-7F60-BA37-96313DC3B896}"/>
              </a:ext>
            </a:extLst>
          </p:cNvPr>
          <p:cNvSpPr txBox="1">
            <a:spLocks/>
          </p:cNvSpPr>
          <p:nvPr/>
        </p:nvSpPr>
        <p:spPr>
          <a:xfrm>
            <a:off x="-4" y="1296692"/>
            <a:ext cx="7748956" cy="14633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60D69E"/>
                </a:solidFill>
                <a:latin typeface="Bahnschrift" panose="020B0502040204020203" pitchFamily="34" charset="0"/>
              </a:rPr>
              <a:t>LEGO Approach - </a:t>
            </a:r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Activity 4.8 </a:t>
            </a:r>
            <a:endParaRPr lang="en-US" sz="4000" b="1" dirty="0">
              <a:solidFill>
                <a:srgbClr val="60D69E"/>
              </a:solidFill>
              <a:latin typeface="Bahnschrift" panose="020B0502040204020203" pitchFamily="34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Logic Gates Circuit Simulator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F3F1DF-97A8-0745-D06F-F345A61D9C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8952" y="1249095"/>
            <a:ext cx="4443044" cy="5019232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1AC6608-7C00-770A-D4FC-06C135BF8CDE}"/>
              </a:ext>
            </a:extLst>
          </p:cNvPr>
          <p:cNvSpPr/>
          <p:nvPr/>
        </p:nvSpPr>
        <p:spPr>
          <a:xfrm>
            <a:off x="239084" y="3913536"/>
            <a:ext cx="1950889" cy="31272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1600" dirty="0"/>
              <a:t>Κεφάλαιο: </a:t>
            </a:r>
            <a:r>
              <a:rPr lang="en-GB" sz="1600" dirty="0"/>
              <a:t>4</a:t>
            </a:r>
            <a:endParaRPr lang="el-GR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96A4A3-88B3-F04A-0B91-01BBBF200BC0}"/>
              </a:ext>
            </a:extLst>
          </p:cNvPr>
          <p:cNvSpPr txBox="1"/>
          <p:nvPr/>
        </p:nvSpPr>
        <p:spPr>
          <a:xfrm>
            <a:off x="192732" y="4202653"/>
            <a:ext cx="1084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4.10</a:t>
            </a:r>
            <a:endParaRPr lang="el-G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76B36B-B882-FA86-7F63-023186554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0415" y="2886962"/>
            <a:ext cx="4986338" cy="266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5515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Breadboard – Logic Gates Circuit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63824" y="6599394"/>
            <a:ext cx="6261529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Activity 4.8 : Logic Gates Circuit Simulator</a:t>
            </a: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418637F6-22F1-6198-3C84-3A27577FE8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508873">
            <a:off x="233622" y="1918045"/>
            <a:ext cx="4384533" cy="3502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BE3C1390-A25B-B5DC-4F6F-9CDF0E9E1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8472" y="2016000"/>
            <a:ext cx="6636004" cy="3547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3">
            <a:extLst>
              <a:ext uri="{FF2B5EF4-FFF2-40B4-BE49-F238E27FC236}">
                <a16:creationId xmlns:a16="http://schemas.microsoft.com/office/drawing/2014/main" id="{F052DF8F-7C77-60EF-5313-84618B4667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5999" y="984697"/>
            <a:ext cx="498633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el-GR" sz="24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hlinkClick r:id="rId5"/>
              </a:rPr>
            </a:b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Calculator with logic gates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642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Εξομοιωτής κυκλωμάτων λογικών πυλών</a:t>
            </a:r>
            <a:endParaRPr lang="en-GB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63824" y="6599394"/>
            <a:ext cx="6261529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Activity 4.8 : Logic Gates Circuit Simulator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9569176-DA62-64A4-82A1-7AAFE3C46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58816"/>
            <a:ext cx="10267234" cy="151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Στα πλαίσια της άσκησης αυτής θα αναπτύξετε ένα πρόγραμμα σύμφωνα με το οποίο το σύστημα θα σας επιτρέπει </a:t>
            </a:r>
            <a:endParaRPr kumimoji="0" lang="en-US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98C3A653-2809-B6E1-F0E3-7A3BD6984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0073" y="1740664"/>
            <a:ext cx="6342681" cy="2265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742950" marR="0" lvl="1" indent="-28575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να δημιουργείτε ένα κύκλωμα πάνω σε ένα </a:t>
            </a:r>
            <a:r>
              <a:rPr kumimoji="0" lang="en-US" altLang="el-G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breadboard</a:t>
            </a:r>
            <a:r>
              <a:rPr kumimoji="0" lang="el-GR" altLang="el-G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, </a:t>
            </a:r>
            <a:endParaRPr kumimoji="0" lang="en-US" altLang="el-GR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742950" marR="0" lvl="1" indent="-28575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να δίνετε τιμές στις εισόδους του κυκλώματος</a:t>
            </a:r>
          </a:p>
          <a:p>
            <a:pPr marL="742950" marR="0" lvl="1" indent="-28575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να παίρνετε τις τιμές των εξόδων του κυκλώματος σας.</a:t>
            </a:r>
            <a:endParaRPr kumimoji="0" lang="en-US" altLang="el-GR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91583C26-7753-46F9-CA5F-5FB5AC076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7" y="5300663"/>
            <a:ext cx="11656043" cy="936625"/>
          </a:xfrm>
          <a:prstGeom prst="wedgeRoundRectCallout">
            <a:avLst>
              <a:gd name="adj1" fmla="val -43907"/>
              <a:gd name="adj2" fmla="val 81715"/>
              <a:gd name="adj3" fmla="val 16667"/>
            </a:avLst>
          </a:prstGeom>
          <a:solidFill>
            <a:srgbClr val="FFCF0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Καθώς </a:t>
            </a:r>
            <a:r>
              <a:rPr kumimoji="0" lang="el-GR" altLang="el-GR" sz="18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δεν είστε σε θέση να αναπτύξετε ένα τέτοιο πρόγραμμα</a:t>
            </a:r>
            <a:r>
              <a:rPr kumimoji="0" lang="el-GR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 θα πρέπει να εκτελέσετε ένα σύνολο από δραστηριότητες και ενέργειες που θα σας οδηγήσουν βήμα προς βήμα στη δημιουργία του δικού σας εξομοιωτή κυκλωμάτων λογικών πυλών.</a:t>
            </a:r>
          </a:p>
        </p:txBody>
      </p:sp>
      <p:grpSp>
        <p:nvGrpSpPr>
          <p:cNvPr id="14" name="Group 178">
            <a:extLst>
              <a:ext uri="{FF2B5EF4-FFF2-40B4-BE49-F238E27FC236}">
                <a16:creationId xmlns:a16="http://schemas.microsoft.com/office/drawing/2014/main" id="{AE21B136-2D65-1298-8B09-263F1414D6A6}"/>
              </a:ext>
            </a:extLst>
          </p:cNvPr>
          <p:cNvGrpSpPr>
            <a:grpSpLocks/>
          </p:cNvGrpSpPr>
          <p:nvPr/>
        </p:nvGrpSpPr>
        <p:grpSpPr bwMode="auto">
          <a:xfrm>
            <a:off x="6565392" y="1632491"/>
            <a:ext cx="5485939" cy="3416118"/>
            <a:chOff x="3016" y="1389"/>
            <a:chExt cx="2585" cy="1770"/>
          </a:xfrm>
        </p:grpSpPr>
        <p:sp>
          <p:nvSpPr>
            <p:cNvPr id="15" name="Rectangle 7">
              <a:extLst>
                <a:ext uri="{FF2B5EF4-FFF2-40B4-BE49-F238E27FC236}">
                  <a16:creationId xmlns:a16="http://schemas.microsoft.com/office/drawing/2014/main" id="{2E78B552-D544-3FF7-29F7-4C0E832A6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" y="1389"/>
              <a:ext cx="2585" cy="177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l-GR" altLang="el-GR" sz="2400"/>
            </a:p>
          </p:txBody>
        </p:sp>
        <p:grpSp>
          <p:nvGrpSpPr>
            <p:cNvPr id="16" name="Group 8">
              <a:extLst>
                <a:ext uri="{FF2B5EF4-FFF2-40B4-BE49-F238E27FC236}">
                  <a16:creationId xmlns:a16="http://schemas.microsoft.com/office/drawing/2014/main" id="{2DA098F6-5463-46BD-EC17-49B865BB7C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40" y="1468"/>
              <a:ext cx="150" cy="1652"/>
              <a:chOff x="720" y="960"/>
              <a:chExt cx="192" cy="2016"/>
            </a:xfrm>
          </p:grpSpPr>
          <p:sp>
            <p:nvSpPr>
              <p:cNvPr id="165" name="Rectangle 9">
                <a:extLst>
                  <a:ext uri="{FF2B5EF4-FFF2-40B4-BE49-F238E27FC236}">
                    <a16:creationId xmlns:a16="http://schemas.microsoft.com/office/drawing/2014/main" id="{FB62F112-D27B-1A47-E9AC-09EF05F9D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960"/>
                <a:ext cx="192" cy="2016"/>
              </a:xfrm>
              <a:prstGeom prst="rect">
                <a:avLst/>
              </a:prstGeom>
              <a:solidFill>
                <a:srgbClr val="339966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66" name="Rectangle 10">
                <a:extLst>
                  <a:ext uri="{FF2B5EF4-FFF2-40B4-BE49-F238E27FC236}">
                    <a16:creationId xmlns:a16="http://schemas.microsoft.com/office/drawing/2014/main" id="{BB11BCAF-D781-9FA4-6F3C-9691CC7E8A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1056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67" name="Rectangle 11">
                <a:extLst>
                  <a:ext uri="{FF2B5EF4-FFF2-40B4-BE49-F238E27FC236}">
                    <a16:creationId xmlns:a16="http://schemas.microsoft.com/office/drawing/2014/main" id="{B0489620-A5AE-D391-59A7-1C0C7D5D05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1248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68" name="Rectangle 12">
                <a:extLst>
                  <a:ext uri="{FF2B5EF4-FFF2-40B4-BE49-F238E27FC236}">
                    <a16:creationId xmlns:a16="http://schemas.microsoft.com/office/drawing/2014/main" id="{3A6A64EC-F8C1-6C53-CDAE-F9D5CA7077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1440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69" name="Rectangle 13">
                <a:extLst>
                  <a:ext uri="{FF2B5EF4-FFF2-40B4-BE49-F238E27FC236}">
                    <a16:creationId xmlns:a16="http://schemas.microsoft.com/office/drawing/2014/main" id="{422F29DD-F433-9DF0-769B-77A418BFC3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1632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70" name="Rectangle 14">
                <a:extLst>
                  <a:ext uri="{FF2B5EF4-FFF2-40B4-BE49-F238E27FC236}">
                    <a16:creationId xmlns:a16="http://schemas.microsoft.com/office/drawing/2014/main" id="{B99FB60C-5637-F6FA-66BC-A37B07E7CD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1824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71" name="Rectangle 15">
                <a:extLst>
                  <a:ext uri="{FF2B5EF4-FFF2-40B4-BE49-F238E27FC236}">
                    <a16:creationId xmlns:a16="http://schemas.microsoft.com/office/drawing/2014/main" id="{D381EF86-4283-2531-34E0-E4B158FAD8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2016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72" name="Rectangle 16">
                <a:extLst>
                  <a:ext uri="{FF2B5EF4-FFF2-40B4-BE49-F238E27FC236}">
                    <a16:creationId xmlns:a16="http://schemas.microsoft.com/office/drawing/2014/main" id="{84420052-07ED-C5BB-987A-9EDF67A4B0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2208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73" name="Rectangle 17">
                <a:extLst>
                  <a:ext uri="{FF2B5EF4-FFF2-40B4-BE49-F238E27FC236}">
                    <a16:creationId xmlns:a16="http://schemas.microsoft.com/office/drawing/2014/main" id="{413E4C2C-57AC-E3E6-013B-402EAC61C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74" name="Rectangle 18">
                <a:extLst>
                  <a:ext uri="{FF2B5EF4-FFF2-40B4-BE49-F238E27FC236}">
                    <a16:creationId xmlns:a16="http://schemas.microsoft.com/office/drawing/2014/main" id="{D041B8C1-77C8-D971-7C6B-CF3C8A9D0A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2592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75" name="Rectangle 19">
                <a:extLst>
                  <a:ext uri="{FF2B5EF4-FFF2-40B4-BE49-F238E27FC236}">
                    <a16:creationId xmlns:a16="http://schemas.microsoft.com/office/drawing/2014/main" id="{FDAC1EF7-C874-53A8-C4F2-855CAEA709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2784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</p:grpSp>
        <p:grpSp>
          <p:nvGrpSpPr>
            <p:cNvPr id="17" name="Group 20">
              <a:extLst>
                <a:ext uri="{FF2B5EF4-FFF2-40B4-BE49-F238E27FC236}">
                  <a16:creationId xmlns:a16="http://schemas.microsoft.com/office/drawing/2014/main" id="{A4FDF10C-2725-A89D-8013-6D95CF6CFF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28" y="1468"/>
              <a:ext cx="149" cy="1652"/>
              <a:chOff x="720" y="960"/>
              <a:chExt cx="192" cy="2016"/>
            </a:xfrm>
          </p:grpSpPr>
          <p:sp>
            <p:nvSpPr>
              <p:cNvPr id="154" name="Rectangle 21">
                <a:extLst>
                  <a:ext uri="{FF2B5EF4-FFF2-40B4-BE49-F238E27FC236}">
                    <a16:creationId xmlns:a16="http://schemas.microsoft.com/office/drawing/2014/main" id="{A5BEEA43-95BA-3FAC-9F5A-63FC0C8A53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960"/>
                <a:ext cx="192" cy="2016"/>
              </a:xfrm>
              <a:prstGeom prst="rect">
                <a:avLst/>
              </a:prstGeom>
              <a:solidFill>
                <a:srgbClr val="339966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55" name="Rectangle 22">
                <a:extLst>
                  <a:ext uri="{FF2B5EF4-FFF2-40B4-BE49-F238E27FC236}">
                    <a16:creationId xmlns:a16="http://schemas.microsoft.com/office/drawing/2014/main" id="{9C3685A2-9CDC-46FA-CCB8-BD11E8C95D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1056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56" name="Rectangle 23">
                <a:extLst>
                  <a:ext uri="{FF2B5EF4-FFF2-40B4-BE49-F238E27FC236}">
                    <a16:creationId xmlns:a16="http://schemas.microsoft.com/office/drawing/2014/main" id="{D2C9A001-A4D6-5920-F8AA-9EBADC4FDF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1248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57" name="Rectangle 24">
                <a:extLst>
                  <a:ext uri="{FF2B5EF4-FFF2-40B4-BE49-F238E27FC236}">
                    <a16:creationId xmlns:a16="http://schemas.microsoft.com/office/drawing/2014/main" id="{D0B65D2C-F41F-A1EB-66D8-1A5029BABD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1440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58" name="Rectangle 25">
                <a:extLst>
                  <a:ext uri="{FF2B5EF4-FFF2-40B4-BE49-F238E27FC236}">
                    <a16:creationId xmlns:a16="http://schemas.microsoft.com/office/drawing/2014/main" id="{EA714A60-AC42-E266-EEFE-68159F0847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1632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59" name="Rectangle 26">
                <a:extLst>
                  <a:ext uri="{FF2B5EF4-FFF2-40B4-BE49-F238E27FC236}">
                    <a16:creationId xmlns:a16="http://schemas.microsoft.com/office/drawing/2014/main" id="{7110EE3E-C60F-76D7-4FE6-4486C9816E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1824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60" name="Rectangle 27">
                <a:extLst>
                  <a:ext uri="{FF2B5EF4-FFF2-40B4-BE49-F238E27FC236}">
                    <a16:creationId xmlns:a16="http://schemas.microsoft.com/office/drawing/2014/main" id="{0DFD2DF0-6583-50DA-883B-9185AF8CAF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2016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61" name="Rectangle 28">
                <a:extLst>
                  <a:ext uri="{FF2B5EF4-FFF2-40B4-BE49-F238E27FC236}">
                    <a16:creationId xmlns:a16="http://schemas.microsoft.com/office/drawing/2014/main" id="{3A327A95-5593-B353-682F-B348298E29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2208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62" name="Rectangle 29">
                <a:extLst>
                  <a:ext uri="{FF2B5EF4-FFF2-40B4-BE49-F238E27FC236}">
                    <a16:creationId xmlns:a16="http://schemas.microsoft.com/office/drawing/2014/main" id="{DE5DD659-A372-9047-9608-38EBBCE9D0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63" name="Rectangle 30">
                <a:extLst>
                  <a:ext uri="{FF2B5EF4-FFF2-40B4-BE49-F238E27FC236}">
                    <a16:creationId xmlns:a16="http://schemas.microsoft.com/office/drawing/2014/main" id="{9CE81F45-6E46-2828-1F5F-CBCB6672CB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2592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64" name="Rectangle 31">
                <a:extLst>
                  <a:ext uri="{FF2B5EF4-FFF2-40B4-BE49-F238E27FC236}">
                    <a16:creationId xmlns:a16="http://schemas.microsoft.com/office/drawing/2014/main" id="{6DA38340-5DF3-3E39-A919-5166E01083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2784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</p:grpSp>
        <p:grpSp>
          <p:nvGrpSpPr>
            <p:cNvPr id="18" name="Group 32">
              <a:extLst>
                <a:ext uri="{FF2B5EF4-FFF2-40B4-BE49-F238E27FC236}">
                  <a16:creationId xmlns:a16="http://schemas.microsoft.com/office/drawing/2014/main" id="{498C6EBC-AA05-CF6D-4816-5CB7E85F79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5" y="1468"/>
              <a:ext cx="149" cy="1652"/>
              <a:chOff x="720" y="960"/>
              <a:chExt cx="192" cy="2016"/>
            </a:xfrm>
          </p:grpSpPr>
          <p:sp>
            <p:nvSpPr>
              <p:cNvPr id="143" name="Rectangle 33">
                <a:extLst>
                  <a:ext uri="{FF2B5EF4-FFF2-40B4-BE49-F238E27FC236}">
                    <a16:creationId xmlns:a16="http://schemas.microsoft.com/office/drawing/2014/main" id="{8B4D9C4A-E201-821E-1D53-00D486F79E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960"/>
                <a:ext cx="192" cy="2016"/>
              </a:xfrm>
              <a:prstGeom prst="rect">
                <a:avLst/>
              </a:prstGeom>
              <a:solidFill>
                <a:srgbClr val="339966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44" name="Rectangle 34">
                <a:extLst>
                  <a:ext uri="{FF2B5EF4-FFF2-40B4-BE49-F238E27FC236}">
                    <a16:creationId xmlns:a16="http://schemas.microsoft.com/office/drawing/2014/main" id="{0D913860-A7C4-7E2C-B0DE-F1C695E8C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1056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45" name="Rectangle 35">
                <a:extLst>
                  <a:ext uri="{FF2B5EF4-FFF2-40B4-BE49-F238E27FC236}">
                    <a16:creationId xmlns:a16="http://schemas.microsoft.com/office/drawing/2014/main" id="{F900C045-CB2A-A69B-5FD8-1CEE41D03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1248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46" name="Rectangle 36">
                <a:extLst>
                  <a:ext uri="{FF2B5EF4-FFF2-40B4-BE49-F238E27FC236}">
                    <a16:creationId xmlns:a16="http://schemas.microsoft.com/office/drawing/2014/main" id="{7618A43D-1BA5-5DE5-8517-B76B22879A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1440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47" name="Rectangle 37">
                <a:extLst>
                  <a:ext uri="{FF2B5EF4-FFF2-40B4-BE49-F238E27FC236}">
                    <a16:creationId xmlns:a16="http://schemas.microsoft.com/office/drawing/2014/main" id="{06E34840-6C80-A46A-2583-7862AC22C6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1632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48" name="Rectangle 38">
                <a:extLst>
                  <a:ext uri="{FF2B5EF4-FFF2-40B4-BE49-F238E27FC236}">
                    <a16:creationId xmlns:a16="http://schemas.microsoft.com/office/drawing/2014/main" id="{195961FF-F2F6-CE66-6C7B-9B64D03642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1824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49" name="Rectangle 39">
                <a:extLst>
                  <a:ext uri="{FF2B5EF4-FFF2-40B4-BE49-F238E27FC236}">
                    <a16:creationId xmlns:a16="http://schemas.microsoft.com/office/drawing/2014/main" id="{49A69E5B-EC47-1D41-7883-EB3D146EA3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2016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50" name="Rectangle 40">
                <a:extLst>
                  <a:ext uri="{FF2B5EF4-FFF2-40B4-BE49-F238E27FC236}">
                    <a16:creationId xmlns:a16="http://schemas.microsoft.com/office/drawing/2014/main" id="{FFB8F9FF-CAC0-8C4B-2DBB-1F11C1108B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2208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51" name="Rectangle 41">
                <a:extLst>
                  <a:ext uri="{FF2B5EF4-FFF2-40B4-BE49-F238E27FC236}">
                    <a16:creationId xmlns:a16="http://schemas.microsoft.com/office/drawing/2014/main" id="{E8A90A7A-8581-F8EF-3FAB-91F5054D26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52" name="Rectangle 42">
                <a:extLst>
                  <a:ext uri="{FF2B5EF4-FFF2-40B4-BE49-F238E27FC236}">
                    <a16:creationId xmlns:a16="http://schemas.microsoft.com/office/drawing/2014/main" id="{3BB94F57-DCE2-FAEA-42FB-B6C7DF322C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2592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53" name="Rectangle 43">
                <a:extLst>
                  <a:ext uri="{FF2B5EF4-FFF2-40B4-BE49-F238E27FC236}">
                    <a16:creationId xmlns:a16="http://schemas.microsoft.com/office/drawing/2014/main" id="{7C20EF4F-90EB-1AE6-6EEF-1DDBD7C363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2784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</p:grpSp>
        <p:grpSp>
          <p:nvGrpSpPr>
            <p:cNvPr id="19" name="Group 44">
              <a:extLst>
                <a:ext uri="{FF2B5EF4-FFF2-40B4-BE49-F238E27FC236}">
                  <a16:creationId xmlns:a16="http://schemas.microsoft.com/office/drawing/2014/main" id="{541DB638-5663-2DC1-80F4-659ED66A4E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02" y="1468"/>
              <a:ext cx="149" cy="1652"/>
              <a:chOff x="720" y="960"/>
              <a:chExt cx="192" cy="2016"/>
            </a:xfrm>
          </p:grpSpPr>
          <p:sp>
            <p:nvSpPr>
              <p:cNvPr id="132" name="Rectangle 45">
                <a:extLst>
                  <a:ext uri="{FF2B5EF4-FFF2-40B4-BE49-F238E27FC236}">
                    <a16:creationId xmlns:a16="http://schemas.microsoft.com/office/drawing/2014/main" id="{C2648424-972A-B836-ED05-DFF6B04F03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960"/>
                <a:ext cx="192" cy="2016"/>
              </a:xfrm>
              <a:prstGeom prst="rect">
                <a:avLst/>
              </a:prstGeom>
              <a:solidFill>
                <a:srgbClr val="339966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33" name="Rectangle 46">
                <a:extLst>
                  <a:ext uri="{FF2B5EF4-FFF2-40B4-BE49-F238E27FC236}">
                    <a16:creationId xmlns:a16="http://schemas.microsoft.com/office/drawing/2014/main" id="{32E15060-5F26-72EE-4565-A39BA600AA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1056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34" name="Rectangle 47">
                <a:extLst>
                  <a:ext uri="{FF2B5EF4-FFF2-40B4-BE49-F238E27FC236}">
                    <a16:creationId xmlns:a16="http://schemas.microsoft.com/office/drawing/2014/main" id="{B35B5908-354C-7FD4-B128-6AB9D0956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1248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35" name="Rectangle 48">
                <a:extLst>
                  <a:ext uri="{FF2B5EF4-FFF2-40B4-BE49-F238E27FC236}">
                    <a16:creationId xmlns:a16="http://schemas.microsoft.com/office/drawing/2014/main" id="{DB1A1325-E5DD-A51C-E9BA-1534CA5EF5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1440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36" name="Rectangle 49">
                <a:extLst>
                  <a:ext uri="{FF2B5EF4-FFF2-40B4-BE49-F238E27FC236}">
                    <a16:creationId xmlns:a16="http://schemas.microsoft.com/office/drawing/2014/main" id="{6C3DEBE4-1BAF-1A41-A392-582E1B1754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1632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37" name="Rectangle 50">
                <a:extLst>
                  <a:ext uri="{FF2B5EF4-FFF2-40B4-BE49-F238E27FC236}">
                    <a16:creationId xmlns:a16="http://schemas.microsoft.com/office/drawing/2014/main" id="{B88E2483-7874-21A8-1FDC-5977FF706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1824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38" name="Rectangle 51">
                <a:extLst>
                  <a:ext uri="{FF2B5EF4-FFF2-40B4-BE49-F238E27FC236}">
                    <a16:creationId xmlns:a16="http://schemas.microsoft.com/office/drawing/2014/main" id="{73D3DDE0-4ED1-F372-8577-F2084D0FB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2016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39" name="Rectangle 52">
                <a:extLst>
                  <a:ext uri="{FF2B5EF4-FFF2-40B4-BE49-F238E27FC236}">
                    <a16:creationId xmlns:a16="http://schemas.microsoft.com/office/drawing/2014/main" id="{AD3A9DE3-9341-2600-F48A-4C23AB0EC4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2208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40" name="Rectangle 53">
                <a:extLst>
                  <a:ext uri="{FF2B5EF4-FFF2-40B4-BE49-F238E27FC236}">
                    <a16:creationId xmlns:a16="http://schemas.microsoft.com/office/drawing/2014/main" id="{68A94024-C67E-1D7E-98F2-E9B88D6EA0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41" name="Rectangle 54">
                <a:extLst>
                  <a:ext uri="{FF2B5EF4-FFF2-40B4-BE49-F238E27FC236}">
                    <a16:creationId xmlns:a16="http://schemas.microsoft.com/office/drawing/2014/main" id="{301A565E-23CF-E38C-4743-BA4AC9ED10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2592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  <p:sp>
            <p:nvSpPr>
              <p:cNvPr id="142" name="Rectangle 55">
                <a:extLst>
                  <a:ext uri="{FF2B5EF4-FFF2-40B4-BE49-F238E27FC236}">
                    <a16:creationId xmlns:a16="http://schemas.microsoft.com/office/drawing/2014/main" id="{E4DBE471-CC3F-2D85-F387-46C49ED1E0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2784"/>
                <a:ext cx="96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l-GR" altLang="el-GR" sz="2400"/>
              </a:p>
            </p:txBody>
          </p:sp>
        </p:grpSp>
        <p:grpSp>
          <p:nvGrpSpPr>
            <p:cNvPr id="20" name="Group 56">
              <a:extLst>
                <a:ext uri="{FF2B5EF4-FFF2-40B4-BE49-F238E27FC236}">
                  <a16:creationId xmlns:a16="http://schemas.microsoft.com/office/drawing/2014/main" id="{867337A9-7243-A943-718C-8E8D09A8F2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91" y="1507"/>
              <a:ext cx="449" cy="79"/>
              <a:chOff x="144" y="1056"/>
              <a:chExt cx="576" cy="96"/>
            </a:xfrm>
          </p:grpSpPr>
          <p:sp>
            <p:nvSpPr>
              <p:cNvPr id="129" name="Line 57">
                <a:extLst>
                  <a:ext uri="{FF2B5EF4-FFF2-40B4-BE49-F238E27FC236}">
                    <a16:creationId xmlns:a16="http://schemas.microsoft.com/office/drawing/2014/main" id="{206EAEFE-2667-9A16-C022-97D9C5476A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1152"/>
                <a:ext cx="1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130" name="Line 58">
                <a:extLst>
                  <a:ext uri="{FF2B5EF4-FFF2-40B4-BE49-F238E27FC236}">
                    <a16:creationId xmlns:a16="http://schemas.microsoft.com/office/drawing/2014/main" id="{67B01DA1-ACC8-97C3-3FEC-129B26D877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" y="1152"/>
                <a:ext cx="28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131" name="Line 59">
                <a:extLst>
                  <a:ext uri="{FF2B5EF4-FFF2-40B4-BE49-F238E27FC236}">
                    <a16:creationId xmlns:a16="http://schemas.microsoft.com/office/drawing/2014/main" id="{8827B651-1B5B-0B4B-474B-5A5A473723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2" y="1056"/>
                <a:ext cx="144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</p:grpSp>
        <p:grpSp>
          <p:nvGrpSpPr>
            <p:cNvPr id="21" name="Group 60">
              <a:extLst>
                <a:ext uri="{FF2B5EF4-FFF2-40B4-BE49-F238E27FC236}">
                  <a16:creationId xmlns:a16="http://schemas.microsoft.com/office/drawing/2014/main" id="{120CB93C-A30E-F491-7881-2C46A71167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91" y="1664"/>
              <a:ext cx="449" cy="79"/>
              <a:chOff x="144" y="1056"/>
              <a:chExt cx="576" cy="96"/>
            </a:xfrm>
          </p:grpSpPr>
          <p:sp>
            <p:nvSpPr>
              <p:cNvPr id="126" name="Line 61">
                <a:extLst>
                  <a:ext uri="{FF2B5EF4-FFF2-40B4-BE49-F238E27FC236}">
                    <a16:creationId xmlns:a16="http://schemas.microsoft.com/office/drawing/2014/main" id="{56CA9A12-EDB4-B766-D4BE-D50158B598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1152"/>
                <a:ext cx="1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127" name="Line 62">
                <a:extLst>
                  <a:ext uri="{FF2B5EF4-FFF2-40B4-BE49-F238E27FC236}">
                    <a16:creationId xmlns:a16="http://schemas.microsoft.com/office/drawing/2014/main" id="{2287FC7F-F119-FFEE-3DEA-5799D8FA91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" y="1152"/>
                <a:ext cx="28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128" name="Line 63">
                <a:extLst>
                  <a:ext uri="{FF2B5EF4-FFF2-40B4-BE49-F238E27FC236}">
                    <a16:creationId xmlns:a16="http://schemas.microsoft.com/office/drawing/2014/main" id="{C8C45873-42BB-C1C5-6029-B716AE53A8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2" y="1056"/>
                <a:ext cx="144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</p:grpSp>
        <p:grpSp>
          <p:nvGrpSpPr>
            <p:cNvPr id="22" name="Group 64">
              <a:extLst>
                <a:ext uri="{FF2B5EF4-FFF2-40B4-BE49-F238E27FC236}">
                  <a16:creationId xmlns:a16="http://schemas.microsoft.com/office/drawing/2014/main" id="{909B9EE1-ADA1-CE50-C5C7-9ADB879188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91" y="2766"/>
              <a:ext cx="449" cy="78"/>
              <a:chOff x="144" y="1056"/>
              <a:chExt cx="576" cy="96"/>
            </a:xfrm>
          </p:grpSpPr>
          <p:sp>
            <p:nvSpPr>
              <p:cNvPr id="123" name="Line 65">
                <a:extLst>
                  <a:ext uri="{FF2B5EF4-FFF2-40B4-BE49-F238E27FC236}">
                    <a16:creationId xmlns:a16="http://schemas.microsoft.com/office/drawing/2014/main" id="{2C4302C7-7A1D-FB61-5472-6C586AA422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1152"/>
                <a:ext cx="1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124" name="Line 66">
                <a:extLst>
                  <a:ext uri="{FF2B5EF4-FFF2-40B4-BE49-F238E27FC236}">
                    <a16:creationId xmlns:a16="http://schemas.microsoft.com/office/drawing/2014/main" id="{18AAFE6F-6A97-5237-4CAF-8D1C760ADA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" y="1152"/>
                <a:ext cx="28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125" name="Line 67">
                <a:extLst>
                  <a:ext uri="{FF2B5EF4-FFF2-40B4-BE49-F238E27FC236}">
                    <a16:creationId xmlns:a16="http://schemas.microsoft.com/office/drawing/2014/main" id="{AF2FFDFA-1D10-3F80-CB71-8E14CE538C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2" y="1056"/>
                <a:ext cx="144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</p:grpSp>
        <p:grpSp>
          <p:nvGrpSpPr>
            <p:cNvPr id="23" name="Group 68">
              <a:extLst>
                <a:ext uri="{FF2B5EF4-FFF2-40B4-BE49-F238E27FC236}">
                  <a16:creationId xmlns:a16="http://schemas.microsoft.com/office/drawing/2014/main" id="{6FF1D0FF-A08B-E592-12D7-A088089988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91" y="2923"/>
              <a:ext cx="449" cy="79"/>
              <a:chOff x="144" y="1056"/>
              <a:chExt cx="576" cy="96"/>
            </a:xfrm>
          </p:grpSpPr>
          <p:sp>
            <p:nvSpPr>
              <p:cNvPr id="120" name="Line 69">
                <a:extLst>
                  <a:ext uri="{FF2B5EF4-FFF2-40B4-BE49-F238E27FC236}">
                    <a16:creationId xmlns:a16="http://schemas.microsoft.com/office/drawing/2014/main" id="{6D302D80-ED1F-7A45-252C-5A72F97609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1152"/>
                <a:ext cx="1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121" name="Line 70">
                <a:extLst>
                  <a:ext uri="{FF2B5EF4-FFF2-40B4-BE49-F238E27FC236}">
                    <a16:creationId xmlns:a16="http://schemas.microsoft.com/office/drawing/2014/main" id="{A59DEF30-36F5-105D-35DA-14BF8889C8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" y="1152"/>
                <a:ext cx="28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122" name="Line 71">
                <a:extLst>
                  <a:ext uri="{FF2B5EF4-FFF2-40B4-BE49-F238E27FC236}">
                    <a16:creationId xmlns:a16="http://schemas.microsoft.com/office/drawing/2014/main" id="{39EBD4D7-6AEC-9CD9-9599-526E24BF31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2" y="1056"/>
                <a:ext cx="144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</p:grpSp>
        <p:grpSp>
          <p:nvGrpSpPr>
            <p:cNvPr id="24" name="Group 72">
              <a:extLst>
                <a:ext uri="{FF2B5EF4-FFF2-40B4-BE49-F238E27FC236}">
                  <a16:creationId xmlns:a16="http://schemas.microsoft.com/office/drawing/2014/main" id="{C971E994-8F73-78AA-AD74-1840BA8D87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91" y="1822"/>
              <a:ext cx="449" cy="78"/>
              <a:chOff x="144" y="1056"/>
              <a:chExt cx="576" cy="96"/>
            </a:xfrm>
          </p:grpSpPr>
          <p:sp>
            <p:nvSpPr>
              <p:cNvPr id="117" name="Line 73">
                <a:extLst>
                  <a:ext uri="{FF2B5EF4-FFF2-40B4-BE49-F238E27FC236}">
                    <a16:creationId xmlns:a16="http://schemas.microsoft.com/office/drawing/2014/main" id="{BE2E61F6-FC81-F2E7-4D75-E857734504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1152"/>
                <a:ext cx="1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118" name="Line 74">
                <a:extLst>
                  <a:ext uri="{FF2B5EF4-FFF2-40B4-BE49-F238E27FC236}">
                    <a16:creationId xmlns:a16="http://schemas.microsoft.com/office/drawing/2014/main" id="{F3AD3A01-CA10-D2DC-2B6A-6FB6C03320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" y="1152"/>
                <a:ext cx="28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119" name="Line 75">
                <a:extLst>
                  <a:ext uri="{FF2B5EF4-FFF2-40B4-BE49-F238E27FC236}">
                    <a16:creationId xmlns:a16="http://schemas.microsoft.com/office/drawing/2014/main" id="{A120D356-4627-B6CC-50C7-F7366FF04B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2" y="1056"/>
                <a:ext cx="144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</p:grpSp>
        <p:grpSp>
          <p:nvGrpSpPr>
            <p:cNvPr id="25" name="Group 76">
              <a:extLst>
                <a:ext uri="{FF2B5EF4-FFF2-40B4-BE49-F238E27FC236}">
                  <a16:creationId xmlns:a16="http://schemas.microsoft.com/office/drawing/2014/main" id="{4B2F53AD-C266-4ADE-ABCB-BF363FBD78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91" y="1979"/>
              <a:ext cx="449" cy="79"/>
              <a:chOff x="144" y="1056"/>
              <a:chExt cx="576" cy="96"/>
            </a:xfrm>
          </p:grpSpPr>
          <p:sp>
            <p:nvSpPr>
              <p:cNvPr id="114" name="Line 77">
                <a:extLst>
                  <a:ext uri="{FF2B5EF4-FFF2-40B4-BE49-F238E27FC236}">
                    <a16:creationId xmlns:a16="http://schemas.microsoft.com/office/drawing/2014/main" id="{99127E56-0CF9-7A33-1A49-34D8E2C8D9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1152"/>
                <a:ext cx="1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115" name="Line 78">
                <a:extLst>
                  <a:ext uri="{FF2B5EF4-FFF2-40B4-BE49-F238E27FC236}">
                    <a16:creationId xmlns:a16="http://schemas.microsoft.com/office/drawing/2014/main" id="{E3B4ADC1-3D86-00E3-3712-79E627E63D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" y="1152"/>
                <a:ext cx="28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116" name="Line 79">
                <a:extLst>
                  <a:ext uri="{FF2B5EF4-FFF2-40B4-BE49-F238E27FC236}">
                    <a16:creationId xmlns:a16="http://schemas.microsoft.com/office/drawing/2014/main" id="{15C0C68B-91D7-5C68-3CA1-A2C4D81506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2" y="1056"/>
                <a:ext cx="144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</p:grpSp>
        <p:grpSp>
          <p:nvGrpSpPr>
            <p:cNvPr id="26" name="Group 80">
              <a:extLst>
                <a:ext uri="{FF2B5EF4-FFF2-40B4-BE49-F238E27FC236}">
                  <a16:creationId xmlns:a16="http://schemas.microsoft.com/office/drawing/2014/main" id="{2823024F-E0E7-3424-B260-22E5EB52AB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91" y="2136"/>
              <a:ext cx="449" cy="79"/>
              <a:chOff x="144" y="1056"/>
              <a:chExt cx="576" cy="96"/>
            </a:xfrm>
          </p:grpSpPr>
          <p:sp>
            <p:nvSpPr>
              <p:cNvPr id="111" name="Line 81">
                <a:extLst>
                  <a:ext uri="{FF2B5EF4-FFF2-40B4-BE49-F238E27FC236}">
                    <a16:creationId xmlns:a16="http://schemas.microsoft.com/office/drawing/2014/main" id="{E35F4251-8CC3-A6A7-5FFC-552AF7FEE6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1152"/>
                <a:ext cx="1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112" name="Line 82">
                <a:extLst>
                  <a:ext uri="{FF2B5EF4-FFF2-40B4-BE49-F238E27FC236}">
                    <a16:creationId xmlns:a16="http://schemas.microsoft.com/office/drawing/2014/main" id="{1011EDA2-7DC4-183B-613A-C9049F3D5A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" y="1152"/>
                <a:ext cx="28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113" name="Line 83">
                <a:extLst>
                  <a:ext uri="{FF2B5EF4-FFF2-40B4-BE49-F238E27FC236}">
                    <a16:creationId xmlns:a16="http://schemas.microsoft.com/office/drawing/2014/main" id="{B3C8EF14-C068-31D3-934E-20A4AAF412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2" y="1056"/>
                <a:ext cx="144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</p:grpSp>
        <p:grpSp>
          <p:nvGrpSpPr>
            <p:cNvPr id="27" name="Group 84">
              <a:extLst>
                <a:ext uri="{FF2B5EF4-FFF2-40B4-BE49-F238E27FC236}">
                  <a16:creationId xmlns:a16="http://schemas.microsoft.com/office/drawing/2014/main" id="{16418860-135A-63BB-7753-9CAD0D5B94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91" y="2294"/>
              <a:ext cx="449" cy="78"/>
              <a:chOff x="144" y="1056"/>
              <a:chExt cx="576" cy="96"/>
            </a:xfrm>
          </p:grpSpPr>
          <p:sp>
            <p:nvSpPr>
              <p:cNvPr id="108" name="Line 85">
                <a:extLst>
                  <a:ext uri="{FF2B5EF4-FFF2-40B4-BE49-F238E27FC236}">
                    <a16:creationId xmlns:a16="http://schemas.microsoft.com/office/drawing/2014/main" id="{F3A1A504-5491-257C-CBA2-B4E61AB977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1152"/>
                <a:ext cx="1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109" name="Line 86">
                <a:extLst>
                  <a:ext uri="{FF2B5EF4-FFF2-40B4-BE49-F238E27FC236}">
                    <a16:creationId xmlns:a16="http://schemas.microsoft.com/office/drawing/2014/main" id="{2E713B7E-B0AE-4966-6D5E-1BDD5DB080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" y="1152"/>
                <a:ext cx="28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110" name="Line 87">
                <a:extLst>
                  <a:ext uri="{FF2B5EF4-FFF2-40B4-BE49-F238E27FC236}">
                    <a16:creationId xmlns:a16="http://schemas.microsoft.com/office/drawing/2014/main" id="{38FD1EC5-81A5-2798-F44F-9C57E399D1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2" y="1056"/>
                <a:ext cx="144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</p:grpSp>
        <p:grpSp>
          <p:nvGrpSpPr>
            <p:cNvPr id="28" name="Group 88">
              <a:extLst>
                <a:ext uri="{FF2B5EF4-FFF2-40B4-BE49-F238E27FC236}">
                  <a16:creationId xmlns:a16="http://schemas.microsoft.com/office/drawing/2014/main" id="{035ECC20-09CA-F1B1-4BAB-5458CD2FB4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91" y="2451"/>
              <a:ext cx="449" cy="79"/>
              <a:chOff x="144" y="1056"/>
              <a:chExt cx="576" cy="96"/>
            </a:xfrm>
          </p:grpSpPr>
          <p:sp>
            <p:nvSpPr>
              <p:cNvPr id="105" name="Line 89">
                <a:extLst>
                  <a:ext uri="{FF2B5EF4-FFF2-40B4-BE49-F238E27FC236}">
                    <a16:creationId xmlns:a16="http://schemas.microsoft.com/office/drawing/2014/main" id="{D1879EDC-259B-0933-D083-DB4958F1FD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1152"/>
                <a:ext cx="1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106" name="Line 90">
                <a:extLst>
                  <a:ext uri="{FF2B5EF4-FFF2-40B4-BE49-F238E27FC236}">
                    <a16:creationId xmlns:a16="http://schemas.microsoft.com/office/drawing/2014/main" id="{E610B10D-A69C-E273-16D1-2B0CE166F6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" y="1152"/>
                <a:ext cx="28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107" name="Line 91">
                <a:extLst>
                  <a:ext uri="{FF2B5EF4-FFF2-40B4-BE49-F238E27FC236}">
                    <a16:creationId xmlns:a16="http://schemas.microsoft.com/office/drawing/2014/main" id="{0B37EF8C-16F7-280D-51E1-B4D1493765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2" y="1056"/>
                <a:ext cx="144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</p:grpSp>
        <p:grpSp>
          <p:nvGrpSpPr>
            <p:cNvPr id="29" name="Group 92">
              <a:extLst>
                <a:ext uri="{FF2B5EF4-FFF2-40B4-BE49-F238E27FC236}">
                  <a16:creationId xmlns:a16="http://schemas.microsoft.com/office/drawing/2014/main" id="{166260D8-AE9A-A091-D514-C0C00FE091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91" y="2608"/>
              <a:ext cx="449" cy="79"/>
              <a:chOff x="144" y="1056"/>
              <a:chExt cx="576" cy="96"/>
            </a:xfrm>
          </p:grpSpPr>
          <p:sp>
            <p:nvSpPr>
              <p:cNvPr id="102" name="Line 93">
                <a:extLst>
                  <a:ext uri="{FF2B5EF4-FFF2-40B4-BE49-F238E27FC236}">
                    <a16:creationId xmlns:a16="http://schemas.microsoft.com/office/drawing/2014/main" id="{644BABEA-E735-61F5-7AAC-7067E46644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1152"/>
                <a:ext cx="1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103" name="Line 94">
                <a:extLst>
                  <a:ext uri="{FF2B5EF4-FFF2-40B4-BE49-F238E27FC236}">
                    <a16:creationId xmlns:a16="http://schemas.microsoft.com/office/drawing/2014/main" id="{10727E5E-64C8-6980-3FD3-E4B2A11884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" y="1152"/>
                <a:ext cx="28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104" name="Line 95">
                <a:extLst>
                  <a:ext uri="{FF2B5EF4-FFF2-40B4-BE49-F238E27FC236}">
                    <a16:creationId xmlns:a16="http://schemas.microsoft.com/office/drawing/2014/main" id="{449B2884-02DB-9020-7628-35D0524651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2" y="1056"/>
                <a:ext cx="144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</p:grpSp>
        <p:grpSp>
          <p:nvGrpSpPr>
            <p:cNvPr id="30" name="Group 106">
              <a:extLst>
                <a:ext uri="{FF2B5EF4-FFF2-40B4-BE49-F238E27FC236}">
                  <a16:creationId xmlns:a16="http://schemas.microsoft.com/office/drawing/2014/main" id="{26F3C2E2-7936-1307-D87C-178873B94B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51" y="1428"/>
              <a:ext cx="413" cy="276"/>
              <a:chOff x="4080" y="1248"/>
              <a:chExt cx="528" cy="336"/>
            </a:xfrm>
          </p:grpSpPr>
          <p:sp>
            <p:nvSpPr>
              <p:cNvPr id="96" name="Line 107">
                <a:extLst>
                  <a:ext uri="{FF2B5EF4-FFF2-40B4-BE49-F238E27FC236}">
                    <a16:creationId xmlns:a16="http://schemas.microsoft.com/office/drawing/2014/main" id="{BEB314FE-694D-D6E9-AE42-FF829C0A2F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1392"/>
                <a:ext cx="288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97" name="Line 108">
                <a:extLst>
                  <a:ext uri="{FF2B5EF4-FFF2-40B4-BE49-F238E27FC236}">
                    <a16:creationId xmlns:a16="http://schemas.microsoft.com/office/drawing/2014/main" id="{B2D53F55-0C89-73E1-3C98-00F4F8CADF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1344"/>
                <a:ext cx="0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98" name="Line 109">
                <a:extLst>
                  <a:ext uri="{FF2B5EF4-FFF2-40B4-BE49-F238E27FC236}">
                    <a16:creationId xmlns:a16="http://schemas.microsoft.com/office/drawing/2014/main" id="{C36B1264-ABDE-A8B8-7927-0F20840120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344"/>
                <a:ext cx="0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99" name="Line 110">
                <a:extLst>
                  <a:ext uri="{FF2B5EF4-FFF2-40B4-BE49-F238E27FC236}">
                    <a16:creationId xmlns:a16="http://schemas.microsoft.com/office/drawing/2014/main" id="{6E65609B-AD73-0E18-E673-8D5C8F16FC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1440"/>
                <a:ext cx="19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100" name="Line 111">
                <a:extLst>
                  <a:ext uri="{FF2B5EF4-FFF2-40B4-BE49-F238E27FC236}">
                    <a16:creationId xmlns:a16="http://schemas.microsoft.com/office/drawing/2014/main" id="{FE021C01-2ACE-AC61-98CB-DC1C6571B9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440"/>
                <a:ext cx="24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101" name="AutoShape 112">
                <a:extLst>
                  <a:ext uri="{FF2B5EF4-FFF2-40B4-BE49-F238E27FC236}">
                    <a16:creationId xmlns:a16="http://schemas.microsoft.com/office/drawing/2014/main" id="{C4433D5B-72CC-E9D3-BF16-95F71B07D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248"/>
                <a:ext cx="192" cy="3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600"/>
                  <a:gd name="T13" fmla="*/ 0 h 21600"/>
                  <a:gd name="T14" fmla="*/ 21600 w 21600"/>
                  <a:gd name="T15" fmla="*/ 1099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6300" y="9771"/>
                    </a:moveTo>
                    <a:cubicBezTo>
                      <a:pt x="6780" y="7672"/>
                      <a:pt x="8647" y="6183"/>
                      <a:pt x="10800" y="6184"/>
                    </a:cubicBezTo>
                    <a:cubicBezTo>
                      <a:pt x="12952" y="6184"/>
                      <a:pt x="14819" y="7672"/>
                      <a:pt x="15299" y="9771"/>
                    </a:cubicBezTo>
                    <a:lnTo>
                      <a:pt x="21328" y="8392"/>
                    </a:lnTo>
                    <a:cubicBezTo>
                      <a:pt x="20205" y="3482"/>
                      <a:pt x="15837" y="-1"/>
                      <a:pt x="10799" y="0"/>
                    </a:cubicBezTo>
                    <a:cubicBezTo>
                      <a:pt x="5762" y="0"/>
                      <a:pt x="1394" y="3482"/>
                      <a:pt x="271" y="8392"/>
                    </a:cubicBezTo>
                    <a:lnTo>
                      <a:pt x="6300" y="9771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l-GR"/>
              </a:p>
            </p:txBody>
          </p:sp>
        </p:grpSp>
        <p:grpSp>
          <p:nvGrpSpPr>
            <p:cNvPr id="31" name="Group 113">
              <a:extLst>
                <a:ext uri="{FF2B5EF4-FFF2-40B4-BE49-F238E27FC236}">
                  <a16:creationId xmlns:a16="http://schemas.microsoft.com/office/drawing/2014/main" id="{5E75C886-4968-A1CD-E3BE-55EECF2F03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51" y="1586"/>
              <a:ext cx="413" cy="275"/>
              <a:chOff x="4080" y="1248"/>
              <a:chExt cx="528" cy="336"/>
            </a:xfrm>
          </p:grpSpPr>
          <p:sp>
            <p:nvSpPr>
              <p:cNvPr id="90" name="Line 114">
                <a:extLst>
                  <a:ext uri="{FF2B5EF4-FFF2-40B4-BE49-F238E27FC236}">
                    <a16:creationId xmlns:a16="http://schemas.microsoft.com/office/drawing/2014/main" id="{5B519EB5-17C2-CE9F-4FB2-8A321F177C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1392"/>
                <a:ext cx="288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91" name="Line 115">
                <a:extLst>
                  <a:ext uri="{FF2B5EF4-FFF2-40B4-BE49-F238E27FC236}">
                    <a16:creationId xmlns:a16="http://schemas.microsoft.com/office/drawing/2014/main" id="{A1AAA147-6F3A-0CD3-064A-67B3E9CF43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1344"/>
                <a:ext cx="0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92" name="Line 116">
                <a:extLst>
                  <a:ext uri="{FF2B5EF4-FFF2-40B4-BE49-F238E27FC236}">
                    <a16:creationId xmlns:a16="http://schemas.microsoft.com/office/drawing/2014/main" id="{6AEEF861-8144-7912-4881-025EDF577B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344"/>
                <a:ext cx="0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93" name="Line 117">
                <a:extLst>
                  <a:ext uri="{FF2B5EF4-FFF2-40B4-BE49-F238E27FC236}">
                    <a16:creationId xmlns:a16="http://schemas.microsoft.com/office/drawing/2014/main" id="{50481500-732F-B9A4-BF22-488F7A3D76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1440"/>
                <a:ext cx="19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94" name="Line 118">
                <a:extLst>
                  <a:ext uri="{FF2B5EF4-FFF2-40B4-BE49-F238E27FC236}">
                    <a16:creationId xmlns:a16="http://schemas.microsoft.com/office/drawing/2014/main" id="{1903BE9B-58BD-8DB8-73CF-1CF768E3BB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440"/>
                <a:ext cx="24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95" name="AutoShape 119">
                <a:extLst>
                  <a:ext uri="{FF2B5EF4-FFF2-40B4-BE49-F238E27FC236}">
                    <a16:creationId xmlns:a16="http://schemas.microsoft.com/office/drawing/2014/main" id="{0F8A3D3D-6324-14CE-D05E-827E751FA9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248"/>
                <a:ext cx="192" cy="3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600"/>
                  <a:gd name="T13" fmla="*/ 0 h 21600"/>
                  <a:gd name="T14" fmla="*/ 21600 w 21600"/>
                  <a:gd name="T15" fmla="*/ 1099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6300" y="9771"/>
                    </a:moveTo>
                    <a:cubicBezTo>
                      <a:pt x="6780" y="7672"/>
                      <a:pt x="8647" y="6183"/>
                      <a:pt x="10800" y="6184"/>
                    </a:cubicBezTo>
                    <a:cubicBezTo>
                      <a:pt x="12952" y="6184"/>
                      <a:pt x="14819" y="7672"/>
                      <a:pt x="15299" y="9771"/>
                    </a:cubicBezTo>
                    <a:lnTo>
                      <a:pt x="21328" y="8392"/>
                    </a:lnTo>
                    <a:cubicBezTo>
                      <a:pt x="20205" y="3482"/>
                      <a:pt x="15837" y="-1"/>
                      <a:pt x="10799" y="0"/>
                    </a:cubicBezTo>
                    <a:cubicBezTo>
                      <a:pt x="5762" y="0"/>
                      <a:pt x="1394" y="3482"/>
                      <a:pt x="271" y="8392"/>
                    </a:cubicBezTo>
                    <a:lnTo>
                      <a:pt x="6300" y="9771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l-GR"/>
              </a:p>
            </p:txBody>
          </p:sp>
        </p:grpSp>
        <p:grpSp>
          <p:nvGrpSpPr>
            <p:cNvPr id="32" name="Group 120">
              <a:extLst>
                <a:ext uri="{FF2B5EF4-FFF2-40B4-BE49-F238E27FC236}">
                  <a16:creationId xmlns:a16="http://schemas.microsoft.com/office/drawing/2014/main" id="{A90E0E73-089E-FC2F-C33F-B5695CFC8E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51" y="1743"/>
              <a:ext cx="413" cy="275"/>
              <a:chOff x="4080" y="1248"/>
              <a:chExt cx="528" cy="336"/>
            </a:xfrm>
          </p:grpSpPr>
          <p:sp>
            <p:nvSpPr>
              <p:cNvPr id="84" name="Line 121">
                <a:extLst>
                  <a:ext uri="{FF2B5EF4-FFF2-40B4-BE49-F238E27FC236}">
                    <a16:creationId xmlns:a16="http://schemas.microsoft.com/office/drawing/2014/main" id="{16D17A16-8ACE-A2F2-7B64-0286099B73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1392"/>
                <a:ext cx="288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85" name="Line 122">
                <a:extLst>
                  <a:ext uri="{FF2B5EF4-FFF2-40B4-BE49-F238E27FC236}">
                    <a16:creationId xmlns:a16="http://schemas.microsoft.com/office/drawing/2014/main" id="{E301D643-46F4-8C7C-99E8-560F7EA01F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1344"/>
                <a:ext cx="0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86" name="Line 123">
                <a:extLst>
                  <a:ext uri="{FF2B5EF4-FFF2-40B4-BE49-F238E27FC236}">
                    <a16:creationId xmlns:a16="http://schemas.microsoft.com/office/drawing/2014/main" id="{1D84808E-4381-41B9-A7F7-1C986F51C3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344"/>
                <a:ext cx="0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87" name="Line 124">
                <a:extLst>
                  <a:ext uri="{FF2B5EF4-FFF2-40B4-BE49-F238E27FC236}">
                    <a16:creationId xmlns:a16="http://schemas.microsoft.com/office/drawing/2014/main" id="{00028C25-CB6E-4BAA-632B-4DE83EF102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1440"/>
                <a:ext cx="19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88" name="Line 125">
                <a:extLst>
                  <a:ext uri="{FF2B5EF4-FFF2-40B4-BE49-F238E27FC236}">
                    <a16:creationId xmlns:a16="http://schemas.microsoft.com/office/drawing/2014/main" id="{53285D53-A304-498B-FC57-5EF51C8612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440"/>
                <a:ext cx="24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89" name="AutoShape 126">
                <a:extLst>
                  <a:ext uri="{FF2B5EF4-FFF2-40B4-BE49-F238E27FC236}">
                    <a16:creationId xmlns:a16="http://schemas.microsoft.com/office/drawing/2014/main" id="{D71DC91D-3141-4078-85E0-A93C15C292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248"/>
                <a:ext cx="192" cy="3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600"/>
                  <a:gd name="T13" fmla="*/ 0 h 21600"/>
                  <a:gd name="T14" fmla="*/ 21600 w 21600"/>
                  <a:gd name="T15" fmla="*/ 1099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6300" y="9771"/>
                    </a:moveTo>
                    <a:cubicBezTo>
                      <a:pt x="6780" y="7672"/>
                      <a:pt x="8647" y="6183"/>
                      <a:pt x="10800" y="6184"/>
                    </a:cubicBezTo>
                    <a:cubicBezTo>
                      <a:pt x="12952" y="6184"/>
                      <a:pt x="14819" y="7672"/>
                      <a:pt x="15299" y="9771"/>
                    </a:cubicBezTo>
                    <a:lnTo>
                      <a:pt x="21328" y="8392"/>
                    </a:lnTo>
                    <a:cubicBezTo>
                      <a:pt x="20205" y="3482"/>
                      <a:pt x="15837" y="-1"/>
                      <a:pt x="10799" y="0"/>
                    </a:cubicBezTo>
                    <a:cubicBezTo>
                      <a:pt x="5762" y="0"/>
                      <a:pt x="1394" y="3482"/>
                      <a:pt x="271" y="8392"/>
                    </a:cubicBezTo>
                    <a:lnTo>
                      <a:pt x="6300" y="9771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l-GR"/>
              </a:p>
            </p:txBody>
          </p:sp>
        </p:grpSp>
        <p:grpSp>
          <p:nvGrpSpPr>
            <p:cNvPr id="33" name="Group 127">
              <a:extLst>
                <a:ext uri="{FF2B5EF4-FFF2-40B4-BE49-F238E27FC236}">
                  <a16:creationId xmlns:a16="http://schemas.microsoft.com/office/drawing/2014/main" id="{5D4BCD2D-3385-7EF1-D3F8-090F849329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51" y="1900"/>
              <a:ext cx="413" cy="276"/>
              <a:chOff x="4080" y="1248"/>
              <a:chExt cx="528" cy="336"/>
            </a:xfrm>
          </p:grpSpPr>
          <p:sp>
            <p:nvSpPr>
              <p:cNvPr id="78" name="Line 128">
                <a:extLst>
                  <a:ext uri="{FF2B5EF4-FFF2-40B4-BE49-F238E27FC236}">
                    <a16:creationId xmlns:a16="http://schemas.microsoft.com/office/drawing/2014/main" id="{32146684-AC18-D625-85BD-3E50BB89AB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1392"/>
                <a:ext cx="288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79" name="Line 129">
                <a:extLst>
                  <a:ext uri="{FF2B5EF4-FFF2-40B4-BE49-F238E27FC236}">
                    <a16:creationId xmlns:a16="http://schemas.microsoft.com/office/drawing/2014/main" id="{6F48AD2B-0DCA-9402-1239-6B8B81B565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1344"/>
                <a:ext cx="0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80" name="Line 130">
                <a:extLst>
                  <a:ext uri="{FF2B5EF4-FFF2-40B4-BE49-F238E27FC236}">
                    <a16:creationId xmlns:a16="http://schemas.microsoft.com/office/drawing/2014/main" id="{DE4E765C-A898-F70A-1778-BDB8E84507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344"/>
                <a:ext cx="0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81" name="Line 131">
                <a:extLst>
                  <a:ext uri="{FF2B5EF4-FFF2-40B4-BE49-F238E27FC236}">
                    <a16:creationId xmlns:a16="http://schemas.microsoft.com/office/drawing/2014/main" id="{27FBDE2B-239F-55C7-FA5E-6C34B31B6B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1440"/>
                <a:ext cx="19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82" name="Line 132">
                <a:extLst>
                  <a:ext uri="{FF2B5EF4-FFF2-40B4-BE49-F238E27FC236}">
                    <a16:creationId xmlns:a16="http://schemas.microsoft.com/office/drawing/2014/main" id="{5C5FFF1C-723D-944C-63BF-F201A6C0BC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440"/>
                <a:ext cx="24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83" name="AutoShape 133">
                <a:extLst>
                  <a:ext uri="{FF2B5EF4-FFF2-40B4-BE49-F238E27FC236}">
                    <a16:creationId xmlns:a16="http://schemas.microsoft.com/office/drawing/2014/main" id="{E85EDE98-D3ED-1290-3D0A-C7653341DD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248"/>
                <a:ext cx="192" cy="3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600"/>
                  <a:gd name="T13" fmla="*/ 0 h 21600"/>
                  <a:gd name="T14" fmla="*/ 21600 w 21600"/>
                  <a:gd name="T15" fmla="*/ 1099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6300" y="9771"/>
                    </a:moveTo>
                    <a:cubicBezTo>
                      <a:pt x="6780" y="7672"/>
                      <a:pt x="8647" y="6183"/>
                      <a:pt x="10800" y="6184"/>
                    </a:cubicBezTo>
                    <a:cubicBezTo>
                      <a:pt x="12952" y="6184"/>
                      <a:pt x="14819" y="7672"/>
                      <a:pt x="15299" y="9771"/>
                    </a:cubicBezTo>
                    <a:lnTo>
                      <a:pt x="21328" y="8392"/>
                    </a:lnTo>
                    <a:cubicBezTo>
                      <a:pt x="20205" y="3482"/>
                      <a:pt x="15837" y="-1"/>
                      <a:pt x="10799" y="0"/>
                    </a:cubicBezTo>
                    <a:cubicBezTo>
                      <a:pt x="5762" y="0"/>
                      <a:pt x="1394" y="3482"/>
                      <a:pt x="271" y="8392"/>
                    </a:cubicBezTo>
                    <a:lnTo>
                      <a:pt x="6300" y="9771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l-GR"/>
              </a:p>
            </p:txBody>
          </p:sp>
        </p:grpSp>
        <p:grpSp>
          <p:nvGrpSpPr>
            <p:cNvPr id="34" name="Group 134">
              <a:extLst>
                <a:ext uri="{FF2B5EF4-FFF2-40B4-BE49-F238E27FC236}">
                  <a16:creationId xmlns:a16="http://schemas.microsoft.com/office/drawing/2014/main" id="{1407EE0D-7894-3ED1-ACE9-A479A6291E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51" y="2058"/>
              <a:ext cx="413" cy="275"/>
              <a:chOff x="4080" y="1248"/>
              <a:chExt cx="528" cy="336"/>
            </a:xfrm>
          </p:grpSpPr>
          <p:sp>
            <p:nvSpPr>
              <p:cNvPr id="72" name="Line 135">
                <a:extLst>
                  <a:ext uri="{FF2B5EF4-FFF2-40B4-BE49-F238E27FC236}">
                    <a16:creationId xmlns:a16="http://schemas.microsoft.com/office/drawing/2014/main" id="{CF416DB4-A902-C0B9-03FE-FD15CADCB5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1392"/>
                <a:ext cx="288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73" name="Line 136">
                <a:extLst>
                  <a:ext uri="{FF2B5EF4-FFF2-40B4-BE49-F238E27FC236}">
                    <a16:creationId xmlns:a16="http://schemas.microsoft.com/office/drawing/2014/main" id="{DB00A945-3F88-C64D-3483-51B33A146B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1344"/>
                <a:ext cx="0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74" name="Line 137">
                <a:extLst>
                  <a:ext uri="{FF2B5EF4-FFF2-40B4-BE49-F238E27FC236}">
                    <a16:creationId xmlns:a16="http://schemas.microsoft.com/office/drawing/2014/main" id="{479CD96B-FABE-405C-DBCC-DE1E4433CD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344"/>
                <a:ext cx="0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75" name="Line 138">
                <a:extLst>
                  <a:ext uri="{FF2B5EF4-FFF2-40B4-BE49-F238E27FC236}">
                    <a16:creationId xmlns:a16="http://schemas.microsoft.com/office/drawing/2014/main" id="{3B244BE0-7140-FED1-BFEE-A6BBF48165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1440"/>
                <a:ext cx="19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76" name="Line 139">
                <a:extLst>
                  <a:ext uri="{FF2B5EF4-FFF2-40B4-BE49-F238E27FC236}">
                    <a16:creationId xmlns:a16="http://schemas.microsoft.com/office/drawing/2014/main" id="{02AB8E28-D3A2-8A04-9164-D75B1D4965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440"/>
                <a:ext cx="24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77" name="AutoShape 140">
                <a:extLst>
                  <a:ext uri="{FF2B5EF4-FFF2-40B4-BE49-F238E27FC236}">
                    <a16:creationId xmlns:a16="http://schemas.microsoft.com/office/drawing/2014/main" id="{BC4D018C-5ECD-1775-3442-A43894132D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248"/>
                <a:ext cx="192" cy="3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600"/>
                  <a:gd name="T13" fmla="*/ 0 h 21600"/>
                  <a:gd name="T14" fmla="*/ 21600 w 21600"/>
                  <a:gd name="T15" fmla="*/ 1099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6300" y="9771"/>
                    </a:moveTo>
                    <a:cubicBezTo>
                      <a:pt x="6780" y="7672"/>
                      <a:pt x="8647" y="6183"/>
                      <a:pt x="10800" y="6184"/>
                    </a:cubicBezTo>
                    <a:cubicBezTo>
                      <a:pt x="12952" y="6184"/>
                      <a:pt x="14819" y="7672"/>
                      <a:pt x="15299" y="9771"/>
                    </a:cubicBezTo>
                    <a:lnTo>
                      <a:pt x="21328" y="8392"/>
                    </a:lnTo>
                    <a:cubicBezTo>
                      <a:pt x="20205" y="3482"/>
                      <a:pt x="15837" y="-1"/>
                      <a:pt x="10799" y="0"/>
                    </a:cubicBezTo>
                    <a:cubicBezTo>
                      <a:pt x="5762" y="0"/>
                      <a:pt x="1394" y="3482"/>
                      <a:pt x="271" y="8392"/>
                    </a:cubicBezTo>
                    <a:lnTo>
                      <a:pt x="6300" y="9771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l-GR"/>
              </a:p>
            </p:txBody>
          </p:sp>
        </p:grpSp>
        <p:grpSp>
          <p:nvGrpSpPr>
            <p:cNvPr id="35" name="Group 141">
              <a:extLst>
                <a:ext uri="{FF2B5EF4-FFF2-40B4-BE49-F238E27FC236}">
                  <a16:creationId xmlns:a16="http://schemas.microsoft.com/office/drawing/2014/main" id="{1DDB2559-40CA-D424-D6A8-5300ADDC2C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51" y="2215"/>
              <a:ext cx="413" cy="275"/>
              <a:chOff x="4080" y="1248"/>
              <a:chExt cx="528" cy="336"/>
            </a:xfrm>
          </p:grpSpPr>
          <p:sp>
            <p:nvSpPr>
              <p:cNvPr id="66" name="Line 142">
                <a:extLst>
                  <a:ext uri="{FF2B5EF4-FFF2-40B4-BE49-F238E27FC236}">
                    <a16:creationId xmlns:a16="http://schemas.microsoft.com/office/drawing/2014/main" id="{70061E6A-B060-3B11-B10F-AFB1ECA789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1392"/>
                <a:ext cx="288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67" name="Line 143">
                <a:extLst>
                  <a:ext uri="{FF2B5EF4-FFF2-40B4-BE49-F238E27FC236}">
                    <a16:creationId xmlns:a16="http://schemas.microsoft.com/office/drawing/2014/main" id="{FFB6B147-AA67-BEBE-21A6-2B1C6E5B96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1344"/>
                <a:ext cx="0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68" name="Line 144">
                <a:extLst>
                  <a:ext uri="{FF2B5EF4-FFF2-40B4-BE49-F238E27FC236}">
                    <a16:creationId xmlns:a16="http://schemas.microsoft.com/office/drawing/2014/main" id="{9A739071-48D7-C864-C915-44F4F58B2E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344"/>
                <a:ext cx="0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69" name="Line 145">
                <a:extLst>
                  <a:ext uri="{FF2B5EF4-FFF2-40B4-BE49-F238E27FC236}">
                    <a16:creationId xmlns:a16="http://schemas.microsoft.com/office/drawing/2014/main" id="{3AE599AD-6452-3125-FB17-82DBD23EF1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1440"/>
                <a:ext cx="19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70" name="Line 146">
                <a:extLst>
                  <a:ext uri="{FF2B5EF4-FFF2-40B4-BE49-F238E27FC236}">
                    <a16:creationId xmlns:a16="http://schemas.microsoft.com/office/drawing/2014/main" id="{A3DB64AD-632A-97FD-6C67-9F5D07CC99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440"/>
                <a:ext cx="24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71" name="AutoShape 147">
                <a:extLst>
                  <a:ext uri="{FF2B5EF4-FFF2-40B4-BE49-F238E27FC236}">
                    <a16:creationId xmlns:a16="http://schemas.microsoft.com/office/drawing/2014/main" id="{597D41F5-DBD4-FB71-8AEC-373BD67CF0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248"/>
                <a:ext cx="192" cy="3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600"/>
                  <a:gd name="T13" fmla="*/ 0 h 21600"/>
                  <a:gd name="T14" fmla="*/ 21600 w 21600"/>
                  <a:gd name="T15" fmla="*/ 1099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6300" y="9771"/>
                    </a:moveTo>
                    <a:cubicBezTo>
                      <a:pt x="6780" y="7672"/>
                      <a:pt x="8647" y="6183"/>
                      <a:pt x="10800" y="6184"/>
                    </a:cubicBezTo>
                    <a:cubicBezTo>
                      <a:pt x="12952" y="6184"/>
                      <a:pt x="14819" y="7672"/>
                      <a:pt x="15299" y="9771"/>
                    </a:cubicBezTo>
                    <a:lnTo>
                      <a:pt x="21328" y="8392"/>
                    </a:lnTo>
                    <a:cubicBezTo>
                      <a:pt x="20205" y="3482"/>
                      <a:pt x="15837" y="-1"/>
                      <a:pt x="10799" y="0"/>
                    </a:cubicBezTo>
                    <a:cubicBezTo>
                      <a:pt x="5762" y="0"/>
                      <a:pt x="1394" y="3482"/>
                      <a:pt x="271" y="8392"/>
                    </a:cubicBezTo>
                    <a:lnTo>
                      <a:pt x="6300" y="9771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l-GR"/>
              </a:p>
            </p:txBody>
          </p:sp>
        </p:grpSp>
        <p:grpSp>
          <p:nvGrpSpPr>
            <p:cNvPr id="36" name="Group 148">
              <a:extLst>
                <a:ext uri="{FF2B5EF4-FFF2-40B4-BE49-F238E27FC236}">
                  <a16:creationId xmlns:a16="http://schemas.microsoft.com/office/drawing/2014/main" id="{28D92359-46DE-7B65-FD19-6A8399C2E5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51" y="2372"/>
              <a:ext cx="413" cy="276"/>
              <a:chOff x="4080" y="1248"/>
              <a:chExt cx="528" cy="336"/>
            </a:xfrm>
          </p:grpSpPr>
          <p:sp>
            <p:nvSpPr>
              <p:cNvPr id="60" name="Line 149">
                <a:extLst>
                  <a:ext uri="{FF2B5EF4-FFF2-40B4-BE49-F238E27FC236}">
                    <a16:creationId xmlns:a16="http://schemas.microsoft.com/office/drawing/2014/main" id="{4B43F345-B084-690D-6CDF-45E2DC28DC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1392"/>
                <a:ext cx="288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61" name="Line 150">
                <a:extLst>
                  <a:ext uri="{FF2B5EF4-FFF2-40B4-BE49-F238E27FC236}">
                    <a16:creationId xmlns:a16="http://schemas.microsoft.com/office/drawing/2014/main" id="{CAF50C38-299F-A259-02E5-F7A8A78B4E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1344"/>
                <a:ext cx="0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62" name="Line 151">
                <a:extLst>
                  <a:ext uri="{FF2B5EF4-FFF2-40B4-BE49-F238E27FC236}">
                    <a16:creationId xmlns:a16="http://schemas.microsoft.com/office/drawing/2014/main" id="{A4BDAC66-B873-7E4E-8CDC-69C3F6C2CD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344"/>
                <a:ext cx="0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63" name="Line 152">
                <a:extLst>
                  <a:ext uri="{FF2B5EF4-FFF2-40B4-BE49-F238E27FC236}">
                    <a16:creationId xmlns:a16="http://schemas.microsoft.com/office/drawing/2014/main" id="{78FB8CBA-83C2-7620-DA7F-AED6705DA9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1440"/>
                <a:ext cx="19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64" name="Line 153">
                <a:extLst>
                  <a:ext uri="{FF2B5EF4-FFF2-40B4-BE49-F238E27FC236}">
                    <a16:creationId xmlns:a16="http://schemas.microsoft.com/office/drawing/2014/main" id="{88A2EA05-CCBF-2CF1-767D-4E49D75671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440"/>
                <a:ext cx="24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65" name="AutoShape 154">
                <a:extLst>
                  <a:ext uri="{FF2B5EF4-FFF2-40B4-BE49-F238E27FC236}">
                    <a16:creationId xmlns:a16="http://schemas.microsoft.com/office/drawing/2014/main" id="{A7219755-8142-D01A-7297-F7F2A50974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248"/>
                <a:ext cx="192" cy="3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600"/>
                  <a:gd name="T13" fmla="*/ 0 h 21600"/>
                  <a:gd name="T14" fmla="*/ 21600 w 21600"/>
                  <a:gd name="T15" fmla="*/ 1099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6300" y="9771"/>
                    </a:moveTo>
                    <a:cubicBezTo>
                      <a:pt x="6780" y="7672"/>
                      <a:pt x="8647" y="6183"/>
                      <a:pt x="10800" y="6184"/>
                    </a:cubicBezTo>
                    <a:cubicBezTo>
                      <a:pt x="12952" y="6184"/>
                      <a:pt x="14819" y="7672"/>
                      <a:pt x="15299" y="9771"/>
                    </a:cubicBezTo>
                    <a:lnTo>
                      <a:pt x="21328" y="8392"/>
                    </a:lnTo>
                    <a:cubicBezTo>
                      <a:pt x="20205" y="3482"/>
                      <a:pt x="15837" y="-1"/>
                      <a:pt x="10799" y="0"/>
                    </a:cubicBezTo>
                    <a:cubicBezTo>
                      <a:pt x="5762" y="0"/>
                      <a:pt x="1394" y="3482"/>
                      <a:pt x="271" y="8392"/>
                    </a:cubicBezTo>
                    <a:lnTo>
                      <a:pt x="6300" y="9771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l-GR"/>
              </a:p>
            </p:txBody>
          </p:sp>
        </p:grpSp>
        <p:grpSp>
          <p:nvGrpSpPr>
            <p:cNvPr id="37" name="Group 155">
              <a:extLst>
                <a:ext uri="{FF2B5EF4-FFF2-40B4-BE49-F238E27FC236}">
                  <a16:creationId xmlns:a16="http://schemas.microsoft.com/office/drawing/2014/main" id="{E7A3DA92-8B16-297F-8521-DD63F180F7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51" y="2530"/>
              <a:ext cx="413" cy="275"/>
              <a:chOff x="4080" y="1248"/>
              <a:chExt cx="528" cy="336"/>
            </a:xfrm>
          </p:grpSpPr>
          <p:sp>
            <p:nvSpPr>
              <p:cNvPr id="54" name="Line 156">
                <a:extLst>
                  <a:ext uri="{FF2B5EF4-FFF2-40B4-BE49-F238E27FC236}">
                    <a16:creationId xmlns:a16="http://schemas.microsoft.com/office/drawing/2014/main" id="{075F9BB4-CAC5-B469-B4FA-DA6EBC8E29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1392"/>
                <a:ext cx="288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55" name="Line 157">
                <a:extLst>
                  <a:ext uri="{FF2B5EF4-FFF2-40B4-BE49-F238E27FC236}">
                    <a16:creationId xmlns:a16="http://schemas.microsoft.com/office/drawing/2014/main" id="{E315D788-1D40-2885-F5FC-E7BFFEF26A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1344"/>
                <a:ext cx="0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56" name="Line 158">
                <a:extLst>
                  <a:ext uri="{FF2B5EF4-FFF2-40B4-BE49-F238E27FC236}">
                    <a16:creationId xmlns:a16="http://schemas.microsoft.com/office/drawing/2014/main" id="{312BB770-4358-481A-558B-35CE31F08B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344"/>
                <a:ext cx="0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57" name="Line 159">
                <a:extLst>
                  <a:ext uri="{FF2B5EF4-FFF2-40B4-BE49-F238E27FC236}">
                    <a16:creationId xmlns:a16="http://schemas.microsoft.com/office/drawing/2014/main" id="{77884379-264B-B21A-F79F-BD3D804218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1440"/>
                <a:ext cx="19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58" name="Line 160">
                <a:extLst>
                  <a:ext uri="{FF2B5EF4-FFF2-40B4-BE49-F238E27FC236}">
                    <a16:creationId xmlns:a16="http://schemas.microsoft.com/office/drawing/2014/main" id="{7E34B2FB-B06A-8A10-FA66-51E41567AE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440"/>
                <a:ext cx="24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59" name="AutoShape 161">
                <a:extLst>
                  <a:ext uri="{FF2B5EF4-FFF2-40B4-BE49-F238E27FC236}">
                    <a16:creationId xmlns:a16="http://schemas.microsoft.com/office/drawing/2014/main" id="{ABAF6E06-4D53-60D8-899F-BEE90C6C03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248"/>
                <a:ext cx="192" cy="3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600"/>
                  <a:gd name="T13" fmla="*/ 0 h 21600"/>
                  <a:gd name="T14" fmla="*/ 21600 w 21600"/>
                  <a:gd name="T15" fmla="*/ 1099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6300" y="9771"/>
                    </a:moveTo>
                    <a:cubicBezTo>
                      <a:pt x="6780" y="7672"/>
                      <a:pt x="8647" y="6183"/>
                      <a:pt x="10800" y="6184"/>
                    </a:cubicBezTo>
                    <a:cubicBezTo>
                      <a:pt x="12952" y="6184"/>
                      <a:pt x="14819" y="7672"/>
                      <a:pt x="15299" y="9771"/>
                    </a:cubicBezTo>
                    <a:lnTo>
                      <a:pt x="21328" y="8392"/>
                    </a:lnTo>
                    <a:cubicBezTo>
                      <a:pt x="20205" y="3482"/>
                      <a:pt x="15837" y="-1"/>
                      <a:pt x="10799" y="0"/>
                    </a:cubicBezTo>
                    <a:cubicBezTo>
                      <a:pt x="5762" y="0"/>
                      <a:pt x="1394" y="3482"/>
                      <a:pt x="271" y="8392"/>
                    </a:cubicBezTo>
                    <a:lnTo>
                      <a:pt x="6300" y="9771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l-GR"/>
              </a:p>
            </p:txBody>
          </p:sp>
        </p:grpSp>
        <p:grpSp>
          <p:nvGrpSpPr>
            <p:cNvPr id="38" name="Group 162">
              <a:extLst>
                <a:ext uri="{FF2B5EF4-FFF2-40B4-BE49-F238E27FC236}">
                  <a16:creationId xmlns:a16="http://schemas.microsoft.com/office/drawing/2014/main" id="{F4C69C4E-13A5-5489-BFBB-E39C4DE41C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51" y="2687"/>
              <a:ext cx="413" cy="275"/>
              <a:chOff x="4080" y="1248"/>
              <a:chExt cx="528" cy="336"/>
            </a:xfrm>
          </p:grpSpPr>
          <p:sp>
            <p:nvSpPr>
              <p:cNvPr id="48" name="Line 163">
                <a:extLst>
                  <a:ext uri="{FF2B5EF4-FFF2-40B4-BE49-F238E27FC236}">
                    <a16:creationId xmlns:a16="http://schemas.microsoft.com/office/drawing/2014/main" id="{CC5B8FEF-4C74-F48E-EC2F-50704B4E82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1392"/>
                <a:ext cx="288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49" name="Line 164">
                <a:extLst>
                  <a:ext uri="{FF2B5EF4-FFF2-40B4-BE49-F238E27FC236}">
                    <a16:creationId xmlns:a16="http://schemas.microsoft.com/office/drawing/2014/main" id="{CA00E669-BA61-0F6B-5BF7-4B076E608C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1344"/>
                <a:ext cx="0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50" name="Line 165">
                <a:extLst>
                  <a:ext uri="{FF2B5EF4-FFF2-40B4-BE49-F238E27FC236}">
                    <a16:creationId xmlns:a16="http://schemas.microsoft.com/office/drawing/2014/main" id="{55E21C6E-38B6-A274-C7D2-E5B3E6B76C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344"/>
                <a:ext cx="0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51" name="Line 166">
                <a:extLst>
                  <a:ext uri="{FF2B5EF4-FFF2-40B4-BE49-F238E27FC236}">
                    <a16:creationId xmlns:a16="http://schemas.microsoft.com/office/drawing/2014/main" id="{787B40DA-1660-F8ED-BE28-027FBDD5B0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1440"/>
                <a:ext cx="19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52" name="Line 167">
                <a:extLst>
                  <a:ext uri="{FF2B5EF4-FFF2-40B4-BE49-F238E27FC236}">
                    <a16:creationId xmlns:a16="http://schemas.microsoft.com/office/drawing/2014/main" id="{734EE1F2-7EED-E921-3478-202FAD655A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440"/>
                <a:ext cx="24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53" name="AutoShape 168">
                <a:extLst>
                  <a:ext uri="{FF2B5EF4-FFF2-40B4-BE49-F238E27FC236}">
                    <a16:creationId xmlns:a16="http://schemas.microsoft.com/office/drawing/2014/main" id="{83431E73-3FF8-9E38-FAB4-2364AFD72D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248"/>
                <a:ext cx="192" cy="3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600"/>
                  <a:gd name="T13" fmla="*/ 0 h 21600"/>
                  <a:gd name="T14" fmla="*/ 21600 w 21600"/>
                  <a:gd name="T15" fmla="*/ 1099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6300" y="9771"/>
                    </a:moveTo>
                    <a:cubicBezTo>
                      <a:pt x="6780" y="7672"/>
                      <a:pt x="8647" y="6183"/>
                      <a:pt x="10800" y="6184"/>
                    </a:cubicBezTo>
                    <a:cubicBezTo>
                      <a:pt x="12952" y="6184"/>
                      <a:pt x="14819" y="7672"/>
                      <a:pt x="15299" y="9771"/>
                    </a:cubicBezTo>
                    <a:lnTo>
                      <a:pt x="21328" y="8392"/>
                    </a:lnTo>
                    <a:cubicBezTo>
                      <a:pt x="20205" y="3482"/>
                      <a:pt x="15837" y="-1"/>
                      <a:pt x="10799" y="0"/>
                    </a:cubicBezTo>
                    <a:cubicBezTo>
                      <a:pt x="5762" y="0"/>
                      <a:pt x="1394" y="3482"/>
                      <a:pt x="271" y="8392"/>
                    </a:cubicBezTo>
                    <a:lnTo>
                      <a:pt x="6300" y="9771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l-GR"/>
              </a:p>
            </p:txBody>
          </p:sp>
        </p:grpSp>
        <p:grpSp>
          <p:nvGrpSpPr>
            <p:cNvPr id="39" name="Group 169">
              <a:extLst>
                <a:ext uri="{FF2B5EF4-FFF2-40B4-BE49-F238E27FC236}">
                  <a16:creationId xmlns:a16="http://schemas.microsoft.com/office/drawing/2014/main" id="{4707F59B-6648-E404-FC88-96078156B1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51" y="2844"/>
              <a:ext cx="413" cy="276"/>
              <a:chOff x="4080" y="1248"/>
              <a:chExt cx="528" cy="336"/>
            </a:xfrm>
          </p:grpSpPr>
          <p:sp>
            <p:nvSpPr>
              <p:cNvPr id="42" name="Line 170">
                <a:extLst>
                  <a:ext uri="{FF2B5EF4-FFF2-40B4-BE49-F238E27FC236}">
                    <a16:creationId xmlns:a16="http://schemas.microsoft.com/office/drawing/2014/main" id="{E8FFA29D-F1B6-3519-9B68-F8123B54E2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1392"/>
                <a:ext cx="288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43" name="Line 171">
                <a:extLst>
                  <a:ext uri="{FF2B5EF4-FFF2-40B4-BE49-F238E27FC236}">
                    <a16:creationId xmlns:a16="http://schemas.microsoft.com/office/drawing/2014/main" id="{985A213D-8734-C5F6-57B6-E1BE61FCC9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1344"/>
                <a:ext cx="0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44" name="Line 172">
                <a:extLst>
                  <a:ext uri="{FF2B5EF4-FFF2-40B4-BE49-F238E27FC236}">
                    <a16:creationId xmlns:a16="http://schemas.microsoft.com/office/drawing/2014/main" id="{66D02F65-82AC-421C-6DE6-6D28032317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344"/>
                <a:ext cx="0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45" name="Line 173">
                <a:extLst>
                  <a:ext uri="{FF2B5EF4-FFF2-40B4-BE49-F238E27FC236}">
                    <a16:creationId xmlns:a16="http://schemas.microsoft.com/office/drawing/2014/main" id="{AB6998CD-0AFA-7E00-F45A-C28B693EDA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1440"/>
                <a:ext cx="19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46" name="Line 174">
                <a:extLst>
                  <a:ext uri="{FF2B5EF4-FFF2-40B4-BE49-F238E27FC236}">
                    <a16:creationId xmlns:a16="http://schemas.microsoft.com/office/drawing/2014/main" id="{71C6CDEA-EC10-EE83-5C27-3511E49DD4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440"/>
                <a:ext cx="24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47" name="AutoShape 175">
                <a:extLst>
                  <a:ext uri="{FF2B5EF4-FFF2-40B4-BE49-F238E27FC236}">
                    <a16:creationId xmlns:a16="http://schemas.microsoft.com/office/drawing/2014/main" id="{46724574-2B29-3AB7-3EE5-7AD03D9CB8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248"/>
                <a:ext cx="192" cy="3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600"/>
                  <a:gd name="T13" fmla="*/ 0 h 21600"/>
                  <a:gd name="T14" fmla="*/ 21600 w 21600"/>
                  <a:gd name="T15" fmla="*/ 1099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6300" y="9771"/>
                    </a:moveTo>
                    <a:cubicBezTo>
                      <a:pt x="6780" y="7672"/>
                      <a:pt x="8647" y="6183"/>
                      <a:pt x="10800" y="6184"/>
                    </a:cubicBezTo>
                    <a:cubicBezTo>
                      <a:pt x="12952" y="6184"/>
                      <a:pt x="14819" y="7672"/>
                      <a:pt x="15299" y="9771"/>
                    </a:cubicBezTo>
                    <a:lnTo>
                      <a:pt x="21328" y="8392"/>
                    </a:lnTo>
                    <a:cubicBezTo>
                      <a:pt x="20205" y="3482"/>
                      <a:pt x="15837" y="-1"/>
                      <a:pt x="10799" y="0"/>
                    </a:cubicBezTo>
                    <a:cubicBezTo>
                      <a:pt x="5762" y="0"/>
                      <a:pt x="1394" y="3482"/>
                      <a:pt x="271" y="8392"/>
                    </a:cubicBezTo>
                    <a:lnTo>
                      <a:pt x="6300" y="9771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l-GR"/>
              </a:p>
            </p:txBody>
          </p:sp>
        </p:grpSp>
        <p:sp>
          <p:nvSpPr>
            <p:cNvPr id="40" name="Rectangle 176">
              <a:extLst>
                <a:ext uri="{FF2B5EF4-FFF2-40B4-BE49-F238E27FC236}">
                  <a16:creationId xmlns:a16="http://schemas.microsoft.com/office/drawing/2014/main" id="{13155611-0181-2172-9EB7-8981499261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6" y="1468"/>
              <a:ext cx="38" cy="1652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l-GR" altLang="el-GR" sz="2400"/>
            </a:p>
          </p:txBody>
        </p:sp>
        <p:sp>
          <p:nvSpPr>
            <p:cNvPr id="41" name="Rectangle 177">
              <a:extLst>
                <a:ext uri="{FF2B5EF4-FFF2-40B4-BE49-F238E27FC236}">
                  <a16:creationId xmlns:a16="http://schemas.microsoft.com/office/drawing/2014/main" id="{3C7C3133-D41E-82F6-0321-607E07D7B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3" y="1468"/>
              <a:ext cx="38" cy="1652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l-GR" altLang="el-GR" sz="2400"/>
            </a:p>
          </p:txBody>
        </p:sp>
      </p:grpSp>
    </p:spTree>
    <p:extLst>
      <p:ext uri="{BB962C8B-B14F-4D97-AF65-F5344CB8AC3E}">
        <p14:creationId xmlns:p14="http://schemas.microsoft.com/office/powerpoint/2010/main" val="1205232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Στόχος της άσκησης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63824" y="6599394"/>
            <a:ext cx="6261529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Activity 4.8 : Logic Gates Circuit Simulator</a:t>
            </a:r>
          </a:p>
        </p:txBody>
      </p:sp>
      <p:sp>
        <p:nvSpPr>
          <p:cNvPr id="180" name="Rectangle 3">
            <a:extLst>
              <a:ext uri="{FF2B5EF4-FFF2-40B4-BE49-F238E27FC236}">
                <a16:creationId xmlns:a16="http://schemas.microsoft.com/office/drawing/2014/main" id="{C8FA3C8E-1BFA-0377-173C-C437F4DC90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716338"/>
            <a:ext cx="10831830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Ο κυρίαρχος στόχος της άσκησης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είναι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endParaRPr kumimoji="0" lang="en-GB" altLang="el-GR" sz="3200" b="0" i="0" u="none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40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r>
              <a:rPr kumimoji="0" lang="el-GR" altLang="el-GR" sz="40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η αναπαράσταση και οργάνωση των δεδομένων ενός φυσικού προβλήματος.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endParaRPr kumimoji="0" lang="el-GR" altLang="el-GR" sz="2800" b="1" i="0" u="none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81" name="AutoShape 4">
            <a:extLst>
              <a:ext uri="{FF2B5EF4-FFF2-40B4-BE49-F238E27FC236}">
                <a16:creationId xmlns:a16="http://schemas.microsoft.com/office/drawing/2014/main" id="{826B9EDA-48B0-CF03-9802-C01EA04EC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3878" y="1279939"/>
            <a:ext cx="8064500" cy="1295400"/>
          </a:xfrm>
          <a:prstGeom prst="wedgeRoundRectCallout">
            <a:avLst>
              <a:gd name="adj1" fmla="val -53032"/>
              <a:gd name="adj2" fmla="val 109435"/>
              <a:gd name="adj3" fmla="val 16667"/>
            </a:avLst>
          </a:prstGeom>
          <a:solidFill>
            <a:srgbClr val="FFCF0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Προσέξτε όμως!</a:t>
            </a:r>
            <a:r>
              <a:rPr kumimoji="0" lang="el-GR" altLang="el-GR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 </a:t>
            </a: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στόχος της άσκησης δεν είναι να αναπτύξετε το πρόγραμμα με τον τρόπο που ήδη γνωρίζετε.</a:t>
            </a:r>
          </a:p>
        </p:txBody>
      </p:sp>
    </p:spTree>
    <p:extLst>
      <p:ext uri="{BB962C8B-B14F-4D97-AF65-F5344CB8AC3E}">
        <p14:creationId xmlns:p14="http://schemas.microsoft.com/office/powerpoint/2010/main" val="3748696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Iteration No 1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63824" y="6599394"/>
            <a:ext cx="6261529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Activity 4.8 : Logic Gates Circuit Simulator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C36F29-F665-1758-4769-410EFE3B3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5302"/>
            <a:ext cx="11832336" cy="53969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5E0D10-69E7-2F73-A319-C30B6C989BB4}"/>
              </a:ext>
            </a:extLst>
          </p:cNvPr>
          <p:cNvSpPr txBox="1"/>
          <p:nvPr/>
        </p:nvSpPr>
        <p:spPr>
          <a:xfrm rot="20240096">
            <a:off x="7770248" y="3281148"/>
            <a:ext cx="4095750" cy="6461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</a:rPr>
              <a:t>Circuit Hardcoded! </a:t>
            </a:r>
            <a:endParaRPr lang="el-GR" sz="36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215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Αναγνώριση βασικών Διεργασιών/Υπηρεσιών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63824" y="6599394"/>
            <a:ext cx="6261529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Activity 4.8 : Logic Gates Circuit Simulator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A33C51D-29EE-97D6-39D0-76464C619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" y="958056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l-GR" altLang="el-GR" kern="0" dirty="0">
                <a:latin typeface="Times New Roman" panose="02020603050405020304" pitchFamily="18" charset="0"/>
              </a:rPr>
              <a:t>Εντοπίστε τις βασικές διεργασίες</a:t>
            </a:r>
            <a:r>
              <a:rPr lang="en-GB" altLang="el-GR" kern="0" dirty="0">
                <a:latin typeface="Times New Roman" panose="02020603050405020304" pitchFamily="18" charset="0"/>
              </a:rPr>
              <a:t>/</a:t>
            </a:r>
            <a:r>
              <a:rPr lang="el-GR" altLang="el-GR" kern="0" dirty="0">
                <a:latin typeface="Times New Roman" panose="02020603050405020304" pitchFamily="18" charset="0"/>
              </a:rPr>
              <a:t>υπηρεσίες και ορίστε κατάλληλες συναρτήσεις /μεθόδους που θα τις υλοποιούν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l-GR" altLang="el-GR" kern="0" dirty="0">
              <a:latin typeface="Times New Roman" panose="02020603050405020304" pitchFamily="18" charset="0"/>
            </a:endParaRP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32EFE03D-A30B-2D07-37D2-DA4B575F9D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702" y="2950498"/>
            <a:ext cx="539496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lvl="3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GB" altLang="el-GR" sz="32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defineCircuitInputs</a:t>
            </a:r>
            <a:r>
              <a:rPr lang="el-GR" altLang="el-GR" sz="3200" b="1" dirty="0">
                <a:solidFill>
                  <a:srgbClr val="FF0000"/>
                </a:solidFill>
                <a:latin typeface="Courier New" panose="02070309020205020404" pitchFamily="49" charset="0"/>
              </a:rPr>
              <a:t>()</a:t>
            </a:r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CFC366CD-4211-502B-7274-CA97D23BF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594" y="4751510"/>
            <a:ext cx="64662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lvl="3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GB" altLang="el-GR" sz="32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printCircuitOutputs</a:t>
            </a:r>
            <a:r>
              <a:rPr lang="el-GR" altLang="el-GR" sz="3200" b="1" dirty="0">
                <a:solidFill>
                  <a:srgbClr val="FF0000"/>
                </a:solidFill>
                <a:latin typeface="Courier New" panose="02070309020205020404" pitchFamily="49" charset="0"/>
              </a:rPr>
              <a:t>()</a:t>
            </a: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166CA208-B9BF-3270-ACC8-F3258BDC7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2758" y="3851780"/>
            <a:ext cx="48792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l-GR"/>
            </a:defPPr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latin typeface="Tahoma" panose="020B0604030504040204" pitchFamily="34" charset="0"/>
              </a:defRPr>
            </a:lvl3pPr>
            <a:lvl4pPr marL="0" lvl="3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2800" b="1">
                <a:solidFill>
                  <a:srgbClr val="FF0000"/>
                </a:solidFill>
                <a:latin typeface="Courier New" panose="02070309020205020404" pitchFamily="49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9pPr>
          </a:lstStyle>
          <a:p>
            <a:pPr lvl="3"/>
            <a:r>
              <a:rPr lang="en-GB" altLang="el-GR" sz="3200" dirty="0" err="1"/>
              <a:t>calculateOutputs</a:t>
            </a:r>
            <a:r>
              <a:rPr lang="el-GR" altLang="el-GR" sz="3200" dirty="0"/>
              <a:t>()</a:t>
            </a:r>
            <a:endParaRPr lang="en-GB" altLang="el-GR" sz="3200" dirty="0"/>
          </a:p>
        </p:txBody>
      </p:sp>
      <p:sp>
        <p:nvSpPr>
          <p:cNvPr id="14" name="Text Box 7">
            <a:extLst>
              <a:ext uri="{FF2B5EF4-FFF2-40B4-BE49-F238E27FC236}">
                <a16:creationId xmlns:a16="http://schemas.microsoft.com/office/drawing/2014/main" id="{4DF086B7-64F1-4C47-86A7-513053997F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4531" y="5688095"/>
            <a:ext cx="438497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lvl="3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GB" altLang="el-GR" sz="32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printCircuit</a:t>
            </a:r>
            <a:r>
              <a:rPr lang="el-GR" altLang="el-GR" sz="3200" b="1" dirty="0">
                <a:solidFill>
                  <a:srgbClr val="FF0000"/>
                </a:solidFill>
                <a:latin typeface="Courier New" panose="02070309020205020404" pitchFamily="49" charset="0"/>
              </a:rPr>
              <a:t>()</a:t>
            </a:r>
          </a:p>
        </p:txBody>
      </p:sp>
      <p:sp>
        <p:nvSpPr>
          <p:cNvPr id="3" name="Text Box 7">
            <a:extLst>
              <a:ext uri="{FF2B5EF4-FFF2-40B4-BE49-F238E27FC236}">
                <a16:creationId xmlns:a16="http://schemas.microsoft.com/office/drawing/2014/main" id="{BF0F937F-E711-A48E-7557-7D992CF67A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9510" y="5106992"/>
            <a:ext cx="510660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lvl="3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GB" altLang="el-GR" sz="32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printCircuitStatus</a:t>
            </a:r>
            <a:r>
              <a:rPr lang="el-GR" altLang="el-GR" sz="3200" b="1" dirty="0">
                <a:solidFill>
                  <a:srgbClr val="FF0000"/>
                </a:solidFill>
                <a:latin typeface="Courier New" panose="02070309020205020404" pitchFamily="49" charset="0"/>
              </a:rPr>
              <a:t>()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8E8CFA-524D-DB0A-D4E3-84BE7FB82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3387" y="1549461"/>
            <a:ext cx="4879237" cy="243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670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/>
      <p:bldP spid="14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Iteration No 1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63824" y="6599394"/>
            <a:ext cx="6261529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Activity 4.8 : Logic Gates Circuit Simulator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3C1394-C8A7-95D3-0146-EC9696859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9876"/>
            <a:ext cx="12191999" cy="308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849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Iteration No 2 – To </a:t>
            </a:r>
            <a:r>
              <a:rPr lang="en-GB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κύκλωμ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α πάνω σε breadBoard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63824" y="6599394"/>
            <a:ext cx="6261529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Activity 4.8 : Logic Gates Circuit Simulator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1AC698-02B4-5E34-0B3C-F8E254B98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0752" y="994377"/>
            <a:ext cx="7894601" cy="532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647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Αναπαράσταση Δεδομένων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63824" y="6599394"/>
            <a:ext cx="6261529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Activity 4.8 : Logic Gates Circuit Simulator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EE1FCD7-58E3-EE48-372C-53D90AB2D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100" y="922016"/>
            <a:ext cx="6331140" cy="4107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Αναπαράσταση του </a:t>
            </a:r>
            <a:r>
              <a:rPr kumimoji="0" lang="en-GB" altLang="el-GR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breadboard</a:t>
            </a:r>
            <a:endParaRPr kumimoji="0" lang="el-GR" altLang="el-GR" b="1" i="0" u="none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Κάθε υποδοχή </a:t>
            </a:r>
            <a:r>
              <a:rPr kumimoji="0" lang="en-GB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(</a:t>
            </a:r>
            <a:r>
              <a:rPr kumimoji="0" lang="en-GB" altLang="el-GR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pin</a:t>
            </a:r>
            <a:r>
              <a:rPr kumimoji="0" lang="en-GB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) </a:t>
            </a: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μπορεί να έχει δύο τιμές </a:t>
            </a:r>
            <a:r>
              <a:rPr kumimoji="0" lang="en-US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High</a:t>
            </a: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 ή </a:t>
            </a:r>
            <a:r>
              <a:rPr kumimoji="0" lang="en-US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Low</a:t>
            </a: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 (0 ή 1, 0 </a:t>
            </a:r>
            <a:r>
              <a:rPr kumimoji="0" lang="en-US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V</a:t>
            </a: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 ή 5 </a:t>
            </a:r>
            <a:r>
              <a:rPr kumimoji="0" lang="en-US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V</a:t>
            </a: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). 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Τι τύπου μεταβλητή θα χρησιμοποιήσετε για την αναπαράσταση της υποδοχής; 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Πόσες μεταβλητές θα χρησιμοποιήσετε για την αναπαράσταση όλων των υποδοχών της πλακέτας;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8C7485E-1114-53DB-C8E2-B52A45C85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76" y="857931"/>
            <a:ext cx="4869366" cy="5078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851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Αναπαράσταση Δεδομένων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63824" y="6599394"/>
            <a:ext cx="6261529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Activity 4.8 : Logic Gates Circuit Simulator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8C7485E-1114-53DB-C8E2-B52A45C85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8429" y="-21991"/>
            <a:ext cx="3442902" cy="3590455"/>
          </a:xfrm>
          <a:prstGeom prst="rect">
            <a:avLst/>
          </a:prstGeom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BA328822-9E54-BEF0-DCD3-D85396E59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38600"/>
            <a:ext cx="7956550" cy="2371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l-GR" altLang="el-GR" b="1" kern="0" dirty="0">
                <a:latin typeface="Times New Roman" panose="02020603050405020304" pitchFamily="18" charset="0"/>
              </a:rPr>
              <a:t>Αναπαράσταση του </a:t>
            </a:r>
            <a:r>
              <a:rPr lang="en-GB" altLang="el-GR" b="1" kern="0" dirty="0">
                <a:latin typeface="Times New Roman" panose="02020603050405020304" pitchFamily="18" charset="0"/>
              </a:rPr>
              <a:t>breadboard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el-GR" sz="2800" b="1" kern="0" dirty="0">
                <a:solidFill>
                  <a:srgbClr val="800000"/>
                </a:solidFill>
                <a:latin typeface="Courier New" panose="02070309020205020404" pitchFamily="49" charset="0"/>
              </a:rPr>
              <a:t>	</a:t>
            </a:r>
            <a:r>
              <a:rPr lang="en-GB" altLang="el-GR" sz="2800" b="1" kern="0" dirty="0" err="1">
                <a:solidFill>
                  <a:srgbClr val="800000"/>
                </a:solidFill>
                <a:latin typeface="Courier New" panose="02070309020205020404" pitchFamily="49" charset="0"/>
              </a:rPr>
              <a:t>boolean</a:t>
            </a:r>
            <a:r>
              <a:rPr lang="en-GB" altLang="el-GR" sz="2800" b="1" kern="0" dirty="0">
                <a:solidFill>
                  <a:srgbClr val="800000"/>
                </a:solidFill>
                <a:latin typeface="Courier New" panose="02070309020205020404" pitchFamily="49" charset="0"/>
              </a:rPr>
              <a:t> inputColumnPin1;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GB" altLang="el-GR" sz="2800" b="1" kern="0" dirty="0">
                <a:solidFill>
                  <a:srgbClr val="800000"/>
                </a:solidFill>
                <a:latin typeface="Courier New" panose="02070309020205020404" pitchFamily="49" charset="0"/>
              </a:rPr>
              <a:t>	</a:t>
            </a:r>
            <a:r>
              <a:rPr lang="en-GB" altLang="el-GR" sz="2800" b="1" kern="0" dirty="0" err="1">
                <a:solidFill>
                  <a:srgbClr val="800000"/>
                </a:solidFill>
                <a:latin typeface="Courier New" panose="02070309020205020404" pitchFamily="49" charset="0"/>
              </a:rPr>
              <a:t>boolean</a:t>
            </a:r>
            <a:r>
              <a:rPr lang="en-GB" altLang="el-GR" sz="2800" b="1" kern="0" dirty="0">
                <a:solidFill>
                  <a:srgbClr val="800000"/>
                </a:solidFill>
                <a:latin typeface="Courier New" panose="02070309020205020404" pitchFamily="49" charset="0"/>
              </a:rPr>
              <a:t> inputColumnPin2;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el-GR" sz="2800" b="1" kern="0" dirty="0">
                <a:solidFill>
                  <a:srgbClr val="800000"/>
                </a:solidFill>
                <a:latin typeface="Courier New" panose="02070309020205020404" pitchFamily="49" charset="0"/>
              </a:rPr>
              <a:t>	…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GB" altLang="el-GR" sz="2800" b="1" kern="0" dirty="0">
                <a:solidFill>
                  <a:srgbClr val="800000"/>
                </a:solidFill>
                <a:latin typeface="Courier New" panose="02070309020205020404" pitchFamily="49" charset="0"/>
              </a:rPr>
              <a:t>	</a:t>
            </a:r>
            <a:r>
              <a:rPr lang="en-GB" altLang="el-GR" sz="2800" b="1" kern="0" dirty="0" err="1">
                <a:solidFill>
                  <a:srgbClr val="800000"/>
                </a:solidFill>
                <a:latin typeface="Courier New" panose="02070309020205020404" pitchFamily="49" charset="0"/>
              </a:rPr>
              <a:t>boolean</a:t>
            </a:r>
            <a:r>
              <a:rPr lang="en-GB" altLang="el-GR" sz="2800" b="1" kern="0" dirty="0">
                <a:solidFill>
                  <a:srgbClr val="800000"/>
                </a:solidFill>
                <a:latin typeface="Courier New" panose="02070309020205020404" pitchFamily="49" charset="0"/>
              </a:rPr>
              <a:t> inputColumnPin10;</a:t>
            </a:r>
            <a:endParaRPr lang="el-GR" altLang="el-GR" sz="2400" b="1" kern="0" dirty="0">
              <a:solidFill>
                <a:srgbClr val="800000"/>
              </a:solidFill>
              <a:latin typeface="Courier New" panose="02070309020205020404" pitchFamily="49" charset="0"/>
            </a:endParaRP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5B6C7BDD-B483-223C-D456-11D3B05D1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347" y="3842635"/>
            <a:ext cx="46089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GB" altLang="el-GR" sz="24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boolean</a:t>
            </a:r>
            <a:r>
              <a:rPr lang="en-GB" altLang="el-GR" sz="2400" b="1" dirty="0">
                <a:solidFill>
                  <a:srgbClr val="0070C0"/>
                </a:solidFill>
                <a:latin typeface="Courier New" panose="02070309020205020404" pitchFamily="49" charset="0"/>
              </a:rPr>
              <a:t> </a:t>
            </a:r>
            <a:r>
              <a:rPr lang="en-GB" altLang="el-GR" sz="24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inputColumn</a:t>
            </a:r>
            <a:r>
              <a:rPr lang="en-GB" altLang="el-GR" sz="2400" b="1" dirty="0">
                <a:solidFill>
                  <a:srgbClr val="0070C0"/>
                </a:solidFill>
                <a:latin typeface="Courier New" panose="02070309020205020404" pitchFamily="49" charset="0"/>
              </a:rPr>
              <a:t>[10];</a:t>
            </a:r>
            <a:endParaRPr lang="el-GR" altLang="el-GR" sz="24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25A239AC-01F9-B978-8914-84F0F54248B8}"/>
              </a:ext>
            </a:extLst>
          </p:cNvPr>
          <p:cNvSpPr>
            <a:spLocks noChangeArrowheads="1"/>
          </p:cNvSpPr>
          <p:nvPr/>
        </p:nvSpPr>
        <p:spPr bwMode="auto">
          <a:xfrm rot="2113752">
            <a:off x="2151063" y="3266073"/>
            <a:ext cx="1295400" cy="4318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00E4A8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75D884CC-160B-DE7B-B503-4F2EC4EF79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470" y="4503619"/>
            <a:ext cx="49776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GB" altLang="el-GR" sz="24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boolean</a:t>
            </a:r>
            <a:r>
              <a:rPr lang="en-GB" altLang="el-GR" sz="2400" b="1" dirty="0">
                <a:solidFill>
                  <a:srgbClr val="0070C0"/>
                </a:solidFill>
                <a:latin typeface="Courier New" panose="02070309020205020404" pitchFamily="49" charset="0"/>
              </a:rPr>
              <a:t> middleColumn1[10];</a:t>
            </a:r>
            <a:endParaRPr lang="el-GR" altLang="el-GR" sz="24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F9208694-2DC8-EC5D-D17E-C84ECE506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347" y="5863558"/>
            <a:ext cx="47933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GB" altLang="el-GR" sz="24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boolean</a:t>
            </a:r>
            <a:r>
              <a:rPr lang="en-GB" altLang="el-GR" sz="2400" b="1" dirty="0">
                <a:solidFill>
                  <a:srgbClr val="0070C0"/>
                </a:solidFill>
                <a:latin typeface="Courier New" panose="02070309020205020404" pitchFamily="49" charset="0"/>
              </a:rPr>
              <a:t> </a:t>
            </a:r>
            <a:r>
              <a:rPr lang="en-GB" altLang="el-GR" sz="24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outputColumn</a:t>
            </a:r>
            <a:r>
              <a:rPr lang="en-GB" altLang="el-GR" sz="2400" b="1" dirty="0">
                <a:solidFill>
                  <a:srgbClr val="0070C0"/>
                </a:solidFill>
                <a:latin typeface="Courier New" panose="02070309020205020404" pitchFamily="49" charset="0"/>
              </a:rPr>
              <a:t>[10];</a:t>
            </a:r>
            <a:endParaRPr lang="el-GR" altLang="el-GR" sz="24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</p:txBody>
      </p:sp>
      <p:sp>
        <p:nvSpPr>
          <p:cNvPr id="16" name="Text Box 7">
            <a:extLst>
              <a:ext uri="{FF2B5EF4-FFF2-40B4-BE49-F238E27FC236}">
                <a16:creationId xmlns:a16="http://schemas.microsoft.com/office/drawing/2014/main" id="{6E1865A0-4C1F-51EB-A3CA-E2D4B9B4AE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880" y="5134044"/>
            <a:ext cx="49776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GB" altLang="el-GR" sz="24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boolean</a:t>
            </a:r>
            <a:r>
              <a:rPr lang="en-GB" altLang="el-GR" sz="2400" b="1" dirty="0">
                <a:solidFill>
                  <a:srgbClr val="0070C0"/>
                </a:solidFill>
                <a:latin typeface="Courier New" panose="02070309020205020404" pitchFamily="49" charset="0"/>
              </a:rPr>
              <a:t> middleColumn2[10];</a:t>
            </a:r>
            <a:endParaRPr lang="el-GR" altLang="el-GR" sz="24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</p:txBody>
      </p:sp>
      <p:sp>
        <p:nvSpPr>
          <p:cNvPr id="17" name="AutoShape 6">
            <a:extLst>
              <a:ext uri="{FF2B5EF4-FFF2-40B4-BE49-F238E27FC236}">
                <a16:creationId xmlns:a16="http://schemas.microsoft.com/office/drawing/2014/main" id="{0F57F2FB-81CD-9FE9-DC78-703322CD08A3}"/>
              </a:ext>
            </a:extLst>
          </p:cNvPr>
          <p:cNvSpPr>
            <a:spLocks noChangeArrowheads="1"/>
          </p:cNvSpPr>
          <p:nvPr/>
        </p:nvSpPr>
        <p:spPr bwMode="auto">
          <a:xfrm rot="1348505">
            <a:off x="5861565" y="5082072"/>
            <a:ext cx="1295400" cy="4318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00E4A8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8" name="Text Box 5">
            <a:extLst>
              <a:ext uri="{FF2B5EF4-FFF2-40B4-BE49-F238E27FC236}">
                <a16:creationId xmlns:a16="http://schemas.microsoft.com/office/drawing/2014/main" id="{7FD64796-2A12-FFCB-036F-EE4B8503F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2647" y="5802002"/>
            <a:ext cx="660309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GB" altLang="el-GR" b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boolean</a:t>
            </a:r>
            <a:r>
              <a:rPr lang="en-GB" altLang="el-GR" b="1" dirty="0">
                <a:solidFill>
                  <a:srgbClr val="C00000"/>
                </a:solidFill>
                <a:latin typeface="Courier New" panose="02070309020205020404" pitchFamily="49" charset="0"/>
              </a:rPr>
              <a:t> </a:t>
            </a:r>
            <a:r>
              <a:rPr lang="en-GB" altLang="el-GR" b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breadBoard</a:t>
            </a:r>
            <a:r>
              <a:rPr lang="en-GB" altLang="el-GR" b="1" dirty="0">
                <a:solidFill>
                  <a:srgbClr val="C00000"/>
                </a:solidFill>
                <a:latin typeface="Courier New" panose="02070309020205020404" pitchFamily="49" charset="0"/>
              </a:rPr>
              <a:t>[4][10];</a:t>
            </a:r>
            <a:endParaRPr lang="el-GR" altLang="el-GR" b="1" dirty="0">
              <a:solidFill>
                <a:srgbClr val="C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749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 animBg="1"/>
      <p:bldP spid="7" grpId="0"/>
      <p:bldP spid="7" grpId="1"/>
      <p:bldP spid="13" grpId="0"/>
      <p:bldP spid="16" grpId="0"/>
      <p:bldP spid="16" grpId="1"/>
      <p:bldP spid="17" grpId="0" animBg="1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Ορισμός διεργασιών</a:t>
            </a:r>
            <a:endParaRPr lang="en-GB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63824" y="6599394"/>
            <a:ext cx="6261529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Activity 4.8 : Logic Gates Circuit Simulator</a:t>
            </a:r>
          </a:p>
        </p:txBody>
      </p:sp>
      <p:pic>
        <p:nvPicPr>
          <p:cNvPr id="3" name="Picture 4" descr="logiconbread">
            <a:extLst>
              <a:ext uri="{FF2B5EF4-FFF2-40B4-BE49-F238E27FC236}">
                <a16:creationId xmlns:a16="http://schemas.microsoft.com/office/drawing/2014/main" id="{51E721B9-3DD6-DB5F-8847-17C09A351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4681" y="673563"/>
            <a:ext cx="4679950" cy="262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174FEF-59CD-08F5-AB4F-B829C313AB63}"/>
              </a:ext>
            </a:extLst>
          </p:cNvPr>
          <p:cNvSpPr txBox="1"/>
          <p:nvPr/>
        </p:nvSpPr>
        <p:spPr>
          <a:xfrm>
            <a:off x="6567773" y="861055"/>
            <a:ext cx="4069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altLang="el-GR" sz="1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1  1  1 0 0 1 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7AC085-85DB-0E85-BDB1-EBBCCD43D082}"/>
              </a:ext>
            </a:extLst>
          </p:cNvPr>
          <p:cNvSpPr txBox="1"/>
          <p:nvPr/>
        </p:nvSpPr>
        <p:spPr>
          <a:xfrm>
            <a:off x="11719861" y="1153443"/>
            <a:ext cx="4069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200" b="1" dirty="0">
                <a:solidFill>
                  <a:srgbClr val="C00000"/>
                </a:solidFill>
              </a:rPr>
              <a:t>?</a:t>
            </a:r>
            <a:endParaRPr lang="en-GB" sz="3200" b="1" dirty="0">
              <a:solidFill>
                <a:srgbClr val="C00000"/>
              </a:solidFill>
            </a:endParaRP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3B61F87D-D374-9C94-A777-862A26877C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31" y="861055"/>
            <a:ext cx="5805217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lvl="3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GB" altLang="el-GR" sz="32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defineCircuitInputs</a:t>
            </a:r>
            <a:r>
              <a:rPr lang="el-GR" altLang="el-GR" sz="3200" b="1" dirty="0">
                <a:solidFill>
                  <a:srgbClr val="0070C0"/>
                </a:solidFill>
                <a:latin typeface="Courier New" panose="02070309020205020404" pitchFamily="49" charset="0"/>
              </a:rPr>
              <a:t>()</a:t>
            </a:r>
            <a:r>
              <a:rPr lang="en-GB" altLang="el-GR" sz="3200" b="1" dirty="0">
                <a:solidFill>
                  <a:srgbClr val="0070C0"/>
                </a:solidFill>
                <a:latin typeface="Courier New" panose="02070309020205020404" pitchFamily="49" charset="0"/>
              </a:rPr>
              <a:t>{</a:t>
            </a:r>
          </a:p>
          <a:p>
            <a:pPr marL="0" lvl="3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GB" altLang="el-GR" sz="32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pPr marL="0" lvl="3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GB" altLang="el-GR" sz="3200" b="1" dirty="0">
                <a:solidFill>
                  <a:srgbClr val="0070C0"/>
                </a:solidFill>
                <a:latin typeface="Courier New" panose="02070309020205020404" pitchFamily="49" charset="0"/>
              </a:rPr>
              <a:t>}</a:t>
            </a:r>
            <a:endParaRPr lang="el-GR" altLang="el-GR" sz="32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</p:txBody>
      </p:sp>
      <p:sp>
        <p:nvSpPr>
          <p:cNvPr id="14" name="Text Box 5">
            <a:extLst>
              <a:ext uri="{FF2B5EF4-FFF2-40B4-BE49-F238E27FC236}">
                <a16:creationId xmlns:a16="http://schemas.microsoft.com/office/drawing/2014/main" id="{DE40FEDB-B964-22D5-45BB-8FE7C2F80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59" y="4118437"/>
            <a:ext cx="6466262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lvl="3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GB" altLang="el-GR" sz="32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printCircuitOutputs</a:t>
            </a:r>
            <a:r>
              <a:rPr lang="el-GR" altLang="el-GR" sz="3200" b="1" dirty="0">
                <a:solidFill>
                  <a:srgbClr val="0070C0"/>
                </a:solidFill>
                <a:latin typeface="Courier New" panose="02070309020205020404" pitchFamily="49" charset="0"/>
              </a:rPr>
              <a:t>()</a:t>
            </a:r>
            <a:r>
              <a:rPr lang="en-GB" altLang="el-GR" sz="3200" b="1" dirty="0">
                <a:solidFill>
                  <a:srgbClr val="0070C0"/>
                </a:solidFill>
                <a:latin typeface="Courier New" panose="02070309020205020404" pitchFamily="49" charset="0"/>
              </a:rPr>
              <a:t>{</a:t>
            </a:r>
          </a:p>
          <a:p>
            <a:pPr marL="0" lvl="3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GB" altLang="el-GR" sz="32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pPr marL="0" lvl="3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GB" altLang="el-GR" sz="3200" b="1" dirty="0">
                <a:solidFill>
                  <a:srgbClr val="0070C0"/>
                </a:solidFill>
                <a:latin typeface="Courier New" panose="02070309020205020404" pitchFamily="49" charset="0"/>
              </a:rPr>
              <a:t>}</a:t>
            </a:r>
            <a:endParaRPr lang="el-GR" altLang="el-GR" sz="32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</p:txBody>
      </p:sp>
      <p:sp>
        <p:nvSpPr>
          <p:cNvPr id="15" name="Text Box 6">
            <a:extLst>
              <a:ext uri="{FF2B5EF4-FFF2-40B4-BE49-F238E27FC236}">
                <a16:creationId xmlns:a16="http://schemas.microsoft.com/office/drawing/2014/main" id="{2F9C2A4D-6E0D-BEEE-A344-FF070760B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51" y="2454152"/>
            <a:ext cx="4879237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l-GR"/>
            </a:defPPr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latin typeface="Tahoma" panose="020B0604030504040204" pitchFamily="34" charset="0"/>
              </a:defRPr>
            </a:lvl3pPr>
            <a:lvl4pPr marL="0" lvl="3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2800" b="1">
                <a:solidFill>
                  <a:srgbClr val="FF0000"/>
                </a:solidFill>
                <a:latin typeface="Courier New" panose="02070309020205020404" pitchFamily="49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9pPr>
          </a:lstStyle>
          <a:p>
            <a:pPr lvl="3"/>
            <a:r>
              <a:rPr lang="en-GB" altLang="el-GR" sz="3200" dirty="0" err="1">
                <a:solidFill>
                  <a:srgbClr val="0070C0"/>
                </a:solidFill>
              </a:rPr>
              <a:t>calculateOutputs</a:t>
            </a:r>
            <a:r>
              <a:rPr lang="el-GR" altLang="el-GR" sz="3200" dirty="0">
                <a:solidFill>
                  <a:srgbClr val="0070C0"/>
                </a:solidFill>
              </a:rPr>
              <a:t>()</a:t>
            </a:r>
            <a:r>
              <a:rPr lang="en-GB" altLang="el-GR" sz="3200" dirty="0">
                <a:solidFill>
                  <a:srgbClr val="0070C0"/>
                </a:solidFill>
              </a:rPr>
              <a:t>{</a:t>
            </a:r>
          </a:p>
          <a:p>
            <a:pPr lvl="3"/>
            <a:endParaRPr lang="en-GB" altLang="el-GR" sz="3200" dirty="0">
              <a:solidFill>
                <a:srgbClr val="0070C0"/>
              </a:solidFill>
            </a:endParaRPr>
          </a:p>
          <a:p>
            <a:pPr lvl="3"/>
            <a:r>
              <a:rPr lang="en-GB" altLang="el-GR" sz="3200" dirty="0">
                <a:solidFill>
                  <a:srgbClr val="0070C0"/>
                </a:solidFill>
              </a:rPr>
              <a:t>}</a:t>
            </a:r>
          </a:p>
        </p:txBody>
      </p:sp>
      <p:sp>
        <p:nvSpPr>
          <p:cNvPr id="16" name="Text Box 7">
            <a:extLst>
              <a:ext uri="{FF2B5EF4-FFF2-40B4-BE49-F238E27FC236}">
                <a16:creationId xmlns:a16="http://schemas.microsoft.com/office/drawing/2014/main" id="{2BDD18EE-8E33-F460-8B79-A761BA118C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5999" y="4923010"/>
            <a:ext cx="4384979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lvl="3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GB" altLang="el-GR" sz="32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printCircuit</a:t>
            </a:r>
            <a:r>
              <a:rPr lang="el-GR" altLang="el-GR" sz="3200" b="1" dirty="0">
                <a:solidFill>
                  <a:srgbClr val="0070C0"/>
                </a:solidFill>
                <a:latin typeface="Courier New" panose="02070309020205020404" pitchFamily="49" charset="0"/>
              </a:rPr>
              <a:t>()</a:t>
            </a:r>
            <a:r>
              <a:rPr lang="en-GB" altLang="el-GR" sz="3200" b="1" dirty="0">
                <a:solidFill>
                  <a:srgbClr val="0070C0"/>
                </a:solidFill>
                <a:latin typeface="Courier New" panose="02070309020205020404" pitchFamily="49" charset="0"/>
              </a:rPr>
              <a:t>{</a:t>
            </a:r>
          </a:p>
          <a:p>
            <a:pPr marL="0" lvl="3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GB" altLang="el-GR" sz="32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pPr marL="0" lvl="3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GB" altLang="el-GR" sz="3200" b="1" dirty="0">
                <a:solidFill>
                  <a:srgbClr val="0070C0"/>
                </a:solidFill>
                <a:latin typeface="Courier New" panose="02070309020205020404" pitchFamily="49" charset="0"/>
              </a:rPr>
              <a:t>}</a:t>
            </a:r>
            <a:endParaRPr lang="el-GR" altLang="el-GR" sz="32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</p:txBody>
      </p:sp>
      <p:sp>
        <p:nvSpPr>
          <p:cNvPr id="17" name="Text Box 7">
            <a:extLst>
              <a:ext uri="{FF2B5EF4-FFF2-40B4-BE49-F238E27FC236}">
                <a16:creationId xmlns:a16="http://schemas.microsoft.com/office/drawing/2014/main" id="{975E4868-1D6A-43EC-EFC8-BCFD5EB4C9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5999" y="3466580"/>
            <a:ext cx="5558632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lvl="3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GB" altLang="el-GR" sz="32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printCircuitStatus</a:t>
            </a:r>
            <a:r>
              <a:rPr lang="el-GR" altLang="el-GR" sz="3200" b="1" dirty="0">
                <a:solidFill>
                  <a:srgbClr val="0070C0"/>
                </a:solidFill>
                <a:latin typeface="Courier New" panose="02070309020205020404" pitchFamily="49" charset="0"/>
              </a:rPr>
              <a:t>()</a:t>
            </a:r>
            <a:r>
              <a:rPr lang="en-GB" altLang="el-GR" sz="3200" b="1" dirty="0">
                <a:solidFill>
                  <a:srgbClr val="0070C0"/>
                </a:solidFill>
                <a:latin typeface="Courier New" panose="02070309020205020404" pitchFamily="49" charset="0"/>
              </a:rPr>
              <a:t>{</a:t>
            </a:r>
          </a:p>
          <a:p>
            <a:pPr marL="0" lvl="3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GB" altLang="el-GR" sz="32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pPr marL="0" lvl="3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GB" altLang="el-GR" sz="3200" b="1" dirty="0">
                <a:solidFill>
                  <a:srgbClr val="0070C0"/>
                </a:solidFill>
                <a:latin typeface="Courier New" panose="02070309020205020404" pitchFamily="49" charset="0"/>
              </a:rPr>
              <a:t>}</a:t>
            </a:r>
            <a:endParaRPr lang="el-GR" altLang="el-GR" sz="32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3517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  <p:bldP spid="16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Το δικό σας κύκλωμα</a:t>
            </a:r>
            <a:endParaRPr lang="en-GB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63824" y="6599394"/>
            <a:ext cx="6261529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Activity 4.8 : Logic Gates Circuit Simulator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C67680E-6756-2ED7-7AD7-88F541D896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14" y="758816"/>
            <a:ext cx="10817098" cy="2507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l-GR" altLang="el-GR" sz="2800" kern="0" dirty="0">
                <a:latin typeface="Times New Roman" panose="02020603050405020304" pitchFamily="18" charset="0"/>
              </a:rPr>
              <a:t>Σχεδιάστε ένα </a:t>
            </a:r>
            <a:r>
              <a:rPr lang="el-GR" altLang="el-GR" sz="2800" kern="0" dirty="0">
                <a:solidFill>
                  <a:srgbClr val="800000"/>
                </a:solidFill>
                <a:latin typeface="Times New Roman" panose="02020603050405020304" pitchFamily="18" charset="0"/>
              </a:rPr>
              <a:t>δικό σας κύκλωμα λογικών πυλών</a:t>
            </a:r>
          </a:p>
          <a:p>
            <a:pPr eaLnBrk="1" hangingPunct="1"/>
            <a:r>
              <a:rPr lang="el-GR" altLang="el-GR" sz="2800" kern="0" dirty="0">
                <a:latin typeface="Times New Roman" panose="02020603050405020304" pitchFamily="18" charset="0"/>
              </a:rPr>
              <a:t>Μπορεί να χρησιμοποιηθεί το πρόγραμμα που αναπτύξατε για να υπολογίσετε την έξοδο του δικού σας λογικού κυκλώματος;</a:t>
            </a:r>
          </a:p>
          <a:p>
            <a:pPr eaLnBrk="1" hangingPunct="1"/>
            <a:r>
              <a:rPr lang="el-GR" altLang="el-GR" sz="2800" kern="0" dirty="0">
                <a:latin typeface="Times New Roman" panose="02020603050405020304" pitchFamily="18" charset="0"/>
              </a:rPr>
              <a:t>Τροποποιήστε το κατάλληλα ώστε να σας δώσει την έξοδο για το δικό σας κύκλωμα.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BFB328F-8F68-E89F-681C-7767FF1F2B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14" y="3305904"/>
            <a:ext cx="10817098" cy="2507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el-GR" altLang="el-GR" b="1" kern="0" dirty="0">
                <a:solidFill>
                  <a:srgbClr val="002060"/>
                </a:solidFill>
                <a:latin typeface="Times New Roman" panose="02020603050405020304" pitchFamily="18" charset="0"/>
              </a:rPr>
              <a:t>Αναβάθμιση προγράμματος </a:t>
            </a:r>
          </a:p>
          <a:p>
            <a:pPr eaLnBrk="1" hangingPunct="1"/>
            <a:r>
              <a:rPr lang="el-GR" altLang="el-GR" sz="2800" kern="0" dirty="0">
                <a:latin typeface="Times New Roman" panose="02020603050405020304" pitchFamily="18" charset="0"/>
              </a:rPr>
              <a:t>Αναπτύξτε ένα πρόγραμμα ώστε να προσφέρει στον χρήστη επιπλέον την </a:t>
            </a:r>
            <a:r>
              <a:rPr lang="el-GR" altLang="el-GR" sz="2800" b="1" kern="0" dirty="0">
                <a:latin typeface="Times New Roman" panose="02020603050405020304" pitchFamily="18" charset="0"/>
              </a:rPr>
              <a:t>υπηρεσία</a:t>
            </a:r>
            <a:r>
              <a:rPr lang="el-GR" altLang="el-GR" sz="2800" kern="0" dirty="0">
                <a:latin typeface="Times New Roman" panose="02020603050405020304" pitchFamily="18" charset="0"/>
              </a:rPr>
              <a:t> </a:t>
            </a:r>
            <a:r>
              <a:rPr lang="el-GR" altLang="el-GR" sz="2800" b="1" kern="0" dirty="0">
                <a:solidFill>
                  <a:srgbClr val="C00000"/>
                </a:solidFill>
                <a:latin typeface="Times New Roman" panose="02020603050405020304" pitchFamily="18" charset="0"/>
              </a:rPr>
              <a:t>Ορισμός Κυκλώματος Λογικών Πυλών</a:t>
            </a:r>
            <a:r>
              <a:rPr lang="el-GR" altLang="el-GR" sz="2800" kern="0" dirty="0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l-GR" altLang="el-GR" sz="2800" kern="0" dirty="0">
                <a:latin typeface="Times New Roman" panose="02020603050405020304" pitchFamily="18" charset="0"/>
              </a:rPr>
              <a:t>Ποιες από τις διεργασίες της έκδοσης 1 θα πρέπει να τροποποιήσετε;</a:t>
            </a:r>
          </a:p>
        </p:txBody>
      </p:sp>
    </p:spTree>
    <p:extLst>
      <p:ext uri="{BB962C8B-B14F-4D97-AF65-F5344CB8AC3E}">
        <p14:creationId xmlns:p14="http://schemas.microsoft.com/office/powerpoint/2010/main" val="3245959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Ορισμός Κυκλώματος Λογικών Πυλών</a:t>
            </a:r>
            <a:endParaRPr lang="en-GB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63824" y="6599394"/>
            <a:ext cx="6261529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Activity 4.8 : Logic Gates Circuit Simulator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D43D65C-E797-9E41-BF8E-C2EBF56CE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4" y="668512"/>
            <a:ext cx="8775700" cy="2294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Ερωτήσεις: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	</a:t>
            </a:r>
            <a:r>
              <a:rPr kumimoji="0" lang="el-GR" altLang="el-GR" sz="2800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Α) </a:t>
            </a:r>
            <a:r>
              <a:rPr kumimoji="0" lang="el-GR" altLang="el-GR" sz="28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Τι</a:t>
            </a:r>
            <a:r>
              <a:rPr kumimoji="0" lang="el-GR" altLang="el-GR" sz="2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el-GR" altLang="el-GR" sz="28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πληροφορία</a:t>
            </a:r>
            <a:r>
              <a:rPr kumimoji="0" lang="el-GR" altLang="el-GR" sz="2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πρέπει να δώσουμε στο σύστημα για την περιγραφή (αναπαράσταση) του  λογικού κυκλώματος;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	</a:t>
            </a:r>
            <a:r>
              <a:rPr kumimoji="0" lang="el-GR" altLang="el-GR" sz="2800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Β)</a:t>
            </a:r>
            <a:r>
              <a:rPr kumimoji="0" lang="el-GR" altLang="el-GR" sz="2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el-GR" altLang="el-GR" sz="28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Πως</a:t>
            </a:r>
            <a:r>
              <a:rPr kumimoji="0" lang="el-GR" altLang="el-GR" sz="2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el-GR" altLang="el-GR" sz="28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θα </a:t>
            </a: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οργανώσουμε</a:t>
            </a:r>
            <a:r>
              <a:rPr kumimoji="0" lang="el-GR" altLang="el-GR" sz="2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την πληροφορία αυτή;</a:t>
            </a:r>
          </a:p>
        </p:txBody>
      </p:sp>
      <p:pic>
        <p:nvPicPr>
          <p:cNvPr id="6" name="Picture 4" descr="logiconbread">
            <a:extLst>
              <a:ext uri="{FF2B5EF4-FFF2-40B4-BE49-F238E27FC236}">
                <a16:creationId xmlns:a16="http://schemas.microsoft.com/office/drawing/2014/main" id="{DAF253B7-D049-0D30-9650-BCA896ACE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14" y="719331"/>
            <a:ext cx="3707852" cy="2078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06F738E-EDB8-137C-619C-33E2B851B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4" y="3749652"/>
            <a:ext cx="11621234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tabLst/>
              <a:defRPr/>
            </a:pP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Περιορισμοί (</a:t>
            </a:r>
            <a:r>
              <a:rPr lang="en-GB" altLang="el-GR" sz="2800" b="1" kern="0" dirty="0">
                <a:solidFill>
                  <a:srgbClr val="000000"/>
                </a:solidFill>
                <a:latin typeface="Tahoma"/>
              </a:rPr>
              <a:t>Constraints)</a:t>
            </a:r>
            <a:endParaRPr kumimoji="0" lang="el-GR" altLang="el-GR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tabLst/>
              <a:defRPr/>
            </a:pP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1. 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Το κύκλωμα μας </a:t>
            </a:r>
            <a:r>
              <a:rPr lang="el-GR" altLang="el-GR" sz="2800" kern="0" dirty="0">
                <a:solidFill>
                  <a:srgbClr val="000000"/>
                </a:solidFill>
                <a:latin typeface="Tahoma"/>
              </a:rPr>
              <a:t>αποτελείται από τρεις στήλες πυλών</a:t>
            </a:r>
            <a:r>
              <a:rPr lang="en-US" altLang="el-GR" sz="2800" kern="0" dirty="0">
                <a:solidFill>
                  <a:srgbClr val="000000"/>
                </a:solidFill>
                <a:latin typeface="Tahoma"/>
              </a:rPr>
              <a:t>.</a:t>
            </a:r>
            <a:r>
              <a:rPr lang="el-GR" altLang="el-GR" sz="2800" kern="0" dirty="0">
                <a:solidFill>
                  <a:srgbClr val="000000"/>
                </a:solidFill>
                <a:latin typeface="Tahoma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tabLst/>
              <a:defRPr/>
            </a:pP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2. 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Κάθε στήλη πυλών βρίσκεται ανάμεσα σε δύο στήλες </a:t>
            </a:r>
            <a:r>
              <a:rPr lang="el-GR" altLang="el-GR" sz="2800" kern="0" dirty="0">
                <a:solidFill>
                  <a:srgbClr val="000000"/>
                </a:solidFill>
                <a:latin typeface="Tahoma"/>
              </a:rPr>
              <a:t>του </a:t>
            </a:r>
            <a:r>
              <a:rPr lang="en-GB" altLang="el-GR" sz="2800" kern="0" dirty="0">
                <a:solidFill>
                  <a:srgbClr val="000000"/>
                </a:solidFill>
                <a:latin typeface="Tahoma"/>
              </a:rPr>
              <a:t>breadboard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tabLst/>
              <a:defRPr/>
            </a:pP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3. O 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μέγιστος </a:t>
            </a:r>
            <a:r>
              <a:rPr lang="el-GR" altLang="el-GR" sz="2800" kern="0" dirty="0">
                <a:solidFill>
                  <a:srgbClr val="000000"/>
                </a:solidFill>
                <a:latin typeface="Tahoma"/>
              </a:rPr>
              <a:t>αριθμός των πυλών ανά στήλη είναι ορισμένος εκ των </a:t>
            </a:r>
            <a:r>
              <a:rPr lang="el-GR" altLang="el-GR" sz="2800" kern="0" dirty="0" err="1">
                <a:solidFill>
                  <a:srgbClr val="000000"/>
                </a:solidFill>
                <a:latin typeface="Tahoma"/>
              </a:rPr>
              <a:t>προτέρω</a:t>
            </a:r>
            <a:r>
              <a:rPr lang="el-GR" altLang="el-GR" sz="2800" kern="0" dirty="0">
                <a:solidFill>
                  <a:srgbClr val="000000"/>
                </a:solidFill>
                <a:latin typeface="Tahoma"/>
              </a:rPr>
              <a:t>.</a:t>
            </a:r>
            <a:endParaRPr kumimoji="0" lang="el-GR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6309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Πληροφορία για περιγραφή κυκλώματος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(1/3)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63824" y="6599394"/>
            <a:ext cx="6261529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Activity 4.8 : Logic Gates Circuit Simulator</a:t>
            </a:r>
          </a:p>
        </p:txBody>
      </p:sp>
      <p:pic>
        <p:nvPicPr>
          <p:cNvPr id="3" name="Picture 4" descr="logiconbread">
            <a:extLst>
              <a:ext uri="{FF2B5EF4-FFF2-40B4-BE49-F238E27FC236}">
                <a16:creationId xmlns:a16="http://schemas.microsoft.com/office/drawing/2014/main" id="{EE3A7FA9-660E-E91E-06C7-8A198B1605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14" y="719331"/>
            <a:ext cx="3707852" cy="2078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F49601FE-4A25-8CDE-1217-59BF6562D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64" y="758816"/>
            <a:ext cx="8775700" cy="299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l-GR" altLang="el-GR" sz="2800" b="1" kern="0" dirty="0">
                <a:solidFill>
                  <a:srgbClr val="800000"/>
                </a:solidFill>
                <a:latin typeface="Times New Roman" panose="02020603050405020304" pitchFamily="18" charset="0"/>
              </a:rPr>
              <a:t>Για κάθε πύλη θέλουμε:</a:t>
            </a:r>
          </a:p>
          <a:p>
            <a:pPr eaLnBrk="1" hangingPunct="1">
              <a:lnSpc>
                <a:spcPct val="90000"/>
              </a:lnSpc>
            </a:pPr>
            <a:r>
              <a:rPr lang="el-GR" altLang="el-GR" sz="2800" kern="0" dirty="0">
                <a:latin typeface="Times New Roman" panose="02020603050405020304" pitchFamily="18" charset="0"/>
              </a:rPr>
              <a:t>την τάξη του </a:t>
            </a:r>
            <a:r>
              <a:rPr lang="en-GB" altLang="el-GR" sz="2800" kern="0" dirty="0">
                <a:latin typeface="Times New Roman" panose="02020603050405020304" pitchFamily="18" charset="0"/>
              </a:rPr>
              <a:t>pin </a:t>
            </a:r>
            <a:r>
              <a:rPr lang="el-GR" altLang="el-GR" sz="2800" kern="0" dirty="0">
                <a:latin typeface="Times New Roman" panose="02020603050405020304" pitchFamily="18" charset="0"/>
              </a:rPr>
              <a:t>της εισόδου 1 της πύλης</a:t>
            </a:r>
          </a:p>
          <a:p>
            <a:pPr eaLnBrk="1" hangingPunct="1">
              <a:lnSpc>
                <a:spcPct val="90000"/>
              </a:lnSpc>
            </a:pPr>
            <a:r>
              <a:rPr lang="el-GR" altLang="el-GR" sz="2800" kern="0" dirty="0">
                <a:latin typeface="Times New Roman" panose="02020603050405020304" pitchFamily="18" charset="0"/>
              </a:rPr>
              <a:t>την τάξη του </a:t>
            </a:r>
            <a:r>
              <a:rPr lang="en-GB" altLang="el-GR" sz="2800" kern="0" dirty="0">
                <a:latin typeface="Times New Roman" panose="02020603050405020304" pitchFamily="18" charset="0"/>
              </a:rPr>
              <a:t>pin </a:t>
            </a:r>
            <a:r>
              <a:rPr lang="el-GR" altLang="el-GR" sz="2800" kern="0" dirty="0">
                <a:latin typeface="Times New Roman" panose="02020603050405020304" pitchFamily="18" charset="0"/>
              </a:rPr>
              <a:t>της εισόδου 2 της πύλης</a:t>
            </a:r>
          </a:p>
          <a:p>
            <a:pPr eaLnBrk="1" hangingPunct="1">
              <a:lnSpc>
                <a:spcPct val="90000"/>
              </a:lnSpc>
            </a:pPr>
            <a:r>
              <a:rPr lang="el-GR" altLang="el-GR" sz="2800" kern="0" dirty="0">
                <a:latin typeface="Times New Roman" panose="02020603050405020304" pitchFamily="18" charset="0"/>
              </a:rPr>
              <a:t>την τάξη του </a:t>
            </a:r>
            <a:r>
              <a:rPr lang="en-GB" altLang="el-GR" sz="2800" kern="0" dirty="0">
                <a:latin typeface="Times New Roman" panose="02020603050405020304" pitchFamily="18" charset="0"/>
              </a:rPr>
              <a:t>pin </a:t>
            </a:r>
            <a:r>
              <a:rPr lang="el-GR" altLang="el-GR" sz="2800" kern="0" dirty="0">
                <a:latin typeface="Times New Roman" panose="02020603050405020304" pitchFamily="18" charset="0"/>
              </a:rPr>
              <a:t>της εξόδου της πύλης</a:t>
            </a:r>
          </a:p>
          <a:p>
            <a:pPr eaLnBrk="1" hangingPunct="1">
              <a:lnSpc>
                <a:spcPct val="90000"/>
              </a:lnSpc>
            </a:pPr>
            <a:r>
              <a:rPr lang="el-GR" altLang="el-GR" sz="2800" kern="0" dirty="0">
                <a:latin typeface="Times New Roman" panose="02020603050405020304" pitchFamily="18" charset="0"/>
              </a:rPr>
              <a:t>τον τύπο της πύλης	</a:t>
            </a:r>
          </a:p>
          <a:p>
            <a:pPr eaLnBrk="1" hangingPunct="1">
              <a:lnSpc>
                <a:spcPct val="90000"/>
              </a:lnSpc>
            </a:pPr>
            <a:r>
              <a:rPr lang="el-GR" altLang="el-GR" sz="2800" kern="0" dirty="0">
                <a:latin typeface="Times New Roman" panose="02020603050405020304" pitchFamily="18" charset="0"/>
              </a:rPr>
              <a:t>την στήλη του </a:t>
            </a:r>
            <a:r>
              <a:rPr lang="en-GB" altLang="el-GR" sz="2800" kern="0" dirty="0">
                <a:latin typeface="Times New Roman" panose="02020603050405020304" pitchFamily="18" charset="0"/>
              </a:rPr>
              <a:t>board </a:t>
            </a:r>
            <a:r>
              <a:rPr lang="el-GR" altLang="el-GR" sz="2800" kern="0" dirty="0">
                <a:latin typeface="Times New Roman" panose="02020603050405020304" pitchFamily="18" charset="0"/>
              </a:rPr>
              <a:t>στην οποία βρίσκεται η πύλη</a:t>
            </a:r>
          </a:p>
        </p:txBody>
      </p:sp>
      <p:pic>
        <p:nvPicPr>
          <p:cNvPr id="13" name="Picture 3">
            <a:extLst>
              <a:ext uri="{FF2B5EF4-FFF2-40B4-BE49-F238E27FC236}">
                <a16:creationId xmlns:a16="http://schemas.microsoft.com/office/drawing/2014/main" id="{351EF48F-240F-92E6-D643-A4E0FDF0FA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289" y="3749666"/>
            <a:ext cx="7699375" cy="264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3">
            <a:extLst>
              <a:ext uri="{FF2B5EF4-FFF2-40B4-BE49-F238E27FC236}">
                <a16:creationId xmlns:a16="http://schemas.microsoft.com/office/drawing/2014/main" id="{C802E05C-3CA5-C1CF-244F-BFA2E620D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4664" y="3749666"/>
            <a:ext cx="1009650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9">
            <a:extLst>
              <a:ext uri="{FF2B5EF4-FFF2-40B4-BE49-F238E27FC236}">
                <a16:creationId xmlns:a16="http://schemas.microsoft.com/office/drawing/2014/main" id="{8A9BD0B4-2B7F-D071-E4DE-D7FDB8C78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64" y="3827095"/>
            <a:ext cx="785812" cy="4286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l-GR" altLang="el-GR" sz="2400"/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530EB393-1E57-C364-7B7F-BBC2BA0E4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1183" y="3707429"/>
            <a:ext cx="9636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l-GR" altLang="el-GR" sz="1600" dirty="0"/>
              <a:t>Αριθμός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l-GR" altLang="el-GR" sz="1600" dirty="0"/>
              <a:t>Στήλης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6C1471-E5E4-E5ED-5E98-DF9CE1F6FC1D}"/>
              </a:ext>
            </a:extLst>
          </p:cNvPr>
          <p:cNvSpPr txBox="1"/>
          <p:nvPr/>
        </p:nvSpPr>
        <p:spPr>
          <a:xfrm>
            <a:off x="9208508" y="3311772"/>
            <a:ext cx="4336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30154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15" grpId="0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Πληροφορία για περιγραφή κυκλώματος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(2/3)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63824" y="6599394"/>
            <a:ext cx="6261529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Activity 4.8 : Logic Gates Circuit Simulator</a:t>
            </a:r>
          </a:p>
        </p:txBody>
      </p:sp>
      <p:pic>
        <p:nvPicPr>
          <p:cNvPr id="3" name="Picture 4" descr="logiconbread">
            <a:extLst>
              <a:ext uri="{FF2B5EF4-FFF2-40B4-BE49-F238E27FC236}">
                <a16:creationId xmlns:a16="http://schemas.microsoft.com/office/drawing/2014/main" id="{EE3A7FA9-660E-E91E-06C7-8A198B1605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14" y="719331"/>
            <a:ext cx="3707852" cy="2078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F49601FE-4A25-8CDE-1217-59BF6562D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64" y="758816"/>
            <a:ext cx="8775700" cy="299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l-GR" altLang="el-GR" sz="2800" b="1" kern="0" dirty="0">
                <a:solidFill>
                  <a:srgbClr val="800000"/>
                </a:solidFill>
                <a:latin typeface="Times New Roman" panose="02020603050405020304" pitchFamily="18" charset="0"/>
              </a:rPr>
              <a:t>Για κάθε πύλη θέλουμε:</a:t>
            </a:r>
          </a:p>
          <a:p>
            <a:pPr eaLnBrk="1" hangingPunct="1">
              <a:lnSpc>
                <a:spcPct val="90000"/>
              </a:lnSpc>
            </a:pPr>
            <a:r>
              <a:rPr lang="el-GR" altLang="el-GR" sz="2800" kern="0" dirty="0">
                <a:latin typeface="Times New Roman" panose="02020603050405020304" pitchFamily="18" charset="0"/>
              </a:rPr>
              <a:t>την τάξη του </a:t>
            </a:r>
            <a:r>
              <a:rPr lang="en-GB" altLang="el-GR" sz="2800" kern="0" dirty="0">
                <a:latin typeface="Times New Roman" panose="02020603050405020304" pitchFamily="18" charset="0"/>
              </a:rPr>
              <a:t>pin </a:t>
            </a:r>
            <a:r>
              <a:rPr lang="el-GR" altLang="el-GR" sz="2800" kern="0" dirty="0">
                <a:latin typeface="Times New Roman" panose="02020603050405020304" pitchFamily="18" charset="0"/>
              </a:rPr>
              <a:t>της εισόδου 1 της πύλης</a:t>
            </a:r>
          </a:p>
          <a:p>
            <a:pPr eaLnBrk="1" hangingPunct="1">
              <a:lnSpc>
                <a:spcPct val="90000"/>
              </a:lnSpc>
            </a:pPr>
            <a:r>
              <a:rPr lang="el-GR" altLang="el-GR" sz="2800" kern="0" dirty="0">
                <a:latin typeface="Times New Roman" panose="02020603050405020304" pitchFamily="18" charset="0"/>
              </a:rPr>
              <a:t>την τάξη του </a:t>
            </a:r>
            <a:r>
              <a:rPr lang="en-GB" altLang="el-GR" sz="2800" kern="0" dirty="0">
                <a:latin typeface="Times New Roman" panose="02020603050405020304" pitchFamily="18" charset="0"/>
              </a:rPr>
              <a:t>pin </a:t>
            </a:r>
            <a:r>
              <a:rPr lang="el-GR" altLang="el-GR" sz="2800" kern="0" dirty="0">
                <a:latin typeface="Times New Roman" panose="02020603050405020304" pitchFamily="18" charset="0"/>
              </a:rPr>
              <a:t>της εισόδου 2 της πύλης</a:t>
            </a:r>
          </a:p>
          <a:p>
            <a:pPr eaLnBrk="1" hangingPunct="1">
              <a:lnSpc>
                <a:spcPct val="90000"/>
              </a:lnSpc>
            </a:pPr>
            <a:r>
              <a:rPr lang="el-GR" altLang="el-GR" sz="2800" kern="0" dirty="0">
                <a:latin typeface="Times New Roman" panose="02020603050405020304" pitchFamily="18" charset="0"/>
              </a:rPr>
              <a:t>την τάξη του </a:t>
            </a:r>
            <a:r>
              <a:rPr lang="en-GB" altLang="el-GR" sz="2800" kern="0" dirty="0">
                <a:latin typeface="Times New Roman" panose="02020603050405020304" pitchFamily="18" charset="0"/>
              </a:rPr>
              <a:t>pin </a:t>
            </a:r>
            <a:r>
              <a:rPr lang="el-GR" altLang="el-GR" sz="2800" kern="0" dirty="0">
                <a:latin typeface="Times New Roman" panose="02020603050405020304" pitchFamily="18" charset="0"/>
              </a:rPr>
              <a:t>της εξόδου της πύλης</a:t>
            </a:r>
          </a:p>
          <a:p>
            <a:pPr eaLnBrk="1" hangingPunct="1">
              <a:lnSpc>
                <a:spcPct val="90000"/>
              </a:lnSpc>
            </a:pPr>
            <a:r>
              <a:rPr lang="el-GR" altLang="el-GR" sz="2800" kern="0" dirty="0">
                <a:latin typeface="Times New Roman" panose="02020603050405020304" pitchFamily="18" charset="0"/>
              </a:rPr>
              <a:t>τον τύπο της πύλης	</a:t>
            </a:r>
          </a:p>
          <a:p>
            <a:pPr eaLnBrk="1" hangingPunct="1">
              <a:lnSpc>
                <a:spcPct val="90000"/>
              </a:lnSpc>
            </a:pPr>
            <a:r>
              <a:rPr lang="el-GR" altLang="el-GR" sz="2800" kern="0" dirty="0">
                <a:latin typeface="Times New Roman" panose="02020603050405020304" pitchFamily="18" charset="0"/>
              </a:rPr>
              <a:t>την στήλη του </a:t>
            </a:r>
            <a:r>
              <a:rPr lang="en-GB" altLang="el-GR" sz="2800" kern="0" dirty="0">
                <a:latin typeface="Times New Roman" panose="02020603050405020304" pitchFamily="18" charset="0"/>
              </a:rPr>
              <a:t>breadboard </a:t>
            </a:r>
            <a:r>
              <a:rPr lang="el-GR" altLang="el-GR" sz="2800" kern="0" dirty="0">
                <a:latin typeface="Times New Roman" panose="02020603050405020304" pitchFamily="18" charset="0"/>
              </a:rPr>
              <a:t>στην οποία βρίσκεται η πύλη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F5525EF-AA17-4CFE-9287-FDE12A6FF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64" y="3617500"/>
            <a:ext cx="7772400" cy="2078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int 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input1PinOrder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;</a:t>
            </a:r>
            <a:endParaRPr kumimoji="0" lang="el-GR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int 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input2PinOrder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;</a:t>
            </a:r>
            <a:endParaRPr kumimoji="0" lang="el-GR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int </a:t>
            </a:r>
            <a:r>
              <a:rPr kumimoji="0" lang="el-GR" altLang="el-G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outputPinOrder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;</a:t>
            </a:r>
            <a:endParaRPr kumimoji="0" lang="el-GR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int </a:t>
            </a:r>
            <a:r>
              <a:rPr kumimoji="0" lang="el-GR" altLang="el-G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gateType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;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2C7EAAE-D8AC-1D41-8502-65F7B408B5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6036" y="3639619"/>
            <a:ext cx="6201965" cy="207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3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int column1gate1[4];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3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…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3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int column1gate8[4];</a:t>
            </a:r>
            <a:endParaRPr kumimoji="0" lang="el-GR" altLang="el-GR" sz="36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C7776298-0FEE-7CA9-673E-02C6A06167DD}"/>
              </a:ext>
            </a:extLst>
          </p:cNvPr>
          <p:cNvSpPr>
            <a:spLocks noChangeArrowheads="1"/>
          </p:cNvSpPr>
          <p:nvPr/>
        </p:nvSpPr>
        <p:spPr bwMode="auto">
          <a:xfrm rot="20527551">
            <a:off x="3569846" y="3901418"/>
            <a:ext cx="1295400" cy="4318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00E4A8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2423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  <p:bldP spid="7" grpId="0" build="p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Πληροφορία για περιγραφή κυκλώματος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(3/3)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63824" y="6599394"/>
            <a:ext cx="6261529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Activity 4.8 : Logic Gates Circuit Simulator</a:t>
            </a:r>
          </a:p>
        </p:txBody>
      </p:sp>
      <p:pic>
        <p:nvPicPr>
          <p:cNvPr id="3" name="Picture 4" descr="logiconbread">
            <a:extLst>
              <a:ext uri="{FF2B5EF4-FFF2-40B4-BE49-F238E27FC236}">
                <a16:creationId xmlns:a16="http://schemas.microsoft.com/office/drawing/2014/main" id="{EE3A7FA9-660E-E91E-06C7-8A198B1605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14" y="719331"/>
            <a:ext cx="3707852" cy="2078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12C7EAAE-D8AC-1D41-8502-65F7B408B5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23" y="758816"/>
            <a:ext cx="6201965" cy="207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36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int column1gate1[4];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…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36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int column1gate8[4];</a:t>
            </a:r>
            <a:endParaRPr kumimoji="0" lang="el-GR" altLang="el-GR" sz="36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C7776298-0FEE-7CA9-673E-02C6A06167DD}"/>
              </a:ext>
            </a:extLst>
          </p:cNvPr>
          <p:cNvSpPr>
            <a:spLocks noChangeArrowheads="1"/>
          </p:cNvSpPr>
          <p:nvPr/>
        </p:nvSpPr>
        <p:spPr bwMode="auto">
          <a:xfrm rot="2036439">
            <a:off x="1888019" y="5483088"/>
            <a:ext cx="1295400" cy="4318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00E4A8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2" name="AutoShape 6">
            <a:extLst>
              <a:ext uri="{FF2B5EF4-FFF2-40B4-BE49-F238E27FC236}">
                <a16:creationId xmlns:a16="http://schemas.microsoft.com/office/drawing/2014/main" id="{4755ED31-431B-F14D-64CF-C1FD65BE861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464112" y="2834871"/>
            <a:ext cx="1295400" cy="4318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00E4A8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1550B082-7C58-9940-B815-693188DEAE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20254"/>
            <a:ext cx="7051191" cy="207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3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int column1Gates[8][4];</a:t>
            </a:r>
          </a:p>
          <a:p>
            <a:pPr lvl="0" eaLnBrk="1" hangingPunct="1">
              <a:lnSpc>
                <a:spcPct val="90000"/>
              </a:lnSpc>
              <a:buClr>
                <a:srgbClr val="3333CC"/>
              </a:buClr>
              <a:buNone/>
              <a:defRPr/>
            </a:pPr>
            <a:r>
              <a:rPr lang="en-US" altLang="el-GR" sz="3600" b="1" kern="0" dirty="0">
                <a:solidFill>
                  <a:srgbClr val="FF0000"/>
                </a:solidFill>
                <a:latin typeface="Courier New" panose="02070309020205020404" pitchFamily="49" charset="0"/>
              </a:rPr>
              <a:t>int column2Gates[8][4];</a:t>
            </a:r>
          </a:p>
          <a:p>
            <a:pPr lvl="0" eaLnBrk="1" hangingPunct="1">
              <a:lnSpc>
                <a:spcPct val="90000"/>
              </a:lnSpc>
              <a:buClr>
                <a:srgbClr val="3333CC"/>
              </a:buClr>
              <a:buNone/>
              <a:defRPr/>
            </a:pPr>
            <a:r>
              <a:rPr lang="en-US" altLang="el-GR" sz="3600" b="1" kern="0" dirty="0">
                <a:solidFill>
                  <a:srgbClr val="FF0000"/>
                </a:solidFill>
                <a:latin typeface="Courier New" panose="02070309020205020404" pitchFamily="49" charset="0"/>
              </a:rPr>
              <a:t>int column3Gates[8][4];</a:t>
            </a: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93D5CB38-700A-42A1-15E9-1D8DDFB319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702" y="5511142"/>
            <a:ext cx="8956298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5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int </a:t>
            </a:r>
            <a:r>
              <a:rPr kumimoji="0" lang="en-US" altLang="el-GR" sz="54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circuitGates</a:t>
            </a:r>
            <a:r>
              <a:rPr kumimoji="0" lang="en-US" altLang="el-GR" sz="5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[3][8][4];</a:t>
            </a:r>
            <a:endParaRPr kumimoji="0" lang="el-GR" altLang="el-GR" sz="5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687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 animBg="1"/>
      <p:bldP spid="12" grpId="0" animBg="1"/>
      <p:bldP spid="14" grpId="0" build="p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191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Περιγραφή κυκλώματος – Μορφή κειμένου</a:t>
            </a:r>
            <a:endParaRPr lang="en-GB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63824" y="6599394"/>
            <a:ext cx="6261529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Activity 4.8 : Logic Gates Circuit Simulator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4BAC3DB-1DF6-9AEB-CC42-56FD859E5C10}"/>
              </a:ext>
            </a:extLst>
          </p:cNvPr>
          <p:cNvGrpSpPr/>
          <p:nvPr/>
        </p:nvGrpSpPr>
        <p:grpSpPr>
          <a:xfrm>
            <a:off x="238271" y="1100535"/>
            <a:ext cx="3479516" cy="3071812"/>
            <a:chOff x="477768" y="732476"/>
            <a:chExt cx="3479516" cy="307181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B8756CC-31AE-393A-7341-72898DC95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68" y="732476"/>
              <a:ext cx="2857500" cy="3071812"/>
            </a:xfrm>
            <a:prstGeom prst="rect">
              <a:avLst/>
            </a:prstGeom>
            <a:solidFill>
              <a:srgbClr val="FFFFFF"/>
            </a:solidFill>
            <a:ln w="28575" algn="ctr">
              <a:solidFill>
                <a:srgbClr val="0066FF"/>
              </a:solidFill>
              <a:miter lim="800000"/>
              <a:headEnd/>
              <a:tailEnd/>
            </a:ln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6" name="Content Placeholder 3">
              <a:extLst>
                <a:ext uri="{FF2B5EF4-FFF2-40B4-BE49-F238E27FC236}">
                  <a16:creationId xmlns:a16="http://schemas.microsoft.com/office/drawing/2014/main" id="{C9363F00-3401-A1E7-6F53-4E2C8681CA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1159" y="944737"/>
              <a:ext cx="3286125" cy="2714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8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800">
                  <a:solidFill>
                    <a:schemeClr val="tx1"/>
                  </a:solidFill>
                  <a:latin typeface="+mn-lt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1800">
                  <a:solidFill>
                    <a:schemeClr val="tx1"/>
                  </a:solidFill>
                  <a:latin typeface="+mn-lt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1800">
                  <a:solidFill>
                    <a:schemeClr val="tx1"/>
                  </a:solidFill>
                  <a:latin typeface="+mn-lt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1800">
                  <a:solidFill>
                    <a:schemeClr val="tx1"/>
                  </a:solidFill>
                  <a:latin typeface="+mn-lt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18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el-GR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AND, C1,0,1,1</a:t>
              </a:r>
            </a:p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el-GR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AND, C1,2,3,2</a:t>
              </a:r>
            </a:p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el-GR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NOR, C1,4,3,3</a:t>
              </a:r>
            </a:p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el-GR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NOR, C2,1,2,1</a:t>
              </a:r>
            </a:p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el-GR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XOR, C2,2,3,3</a:t>
              </a:r>
            </a:p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el-GR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…</a:t>
              </a:r>
              <a:endPara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074626B-8E76-D3CC-2A90-6EBBD7B270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771" y="1167870"/>
            <a:ext cx="318869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3600" b="1" i="0" u="none" strike="noStrike" kern="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ahoma" panose="020B0604030504040204" pitchFamily="34" charset="0"/>
              </a:rPr>
              <a:t>MyCircuit.txt</a:t>
            </a:r>
            <a:endParaRPr kumimoji="0" lang="el-GR" altLang="el-GR" sz="3600" b="1" i="0" u="none" strike="noStrike" kern="0" cap="none" spc="0" normalizeH="0" baseline="0" noProof="0" dirty="0">
              <a:ln>
                <a:noFill/>
              </a:ln>
              <a:solidFill>
                <a:srgbClr val="0066FF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834CF43A-124A-5DA2-807E-4148942A6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4641" y="3880247"/>
            <a:ext cx="7699375" cy="264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>
            <a:extLst>
              <a:ext uri="{FF2B5EF4-FFF2-40B4-BE49-F238E27FC236}">
                <a16:creationId xmlns:a16="http://schemas.microsoft.com/office/drawing/2014/main" id="{217DD037-31BC-0537-3D58-AEE5D6F4E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7016" y="3880247"/>
            <a:ext cx="1009650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9">
            <a:extLst>
              <a:ext uri="{FF2B5EF4-FFF2-40B4-BE49-F238E27FC236}">
                <a16:creationId xmlns:a16="http://schemas.microsoft.com/office/drawing/2014/main" id="{7D403998-81C2-C7E1-81F4-9C214C509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18454" y="3951685"/>
            <a:ext cx="785812" cy="428625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3763489C-8D57-F1C6-2987-2C5E90CD9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18454" y="3880247"/>
            <a:ext cx="9636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Αριθμός 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Στήλης</a:t>
            </a:r>
          </a:p>
        </p:txBody>
      </p:sp>
      <p:pic>
        <p:nvPicPr>
          <p:cNvPr id="15" name="Picture 4" descr="logiconbread">
            <a:extLst>
              <a:ext uri="{FF2B5EF4-FFF2-40B4-BE49-F238E27FC236}">
                <a16:creationId xmlns:a16="http://schemas.microsoft.com/office/drawing/2014/main" id="{80F21778-5F50-DEA9-838F-E6400F10C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14" y="719331"/>
            <a:ext cx="3707852" cy="2078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563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							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MyCircuit.txt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63824" y="6599394"/>
            <a:ext cx="6261529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Activity 4.8 : Logic Gates Circuit Simulator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9218AAB4-A702-DE84-2AC8-8BB6F22246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5357813" cy="276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8276190" imgH="5323810" progId="Paint.Picture">
                  <p:embed/>
                </p:oleObj>
              </mc:Choice>
              <mc:Fallback>
                <p:oleObj name="Bitmap Image" r:id="rId3" imgW="8276190" imgH="5323810" progId="Paint.Picture">
                  <p:embed/>
                  <p:pic>
                    <p:nvPicPr>
                      <p:cNvPr id="53250" name="Object 2">
                        <a:extLst>
                          <a:ext uri="{FF2B5EF4-FFF2-40B4-BE49-F238E27FC236}">
                            <a16:creationId xmlns:a16="http://schemas.microsoft.com/office/drawing/2014/main" id="{612D48FA-7D81-E33C-61D4-DD09CF5C5A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5357813" cy="276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3">
            <a:extLst>
              <a:ext uri="{FF2B5EF4-FFF2-40B4-BE49-F238E27FC236}">
                <a16:creationId xmlns:a16="http://schemas.microsoft.com/office/drawing/2014/main" id="{D3466B03-BB22-A89C-4FB3-384F589CE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57500"/>
            <a:ext cx="8059738" cy="276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DF429BC2-9CB0-53BD-4AFE-5B56C843F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3286125"/>
            <a:ext cx="8059738" cy="276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8B70A89D-7121-0BE7-C231-85227BDC5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3857625"/>
            <a:ext cx="8059738" cy="276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Straight Arrow Connector 7">
            <a:extLst>
              <a:ext uri="{FF2B5EF4-FFF2-40B4-BE49-F238E27FC236}">
                <a16:creationId xmlns:a16="http://schemas.microsoft.com/office/drawing/2014/main" id="{B89B95FC-3575-9D93-A522-8D49AEBC476A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678656" y="2250282"/>
            <a:ext cx="1285875" cy="214312"/>
          </a:xfrm>
          <a:prstGeom prst="straightConnector1">
            <a:avLst/>
          </a:prstGeom>
          <a:noFill/>
          <a:ln w="57150" algn="ctr">
            <a:solidFill>
              <a:srgbClr val="333399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Straight Arrow Connector 8">
            <a:extLst>
              <a:ext uri="{FF2B5EF4-FFF2-40B4-BE49-F238E27FC236}">
                <a16:creationId xmlns:a16="http://schemas.microsoft.com/office/drawing/2014/main" id="{6E6A8FB1-09A9-16E0-8446-DDBAD8B8F795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1750219" y="2250281"/>
            <a:ext cx="2000250" cy="357188"/>
          </a:xfrm>
          <a:prstGeom prst="straightConnector1">
            <a:avLst/>
          </a:prstGeom>
          <a:noFill/>
          <a:ln w="57150" algn="ctr">
            <a:solidFill>
              <a:srgbClr val="333399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Straight Arrow Connector 10">
            <a:extLst>
              <a:ext uri="{FF2B5EF4-FFF2-40B4-BE49-F238E27FC236}">
                <a16:creationId xmlns:a16="http://schemas.microsoft.com/office/drawing/2014/main" id="{6D853A2B-B19C-5AFF-AD3F-97A3834EFB53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2607469" y="2393157"/>
            <a:ext cx="2928937" cy="571500"/>
          </a:xfrm>
          <a:prstGeom prst="straightConnector1">
            <a:avLst/>
          </a:prstGeom>
          <a:noFill/>
          <a:ln w="57150" algn="ctr">
            <a:solidFill>
              <a:srgbClr val="333399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E430714-1A89-2538-3058-36B33DA6B2B1}"/>
              </a:ext>
            </a:extLst>
          </p:cNvPr>
          <p:cNvGrpSpPr/>
          <p:nvPr/>
        </p:nvGrpSpPr>
        <p:grpSpPr>
          <a:xfrm>
            <a:off x="9098150" y="821532"/>
            <a:ext cx="3479516" cy="3071812"/>
            <a:chOff x="477768" y="732476"/>
            <a:chExt cx="3479516" cy="307181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8F18FED-7040-7BE4-E0A4-4A971FCE09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68" y="732476"/>
              <a:ext cx="2857500" cy="3071812"/>
            </a:xfrm>
            <a:prstGeom prst="rect">
              <a:avLst/>
            </a:prstGeom>
            <a:solidFill>
              <a:srgbClr val="FFFFFF"/>
            </a:solidFill>
            <a:ln w="28575" algn="ctr">
              <a:solidFill>
                <a:srgbClr val="0066FF"/>
              </a:solidFill>
              <a:miter lim="800000"/>
              <a:headEnd/>
              <a:tailEnd/>
            </a:ln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6" name="Content Placeholder 3">
              <a:extLst>
                <a:ext uri="{FF2B5EF4-FFF2-40B4-BE49-F238E27FC236}">
                  <a16:creationId xmlns:a16="http://schemas.microsoft.com/office/drawing/2014/main" id="{1C22848B-2D0D-484E-4BD8-026BFDFEB2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1159" y="944737"/>
              <a:ext cx="3286125" cy="2714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8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800">
                  <a:solidFill>
                    <a:schemeClr val="tx1"/>
                  </a:solidFill>
                  <a:latin typeface="+mn-lt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1800">
                  <a:solidFill>
                    <a:schemeClr val="tx1"/>
                  </a:solidFill>
                  <a:latin typeface="+mn-lt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1800">
                  <a:solidFill>
                    <a:schemeClr val="tx1"/>
                  </a:solidFill>
                  <a:latin typeface="+mn-lt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1800">
                  <a:solidFill>
                    <a:schemeClr val="tx1"/>
                  </a:solidFill>
                  <a:latin typeface="+mn-lt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18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el-GR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AND, C1,0,1,1</a:t>
              </a:r>
            </a:p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el-GR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AND, C1,2,3,2</a:t>
              </a:r>
            </a:p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el-GR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NOR, C1,4,3,3</a:t>
              </a:r>
            </a:p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el-GR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NOR, C2,1,2,1</a:t>
              </a:r>
            </a:p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el-GR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XOR, C2,2,3,3</a:t>
              </a:r>
            </a:p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el-GR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…</a:t>
              </a:r>
              <a:endPara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sp>
        <p:nvSpPr>
          <p:cNvPr id="20" name="Callout: Line 19">
            <a:extLst>
              <a:ext uri="{FF2B5EF4-FFF2-40B4-BE49-F238E27FC236}">
                <a16:creationId xmlns:a16="http://schemas.microsoft.com/office/drawing/2014/main" id="{D8B3D6D3-5552-7320-BBFF-ECCF1371A306}"/>
              </a:ext>
            </a:extLst>
          </p:cNvPr>
          <p:cNvSpPr/>
          <p:nvPr/>
        </p:nvSpPr>
        <p:spPr>
          <a:xfrm>
            <a:off x="9291541" y="1033793"/>
            <a:ext cx="2485931" cy="1508239"/>
          </a:xfrm>
          <a:prstGeom prst="borderCallout1">
            <a:avLst>
              <a:gd name="adj1" fmla="val 18750"/>
              <a:gd name="adj2" fmla="val -8333"/>
              <a:gd name="adj3" fmla="val 128263"/>
              <a:gd name="adj4" fmla="val -71438"/>
            </a:avLst>
          </a:prstGeom>
          <a:solidFill>
            <a:schemeClr val="accent1">
              <a:alpha val="34000"/>
            </a:schemeClr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Callout: Line 20">
            <a:extLst>
              <a:ext uri="{FF2B5EF4-FFF2-40B4-BE49-F238E27FC236}">
                <a16:creationId xmlns:a16="http://schemas.microsoft.com/office/drawing/2014/main" id="{27536C95-407F-5CE3-6F03-9E55C44D2ECC}"/>
              </a:ext>
            </a:extLst>
          </p:cNvPr>
          <p:cNvSpPr/>
          <p:nvPr/>
        </p:nvSpPr>
        <p:spPr>
          <a:xfrm>
            <a:off x="9314144" y="2597366"/>
            <a:ext cx="2485931" cy="972941"/>
          </a:xfrm>
          <a:prstGeom prst="borderCallout1">
            <a:avLst>
              <a:gd name="adj1" fmla="val 18750"/>
              <a:gd name="adj2" fmla="val -8333"/>
              <a:gd name="adj3" fmla="val 100068"/>
              <a:gd name="adj4" fmla="val -43483"/>
            </a:avLst>
          </a:prstGeom>
          <a:solidFill>
            <a:schemeClr val="accent1">
              <a:alpha val="34000"/>
            </a:schemeClr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2754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circuitGates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[3][8][4]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63824" y="6599394"/>
            <a:ext cx="6261529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Activity 4.8 : Logic Gates Circuit Simulator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D530D6-EB9C-6DA2-1368-2399BFAC03F6}"/>
              </a:ext>
            </a:extLst>
          </p:cNvPr>
          <p:cNvSpPr/>
          <p:nvPr/>
        </p:nvSpPr>
        <p:spPr bwMode="auto">
          <a:xfrm>
            <a:off x="285750" y="4643438"/>
            <a:ext cx="2571750" cy="1214437"/>
          </a:xfrm>
          <a:prstGeom prst="rect">
            <a:avLst/>
          </a:prstGeom>
          <a:solidFill>
            <a:srgbClr val="333399">
              <a:lumMod val="40000"/>
              <a:lumOff val="60000"/>
            </a:srgbClr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7538F0-5687-1B17-2304-DF4B4207D8B7}"/>
              </a:ext>
            </a:extLst>
          </p:cNvPr>
          <p:cNvSpPr/>
          <p:nvPr/>
        </p:nvSpPr>
        <p:spPr bwMode="auto">
          <a:xfrm>
            <a:off x="285750" y="3429000"/>
            <a:ext cx="2571750" cy="1214438"/>
          </a:xfrm>
          <a:prstGeom prst="rect">
            <a:avLst/>
          </a:prstGeom>
          <a:solidFill>
            <a:srgbClr val="FFCF01">
              <a:lumMod val="40000"/>
              <a:lumOff val="60000"/>
            </a:srgbClr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E8E6B2D3-55C3-2AA2-5F21-D90DEE4BF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2214563"/>
            <a:ext cx="2571750" cy="1214437"/>
          </a:xfrm>
          <a:prstGeom prst="rect">
            <a:avLst/>
          </a:prstGeom>
          <a:solidFill>
            <a:srgbClr val="00E4A8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BD3A949-DF16-FC56-C707-EC65C656F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205038"/>
            <a:ext cx="86423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gates</a:t>
            </a:r>
            <a:r>
              <a:rPr kumimoji="0" lang="el-GR" altLang="el-GR" sz="2000" b="0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[0][0][0] = </a:t>
            </a:r>
            <a:r>
              <a:rPr kumimoji="0" lang="en-US" altLang="el-GR" sz="2000" b="0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AND</a:t>
            </a:r>
            <a:r>
              <a:rPr kumimoji="0" lang="el-GR" altLang="el-GR" sz="2000" b="0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;</a:t>
            </a:r>
            <a:r>
              <a:rPr kumimoji="0" lang="el-GR" altLang="el-G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l-GR" altLang="el-GR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/* είναι η πρώτη πύλη της στήλης και είναι τύπου </a:t>
            </a:r>
            <a:r>
              <a:rPr kumimoji="0" lang="en-US" altLang="el-GR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AND</a:t>
            </a:r>
            <a:r>
              <a:rPr kumimoji="0" lang="el-GR" altLang="el-GR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*/</a:t>
            </a:r>
            <a:endParaRPr kumimoji="0" lang="en-US" altLang="el-GR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gates</a:t>
            </a:r>
            <a:r>
              <a:rPr kumimoji="0" lang="el-GR" altLang="el-GR" sz="2000" b="0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[0][0][1] = 0;</a:t>
            </a:r>
            <a:r>
              <a:rPr kumimoji="0" lang="el-GR" altLang="el-G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l-GR" altLang="el-GR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/* η μία είσοδος θα συνδεθεί στην υποδοχή 0 της στήλης 0 */</a:t>
            </a:r>
            <a:endParaRPr kumimoji="0" lang="en-US" altLang="el-GR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gates</a:t>
            </a:r>
            <a:r>
              <a:rPr kumimoji="0" lang="el-GR" altLang="el-GR" sz="2000" b="0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[0][0][2] = 1;</a:t>
            </a:r>
            <a:r>
              <a:rPr kumimoji="0" lang="el-GR" altLang="el-G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l-GR" altLang="el-GR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/* η άλλη είσοδος θα συνδεθεί στην υποδοχή 1 της στήλης 0 */</a:t>
            </a:r>
            <a:endParaRPr kumimoji="0" lang="en-US" altLang="el-GR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gates</a:t>
            </a:r>
            <a:r>
              <a:rPr kumimoji="0" lang="el-GR" altLang="el-GR" sz="2000" b="0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[0][0][3] = 1;</a:t>
            </a:r>
            <a:r>
              <a:rPr kumimoji="0" lang="el-GR" altLang="el-G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r>
              <a:rPr kumimoji="0" lang="el-GR" altLang="el-GR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/* η έξοδος θα συνδεθεί στην υποδοχή 1 της στήλης 1 */</a:t>
            </a:r>
            <a:endParaRPr kumimoji="0" lang="en-US" altLang="el-GR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gates[0][1][0] = AND;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gates[0][1][1] = 2;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gates[0][1][2] = 3;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gates[0][1][3] = 2;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gates[0][2][0] = OR;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gates[0][2][1] = 4;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gates[0][2][2] = </a:t>
            </a:r>
            <a:r>
              <a:rPr kumimoji="0" lang="el-GR" altLang="el-GR" sz="2000" b="0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3</a:t>
            </a:r>
            <a:r>
              <a:rPr kumimoji="0" lang="en-US" altLang="el-GR" sz="2000" b="0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;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gates[0][2][3] = 3;</a:t>
            </a:r>
            <a:endParaRPr kumimoji="0" lang="el-GR" altLang="el-GR" sz="2000" b="0" i="0" u="none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9" name="Picture 5" descr="logiconbread">
            <a:extLst>
              <a:ext uri="{FF2B5EF4-FFF2-40B4-BE49-F238E27FC236}">
                <a16:creationId xmlns:a16="http://schemas.microsoft.com/office/drawing/2014/main" id="{25B4CB6C-66FB-E4DB-EA6F-7DC46BDB9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6588" y="34925"/>
            <a:ext cx="3872396" cy="217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Straight Arrow Connector 6">
            <a:extLst>
              <a:ext uri="{FF2B5EF4-FFF2-40B4-BE49-F238E27FC236}">
                <a16:creationId xmlns:a16="http://schemas.microsoft.com/office/drawing/2014/main" id="{8B82C168-1E3A-0879-65CC-B6F8EFD2BAA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357438" y="428625"/>
            <a:ext cx="5573713" cy="178593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Straight Arrow Connector 9">
            <a:extLst>
              <a:ext uri="{FF2B5EF4-FFF2-40B4-BE49-F238E27FC236}">
                <a16:creationId xmlns:a16="http://schemas.microsoft.com/office/drawing/2014/main" id="{A3F53692-F41C-BFBB-3550-6309C7781C8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714626" y="856012"/>
            <a:ext cx="5216525" cy="3073051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748B129-21D2-9C5E-04EA-CE779EA41752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786064" y="1219395"/>
            <a:ext cx="5214938" cy="378123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Straight Arrow Connector 16">
            <a:extLst>
              <a:ext uri="{FF2B5EF4-FFF2-40B4-BE49-F238E27FC236}">
                <a16:creationId xmlns:a16="http://schemas.microsoft.com/office/drawing/2014/main" id="{72698FC6-5164-4D80-5D52-6FF39C7AC064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V="1">
            <a:off x="1071563" y="1428750"/>
            <a:ext cx="4000500" cy="71438"/>
          </a:xfrm>
          <a:prstGeom prst="straightConnector1">
            <a:avLst/>
          </a:prstGeom>
          <a:noFill/>
          <a:ln w="38100" algn="ctr">
            <a:solidFill>
              <a:srgbClr val="C00000"/>
            </a:solidFill>
            <a:prstDash val="lgDash"/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Straight Arrow Connector 18">
            <a:extLst>
              <a:ext uri="{FF2B5EF4-FFF2-40B4-BE49-F238E27FC236}">
                <a16:creationId xmlns:a16="http://schemas.microsoft.com/office/drawing/2014/main" id="{B299A9FC-7E1E-233E-EBB3-84719E712C0F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713581" y="1856582"/>
            <a:ext cx="714375" cy="1588"/>
          </a:xfrm>
          <a:prstGeom prst="straightConnector1">
            <a:avLst/>
          </a:prstGeom>
          <a:noFill/>
          <a:ln w="38100" algn="ctr">
            <a:solidFill>
              <a:srgbClr val="C00000"/>
            </a:solidFill>
            <a:prstDash val="lgDash"/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TextBox 20">
            <a:extLst>
              <a:ext uri="{FF2B5EF4-FFF2-40B4-BE49-F238E27FC236}">
                <a16:creationId xmlns:a16="http://schemas.microsoft.com/office/drawing/2014/main" id="{C1CA96BA-C305-057A-5238-7394F1F56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1143000"/>
            <a:ext cx="3429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</a:rPr>
              <a:t>0</a:t>
            </a:r>
            <a:r>
              <a:rPr kumimoji="0" lang="en-US" altLang="el-GR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</a:rPr>
              <a:t> (C1)</a:t>
            </a:r>
            <a:r>
              <a:rPr kumimoji="0" lang="el-GR" altLang="el-GR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</a:rPr>
              <a:t>,1</a:t>
            </a:r>
            <a:r>
              <a:rPr kumimoji="0" lang="en-US" altLang="el-GR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</a:rPr>
              <a:t>(C2)</a:t>
            </a:r>
            <a:r>
              <a:rPr kumimoji="0" lang="el-GR" altLang="el-GR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</a:rPr>
              <a:t>,2</a:t>
            </a:r>
            <a:r>
              <a:rPr kumimoji="0" lang="en-US" altLang="el-GR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</a:rPr>
              <a:t>(C3) </a:t>
            </a:r>
            <a:r>
              <a:rPr kumimoji="0" lang="el-GR" altLang="el-GR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</a:rPr>
              <a:t>Στήλη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7C865E-4A69-55A5-68CB-73FB87F82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3563" y="3429000"/>
            <a:ext cx="2857500" cy="3071813"/>
          </a:xfrm>
          <a:prstGeom prst="rect">
            <a:avLst/>
          </a:prstGeom>
          <a:solidFill>
            <a:srgbClr val="FFFFFF"/>
          </a:solidFill>
          <a:ln w="28575" algn="ctr">
            <a:solidFill>
              <a:srgbClr val="0066FF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AA76F4A6-8590-6B08-7CD7-2973B38B788E}"/>
              </a:ext>
            </a:extLst>
          </p:cNvPr>
          <p:cNvSpPr txBox="1">
            <a:spLocks/>
          </p:cNvSpPr>
          <p:nvPr/>
        </p:nvSpPr>
        <p:spPr>
          <a:xfrm>
            <a:off x="5643563" y="3429000"/>
            <a:ext cx="3286125" cy="2714625"/>
          </a:xfrm>
          <a:prstGeom prst="rect">
            <a:avLst/>
          </a:prstGeom>
        </p:spPr>
        <p:txBody>
          <a:bodyPr/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n-US" sz="3200" kern="0">
                <a:solidFill>
                  <a:srgbClr val="000000"/>
                </a:solidFill>
                <a:latin typeface="Tahoma"/>
              </a:rPr>
              <a:t>AND, C1,0,1,1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n-US" sz="3200" kern="0">
                <a:solidFill>
                  <a:srgbClr val="000000"/>
                </a:solidFill>
                <a:latin typeface="Tahoma"/>
              </a:rPr>
              <a:t>AND, C1,2,3,2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n-US" sz="3200" kern="0">
                <a:solidFill>
                  <a:srgbClr val="000000"/>
                </a:solidFill>
                <a:latin typeface="Tahoma"/>
              </a:rPr>
              <a:t>NOR, C1,4,3,3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n-US" sz="3200" kern="0">
                <a:solidFill>
                  <a:srgbClr val="000000"/>
                </a:solidFill>
                <a:latin typeface="Tahoma"/>
              </a:rPr>
              <a:t>NOR, C2,1,2,1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n-US" sz="3200" kern="0">
                <a:solidFill>
                  <a:srgbClr val="000000"/>
                </a:solidFill>
                <a:latin typeface="Tahoma"/>
              </a:rPr>
              <a:t>XOR, C2,2,3,3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n-US" sz="3200" kern="0">
                <a:solidFill>
                  <a:srgbClr val="000000"/>
                </a:solidFill>
                <a:latin typeface="Tahoma"/>
              </a:rPr>
              <a:t>…</a:t>
            </a:r>
            <a:endParaRPr lang="el-GR" sz="3200" kern="0" dirty="0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C2DAF7-9764-849C-DD72-6D5A412E56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3938" y="3452336"/>
            <a:ext cx="25202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ahoma" panose="020B0604030504040204" pitchFamily="34" charset="0"/>
              </a:rPr>
              <a:t>MyCircuit.txt</a:t>
            </a:r>
            <a:endParaRPr kumimoji="0" lang="el-GR" altLang="el-GR" sz="2800" b="1" i="0" u="none" strike="noStrike" kern="0" cap="none" spc="0" normalizeH="0" baseline="0" noProof="0" dirty="0">
              <a:ln>
                <a:noFill/>
              </a:ln>
              <a:solidFill>
                <a:srgbClr val="0066FF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cxnSp>
        <p:nvCxnSpPr>
          <p:cNvPr id="21" name="Straight Connector 25">
            <a:extLst>
              <a:ext uri="{FF2B5EF4-FFF2-40B4-BE49-F238E27FC236}">
                <a16:creationId xmlns:a16="http://schemas.microsoft.com/office/drawing/2014/main" id="{22376D70-6297-252E-A6D6-E8A5DD13B37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28938" y="2214563"/>
            <a:ext cx="2928937" cy="1285875"/>
          </a:xfrm>
          <a:prstGeom prst="line">
            <a:avLst/>
          </a:prstGeom>
          <a:noFill/>
          <a:ln w="9525" algn="ctr">
            <a:solidFill>
              <a:srgbClr val="000000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Straight Connector 26">
            <a:extLst>
              <a:ext uri="{FF2B5EF4-FFF2-40B4-BE49-F238E27FC236}">
                <a16:creationId xmlns:a16="http://schemas.microsoft.com/office/drawing/2014/main" id="{84A22FA8-B69B-9591-576C-379DDD28E6E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857500" y="5143500"/>
            <a:ext cx="2928938" cy="714375"/>
          </a:xfrm>
          <a:prstGeom prst="line">
            <a:avLst/>
          </a:prstGeom>
          <a:noFill/>
          <a:ln w="9525" algn="ctr">
            <a:solidFill>
              <a:srgbClr val="000000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EBF14A9-7BD3-52A2-A30C-26034930F612}"/>
              </a:ext>
            </a:extLst>
          </p:cNvPr>
          <p:cNvCxnSpPr/>
          <p:nvPr/>
        </p:nvCxnSpPr>
        <p:spPr bwMode="auto">
          <a:xfrm rot="10800000" flipV="1">
            <a:off x="1428750" y="1784350"/>
            <a:ext cx="4002088" cy="71438"/>
          </a:xfrm>
          <a:prstGeom prst="straightConnector1">
            <a:avLst/>
          </a:prstGeom>
          <a:solidFill>
            <a:srgbClr val="00E4A8"/>
          </a:solidFill>
          <a:ln w="38100" cap="flat" cmpd="sng" algn="ctr">
            <a:solidFill>
              <a:srgbClr val="AAEFD1">
                <a:lumMod val="50000"/>
              </a:srgbClr>
            </a:solidFill>
            <a:prstDash val="lgDash"/>
            <a:miter lim="800000"/>
            <a:headEnd type="none" w="med" len="med"/>
            <a:tailEnd type="arrow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BB8A53D-5EB3-CF30-830E-F13E85018076}"/>
              </a:ext>
            </a:extLst>
          </p:cNvPr>
          <p:cNvCxnSpPr/>
          <p:nvPr/>
        </p:nvCxnSpPr>
        <p:spPr bwMode="auto">
          <a:xfrm rot="5400000">
            <a:off x="1215231" y="2070894"/>
            <a:ext cx="428625" cy="1588"/>
          </a:xfrm>
          <a:prstGeom prst="straightConnector1">
            <a:avLst/>
          </a:prstGeom>
          <a:solidFill>
            <a:srgbClr val="00E4A8"/>
          </a:solidFill>
          <a:ln w="38100" cap="flat" cmpd="sng" algn="ctr">
            <a:solidFill>
              <a:srgbClr val="AAEFD1">
                <a:lumMod val="50000"/>
              </a:srgbClr>
            </a:solidFill>
            <a:prstDash val="lgDash"/>
            <a:miter lim="800000"/>
            <a:headEnd type="none" w="med" len="med"/>
            <a:tailEnd type="arrow"/>
          </a:ln>
          <a:effectLst/>
        </p:spPr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897C53B-1DAE-608A-B9FC-2F16738312AA}"/>
              </a:ext>
            </a:extLst>
          </p:cNvPr>
          <p:cNvSpPr txBox="1"/>
          <p:nvPr/>
        </p:nvSpPr>
        <p:spPr>
          <a:xfrm>
            <a:off x="1857375" y="1500188"/>
            <a:ext cx="3429000" cy="400050"/>
          </a:xfrm>
          <a:prstGeom prst="rect">
            <a:avLst/>
          </a:prstGeom>
          <a:noFill/>
          <a:ln>
            <a:solidFill>
              <a:srgbClr val="AAEFD1">
                <a:lumMod val="50000"/>
              </a:srgbClr>
            </a:solidFill>
          </a:ln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AAEFD1">
                    <a:lumMod val="50000"/>
                  </a:srgbClr>
                </a:solidFill>
                <a:effectLst/>
                <a:uLnTx/>
                <a:uFillTx/>
                <a:latin typeface="Tahoma" panose="020B0604030504040204" pitchFamily="34" charset="0"/>
              </a:rPr>
              <a:t>Τάξη</a:t>
            </a:r>
            <a:r>
              <a: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r>
              <a: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AAEFD1">
                    <a:lumMod val="50000"/>
                  </a:srgbClr>
                </a:solidFill>
                <a:effectLst/>
                <a:uLnTx/>
                <a:uFillTx/>
                <a:latin typeface="Tahoma" panose="020B0604030504040204" pitchFamily="34" charset="0"/>
              </a:rPr>
              <a:t>πύλης στην Στήλη</a:t>
            </a:r>
          </a:p>
        </p:txBody>
      </p:sp>
    </p:spTree>
    <p:extLst>
      <p:ext uri="{BB962C8B-B14F-4D97-AF65-F5344CB8AC3E}">
        <p14:creationId xmlns:p14="http://schemas.microsoft.com/office/powerpoint/2010/main" val="3041756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8" grpId="0" animBg="1"/>
      <p:bldP spid="19" grpId="0"/>
      <p:bldP spid="2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Επιλογή </a:t>
            </a:r>
            <a:r>
              <a:rPr lang="el-GR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Νο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2 – Χρήση Δομής</a:t>
            </a:r>
            <a:endParaRPr lang="en-GB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63824" y="6599394"/>
            <a:ext cx="6261529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Activity 4.8 : Logic Gates Circuit Simulator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83E9DB4-6F1F-E35D-E0CD-7514BEF4B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31" y="1203510"/>
            <a:ext cx="8775700" cy="203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Για κάθε πύλη θέλουμε:</a:t>
            </a:r>
          </a:p>
          <a:p>
            <a:pPr marL="342900" marR="0" lvl="0" indent="-342900" algn="l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	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την τάξη του 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pin 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της εισόδου 1 της πύλης</a:t>
            </a:r>
          </a:p>
          <a:p>
            <a:pPr marL="342900" marR="0" lvl="0" indent="-342900" algn="l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	την τάξη του 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pin 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της εισόδου 2 της πύλης</a:t>
            </a:r>
          </a:p>
          <a:p>
            <a:pPr marL="342900" marR="0" lvl="0" indent="-342900" algn="l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	την τάξη του 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pin 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της εξόδου 1 της πύλης</a:t>
            </a:r>
          </a:p>
          <a:p>
            <a:pPr marL="342900" marR="0" lvl="0" indent="-342900" algn="l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	τον τύπο της πύλης	</a:t>
            </a: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(αλφαριθμητικό)</a:t>
            </a:r>
          </a:p>
          <a:p>
            <a:pPr marL="342900" marR="0" lvl="0" indent="-342900" algn="l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	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την στήλη του 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board 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στην οποία βρίσκεται η πύλη</a:t>
            </a:r>
          </a:p>
        </p:txBody>
      </p:sp>
      <p:pic>
        <p:nvPicPr>
          <p:cNvPr id="5" name="Picture 4" descr="logiconbread">
            <a:extLst>
              <a:ext uri="{FF2B5EF4-FFF2-40B4-BE49-F238E27FC236}">
                <a16:creationId xmlns:a16="http://schemas.microsoft.com/office/drawing/2014/main" id="{0A462113-3B74-5A67-E4C9-1EA41D8F1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6374" y="54188"/>
            <a:ext cx="3095625" cy="173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5">
            <a:extLst>
              <a:ext uri="{FF2B5EF4-FFF2-40B4-BE49-F238E27FC236}">
                <a16:creationId xmlns:a16="http://schemas.microsoft.com/office/drawing/2014/main" id="{ED908324-D417-A57F-23DE-49C171E4E4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336" y="670343"/>
            <a:ext cx="65696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 panose="020B0604030504040204" pitchFamily="34" charset="0"/>
              </a:rPr>
              <a:t>Πληροφορία για περιγραφή κυκλώματος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8E10D82E-F697-96BD-D8AE-C4E60FAD7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336" y="3136292"/>
            <a:ext cx="5140325" cy="271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l-GR" sz="2800" b="1" dirty="0">
                <a:solidFill>
                  <a:srgbClr val="FF0000"/>
                </a:solidFill>
                <a:latin typeface="Courier New" panose="02070309020205020404" pitchFamily="49" charset="0"/>
              </a:rPr>
              <a:t>struct </a:t>
            </a:r>
            <a:r>
              <a:rPr lang="en-US" altLang="el-GR" b="1" dirty="0" err="1">
                <a:solidFill>
                  <a:srgbClr val="800000"/>
                </a:solidFill>
                <a:latin typeface="Courier New" panose="02070309020205020404" pitchFamily="49" charset="0"/>
              </a:rPr>
              <a:t>gateType</a:t>
            </a:r>
            <a:r>
              <a:rPr lang="en-US" altLang="el-GR" sz="2800" b="1" dirty="0">
                <a:solidFill>
                  <a:srgbClr val="FF0000"/>
                </a:solidFill>
                <a:latin typeface="Courier New" panose="02070309020205020404" pitchFamily="49" charset="0"/>
              </a:rPr>
              <a:t>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l-GR" sz="2800" b="1" dirty="0">
                <a:solidFill>
                  <a:srgbClr val="FF0000"/>
                </a:solidFill>
                <a:latin typeface="Courier New" panose="02070309020205020404" pitchFamily="49" charset="0"/>
              </a:rPr>
              <a:t>	char </a:t>
            </a:r>
            <a:r>
              <a:rPr lang="en-US" altLang="el-GR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type</a:t>
            </a:r>
            <a:r>
              <a:rPr lang="en-US" altLang="el-GR" sz="2800" b="1" dirty="0">
                <a:solidFill>
                  <a:srgbClr val="FF0000"/>
                </a:solidFill>
                <a:latin typeface="Courier New" panose="02070309020205020404" pitchFamily="49" charset="0"/>
              </a:rPr>
              <a:t>[5];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l-GR" sz="2800" b="1" dirty="0">
                <a:solidFill>
                  <a:srgbClr val="FF0000"/>
                </a:solidFill>
                <a:latin typeface="Courier New" panose="02070309020205020404" pitchFamily="49" charset="0"/>
              </a:rPr>
              <a:t>	int </a:t>
            </a:r>
            <a:r>
              <a:rPr lang="en-US" altLang="el-GR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input1PinOrder</a:t>
            </a:r>
            <a:r>
              <a:rPr lang="en-US" altLang="el-GR" sz="2800" b="1" dirty="0">
                <a:solidFill>
                  <a:srgbClr val="FF0000"/>
                </a:solidFill>
                <a:latin typeface="Courier New" panose="02070309020205020404" pitchFamily="49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l-GR" sz="2800" b="1" dirty="0">
                <a:solidFill>
                  <a:srgbClr val="FF0000"/>
                </a:solidFill>
                <a:latin typeface="Courier New" panose="02070309020205020404" pitchFamily="49" charset="0"/>
              </a:rPr>
              <a:t>	int </a:t>
            </a:r>
            <a:r>
              <a:rPr lang="en-US" altLang="el-GR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input2PinOrder</a:t>
            </a:r>
            <a:r>
              <a:rPr lang="en-US" altLang="el-GR" sz="2800" b="1" dirty="0">
                <a:solidFill>
                  <a:srgbClr val="FF0000"/>
                </a:solidFill>
                <a:latin typeface="Courier New" panose="02070309020205020404" pitchFamily="49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l-GR" sz="2800" b="1" dirty="0">
                <a:solidFill>
                  <a:srgbClr val="FF0000"/>
                </a:solidFill>
                <a:latin typeface="Courier New" panose="02070309020205020404" pitchFamily="49" charset="0"/>
              </a:rPr>
              <a:t>	int </a:t>
            </a:r>
            <a:r>
              <a:rPr lang="en-US" altLang="el-GR" sz="2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outputPinOrder</a:t>
            </a:r>
            <a:r>
              <a:rPr lang="en-US" altLang="el-GR" sz="2800" b="1" dirty="0">
                <a:solidFill>
                  <a:srgbClr val="FF0000"/>
                </a:solidFill>
                <a:latin typeface="Courier New" panose="02070309020205020404" pitchFamily="49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l-GR" sz="2800" b="1" dirty="0">
                <a:solidFill>
                  <a:srgbClr val="FF0000"/>
                </a:solidFill>
                <a:latin typeface="Courier New" panose="02070309020205020404" pitchFamily="49" charset="0"/>
              </a:rPr>
              <a:t>	}</a:t>
            </a:r>
            <a:endParaRPr lang="el-GR" altLang="el-GR" sz="28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EE0F293F-0FE5-3008-E1BD-3D9A49EAEE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9626" y="3620203"/>
            <a:ext cx="629061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l-GR" sz="3600" b="1" dirty="0">
                <a:solidFill>
                  <a:srgbClr val="3333CC"/>
                </a:solidFill>
                <a:latin typeface="Courier New" panose="02070309020205020404" pitchFamily="49" charset="0"/>
              </a:rPr>
              <a:t>struct gate</a:t>
            </a:r>
            <a:r>
              <a:rPr lang="el-GR" altLang="el-GR" sz="3600" b="1" dirty="0">
                <a:solidFill>
                  <a:srgbClr val="3333CC"/>
                </a:solidFill>
                <a:latin typeface="Courier New" panose="02070309020205020404" pitchFamily="49" charset="0"/>
              </a:rPr>
              <a:t>Τ</a:t>
            </a:r>
            <a:r>
              <a:rPr lang="en-US" altLang="el-GR" sz="3600" b="1" dirty="0" err="1">
                <a:solidFill>
                  <a:srgbClr val="3333CC"/>
                </a:solidFill>
                <a:latin typeface="Courier New" panose="02070309020205020404" pitchFamily="49" charset="0"/>
              </a:rPr>
              <a:t>ype</a:t>
            </a:r>
            <a:r>
              <a:rPr lang="en-US" altLang="el-GR" sz="3600" b="1" dirty="0">
                <a:solidFill>
                  <a:srgbClr val="3333CC"/>
                </a:solidFill>
                <a:latin typeface="Courier New" panose="02070309020205020404" pitchFamily="49" charset="0"/>
              </a:rPr>
              <a:t> </a:t>
            </a:r>
            <a:r>
              <a:rPr lang="en-US" altLang="el-GR" sz="3600" b="1" dirty="0">
                <a:solidFill>
                  <a:srgbClr val="FF0000"/>
                </a:solidFill>
                <a:latin typeface="Courier New" panose="02070309020205020404" pitchFamily="49" charset="0"/>
              </a:rPr>
              <a:t>gate1</a:t>
            </a:r>
            <a:r>
              <a:rPr lang="en-US" altLang="el-GR" sz="3600" b="1" dirty="0">
                <a:solidFill>
                  <a:srgbClr val="3333CC"/>
                </a:solidFill>
                <a:latin typeface="Courier New" panose="02070309020205020404" pitchFamily="49" charset="0"/>
              </a:rPr>
              <a:t>;</a:t>
            </a:r>
            <a:endParaRPr lang="el-GR" altLang="el-GR" sz="3600" b="1" dirty="0">
              <a:solidFill>
                <a:srgbClr val="3333CC"/>
              </a:solidFill>
              <a:latin typeface="Courier New" panose="02070309020205020404" pitchFamily="49" charset="0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85D76C15-2BC6-C4C8-8A6B-8DD4D53859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048" y="5754480"/>
            <a:ext cx="11636189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l-GR" sz="4400" b="1" dirty="0">
                <a:solidFill>
                  <a:srgbClr val="3333CC"/>
                </a:solidFill>
                <a:latin typeface="Courier New" panose="02070309020205020404" pitchFamily="49" charset="0"/>
              </a:rPr>
              <a:t>struct </a:t>
            </a:r>
            <a:r>
              <a:rPr lang="en-US" altLang="el-GR" sz="4400" b="1" dirty="0" err="1">
                <a:solidFill>
                  <a:srgbClr val="3333CC"/>
                </a:solidFill>
                <a:latin typeface="Courier New" panose="02070309020205020404" pitchFamily="49" charset="0"/>
              </a:rPr>
              <a:t>gateType</a:t>
            </a:r>
            <a:r>
              <a:rPr lang="en-US" altLang="el-GR" sz="4400" b="1" dirty="0">
                <a:solidFill>
                  <a:srgbClr val="3333CC"/>
                </a:solidFill>
                <a:latin typeface="Courier New" panose="02070309020205020404" pitchFamily="49" charset="0"/>
              </a:rPr>
              <a:t> </a:t>
            </a:r>
            <a:r>
              <a:rPr lang="en-US" altLang="el-GR" sz="4400" b="1" kern="0" dirty="0" err="1">
                <a:solidFill>
                  <a:srgbClr val="FF0000"/>
                </a:solidFill>
              </a:rPr>
              <a:t>circuitGates</a:t>
            </a:r>
            <a:r>
              <a:rPr lang="en-US" altLang="el-GR" sz="4400" b="1" dirty="0">
                <a:solidFill>
                  <a:srgbClr val="FF0000"/>
                </a:solidFill>
                <a:latin typeface="Courier New" panose="02070309020205020404" pitchFamily="49" charset="0"/>
              </a:rPr>
              <a:t>[3][8]</a:t>
            </a:r>
            <a:r>
              <a:rPr lang="en-US" altLang="el-GR" sz="4400" b="1" dirty="0">
                <a:solidFill>
                  <a:srgbClr val="3333CC"/>
                </a:solidFill>
                <a:latin typeface="Courier New" panose="02070309020205020404" pitchFamily="49" charset="0"/>
              </a:rPr>
              <a:t>;</a:t>
            </a:r>
            <a:endParaRPr lang="el-GR" altLang="el-GR" sz="3600" b="1" dirty="0">
              <a:solidFill>
                <a:srgbClr val="3333CC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46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Logic Gates Circuit Sim – OOP - Identify Objects 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63824" y="6599394"/>
            <a:ext cx="6261529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Activity 4.8 : Logic Gates Circuit Simulator</a:t>
            </a:r>
          </a:p>
        </p:txBody>
      </p:sp>
      <p:pic>
        <p:nvPicPr>
          <p:cNvPr id="3" name="Picture 4" descr="logiconbread">
            <a:extLst>
              <a:ext uri="{FF2B5EF4-FFF2-40B4-BE49-F238E27FC236}">
                <a16:creationId xmlns:a16="http://schemas.microsoft.com/office/drawing/2014/main" id="{093E42FA-6D0D-D44B-EA4D-3F5D80F21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2049" y="806450"/>
            <a:ext cx="4679950" cy="262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1132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endParaRPr lang="en-GB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63824" y="6599394"/>
            <a:ext cx="6261529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Activity 4.8 : Logic Gates Circuit Simulator</a:t>
            </a:r>
          </a:p>
        </p:txBody>
      </p:sp>
    </p:spTree>
    <p:extLst>
      <p:ext uri="{BB962C8B-B14F-4D97-AF65-F5344CB8AC3E}">
        <p14:creationId xmlns:p14="http://schemas.microsoft.com/office/powerpoint/2010/main" val="882723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Προσαρμοσμένη σχεδίαση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20649</TotalTime>
  <Words>1366</Words>
  <Application>Microsoft Office PowerPoint</Application>
  <PresentationFormat>Widescreen</PresentationFormat>
  <Paragraphs>256</Paragraphs>
  <Slides>22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4" baseType="lpstr">
      <vt:lpstr>Arial</vt:lpstr>
      <vt:lpstr>Bahnschrift</vt:lpstr>
      <vt:lpstr>Bahnschrift Light</vt:lpstr>
      <vt:lpstr>Calibri</vt:lpstr>
      <vt:lpstr>Calibri Light</vt:lpstr>
      <vt:lpstr>Courier New</vt:lpstr>
      <vt:lpstr>Tahoma</vt:lpstr>
      <vt:lpstr>Times New Roman</vt:lpstr>
      <vt:lpstr>Wingdings</vt:lpstr>
      <vt:lpstr>Προσαρμοσμένη σχεδίαση</vt:lpstr>
      <vt:lpstr>Θέμα του Office</vt:lpstr>
      <vt:lpstr>Bitmap Image</vt:lpstr>
      <vt:lpstr>PowerPoint Presentation</vt:lpstr>
      <vt:lpstr>Breadboard – Logic Gates Circuit</vt:lpstr>
      <vt:lpstr>Εξομοιωτής κυκλωμάτων λογικών πυλών</vt:lpstr>
      <vt:lpstr>Στόχος της άσκησης</vt:lpstr>
      <vt:lpstr>Iteration No 1</vt:lpstr>
      <vt:lpstr>Αναγνώριση βασικών Διεργασιών/Υπηρεσιών</vt:lpstr>
      <vt:lpstr>Iteration No 1</vt:lpstr>
      <vt:lpstr>Iteration No 2 – To κύκλωμα πάνω σε breadBoard</vt:lpstr>
      <vt:lpstr>Αναπαράσταση Δεδομένων</vt:lpstr>
      <vt:lpstr>Αναπαράσταση Δεδομένων</vt:lpstr>
      <vt:lpstr>Ορισμός διεργασιών</vt:lpstr>
      <vt:lpstr>Το δικό σας κύκλωμα</vt:lpstr>
      <vt:lpstr>Ορισμός Κυκλώματος Λογικών Πυλών</vt:lpstr>
      <vt:lpstr>Πληροφορία για περιγραφή κυκλώματος (1/3)</vt:lpstr>
      <vt:lpstr>Πληροφορία για περιγραφή κυκλώματος (2/3)</vt:lpstr>
      <vt:lpstr>Πληροφορία για περιγραφή κυκλώματος (3/3)</vt:lpstr>
      <vt:lpstr>Περιγραφή κυκλώματος – Μορφή κειμένου</vt:lpstr>
      <vt:lpstr>       MyCircuit.txt</vt:lpstr>
      <vt:lpstr>circuitGates[3][8][4]</vt:lpstr>
      <vt:lpstr>Επιλογή Νο 2 – Χρήση Δομής</vt:lpstr>
      <vt:lpstr>Logic Gates Circuit Sim – OOP - Identify Objects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Παρουσίαση του PowerPoint</dc:title>
  <dc:creator>PCUser</dc:creator>
  <cp:lastModifiedBy>thrambo@ece.upatras.gr</cp:lastModifiedBy>
  <cp:revision>89</cp:revision>
  <dcterms:created xsi:type="dcterms:W3CDTF">2020-03-13T12:21:17Z</dcterms:created>
  <dcterms:modified xsi:type="dcterms:W3CDTF">2024-10-09T06:18:53Z</dcterms:modified>
</cp:coreProperties>
</file>