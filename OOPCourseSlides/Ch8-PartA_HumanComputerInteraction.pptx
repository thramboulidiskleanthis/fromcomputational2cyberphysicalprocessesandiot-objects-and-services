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92" r:id="rId2"/>
  </p:sldMasterIdLst>
  <p:notesMasterIdLst>
    <p:notesMasterId r:id="rId30"/>
  </p:notesMasterIdLst>
  <p:sldIdLst>
    <p:sldId id="262" r:id="rId3"/>
    <p:sldId id="845" r:id="rId4"/>
    <p:sldId id="846" r:id="rId5"/>
    <p:sldId id="847" r:id="rId6"/>
    <p:sldId id="760" r:id="rId7"/>
    <p:sldId id="848" r:id="rId8"/>
    <p:sldId id="850" r:id="rId9"/>
    <p:sldId id="849" r:id="rId10"/>
    <p:sldId id="851" r:id="rId11"/>
    <p:sldId id="853" r:id="rId12"/>
    <p:sldId id="852" r:id="rId13"/>
    <p:sldId id="854" r:id="rId14"/>
    <p:sldId id="855" r:id="rId15"/>
    <p:sldId id="856" r:id="rId16"/>
    <p:sldId id="857" r:id="rId17"/>
    <p:sldId id="858" r:id="rId18"/>
    <p:sldId id="859" r:id="rId19"/>
    <p:sldId id="860" r:id="rId20"/>
    <p:sldId id="862" r:id="rId21"/>
    <p:sldId id="861" r:id="rId22"/>
    <p:sldId id="863" r:id="rId23"/>
    <p:sldId id="864" r:id="rId24"/>
    <p:sldId id="867" r:id="rId25"/>
    <p:sldId id="865" r:id="rId26"/>
    <p:sldId id="866" r:id="rId27"/>
    <p:sldId id="868" r:id="rId28"/>
    <p:sldId id="869" r:id="rId29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rambo" initials="T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CDBB"/>
    <a:srgbClr val="60D69E"/>
    <a:srgbClr val="869391"/>
    <a:srgbClr val="F9853D"/>
    <a:srgbClr val="FDCBAD"/>
    <a:srgbClr val="FBAD7D"/>
    <a:srgbClr val="61649B"/>
    <a:srgbClr val="E49252"/>
    <a:srgbClr val="FFFFFF"/>
    <a:srgbClr val="2E35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4" autoAdjust="0"/>
    <p:restoredTop sz="92023" autoAdjust="0"/>
  </p:normalViewPr>
  <p:slideViewPr>
    <p:cSldViewPr snapToGrid="0">
      <p:cViewPr varScale="1">
        <p:scale>
          <a:sx n="63" d="100"/>
          <a:sy n="63" d="100"/>
        </p:scale>
        <p:origin x="93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20127-9FC1-4D44-BFF2-2F77E5433948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D89646-4F35-49C2-BD28-89287C170EC3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4866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4589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416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71527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2788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36734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8555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5765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5689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61616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1826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72856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8862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46912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06724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69310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9658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99294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3237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82929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03452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9552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59176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84457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0492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95445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D89646-4F35-49C2-BD28-89287C170EC3}" type="slidenum">
              <a:rPr kumimoji="0" lang="el-G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l-G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557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20F0C6-20AC-41EB-97A9-F4D49B814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E32E3D7A-E6B7-4F3B-A3A4-432551739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5913F9FC-9EB9-4B41-B003-FC4C036B1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FB8E113-6156-4872-81CC-442E8373B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6173B9A-A0EA-47D7-8D18-B6E2BD95D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227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F7B4CC-9312-4102-9C7A-DD5776C3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9207E59-B014-409F-8E39-F07CF6FA4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D28C698E-FDE3-406F-AEF7-58C354D6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DBB6EE0-1F7E-4C3D-8524-627F4FAB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15A0C17-4537-4F4D-B727-1C89BF11B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02150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FAD7298-5AF8-4835-97EB-C16ED6D2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3D2EC4FE-ACD0-4F71-A34B-36ED90506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0525369C-E8DA-4A41-A021-C2AFFA6B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09E6631D-4B2B-42B6-B88C-990FA7605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4B4A319-5C9B-46DF-96B8-F30BC39F7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4177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DD86A31-D5EC-46FA-A235-F151422F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52F68FD-8072-4020-B6C4-C8DEF5ACC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CB43AF00-F0E0-4F57-8814-5AB4B0C03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89D9695B-1677-4255-A36B-ADA53963E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2F05351-67C2-46C6-A91C-414650F2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D2959A3-E6A4-4BB0-BE95-F23CF5F5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874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1550276-9848-4578-8364-691220AD2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11C9CFA5-81EF-4418-9CE2-C9EB8CE5F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8144BA92-B3F1-426D-9721-D505666C5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34964523-2FE6-420B-BF7F-3ED5906588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4EE8D821-AC0B-4F1C-AC1B-68CAEA6E8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0836FDB2-AE28-437A-B450-FC5FA097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3CC56F37-5360-4ED6-9EFB-B4959D6A0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8423FDBB-6E0A-4AD0-AD73-FB22040EE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523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2BE337C-659B-44A0-815E-1CE7F2FDB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59D7B6A3-3626-4AD7-97D4-F6210A237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D50B290B-CDC6-4F07-927A-EB7F796E2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5AD0E512-8E7A-4A77-8496-D36864CF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446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05F803E6-97F1-4D9B-A18A-566A4A16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D16003C0-6EB6-4C9B-A531-7B4E3CE4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2EA301AA-05AA-466A-BB11-E4CEB6F9F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065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EAAEFBB-DCF4-46CF-9FC6-8D65BCEB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FACB05B-E524-44F7-BF66-694B0E333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5473C60C-80C9-4542-852E-B22F6BA607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5209058B-2FCA-4D37-A928-B77A09F78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2F8D9052-7B1B-4DEA-BE59-76E1CA206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7F7BFCBB-BB2D-41CB-8EF4-1D6154D05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6440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A72A12-B4CE-41C0-824E-4DB22C0C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4331ABF6-AF41-4DA6-82BC-340BA63822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D4AD854A-F202-4241-AFA5-8F8D5175F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Επεξεργασία στυλ υποδείγματος κειμένου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D2D25601-E5C6-4DAA-A438-750D7B0C4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C1A411BF-7CE1-4136-85D0-CEA759EB3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EBD64BFB-00A3-49A7-B9AF-C93C938A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6863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BF383B-9D9C-4567-A73F-3964FF66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2568873-5978-4A13-BA12-F77F173EB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788EFFCE-A34B-4F95-B3D5-603927E16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1BE576DF-BE6C-4DE7-BDD8-60E8F026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74B323CB-AAB1-4C9E-AE28-C6179CB9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965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E176F3CB-2A60-46CD-8CF9-DD053E08C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62F4BEC8-6DEB-41E5-B12D-18B14C6B0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C7DD041-7F64-4984-A13C-EE790702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6502BD5F-24B7-4FDD-BD59-39295F573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4E0B5687-7B67-47CF-995B-36EF0D417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971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Στυλ κύριου υπότιτλου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2421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1009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2586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143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6135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2742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52939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6569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Στυλ κύριου τίτλου</a:t>
            </a:r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5792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904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F2E9-5724-40D7-A084-8A9A9CED4F62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48B04-D0CA-4D92-8779-0291FECC15E7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27019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992F1800-E376-4EAC-8DCE-EF767BC9F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93EDA18A-E08C-433A-8864-CE510E638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Επεξεργασία 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F5AF37D2-402E-4529-9EEC-414BB35C5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CF16FB6-3B9A-47F7-BC11-0CD0D4478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A057F2B-A2D8-4FC1-B53F-4487A38756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77641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Στυλ κύριου τίτλου</a:t>
            </a:r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υποδείγματος κειμένου</a:t>
            </a:r>
          </a:p>
          <a:p>
            <a:pPr lvl="1"/>
            <a:r>
              <a:rPr lang="el-GR"/>
              <a:t>Δεύτερου επιπέδου</a:t>
            </a:r>
          </a:p>
          <a:p>
            <a:pPr lvl="2"/>
            <a:r>
              <a:rPr lang="el-GR"/>
              <a:t>Τρίτου επιπέδου</a:t>
            </a:r>
          </a:p>
          <a:p>
            <a:pPr lvl="3"/>
            <a:r>
              <a:rPr lang="el-GR"/>
              <a:t>Τέταρτου επιπέδου</a:t>
            </a:r>
          </a:p>
          <a:p>
            <a:pPr lvl="4"/>
            <a:r>
              <a:rPr lang="el-GR"/>
              <a:t>Πέμπτου επιπέδου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47DEE-5753-44EA-A073-053903F4D65C}" type="datetimeFigureOut">
              <a:rPr lang="el-GR" smtClean="0"/>
              <a:t>9/10/2024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C20E-1D6A-4E7C-944C-DE305A6F1CA5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54368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ites.google.com/site/thramboulidiskleanthi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file:///C:\JavaAPI_1.4apijavaawtMenu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oleObject" Target="../embeddings/oleObject7.bin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file:///C:\JavaAPIs\jdk-6-doc\docs\api\java\awt\Font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hyperlink" Target="file:///C:\JavaAPIs\jdk-6-doc\docs\api\java\awt\Dimension.html" TargetMode="External"/><Relationship Id="rId4" Type="http://schemas.openxmlformats.org/officeDocument/2006/relationships/hyperlink" Target="file:///C:\JavaAPIs\jdk-6-doc\docs\api\java\awt\Color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file:///C:\JavaAPIs\jdk-6-doc\docs\api\java\awt\Rectangle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file:///C:\JavaAPIs\jdk-6-doc\docs\api\java\awt\Rectangle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oleObject" Target="../embeddings/oleObject9.bin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bm.com/developerworks/grid/library/os-swingswt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bm.com/developerworks/grid/library/os-swingswt/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76E192A2-3ED3-4081-8A86-A22B5114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152902" y="-1181101"/>
            <a:ext cx="3886200" cy="121920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3" y="48411"/>
            <a:ext cx="12192002" cy="124981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Αντικειμενοστρεφής Προγραμματισμός </a:t>
            </a:r>
            <a:b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</a:br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(</a:t>
            </a:r>
            <a:r>
              <a:rPr lang="el-GR" sz="4000" b="1" err="1">
                <a:solidFill>
                  <a:srgbClr val="F9853D"/>
                </a:solidFill>
                <a:latin typeface="Bahnschrift" panose="020B0502040204020203" pitchFamily="34" charset="0"/>
              </a:rPr>
              <a:t>Object-Oriented</a:t>
            </a:r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l-GR" sz="4000" b="1" err="1">
                <a:solidFill>
                  <a:srgbClr val="F9853D"/>
                </a:solidFill>
                <a:latin typeface="Bahnschrift" panose="020B0502040204020203" pitchFamily="34" charset="0"/>
              </a:rPr>
              <a:t>Programming</a:t>
            </a:r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)</a:t>
            </a:r>
            <a:endParaRPr lang="en-US" sz="2800" b="1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50C4F10-C081-CD71-17C8-8DAD4C7DE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773068"/>
            <a:ext cx="8610600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  <a:defRPr sz="4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Book Antiqua" panose="02040602050305030304" pitchFamily="18" charset="0"/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800" b="0" i="0" kern="0">
                <a:solidFill>
                  <a:srgbClr val="800000"/>
                </a:solidFill>
                <a:latin typeface="Times New Roman" panose="02020603050405020304" pitchFamily="18" charset="0"/>
              </a:rPr>
              <a:t>Kleanthis Thramboulidis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i="0" kern="0">
                <a:latin typeface="Times New Roman" panose="02020603050405020304" pitchFamily="18" charset="0"/>
              </a:rPr>
              <a:t>Prof. of Software and System Engineering 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 kern="0">
                <a:latin typeface="Times New Roman" panose="02020603050405020304" pitchFamily="18" charset="0"/>
              </a:rPr>
              <a:t>University of Patras</a:t>
            </a:r>
            <a:r>
              <a:rPr lang="el-GR" altLang="el-GR" sz="1800" b="0" i="0" kern="0">
                <a:latin typeface="Times New Roman" panose="02020603050405020304" pitchFamily="18" charset="0"/>
              </a:rPr>
              <a:t> </a:t>
            </a:r>
            <a:endParaRPr lang="en-US" altLang="el-GR" sz="1800" b="0" i="0" kern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el-GR" sz="1600" b="0" i="0">
                <a:latin typeface="Times New Roman" panose="02020603050405020304" pitchFamily="18" charset="0"/>
                <a:hlinkClick r:id="rId3"/>
              </a:rPr>
              <a:t>https://sites.google.com/site/thramboulidiskleanthis/</a:t>
            </a:r>
            <a:endParaRPr lang="en-US" altLang="el-GR" sz="1600" b="0" i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l-GR" altLang="el-GR" sz="1800" kern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GB" altLang="el-GR" sz="1800" b="1" kern="0">
              <a:latin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6E0A-62C8-F25D-25D5-595B0B27A6B1}"/>
              </a:ext>
            </a:extLst>
          </p:cNvPr>
          <p:cNvSpPr txBox="1"/>
          <p:nvPr/>
        </p:nvSpPr>
        <p:spPr>
          <a:xfrm>
            <a:off x="0" y="1318086"/>
            <a:ext cx="1769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F9853D"/>
                </a:solidFill>
                <a:latin typeface="Bahnschrift" panose="020B0502040204020203" pitchFamily="34" charset="0"/>
              </a:rPr>
              <a:t>(CEID_NNY106)</a:t>
            </a:r>
            <a:endParaRPr lang="el-GR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5F3EE9-A938-D663-D46A-160783F1F27F}"/>
              </a:ext>
            </a:extLst>
          </p:cNvPr>
          <p:cNvSpPr txBox="1"/>
          <p:nvPr/>
        </p:nvSpPr>
        <p:spPr>
          <a:xfrm>
            <a:off x="560303" y="2462259"/>
            <a:ext cx="1314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/>
              <a:t>Κύρια Πηγή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171E6F-8AE9-B75E-1823-7991CADC8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23" y="2741663"/>
            <a:ext cx="1950889" cy="2819644"/>
          </a:xfrm>
          <a:prstGeom prst="rect">
            <a:avLst/>
          </a:prstGeom>
        </p:spPr>
      </p:pic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-4" y="1296692"/>
            <a:ext cx="7748956" cy="146334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l-GR" sz="4000" b="1" dirty="0">
                <a:solidFill>
                  <a:srgbClr val="60D69E"/>
                </a:solidFill>
                <a:latin typeface="Bahnschrift" panose="020B0502040204020203" pitchFamily="34" charset="0"/>
              </a:rPr>
              <a:t>Αλληλεπίδραση Ανθρώπου Μηχανής</a:t>
            </a:r>
            <a:endParaRPr lang="en-US" sz="4000" b="1" dirty="0">
              <a:solidFill>
                <a:srgbClr val="60D69E"/>
              </a:solidFill>
              <a:latin typeface="Bahnschrift" panose="020B0502040204020203" pitchFamily="34" charset="0"/>
            </a:endParaRPr>
          </a:p>
          <a:p>
            <a:pPr algn="r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Human Computer Interaction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F3F1DF-97A8-0745-D06F-F345A61D9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8952" y="1249095"/>
            <a:ext cx="4443044" cy="5019232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1AC6608-7C00-770A-D4FC-06C135BF8CDE}"/>
              </a:ext>
            </a:extLst>
          </p:cNvPr>
          <p:cNvSpPr/>
          <p:nvPr/>
        </p:nvSpPr>
        <p:spPr>
          <a:xfrm>
            <a:off x="239084" y="3913536"/>
            <a:ext cx="1950889" cy="3127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1600" dirty="0"/>
              <a:t>Κεφάλαιο: 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C96A4A3-88B3-F04A-0B91-01BBBF200BC0}"/>
              </a:ext>
            </a:extLst>
          </p:cNvPr>
          <p:cNvSpPr txBox="1"/>
          <p:nvPr/>
        </p:nvSpPr>
        <p:spPr>
          <a:xfrm>
            <a:off x="192732" y="4202653"/>
            <a:ext cx="1084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8.1-8.3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3803AAF-9F29-6DA7-16CE-BBB6E303F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407" y="3084421"/>
            <a:ext cx="4697506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Graphical User Interface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Gui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Α</a:t>
            </a:r>
            <a:r>
              <a:rPr kumimoji="0" lang="en-US" altLang="el-GR" sz="2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bstract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 Window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Τ</a:t>
            </a:r>
            <a:r>
              <a:rPr kumimoji="0" lang="en-US" altLang="el-GR" sz="2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oolkit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 (</a:t>
            </a:r>
            <a:r>
              <a:rPr kumimoji="0" lang="en-US" altLang="el-GR" sz="2800" b="1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awt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RPN Calculator Gui</a:t>
            </a:r>
            <a:endParaRPr kumimoji="0" lang="en-GB" altLang="el-GR" sz="4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Human – Computer Interaction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46A842C-F747-00DB-3889-6C50C44B9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7099" y="2235850"/>
            <a:ext cx="4251002" cy="46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RPN engine components</a:t>
            </a:r>
          </a:p>
          <a:p>
            <a:pPr eaLnBrk="1" hangingPunct="1"/>
            <a:r>
              <a:rPr lang="en-US" altLang="el-GR" sz="2800" kern="0" dirty="0">
                <a:latin typeface="Times New Roman" panose="02020603050405020304" pitchFamily="18" charset="0"/>
              </a:rPr>
              <a:t>Operand</a:t>
            </a:r>
            <a:endParaRPr lang="en-GB" altLang="el-GR" sz="2800" kern="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l-GR" sz="2800" kern="0" dirty="0">
                <a:latin typeface="Times New Roman" panose="02020603050405020304" pitchFamily="18" charset="0"/>
              </a:rPr>
              <a:t>Stack</a:t>
            </a:r>
          </a:p>
          <a:p>
            <a:pPr eaLnBrk="1" hangingPunct="1"/>
            <a:r>
              <a:rPr lang="en-US" altLang="el-GR" sz="2800" kern="0" dirty="0">
                <a:latin typeface="Times New Roman" panose="02020603050405020304" pitchFamily="18" charset="0"/>
              </a:rPr>
              <a:t>Adder</a:t>
            </a:r>
          </a:p>
          <a:p>
            <a:pPr eaLnBrk="1" hangingPunct="1"/>
            <a:r>
              <a:rPr lang="en-US" altLang="el-GR" sz="2800" kern="0" dirty="0">
                <a:latin typeface="Times New Roman" panose="02020603050405020304" pitchFamily="18" charset="0"/>
              </a:rPr>
              <a:t>Multiplier</a:t>
            </a:r>
          </a:p>
          <a:p>
            <a:pPr eaLnBrk="1" hangingPunct="1"/>
            <a:r>
              <a:rPr lang="en-US" altLang="el-GR" sz="2800" kern="0" dirty="0">
                <a:latin typeface="Times New Roman" panose="02020603050405020304" pitchFamily="18" charset="0"/>
              </a:rPr>
              <a:t>Subtractor</a:t>
            </a:r>
          </a:p>
          <a:p>
            <a:pPr eaLnBrk="1" hangingPunct="1"/>
            <a:r>
              <a:rPr lang="en-US" altLang="el-GR" sz="2800" kern="0" dirty="0">
                <a:latin typeface="Times New Roman" panose="02020603050405020304" pitchFamily="18" charset="0"/>
              </a:rPr>
              <a:t>Divider</a:t>
            </a:r>
          </a:p>
          <a:p>
            <a:pPr eaLnBrk="1" hangingPunct="1"/>
            <a:r>
              <a:rPr lang="en-US" altLang="el-GR" sz="2800" kern="0" dirty="0" err="1">
                <a:latin typeface="Times New Roman" panose="02020603050405020304" pitchFamily="18" charset="0"/>
              </a:rPr>
              <a:t>ResultPresenter</a:t>
            </a:r>
            <a:endParaRPr lang="en-US" altLang="el-GR" sz="2800" kern="0" dirty="0">
              <a:latin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F37BE0-A0F4-A10C-C7A4-BF2F4B567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50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5AC4AC-6B2C-A842-E7C7-B5ACFFA9CD78}"/>
              </a:ext>
            </a:extLst>
          </p:cNvPr>
          <p:cNvSpPr txBox="1"/>
          <p:nvPr/>
        </p:nvSpPr>
        <p:spPr>
          <a:xfrm>
            <a:off x="467544" y="1207127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120 80 + 10 30 * + =</a:t>
            </a:r>
            <a:endParaRPr lang="el-GR" sz="24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D44328-4753-487E-B9A2-E9ABBD08A46E}"/>
              </a:ext>
            </a:extLst>
          </p:cNvPr>
          <p:cNvGrpSpPr/>
          <p:nvPr/>
        </p:nvGrpSpPr>
        <p:grpSpPr>
          <a:xfrm>
            <a:off x="0" y="2070978"/>
            <a:ext cx="1544029" cy="2640725"/>
            <a:chOff x="0" y="2070978"/>
            <a:chExt cx="1544029" cy="264072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227F138-7DD8-AD5F-312D-5C1FC70D3A96}"/>
                </a:ext>
              </a:extLst>
            </p:cNvPr>
            <p:cNvSpPr txBox="1"/>
            <p:nvPr/>
          </p:nvSpPr>
          <p:spPr>
            <a:xfrm>
              <a:off x="1" y="2070978"/>
              <a:ext cx="15440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Human</a:t>
              </a:r>
              <a:endParaRPr lang="el-GR" sz="24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CBA78EB-446A-FB77-E236-85402B29D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648562"/>
              <a:ext cx="1544028" cy="2063141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785EB508-60A9-D326-A3D0-9CF3D918C6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3025" y="2228962"/>
            <a:ext cx="1449608" cy="342202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486967E-9B49-FC6D-0FD2-E3B34CDB840E}"/>
              </a:ext>
            </a:extLst>
          </p:cNvPr>
          <p:cNvGrpSpPr/>
          <p:nvPr/>
        </p:nvGrpSpPr>
        <p:grpSpPr>
          <a:xfrm>
            <a:off x="6349254" y="780150"/>
            <a:ext cx="2794746" cy="1431491"/>
            <a:chOff x="5436096" y="707301"/>
            <a:chExt cx="2794746" cy="143149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DA921AB-E685-E2DC-F994-D47A4FCAAB80}"/>
                </a:ext>
              </a:extLst>
            </p:cNvPr>
            <p:cNvSpPr txBox="1"/>
            <p:nvPr/>
          </p:nvSpPr>
          <p:spPr>
            <a:xfrm>
              <a:off x="5436096" y="1246551"/>
              <a:ext cx="18684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Machine</a:t>
              </a:r>
              <a:endParaRPr lang="el-GR" sz="24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D932812-EC85-E4F8-88A8-4B13E700E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04583" y="707301"/>
              <a:ext cx="926259" cy="1431491"/>
            </a:xfrm>
            <a:prstGeom prst="rect">
              <a:avLst/>
            </a:prstGeom>
          </p:spPr>
        </p:pic>
      </p:grpSp>
      <p:sp>
        <p:nvSpPr>
          <p:cNvPr id="19" name="Speech Bubble: Oval 18">
            <a:extLst>
              <a:ext uri="{FF2B5EF4-FFF2-40B4-BE49-F238E27FC236}">
                <a16:creationId xmlns:a16="http://schemas.microsoft.com/office/drawing/2014/main" id="{36F3DC25-EE6D-FEDE-C1C3-5D45C732F8C8}"/>
              </a:ext>
            </a:extLst>
          </p:cNvPr>
          <p:cNvSpPr/>
          <p:nvPr/>
        </p:nvSpPr>
        <p:spPr bwMode="auto">
          <a:xfrm>
            <a:off x="2177455" y="5517232"/>
            <a:ext cx="2880320" cy="648071"/>
          </a:xfrm>
          <a:prstGeom prst="wedgeEllipseCallout">
            <a:avLst>
              <a:gd name="adj1" fmla="val -40727"/>
              <a:gd name="adj2" fmla="val 118938"/>
            </a:avLst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Times New Roman" panose="02020603050405020304" pitchFamily="18" charset="0"/>
              </a:rPr>
              <a:t>library Case study </a:t>
            </a: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911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 autoUpdateAnimBg="0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graphical user interface (GUI)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9B1A5BB-66E6-246F-7B45-138BBB809D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411700"/>
            <a:ext cx="11546542" cy="1673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GUI: a type of </a:t>
            </a: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computer human interface</a:t>
            </a: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 It solves the </a:t>
            </a: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blank screen problem </a:t>
            </a: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that confronted early computer users.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At a conceptual level, a </a:t>
            </a: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computer human interface </a:t>
            </a: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is a "means by which people and computers communicate with each other”. One can make an </a:t>
            </a: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analogy</a:t>
            </a: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between a computer system's GUI and a car's steering wheel.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A31DC0-45C1-AB56-6132-F95B026F3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09" y="980728"/>
            <a:ext cx="7419910" cy="1412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841711-E137-F2C8-5757-491979251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9298" y="758816"/>
            <a:ext cx="3702878" cy="1613397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54B9796E-C7C0-7A0B-D870-CEC276D5B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09" y="4064582"/>
            <a:ext cx="11546542" cy="22323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It is </a:t>
            </a: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the look and feel of a program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In computer science terms, the GUI is a visual operating display that the computer presents on the monitor to the computer operator. More specifically, a GUI is a specification for the </a:t>
            </a:r>
            <a:r>
              <a:rPr kumimoji="0" lang="en-US" altLang="el-G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look and feel of the computer system</a:t>
            </a:r>
            <a:r>
              <a:rPr kumimoji="0" lang="en-US" altLang="el-G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.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Makes the program easier to use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A program interface that takes advantage of the computer's graphics capabilities to </a:t>
            </a:r>
            <a:r>
              <a:rPr kumimoji="0" lang="en-US" altLang="el-GR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make the program easier to use</a:t>
            </a:r>
            <a:r>
              <a:rPr kumimoji="0" lang="en-US" altLang="el-GR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. Well-designed graphical user interfaces can free the user from learning complex command languages. On the other hand, many users find that they work more effectively with a command-driven interface, especially if they already know the command language.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GUI usually have common characteristic such as windows, icons, menus, and push-buttons (WIMP).</a:t>
            </a:r>
          </a:p>
        </p:txBody>
      </p:sp>
    </p:spTree>
    <p:extLst>
      <p:ext uri="{BB962C8B-B14F-4D97-AF65-F5344CB8AC3E}">
        <p14:creationId xmlns:p14="http://schemas.microsoft.com/office/powerpoint/2010/main" val="1126349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9" grpId="0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F9853D"/>
                </a:solidFill>
                <a:latin typeface="Bahnschrift" panose="020B0502040204020203" pitchFamily="34" charset="0"/>
              </a:rPr>
              <a:t>An IoT Gui</a:t>
            </a:r>
            <a:endParaRPr lang="el-GR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9581BD7-873C-0B4D-41F4-50178309F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6153" y="1394317"/>
            <a:ext cx="4278567" cy="49122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8898EC0-0161-4303-0C68-9EB9DFE21CD0}"/>
              </a:ext>
            </a:extLst>
          </p:cNvPr>
          <p:cNvGrpSpPr/>
          <p:nvPr/>
        </p:nvGrpSpPr>
        <p:grpSpPr>
          <a:xfrm>
            <a:off x="172256" y="2353945"/>
            <a:ext cx="1187623" cy="2150109"/>
            <a:chOff x="0" y="2070979"/>
            <a:chExt cx="1544028" cy="264072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C17DC44-6A4E-FCBB-5B12-0AC6824140A1}"/>
                </a:ext>
              </a:extLst>
            </p:cNvPr>
            <p:cNvSpPr txBox="1"/>
            <p:nvPr/>
          </p:nvSpPr>
          <p:spPr>
            <a:xfrm>
              <a:off x="1" y="2070979"/>
              <a:ext cx="1544027" cy="4914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Human</a:t>
              </a:r>
              <a:endParaRPr lang="el-GR" sz="20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B71FF72-9DE5-C8CA-F2EE-F0A77D12B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2648562"/>
              <a:ext cx="1544028" cy="2063141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15AAFD27-7F85-217E-A888-65AB34F9BB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73" y="1712156"/>
            <a:ext cx="4829029" cy="43210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FBD803F-ECF8-601D-5B7B-BAB40D72E562}"/>
              </a:ext>
            </a:extLst>
          </p:cNvPr>
          <p:cNvSpPr txBox="1"/>
          <p:nvPr/>
        </p:nvSpPr>
        <p:spPr>
          <a:xfrm>
            <a:off x="5789575" y="2558395"/>
            <a:ext cx="15440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9600" b="1" i="1" dirty="0">
                <a:solidFill>
                  <a:srgbClr val="FF0000"/>
                </a:solidFill>
                <a:latin typeface="Tahoma" panose="020B0604030504040204" pitchFamily="34" charset="0"/>
              </a:rPr>
              <a:t>?</a:t>
            </a:r>
            <a:endParaRPr lang="el-GR" sz="9600" b="1" i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6C1B97-A852-43FD-CD3B-A03CD2F8EB5B}"/>
              </a:ext>
            </a:extLst>
          </p:cNvPr>
          <p:cNvSpPr txBox="1"/>
          <p:nvPr/>
        </p:nvSpPr>
        <p:spPr>
          <a:xfrm>
            <a:off x="2135788" y="977301"/>
            <a:ext cx="2700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>
                <a:solidFill>
                  <a:srgbClr val="000000"/>
                </a:solidFill>
                <a:latin typeface="Tahoma" panose="020B0604030504040204" pitchFamily="34" charset="0"/>
              </a:rPr>
              <a:t>Gui</a:t>
            </a: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54AAF1-AEAF-ED35-6F33-37B4EDFFE581}"/>
              </a:ext>
            </a:extLst>
          </p:cNvPr>
          <p:cNvSpPr txBox="1"/>
          <p:nvPr/>
        </p:nvSpPr>
        <p:spPr>
          <a:xfrm>
            <a:off x="7913432" y="804897"/>
            <a:ext cx="42785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>
                <a:solidFill>
                  <a:srgbClr val="000000"/>
                </a:solidFill>
                <a:latin typeface="Tahoma" panose="020B0604030504040204" pitchFamily="34" charset="0"/>
              </a:rPr>
              <a:t>TemperaturePcb</a:t>
            </a:r>
            <a:endParaRPr lang="el-GR" sz="2400" b="1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095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D89BE2E-3D4F-1AAB-24BF-74879444A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84313"/>
            <a:ext cx="8345487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Internal vs. external messages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Abstract window toolkit (awt)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Frame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Button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TextField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GUIs </a:t>
            </a: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στην </a:t>
            </a:r>
            <a:r>
              <a:rPr kumimoji="0" lang="en-US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361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Internal vs. External messages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5BA8412-407E-3AC0-7C59-72165B1E5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7302" y="5904475"/>
            <a:ext cx="6073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l-GR" altLang="el-GR" dirty="0">
                <a:solidFill>
                  <a:srgbClr val="333399"/>
                </a:solidFill>
                <a:latin typeface="Times New Roman" panose="02020603050405020304" pitchFamily="18" charset="0"/>
              </a:rPr>
              <a:t>Δες το παράδειγμα του φούρνου μικροκυμάτων</a:t>
            </a:r>
            <a:endParaRPr lang="en-US" altLang="el-GR" dirty="0">
              <a:solidFill>
                <a:srgbClr val="3333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982C32C-F38E-B4EB-BB04-2CC06E45D9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1575" y="1394225"/>
            <a:ext cx="4251002" cy="46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n-US" altLang="el-GR" kern="0" dirty="0">
                <a:solidFill>
                  <a:srgbClr val="990000"/>
                </a:solidFill>
                <a:latin typeface="Times New Roman" panose="02020603050405020304" pitchFamily="18" charset="0"/>
              </a:rPr>
              <a:t>RPN engine components</a:t>
            </a:r>
          </a:p>
          <a:p>
            <a:pPr eaLnBrk="1" hangingPunct="1">
              <a:buClr>
                <a:srgbClr val="3333CC"/>
              </a:buClr>
            </a:pPr>
            <a:r>
              <a:rPr lang="en-US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Operand</a:t>
            </a:r>
            <a:endParaRPr lang="en-GB" altLang="el-GR" sz="28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buClr>
                <a:srgbClr val="3333CC"/>
              </a:buClr>
            </a:pPr>
            <a:r>
              <a:rPr lang="en-US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Stack</a:t>
            </a:r>
          </a:p>
          <a:p>
            <a:pPr eaLnBrk="1" hangingPunct="1">
              <a:buClr>
                <a:srgbClr val="3333CC"/>
              </a:buClr>
            </a:pPr>
            <a:r>
              <a:rPr lang="en-US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Adder</a:t>
            </a:r>
          </a:p>
          <a:p>
            <a:pPr eaLnBrk="1" hangingPunct="1">
              <a:buClr>
                <a:srgbClr val="3333CC"/>
              </a:buClr>
            </a:pPr>
            <a:r>
              <a:rPr lang="en-US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Multiplier</a:t>
            </a:r>
          </a:p>
          <a:p>
            <a:pPr eaLnBrk="1" hangingPunct="1">
              <a:buClr>
                <a:srgbClr val="3333CC"/>
              </a:buClr>
            </a:pPr>
            <a:r>
              <a:rPr lang="en-US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Subtractor</a:t>
            </a:r>
          </a:p>
          <a:p>
            <a:pPr eaLnBrk="1" hangingPunct="1">
              <a:buClr>
                <a:srgbClr val="3333CC"/>
              </a:buClr>
            </a:pPr>
            <a:r>
              <a:rPr lang="en-US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Divider</a:t>
            </a:r>
          </a:p>
          <a:p>
            <a:pPr eaLnBrk="1" hangingPunct="1">
              <a:buClr>
                <a:srgbClr val="3333CC"/>
              </a:buClr>
            </a:pPr>
            <a:r>
              <a:rPr lang="en-US" altLang="el-GR" sz="2800" kern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ResultPresenter</a:t>
            </a:r>
            <a:endParaRPr lang="en-US" altLang="el-GR" sz="28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D690D4-DDD3-BE63-CC85-9795DF5314D7}"/>
              </a:ext>
            </a:extLst>
          </p:cNvPr>
          <p:cNvGrpSpPr/>
          <p:nvPr/>
        </p:nvGrpSpPr>
        <p:grpSpPr>
          <a:xfrm>
            <a:off x="96086" y="2132910"/>
            <a:ext cx="1544029" cy="2640725"/>
            <a:chOff x="0" y="2070978"/>
            <a:chExt cx="1544029" cy="264072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4859F8-CC86-EB93-9852-1E6ADA43559F}"/>
                </a:ext>
              </a:extLst>
            </p:cNvPr>
            <p:cNvSpPr txBox="1"/>
            <p:nvPr/>
          </p:nvSpPr>
          <p:spPr>
            <a:xfrm>
              <a:off x="1" y="2070978"/>
              <a:ext cx="15440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Human</a:t>
              </a:r>
              <a:endParaRPr lang="el-GR" sz="24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FC27938-9E02-6D26-FFD7-707D4A836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648562"/>
              <a:ext cx="1544028" cy="2063141"/>
            </a:xfrm>
            <a:prstGeom prst="rect">
              <a:avLst/>
            </a:prstGeom>
          </p:spPr>
        </p:pic>
      </p:grpSp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3139A738-9489-A5DF-E518-48D047D07716}"/>
              </a:ext>
            </a:extLst>
          </p:cNvPr>
          <p:cNvSpPr/>
          <p:nvPr/>
        </p:nvSpPr>
        <p:spPr bwMode="auto">
          <a:xfrm>
            <a:off x="5944427" y="2273230"/>
            <a:ext cx="1008112" cy="720080"/>
          </a:xfrm>
          <a:prstGeom prst="curvedLeftArrow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4" name="Arrow: Curved Up 13">
            <a:extLst>
              <a:ext uri="{FF2B5EF4-FFF2-40B4-BE49-F238E27FC236}">
                <a16:creationId xmlns:a16="http://schemas.microsoft.com/office/drawing/2014/main" id="{B98BE554-6244-894F-E635-FE72E634B545}"/>
              </a:ext>
            </a:extLst>
          </p:cNvPr>
          <p:cNvSpPr/>
          <p:nvPr/>
        </p:nvSpPr>
        <p:spPr bwMode="auto">
          <a:xfrm rot="16049742">
            <a:off x="5544770" y="2685145"/>
            <a:ext cx="799312" cy="726546"/>
          </a:xfrm>
          <a:prstGeom prst="curvedUpArrow">
            <a:avLst/>
          </a:prstGeom>
          <a:solidFill>
            <a:srgbClr val="00E4A8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DB6CA2D-8CB1-97BA-EAB6-96BFFC11513D}"/>
              </a:ext>
            </a:extLst>
          </p:cNvPr>
          <p:cNvSpPr/>
          <p:nvPr/>
        </p:nvSpPr>
        <p:spPr bwMode="auto">
          <a:xfrm rot="20269586">
            <a:off x="1686741" y="2912398"/>
            <a:ext cx="2484821" cy="169109"/>
          </a:xfrm>
          <a:prstGeom prst="rightArrow">
            <a:avLst/>
          </a:prstGeom>
          <a:solidFill>
            <a:srgbClr val="C00000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2EB77C7-DF72-07CA-E141-816CEE564A5C}"/>
              </a:ext>
            </a:extLst>
          </p:cNvPr>
          <p:cNvSpPr/>
          <p:nvPr/>
        </p:nvSpPr>
        <p:spPr bwMode="auto">
          <a:xfrm rot="20871894">
            <a:off x="1686741" y="3592644"/>
            <a:ext cx="2484821" cy="169109"/>
          </a:xfrm>
          <a:prstGeom prst="rightArrow">
            <a:avLst/>
          </a:prstGeom>
          <a:solidFill>
            <a:srgbClr val="C00000"/>
          </a:solidFill>
          <a:ln w="9525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9F61C9-2CA8-2FA6-5B69-C7049AD1A6ED}"/>
              </a:ext>
            </a:extLst>
          </p:cNvPr>
          <p:cNvSpPr txBox="1"/>
          <p:nvPr/>
        </p:nvSpPr>
        <p:spPr>
          <a:xfrm>
            <a:off x="252259" y="1235323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120 80 + 10 30 * + =</a:t>
            </a:r>
            <a:endParaRPr lang="el-GR" sz="24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0D96CA7-AD42-24DF-BA36-FD65DBD3C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292" y="3955637"/>
            <a:ext cx="4251001" cy="240681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1E51F28-D463-98C5-317A-99B801679FE6}"/>
              </a:ext>
            </a:extLst>
          </p:cNvPr>
          <p:cNvSpPr txBox="1"/>
          <p:nvPr/>
        </p:nvSpPr>
        <p:spPr>
          <a:xfrm>
            <a:off x="7772291" y="1871311"/>
            <a:ext cx="4251001" cy="2062103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l-GR" altLang="el-GR" sz="24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ΕΣΩΤΕΡΙΚΑ ΜΗΝΥΜΑΤΑ </a:t>
            </a:r>
            <a:r>
              <a:rPr lang="el-GR" altLang="el-GR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Ανάλογα με την φύση των αντικειμένων αποστολέα και παραλήπτη σε μία ανταλλαγή</a:t>
            </a:r>
            <a:r>
              <a:rPr lang="en-GB" altLang="el-GR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 </a:t>
            </a:r>
            <a:r>
              <a:rPr lang="el-GR" altLang="el-GR" sz="2400" dirty="0">
                <a:solidFill>
                  <a:schemeClr val="bg1"/>
                </a:solidFill>
                <a:latin typeface="Times New Roman" panose="02020603050405020304" pitchFamily="18" charset="0"/>
              </a:rPr>
              <a:t>μηνύματος διακρίνουμε</a:t>
            </a:r>
            <a:r>
              <a:rPr lang="en-US" altLang="el-GR" sz="3200" dirty="0">
                <a:solidFill>
                  <a:schemeClr val="bg1"/>
                </a:solidFill>
              </a:rPr>
              <a:t> </a:t>
            </a:r>
            <a:endParaRPr lang="en-GB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94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 animBg="1"/>
      <p:bldP spid="14" grpId="0" animBg="1"/>
      <p:bldP spid="15" grpId="0" animBg="1"/>
      <p:bldP spid="16" grpId="0" animBg="1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Εξωτερικά μηνύματα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55A1D7-7546-CE58-BBAF-EAAEAC9AE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2349500"/>
            <a:ext cx="1728788" cy="720725"/>
          </a:xfrm>
          <a:prstGeom prst="rect">
            <a:avLst/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op:Operand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4987CD-A19C-ECEE-5173-89D8E6359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4221163"/>
            <a:ext cx="1727200" cy="647700"/>
          </a:xfrm>
          <a:prstGeom prst="rect">
            <a:avLst/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ad:Adder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74E1D0-2AAC-DA1A-690B-5A060E897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5445125"/>
            <a:ext cx="2089150" cy="647700"/>
          </a:xfrm>
          <a:prstGeom prst="rect">
            <a:avLst/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sub:Subtractor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34599AB-95A3-5D6C-FA17-2BC6489B9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4292600"/>
            <a:ext cx="1728787" cy="720725"/>
          </a:xfrm>
          <a:prstGeom prst="rect">
            <a:avLst/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st:Stack</a:t>
            </a:r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FBC05E77-2C0E-E82C-736B-0F9825ADDFD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2852738"/>
            <a:ext cx="1512887" cy="1439862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1987C2A3-9EFD-AB7F-0EA4-B5829AE44E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435600" y="4437063"/>
            <a:ext cx="1223963" cy="287337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55C1B728-35CE-F140-29C3-8DCB466109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08625" y="5013325"/>
            <a:ext cx="1223963" cy="720725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pic>
        <p:nvPicPr>
          <p:cNvPr id="15" name="Picture 12" descr="j0292020">
            <a:extLst>
              <a:ext uri="{FF2B5EF4-FFF2-40B4-BE49-F238E27FC236}">
                <a16:creationId xmlns:a16="http://schemas.microsoft.com/office/drawing/2014/main" id="{3F84A3B9-59DD-2693-0C8A-7198ED05C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3141663"/>
            <a:ext cx="1868487" cy="177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Line 13">
            <a:extLst>
              <a:ext uri="{FF2B5EF4-FFF2-40B4-BE49-F238E27FC236}">
                <a16:creationId xmlns:a16="http://schemas.microsoft.com/office/drawing/2014/main" id="{16B44C5D-3B96-FDE0-A23A-8F40FDB648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35150" y="2781300"/>
            <a:ext cx="1800225" cy="792163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7" name="Line 14">
            <a:extLst>
              <a:ext uri="{FF2B5EF4-FFF2-40B4-BE49-F238E27FC236}">
                <a16:creationId xmlns:a16="http://schemas.microsoft.com/office/drawing/2014/main" id="{1735095A-664C-5FBC-47CE-8C6488F4113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24075" y="4508500"/>
            <a:ext cx="1511300" cy="21590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D52F6BEE-0374-99AE-E844-9D1C497065F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4724400"/>
            <a:ext cx="1655763" cy="865188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9" name="Text Box 16">
            <a:extLst>
              <a:ext uri="{FF2B5EF4-FFF2-40B4-BE49-F238E27FC236}">
                <a16:creationId xmlns:a16="http://schemas.microsoft.com/office/drawing/2014/main" id="{F38DB638-21E3-1BDA-2827-48203F8A4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4581525"/>
            <a:ext cx="1139825" cy="376238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operate()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6407AE78-20F4-C5F6-8C2A-37720E5E4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5157788"/>
            <a:ext cx="1130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operate()</a:t>
            </a:r>
          </a:p>
        </p:txBody>
      </p:sp>
      <p:sp>
        <p:nvSpPr>
          <p:cNvPr id="21" name="Text Box 18">
            <a:extLst>
              <a:ext uri="{FF2B5EF4-FFF2-40B4-BE49-F238E27FC236}">
                <a16:creationId xmlns:a16="http://schemas.microsoft.com/office/drawing/2014/main" id="{D2C3D9C8-26AC-AB05-A182-A1D6345C57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587" y="2464071"/>
            <a:ext cx="128753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addDigit</a:t>
            </a: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()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complete()</a:t>
            </a:r>
          </a:p>
        </p:txBody>
      </p:sp>
      <p:sp>
        <p:nvSpPr>
          <p:cNvPr id="22" name="Text Box 19">
            <a:extLst>
              <a:ext uri="{FF2B5EF4-FFF2-40B4-BE49-F238E27FC236}">
                <a16:creationId xmlns:a16="http://schemas.microsoft.com/office/drawing/2014/main" id="{BF36D28B-8A1A-6FBB-6A0E-967D437ED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5688" y="3130550"/>
            <a:ext cx="9128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push()</a:t>
            </a:r>
          </a:p>
        </p:txBody>
      </p:sp>
      <p:sp>
        <p:nvSpPr>
          <p:cNvPr id="23" name="Text Box 20">
            <a:extLst>
              <a:ext uri="{FF2B5EF4-FFF2-40B4-BE49-F238E27FC236}">
                <a16:creationId xmlns:a16="http://schemas.microsoft.com/office/drawing/2014/main" id="{B2949D50-E130-9BA1-3A5A-8AC4F04D8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4149725"/>
            <a:ext cx="7953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pop()</a:t>
            </a:r>
          </a:p>
        </p:txBody>
      </p:sp>
      <p:sp>
        <p:nvSpPr>
          <p:cNvPr id="24" name="Text Box 21">
            <a:extLst>
              <a:ext uri="{FF2B5EF4-FFF2-40B4-BE49-F238E27FC236}">
                <a16:creationId xmlns:a16="http://schemas.microsoft.com/office/drawing/2014/main" id="{96C8FCAC-04A9-934E-71DD-FCCBA23E4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1863" y="5300663"/>
            <a:ext cx="7953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pop()</a:t>
            </a: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EB7EB1D3-4C76-6E9A-4C98-3E3FDE894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706804"/>
            <a:ext cx="6683375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l-GR" altLang="el-GR" sz="2400" kern="0" dirty="0">
                <a:latin typeface="Times New Roman" panose="02020603050405020304" pitchFamily="18" charset="0"/>
              </a:rPr>
              <a:t>Θεωρείστε την αλληλεπίδραση της εφαρμογής σας με τον χρήστη. </a:t>
            </a:r>
            <a:endParaRPr lang="en-US" altLang="el-GR" sz="2400" kern="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l-GR" altLang="el-GR" sz="2400" kern="0" dirty="0">
                <a:latin typeface="Times New Roman" panose="02020603050405020304" pitchFamily="18" charset="0"/>
              </a:rPr>
              <a:t>Μπορείτε να υλοποιήσετε την αλληλεπίδραση αυτή χρησιμοποιώντας τους μηχανισμούς που προσφέρει η </a:t>
            </a:r>
            <a:r>
              <a:rPr lang="en-US" altLang="el-GR" sz="2400" kern="0" dirty="0">
                <a:latin typeface="Times New Roman" panose="02020603050405020304" pitchFamily="18" charset="0"/>
              </a:rPr>
              <a:t>Java</a:t>
            </a:r>
            <a:r>
              <a:rPr lang="el-GR" altLang="el-GR" sz="2400" kern="0" dirty="0">
                <a:latin typeface="Times New Roman" panose="02020603050405020304" pitchFamily="18" charset="0"/>
              </a:rPr>
              <a:t> για αλληλεπίδραση μεταξύ των αντικειμένων που απαρτίζουν την εφαρμογή;</a:t>
            </a:r>
            <a:endParaRPr lang="en-US" altLang="el-GR" sz="2400" kern="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93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User interaction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2DFB94EC-2775-9C1A-D5ED-BE472DADD8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3834138"/>
              </p:ext>
            </p:extLst>
          </p:nvPr>
        </p:nvGraphicFramePr>
        <p:xfrm>
          <a:off x="675627" y="1160022"/>
          <a:ext cx="3936917" cy="1636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3847619" imgH="1600000" progId="Paint.Picture">
                  <p:embed/>
                </p:oleObj>
              </mc:Choice>
              <mc:Fallback>
                <p:oleObj name="Bitmap Image" r:id="rId3" imgW="3847619" imgH="1600000" progId="Paint.Picture">
                  <p:embed/>
                  <p:pic>
                    <p:nvPicPr>
                      <p:cNvPr id="216068" name="Object 4">
                        <a:extLst>
                          <a:ext uri="{FF2B5EF4-FFF2-40B4-BE49-F238E27FC236}">
                            <a16:creationId xmlns:a16="http://schemas.microsoft.com/office/drawing/2014/main" id="{F00204D5-6E2E-4957-AA68-861197457B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27" y="1160022"/>
                        <a:ext cx="3936917" cy="1636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A68EF9CF-A42E-A741-A358-F8E8B98901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466446"/>
              </p:ext>
            </p:extLst>
          </p:nvPr>
        </p:nvGraphicFramePr>
        <p:xfrm>
          <a:off x="841205" y="3525982"/>
          <a:ext cx="3605760" cy="16367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3104762" imgH="1409897" progId="Paint.Picture">
                  <p:embed/>
                </p:oleObj>
              </mc:Choice>
              <mc:Fallback>
                <p:oleObj name="Bitmap Image" r:id="rId5" imgW="3104762" imgH="1409897" progId="Paint.Picture">
                  <p:embed/>
                  <p:pic>
                    <p:nvPicPr>
                      <p:cNvPr id="216070" name="Object 6">
                        <a:extLst>
                          <a:ext uri="{FF2B5EF4-FFF2-40B4-BE49-F238E27FC236}">
                            <a16:creationId xmlns:a16="http://schemas.microsoft.com/office/drawing/2014/main" id="{ECA0EE4C-A258-47FC-AD40-F9FF25A892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205" y="3525982"/>
                        <a:ext cx="3605760" cy="16367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C1C2BDCB-4E53-666A-6D85-61BBAB6733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720120"/>
              </p:ext>
            </p:extLst>
          </p:nvPr>
        </p:nvGraphicFramePr>
        <p:xfrm>
          <a:off x="4426655" y="1613916"/>
          <a:ext cx="5543847" cy="1894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7" imgW="5266667" imgH="1800476" progId="Paint.Picture">
                  <p:embed/>
                </p:oleObj>
              </mc:Choice>
              <mc:Fallback>
                <p:oleObj name="Bitmap Image" r:id="rId7" imgW="5266667" imgH="1800476" progId="Paint.Picture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8C06A9E7-4E38-4215-B5B3-090BE810EA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6655" y="1613916"/>
                        <a:ext cx="5543847" cy="18941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WordArt 8">
            <a:extLst>
              <a:ext uri="{FF2B5EF4-FFF2-40B4-BE49-F238E27FC236}">
                <a16:creationId xmlns:a16="http://schemas.microsoft.com/office/drawing/2014/main" id="{9BCD41F6-9DF0-3219-D3B2-DA16A6676E1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20256424">
            <a:off x="7724680" y="470838"/>
            <a:ext cx="1944687" cy="884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600" kern="10" dirty="0">
                <a:ln w="9525">
                  <a:solidFill>
                    <a:srgbClr val="990000"/>
                  </a:solidFill>
                  <a:miter lim="800000"/>
                  <a:headEnd/>
                  <a:tailEnd/>
                </a:ln>
                <a:solidFill>
                  <a:srgbClr val="99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 Greek" panose="02020603050405020304" pitchFamily="18" charset="0"/>
                <a:cs typeface="Times New Roman Greek" panose="02020603050405020304" pitchFamily="18" charset="0"/>
              </a:rPr>
              <a:t>Button</a:t>
            </a:r>
            <a:endParaRPr lang="el-GR" sz="3600" kern="10" dirty="0">
              <a:ln w="9525">
                <a:solidFill>
                  <a:srgbClr val="990000"/>
                </a:solidFill>
                <a:miter lim="800000"/>
                <a:headEnd/>
                <a:tailEnd/>
              </a:ln>
              <a:solidFill>
                <a:srgbClr val="990000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 Greek" panose="02020603050405020304" pitchFamily="18" charset="0"/>
              <a:cs typeface="Times New Roman Greek" panose="02020603050405020304" pitchFamily="18" charset="0"/>
            </a:endParaRPr>
          </a:p>
        </p:txBody>
      </p:sp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16299C26-4E0D-5491-F00C-9C273D22AD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5554309"/>
              </p:ext>
            </p:extLst>
          </p:nvPr>
        </p:nvGraphicFramePr>
        <p:xfrm>
          <a:off x="4187710" y="4890098"/>
          <a:ext cx="5977161" cy="160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9" imgW="4839375" imgH="1295238" progId="Paint.Picture">
                  <p:embed/>
                </p:oleObj>
              </mc:Choice>
              <mc:Fallback>
                <p:oleObj name="Bitmap Image" r:id="rId9" imgW="4839375" imgH="1295238" progId="Paint.Picture">
                  <p:embed/>
                  <p:pic>
                    <p:nvPicPr>
                      <p:cNvPr id="7" name="Object 10">
                        <a:extLst>
                          <a:ext uri="{FF2B5EF4-FFF2-40B4-BE49-F238E27FC236}">
                            <a16:creationId xmlns:a16="http://schemas.microsoft.com/office/drawing/2014/main" id="{FF4C932F-7103-41C2-8EAD-1ED792A101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7710" y="4890098"/>
                        <a:ext cx="5977161" cy="160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WordArt 12">
            <a:extLst>
              <a:ext uri="{FF2B5EF4-FFF2-40B4-BE49-F238E27FC236}">
                <a16:creationId xmlns:a16="http://schemas.microsoft.com/office/drawing/2014/main" id="{38E94EB1-924B-9446-C54A-C314A0B06C3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20256424">
            <a:off x="6357927" y="3893176"/>
            <a:ext cx="1944687" cy="884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600" kern="10" dirty="0" err="1">
                <a:ln w="9525">
                  <a:solidFill>
                    <a:srgbClr val="990000"/>
                  </a:solidFill>
                  <a:miter lim="800000"/>
                  <a:headEnd/>
                  <a:tailEnd/>
                </a:ln>
                <a:solidFill>
                  <a:srgbClr val="99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 Greek" panose="02020603050405020304" pitchFamily="18" charset="0"/>
                <a:cs typeface="Times New Roman Greek" panose="02020603050405020304" pitchFamily="18" charset="0"/>
              </a:rPr>
              <a:t>TextField</a:t>
            </a:r>
            <a:endParaRPr lang="el-GR" sz="3600" kern="10" dirty="0">
              <a:ln w="9525">
                <a:solidFill>
                  <a:srgbClr val="990000"/>
                </a:solidFill>
                <a:miter lim="800000"/>
                <a:headEnd/>
                <a:tailEnd/>
              </a:ln>
              <a:solidFill>
                <a:srgbClr val="990000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 Greek" panose="02020603050405020304" pitchFamily="18" charset="0"/>
              <a:cs typeface="Times New Roman Greek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14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Gui responsibilities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D70426D-A501-214E-8F31-8F71D8F49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1425" y="2190307"/>
            <a:ext cx="4251002" cy="46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l-GR" kern="0">
                <a:solidFill>
                  <a:srgbClr val="990000"/>
                </a:solidFill>
                <a:latin typeface="Times New Roman" panose="02020603050405020304" pitchFamily="18" charset="0"/>
              </a:rPr>
              <a:t>RPN engine components</a:t>
            </a:r>
          </a:p>
          <a:p>
            <a:pPr eaLnBrk="1" hangingPunct="1"/>
            <a:r>
              <a:rPr lang="en-US" altLang="el-GR" sz="2800" kern="0">
                <a:latin typeface="Times New Roman" panose="02020603050405020304" pitchFamily="18" charset="0"/>
              </a:rPr>
              <a:t>Operand</a:t>
            </a:r>
            <a:endParaRPr lang="en-GB" altLang="el-GR" sz="2800" kern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l-GR" sz="2800" kern="0">
                <a:latin typeface="Times New Roman" panose="02020603050405020304" pitchFamily="18" charset="0"/>
              </a:rPr>
              <a:t>Stack</a:t>
            </a:r>
          </a:p>
          <a:p>
            <a:pPr eaLnBrk="1" hangingPunct="1"/>
            <a:r>
              <a:rPr lang="en-US" altLang="el-GR" sz="2800" kern="0">
                <a:latin typeface="Times New Roman" panose="02020603050405020304" pitchFamily="18" charset="0"/>
              </a:rPr>
              <a:t>Adder</a:t>
            </a:r>
          </a:p>
          <a:p>
            <a:pPr eaLnBrk="1" hangingPunct="1"/>
            <a:r>
              <a:rPr lang="en-US" altLang="el-GR" sz="2800" kern="0">
                <a:latin typeface="Times New Roman" panose="02020603050405020304" pitchFamily="18" charset="0"/>
              </a:rPr>
              <a:t>Multiplier</a:t>
            </a:r>
          </a:p>
          <a:p>
            <a:pPr eaLnBrk="1" hangingPunct="1"/>
            <a:r>
              <a:rPr lang="en-US" altLang="el-GR" sz="2800" kern="0">
                <a:latin typeface="Times New Roman" panose="02020603050405020304" pitchFamily="18" charset="0"/>
              </a:rPr>
              <a:t>Subtractor</a:t>
            </a:r>
          </a:p>
          <a:p>
            <a:pPr eaLnBrk="1" hangingPunct="1"/>
            <a:r>
              <a:rPr lang="en-US" altLang="el-GR" sz="2800" kern="0">
                <a:latin typeface="Times New Roman" panose="02020603050405020304" pitchFamily="18" charset="0"/>
              </a:rPr>
              <a:t>Divider</a:t>
            </a:r>
          </a:p>
          <a:p>
            <a:pPr eaLnBrk="1" hangingPunct="1"/>
            <a:r>
              <a:rPr lang="en-US" altLang="el-GR" sz="2800" kern="0">
                <a:latin typeface="Times New Roman" panose="02020603050405020304" pitchFamily="18" charset="0"/>
              </a:rPr>
              <a:t>ResultPresenter</a:t>
            </a:r>
          </a:p>
          <a:p>
            <a:pPr eaLnBrk="1" hangingPunct="1"/>
            <a:endParaRPr lang="en-US" altLang="el-GR" sz="2800" kern="0" dirty="0">
              <a:latin typeface="Times New Roman" panose="02020603050405020304" pitchFamily="18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4BFFEC-B6A8-988F-3186-4503FCFA2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8427" y="205652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E24CAC-57E8-8F57-0479-922F9244387D}"/>
              </a:ext>
            </a:extLst>
          </p:cNvPr>
          <p:cNvSpPr txBox="1"/>
          <p:nvPr/>
        </p:nvSpPr>
        <p:spPr>
          <a:xfrm>
            <a:off x="1535971" y="1258642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FF0000"/>
                </a:solidFill>
                <a:latin typeface="Tahoma" panose="020B0604030504040204" pitchFamily="34" charset="0"/>
              </a:rPr>
              <a:t>120 80 + 10 30 * + =</a:t>
            </a:r>
            <a:endParaRPr lang="el-GR" sz="24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1687C93-863C-F718-7A6C-513E8A8761AF}"/>
              </a:ext>
            </a:extLst>
          </p:cNvPr>
          <p:cNvGrpSpPr/>
          <p:nvPr/>
        </p:nvGrpSpPr>
        <p:grpSpPr>
          <a:xfrm>
            <a:off x="1068427" y="2122493"/>
            <a:ext cx="1544029" cy="2640725"/>
            <a:chOff x="0" y="2070978"/>
            <a:chExt cx="1544029" cy="264072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AA30D61-A358-E621-5A48-F7885C08965B}"/>
                </a:ext>
              </a:extLst>
            </p:cNvPr>
            <p:cNvSpPr txBox="1"/>
            <p:nvPr/>
          </p:nvSpPr>
          <p:spPr>
            <a:xfrm>
              <a:off x="1" y="2070978"/>
              <a:ext cx="15440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Human</a:t>
              </a:r>
              <a:endParaRPr lang="el-GR" sz="24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0ACCD1B-500C-F7D4-3427-01F469A61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648562"/>
              <a:ext cx="1544028" cy="2063141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6FB16AC-F45E-7E51-3F1F-36AD04D8DBEE}"/>
              </a:ext>
            </a:extLst>
          </p:cNvPr>
          <p:cNvGrpSpPr/>
          <p:nvPr/>
        </p:nvGrpSpPr>
        <p:grpSpPr>
          <a:xfrm>
            <a:off x="6504523" y="758816"/>
            <a:ext cx="2794746" cy="1431491"/>
            <a:chOff x="5436096" y="707301"/>
            <a:chExt cx="2794746" cy="143149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2BB8BE3-7DF2-3C48-B27C-591FECDC150A}"/>
                </a:ext>
              </a:extLst>
            </p:cNvPr>
            <p:cNvSpPr txBox="1"/>
            <p:nvPr/>
          </p:nvSpPr>
          <p:spPr>
            <a:xfrm>
              <a:off x="5436096" y="1246551"/>
              <a:ext cx="18684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400" b="1" dirty="0">
                  <a:solidFill>
                    <a:srgbClr val="000000"/>
                  </a:solidFill>
                  <a:latin typeface="Tahoma" panose="020B0604030504040204" pitchFamily="34" charset="0"/>
                </a:rPr>
                <a:t>Machine</a:t>
              </a:r>
              <a:endParaRPr lang="el-GR" sz="2400" b="1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847B1FA-E22E-CEF9-3DFD-7D4897091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04583" y="707301"/>
              <a:ext cx="926259" cy="1431491"/>
            </a:xfrm>
            <a:prstGeom prst="rect">
              <a:avLst/>
            </a:prstGeom>
          </p:spPr>
        </p:pic>
      </p:grpSp>
      <p:graphicFrame>
        <p:nvGraphicFramePr>
          <p:cNvPr id="17" name="Object 5">
            <a:extLst>
              <a:ext uri="{FF2B5EF4-FFF2-40B4-BE49-F238E27FC236}">
                <a16:creationId xmlns:a16="http://schemas.microsoft.com/office/drawing/2014/main" id="{09BEC538-C7D0-0696-EC0E-5EF9CD3863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5785404"/>
              </p:ext>
            </p:extLst>
          </p:nvPr>
        </p:nvGraphicFramePr>
        <p:xfrm>
          <a:off x="3060249" y="2582518"/>
          <a:ext cx="2366147" cy="2482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2715004" imgH="2847619" progId="Paint.Picture">
                  <p:embed/>
                </p:oleObj>
              </mc:Choice>
              <mc:Fallback>
                <p:oleObj name="Bitmap Image" r:id="rId5" imgW="2715004" imgH="2847619" progId="Paint.Picture">
                  <p:embed/>
                  <p:pic>
                    <p:nvPicPr>
                      <p:cNvPr id="13" name="Object 5">
                        <a:extLst>
                          <a:ext uri="{FF2B5EF4-FFF2-40B4-BE49-F238E27FC236}">
                            <a16:creationId xmlns:a16="http://schemas.microsoft.com/office/drawing/2014/main" id="{50D5533E-3293-419C-BA2B-D8CC7E122A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249" y="2582518"/>
                        <a:ext cx="2366147" cy="24821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36469B3-3D2D-8F21-DF26-F9E437F8F069}"/>
              </a:ext>
            </a:extLst>
          </p:cNvPr>
          <p:cNvCxnSpPr/>
          <p:nvPr/>
        </p:nvCxnSpPr>
        <p:spPr bwMode="auto">
          <a:xfrm flipH="1">
            <a:off x="4776331" y="3048467"/>
            <a:ext cx="1185094" cy="144016"/>
          </a:xfrm>
          <a:prstGeom prst="straightConnector1">
            <a:avLst/>
          </a:prstGeom>
          <a:solidFill>
            <a:srgbClr val="00E4A8"/>
          </a:solidFill>
          <a:ln w="762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397067-18D9-F241-813A-7083ECD1054E}"/>
              </a:ext>
            </a:extLst>
          </p:cNvPr>
          <p:cNvCxnSpPr/>
          <p:nvPr/>
        </p:nvCxnSpPr>
        <p:spPr bwMode="auto">
          <a:xfrm flipV="1">
            <a:off x="4632315" y="3192483"/>
            <a:ext cx="1872208" cy="864096"/>
          </a:xfrm>
          <a:prstGeom prst="straightConnector1">
            <a:avLst/>
          </a:prstGeom>
          <a:solidFill>
            <a:srgbClr val="00E4A8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C2423F0-059A-6C45-30D5-9405EC473A13}"/>
              </a:ext>
            </a:extLst>
          </p:cNvPr>
          <p:cNvCxnSpPr>
            <a:cxnSpLocks/>
          </p:cNvCxnSpPr>
          <p:nvPr/>
        </p:nvCxnSpPr>
        <p:spPr bwMode="auto">
          <a:xfrm>
            <a:off x="5208379" y="4920675"/>
            <a:ext cx="1152128" cy="1152128"/>
          </a:xfrm>
          <a:prstGeom prst="straightConnector1">
            <a:avLst/>
          </a:prstGeom>
          <a:solidFill>
            <a:srgbClr val="00E4A8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4D81DF-3C61-22B3-12A6-F7A88DB0D892}"/>
              </a:ext>
            </a:extLst>
          </p:cNvPr>
          <p:cNvCxnSpPr/>
          <p:nvPr/>
        </p:nvCxnSpPr>
        <p:spPr bwMode="auto">
          <a:xfrm flipV="1">
            <a:off x="4920347" y="4128587"/>
            <a:ext cx="1440160" cy="720080"/>
          </a:xfrm>
          <a:prstGeom prst="straightConnector1">
            <a:avLst/>
          </a:prstGeom>
          <a:solidFill>
            <a:srgbClr val="00E4A8"/>
          </a:solidFill>
          <a:ln w="381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49074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D89BE2E-3D4F-1AAB-24BF-74879444A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84313"/>
            <a:ext cx="8345487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Internal vs. external messages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Abstract window toolkit (</a:t>
            </a:r>
            <a:r>
              <a:rPr kumimoji="0" lang="en-US" altLang="el-GR" sz="32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awt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Frame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Button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TextField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GUIs </a:t>
            </a: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στην 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4317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To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πακέτο </a:t>
            </a:r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awt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(abstract window toolkit)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EDAE04C-FF61-EB7B-61B7-1CD94C87EC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227" y="1484313"/>
            <a:ext cx="7772400" cy="2592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παρέχει ένα σύνολο από αντικείμενα: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κλάσεις,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interfaces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,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exceptions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και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Errors</a:t>
            </a:r>
            <a:r>
              <a:rPr kumimoji="0" lang="el-GR" altLang="el-GR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.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3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5A09BFF3-EEB7-E889-9963-23D53A356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008" y="3861048"/>
            <a:ext cx="3816350" cy="2089150"/>
          </a:xfrm>
          <a:prstGeom prst="wedgeRoundRectCallout">
            <a:avLst>
              <a:gd name="adj1" fmla="val -44218"/>
              <a:gd name="adj2" fmla="val 58282"/>
              <a:gd name="adj3" fmla="val 16667"/>
            </a:avLst>
          </a:prstGeom>
          <a:solidFill>
            <a:srgbClr val="F5FE4A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τα αντικείμενα αυτά μας επιτρέπουν να  υλοποιήσουμε την αλληλεπίδραση εφαρμογής-χρήστη.</a:t>
            </a:r>
            <a:endParaRPr kumimoji="0" lang="en-US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2164A4-5020-3BC1-B8ED-D64328467F89}"/>
              </a:ext>
            </a:extLst>
          </p:cNvPr>
          <p:cNvSpPr txBox="1"/>
          <p:nvPr/>
        </p:nvSpPr>
        <p:spPr>
          <a:xfrm>
            <a:off x="299472" y="4958188"/>
            <a:ext cx="4688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Java 8: package </a:t>
            </a:r>
            <a:r>
              <a:rPr lang="en-US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java.awt</a:t>
            </a:r>
            <a:endParaRPr lang="en-US" sz="2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Java 9. module </a:t>
            </a:r>
            <a:r>
              <a:rPr lang="en-US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java.desktop</a:t>
            </a:r>
            <a:endParaRPr lang="el-GR" sz="2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54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Χαρακτηριστικές κλάσεις του </a:t>
            </a:r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awt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graphicFrame>
        <p:nvGraphicFramePr>
          <p:cNvPr id="5" name="Group 39">
            <a:extLst>
              <a:ext uri="{FF2B5EF4-FFF2-40B4-BE49-F238E27FC236}">
                <a16:creationId xmlns:a16="http://schemas.microsoft.com/office/drawing/2014/main" id="{1E78C4F3-ACBD-88C9-DD11-5048294DFD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157886"/>
              </p:ext>
            </p:extLst>
          </p:nvPr>
        </p:nvGraphicFramePr>
        <p:xfrm>
          <a:off x="250824" y="1243012"/>
          <a:ext cx="9455883" cy="4846320"/>
        </p:xfrm>
        <a:graphic>
          <a:graphicData uri="http://schemas.openxmlformats.org/drawingml/2006/table">
            <a:tbl>
              <a:tblPr/>
              <a:tblGrid>
                <a:gridCol w="3152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0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25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16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Classes </a:t>
                      </a: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b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</a:br>
                      <a:r>
                        <a:rPr kumimoji="0" lang="en-GB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AWTEvent</a:t>
                      </a: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b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</a:rPr>
                        <a:t>Button</a:t>
                      </a: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b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Checkbox </a:t>
                      </a:r>
                      <a:b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GB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CheckboxMenuItem</a:t>
                      </a: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b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Choice </a:t>
                      </a:r>
                      <a:b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Cursor </a:t>
                      </a:r>
                      <a:b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Event </a:t>
                      </a:r>
                      <a:b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Font </a:t>
                      </a:r>
                      <a:b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</a:rPr>
                        <a:t>Frame</a:t>
                      </a: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b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Label </a:t>
                      </a:r>
                      <a:b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</a:b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List </a:t>
                      </a:r>
                      <a:endParaRPr kumimoji="0" lang="en-GB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  <a:hlinkClick r:id="rId3" action="ppaction://hlinkfile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Classes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</a:rPr>
                        <a:t>Menu</a:t>
                      </a: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MenuBar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MenuComponent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MenuItem </a:t>
                      </a:r>
                      <a:endParaRPr kumimoji="0" lang="en-GB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</a:rPr>
                        <a:t>PopupMenu</a:t>
                      </a: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</a:rPr>
                        <a:t>Rectangle</a:t>
                      </a: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Robot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</a:rPr>
                        <a:t>Scrollbar</a:t>
                      </a: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en-GB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</a:rPr>
                        <a:t>TextField</a:t>
                      </a:r>
                      <a:r>
                        <a:rPr kumimoji="0" lang="en-GB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Window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ahoma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Interfaces  </a:t>
                      </a:r>
                      <a:br>
                        <a:rPr kumimoji="0" lang="en-GB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</a:br>
                      <a:r>
                        <a:rPr kumimoji="0" lang="en-GB" sz="2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ActiveEvent</a:t>
                      </a: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b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</a:br>
                      <a:r>
                        <a:rPr kumimoji="0" lang="en-GB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Composite</a:t>
                      </a: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b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</a:br>
                      <a:r>
                        <a:rPr kumimoji="0" lang="en-GB" sz="2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MenuContainer</a:t>
                      </a: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b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</a:br>
                      <a:r>
                        <a:rPr kumimoji="0" lang="en-GB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Paint</a:t>
                      </a: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b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</a:br>
                      <a:r>
                        <a:rPr kumimoji="0" lang="en-GB" sz="2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PrintGraphics</a:t>
                      </a: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b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</a:br>
                      <a:r>
                        <a:rPr kumimoji="0" lang="en-GB" sz="2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Shape</a:t>
                      </a:r>
                      <a: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b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</a:br>
                      <a:br>
                        <a:rPr kumimoji="0" lang="en-GB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</a:b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48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Example: RPN Calculator Gui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7AE3DE4-4657-C4CC-DA35-A37851FE2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483" y="719332"/>
            <a:ext cx="7311535" cy="1584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l-GR" altLang="el-GR" kern="0" dirty="0">
                <a:latin typeface="Times New Roman" panose="02020603050405020304" pitchFamily="18" charset="0"/>
              </a:rPr>
              <a:t>Χρησιμοποιήστε το </a:t>
            </a:r>
            <a:r>
              <a:rPr lang="en-US" altLang="el-GR" kern="0" dirty="0" err="1">
                <a:latin typeface="Times New Roman" panose="02020603050405020304" pitchFamily="18" charset="0"/>
              </a:rPr>
              <a:t>awt</a:t>
            </a:r>
            <a:r>
              <a:rPr lang="en-US" altLang="el-GR" kern="0" dirty="0">
                <a:latin typeface="Times New Roman" panose="02020603050405020304" pitchFamily="18" charset="0"/>
              </a:rPr>
              <a:t> </a:t>
            </a:r>
            <a:r>
              <a:rPr lang="el-GR" altLang="el-GR" kern="0" dirty="0">
                <a:latin typeface="Times New Roman" panose="02020603050405020304" pitchFamily="18" charset="0"/>
              </a:rPr>
              <a:t>για να δημιουργήσετε μία γραφική </a:t>
            </a:r>
            <a:r>
              <a:rPr lang="el-GR" altLang="el-GR" kern="0" dirty="0" err="1">
                <a:latin typeface="Times New Roman" panose="02020603050405020304" pitchFamily="18" charset="0"/>
              </a:rPr>
              <a:t>διεπαφή</a:t>
            </a:r>
            <a:r>
              <a:rPr lang="el-GR" altLang="el-GR" kern="0" dirty="0">
                <a:latin typeface="Times New Roman" panose="02020603050405020304" pitchFamily="18" charset="0"/>
              </a:rPr>
              <a:t> για την αριθμομηχανή</a:t>
            </a:r>
            <a:r>
              <a:rPr lang="en-US" altLang="el-GR" kern="0" dirty="0">
                <a:latin typeface="Times New Roman" panose="02020603050405020304" pitchFamily="18" charset="0"/>
              </a:rPr>
              <a:t> </a:t>
            </a:r>
            <a:r>
              <a:rPr lang="el-GR" altLang="el-GR" kern="0" dirty="0">
                <a:latin typeface="Times New Roman" panose="02020603050405020304" pitchFamily="18" charset="0"/>
              </a:rPr>
              <a:t>αντίστροφης Πολωνικής σημειογραφίας</a:t>
            </a:r>
            <a:endParaRPr lang="en-GB" altLang="el-GR" kern="0" dirty="0">
              <a:latin typeface="Times New Roman" panose="02020603050405020304" pitchFamily="18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D6A898-FAC7-344B-FCE9-0047C4F2A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050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03389632-59DE-63C2-CF95-2B2160DD66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94294"/>
              </p:ext>
            </p:extLst>
          </p:nvPr>
        </p:nvGraphicFramePr>
        <p:xfrm>
          <a:off x="237027" y="782328"/>
          <a:ext cx="3690937" cy="387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715004" imgH="2847619" progId="Paint.Picture">
                  <p:embed/>
                </p:oleObj>
              </mc:Choice>
              <mc:Fallback>
                <p:oleObj name="Bitmap Image" r:id="rId3" imgW="2715004" imgH="2847619" progId="Paint.Picture">
                  <p:embed/>
                  <p:pic>
                    <p:nvPicPr>
                      <p:cNvPr id="5122" name="Object 5">
                        <a:extLst>
                          <a:ext uri="{FF2B5EF4-FFF2-40B4-BE49-F238E27FC236}">
                            <a16:creationId xmlns:a16="http://schemas.microsoft.com/office/drawing/2014/main" id="{F0A5437A-2129-476C-8057-E585C6629F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27" y="782328"/>
                        <a:ext cx="3690937" cy="3871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96D515F-CE36-788C-4370-27BBADC2E64D}"/>
              </a:ext>
            </a:extLst>
          </p:cNvPr>
          <p:cNvSpPr txBox="1"/>
          <p:nvPr/>
        </p:nvSpPr>
        <p:spPr>
          <a:xfrm>
            <a:off x="4621761" y="2942337"/>
            <a:ext cx="78251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l-GR" sz="4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Iteration</a:t>
            </a:r>
            <a:r>
              <a:rPr kumimoji="0" lang="el-GR" altLang="el-GR" sz="4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 1</a:t>
            </a:r>
            <a:r>
              <a:rPr kumimoji="0" lang="en-US" altLang="el-GR" sz="4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 – Build Frame</a:t>
            </a:r>
            <a:endParaRPr lang="en-GB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E0304D5-D87A-003E-F3BD-CE2A2B553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0483" y="3929711"/>
            <a:ext cx="5134278" cy="2398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Αναπτύξτε ένα πρόγραμμα που θα εμφανίζει το </a:t>
            </a:r>
            <a:r>
              <a:rPr lang="el-GR" altLang="el-GR" sz="2800" kern="0" dirty="0">
                <a:solidFill>
                  <a:srgbClr val="000000"/>
                </a:solidFill>
                <a:latin typeface="Tahoma"/>
              </a:rPr>
              <a:t>παραπλεύρως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πλαίσιο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 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Αξιοποιήστε την κλάση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Frame.</a:t>
            </a:r>
          </a:p>
        </p:txBody>
      </p:sp>
      <p:graphicFrame>
        <p:nvGraphicFramePr>
          <p:cNvPr id="14" name="Object 4">
            <a:extLst>
              <a:ext uri="{FF2B5EF4-FFF2-40B4-BE49-F238E27FC236}">
                <a16:creationId xmlns:a16="http://schemas.microsoft.com/office/drawing/2014/main" id="{3970B85D-B99A-9C11-AA40-4D89996507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297666"/>
              </p:ext>
            </p:extLst>
          </p:nvPr>
        </p:nvGraphicFramePr>
        <p:xfrm>
          <a:off x="9569802" y="3841607"/>
          <a:ext cx="2481529" cy="2621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2723810" imgH="2876190" progId="Paint.Picture">
                  <p:embed/>
                </p:oleObj>
              </mc:Choice>
              <mc:Fallback>
                <p:oleObj name="Bitmap Image" r:id="rId5" imgW="2723810" imgH="2876190" progId="Paint.Picture">
                  <p:embed/>
                  <p:pic>
                    <p:nvPicPr>
                      <p:cNvPr id="6146" name="Object 4">
                        <a:extLst>
                          <a:ext uri="{FF2B5EF4-FFF2-40B4-BE49-F238E27FC236}">
                            <a16:creationId xmlns:a16="http://schemas.microsoft.com/office/drawing/2014/main" id="{D0A058BB-C215-4E0E-BF4D-0AAE2E9ECF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9802" y="3841607"/>
                        <a:ext cx="2481529" cy="26219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323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 autoUpdateAnimBg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Class Frame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5371401-8966-C65E-DE78-3E1CB8B2CA2D}"/>
              </a:ext>
            </a:extLst>
          </p:cNvPr>
          <p:cNvSpPr txBox="1">
            <a:spLocks/>
          </p:cNvSpPr>
          <p:nvPr/>
        </p:nvSpPr>
        <p:spPr bwMode="auto">
          <a:xfrm>
            <a:off x="10637" y="1051642"/>
            <a:ext cx="3481754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3200" kern="0" dirty="0">
                <a:solidFill>
                  <a:srgbClr val="000000"/>
                </a:solidFill>
                <a:latin typeface="Tahoma"/>
              </a:rPr>
              <a:t>A Frame is a top-level window with a title and a border. 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defRPr/>
            </a:pPr>
            <a:endParaRPr lang="el-GR" sz="3200" kern="0" dirty="0">
              <a:solidFill>
                <a:srgbClr val="000000"/>
              </a:solidFill>
              <a:latin typeface="Tahom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1A9D4A-D765-F048-145E-EC190A8F6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585" y="38262"/>
            <a:ext cx="4173414" cy="5022112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6393A61A-9B3B-D68A-F5C4-E1F7ED210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565" y="1009462"/>
            <a:ext cx="4529454" cy="295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78C665-4962-A3DC-16DA-6754A505CAD9}"/>
              </a:ext>
            </a:extLst>
          </p:cNvPr>
          <p:cNvSpPr txBox="1">
            <a:spLocks/>
          </p:cNvSpPr>
          <p:nvPr/>
        </p:nvSpPr>
        <p:spPr bwMode="auto">
          <a:xfrm>
            <a:off x="0" y="3968673"/>
            <a:ext cx="11254154" cy="1836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class 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Frame 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extends Window implements </a:t>
            </a:r>
            <a:r>
              <a:rPr kumimoji="0" lang="en-US" altLang="el-GR" sz="32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MenuContainer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Frame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(String title) </a:t>
            </a:r>
            <a:b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Constructs a new, initially invisible Frame object with the specified title.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866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CalculatorGui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Class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8F321C3-49D4-4C0B-0484-FF29C896A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19" y="758816"/>
            <a:ext cx="8883650" cy="136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import java.awt.*;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import java.awt.event.*;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400" b="1" i="0" u="none" strike="noStrike" kern="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class CalculatorGui </a:t>
            </a:r>
            <a:r>
              <a:rPr kumimoji="0" lang="en-US" altLang="el-GR" sz="1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extends</a:t>
            </a:r>
            <a:r>
              <a:rPr kumimoji="0" lang="en-US" altLang="el-GR" sz="1400" b="1" i="0" u="none" strike="noStrike" kern="0" cap="none" spc="0" normalizeH="0" baseline="0" noProof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Frame{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   public CalculatorGui(){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l-GR" altLang="el-GR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n-US" altLang="el-G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super("JAVA Polish Reverse Calculator");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this.setLayout(null);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	</a:t>
            </a:r>
            <a:endParaRPr kumimoji="0" lang="en-US" altLang="el-GR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8E119D4-AB89-6CB9-71DF-1D7509161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619" y="2054216"/>
            <a:ext cx="88836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b="1" kern="0" dirty="0">
                <a:solidFill>
                  <a:srgbClr val="000000"/>
                </a:solidFill>
                <a:latin typeface="Tahoma"/>
              </a:rPr>
              <a:t>		// 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public void </a:t>
            </a:r>
            <a:r>
              <a:rPr lang="en-US" sz="1400" b="1" kern="0" dirty="0" err="1">
                <a:solidFill>
                  <a:srgbClr val="000000"/>
                </a:solidFill>
                <a:latin typeface="Tahoma"/>
              </a:rPr>
              <a:t>setFont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sz="1400" kern="0" dirty="0">
                <a:solidFill>
                  <a:srgbClr val="000000"/>
                </a:solidFill>
                <a:latin typeface="Tahoma"/>
                <a:hlinkClick r:id="rId3" action="ppaction://hlinkfile" tooltip="class in java.awt"/>
              </a:rPr>
              <a:t>Font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 f)      To set the font of this container. </a:t>
            </a:r>
            <a:endParaRPr lang="en-US" sz="1400" b="1" kern="0" dirty="0">
              <a:solidFill>
                <a:srgbClr val="000000"/>
              </a:solidFill>
              <a:latin typeface="Tahoma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b="1" kern="0" dirty="0">
                <a:solidFill>
                  <a:srgbClr val="000000"/>
                </a:solidFill>
                <a:latin typeface="Tahoma"/>
              </a:rPr>
              <a:t>      </a:t>
            </a:r>
            <a:r>
              <a:rPr lang="el-GR" sz="1400" b="1" kern="0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400" b="1" kern="0" dirty="0">
                <a:solidFill>
                  <a:srgbClr val="000000"/>
                </a:solidFill>
                <a:latin typeface="Tahoma"/>
              </a:rPr>
              <a:t>// 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public void </a:t>
            </a:r>
            <a:r>
              <a:rPr lang="en-US" sz="1400" b="1" kern="0" dirty="0" err="1">
                <a:solidFill>
                  <a:srgbClr val="000000"/>
                </a:solidFill>
                <a:latin typeface="Tahoma"/>
              </a:rPr>
              <a:t>setBackground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sz="1400" kern="0" dirty="0">
                <a:solidFill>
                  <a:srgbClr val="000000"/>
                </a:solidFill>
                <a:latin typeface="Tahoma"/>
                <a:hlinkClick r:id="rId4" action="ppaction://hlinkfile" tooltip="class in java.awt"/>
              </a:rPr>
              <a:t>Color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 c)     To set the background color of this component. </a:t>
            </a:r>
            <a:endParaRPr lang="en-US" sz="1400" b="1" kern="0" dirty="0">
              <a:solidFill>
                <a:srgbClr val="000000"/>
              </a:solidFill>
              <a:latin typeface="Tahoma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kern="0" dirty="0">
                <a:solidFill>
                  <a:srgbClr val="000000"/>
                </a:solidFill>
                <a:latin typeface="Tahoma"/>
              </a:rPr>
              <a:t>		// public void </a:t>
            </a:r>
            <a:r>
              <a:rPr lang="en-US" sz="1400" b="1" kern="0" dirty="0" err="1">
                <a:solidFill>
                  <a:srgbClr val="000000"/>
                </a:solidFill>
                <a:latin typeface="Tahoma"/>
              </a:rPr>
              <a:t>setSize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sz="1400" kern="0" dirty="0">
                <a:solidFill>
                  <a:srgbClr val="000000"/>
                </a:solidFill>
                <a:latin typeface="Tahoma"/>
                <a:hlinkClick r:id="rId5" action="ppaction://hlinkfile" tooltip="class in java.awt"/>
              </a:rPr>
              <a:t>Dimension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 d) 	- w=283, h=297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kern="0" dirty="0">
                <a:solidFill>
                  <a:srgbClr val="000000"/>
                </a:solidFill>
                <a:latin typeface="Tahoma"/>
              </a:rPr>
              <a:t>			// To resize this component so that it has width </a:t>
            </a:r>
            <a:r>
              <a:rPr lang="en-US" sz="1400" kern="0" dirty="0" err="1">
                <a:solidFill>
                  <a:srgbClr val="000000"/>
                </a:solidFill>
                <a:latin typeface="Tahoma"/>
              </a:rPr>
              <a:t>d.width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 and height </a:t>
            </a:r>
            <a:r>
              <a:rPr lang="en-US" sz="1400" kern="0" dirty="0" err="1">
                <a:solidFill>
                  <a:srgbClr val="000000"/>
                </a:solidFill>
                <a:latin typeface="Tahoma"/>
              </a:rPr>
              <a:t>d.height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. </a:t>
            </a:r>
            <a:endParaRPr lang="en-US" sz="1400" b="1" kern="0" dirty="0">
              <a:solidFill>
                <a:srgbClr val="000000"/>
              </a:solidFill>
              <a:latin typeface="Tahoma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b="1" kern="0" dirty="0">
                <a:solidFill>
                  <a:srgbClr val="000000"/>
                </a:solidFill>
                <a:latin typeface="Tahoma"/>
              </a:rPr>
              <a:t>		// 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public void </a:t>
            </a:r>
            <a:r>
              <a:rPr lang="en-US" sz="1400" b="1" kern="0" dirty="0" err="1">
                <a:solidFill>
                  <a:srgbClr val="000000"/>
                </a:solidFill>
                <a:latin typeface="Tahoma"/>
              </a:rPr>
              <a:t>setLocation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sz="1400" kern="0" dirty="0" err="1">
                <a:solidFill>
                  <a:srgbClr val="000000"/>
                </a:solidFill>
                <a:latin typeface="Tahoma"/>
              </a:rPr>
              <a:t>int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 x, </a:t>
            </a:r>
            <a:r>
              <a:rPr lang="en-US" sz="1400" kern="0" dirty="0" err="1">
                <a:solidFill>
                  <a:srgbClr val="000000"/>
                </a:solidFill>
                <a:latin typeface="Tahoma"/>
              </a:rPr>
              <a:t>int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 y) 	- x = 50, y =100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kern="0" dirty="0">
                <a:solidFill>
                  <a:srgbClr val="000000"/>
                </a:solidFill>
                <a:latin typeface="Tahoma"/>
              </a:rPr>
              <a:t>			</a:t>
            </a:r>
            <a:r>
              <a:rPr lang="en-US" sz="1200" kern="0" dirty="0">
                <a:solidFill>
                  <a:srgbClr val="000000"/>
                </a:solidFill>
                <a:latin typeface="Tahoma"/>
              </a:rPr>
              <a:t>//Moves this component to a new location. The top-left corner of the new location is 			//specified by the x and y parameters in the coordinate space of this component's parent. </a:t>
            </a:r>
            <a:endParaRPr lang="en-US" sz="1400" b="1" kern="0" dirty="0">
              <a:solidFill>
                <a:srgbClr val="000000"/>
              </a:solidFill>
              <a:latin typeface="Tahoma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b="1" kern="0" dirty="0">
                <a:solidFill>
                  <a:srgbClr val="000000"/>
                </a:solidFill>
                <a:latin typeface="Tahoma"/>
              </a:rPr>
              <a:t>		//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public void </a:t>
            </a:r>
            <a:r>
              <a:rPr lang="en-US" sz="1400" b="1" kern="0" dirty="0" err="1">
                <a:solidFill>
                  <a:srgbClr val="000000"/>
                </a:solidFill>
                <a:latin typeface="Tahoma"/>
              </a:rPr>
              <a:t>setVisible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sz="1400" kern="0" dirty="0" err="1">
                <a:solidFill>
                  <a:srgbClr val="000000"/>
                </a:solidFill>
                <a:latin typeface="Tahoma"/>
              </a:rPr>
              <a:t>boolean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 b) 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kern="0" dirty="0">
                <a:solidFill>
                  <a:srgbClr val="000000"/>
                </a:solidFill>
                <a:latin typeface="Tahoma"/>
              </a:rPr>
              <a:t>			//To show this Window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l-GR" sz="1400" b="1" kern="0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400" b="1" kern="0" dirty="0">
                <a:solidFill>
                  <a:srgbClr val="000000"/>
                </a:solidFill>
                <a:latin typeface="Tahoma"/>
              </a:rPr>
              <a:t>	// 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public void </a:t>
            </a:r>
            <a:r>
              <a:rPr lang="en-US" sz="1400" b="1" kern="0" dirty="0" err="1">
                <a:solidFill>
                  <a:srgbClr val="000000"/>
                </a:solidFill>
                <a:latin typeface="Tahoma"/>
              </a:rPr>
              <a:t>toFront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() 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kern="0" dirty="0">
                <a:solidFill>
                  <a:srgbClr val="000000"/>
                </a:solidFill>
                <a:latin typeface="Tahoma"/>
              </a:rPr>
              <a:t>			</a:t>
            </a:r>
            <a:r>
              <a:rPr lang="en-US" sz="1200" kern="0" dirty="0">
                <a:solidFill>
                  <a:srgbClr val="000000"/>
                </a:solidFill>
                <a:latin typeface="Tahoma"/>
              </a:rPr>
              <a:t>//If this Window is visible, brings this Window to the front and may make it the focused Window. </a:t>
            </a:r>
            <a:endParaRPr lang="en-US" sz="1400" b="1" kern="0" dirty="0">
              <a:solidFill>
                <a:srgbClr val="000000"/>
              </a:solidFill>
              <a:latin typeface="Tahoma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b="1" kern="0" dirty="0">
                <a:solidFill>
                  <a:srgbClr val="000000"/>
                </a:solidFill>
                <a:latin typeface="Tahoma"/>
              </a:rPr>
              <a:t>		//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void</a:t>
            </a:r>
            <a:r>
              <a:rPr lang="en-US" sz="1400" b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b="1" kern="0" dirty="0" err="1">
                <a:solidFill>
                  <a:srgbClr val="000000"/>
                </a:solidFill>
                <a:latin typeface="Tahoma"/>
              </a:rPr>
              <a:t>setResizable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sz="1400" kern="0" dirty="0" err="1">
                <a:solidFill>
                  <a:srgbClr val="000000"/>
                </a:solidFill>
                <a:latin typeface="Tahoma"/>
              </a:rPr>
              <a:t>boolean</a:t>
            </a:r>
            <a:r>
              <a:rPr lang="en-US" sz="1400" kern="0" dirty="0">
                <a:solidFill>
                  <a:srgbClr val="000000"/>
                </a:solidFill>
                <a:latin typeface="Tahoma"/>
              </a:rPr>
              <a:t> resizable) </a:t>
            </a:r>
            <a:br>
              <a:rPr lang="en-US" sz="1400" kern="0" dirty="0">
                <a:solidFill>
                  <a:srgbClr val="000000"/>
                </a:solidFill>
                <a:latin typeface="Tahoma"/>
              </a:rPr>
            </a:br>
            <a:r>
              <a:rPr lang="en-US" sz="1400" kern="0" dirty="0">
                <a:solidFill>
                  <a:srgbClr val="000000"/>
                </a:solidFill>
                <a:latin typeface="Tahoma"/>
              </a:rPr>
              <a:t>          		//Sets whether this frame is resizable by the user.</a:t>
            </a:r>
            <a:r>
              <a:rPr lang="el-GR" sz="1400" b="1" kern="0" dirty="0">
                <a:solidFill>
                  <a:srgbClr val="000000"/>
                </a:solidFill>
                <a:latin typeface="Tahoma"/>
              </a:rPr>
              <a:t>		</a:t>
            </a:r>
            <a:endParaRPr lang="en-US" sz="1400" b="1" kern="0" dirty="0">
              <a:solidFill>
                <a:srgbClr val="000000"/>
              </a:solidFill>
              <a:latin typeface="Tahoma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l-GR" sz="1400" b="1" kern="0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400" b="1" kern="0" dirty="0" err="1">
                <a:solidFill>
                  <a:srgbClr val="000000"/>
                </a:solidFill>
                <a:latin typeface="Tahoma"/>
              </a:rPr>
              <a:t>this.addWindowListener</a:t>
            </a:r>
            <a:r>
              <a:rPr lang="en-US" sz="1400" b="1" kern="0" dirty="0">
                <a:solidFill>
                  <a:srgbClr val="000000"/>
                </a:solidFill>
                <a:latin typeface="Tahoma"/>
              </a:rPr>
              <a:t>(new </a:t>
            </a:r>
            <a:r>
              <a:rPr lang="en-US" sz="1400" b="1" kern="0" dirty="0" err="1">
                <a:solidFill>
                  <a:srgbClr val="000000"/>
                </a:solidFill>
                <a:latin typeface="Tahoma"/>
              </a:rPr>
              <a:t>CloseWindowAndExit</a:t>
            </a:r>
            <a:r>
              <a:rPr lang="en-US" sz="1400" b="1" kern="0" dirty="0">
                <a:solidFill>
                  <a:srgbClr val="000000"/>
                </a:solidFill>
                <a:latin typeface="Tahoma"/>
              </a:rPr>
              <a:t>());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b="1" kern="0" dirty="0">
                <a:solidFill>
                  <a:srgbClr val="000000"/>
                </a:solidFill>
                <a:latin typeface="Tahoma"/>
              </a:rPr>
              <a:t>      </a:t>
            </a:r>
            <a:r>
              <a:rPr lang="el-GR" sz="1400" b="1" kern="0" dirty="0">
                <a:solidFill>
                  <a:srgbClr val="000000"/>
                </a:solidFill>
                <a:latin typeface="Tahoma"/>
              </a:rPr>
              <a:t>		</a:t>
            </a:r>
            <a:r>
              <a:rPr lang="en-US" sz="1400" b="1" kern="0" dirty="0">
                <a:solidFill>
                  <a:srgbClr val="000000"/>
                </a:solidFill>
                <a:latin typeface="Tahoma"/>
              </a:rPr>
              <a:t>}  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l-GR" sz="1400" b="1" kern="0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400" b="1" kern="0" dirty="0">
                <a:solidFill>
                  <a:srgbClr val="000000"/>
                </a:solidFill>
                <a:latin typeface="Tahoma"/>
              </a:rPr>
              <a:t>}		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i="1" kern="0" dirty="0">
                <a:solidFill>
                  <a:srgbClr val="000000"/>
                </a:solidFill>
                <a:latin typeface="Tahoma"/>
              </a:rPr>
              <a:t>class </a:t>
            </a:r>
            <a:r>
              <a:rPr lang="en-US" sz="1400" i="1" kern="0" dirty="0" err="1">
                <a:solidFill>
                  <a:srgbClr val="000000"/>
                </a:solidFill>
                <a:latin typeface="Tahoma"/>
              </a:rPr>
              <a:t>CloseWindowAndExit</a:t>
            </a:r>
            <a:r>
              <a:rPr lang="en-US" sz="1400" i="1" kern="0" dirty="0">
                <a:solidFill>
                  <a:srgbClr val="000000"/>
                </a:solidFill>
                <a:latin typeface="Tahoma"/>
              </a:rPr>
              <a:t> extends </a:t>
            </a:r>
            <a:r>
              <a:rPr lang="en-US" sz="1400" i="1" kern="0" dirty="0" err="1">
                <a:solidFill>
                  <a:srgbClr val="000000"/>
                </a:solidFill>
                <a:latin typeface="Tahoma"/>
              </a:rPr>
              <a:t>WindowAdapter</a:t>
            </a:r>
            <a:r>
              <a:rPr lang="en-US" sz="1400" i="1" kern="0" dirty="0">
                <a:solidFill>
                  <a:srgbClr val="000000"/>
                </a:solidFill>
                <a:latin typeface="Tahoma"/>
              </a:rPr>
              <a:t>  {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i="1" kern="0" dirty="0">
                <a:solidFill>
                  <a:srgbClr val="000000"/>
                </a:solidFill>
                <a:latin typeface="Tahoma"/>
              </a:rPr>
              <a:t>    public void </a:t>
            </a:r>
            <a:r>
              <a:rPr lang="en-US" sz="1400" i="1" kern="0" dirty="0" err="1">
                <a:solidFill>
                  <a:srgbClr val="000000"/>
                </a:solidFill>
                <a:latin typeface="Tahoma"/>
              </a:rPr>
              <a:t>windowClosing</a:t>
            </a:r>
            <a:r>
              <a:rPr lang="en-US" sz="1400" i="1" kern="0" dirty="0">
                <a:solidFill>
                  <a:srgbClr val="000000"/>
                </a:solidFill>
                <a:latin typeface="Tahoma"/>
              </a:rPr>
              <a:t> (</a:t>
            </a:r>
            <a:r>
              <a:rPr lang="en-US" sz="1400" i="1" kern="0" dirty="0" err="1">
                <a:solidFill>
                  <a:srgbClr val="000000"/>
                </a:solidFill>
                <a:latin typeface="Tahoma"/>
              </a:rPr>
              <a:t>WindowEvent</a:t>
            </a:r>
            <a:r>
              <a:rPr lang="en-US" sz="1400" i="1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1400" i="1" kern="0" dirty="0" err="1">
                <a:solidFill>
                  <a:srgbClr val="000000"/>
                </a:solidFill>
                <a:latin typeface="Tahoma"/>
              </a:rPr>
              <a:t>closeWindowAndExit</a:t>
            </a:r>
            <a:r>
              <a:rPr lang="en-US" sz="1400" i="1" kern="0" dirty="0">
                <a:solidFill>
                  <a:srgbClr val="000000"/>
                </a:solidFill>
                <a:latin typeface="Tahoma"/>
              </a:rPr>
              <a:t>){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i="1" kern="0" dirty="0">
                <a:solidFill>
                  <a:srgbClr val="000000"/>
                </a:solidFill>
                <a:latin typeface="Tahoma"/>
              </a:rPr>
              <a:t>      </a:t>
            </a:r>
            <a:r>
              <a:rPr lang="en-US" sz="1400" i="1" kern="0" dirty="0" err="1">
                <a:solidFill>
                  <a:srgbClr val="000000"/>
                </a:solidFill>
                <a:latin typeface="Tahoma"/>
              </a:rPr>
              <a:t>System.exit</a:t>
            </a:r>
            <a:r>
              <a:rPr lang="en-US" sz="1400" i="1" kern="0" dirty="0">
                <a:solidFill>
                  <a:srgbClr val="000000"/>
                </a:solidFill>
                <a:latin typeface="Tahoma"/>
              </a:rPr>
              <a:t>(0);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i="1" kern="0" dirty="0">
                <a:solidFill>
                  <a:srgbClr val="000000"/>
                </a:solidFill>
                <a:latin typeface="Tahoma"/>
              </a:rPr>
              <a:t>     }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400" kern="0" dirty="0">
                <a:solidFill>
                  <a:srgbClr val="000000"/>
                </a:solidFill>
                <a:latin typeface="Tahoma"/>
              </a:rPr>
              <a:t>  } </a:t>
            </a:r>
          </a:p>
        </p:txBody>
      </p:sp>
    </p:spTree>
    <p:extLst>
      <p:ext uri="{BB962C8B-B14F-4D97-AF65-F5344CB8AC3E}">
        <p14:creationId xmlns:p14="http://schemas.microsoft.com/office/powerpoint/2010/main" val="1927283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Iteration 2 – Add a Button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F73C1B-120B-EAF3-F062-C8C680780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3" y="719331"/>
            <a:ext cx="42712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l-GR" altLang="el-GR" sz="2800" kern="0" dirty="0">
                <a:latin typeface="Times New Roman" panose="02020603050405020304" pitchFamily="18" charset="0"/>
              </a:rPr>
              <a:t>Προσθέστε στο πλαίσιο που αναπτύξατε το κουμπί 0 </a:t>
            </a:r>
            <a:endParaRPr lang="en-US" altLang="el-GR" sz="2800" kern="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l-GR" altLang="el-GR" sz="2800" kern="0" dirty="0">
                <a:latin typeface="Times New Roman" panose="02020603050405020304" pitchFamily="18" charset="0"/>
              </a:rPr>
              <a:t>Χρησιμοποιήστε την κλάση </a:t>
            </a:r>
            <a:r>
              <a:rPr lang="en-US" altLang="el-GR" sz="2800" kern="0" dirty="0">
                <a:latin typeface="Times New Roman" panose="02020603050405020304" pitchFamily="18" charset="0"/>
              </a:rPr>
              <a:t>Button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900D5D-565C-5354-31FC-A2A3F5FF3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523B89E-EF55-FB61-5E2D-8A19AFB4C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76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ACAA3315-B29B-C73D-74F7-92FCB2B44E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7038392"/>
              </p:ext>
            </p:extLst>
          </p:nvPr>
        </p:nvGraphicFramePr>
        <p:xfrm>
          <a:off x="528393" y="3144382"/>
          <a:ext cx="3111622" cy="3275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723810" imgH="2866667" progId="Paint.Picture">
                  <p:embed/>
                </p:oleObj>
              </mc:Choice>
              <mc:Fallback>
                <p:oleObj name="Bitmap Image" r:id="rId3" imgW="2723810" imgH="2866667" progId="Paint.Picture">
                  <p:embed/>
                  <p:pic>
                    <p:nvPicPr>
                      <p:cNvPr id="7170" name="Object 6">
                        <a:extLst>
                          <a:ext uri="{FF2B5EF4-FFF2-40B4-BE49-F238E27FC236}">
                            <a16:creationId xmlns:a16="http://schemas.microsoft.com/office/drawing/2014/main" id="{FA5034FD-3897-458F-B81F-0F88C07938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93" y="3144382"/>
                        <a:ext cx="3111622" cy="32751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2">
            <a:extLst>
              <a:ext uri="{FF2B5EF4-FFF2-40B4-BE49-F238E27FC236}">
                <a16:creationId xmlns:a16="http://schemas.microsoft.com/office/drawing/2014/main" id="{1C0CB2C4-4462-82D0-A62E-EC282E5D3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154" y="1"/>
            <a:ext cx="3221572" cy="1810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7B3428B-38B7-B628-B909-3B823E9DBCE8}"/>
              </a:ext>
            </a:extLst>
          </p:cNvPr>
          <p:cNvSpPr txBox="1">
            <a:spLocks/>
          </p:cNvSpPr>
          <p:nvPr/>
        </p:nvSpPr>
        <p:spPr bwMode="auto">
          <a:xfrm>
            <a:off x="4941276" y="1719392"/>
            <a:ext cx="7091119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This class creates a labeled 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	button. 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2800" b="1" dirty="0">
                <a:solidFill>
                  <a:srgbClr val="C00000"/>
                </a:solidFill>
                <a:latin typeface="Tahoma" panose="020B0604030504040204" pitchFamily="34" charset="0"/>
              </a:rPr>
              <a:t>The application can cause some action to happen when the button is pushed.</a:t>
            </a:r>
            <a:endParaRPr lang="el-GR" sz="2800" b="1" kern="0" dirty="0">
              <a:solidFill>
                <a:srgbClr val="C00000"/>
              </a:solidFill>
              <a:latin typeface="Tahoma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B74C82C-6B0F-B9F5-2D47-0A8BDD34B92E}"/>
              </a:ext>
            </a:extLst>
          </p:cNvPr>
          <p:cNvSpPr txBox="1">
            <a:spLocks/>
          </p:cNvSpPr>
          <p:nvPr/>
        </p:nvSpPr>
        <p:spPr bwMode="auto">
          <a:xfrm>
            <a:off x="4941276" y="4222304"/>
            <a:ext cx="7144361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class 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Button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ahoma"/>
                <a:ea typeface="+mn-ea"/>
                <a:cs typeface="+mn-cs"/>
              </a:rPr>
              <a:t>extends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Component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Tahoma"/>
                <a:ea typeface="+mn-ea"/>
                <a:cs typeface="+mn-cs"/>
              </a:rPr>
              <a:t>implements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Accessible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Button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(String label) </a:t>
            </a:r>
            <a:b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     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Constructs a button with the specified label.</a:t>
            </a:r>
            <a:endParaRPr kumimoji="0" lang="el-GR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219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Appending a button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2B1EC56-0A73-94AB-7CC1-A1FD69584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0"/>
            <a:ext cx="779303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l-GR" sz="40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ahoma"/>
              <a:ea typeface="+mj-ea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6BA5E41-BE6D-9A5C-1A85-A4DF77606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69" y="911553"/>
            <a:ext cx="9144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import </a:t>
            </a:r>
            <a:r>
              <a:rPr kumimoji="0" lang="en-US" altLang="el-GR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java.awt</a:t>
            </a:r>
            <a:r>
              <a:rPr kumimoji="0" lang="en-US" altLang="el-G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.*;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import </a:t>
            </a:r>
            <a:r>
              <a:rPr kumimoji="0" lang="en-US" altLang="el-GR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java.awt.event</a:t>
            </a:r>
            <a:r>
              <a:rPr kumimoji="0" lang="en-US" altLang="el-G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.*;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class </a:t>
            </a:r>
            <a:r>
              <a:rPr kumimoji="0" lang="en-US" altLang="el-G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CalculatorGui</a:t>
            </a: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extends</a:t>
            </a: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Frame{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public </a:t>
            </a:r>
            <a:r>
              <a:rPr kumimoji="0" lang="en-US" altLang="el-GR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CalculatorGui</a:t>
            </a: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(){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n-US" altLang="el-G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super("JAVA Polish Reverse Calculator");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…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n-US" altLang="el-GR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th</a:t>
            </a:r>
            <a:r>
              <a:rPr kumimoji="0" lang="el-GR" altLang="el-G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ι</a:t>
            </a:r>
            <a:r>
              <a:rPr kumimoji="0" lang="en-US" altLang="el-GR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s.addWindowListener</a:t>
            </a:r>
            <a:r>
              <a:rPr kumimoji="0" lang="en-US" altLang="el-G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(new </a:t>
            </a:r>
            <a:r>
              <a:rPr kumimoji="0" lang="en-US" altLang="el-GR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CloseWindowAndExit</a:t>
            </a:r>
            <a:r>
              <a:rPr kumimoji="0" lang="en-US" altLang="el-GR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());</a:t>
            </a:r>
            <a:endParaRPr kumimoji="0" lang="el-GR" altLang="el-GR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n-US" altLang="el-G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7C742DC-F5F6-92D9-AF1D-F73997473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69" y="3161175"/>
            <a:ext cx="9144000" cy="3438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en-US" sz="1600" b="1" kern="0" dirty="0">
              <a:solidFill>
                <a:srgbClr val="000000"/>
              </a:solidFill>
              <a:latin typeface="Tahoma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l-GR" sz="1600" b="1" kern="0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GB" b="1" kern="0" dirty="0">
                <a:solidFill>
                  <a:srgbClr val="FF0000"/>
                </a:solidFill>
                <a:latin typeface="Tahoma"/>
              </a:rPr>
              <a:t>button0=new Button("0");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GB" b="1" kern="0" dirty="0">
                <a:solidFill>
                  <a:srgbClr val="FF0000"/>
                </a:solidFill>
                <a:latin typeface="Tahoma"/>
              </a:rPr>
              <a:t>	// </a:t>
            </a:r>
            <a:r>
              <a:rPr lang="en-US" kern="0" dirty="0">
                <a:solidFill>
                  <a:srgbClr val="000000"/>
                </a:solidFill>
                <a:latin typeface="Tahoma"/>
              </a:rPr>
              <a:t>public void </a:t>
            </a:r>
            <a:r>
              <a:rPr lang="en-US" b="1" kern="0" dirty="0" err="1">
                <a:solidFill>
                  <a:srgbClr val="000000"/>
                </a:solidFill>
                <a:latin typeface="Tahoma"/>
              </a:rPr>
              <a:t>setBounds</a:t>
            </a:r>
            <a:r>
              <a:rPr lang="en-US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kern="0" dirty="0">
                <a:solidFill>
                  <a:srgbClr val="000000"/>
                </a:solidFill>
                <a:latin typeface="Tahoma"/>
                <a:hlinkClick r:id="rId3" action="ppaction://hlinkfile" tooltip="class in java.awt"/>
              </a:rPr>
              <a:t>Rectangle</a:t>
            </a:r>
            <a:r>
              <a:rPr lang="en-US" kern="0" dirty="0">
                <a:solidFill>
                  <a:srgbClr val="000000"/>
                </a:solidFill>
                <a:latin typeface="Tahoma"/>
              </a:rPr>
              <a:t> r) 		- x=64, y=265, w=35, h=28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solidFill>
                  <a:srgbClr val="000000"/>
                </a:solidFill>
                <a:latin typeface="Tahoma"/>
              </a:rPr>
              <a:t>		//</a:t>
            </a:r>
            <a:r>
              <a:rPr lang="en-US" sz="1600" kern="0" dirty="0">
                <a:solidFill>
                  <a:srgbClr val="000000"/>
                </a:solidFill>
                <a:latin typeface="Tahoma"/>
              </a:rPr>
              <a:t>Moves and resizes this component to conform to the new bounding rectangle r. This component's 	//new position is specified by </a:t>
            </a:r>
            <a:r>
              <a:rPr lang="en-US" sz="1600" kern="0" dirty="0" err="1">
                <a:solidFill>
                  <a:srgbClr val="000000"/>
                </a:solidFill>
                <a:latin typeface="Tahoma"/>
              </a:rPr>
              <a:t>r.x</a:t>
            </a:r>
            <a:r>
              <a:rPr lang="en-US" sz="1600" kern="0" dirty="0">
                <a:solidFill>
                  <a:srgbClr val="000000"/>
                </a:solidFill>
                <a:latin typeface="Tahoma"/>
              </a:rPr>
              <a:t> and </a:t>
            </a:r>
            <a:r>
              <a:rPr lang="en-US" sz="1600" kern="0" dirty="0" err="1">
                <a:solidFill>
                  <a:srgbClr val="000000"/>
                </a:solidFill>
                <a:latin typeface="Tahoma"/>
              </a:rPr>
              <a:t>r.y</a:t>
            </a:r>
            <a:r>
              <a:rPr lang="en-US" sz="1600" kern="0" dirty="0">
                <a:solidFill>
                  <a:srgbClr val="000000"/>
                </a:solidFill>
                <a:latin typeface="Tahoma"/>
              </a:rPr>
              <a:t>, and its new size is specified by </a:t>
            </a:r>
            <a:r>
              <a:rPr lang="en-US" sz="1600" kern="0" dirty="0" err="1">
                <a:solidFill>
                  <a:srgbClr val="000000"/>
                </a:solidFill>
                <a:latin typeface="Tahoma"/>
              </a:rPr>
              <a:t>r.width</a:t>
            </a:r>
            <a:r>
              <a:rPr lang="en-US" sz="1600" kern="0" dirty="0">
                <a:solidFill>
                  <a:srgbClr val="000000"/>
                </a:solidFill>
                <a:latin typeface="Tahoma"/>
              </a:rPr>
              <a:t> and </a:t>
            </a:r>
            <a:r>
              <a:rPr lang="en-US" sz="1600" kern="0" dirty="0" err="1">
                <a:solidFill>
                  <a:srgbClr val="000000"/>
                </a:solidFill>
                <a:latin typeface="Tahoma"/>
              </a:rPr>
              <a:t>r.height</a:t>
            </a:r>
            <a:r>
              <a:rPr lang="en-GB" sz="1600" b="1" kern="0" dirty="0">
                <a:solidFill>
                  <a:srgbClr val="FF0000"/>
                </a:solidFill>
                <a:latin typeface="Tahoma"/>
              </a:rPr>
              <a:t> </a:t>
            </a:r>
            <a:endParaRPr lang="en-US" b="1" kern="0" dirty="0">
              <a:solidFill>
                <a:srgbClr val="FF0000"/>
              </a:solidFill>
              <a:latin typeface="Tahoma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l-GR" b="1" kern="0" dirty="0">
                <a:solidFill>
                  <a:srgbClr val="FF0000"/>
                </a:solidFill>
                <a:latin typeface="Tahoma"/>
              </a:rPr>
              <a:t>	</a:t>
            </a:r>
            <a:r>
              <a:rPr lang="en-GB" b="1" kern="0" dirty="0">
                <a:solidFill>
                  <a:srgbClr val="FF0000"/>
                </a:solidFill>
                <a:latin typeface="Tahoma"/>
              </a:rPr>
              <a:t>button0.setFont(…);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l-GR" b="1" kern="0" dirty="0">
                <a:solidFill>
                  <a:srgbClr val="FF0000"/>
                </a:solidFill>
                <a:latin typeface="Tahoma"/>
              </a:rPr>
              <a:t>	</a:t>
            </a:r>
            <a:r>
              <a:rPr lang="en-GB" b="1" kern="0" dirty="0">
                <a:solidFill>
                  <a:srgbClr val="FF0000"/>
                </a:solidFill>
                <a:latin typeface="Tahoma"/>
              </a:rPr>
              <a:t>button0.setBackground(…);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l-GR" b="1" kern="0" dirty="0">
                <a:solidFill>
                  <a:srgbClr val="FF0000"/>
                </a:solidFill>
                <a:latin typeface="Tahoma"/>
              </a:rPr>
              <a:t>	</a:t>
            </a:r>
            <a:r>
              <a:rPr lang="en-GB" b="1" kern="0" dirty="0">
                <a:solidFill>
                  <a:srgbClr val="FF0000"/>
                </a:solidFill>
                <a:latin typeface="Tahoma"/>
              </a:rPr>
              <a:t>button0.setForeground(…);</a:t>
            </a:r>
            <a:r>
              <a:rPr lang="en-US" sz="1600" b="1" kern="0" dirty="0">
                <a:solidFill>
                  <a:srgbClr val="FF0000"/>
                </a:solidFill>
                <a:latin typeface="Tahoma"/>
              </a:rPr>
              <a:t> 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en-US" sz="1600" b="1" kern="0" dirty="0">
              <a:solidFill>
                <a:srgbClr val="FF0000"/>
              </a:solidFill>
              <a:latin typeface="Tahoma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GB" b="1" kern="0" dirty="0">
                <a:solidFill>
                  <a:srgbClr val="FF0000"/>
                </a:solidFill>
                <a:latin typeface="Tahoma"/>
              </a:rPr>
              <a:t>	//</a:t>
            </a:r>
            <a:r>
              <a:rPr lang="en-US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b="1" kern="0" dirty="0">
                <a:solidFill>
                  <a:srgbClr val="C00000"/>
                </a:solidFill>
                <a:highlight>
                  <a:srgbClr val="FFFF00"/>
                </a:highlight>
                <a:latin typeface="Tahoma"/>
              </a:rPr>
              <a:t>Append button0 to the end of this </a:t>
            </a:r>
            <a:r>
              <a:rPr lang="en-US" b="1" kern="0" dirty="0" err="1">
                <a:solidFill>
                  <a:srgbClr val="C00000"/>
                </a:solidFill>
                <a:highlight>
                  <a:srgbClr val="FFFF00"/>
                </a:highlight>
                <a:latin typeface="Tahoma"/>
              </a:rPr>
              <a:t>CalculatorGui</a:t>
            </a:r>
            <a:r>
              <a:rPr lang="en-US" b="1" kern="0" dirty="0">
                <a:solidFill>
                  <a:srgbClr val="C00000"/>
                </a:solidFill>
                <a:highlight>
                  <a:srgbClr val="FFFF00"/>
                </a:highlight>
                <a:latin typeface="Tahoma"/>
              </a:rPr>
              <a:t> </a:t>
            </a:r>
            <a:r>
              <a:rPr lang="en-US" sz="2400" b="1" kern="0" dirty="0">
                <a:solidFill>
                  <a:srgbClr val="002060"/>
                </a:solidFill>
                <a:highlight>
                  <a:srgbClr val="FFFF00"/>
                </a:highlight>
                <a:latin typeface="Tahoma"/>
              </a:rPr>
              <a:t>container</a:t>
            </a:r>
            <a:r>
              <a:rPr lang="en-US" b="1" kern="0" dirty="0">
                <a:solidFill>
                  <a:srgbClr val="C00000"/>
                </a:solidFill>
                <a:highlight>
                  <a:srgbClr val="FFFF00"/>
                </a:highlight>
                <a:latin typeface="Tahoma"/>
              </a:rPr>
              <a:t>.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l-GR" sz="1600" b="1" kern="0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600" b="1" kern="0" dirty="0">
                <a:solidFill>
                  <a:srgbClr val="000000"/>
                </a:solidFill>
                <a:latin typeface="Tahoma"/>
              </a:rPr>
              <a:t>}  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600" b="1" kern="0" dirty="0">
                <a:solidFill>
                  <a:srgbClr val="000000"/>
                </a:solidFill>
                <a:latin typeface="Tahoma"/>
              </a:rPr>
              <a:t>}		</a:t>
            </a:r>
          </a:p>
        </p:txBody>
      </p:sp>
    </p:spTree>
    <p:extLst>
      <p:ext uri="{BB962C8B-B14F-4D97-AF65-F5344CB8AC3E}">
        <p14:creationId xmlns:p14="http://schemas.microsoft.com/office/powerpoint/2010/main" val="94278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Class Container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5BDFD9-0E8E-CC9D-E4B4-1A3342252BC3}"/>
              </a:ext>
            </a:extLst>
          </p:cNvPr>
          <p:cNvSpPr txBox="1">
            <a:spLocks/>
          </p:cNvSpPr>
          <p:nvPr/>
        </p:nvSpPr>
        <p:spPr bwMode="auto">
          <a:xfrm>
            <a:off x="0" y="4703739"/>
            <a:ext cx="91440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Component 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add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(Component comp)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Appends the specified component to the end of this container.</a:t>
            </a: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363332-5F97-A43B-9307-01BFF4D18B13}"/>
              </a:ext>
            </a:extLst>
          </p:cNvPr>
          <p:cNvSpPr txBox="1">
            <a:spLocks/>
          </p:cNvSpPr>
          <p:nvPr/>
        </p:nvSpPr>
        <p:spPr bwMode="auto">
          <a:xfrm>
            <a:off x="0" y="1052513"/>
            <a:ext cx="8279476" cy="176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public class </a:t>
            </a:r>
            <a:r>
              <a:rPr lang="en-US" sz="2400" b="1" dirty="0">
                <a:solidFill>
                  <a:srgbClr val="000000"/>
                </a:solidFill>
                <a:latin typeface="Tahoma" panose="020B0604030504040204" pitchFamily="34" charset="0"/>
              </a:rPr>
              <a:t>Container </a:t>
            </a: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extends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dirty="0">
                <a:solidFill>
                  <a:srgbClr val="000000"/>
                </a:solidFill>
                <a:latin typeface="Tahoma" panose="020B0604030504040204" pitchFamily="34" charset="0"/>
              </a:rPr>
              <a:t>	Component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defRPr/>
            </a:pPr>
            <a:endParaRPr lang="el-GR" sz="2400" kern="0" dirty="0">
              <a:solidFill>
                <a:srgbClr val="000000"/>
              </a:solidFill>
              <a:latin typeface="Tahom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ED0DD7-37F6-CF7C-25D8-BA4709357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974" y="0"/>
            <a:ext cx="3756025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FFC9EB-E948-789C-E60B-102F6DF31475}"/>
              </a:ext>
            </a:extLst>
          </p:cNvPr>
          <p:cNvSpPr txBox="1">
            <a:spLocks/>
          </p:cNvSpPr>
          <p:nvPr/>
        </p:nvSpPr>
        <p:spPr bwMode="auto">
          <a:xfrm>
            <a:off x="79791" y="1976235"/>
            <a:ext cx="11369514" cy="176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A generic Abstract Window Toolkit(AWT) container object is a component that can contain other AWT components.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Components added to a container are tracked in a list. The order of the list will define the </a:t>
            </a:r>
            <a:r>
              <a:rPr kumimoji="0" lang="en-US" altLang="el-GR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components' front-to-back stacking order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within the container.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If no index is specified when adding a component to a container, it will be added to the end of the list (and hence to the bottom of the stacking order).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FAD06-0657-6640-63EA-DCA9DCEEAD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8101" y="6241514"/>
            <a:ext cx="9413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hlinkClick r:id="" action="ppaction://noaction"/>
              </a:rPr>
              <a:t>example</a:t>
            </a:r>
            <a:endParaRPr kumimoji="0" lang="el-GR" altLang="el-G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C6A121CF-FBDC-6153-C8A5-1C3572FC72E7}"/>
              </a:ext>
            </a:extLst>
          </p:cNvPr>
          <p:cNvSpPr/>
          <p:nvPr/>
        </p:nvSpPr>
        <p:spPr>
          <a:xfrm>
            <a:off x="2125682" y="5657279"/>
            <a:ext cx="8302752" cy="712089"/>
          </a:xfrm>
          <a:prstGeom prst="wedgeRoundRectCallout">
            <a:avLst>
              <a:gd name="adj1" fmla="val -54533"/>
              <a:gd name="adj2" fmla="val 100783"/>
              <a:gd name="adj3" fmla="val 16667"/>
            </a:avLst>
          </a:prstGeom>
          <a:solidFill>
            <a:srgbClr val="FFFF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l-GR" sz="2400" dirty="0">
                <a:solidFill>
                  <a:schemeClr val="tx1"/>
                </a:solidFill>
              </a:rPr>
              <a:t>Δώστε μια υλοποίηση της </a:t>
            </a:r>
            <a:r>
              <a:rPr lang="en-GB" sz="2400" dirty="0" err="1">
                <a:solidFill>
                  <a:schemeClr val="tx1"/>
                </a:solidFill>
              </a:rPr>
              <a:t>WindowsApp</a:t>
            </a:r>
            <a:r>
              <a:rPr lang="en-GB" sz="2400" dirty="0">
                <a:solidFill>
                  <a:schemeClr val="tx1"/>
                </a:solidFill>
              </a:rPr>
              <a:t> </a:t>
            </a:r>
            <a:r>
              <a:rPr lang="el-GR" sz="2400" dirty="0">
                <a:solidFill>
                  <a:schemeClr val="tx1"/>
                </a:solidFill>
              </a:rPr>
              <a:t>η οποία θα αξιοποιεί την παραπάνω λειτουργικότητα της </a:t>
            </a:r>
            <a:r>
              <a:rPr lang="en-GB" sz="2400" dirty="0">
                <a:solidFill>
                  <a:schemeClr val="tx1"/>
                </a:solidFill>
              </a:rPr>
              <a:t>Container.</a:t>
            </a:r>
          </a:p>
        </p:txBody>
      </p:sp>
    </p:spTree>
    <p:extLst>
      <p:ext uri="{BB962C8B-B14F-4D97-AF65-F5344CB8AC3E}">
        <p14:creationId xmlns:p14="http://schemas.microsoft.com/office/powerpoint/2010/main" val="17183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9" grpId="0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Iteration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3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 - Add a </a:t>
            </a:r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TextField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1C83DF3-8EEA-105C-11A3-25C11088D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58816"/>
            <a:ext cx="4588625" cy="1704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l-GR" altLang="el-GR" sz="2800" kern="0" dirty="0">
                <a:latin typeface="Times New Roman" panose="02020603050405020304" pitchFamily="18" charset="0"/>
              </a:rPr>
              <a:t>Προσθέστε στο πλαίσιο που αναπτύξατε ένα </a:t>
            </a:r>
            <a:r>
              <a:rPr lang="en-US" altLang="el-GR" sz="2800" kern="0" dirty="0">
                <a:latin typeface="Times New Roman" panose="02020603050405020304" pitchFamily="18" charset="0"/>
              </a:rPr>
              <a:t>instance </a:t>
            </a:r>
            <a:r>
              <a:rPr lang="el-GR" altLang="el-GR" sz="2800" kern="0" dirty="0">
                <a:latin typeface="Times New Roman" panose="02020603050405020304" pitchFamily="18" charset="0"/>
              </a:rPr>
              <a:t>της </a:t>
            </a:r>
            <a:r>
              <a:rPr lang="en-US" altLang="el-GR" sz="2800" kern="0" dirty="0" err="1">
                <a:latin typeface="Times New Roman" panose="02020603050405020304" pitchFamily="18" charset="0"/>
              </a:rPr>
              <a:t>TextField</a:t>
            </a:r>
            <a:r>
              <a:rPr lang="en-US" altLang="el-GR" sz="2800" kern="0" dirty="0">
                <a:latin typeface="Times New Roman" panose="02020603050405020304" pitchFamily="18" charset="0"/>
              </a:rPr>
              <a:t> </a:t>
            </a:r>
            <a:r>
              <a:rPr lang="el-GR" altLang="el-GR" sz="2800" kern="0" dirty="0">
                <a:latin typeface="Times New Roman" panose="02020603050405020304" pitchFamily="18" charset="0"/>
              </a:rPr>
              <a:t>όπως φαίνεται στο παρακάτω σχήμα.</a:t>
            </a:r>
            <a:endParaRPr lang="en-US" altLang="el-GR" sz="2800" kern="0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l-GR" sz="2800" kern="0" dirty="0">
              <a:latin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2FDE4B0-CF60-60A6-29DD-693F694E8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448C32B-0F90-5177-C178-D26006C47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76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307F7D7F-F819-7E23-277A-30DECC303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145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3CF6FE13-48FC-C496-7A80-046253F3AD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9316629"/>
              </p:ext>
            </p:extLst>
          </p:nvPr>
        </p:nvGraphicFramePr>
        <p:xfrm>
          <a:off x="303975" y="2810348"/>
          <a:ext cx="2875849" cy="2997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715004" imgH="2828571" progId="Paint.Picture">
                  <p:embed/>
                </p:oleObj>
              </mc:Choice>
              <mc:Fallback>
                <p:oleObj name="Bitmap Image" r:id="rId3" imgW="2715004" imgH="2828571" progId="Paint.Picture">
                  <p:embed/>
                  <p:pic>
                    <p:nvPicPr>
                      <p:cNvPr id="9218" name="Object 10">
                        <a:extLst>
                          <a:ext uri="{FF2B5EF4-FFF2-40B4-BE49-F238E27FC236}">
                            <a16:creationId xmlns:a16="http://schemas.microsoft.com/office/drawing/2014/main" id="{62603E52-703F-4D49-9DEE-5C193EEB7C7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975" y="2810348"/>
                        <a:ext cx="2875849" cy="29971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458FF2D-C9DD-7A0A-CD07-ACE475928532}"/>
              </a:ext>
            </a:extLst>
          </p:cNvPr>
          <p:cNvSpPr txBox="1">
            <a:spLocks/>
          </p:cNvSpPr>
          <p:nvPr/>
        </p:nvSpPr>
        <p:spPr bwMode="auto">
          <a:xfrm>
            <a:off x="4189615" y="4779771"/>
            <a:ext cx="8002385" cy="1740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n-US" altLang="el-GR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TextField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(String text, int columns) </a:t>
            </a:r>
            <a:b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Constructs a new text field initialized with the specified text to be displayed, and wide enough to hold the specified number of columns.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7ECB5133-D0B1-28E3-4267-76A31104D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9760" y="21092"/>
            <a:ext cx="2682240" cy="139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8106B22-F0DB-2793-E3E2-792656C570E3}"/>
              </a:ext>
            </a:extLst>
          </p:cNvPr>
          <p:cNvSpPr txBox="1">
            <a:spLocks/>
          </p:cNvSpPr>
          <p:nvPr/>
        </p:nvSpPr>
        <p:spPr bwMode="auto">
          <a:xfrm>
            <a:off x="4854633" y="1289505"/>
            <a:ext cx="7086542" cy="2997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defRPr/>
            </a:pP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A TextField object is a text 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2800" dirty="0">
                <a:solidFill>
                  <a:srgbClr val="000000"/>
                </a:solidFill>
                <a:latin typeface="Tahoma" panose="020B0604030504040204" pitchFamily="34" charset="0"/>
              </a:rPr>
              <a:t>	component that allows for the editing of a single line of text.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endParaRPr lang="en-US" sz="28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defRPr/>
            </a:pPr>
            <a:r>
              <a:rPr lang="en-US" sz="3200" dirty="0">
                <a:solidFill>
                  <a:srgbClr val="000000"/>
                </a:solidFill>
                <a:latin typeface="Tahoma" panose="020B0604030504040204" pitchFamily="34" charset="0"/>
              </a:rPr>
              <a:t>public class </a:t>
            </a:r>
            <a:r>
              <a:rPr lang="en-US" sz="3200" b="1" dirty="0">
                <a:solidFill>
                  <a:srgbClr val="000000"/>
                </a:solidFill>
                <a:latin typeface="Tahoma" panose="020B0604030504040204" pitchFamily="34" charset="0"/>
              </a:rPr>
              <a:t>TextField </a:t>
            </a:r>
            <a:r>
              <a:rPr lang="en-US" sz="3200" dirty="0">
                <a:solidFill>
                  <a:srgbClr val="000000"/>
                </a:solidFill>
                <a:latin typeface="Tahoma" panose="020B0604030504040204" pitchFamily="34" charset="0"/>
              </a:rPr>
              <a:t>extends </a:t>
            </a:r>
            <a:r>
              <a:rPr lang="en-US" sz="3200" dirty="0" err="1">
                <a:solidFill>
                  <a:srgbClr val="000000"/>
                </a:solidFill>
                <a:latin typeface="Tahoma" panose="020B0604030504040204" pitchFamily="34" charset="0"/>
              </a:rPr>
              <a:t>TextComponent</a:t>
            </a:r>
            <a:endParaRPr lang="en-US" sz="32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Char char="n"/>
              <a:defRPr/>
            </a:pPr>
            <a:endParaRPr lang="el-GR" sz="3200" kern="0" dirty="0">
              <a:solidFill>
                <a:srgbClr val="000000"/>
              </a:solidFill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076547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Appending a </a:t>
            </a:r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TextField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CA21077-D84C-185C-5903-C64B65892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466" y="1046879"/>
            <a:ext cx="903605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import 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java.awt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.*;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import </a:t>
            </a:r>
            <a:r>
              <a:rPr kumimoji="0" lang="en-US" altLang="el-G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java.awt.event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.*;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public class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CalculatorGui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extends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99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Frame{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  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  public </a:t>
            </a:r>
            <a:r>
              <a:rPr kumimoji="0" lang="en-US" altLang="el-GR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CalculatorGui</a:t>
            </a: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(){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super("JAVA Polish Reverse Calculator");</a:t>
            </a: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…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kumimoji="0" lang="en-US" altLang="el-GR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A6D8995-B85E-26F3-D436-929663835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515" y="3429000"/>
            <a:ext cx="10656917" cy="273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  <a:defRPr/>
            </a:pPr>
            <a:r>
              <a:rPr lang="en-US" sz="2400" kern="0" dirty="0">
                <a:solidFill>
                  <a:srgbClr val="000000"/>
                </a:solidFill>
                <a:latin typeface="Tahoma"/>
              </a:rPr>
              <a:t>display = </a:t>
            </a:r>
            <a:r>
              <a:rPr lang="en-US" sz="2400" b="1" kern="0" dirty="0">
                <a:solidFill>
                  <a:srgbClr val="000000"/>
                </a:solidFill>
                <a:latin typeface="Tahoma"/>
              </a:rPr>
              <a:t>new </a:t>
            </a:r>
            <a:r>
              <a:rPr lang="en-US" sz="2400" b="1" kern="0" dirty="0" err="1">
                <a:solidFill>
                  <a:srgbClr val="000000"/>
                </a:solidFill>
                <a:latin typeface="Tahoma"/>
              </a:rPr>
              <a:t>TextField</a:t>
            </a:r>
            <a:r>
              <a:rPr lang="en-US" sz="2400" b="1" kern="0" dirty="0">
                <a:solidFill>
                  <a:srgbClr val="000000"/>
                </a:solidFill>
                <a:latin typeface="Tahoma"/>
              </a:rPr>
              <a:t>("0",14);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  <a:defRPr/>
            </a:pPr>
            <a:r>
              <a:rPr lang="en-US" sz="2400" kern="0" dirty="0" err="1">
                <a:solidFill>
                  <a:srgbClr val="000000"/>
                </a:solidFill>
                <a:latin typeface="Tahoma"/>
              </a:rPr>
              <a:t>display.setEditable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sz="2400" b="1" kern="0" dirty="0">
                <a:solidFill>
                  <a:srgbClr val="000000"/>
                </a:solidFill>
                <a:latin typeface="Tahoma"/>
              </a:rPr>
              <a:t>false);  </a:t>
            </a:r>
            <a:r>
              <a:rPr lang="en-US" sz="2400" kern="0" dirty="0">
                <a:solidFill>
                  <a:srgbClr val="000000"/>
                </a:solidFill>
                <a:latin typeface="Tahoma"/>
              </a:rPr>
              <a:t>//disable editing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GB" b="1" kern="0" dirty="0">
                <a:solidFill>
                  <a:srgbClr val="FF0000"/>
                </a:solidFill>
                <a:latin typeface="Tahoma"/>
              </a:rPr>
              <a:t>	// </a:t>
            </a:r>
            <a:r>
              <a:rPr lang="en-US" kern="0" dirty="0">
                <a:solidFill>
                  <a:srgbClr val="000000"/>
                </a:solidFill>
                <a:latin typeface="Tahoma"/>
              </a:rPr>
              <a:t>public void </a:t>
            </a:r>
            <a:r>
              <a:rPr lang="en-US" b="1" kern="0" dirty="0" err="1">
                <a:solidFill>
                  <a:srgbClr val="000000"/>
                </a:solidFill>
                <a:latin typeface="Tahoma"/>
              </a:rPr>
              <a:t>setBounds</a:t>
            </a:r>
            <a:r>
              <a:rPr lang="en-US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kern="0" dirty="0">
                <a:solidFill>
                  <a:srgbClr val="000000"/>
                </a:solidFill>
                <a:latin typeface="Tahoma"/>
                <a:hlinkClick r:id="rId3" action="ppaction://hlinkfile" tooltip="class in java.awt"/>
              </a:rPr>
              <a:t>Rectangle</a:t>
            </a:r>
            <a:r>
              <a:rPr lang="en-US" kern="0" dirty="0">
                <a:solidFill>
                  <a:srgbClr val="000000"/>
                </a:solidFill>
                <a:latin typeface="Tahoma"/>
              </a:rPr>
              <a:t> r) 	- x=13, y=55, w=257, h=30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kern="0" dirty="0">
                <a:solidFill>
                  <a:srgbClr val="000000"/>
                </a:solidFill>
                <a:latin typeface="Tahoma"/>
              </a:rPr>
              <a:t>		//</a:t>
            </a:r>
            <a:r>
              <a:rPr lang="en-US" sz="1600" kern="0" dirty="0">
                <a:solidFill>
                  <a:srgbClr val="000000"/>
                </a:solidFill>
                <a:latin typeface="Tahoma"/>
              </a:rPr>
              <a:t>Moves and resizes this component to conform to the new bounding rectangle r. This component's 	//new position is specified by </a:t>
            </a:r>
            <a:r>
              <a:rPr lang="en-US" sz="1600" kern="0" dirty="0" err="1">
                <a:solidFill>
                  <a:srgbClr val="000000"/>
                </a:solidFill>
                <a:latin typeface="Tahoma"/>
              </a:rPr>
              <a:t>r.x</a:t>
            </a:r>
            <a:r>
              <a:rPr lang="en-US" sz="1600" kern="0" dirty="0">
                <a:solidFill>
                  <a:srgbClr val="000000"/>
                </a:solidFill>
                <a:latin typeface="Tahoma"/>
              </a:rPr>
              <a:t> and </a:t>
            </a:r>
            <a:r>
              <a:rPr lang="en-US" sz="1600" kern="0" dirty="0" err="1">
                <a:solidFill>
                  <a:srgbClr val="000000"/>
                </a:solidFill>
                <a:latin typeface="Tahoma"/>
              </a:rPr>
              <a:t>r.y</a:t>
            </a:r>
            <a:r>
              <a:rPr lang="en-US" sz="1600" kern="0" dirty="0">
                <a:solidFill>
                  <a:srgbClr val="000000"/>
                </a:solidFill>
                <a:latin typeface="Tahoma"/>
              </a:rPr>
              <a:t>, and its new size is specified by </a:t>
            </a:r>
            <a:r>
              <a:rPr lang="en-US" sz="1600" kern="0" dirty="0" err="1">
                <a:solidFill>
                  <a:srgbClr val="000000"/>
                </a:solidFill>
                <a:latin typeface="Tahoma"/>
              </a:rPr>
              <a:t>r.width</a:t>
            </a:r>
            <a:r>
              <a:rPr lang="en-US" sz="1600" kern="0" dirty="0">
                <a:solidFill>
                  <a:srgbClr val="000000"/>
                </a:solidFill>
                <a:latin typeface="Tahoma"/>
              </a:rPr>
              <a:t> and </a:t>
            </a:r>
            <a:r>
              <a:rPr lang="en-US" sz="1600" kern="0" dirty="0" err="1">
                <a:solidFill>
                  <a:srgbClr val="000000"/>
                </a:solidFill>
                <a:latin typeface="Tahoma"/>
              </a:rPr>
              <a:t>r.height</a:t>
            </a:r>
            <a:r>
              <a:rPr lang="en-GB" sz="1600" b="1" kern="0" dirty="0">
                <a:solidFill>
                  <a:srgbClr val="FF0000"/>
                </a:solidFill>
                <a:latin typeface="Tahoma"/>
              </a:rPr>
              <a:t> </a:t>
            </a:r>
            <a:endParaRPr lang="en-US" b="1" kern="0" dirty="0">
              <a:solidFill>
                <a:srgbClr val="FF0000"/>
              </a:solidFill>
              <a:latin typeface="Tahoma"/>
            </a:endParaRP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  <a:defRPr/>
            </a:pPr>
            <a:r>
              <a:rPr lang="en-GB" sz="2400" b="1" kern="0" dirty="0">
                <a:solidFill>
                  <a:srgbClr val="FF0000"/>
                </a:solidFill>
                <a:highlight>
                  <a:srgbClr val="FFFF00"/>
                </a:highlight>
                <a:latin typeface="Tahoma"/>
              </a:rPr>
              <a:t>//</a:t>
            </a:r>
            <a:r>
              <a:rPr lang="en-US" sz="2400" kern="0" dirty="0">
                <a:solidFill>
                  <a:srgbClr val="000000"/>
                </a:solidFill>
                <a:highlight>
                  <a:srgbClr val="FFFF00"/>
                </a:highlight>
                <a:latin typeface="Tahoma"/>
              </a:rPr>
              <a:t> </a:t>
            </a:r>
            <a:r>
              <a:rPr lang="en-US" sz="2400" b="1" kern="0" dirty="0">
                <a:solidFill>
                  <a:srgbClr val="C00000"/>
                </a:solidFill>
                <a:highlight>
                  <a:srgbClr val="FFFF00"/>
                </a:highlight>
                <a:latin typeface="Tahoma"/>
              </a:rPr>
              <a:t>Append display to the end of this </a:t>
            </a:r>
            <a:r>
              <a:rPr lang="en-US" sz="2400" b="1" kern="0" dirty="0" err="1">
                <a:solidFill>
                  <a:srgbClr val="C00000"/>
                </a:solidFill>
                <a:highlight>
                  <a:srgbClr val="FFFF00"/>
                </a:highlight>
                <a:latin typeface="Tahoma"/>
              </a:rPr>
              <a:t>CalculatorGui</a:t>
            </a:r>
            <a:r>
              <a:rPr lang="en-US" sz="2400" b="1" kern="0" dirty="0">
                <a:solidFill>
                  <a:srgbClr val="C00000"/>
                </a:solidFill>
                <a:highlight>
                  <a:srgbClr val="FFFF00"/>
                </a:highlight>
                <a:latin typeface="Tahoma"/>
              </a:rPr>
              <a:t> container.</a:t>
            </a:r>
            <a:endParaRPr lang="en-US" sz="2400" b="1" kern="0" dirty="0">
              <a:solidFill>
                <a:srgbClr val="000000"/>
              </a:solidFill>
              <a:highlight>
                <a:srgbClr val="FFFF00"/>
              </a:highlight>
              <a:latin typeface="Tahoma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l-GR" sz="1600" b="1" kern="0" dirty="0">
                <a:solidFill>
                  <a:srgbClr val="000000"/>
                </a:solidFill>
                <a:latin typeface="Tahoma"/>
              </a:rPr>
              <a:t>	</a:t>
            </a:r>
            <a:r>
              <a:rPr lang="en-US" sz="1600" b="1" kern="0" dirty="0">
                <a:solidFill>
                  <a:srgbClr val="000000"/>
                </a:solidFill>
                <a:latin typeface="Tahoma"/>
              </a:rPr>
              <a:t>}  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r>
              <a:rPr lang="en-US" sz="1600" b="1" kern="0" dirty="0">
                <a:solidFill>
                  <a:srgbClr val="000000"/>
                </a:solidFill>
                <a:latin typeface="Tahoma"/>
              </a:rPr>
              <a:t>}		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en-US" sz="1600" b="1" kern="0" dirty="0">
              <a:solidFill>
                <a:srgbClr val="000000"/>
              </a:solidFill>
              <a:latin typeface="Tahoma"/>
            </a:endParaRP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  <a:defRPr/>
            </a:pPr>
            <a:endParaRPr lang="en-US" sz="1400" b="1" kern="0" dirty="0">
              <a:solidFill>
                <a:srgbClr val="000000"/>
              </a:solidFill>
              <a:latin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922915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Iteration </a:t>
            </a:r>
            <a:r>
              <a:rPr lang="el-GR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4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– Define the Action of Button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E8538D4-2214-7601-B64D-043EB5D47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2456" y="1266244"/>
            <a:ext cx="8178338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 Greek" panose="02020603050405020304" pitchFamily="18" charset="0"/>
                <a:ea typeface="Times New Roman Greek" panose="02020603050405020304" pitchFamily="18" charset="0"/>
                <a:cs typeface="Times New Roman Greek" panose="02020603050405020304" pitchFamily="18" charset="0"/>
              </a:rPr>
              <a:t>Define the action to happen when the button is pushed</a:t>
            </a:r>
            <a:endParaRPr kumimoji="0" lang="el-GR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 Greek" panose="02020603050405020304" pitchFamily="18" charset="0"/>
              <a:ea typeface="Times New Roman Greek" panose="02020603050405020304" pitchFamily="18" charset="0"/>
              <a:cs typeface="Times New Roman Greek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Τροποποιήστε την εφαρμογή ώστε πατώντας το κουμπί 0 να τυπώνεται στην οθόνη το μήνυμα “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button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0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pressed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”.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EC1D962-F2D3-576B-1ACC-829C0A5AD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8974D54-0847-E979-050D-19710FB4F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76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BD07FE93-4FDA-9D6C-6ABB-8AE5CFC062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4508500"/>
          <a:ext cx="5903913" cy="1525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5420482" imgH="1400000" progId="Paint.Picture">
                  <p:embed/>
                </p:oleObj>
              </mc:Choice>
              <mc:Fallback>
                <p:oleObj name="Bitmap Image" r:id="rId3" imgW="5420482" imgH="1400000" progId="Paint.Picture">
                  <p:embed/>
                  <p:pic>
                    <p:nvPicPr>
                      <p:cNvPr id="228359" name="Object 7">
                        <a:extLst>
                          <a:ext uri="{FF2B5EF4-FFF2-40B4-BE49-F238E27FC236}">
                            <a16:creationId xmlns:a16="http://schemas.microsoft.com/office/drawing/2014/main" id="{24DC676B-0EF9-4495-BA96-2503BB2E36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508500"/>
                        <a:ext cx="5903913" cy="1525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Oval 9">
            <a:extLst>
              <a:ext uri="{FF2B5EF4-FFF2-40B4-BE49-F238E27FC236}">
                <a16:creationId xmlns:a16="http://schemas.microsoft.com/office/drawing/2014/main" id="{0A631D95-38FE-3C62-071F-BD2F7AAE3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4365625"/>
            <a:ext cx="1150938" cy="2016125"/>
          </a:xfrm>
          <a:prstGeom prst="ellipse">
            <a:avLst/>
          </a:prstGeom>
          <a:solidFill>
            <a:srgbClr val="E8FE46">
              <a:alpha val="52156"/>
            </a:srgbClr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4" name="Explosion 1 8">
            <a:extLst>
              <a:ext uri="{FF2B5EF4-FFF2-40B4-BE49-F238E27FC236}">
                <a16:creationId xmlns:a16="http://schemas.microsoft.com/office/drawing/2014/main" id="{0B8AB0BF-06E4-2FDF-7C7D-89F873DAC88E}"/>
              </a:ext>
            </a:extLst>
          </p:cNvPr>
          <p:cNvSpPr>
            <a:spLocks noChangeArrowheads="1"/>
          </p:cNvSpPr>
          <p:nvPr/>
        </p:nvSpPr>
        <p:spPr bwMode="auto">
          <a:xfrm rot="1186890">
            <a:off x="8474155" y="4054301"/>
            <a:ext cx="3527425" cy="1079500"/>
          </a:xfrm>
          <a:prstGeom prst="irregularSeal1">
            <a:avLst/>
          </a:prstGeom>
          <a:solidFill>
            <a:srgbClr val="FFFF00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Event Handling</a:t>
            </a: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aphicFrame>
        <p:nvGraphicFramePr>
          <p:cNvPr id="15" name="Object 10">
            <a:extLst>
              <a:ext uri="{FF2B5EF4-FFF2-40B4-BE49-F238E27FC236}">
                <a16:creationId xmlns:a16="http://schemas.microsoft.com/office/drawing/2014/main" id="{52E1BDD8-03B7-0882-2383-9A483A7DB5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4574285"/>
              </p:ext>
            </p:extLst>
          </p:nvPr>
        </p:nvGraphicFramePr>
        <p:xfrm>
          <a:off x="111826" y="1221081"/>
          <a:ext cx="2875849" cy="2997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2715004" imgH="2828571" progId="Paint.Picture">
                  <p:embed/>
                </p:oleObj>
              </mc:Choice>
              <mc:Fallback>
                <p:oleObj name="Bitmap Image" r:id="rId5" imgW="2715004" imgH="2828571" progId="Paint.Picture">
                  <p:embed/>
                  <p:pic>
                    <p:nvPicPr>
                      <p:cNvPr id="12" name="Object 10">
                        <a:extLst>
                          <a:ext uri="{FF2B5EF4-FFF2-40B4-BE49-F238E27FC236}">
                            <a16:creationId xmlns:a16="http://schemas.microsoft.com/office/drawing/2014/main" id="{3CF6FE13-48FC-C496-7A80-046253F3AD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826" y="1221081"/>
                        <a:ext cx="2875849" cy="29971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6475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 fontScale="90000"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Iteration 5  - Set “</a:t>
            </a:r>
            <a:r>
              <a:rPr lang="en-GB" sz="4000" b="1" i="1" dirty="0">
                <a:solidFill>
                  <a:srgbClr val="F9853D"/>
                </a:solidFill>
                <a:latin typeface="Bahnschrift" panose="020B0502040204020203" pitchFamily="34" charset="0"/>
              </a:rPr>
              <a:t>:Button” 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to display </a:t>
            </a:r>
            <a:r>
              <a:rPr lang="en-GB" sz="3600" b="1" dirty="0">
                <a:solidFill>
                  <a:srgbClr val="F9853D"/>
                </a:solidFill>
                <a:latin typeface="Bahnschrift" panose="020B0502040204020203" pitchFamily="34" charset="0"/>
              </a:rPr>
              <a:t>…</a:t>
            </a:r>
            <a:r>
              <a:rPr lang="el-GR" sz="3600" b="1" dirty="0">
                <a:solidFill>
                  <a:srgbClr val="F9853D"/>
                </a:solidFill>
                <a:latin typeface="Bahnschrift" panose="020B0502040204020203" pitchFamily="34" charset="0"/>
              </a:rPr>
              <a:t> </a:t>
            </a:r>
            <a:r>
              <a:rPr lang="en-GB" sz="3100" b="1" dirty="0">
                <a:solidFill>
                  <a:srgbClr val="F9853D"/>
                </a:solidFill>
                <a:latin typeface="Bahnschrift" panose="020B0502040204020203" pitchFamily="34" charset="0"/>
              </a:rPr>
              <a:t>a message to “</a:t>
            </a:r>
            <a:r>
              <a:rPr lang="en-GB" sz="3100" b="1" i="1" dirty="0">
                <a:solidFill>
                  <a:srgbClr val="F9853D"/>
                </a:solidFill>
                <a:latin typeface="Bahnschrift" panose="020B0502040204020203" pitchFamily="34" charset="0"/>
              </a:rPr>
              <a:t>:</a:t>
            </a:r>
            <a:r>
              <a:rPr lang="en-GB" sz="3100" b="1" i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TextField</a:t>
            </a:r>
            <a:r>
              <a:rPr lang="en-GB" sz="3100" b="1" i="1" dirty="0">
                <a:solidFill>
                  <a:srgbClr val="F9853D"/>
                </a:solidFill>
                <a:latin typeface="Bahnschrift" panose="020B0502040204020203" pitchFamily="34" charset="0"/>
              </a:rPr>
              <a:t>”</a:t>
            </a:r>
            <a:endParaRPr lang="el-GR" sz="4000" b="1" i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C37787A-5937-33DB-EA4D-E44F63689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9AB1A1E-8743-C28E-8E54-DFCEB721D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764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F0A2096D-1516-F7AF-6046-FDCBF8C1D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0145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61C0FDA4-3A04-A9FC-50F4-C7A40DF2B3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122008"/>
              </p:ext>
            </p:extLst>
          </p:nvPr>
        </p:nvGraphicFramePr>
        <p:xfrm>
          <a:off x="0" y="805802"/>
          <a:ext cx="2527069" cy="2633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2715004" imgH="2828571" progId="Paint.Picture">
                  <p:embed/>
                </p:oleObj>
              </mc:Choice>
              <mc:Fallback>
                <p:oleObj name="Bitmap Image" r:id="rId3" imgW="2715004" imgH="2828571" progId="Paint.Picture">
                  <p:embed/>
                  <p:pic>
                    <p:nvPicPr>
                      <p:cNvPr id="10242" name="Object 10">
                        <a:extLst>
                          <a:ext uri="{FF2B5EF4-FFF2-40B4-BE49-F238E27FC236}">
                            <a16:creationId xmlns:a16="http://schemas.microsoft.com/office/drawing/2014/main" id="{95EA1D0B-1F92-4383-BB60-93695FEF42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805802"/>
                        <a:ext cx="2527069" cy="26337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3">
            <a:extLst>
              <a:ext uri="{FF2B5EF4-FFF2-40B4-BE49-F238E27FC236}">
                <a16:creationId xmlns:a16="http://schemas.microsoft.com/office/drawing/2014/main" id="{BED51C2B-50AB-FB9E-96E5-C35335327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0149" y="805802"/>
            <a:ext cx="9301182" cy="153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Τροποποιήστε την εφαρμογή ώστε πατώντας το κουμπί 0 να τυπώνεται το 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μήνυμα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“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button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 0 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pressed</a:t>
            </a: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</a:rPr>
              <a:t>”</a:t>
            </a:r>
            <a:r>
              <a:rPr kumimoji="0" lang="el-GR" altLang="el-GR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lang="el-GR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στο </a:t>
            </a:r>
            <a:r>
              <a:rPr lang="en-US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display</a:t>
            </a:r>
            <a:r>
              <a:rPr lang="el-GR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 της γραφικής </a:t>
            </a:r>
            <a:r>
              <a:rPr lang="el-GR" altLang="el-GR" sz="2800" kern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διεπαφής</a:t>
            </a:r>
            <a:r>
              <a:rPr lang="el-GR" altLang="el-GR" sz="2800" kern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en-US" altLang="el-GR" sz="2800" kern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E9C355CD-3105-016B-5471-61535F3711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0" y="2583696"/>
            <a:ext cx="367188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Internal-object to user interaction</a:t>
            </a:r>
          </a:p>
        </p:txBody>
      </p:sp>
      <p:graphicFrame>
        <p:nvGraphicFramePr>
          <p:cNvPr id="16" name="Object 4">
            <a:extLst>
              <a:ext uri="{FF2B5EF4-FFF2-40B4-BE49-F238E27FC236}">
                <a16:creationId xmlns:a16="http://schemas.microsoft.com/office/drawing/2014/main" id="{F81102BE-AD92-71DC-2BCC-70C3C05BBF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768792"/>
              </p:ext>
            </p:extLst>
          </p:nvPr>
        </p:nvGraphicFramePr>
        <p:xfrm>
          <a:off x="2027237" y="4205753"/>
          <a:ext cx="8137525" cy="218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4839375" imgH="1295238" progId="Paint.Picture">
                  <p:embed/>
                </p:oleObj>
              </mc:Choice>
              <mc:Fallback>
                <p:oleObj name="Bitmap Image" r:id="rId5" imgW="4839375" imgH="1295238" progId="Paint.Picture">
                  <p:embed/>
                  <p:pic>
                    <p:nvPicPr>
                      <p:cNvPr id="11266" name="Object 4">
                        <a:extLst>
                          <a:ext uri="{FF2B5EF4-FFF2-40B4-BE49-F238E27FC236}">
                            <a16:creationId xmlns:a16="http://schemas.microsoft.com/office/drawing/2014/main" id="{A7AA15EF-D96F-42DE-A648-0FE1022786C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7237" y="4205753"/>
                        <a:ext cx="8137525" cy="218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WordArt 5">
            <a:extLst>
              <a:ext uri="{FF2B5EF4-FFF2-40B4-BE49-F238E27FC236}">
                <a16:creationId xmlns:a16="http://schemas.microsoft.com/office/drawing/2014/main" id="{C5D3BD62-7201-F43C-AA27-7762D89DEB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 rot="20256424">
            <a:off x="7259475" y="3590703"/>
            <a:ext cx="1944688" cy="88423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600" kern="10" dirty="0" err="1">
                <a:ln w="9525">
                  <a:solidFill>
                    <a:srgbClr val="990000"/>
                  </a:solidFill>
                  <a:miter lim="800000"/>
                  <a:headEnd/>
                  <a:tailEnd/>
                </a:ln>
                <a:solidFill>
                  <a:srgbClr val="990000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Times New Roman Greek" panose="02020603050405020304" pitchFamily="18" charset="0"/>
                <a:cs typeface="Times New Roman Greek" panose="02020603050405020304" pitchFamily="18" charset="0"/>
              </a:rPr>
              <a:t>TextField</a:t>
            </a:r>
            <a:endParaRPr lang="el-GR" sz="3600" kern="10" dirty="0">
              <a:ln w="9525">
                <a:solidFill>
                  <a:srgbClr val="990000"/>
                </a:solidFill>
                <a:miter lim="800000"/>
                <a:headEnd/>
                <a:tailEnd/>
              </a:ln>
              <a:solidFill>
                <a:srgbClr val="990000"/>
              </a:solidFill>
              <a:effectLst>
                <a:outerShdw dist="45791" dir="2021404" algn="ctr" rotWithShape="0">
                  <a:srgbClr val="B2B2B2">
                    <a:alpha val="79999"/>
                  </a:srgbClr>
                </a:outerShdw>
              </a:effectLst>
              <a:latin typeface="Times New Roman Greek" panose="02020603050405020304" pitchFamily="18" charset="0"/>
              <a:cs typeface="Times New Roman Greek" panose="02020603050405020304" pitchFamily="18" charset="0"/>
            </a:endParaRPr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993DBB3B-09EB-184F-6CCB-26013EA7B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7237" y="4181940"/>
            <a:ext cx="2520950" cy="431800"/>
          </a:xfrm>
          <a:prstGeom prst="rect">
            <a:avLst/>
          </a:prstGeom>
          <a:solidFill>
            <a:srgbClr val="00E4A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Button0:Button</a:t>
            </a: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063DD228-C403-AF1D-1B88-FB1CB885F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5662" y="4972515"/>
            <a:ext cx="1800225" cy="36036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0" name="Text Box 8">
            <a:extLst>
              <a:ext uri="{FF2B5EF4-FFF2-40B4-BE49-F238E27FC236}">
                <a16:creationId xmlns:a16="http://schemas.microsoft.com/office/drawing/2014/main" id="{C59DD15F-C208-0388-28AD-EFD043C6B6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862" y="5045540"/>
            <a:ext cx="3454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 panose="020B0604030504040204" pitchFamily="34" charset="0"/>
              </a:rPr>
              <a:t>setText</a:t>
            </a:r>
            <a:r>
              <a:rPr kumimoji="0" lang="en-US" altLang="el-GR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(“button 0 pressed”)</a:t>
            </a: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2A833174-712C-6503-9C03-6D14C6F81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5750" y="5285253"/>
            <a:ext cx="2520950" cy="431800"/>
          </a:xfrm>
          <a:prstGeom prst="rect">
            <a:avLst/>
          </a:prstGeom>
          <a:solidFill>
            <a:srgbClr val="F5FE4A"/>
          </a:solidFill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button 0 pressed</a:t>
            </a:r>
            <a:endParaRPr kumimoji="0" lang="el-GR" altLang="el-GR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B059451A-DF72-0BAE-775A-F0F433E61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118" y="3309746"/>
            <a:ext cx="367188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l-GR" sz="3200" kern="0" dirty="0">
                <a:solidFill>
                  <a:srgbClr val="333399"/>
                </a:solidFill>
                <a:latin typeface="Tahoma"/>
              </a:rPr>
              <a:t>U</a:t>
            </a: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  <a:t>ser to internal-object interaction</a:t>
            </a:r>
          </a:p>
        </p:txBody>
      </p:sp>
    </p:spTree>
    <p:extLst>
      <p:ext uri="{BB962C8B-B14F-4D97-AF65-F5344CB8AC3E}">
        <p14:creationId xmlns:p14="http://schemas.microsoft.com/office/powerpoint/2010/main" val="28059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l-GR" sz="4000" b="1">
                <a:solidFill>
                  <a:srgbClr val="F9853D"/>
                </a:solidFill>
                <a:latin typeface="Bahnschrift" panose="020B0502040204020203" pitchFamily="34" charset="0"/>
              </a:rPr>
              <a:t>Οργάνωση Διάλεξης</a:t>
            </a: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4" name="Θέση υποσέλιδου 4">
            <a:extLst>
              <a:ext uri="{FF2B5EF4-FFF2-40B4-BE49-F238E27FC236}">
                <a16:creationId xmlns:a16="http://schemas.microsoft.com/office/drawing/2014/main" id="{7F6942A4-157B-B348-EE86-A8A686FE3BF3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D89BE2E-3D4F-1AAB-24BF-74879444A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84313"/>
            <a:ext cx="8345487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Internal vs. external messages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Abstract window toolkit (</a:t>
            </a:r>
            <a:r>
              <a:rPr kumimoji="0" lang="en-US" altLang="el-GR" sz="320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awt</a:t>
            </a:r>
            <a:r>
              <a:rPr kumimoji="0" lang="en-US" altLang="el-GR" sz="3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Frame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Button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TextField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GUIs </a:t>
            </a:r>
            <a:r>
              <a:rPr kumimoji="0" lang="el-GR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στην </a:t>
            </a: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Java	</a:t>
            </a:r>
          </a:p>
          <a:p>
            <a:pPr lvl="1" indent="-342900" eaLnBrk="1" hangingPunct="1">
              <a:buClr>
                <a:srgbClr val="3333CC"/>
              </a:buClr>
              <a:buSzPct val="60000"/>
            </a:pPr>
            <a:r>
              <a:rPr lang="en-US" altLang="el-GR" b="1" kern="0" dirty="0">
                <a:solidFill>
                  <a:srgbClr val="000000"/>
                </a:solidFill>
                <a:latin typeface="Tahoma"/>
              </a:rPr>
              <a:t>a</a:t>
            </a:r>
            <a:r>
              <a:rPr kumimoji="0" lang="en-US" altLang="el-GR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wt</a:t>
            </a:r>
            <a:endParaRPr kumimoji="0" lang="en-US" altLang="el-GR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lvl="1" indent="-342900" eaLnBrk="1" hangingPunct="1">
              <a:buClr>
                <a:srgbClr val="3333CC"/>
              </a:buClr>
              <a:buSzPct val="60000"/>
            </a:pPr>
            <a:r>
              <a:rPr lang="en-US" altLang="el-GR" b="1" kern="0" dirty="0">
                <a:solidFill>
                  <a:srgbClr val="000000"/>
                </a:solidFill>
                <a:latin typeface="Tahoma"/>
              </a:rPr>
              <a:t>swing</a:t>
            </a:r>
          </a:p>
          <a:p>
            <a:pPr lvl="1" indent="-342900" eaLnBrk="1" hangingPunct="1">
              <a:buClr>
                <a:srgbClr val="3333CC"/>
              </a:buClr>
              <a:buSzPct val="60000"/>
            </a:pPr>
            <a:r>
              <a:rPr kumimoji="0" lang="en-US" altLang="el-GR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swt</a:t>
            </a:r>
            <a:endParaRPr kumimoji="0" lang="en-US" altLang="el-GR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GB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02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Java’s GUI tool kits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D1F56F-6892-05BA-4458-4C5D5CAF0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1125538"/>
            <a:ext cx="10756669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AWT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Abstract Windows Toolkit (AWT) is the original Java GUI tool kit introduced with JDK 1.0.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Swing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Java Swing was an attempt to solve most of AWT's shortcomings. In Swing, Sun created </a:t>
            </a: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a very well-engineered, flexible, powerful </a:t>
            </a: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GUI tool kit. Unfortunately, this means Swing takes </a:t>
            </a: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time to learn</a:t>
            </a: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, and it is sometimes </a:t>
            </a:r>
            <a:r>
              <a:rPr kumimoji="0" lang="en-US" altLang="el-GR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too complex</a:t>
            </a:r>
            <a:r>
              <a:rPr kumimoji="0" lang="en-US" altLang="el-GR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for common situations. Was introduced by Sun in J2SE 1.2</a:t>
            </a:r>
            <a:endParaRPr kumimoji="0" lang="en-US" altLang="el-GR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SWT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Standard Widget Toolkit (SWT) is a low-level GUI tool kit comparable in concept to AWT. The builders of SWT learned from the AWT and Swing implementations and tried to build a system that had the advantages of both without their disadvantages.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1D5400E-543C-4BEF-8EB4-979CE4970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37288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Πηγή:</a:t>
            </a:r>
            <a:r>
              <a:rPr kumimoji="0" lang="el-GR" altLang="el-G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US" altLang="el-G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SWT, Swing or AWT: Which is right for you?</a:t>
            </a:r>
            <a:r>
              <a:rPr kumimoji="0" lang="el-GR" altLang="el-G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US" altLang="el-GR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What to consider when choosing a GUI tool kit for new applications</a:t>
            </a:r>
            <a:r>
              <a:rPr kumimoji="0" lang="el-GR" altLang="el-GR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</a:t>
            </a:r>
            <a:r>
              <a:rPr kumimoji="0" lang="en-US" altLang="el-GR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hlinkClick r:id="rId3"/>
              </a:rPr>
              <a:t>link</a:t>
            </a:r>
            <a:endParaRPr kumimoji="0" lang="en-US" altLang="el-G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" name="Rounded Rectangular Callout 4">
            <a:extLst>
              <a:ext uri="{FF2B5EF4-FFF2-40B4-BE49-F238E27FC236}">
                <a16:creationId xmlns:a16="http://schemas.microsoft.com/office/drawing/2014/main" id="{E5976EE1-6B31-9550-5F7C-43BEED957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944" y="5039848"/>
            <a:ext cx="10492238" cy="1038689"/>
          </a:xfrm>
          <a:prstGeom prst="wedgeRoundRectCallout">
            <a:avLst>
              <a:gd name="adj1" fmla="val 287"/>
              <a:gd name="adj2" fmla="val 68514"/>
              <a:gd name="adj3" fmla="val 16667"/>
            </a:avLst>
          </a:prstGeom>
          <a:solidFill>
            <a:srgbClr val="FFFF00"/>
          </a:solidFill>
          <a:ln w="9525" algn="ctr">
            <a:solidFill>
              <a:schemeClr val="bg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Why is there more than one Java™ GUI tool kit? The best answer is that </a:t>
            </a:r>
            <a:r>
              <a:rPr kumimoji="0" lang="en-US" altLang="el-GR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one size does not fit all</a:t>
            </a: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,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nor is there a one-size-fits-all GUI tool kit to be invented soon. Each tool kit offers advantages and 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disadvantages that make selecting one more appropriate, given your needs and intended audience.</a:t>
            </a:r>
            <a:endParaRPr kumimoji="0" lang="el-GR" altLang="el-G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06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		AWT 					SWING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053191D-83CD-8B72-ED53-F1A9F5FA7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79" y="758816"/>
            <a:ext cx="4971010" cy="4478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(Abstract Windows Toolkit)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en-US" altLang="el-GR" sz="2800" kern="0" dirty="0">
                <a:solidFill>
                  <a:srgbClr val="000000"/>
                </a:solidFill>
                <a:latin typeface="Tahoma"/>
              </a:rPr>
              <a:t>	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is the original Java GUI tool kit.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AWT's main advantages are that 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it comes standard with every version of Java technology, including Java implementations in old Web browsers, and 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it is very stable.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This means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you do not need to install it, 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you can depend on it being available everywhere you find a Java runtime environment, and </a:t>
            </a:r>
          </a:p>
          <a:p>
            <a:pPr marL="1143000" marR="0" lvl="2" indent="-2286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5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it will have the features you expect.</a:t>
            </a:r>
            <a:endParaRPr kumimoji="0" lang="en-US" altLang="el-G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D85DFCD-E15E-5CB3-2DE8-2EA229D06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7989" y="758816"/>
            <a:ext cx="6714011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None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		SWING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also known as a part of the </a:t>
            </a:r>
            <a:r>
              <a:rPr kumimoji="0" lang="en-US" altLang="el-GR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Java Foundation Classes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(JFC),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was an attempt to solve most of AWT's shortcomings.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In Swing, Sun created a very well-engineered, flexible, powerful GUI tool kit. Unfortunately, this means </a:t>
            </a:r>
            <a:r>
              <a:rPr kumimoji="0" lang="en-US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Swing takes time to learn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, and </a:t>
            </a:r>
            <a:r>
              <a:rPr kumimoji="0" lang="en-US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it is sometimes too complex for common situations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Swing is built on parts of AWT. All Swing parts are also AWT parts. Swing </a:t>
            </a:r>
            <a:r>
              <a:rPr kumimoji="0" lang="en-US" altLang="el-GR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</a:rPr>
              <a:t>uses the AWT event model </a:t>
            </a: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and support classes, such as Colors, Images, and Graphics. 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far more extensive than that supplied by AWT and compares well to the SWT set.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n-US" altLang="el-GR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83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SWT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AD16487-109B-E6C7-2E9A-B1F2B4CEF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693" y="902653"/>
            <a:ext cx="10533972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Low-level GUI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Standard Widget Toolkit (SWT) is a low-level GUI tool kit comparable in concept to AWT.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Makes building GUIs easier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JFace</a:t>
            </a: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 is a set of enhanced components and utility services to make building GUIs with SWT easier. 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Was built on AWT and Swing advantages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</a:rPr>
              <a:t>The builders of SWT learned from the AWT and Swing implementations and tried to build a system that had the advantages of both without their disadvantages. In many ways, they succeeded.</a:t>
            </a:r>
            <a:endParaRPr kumimoji="0" lang="en-US" altLang="el-GR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7AFE58E3-C9EB-F748-562F-27223551C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237288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el-GR" sz="120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</a:rPr>
              <a:t>Πηγή:</a:t>
            </a:r>
            <a:r>
              <a:rPr kumimoji="0" lang="el-GR" altLang="el-G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US" altLang="el-G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SWT, Swing or AWT: Which is right for you?</a:t>
            </a:r>
            <a:r>
              <a:rPr kumimoji="0" lang="el-GR" altLang="el-G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</a:t>
            </a:r>
            <a:r>
              <a:rPr kumimoji="0" lang="en-US" altLang="el-GR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What to consider when choosing a GUI tool kit for new applications</a:t>
            </a:r>
            <a:r>
              <a:rPr kumimoji="0" lang="el-GR" altLang="el-GR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  </a:t>
            </a:r>
            <a:r>
              <a:rPr kumimoji="0" lang="en-US" altLang="el-GR" sz="12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hlinkClick r:id="rId3"/>
              </a:rPr>
              <a:t>link</a:t>
            </a:r>
            <a:endParaRPr kumimoji="0" lang="en-US" altLang="el-G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l-GR" altLang="el-GR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1101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4">
            <a:extLst>
              <a:ext uri="{FF2B5EF4-FFF2-40B4-BE49-F238E27FC236}">
                <a16:creationId xmlns:a16="http://schemas.microsoft.com/office/drawing/2014/main" id="{A45E527C-C30C-4C32-A47C-EDC76909002F}"/>
              </a:ext>
            </a:extLst>
          </p:cNvPr>
          <p:cNvSpPr/>
          <p:nvPr/>
        </p:nvSpPr>
        <p:spPr>
          <a:xfrm>
            <a:off x="0" y="6599394"/>
            <a:ext cx="12192000" cy="277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E6FB2A3F-83E4-4F68-966B-02624B01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719331"/>
          </a:xfrm>
          <a:solidFill>
            <a:srgbClr val="FDCBAD"/>
          </a:solidFill>
        </p:spPr>
        <p:txBody>
          <a:bodyPr>
            <a:normAutofit/>
          </a:bodyPr>
          <a:lstStyle/>
          <a:p>
            <a:r>
              <a:rPr lang="en-GB" sz="4000" b="1" dirty="0" err="1">
                <a:solidFill>
                  <a:srgbClr val="F9853D"/>
                </a:solidFill>
                <a:latin typeface="Bahnschrift" panose="020B0502040204020203" pitchFamily="34" charset="0"/>
              </a:rPr>
              <a:t>GridLayout</a:t>
            </a:r>
            <a:r>
              <a:rPr lang="en-GB" sz="4000" b="1" dirty="0">
                <a:solidFill>
                  <a:srgbClr val="F9853D"/>
                </a:solidFill>
                <a:latin typeface="Bahnschrift" panose="020B0502040204020203" pitchFamily="34" charset="0"/>
              </a:rPr>
              <a:t> class</a:t>
            </a:r>
            <a:endParaRPr lang="el-GR" sz="4000" b="1" dirty="0">
              <a:solidFill>
                <a:srgbClr val="F9853D"/>
              </a:solidFill>
              <a:latin typeface="Bahnschrift" panose="020B0502040204020203" pitchFamily="34" charset="0"/>
            </a:endParaRPr>
          </a:p>
        </p:txBody>
      </p:sp>
      <p:sp>
        <p:nvSpPr>
          <p:cNvPr id="8" name="Θέση υποσέλιδου 4">
            <a:extLst>
              <a:ext uri="{FF2B5EF4-FFF2-40B4-BE49-F238E27FC236}">
                <a16:creationId xmlns:a16="http://schemas.microsoft.com/office/drawing/2014/main" id="{BC5C4412-4F59-4F5B-A82C-6DD039241071}"/>
              </a:ext>
            </a:extLst>
          </p:cNvPr>
          <p:cNvSpPr txBox="1">
            <a:spLocks/>
          </p:cNvSpPr>
          <p:nvPr/>
        </p:nvSpPr>
        <p:spPr>
          <a:xfrm>
            <a:off x="0" y="6599394"/>
            <a:ext cx="2314222" cy="277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© 2023 </a:t>
            </a:r>
            <a:r>
              <a:rPr kumimoji="0" lang="el-G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Κλεάνθης </a:t>
            </a:r>
            <a:r>
              <a:rPr kumimoji="0" lang="el-GR" sz="11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Θραμπουλίδης</a:t>
            </a:r>
            <a:endParaRPr kumimoji="0" lang="el-G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9D6B0-083E-4C0C-B00B-05582EC2259E}"/>
              </a:ext>
            </a:extLst>
          </p:cNvPr>
          <p:cNvSpPr txBox="1"/>
          <p:nvPr/>
        </p:nvSpPr>
        <p:spPr>
          <a:xfrm>
            <a:off x="10164871" y="6559909"/>
            <a:ext cx="1886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t>Διαφάνεια </a:t>
            </a:r>
            <a:fld id="{7C15C5B5-03C6-48D8-B20F-65D93A6CF09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Light" panose="020B0502040204020203" pitchFamily="34" charset="0"/>
                <a:ea typeface="+mn-ea"/>
                <a:cs typeface="Arial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 Light" panose="020B0502040204020203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Θέση υποσέλιδου 4">
            <a:extLst>
              <a:ext uri="{FF2B5EF4-FFF2-40B4-BE49-F238E27FC236}">
                <a16:creationId xmlns:a16="http://schemas.microsoft.com/office/drawing/2014/main" id="{10B47812-621E-67A0-5C8A-5EDABC8494CD}"/>
              </a:ext>
            </a:extLst>
          </p:cNvPr>
          <p:cNvSpPr txBox="1">
            <a:spLocks/>
          </p:cNvSpPr>
          <p:nvPr/>
        </p:nvSpPr>
        <p:spPr>
          <a:xfrm>
            <a:off x="3179824" y="6581001"/>
            <a:ext cx="6119445" cy="27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l-GR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Human Computer Interaction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4FC2245-B125-07BB-699E-48F8D1F50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0"/>
            <a:ext cx="7793038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altLang="el-GR" sz="4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</a:br>
            <a:br>
              <a:rPr kumimoji="0" lang="en-US" altLang="el-GR" sz="4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/>
                <a:ea typeface="+mj-ea"/>
                <a:cs typeface="+mj-cs"/>
              </a:rPr>
            </a:br>
            <a:endParaRPr kumimoji="0" lang="en-US" altLang="el-GR" sz="44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Tahoma"/>
              <a:ea typeface="+mj-ea"/>
              <a:cs typeface="+mj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F055BC0-1208-9F18-E363-BF2CA46DC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07128"/>
            <a:ext cx="11416482" cy="2061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layout manager that lays out a container's components in a rectangular grid.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l-GR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container is divided into equal-sized rectangles, and one component is placed in each rectangle. </a:t>
            </a:r>
          </a:p>
          <a:p>
            <a:pPr marL="742950" marR="0" lvl="1" indent="-28575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anose="05000000000000000000" pitchFamily="2" charset="2"/>
              <a:buChar char="n"/>
              <a:tabLst/>
              <a:defRPr/>
            </a:pPr>
            <a:endParaRPr kumimoji="0" lang="en-US" altLang="el-GR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kumimoji="0" lang="el-GR" altLang="el-GR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</a:t>
            </a:r>
            <a:endParaRPr kumimoji="0" lang="en-US" altLang="el-GR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C4C61C-2808-6EB7-2BA4-F6902D96C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6942" y="2688928"/>
            <a:ext cx="2491159" cy="2484722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040F5301-ABE4-93B4-8660-ADC3E3F938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6169" y="3419902"/>
            <a:ext cx="8334729" cy="2484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rgbClr val="3333CC"/>
              </a:buClr>
            </a:pPr>
            <a:r>
              <a:rPr lang="en-US" sz="2000" b="1" kern="0" dirty="0" err="1">
                <a:solidFill>
                  <a:srgbClr val="000000"/>
                </a:solidFill>
                <a:latin typeface="Tahoma"/>
              </a:rPr>
              <a:t>GridLayout</a:t>
            </a:r>
            <a:r>
              <a:rPr lang="en-US" sz="2000" b="1" kern="0" dirty="0">
                <a:solidFill>
                  <a:srgbClr val="000000"/>
                </a:solidFill>
                <a:latin typeface="Tahoma"/>
              </a:rPr>
              <a:t>()</a:t>
            </a:r>
          </a:p>
          <a:p>
            <a:pPr lvl="1">
              <a:buClr>
                <a:srgbClr val="FF0000"/>
              </a:buClr>
            </a:pPr>
            <a:r>
              <a:rPr lang="en-US" sz="1600" kern="0" dirty="0">
                <a:solidFill>
                  <a:srgbClr val="000000"/>
                </a:solidFill>
                <a:latin typeface="Tahoma"/>
              </a:rPr>
              <a:t>creates a grid layout with one column per component in a row.</a:t>
            </a:r>
          </a:p>
          <a:p>
            <a:pPr>
              <a:buClr>
                <a:srgbClr val="3333CC"/>
              </a:buClr>
            </a:pPr>
            <a:r>
              <a:rPr lang="en-US" sz="2000" b="1" kern="0" dirty="0" err="1">
                <a:solidFill>
                  <a:srgbClr val="000000"/>
                </a:solidFill>
                <a:latin typeface="Tahoma"/>
              </a:rPr>
              <a:t>GridLayout</a:t>
            </a:r>
            <a:r>
              <a:rPr lang="en-US" sz="2000" b="1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sz="2000" b="1" kern="0" dirty="0" err="1">
                <a:solidFill>
                  <a:srgbClr val="000000"/>
                </a:solidFill>
                <a:latin typeface="Tahoma"/>
              </a:rPr>
              <a:t>int</a:t>
            </a:r>
            <a:r>
              <a:rPr lang="en-US" sz="2000" b="1" kern="0" dirty="0">
                <a:solidFill>
                  <a:srgbClr val="000000"/>
                </a:solidFill>
                <a:latin typeface="Tahoma"/>
              </a:rPr>
              <a:t> rows, </a:t>
            </a:r>
            <a:r>
              <a:rPr lang="en-US" sz="2000" b="1" kern="0" dirty="0" err="1">
                <a:solidFill>
                  <a:srgbClr val="000000"/>
                </a:solidFill>
                <a:latin typeface="Tahoma"/>
              </a:rPr>
              <a:t>int</a:t>
            </a:r>
            <a:r>
              <a:rPr lang="en-US" sz="2000" b="1" kern="0" dirty="0">
                <a:solidFill>
                  <a:srgbClr val="000000"/>
                </a:solidFill>
                <a:latin typeface="Tahoma"/>
              </a:rPr>
              <a:t> columns)</a:t>
            </a:r>
          </a:p>
          <a:p>
            <a:pPr lvl="1">
              <a:buClr>
                <a:srgbClr val="FF0000"/>
              </a:buClr>
            </a:pPr>
            <a:r>
              <a:rPr lang="en-US" sz="1600" kern="0" dirty="0">
                <a:solidFill>
                  <a:srgbClr val="000000"/>
                </a:solidFill>
                <a:latin typeface="Tahoma"/>
              </a:rPr>
              <a:t>creates a grid layout with the given rows and columns but no gaps between the components.</a:t>
            </a:r>
          </a:p>
          <a:p>
            <a:pPr>
              <a:buClr>
                <a:srgbClr val="3333CC"/>
              </a:buClr>
            </a:pPr>
            <a:r>
              <a:rPr lang="en-US" sz="2000" b="1" kern="0" dirty="0" err="1">
                <a:solidFill>
                  <a:srgbClr val="000000"/>
                </a:solidFill>
                <a:latin typeface="Tahoma"/>
              </a:rPr>
              <a:t>GridLayout</a:t>
            </a:r>
            <a:r>
              <a:rPr lang="en-US" sz="2000" b="1" kern="0" dirty="0">
                <a:solidFill>
                  <a:srgbClr val="000000"/>
                </a:solidFill>
                <a:latin typeface="Tahoma"/>
              </a:rPr>
              <a:t>(</a:t>
            </a:r>
            <a:r>
              <a:rPr lang="en-US" sz="2000" kern="0" dirty="0" err="1">
                <a:solidFill>
                  <a:srgbClr val="000000"/>
                </a:solidFill>
                <a:latin typeface="Tahoma"/>
              </a:rPr>
              <a:t>int</a:t>
            </a:r>
            <a:r>
              <a:rPr lang="en-US" sz="2000" kern="0" dirty="0">
                <a:solidFill>
                  <a:srgbClr val="000000"/>
                </a:solidFill>
                <a:latin typeface="Tahoma"/>
              </a:rPr>
              <a:t> rows, </a:t>
            </a:r>
            <a:r>
              <a:rPr lang="en-US" sz="2000" kern="0" dirty="0" err="1">
                <a:solidFill>
                  <a:srgbClr val="000000"/>
                </a:solidFill>
                <a:latin typeface="Tahoma"/>
              </a:rPr>
              <a:t>int</a:t>
            </a:r>
            <a:r>
              <a:rPr lang="en-US" sz="2000" kern="0" dirty="0">
                <a:solidFill>
                  <a:srgbClr val="000000"/>
                </a:solidFill>
                <a:latin typeface="Tahoma"/>
              </a:rPr>
              <a:t> columns, </a:t>
            </a:r>
            <a:r>
              <a:rPr lang="en-US" sz="2000" kern="0" dirty="0" err="1">
                <a:solidFill>
                  <a:srgbClr val="000000"/>
                </a:solidFill>
                <a:latin typeface="Tahoma"/>
              </a:rPr>
              <a:t>int</a:t>
            </a:r>
            <a:r>
              <a:rPr lang="en-US" sz="2000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kern="0" dirty="0" err="1">
                <a:solidFill>
                  <a:srgbClr val="000000"/>
                </a:solidFill>
                <a:latin typeface="Tahoma"/>
              </a:rPr>
              <a:t>hgap</a:t>
            </a:r>
            <a:r>
              <a:rPr lang="en-US" sz="2000" kern="0" dirty="0">
                <a:solidFill>
                  <a:srgbClr val="000000"/>
                </a:solidFill>
                <a:latin typeface="Tahoma"/>
              </a:rPr>
              <a:t>, </a:t>
            </a:r>
            <a:r>
              <a:rPr lang="en-US" sz="2000" kern="0" dirty="0" err="1">
                <a:solidFill>
                  <a:srgbClr val="000000"/>
                </a:solidFill>
                <a:latin typeface="Tahoma"/>
              </a:rPr>
              <a:t>int</a:t>
            </a:r>
            <a:r>
              <a:rPr lang="en-US" sz="2000" kern="0" dirty="0">
                <a:solidFill>
                  <a:srgbClr val="000000"/>
                </a:solidFill>
                <a:latin typeface="Tahoma"/>
              </a:rPr>
              <a:t> </a:t>
            </a:r>
            <a:r>
              <a:rPr lang="en-US" sz="2000" kern="0" dirty="0" err="1">
                <a:solidFill>
                  <a:srgbClr val="000000"/>
                </a:solidFill>
                <a:latin typeface="Tahoma"/>
              </a:rPr>
              <a:t>vgap</a:t>
            </a:r>
            <a:r>
              <a:rPr lang="en-US" sz="2000" kern="0" dirty="0">
                <a:solidFill>
                  <a:srgbClr val="000000"/>
                </a:solidFill>
                <a:latin typeface="Tahoma"/>
              </a:rPr>
              <a:t>)</a:t>
            </a:r>
          </a:p>
          <a:p>
            <a:pPr lvl="1">
              <a:buClr>
                <a:srgbClr val="FF0000"/>
              </a:buClr>
            </a:pPr>
            <a:r>
              <a:rPr lang="en-US" sz="1600" kern="0" dirty="0">
                <a:solidFill>
                  <a:srgbClr val="000000"/>
                </a:solidFill>
                <a:latin typeface="Tahoma"/>
              </a:rPr>
              <a:t>creates a grid layout with the given rows and columns </a:t>
            </a:r>
            <a:r>
              <a:rPr lang="en-US" sz="1600" kern="0" dirty="0" err="1">
                <a:solidFill>
                  <a:srgbClr val="000000"/>
                </a:solidFill>
                <a:latin typeface="Tahoma"/>
              </a:rPr>
              <a:t>alongwith</a:t>
            </a:r>
            <a:r>
              <a:rPr lang="en-US" sz="1600" kern="0" dirty="0">
                <a:solidFill>
                  <a:srgbClr val="000000"/>
                </a:solidFill>
                <a:latin typeface="Tahoma"/>
              </a:rPr>
              <a:t> given horizontal and vertical gaps.</a:t>
            </a:r>
          </a:p>
          <a:p>
            <a:pPr eaLnBrk="1" hangingPunct="1">
              <a:lnSpc>
                <a:spcPct val="90000"/>
              </a:lnSpc>
              <a:buClr>
                <a:srgbClr val="3333CC"/>
              </a:buClr>
              <a:buFont typeface="Wingdings" panose="05000000000000000000" pitchFamily="2" charset="2"/>
              <a:buNone/>
            </a:pPr>
            <a:r>
              <a:rPr lang="el-GR" altLang="el-GR" kern="0" dirty="0">
                <a:solidFill>
                  <a:srgbClr val="000000"/>
                </a:solidFill>
                <a:latin typeface="Tahoma"/>
              </a:rPr>
              <a:t>	</a:t>
            </a:r>
            <a:endParaRPr lang="en-US" altLang="el-GR" kern="0" dirty="0">
              <a:solidFill>
                <a:srgbClr val="000000"/>
              </a:solidFill>
              <a:latin typeface="Tahoma"/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A4277210-C5C6-9ACD-DD3D-AC4BB46322AA}"/>
              </a:ext>
            </a:extLst>
          </p:cNvPr>
          <p:cNvSpPr/>
          <p:nvPr/>
        </p:nvSpPr>
        <p:spPr bwMode="auto">
          <a:xfrm>
            <a:off x="5436096" y="5888508"/>
            <a:ext cx="3456384" cy="404696"/>
          </a:xfrm>
          <a:prstGeom prst="wedgeRoundRectCallout">
            <a:avLst>
              <a:gd name="adj1" fmla="val -44312"/>
              <a:gd name="adj2" fmla="val 135933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l-GR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rPr>
              <a:t>See also the Panel class</a:t>
            </a:r>
          </a:p>
        </p:txBody>
      </p:sp>
    </p:spTree>
    <p:extLst>
      <p:ext uri="{BB962C8B-B14F-4D97-AF65-F5344CB8AC3E}">
        <p14:creationId xmlns:p14="http://schemas.microsoft.com/office/powerpoint/2010/main" val="787232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Προσαρμοσμένη σχεδίαση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19260</TotalTime>
  <Words>2552</Words>
  <Application>Microsoft Office PowerPoint</Application>
  <PresentationFormat>Widescreen</PresentationFormat>
  <Paragraphs>407</Paragraphs>
  <Slides>27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Arial</vt:lpstr>
      <vt:lpstr>Bahnschrift</vt:lpstr>
      <vt:lpstr>Bahnschrift Light</vt:lpstr>
      <vt:lpstr>Calibri</vt:lpstr>
      <vt:lpstr>Calibri Light</vt:lpstr>
      <vt:lpstr>Tahoma</vt:lpstr>
      <vt:lpstr>Times New Roman</vt:lpstr>
      <vt:lpstr>Times New Roman Greek</vt:lpstr>
      <vt:lpstr>Wingdings</vt:lpstr>
      <vt:lpstr>Προσαρμοσμένη σχεδίαση</vt:lpstr>
      <vt:lpstr>Θέμα του Office</vt:lpstr>
      <vt:lpstr>Bitmap Image</vt:lpstr>
      <vt:lpstr>PowerPoint Presentation</vt:lpstr>
      <vt:lpstr>Human – Computer Interaction</vt:lpstr>
      <vt:lpstr>graphical user interface (GUI)</vt:lpstr>
      <vt:lpstr>An IoT Gui</vt:lpstr>
      <vt:lpstr>Οργάνωση Διάλεξης</vt:lpstr>
      <vt:lpstr>Internal vs. External messages</vt:lpstr>
      <vt:lpstr>Εξωτερικά μηνύματα</vt:lpstr>
      <vt:lpstr>User interaction</vt:lpstr>
      <vt:lpstr>Gui responsibilities</vt:lpstr>
      <vt:lpstr>Οργάνωση Διάλεξης</vt:lpstr>
      <vt:lpstr>To πακέτο awt (abstract window toolkit)</vt:lpstr>
      <vt:lpstr>Χαρακτηριστικές κλάσεις του awt</vt:lpstr>
      <vt:lpstr>Example: RPN Calculator Gui</vt:lpstr>
      <vt:lpstr>Class Frame</vt:lpstr>
      <vt:lpstr>CalculatorGui Class</vt:lpstr>
      <vt:lpstr>Iteration 2 – Add a Button</vt:lpstr>
      <vt:lpstr>Appending a button</vt:lpstr>
      <vt:lpstr>Class Container</vt:lpstr>
      <vt:lpstr>Iteration 3  - Add a TextField</vt:lpstr>
      <vt:lpstr>Appending a TextField</vt:lpstr>
      <vt:lpstr>Iteration 4 – Define the Action of Button</vt:lpstr>
      <vt:lpstr>Iteration 5  - Set “:Button” to display … a message to “:TextField”</vt:lpstr>
      <vt:lpstr>Οργάνωση Διάλεξης</vt:lpstr>
      <vt:lpstr>Java’s GUI tool kits</vt:lpstr>
      <vt:lpstr>  AWT      SWING</vt:lpstr>
      <vt:lpstr>SWT</vt:lpstr>
      <vt:lpstr>GridLayout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Ch8-PartA_HumanComputerInteraction</dc:title>
  <dc:creator>Kleanthis Thramboulidis</dc:creator>
  <cp:lastModifiedBy>thrambo@ece.upatras.gr</cp:lastModifiedBy>
  <cp:revision>82</cp:revision>
  <dcterms:created xsi:type="dcterms:W3CDTF">2020-03-13T12:21:17Z</dcterms:created>
  <dcterms:modified xsi:type="dcterms:W3CDTF">2024-10-09T06:01:55Z</dcterms:modified>
</cp:coreProperties>
</file>