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22"/>
  </p:notesMasterIdLst>
  <p:sldIdLst>
    <p:sldId id="262" r:id="rId3"/>
    <p:sldId id="868" r:id="rId4"/>
    <p:sldId id="858" r:id="rId5"/>
    <p:sldId id="859" r:id="rId6"/>
    <p:sldId id="854" r:id="rId7"/>
    <p:sldId id="860" r:id="rId8"/>
    <p:sldId id="853" r:id="rId9"/>
    <p:sldId id="857" r:id="rId10"/>
    <p:sldId id="856" r:id="rId11"/>
    <p:sldId id="881" r:id="rId12"/>
    <p:sldId id="882" r:id="rId13"/>
    <p:sldId id="883" r:id="rId14"/>
    <p:sldId id="886" r:id="rId15"/>
    <p:sldId id="874" r:id="rId16"/>
    <p:sldId id="884" r:id="rId17"/>
    <p:sldId id="887" r:id="rId18"/>
    <p:sldId id="890" r:id="rId19"/>
    <p:sldId id="885" r:id="rId20"/>
    <p:sldId id="888" r:id="rId21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rambo" initials="T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3" autoAdjust="0"/>
    <p:restoredTop sz="75977" autoAdjust="0"/>
  </p:normalViewPr>
  <p:slideViewPr>
    <p:cSldViewPr snapToGrid="0">
      <p:cViewPr varScale="1">
        <p:scale>
          <a:sx n="52" d="100"/>
          <a:sy n="52" d="100"/>
        </p:scale>
        <p:origin x="1296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802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9095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25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047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508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151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668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89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811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248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242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369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955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1882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8014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231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489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592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hramboulidiskleanthi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7/docs/api/java/lang/Iterabl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java-and-multiple-inheritance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Προγραμματισμός </a:t>
            </a:r>
            <a:b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err="1">
                <a:solidFill>
                  <a:srgbClr val="F9853D"/>
                </a:solidFill>
                <a:latin typeface="Bahnschrift" panose="020B0502040204020203" pitchFamily="34" charset="0"/>
              </a:rPr>
              <a:t>Object-Oriented</a:t>
            </a: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err="1">
                <a:solidFill>
                  <a:srgbClr val="F9853D"/>
                </a:solidFill>
                <a:latin typeface="Bahnschrift" panose="020B0502040204020203" pitchFamily="34" charset="0"/>
              </a:rPr>
              <a:t>Programming</a:t>
            </a: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US" sz="2800" b="1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0C4F10-C081-CD71-17C8-8DAD4C7D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3068"/>
            <a:ext cx="86106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800" b="0" i="0" kern="0">
                <a:solidFill>
                  <a:srgbClr val="800000"/>
                </a:solidFill>
                <a:latin typeface="Times New Roman" panose="02020603050405020304" pitchFamily="18" charset="0"/>
              </a:rPr>
              <a:t>Kleanthis Thramboulidis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i="0" kern="0">
                <a:latin typeface="Times New Roman" panose="02020603050405020304" pitchFamily="18" charset="0"/>
              </a:rPr>
              <a:t>Prof. of Software and System Engineering 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kern="0">
                <a:latin typeface="Times New Roman" panose="02020603050405020304" pitchFamily="18" charset="0"/>
              </a:rPr>
              <a:t>University of Patras</a:t>
            </a:r>
            <a:r>
              <a:rPr lang="el-GR" altLang="el-GR" sz="1800" b="0" i="0" kern="0">
                <a:latin typeface="Times New Roman" panose="02020603050405020304" pitchFamily="18" charset="0"/>
              </a:rPr>
              <a:t> </a:t>
            </a:r>
            <a:endParaRPr lang="en-US" altLang="el-GR" sz="1800" b="0" i="0" kern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>
                <a:latin typeface="Times New Roman" panose="02020603050405020304" pitchFamily="18" charset="0"/>
                <a:hlinkClick r:id="rId3"/>
              </a:rPr>
              <a:t>https://sites.google.com/site/thramboulidiskleanthis/</a:t>
            </a:r>
            <a:endParaRPr lang="en-US" altLang="el-GR" sz="1600" b="0" i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l-GR" altLang="el-GR" sz="1800" kern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GB" altLang="el-GR" sz="1800" b="1" kern="0"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176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9853D"/>
                </a:solidFill>
                <a:latin typeface="Bahnschrift" panose="020B0502040204020203" pitchFamily="34" charset="0"/>
              </a:rPr>
              <a:t>(CEID_NNY106)</a:t>
            </a:r>
            <a:endParaRPr lang="el-GR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F3EE9-A938-D663-D46A-160783F1F27F}"/>
              </a:ext>
            </a:extLst>
          </p:cNvPr>
          <p:cNvSpPr txBox="1"/>
          <p:nvPr/>
        </p:nvSpPr>
        <p:spPr>
          <a:xfrm>
            <a:off x="560303" y="2462259"/>
            <a:ext cx="131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/>
              <a:t>Κύρια Πηγή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1E6F-8AE9-B75E-1823-7991CADC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3" y="2741663"/>
            <a:ext cx="1950889" cy="2819644"/>
          </a:xfrm>
          <a:prstGeom prst="rect">
            <a:avLst/>
          </a:prstGeom>
        </p:spPr>
      </p:pic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-4" y="1296692"/>
            <a:ext cx="7748956" cy="14633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 err="1">
                <a:solidFill>
                  <a:srgbClr val="60D69E"/>
                </a:solidFill>
                <a:latin typeface="Bahnschrift" panose="020B0502040204020203" pitchFamily="34" charset="0"/>
              </a:rPr>
              <a:t>Διεπαφές</a:t>
            </a:r>
            <a:endParaRPr lang="en-GB" sz="4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Interfaces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3F1DF-97A8-0745-D06F-F345A61D9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952" y="1249095"/>
            <a:ext cx="4443044" cy="50192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1AC6608-7C00-770A-D4FC-06C135BF8CDE}"/>
              </a:ext>
            </a:extLst>
          </p:cNvPr>
          <p:cNvSpPr/>
          <p:nvPr/>
        </p:nvSpPr>
        <p:spPr>
          <a:xfrm>
            <a:off x="239084" y="3913536"/>
            <a:ext cx="1950889" cy="3127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/>
              <a:t>Κεφάλαιο: </a:t>
            </a:r>
            <a:r>
              <a:rPr lang="en-GB" sz="1600" dirty="0"/>
              <a:t>7</a:t>
            </a:r>
            <a:endParaRPr lang="el-GR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6A4A3-88B3-F04A-0B91-01BBBF200BC0}"/>
              </a:ext>
            </a:extLst>
          </p:cNvPr>
          <p:cNvSpPr txBox="1"/>
          <p:nvPr/>
        </p:nvSpPr>
        <p:spPr>
          <a:xfrm>
            <a:off x="192732" y="4202653"/>
            <a:ext cx="108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</a:t>
            </a:r>
            <a:r>
              <a:rPr lang="el-GR" dirty="0"/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4024D1-5D0E-BDD9-92A8-00430AD52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8869" y="3192527"/>
            <a:ext cx="4110710" cy="258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00A73DD-A4AD-2E56-2E78-11F100DEB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743705"/>
            <a:ext cx="11541733" cy="6035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3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To </a:t>
            </a:r>
            <a:r>
              <a:rPr kumimoji="0" lang="el-GR" altLang="el-GR" sz="3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κίνητρο για την κατασκευή του </a:t>
            </a:r>
            <a:r>
              <a:rPr kumimoji="0" lang="en-GB" altLang="el-GR" sz="3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Interface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kumimoji="0" lang="en-US" altLang="el-GR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CalcGui</a:t>
            </a:r>
            <a:r>
              <a:rPr kumimoji="0" lang="en-US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- Operand interaction</a:t>
            </a:r>
          </a:p>
          <a:p>
            <a:pPr eaLnBrk="1" hangingPunct="1">
              <a:buClr>
                <a:srgbClr val="3333CC"/>
              </a:buClr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Ορισμός του 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Interface</a:t>
            </a:r>
          </a:p>
          <a:p>
            <a:pPr eaLnBrk="1" hangingPunct="1">
              <a:buClr>
                <a:srgbClr val="3333CC"/>
              </a:buClr>
              <a:defRPr/>
            </a:pPr>
            <a:r>
              <a:rPr kumimoji="0" lang="en-GB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Interface inheritance (extends)</a:t>
            </a:r>
          </a:p>
          <a:p>
            <a:pPr eaLnBrk="1" hangingPunct="1">
              <a:buClr>
                <a:srgbClr val="3333CC"/>
              </a:buClr>
              <a:defRPr/>
            </a:pP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Interface vs Abstract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κλάση</a:t>
            </a:r>
            <a:endParaRPr lang="en-GB" altLang="el-GR" kern="0" dirty="0">
              <a:solidFill>
                <a:srgbClr val="000000"/>
              </a:solidFill>
              <a:latin typeface="Tahoma"/>
            </a:endParaRPr>
          </a:p>
          <a:p>
            <a:pPr eaLnBrk="1" hangingPunct="1">
              <a:buClr>
                <a:srgbClr val="3333CC"/>
              </a:buClr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Παραδείγματα 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interface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από την βασική βιβλιοθήκη</a:t>
            </a:r>
          </a:p>
          <a:p>
            <a:pPr lvl="1" eaLnBrk="1" hangingPunct="1">
              <a:buClr>
                <a:srgbClr val="3333CC"/>
              </a:buClr>
              <a:defRPr/>
            </a:pP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List</a:t>
            </a:r>
          </a:p>
          <a:p>
            <a:pPr lvl="1" eaLnBrk="1" hangingPunct="1">
              <a:buClr>
                <a:srgbClr val="3333CC"/>
              </a:buClr>
              <a:defRPr/>
            </a:pP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I</a:t>
            </a:r>
            <a:r>
              <a:rPr kumimoji="0" lang="en-GB" altLang="el-GR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terator</a:t>
            </a:r>
            <a:endParaRPr kumimoji="0" lang="en-GB" altLang="el-GR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eaLnBrk="1" hangingPunct="1">
              <a:buClr>
                <a:srgbClr val="3333CC"/>
              </a:buClr>
              <a:defRPr/>
            </a:pPr>
            <a:r>
              <a:rPr kumimoji="0" lang="el-GR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Συλλογές </a:t>
            </a:r>
            <a:r>
              <a:rPr kumimoji="0" lang="en-GB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(Collections)</a:t>
            </a:r>
            <a:endParaRPr kumimoji="0" lang="el-GR" altLang="el-GR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eaLnBrk="1" hangingPunct="1">
              <a:buClr>
                <a:srgbClr val="3333CC"/>
              </a:buClr>
              <a:defRPr/>
            </a:pPr>
            <a:r>
              <a:rPr kumimoji="0" lang="en-GB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Default </a:t>
            </a:r>
            <a:r>
              <a:rPr kumimoji="0" lang="el-GR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και </a:t>
            </a:r>
            <a:r>
              <a:rPr kumimoji="0" lang="en-GB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Static </a:t>
            </a:r>
            <a:r>
              <a:rPr kumimoji="0" lang="el-GR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μέθοδοι</a:t>
            </a:r>
            <a:r>
              <a:rPr kumimoji="0" lang="en-GB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στ</a:t>
            </a:r>
            <a:r>
              <a:rPr kumimoji="0" lang="en-GB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</a:t>
            </a:r>
            <a:r>
              <a:rPr kumimoji="0" lang="el-GR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GB" altLang="el-GR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interface</a:t>
            </a:r>
            <a:endParaRPr kumimoji="0" lang="en-US" altLang="el-GR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endParaRPr lang="en-GB" altLang="el-GR" sz="24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EC04054-865D-3D4E-26D5-F1A509818855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05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CalcGui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Operand interaction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5" name="Group 36">
            <a:extLst>
              <a:ext uri="{FF2B5EF4-FFF2-40B4-BE49-F238E27FC236}">
                <a16:creationId xmlns:a16="http://schemas.microsoft.com/office/drawing/2014/main" id="{F4D56504-9218-7C9C-DC7B-0A2A963BD71C}"/>
              </a:ext>
            </a:extLst>
          </p:cNvPr>
          <p:cNvGrpSpPr>
            <a:grpSpLocks/>
          </p:cNvGrpSpPr>
          <p:nvPr/>
        </p:nvGrpSpPr>
        <p:grpSpPr bwMode="auto">
          <a:xfrm>
            <a:off x="6804248" y="1271546"/>
            <a:ext cx="1807581" cy="1015663"/>
            <a:chOff x="3606" y="2886"/>
            <a:chExt cx="1230" cy="694"/>
          </a:xfrm>
        </p:grpSpPr>
        <p:sp>
          <p:nvSpPr>
            <p:cNvPr id="6" name="Rectangle 37">
              <a:extLst>
                <a:ext uri="{FF2B5EF4-FFF2-40B4-BE49-F238E27FC236}">
                  <a16:creationId xmlns:a16="http://schemas.microsoft.com/office/drawing/2014/main" id="{C119E8F9-CBF6-BA34-A536-B2FC829B2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2976"/>
              <a:ext cx="952" cy="49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Operand</a:t>
              </a:r>
            </a:p>
          </p:txBody>
        </p:sp>
        <p:sp>
          <p:nvSpPr>
            <p:cNvPr id="7" name="Rectangle 38">
              <a:extLst>
                <a:ext uri="{FF2B5EF4-FFF2-40B4-BE49-F238E27FC236}">
                  <a16:creationId xmlns:a16="http://schemas.microsoft.com/office/drawing/2014/main" id="{81AA20BA-8AF3-75EB-CC7A-BBE34B973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3475"/>
              <a:ext cx="317" cy="10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Rectangle 39">
              <a:extLst>
                <a:ext uri="{FF2B5EF4-FFF2-40B4-BE49-F238E27FC236}">
                  <a16:creationId xmlns:a16="http://schemas.microsoft.com/office/drawing/2014/main" id="{54C6DEF5-349A-FF68-D256-98733A2AA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3475"/>
              <a:ext cx="317" cy="10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2" name="Rectangle 40">
              <a:extLst>
                <a:ext uri="{FF2B5EF4-FFF2-40B4-BE49-F238E27FC236}">
                  <a16:creationId xmlns:a16="http://schemas.microsoft.com/office/drawing/2014/main" id="{2C91BA4B-4600-A3AB-EFF0-A11AE5C2F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3203"/>
              <a:ext cx="142" cy="21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3" name="Rectangle 41">
              <a:extLst>
                <a:ext uri="{FF2B5EF4-FFF2-40B4-BE49-F238E27FC236}">
                  <a16:creationId xmlns:a16="http://schemas.microsoft.com/office/drawing/2014/main" id="{EACDF91E-2901-CCF0-4D49-3A8439DA5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2976"/>
              <a:ext cx="142" cy="12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4" name="Rectangle 42">
              <a:extLst>
                <a:ext uri="{FF2B5EF4-FFF2-40B4-BE49-F238E27FC236}">
                  <a16:creationId xmlns:a16="http://schemas.microsoft.com/office/drawing/2014/main" id="{ECCB2304-56CB-ACBF-6AC4-10417F6E6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3203"/>
              <a:ext cx="142" cy="21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5" name="Rectangle 43">
              <a:extLst>
                <a:ext uri="{FF2B5EF4-FFF2-40B4-BE49-F238E27FC236}">
                  <a16:creationId xmlns:a16="http://schemas.microsoft.com/office/drawing/2014/main" id="{591E9380-96F0-4149-FA3C-190DA5995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886"/>
              <a:ext cx="317" cy="10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pic>
        <p:nvPicPr>
          <p:cNvPr id="16" name="Picture 4">
            <a:extLst>
              <a:ext uri="{FF2B5EF4-FFF2-40B4-BE49-F238E27FC236}">
                <a16:creationId xmlns:a16="http://schemas.microsoft.com/office/drawing/2014/main" id="{B2BF3BA1-45AF-4D8D-F8F1-BFEB1FC08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38" y="1034658"/>
            <a:ext cx="3096344" cy="1846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1B5CC2E9-0BDA-86DE-4EC4-DEA323572AFF}"/>
              </a:ext>
            </a:extLst>
          </p:cNvPr>
          <p:cNvSpPr/>
          <p:nvPr/>
        </p:nvSpPr>
        <p:spPr bwMode="auto">
          <a:xfrm rot="152958">
            <a:off x="3603802" y="1701423"/>
            <a:ext cx="2863924" cy="419894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1D202A-1E8B-A98D-1526-549BA82C3B96}"/>
              </a:ext>
            </a:extLst>
          </p:cNvPr>
          <p:cNvSpPr txBox="1"/>
          <p:nvPr/>
        </p:nvSpPr>
        <p:spPr>
          <a:xfrm>
            <a:off x="4164017" y="661556"/>
            <a:ext cx="8400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0" dirty="0">
                <a:solidFill>
                  <a:srgbClr val="FF0000"/>
                </a:solidFill>
                <a:latin typeface="Tahoma" panose="020B0604030504040204" pitchFamily="34" charset="0"/>
              </a:rPr>
              <a:t>?</a:t>
            </a:r>
            <a:endParaRPr lang="el-GR" sz="6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A3C46AF-5029-FFA3-53FD-E3B9F324C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2" y="3515616"/>
            <a:ext cx="11794693" cy="3043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buClr>
                <a:srgbClr val="3333CC"/>
              </a:buClr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Κάθε ομάδα προγραμματιστών θα πρέπει να μπορεί να γράψει τον κώδικα της κατασκευής της χωρίς να γνωρίζει πως είναι γραμμένος ο κώδικας της άλλης κατασκευής (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</a:rPr>
              <a:t>without any knowledge of how the other group's code is written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).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>
              <a:buClr>
                <a:srgbClr val="3333CC"/>
              </a:buClr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Αυτό μπορεί να γίνει αν οι</a:t>
            </a:r>
            <a:r>
              <a:rPr kumimoji="0" lang="el-GR" altLang="el-GR" sz="24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δύο ομάδες συμφωνήσουν στο πως οι κατασκευές τους θα επικοινωνούν. Καταλήξουν δηλαδή σε μια συμφωνία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ένα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“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συμβόλαιο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”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"</a:t>
            </a:r>
            <a:r>
              <a:rPr lang="en-US" altLang="el-GR" sz="2400" b="1" kern="0" dirty="0">
                <a:solidFill>
                  <a:srgbClr val="000000"/>
                </a:solidFill>
                <a:latin typeface="Tahoma"/>
              </a:rPr>
              <a:t>contract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"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)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) που ορίζει την επικοινωνία. </a:t>
            </a:r>
            <a:endParaRPr kumimoji="0" lang="el-GR" altLang="el-GR" sz="24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>
              <a:buClr>
                <a:srgbClr val="3333CC"/>
              </a:buClr>
              <a:defRPr/>
            </a:pPr>
            <a:r>
              <a:rPr lang="en-US" altLang="el-GR" sz="2800" b="1" i="1" kern="0" dirty="0">
                <a:solidFill>
                  <a:srgbClr val="FF0000"/>
                </a:solidFill>
                <a:latin typeface="Tahoma"/>
              </a:rPr>
              <a:t>interfaces</a:t>
            </a:r>
            <a:r>
              <a:rPr lang="en-US" altLang="el-GR" sz="2800" b="1" kern="0" dirty="0">
                <a:solidFill>
                  <a:srgbClr val="FF0000"/>
                </a:solidFill>
                <a:latin typeface="Tahoma"/>
              </a:rPr>
              <a:t> are </a:t>
            </a: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such </a:t>
            </a:r>
            <a:r>
              <a:rPr lang="en-US" altLang="el-GR" sz="2800" b="1" kern="0" dirty="0">
                <a:solidFill>
                  <a:srgbClr val="FF0000"/>
                </a:solidFill>
                <a:latin typeface="Tahoma"/>
              </a:rPr>
              <a:t>contracts</a:t>
            </a: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.</a:t>
            </a:r>
            <a:endParaRPr kumimoji="0" lang="en-US" altLang="el-GR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4AB69C-B67C-B8FE-F2D7-6C7A49F0129F}"/>
              </a:ext>
            </a:extLst>
          </p:cNvPr>
          <p:cNvSpPr txBox="1"/>
          <p:nvPr/>
        </p:nvSpPr>
        <p:spPr>
          <a:xfrm>
            <a:off x="256638" y="2994691"/>
            <a:ext cx="555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CalculatorGui</a:t>
            </a:r>
            <a:r>
              <a:rPr lang="en-US" altLang="el-G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(Operand op);</a:t>
            </a:r>
            <a:endParaRPr lang="el-GR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DE3A20D-C37E-1D98-EC06-5F71F1B1886D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07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Interface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02A35-E219-FB4D-1827-98F95A499136}"/>
              </a:ext>
            </a:extLst>
          </p:cNvPr>
          <p:cNvSpPr txBox="1"/>
          <p:nvPr/>
        </p:nvSpPr>
        <p:spPr>
          <a:xfrm>
            <a:off x="140669" y="719331"/>
            <a:ext cx="12051331" cy="491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Είναι ένας </a:t>
            </a:r>
            <a:r>
              <a:rPr lang="el-GR" altLang="el-GR" sz="2800" b="1" kern="0" dirty="0">
                <a:solidFill>
                  <a:srgbClr val="000000"/>
                </a:solidFill>
                <a:latin typeface="Tahoma"/>
              </a:rPr>
              <a:t>τύπος αναφοράς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reference type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) όπως και η κλάση.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Μπορεί να περιέχει μόνο</a:t>
            </a: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el-GR" sz="2800" b="1" kern="0" dirty="0">
                <a:solidFill>
                  <a:srgbClr val="C00000"/>
                </a:solidFill>
                <a:latin typeface="Tahoma"/>
              </a:rPr>
              <a:t>constants</a:t>
            </a:r>
            <a:r>
              <a:rPr lang="en-US" altLang="el-GR" sz="2800" kern="0" dirty="0">
                <a:solidFill>
                  <a:srgbClr val="C00000"/>
                </a:solidFill>
                <a:latin typeface="Tahoma"/>
              </a:rPr>
              <a:t>, </a:t>
            </a:r>
            <a:endParaRPr lang="el-GR" altLang="el-GR" sz="2800" kern="0" dirty="0">
              <a:solidFill>
                <a:srgbClr val="C00000"/>
              </a:solidFill>
              <a:latin typeface="Tahoma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el-GR" sz="2800" kern="0" dirty="0">
                <a:solidFill>
                  <a:srgbClr val="C00000"/>
                </a:solidFill>
                <a:latin typeface="Tahoma"/>
              </a:rPr>
              <a:t>method signatures</a:t>
            </a: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, and </a:t>
            </a:r>
            <a:endParaRPr lang="el-GR" altLang="el-GR" sz="2800" kern="0" dirty="0">
              <a:solidFill>
                <a:srgbClr val="000000"/>
              </a:solidFill>
              <a:latin typeface="Tahoma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el-GR" sz="2800" kern="0" dirty="0">
                <a:solidFill>
                  <a:srgbClr val="C00000"/>
                </a:solidFill>
                <a:latin typeface="Tahoma"/>
              </a:rPr>
              <a:t>nested types </a:t>
            </a: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(+ default and static methods @Java8)</a:t>
            </a:r>
            <a:endParaRPr lang="en-US" altLang="el-GR" sz="2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Είναι μια περιγραφή ενός συνόλου χαρακτηριστικών που παρέχονται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GB" altLang="el-GR" sz="2800" b="1" kern="0" dirty="0">
                <a:solidFill>
                  <a:srgbClr val="000000"/>
                </a:solidFill>
                <a:latin typeface="Tahoma"/>
              </a:rPr>
              <a:t>provided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)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ή απαιτούνται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GB" altLang="el-GR" sz="2800" b="1" kern="0" dirty="0">
                <a:solidFill>
                  <a:srgbClr val="000000"/>
                </a:solidFill>
                <a:latin typeface="Tahoma"/>
              </a:rPr>
              <a:t>required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)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από ένα στιγμιότυπο. 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Μπορεί να θεωρηθεί ως η προβολή (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projection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των εμφανών από έξω χαρακτηριστικών μιας οντότητας. Η οντότητα αυτή λέμε ότι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υλοποιεί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realizes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το 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interface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06E3B-BA1A-A64F-D304-E25C028B59AA}"/>
              </a:ext>
            </a:extLst>
          </p:cNvPr>
          <p:cNvSpPr txBox="1"/>
          <p:nvPr/>
        </p:nvSpPr>
        <p:spPr>
          <a:xfrm>
            <a:off x="0" y="5873262"/>
            <a:ext cx="12191999" cy="7078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Στιγμιότυπα διαφορετικών κλάσεων μπορεί να 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“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παίζουν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” 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τον ίδιο ρόλο, αρκεί ο ρόλος αυτός να ορίζεται από ένα 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interface, 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το οποίο </a:t>
            </a:r>
            <a:r>
              <a:rPr lang="el-GR" altLang="el-GR" sz="2000" b="1" kern="0" dirty="0">
                <a:solidFill>
                  <a:srgbClr val="000000"/>
                </a:solidFill>
                <a:latin typeface="Tahoma"/>
              </a:rPr>
              <a:t>οι κλάσεις υλοποιούν 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GB" altLang="el-GR" sz="2000" b="1" kern="0" dirty="0">
                <a:solidFill>
                  <a:srgbClr val="000000"/>
                </a:solidFill>
                <a:latin typeface="Tahoma"/>
              </a:rPr>
              <a:t>implement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)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. 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 </a:t>
            </a:r>
            <a:endParaRPr lang="en-GB" sz="2000" dirty="0"/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1763FC13-C50C-9331-CEA4-DEC094A6E01E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87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CalcGui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Operand interaction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5" name="Group 36">
            <a:extLst>
              <a:ext uri="{FF2B5EF4-FFF2-40B4-BE49-F238E27FC236}">
                <a16:creationId xmlns:a16="http://schemas.microsoft.com/office/drawing/2014/main" id="{ACDB94C7-80D6-4537-48FE-12844D56A80E}"/>
              </a:ext>
            </a:extLst>
          </p:cNvPr>
          <p:cNvGrpSpPr>
            <a:grpSpLocks/>
          </p:cNvGrpSpPr>
          <p:nvPr/>
        </p:nvGrpSpPr>
        <p:grpSpPr bwMode="auto">
          <a:xfrm>
            <a:off x="6156176" y="3285253"/>
            <a:ext cx="1952625" cy="1101725"/>
            <a:chOff x="3606" y="2886"/>
            <a:chExt cx="1230" cy="694"/>
          </a:xfrm>
        </p:grpSpPr>
        <p:sp>
          <p:nvSpPr>
            <p:cNvPr id="6" name="Rectangle 37">
              <a:extLst>
                <a:ext uri="{FF2B5EF4-FFF2-40B4-BE49-F238E27FC236}">
                  <a16:creationId xmlns:a16="http://schemas.microsoft.com/office/drawing/2014/main" id="{3ABE814E-7117-0498-F140-2CF9CCD11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2976"/>
              <a:ext cx="952" cy="49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Operand</a:t>
              </a:r>
            </a:p>
          </p:txBody>
        </p:sp>
        <p:sp>
          <p:nvSpPr>
            <p:cNvPr id="7" name="Rectangle 38">
              <a:extLst>
                <a:ext uri="{FF2B5EF4-FFF2-40B4-BE49-F238E27FC236}">
                  <a16:creationId xmlns:a16="http://schemas.microsoft.com/office/drawing/2014/main" id="{64095569-20D4-1BB5-1C9B-F03AE313F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3475"/>
              <a:ext cx="317" cy="10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Rectangle 39">
              <a:extLst>
                <a:ext uri="{FF2B5EF4-FFF2-40B4-BE49-F238E27FC236}">
                  <a16:creationId xmlns:a16="http://schemas.microsoft.com/office/drawing/2014/main" id="{0276CB9D-2B82-C981-891C-2581F2BD9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3475"/>
              <a:ext cx="317" cy="10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2" name="Rectangle 40">
              <a:extLst>
                <a:ext uri="{FF2B5EF4-FFF2-40B4-BE49-F238E27FC236}">
                  <a16:creationId xmlns:a16="http://schemas.microsoft.com/office/drawing/2014/main" id="{AF20092D-697A-044E-AFD3-2558C7FFE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3203"/>
              <a:ext cx="142" cy="21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3" name="Rectangle 41">
              <a:extLst>
                <a:ext uri="{FF2B5EF4-FFF2-40B4-BE49-F238E27FC236}">
                  <a16:creationId xmlns:a16="http://schemas.microsoft.com/office/drawing/2014/main" id="{6847CC38-8DF8-4996-1017-517D95422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2976"/>
              <a:ext cx="142" cy="12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4" name="Rectangle 42">
              <a:extLst>
                <a:ext uri="{FF2B5EF4-FFF2-40B4-BE49-F238E27FC236}">
                  <a16:creationId xmlns:a16="http://schemas.microsoft.com/office/drawing/2014/main" id="{8C549C2B-2236-B509-A486-4952C12BE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3203"/>
              <a:ext cx="142" cy="21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5" name="Rectangle 43">
              <a:extLst>
                <a:ext uri="{FF2B5EF4-FFF2-40B4-BE49-F238E27FC236}">
                  <a16:creationId xmlns:a16="http://schemas.microsoft.com/office/drawing/2014/main" id="{3ED141DE-2158-8A2E-C61F-DDD3B9423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886"/>
              <a:ext cx="317" cy="10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pic>
        <p:nvPicPr>
          <p:cNvPr id="16" name="Picture 4">
            <a:extLst>
              <a:ext uri="{FF2B5EF4-FFF2-40B4-BE49-F238E27FC236}">
                <a16:creationId xmlns:a16="http://schemas.microsoft.com/office/drawing/2014/main" id="{6BAB2BF4-386B-FCDD-69AB-ACADD2BC8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14" y="923509"/>
            <a:ext cx="3960118" cy="2361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94EE7EBB-DFD5-7C8E-F7F5-EFC84D6B3840}"/>
              </a:ext>
            </a:extLst>
          </p:cNvPr>
          <p:cNvSpPr/>
          <p:nvPr/>
        </p:nvSpPr>
        <p:spPr bwMode="auto">
          <a:xfrm rot="1447782">
            <a:off x="4173946" y="2861319"/>
            <a:ext cx="1790675" cy="419894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93F6A3-24C9-C824-11B6-4E1216EAA0D0}"/>
              </a:ext>
            </a:extLst>
          </p:cNvPr>
          <p:cNvSpPr txBox="1"/>
          <p:nvPr/>
        </p:nvSpPr>
        <p:spPr>
          <a:xfrm>
            <a:off x="4860032" y="1639326"/>
            <a:ext cx="10832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0" dirty="0">
                <a:solidFill>
                  <a:srgbClr val="FF0000"/>
                </a:solidFill>
                <a:latin typeface="Tahoma" panose="020B0604030504040204" pitchFamily="34" charset="0"/>
              </a:rPr>
              <a:t>?</a:t>
            </a:r>
            <a:endParaRPr lang="el-GR" sz="8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DE3F9DE8-C69A-5ADE-D1ED-31F435B72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22" y="3953793"/>
            <a:ext cx="5689004" cy="2835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GB" altLang="el-GR" sz="2800" b="1" kern="0" dirty="0">
                <a:solidFill>
                  <a:srgbClr val="000000"/>
                </a:solidFill>
                <a:latin typeface="Tahoma"/>
              </a:rPr>
              <a:t>Interface </a:t>
            </a:r>
            <a:r>
              <a:rPr lang="en-GB" altLang="el-GR" sz="2800" b="1" kern="0" dirty="0" err="1">
                <a:solidFill>
                  <a:srgbClr val="000000"/>
                </a:solidFill>
                <a:latin typeface="Tahoma"/>
              </a:rPr>
              <a:t>OperandIf</a:t>
            </a:r>
            <a:r>
              <a:rPr lang="en-GB" altLang="el-GR" sz="28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{</a:t>
            </a: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	void </a:t>
            </a:r>
            <a:r>
              <a:rPr lang="en-GB" altLang="el-GR" sz="2800" kern="0" dirty="0" err="1">
                <a:solidFill>
                  <a:srgbClr val="000000"/>
                </a:solidFill>
                <a:latin typeface="Tahoma"/>
              </a:rPr>
              <a:t>addDigit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(char </a:t>
            </a:r>
            <a:r>
              <a:rPr lang="en-GB" altLang="el-GR" sz="2800" kern="0" dirty="0" err="1">
                <a:solidFill>
                  <a:srgbClr val="000000"/>
                </a:solidFill>
                <a:latin typeface="Tahoma"/>
              </a:rPr>
              <a:t>ch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);</a:t>
            </a: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	void </a:t>
            </a:r>
            <a:r>
              <a:rPr lang="en-GB" altLang="el-GR" sz="2800" kern="0" dirty="0" err="1">
                <a:solidFill>
                  <a:srgbClr val="000000"/>
                </a:solidFill>
                <a:latin typeface="Tahoma"/>
              </a:rPr>
              <a:t>deleteLastDigit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();</a:t>
            </a: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void complete();</a:t>
            </a:r>
            <a:endParaRPr lang="en-US" altLang="el-GR" sz="2800" kern="0" dirty="0">
              <a:solidFill>
                <a:srgbClr val="FF0000"/>
              </a:solidFill>
              <a:latin typeface="Tahoma"/>
            </a:endParaRP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	}</a:t>
            </a:r>
            <a:endParaRPr lang="el-GR" altLang="el-GR" sz="28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59C6C76-40E7-DFED-AF94-24084D2A1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1955" y="4988641"/>
            <a:ext cx="7110044" cy="1138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class </a:t>
            </a:r>
            <a:r>
              <a:rPr lang="en-GB" altLang="el-GR" sz="2400" b="1" kern="0" dirty="0" err="1">
                <a:solidFill>
                  <a:srgbClr val="000000"/>
                </a:solidFill>
                <a:latin typeface="Tahoma"/>
              </a:rPr>
              <a:t>StackOperand</a:t>
            </a: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GB" altLang="el-GR" sz="2400" b="1" kern="0" dirty="0">
                <a:solidFill>
                  <a:srgbClr val="FF0000"/>
                </a:solidFill>
                <a:latin typeface="Tahoma"/>
              </a:rPr>
              <a:t>implements</a:t>
            </a: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GB" altLang="el-GR" sz="2400" b="1" kern="0" dirty="0" err="1">
                <a:solidFill>
                  <a:srgbClr val="000000"/>
                </a:solidFill>
                <a:latin typeface="Tahoma"/>
              </a:rPr>
              <a:t>OperandIf</a:t>
            </a: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{</a:t>
            </a: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	…</a:t>
            </a: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	}</a:t>
            </a:r>
            <a:endParaRPr lang="el-GR" altLang="el-GR" sz="24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3E3AB6-3140-CDC0-4CA2-190E5AF073AB}"/>
              </a:ext>
            </a:extLst>
          </p:cNvPr>
          <p:cNvSpPr txBox="1"/>
          <p:nvPr/>
        </p:nvSpPr>
        <p:spPr>
          <a:xfrm>
            <a:off x="147736" y="3350316"/>
            <a:ext cx="5555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2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CalculatorGui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l-GR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OperandIf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op);</a:t>
            </a:r>
            <a:endParaRPr lang="el-GR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DF7EED51-410D-B82D-4221-9BFD69B1A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8935" y="1569900"/>
            <a:ext cx="6133064" cy="1138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class Operand </a:t>
            </a:r>
            <a:r>
              <a:rPr lang="en-GB" altLang="el-GR" sz="2400" b="1" kern="0" dirty="0">
                <a:solidFill>
                  <a:srgbClr val="FF0000"/>
                </a:solidFill>
                <a:latin typeface="Tahoma"/>
              </a:rPr>
              <a:t>implements</a:t>
            </a: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GB" altLang="el-GR" sz="2400" b="1" kern="0" dirty="0" err="1">
                <a:solidFill>
                  <a:srgbClr val="000000"/>
                </a:solidFill>
                <a:latin typeface="Tahoma"/>
              </a:rPr>
              <a:t>OperandIf</a:t>
            </a: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{</a:t>
            </a: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	…</a:t>
            </a: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	}</a:t>
            </a:r>
            <a:endParaRPr lang="el-GR" altLang="el-GR" sz="24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0E91474D-BCC8-33C6-6846-88350F339235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12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Interface inheritance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BBFBEA-C8DC-2D1C-319E-AD219A04A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08050"/>
            <a:ext cx="9807324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interface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GroupedInterface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extends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Interface1, Interface2, Interface3 {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//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constant declarations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double E = 2.718282;  // base of natural logarithms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//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method signatures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void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doSomething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(int i, double x);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int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doSomethingElse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(String s);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}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E60568-9DE3-8418-FC74-B0FE4C87FD9B}"/>
              </a:ext>
            </a:extLst>
          </p:cNvPr>
          <p:cNvSpPr txBox="1">
            <a:spLocks/>
          </p:cNvSpPr>
          <p:nvPr/>
        </p:nvSpPr>
        <p:spPr bwMode="auto">
          <a:xfrm>
            <a:off x="179387" y="3933825"/>
            <a:ext cx="11514381" cy="251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Ένα 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interface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μπορεί να κληρονομεί (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extend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) περισσότερα του ενός 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interfaces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Όλοι οι μέθοδοι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που ορίζει ένα 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interface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είναι εξ ορισμού </a:t>
            </a:r>
            <a:r>
              <a:rPr lang="en-US" sz="2400" b="1" kern="0" dirty="0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,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έτσι ο προσδιοριστής 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public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μπορεί να παραληφθεί. 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Όλες οι σταθερές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που ορίζει ένα 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interface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είναι εξ ορισμού </a:t>
            </a:r>
            <a:r>
              <a:rPr lang="en-US" sz="2400" b="1" kern="0" dirty="0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1" kern="0" dirty="0">
                <a:solidFill>
                  <a:srgbClr val="000000"/>
                </a:solidFill>
                <a:latin typeface="Tahoma"/>
              </a:rPr>
              <a:t>static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, and </a:t>
            </a:r>
            <a:r>
              <a:rPr lang="en-US" sz="2400" b="1" kern="0" dirty="0">
                <a:solidFill>
                  <a:srgbClr val="000000"/>
                </a:solidFill>
                <a:latin typeface="Tahoma"/>
              </a:rPr>
              <a:t>final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 (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οι προσδιοριστές μπορούν να παραληφθούν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).</a:t>
            </a: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7B19A4E-6437-13AA-089C-102D0E7A46E3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33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Πολλαπλή Κληρονομικότητα στην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Java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Interfaces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305540" y="6634001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EC831946-BF51-6D94-8CDA-23E153021913}"/>
              </a:ext>
            </a:extLst>
          </p:cNvPr>
          <p:cNvGrpSpPr>
            <a:grpSpLocks/>
          </p:cNvGrpSpPr>
          <p:nvPr/>
        </p:nvGrpSpPr>
        <p:grpSpPr bwMode="auto">
          <a:xfrm>
            <a:off x="1247810" y="1908525"/>
            <a:ext cx="5791200" cy="2667000"/>
            <a:chOff x="3024" y="5184"/>
            <a:chExt cx="5328" cy="2304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B08AA7DE-18F1-1FDB-F312-10905C4D0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0" y="5184"/>
              <a:ext cx="1008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object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752763B4-B218-3CE9-666D-46EFA8F51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4" y="7056"/>
              <a:ext cx="1008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9578E8DB-41AE-BB71-1876-B89ED1BA9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7056"/>
              <a:ext cx="1008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E66AEA52-9D4D-6413-E9A9-B4E47D000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6048"/>
              <a:ext cx="1008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60B27EFA-5CB7-E09A-9073-EF94B708F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7056"/>
              <a:ext cx="1008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6AF4ABA7-61F8-2DE7-A125-4C30D206C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6" y="6192"/>
              <a:ext cx="1008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490732E6-B66C-4322-BF2C-17262B63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4" y="5328"/>
              <a:ext cx="1008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prstDash val="dashDot"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DF51FE6D-5EA2-1F47-1D4A-6A54099C6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5904"/>
              <a:ext cx="1008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prstDash val="dashDot"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481CEE88-CD35-7E30-7671-9A45FC38ED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40" y="5616"/>
              <a:ext cx="1296" cy="43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F982D392-5FFF-F422-E1B0-7616A00857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6" y="5616"/>
              <a:ext cx="1152" cy="5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8B7599BD-5751-9CE5-F025-1F4FDD945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6480"/>
              <a:ext cx="576" cy="5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045320C4-93E2-AF3D-631E-4A66F8509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6480"/>
              <a:ext cx="1152" cy="5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298ACE7B-F624-05B0-5CC2-1C72B6801D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56" y="6624"/>
              <a:ext cx="432" cy="43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806A5F08-46F2-C9AA-16D9-ED205A981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6336"/>
              <a:ext cx="432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7564CEE6-1643-93A0-906A-F5FEF972F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6336"/>
              <a:ext cx="360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BBDB7493-328E-6F5D-CEDA-74C13F6CF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5760"/>
              <a:ext cx="4032" cy="129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9B0A21BA-2E1E-261C-326E-F22B62CBF1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88" y="5760"/>
              <a:ext cx="432" cy="43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27" name="AutoShape 29">
            <a:extLst>
              <a:ext uri="{FF2B5EF4-FFF2-40B4-BE49-F238E27FC236}">
                <a16:creationId xmlns:a16="http://schemas.microsoft.com/office/drawing/2014/main" id="{0F6317E1-59F1-8F29-EB6C-A88975541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8610" y="1527525"/>
            <a:ext cx="1295400" cy="381000"/>
          </a:xfrm>
          <a:prstGeom prst="foldedCorner">
            <a:avLst>
              <a:gd name="adj" fmla="val 12500"/>
            </a:avLst>
          </a:prstGeom>
          <a:solidFill>
            <a:srgbClr val="FFCF0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interface</a:t>
            </a: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8" name="Line 30">
            <a:extLst>
              <a:ext uri="{FF2B5EF4-FFF2-40B4-BE49-F238E27FC236}">
                <a16:creationId xmlns:a16="http://schemas.microsoft.com/office/drawing/2014/main" id="{920DA1D3-41D5-8115-A08B-B267F99F7E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5210" y="1832325"/>
            <a:ext cx="533400" cy="4572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9" name="AutoShape 31">
            <a:extLst>
              <a:ext uri="{FF2B5EF4-FFF2-40B4-BE49-F238E27FC236}">
                <a16:creationId xmlns:a16="http://schemas.microsoft.com/office/drawing/2014/main" id="{1AF02F6E-AE84-F0F7-0D61-EBF33E36C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0010" y="4042125"/>
            <a:ext cx="1371600" cy="381000"/>
          </a:xfrm>
          <a:prstGeom prst="foldedCorner">
            <a:avLst>
              <a:gd name="adj" fmla="val 12500"/>
            </a:avLst>
          </a:prstGeom>
          <a:solidFill>
            <a:srgbClr val="FFCF0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class</a:t>
            </a: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0" name="Line 32">
            <a:extLst>
              <a:ext uri="{FF2B5EF4-FFF2-40B4-BE49-F238E27FC236}">
                <a16:creationId xmlns:a16="http://schemas.microsoft.com/office/drawing/2014/main" id="{C6C11E4F-5300-8672-BC0E-189312D74A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7010" y="4270725"/>
            <a:ext cx="1143000" cy="762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1" name="AutoShape 33">
            <a:extLst>
              <a:ext uri="{FF2B5EF4-FFF2-40B4-BE49-F238E27FC236}">
                <a16:creationId xmlns:a16="http://schemas.microsoft.com/office/drawing/2014/main" id="{85073143-A454-9F53-669C-6C5DDE2A0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410" y="1527525"/>
            <a:ext cx="990600" cy="457200"/>
          </a:xfrm>
          <a:prstGeom prst="foldedCorner">
            <a:avLst>
              <a:gd name="adj" fmla="val 12500"/>
            </a:avLst>
          </a:prstGeom>
          <a:solidFill>
            <a:srgbClr val="FFCF0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Inherits</a:t>
            </a: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</p:txBody>
      </p:sp>
      <p:sp>
        <p:nvSpPr>
          <p:cNvPr id="32" name="AutoShape 34">
            <a:extLst>
              <a:ext uri="{FF2B5EF4-FFF2-40B4-BE49-F238E27FC236}">
                <a16:creationId xmlns:a16="http://schemas.microsoft.com/office/drawing/2014/main" id="{7B67B398-6BF9-6FE1-66B8-AE8CFD959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0010" y="2670525"/>
            <a:ext cx="1676400" cy="381000"/>
          </a:xfrm>
          <a:prstGeom prst="foldedCorner">
            <a:avLst>
              <a:gd name="adj" fmla="val 12500"/>
            </a:avLst>
          </a:prstGeom>
          <a:solidFill>
            <a:srgbClr val="FFCF0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Implements</a:t>
            </a:r>
            <a:endParaRPr kumimoji="0" lang="en-GB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3" name="Line 36">
            <a:extLst>
              <a:ext uri="{FF2B5EF4-FFF2-40B4-BE49-F238E27FC236}">
                <a16:creationId xmlns:a16="http://schemas.microsoft.com/office/drawing/2014/main" id="{F340648F-3706-875C-4A3C-0BE5D5D0A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8010" y="1984725"/>
            <a:ext cx="1295400" cy="685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4" name="Line 37">
            <a:extLst>
              <a:ext uri="{FF2B5EF4-FFF2-40B4-BE49-F238E27FC236}">
                <a16:creationId xmlns:a16="http://schemas.microsoft.com/office/drawing/2014/main" id="{0873FE06-DF7A-7A7E-4BE3-BD0025A83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3210" y="2822925"/>
            <a:ext cx="1066800" cy="762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4ED618-DD02-118E-2166-84D63ECA6FB4}"/>
              </a:ext>
            </a:extLst>
          </p:cNvPr>
          <p:cNvSpPr/>
          <p:nvPr/>
        </p:nvSpPr>
        <p:spPr>
          <a:xfrm>
            <a:off x="0" y="5074157"/>
            <a:ext cx="12191999" cy="1320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είναι δυνατή η δήλωση μεταβλητής του συγκεκριμένου  τύπου </a:t>
            </a:r>
            <a:r>
              <a:rPr kumimoji="0" lang="en-US" altLang="el-G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interface</a:t>
            </a:r>
            <a:r>
              <a:rPr kumimoji="0" lang="el-GR" altLang="el-G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και η ανάθεση σε αυτή στιγμιότυπου οποιασδήποτε από τις κλάσεις που υλοποιεί το</a:t>
            </a:r>
            <a:r>
              <a:rPr kumimoji="0" lang="en-US" altLang="el-G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interface</a:t>
            </a: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1D27952-CD87-3908-D225-C138F0CECF70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7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Abstract Classes vs. Interfaces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48FA9-801D-BD18-344C-60BB086FFE5E}"/>
              </a:ext>
            </a:extLst>
          </p:cNvPr>
          <p:cNvSpPr txBox="1"/>
          <p:nvPr/>
        </p:nvSpPr>
        <p:spPr>
          <a:xfrm>
            <a:off x="70333" y="719331"/>
            <a:ext cx="12051331" cy="605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Σε αντίθεση με τα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interfaces,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οι 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abstract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κλάσεις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l-GR" altLang="el-GR" sz="3200" kern="0" dirty="0">
                <a:solidFill>
                  <a:srgbClr val="000000"/>
                </a:solidFill>
                <a:latin typeface="Tahoma"/>
                <a:ea typeface="+mn-ea"/>
                <a:cs typeface="+mn-cs"/>
              </a:rPr>
              <a:t>μ</a:t>
            </a:r>
            <a:r>
              <a:rPr kumimoji="0" lang="el-GR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πορεί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να περιέχουν 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data members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που δεν είναι 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static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και 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final,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και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υ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λοποιήσεις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μεθόδων.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Αυτές οι κλάσεις είναι ανάλογες με τα 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interfaces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με την διαφορά ότι ορίζουν ένα μέρος της υλοποίησης.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3200" kern="0" dirty="0">
                <a:solidFill>
                  <a:srgbClr val="000000"/>
                </a:solidFill>
                <a:latin typeface="Tahoma"/>
              </a:rPr>
              <a:t>Αν μια κλάση περιέχει μόνο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abstract </a:t>
            </a: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μεθόδους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είναι προτιμότερο να ορίζεται ως 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interface.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public</a:t>
            </a:r>
            <a:r>
              <a:rPr kumimoji="0" lang="en-US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n-US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</a:rPr>
              <a:t>interface </a:t>
            </a:r>
            <a:r>
              <a:rPr kumimoji="0" lang="en-US" altLang="el-GR" sz="3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OperatorIf</a:t>
            </a:r>
            <a:r>
              <a:rPr kumimoji="0" lang="en-US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{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	void operate(); </a:t>
            </a:r>
            <a:endParaRPr kumimoji="0" lang="el-GR" altLang="el-GR" sz="3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}</a:t>
            </a: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A0C685F6-3B1A-EEC4-8614-6396605A6BDF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Ι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nterfaces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in RPN ?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C56BE4D-5C2F-E365-40BE-BB491507E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2" y="12927"/>
            <a:ext cx="7793037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l-GR" sz="4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grpSp>
        <p:nvGrpSpPr>
          <p:cNvPr id="5" name="Group 21">
            <a:extLst>
              <a:ext uri="{FF2B5EF4-FFF2-40B4-BE49-F238E27FC236}">
                <a16:creationId xmlns:a16="http://schemas.microsoft.com/office/drawing/2014/main" id="{654066C7-C07F-DC27-5764-7C2931B0C545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502025"/>
            <a:ext cx="2160587" cy="1152525"/>
            <a:chOff x="684212" y="3502026"/>
            <a:chExt cx="2160588" cy="1152525"/>
          </a:xfrm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5B1F8C3D-559D-A16D-AB83-A22EEC906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2" y="3573463"/>
              <a:ext cx="2160588" cy="1081088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" name="Line 37">
              <a:extLst>
                <a:ext uri="{FF2B5EF4-FFF2-40B4-BE49-F238E27FC236}">
                  <a16:creationId xmlns:a16="http://schemas.microsoft.com/office/drawing/2014/main" id="{46E91995-3B1C-E16B-B37D-BC5F4FF7AD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212" y="3933826"/>
              <a:ext cx="21605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Text Box 38">
              <a:extLst>
                <a:ext uri="{FF2B5EF4-FFF2-40B4-BE49-F238E27FC236}">
                  <a16:creationId xmlns:a16="http://schemas.microsoft.com/office/drawing/2014/main" id="{49F2C3DE-FC6A-47FF-35AA-C8451FBC9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12" y="3502026"/>
              <a:ext cx="7381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Calc</a:t>
              </a:r>
            </a:p>
          </p:txBody>
        </p:sp>
        <p:sp>
          <p:nvSpPr>
            <p:cNvPr id="12" name="Text Box 40">
              <a:extLst>
                <a:ext uri="{FF2B5EF4-FFF2-40B4-BE49-F238E27FC236}">
                  <a16:creationId xmlns:a16="http://schemas.microsoft.com/office/drawing/2014/main" id="{2FF26145-8D45-A872-E98C-D83A99DB1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212" y="4005263"/>
              <a:ext cx="20722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static Operand op;</a:t>
              </a: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77CABCDC-18CA-CF34-C867-AA32A1FCCDBD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3141663"/>
            <a:ext cx="3816350" cy="1873250"/>
            <a:chOff x="4716463" y="3141663"/>
            <a:chExt cx="3816350" cy="1873250"/>
          </a:xfrm>
        </p:grpSpPr>
        <p:sp>
          <p:nvSpPr>
            <p:cNvPr id="14" name="Rectangle 41">
              <a:extLst>
                <a:ext uri="{FF2B5EF4-FFF2-40B4-BE49-F238E27FC236}">
                  <a16:creationId xmlns:a16="http://schemas.microsoft.com/office/drawing/2014/main" id="{E1B0B97A-7A32-5D0C-3F22-6BD950A43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463" y="3141663"/>
              <a:ext cx="3816350" cy="1873250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5" name="Text Box 42">
              <a:extLst>
                <a:ext uri="{FF2B5EF4-FFF2-40B4-BE49-F238E27FC236}">
                  <a16:creationId xmlns:a16="http://schemas.microsoft.com/office/drawing/2014/main" id="{CF2526BB-3BD7-FC4D-A716-5484BDC6B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7188" y="3141663"/>
              <a:ext cx="19573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CalculatorGui</a:t>
              </a:r>
            </a:p>
          </p:txBody>
        </p:sp>
        <p:sp>
          <p:nvSpPr>
            <p:cNvPr id="16" name="Text Box 43">
              <a:extLst>
                <a:ext uri="{FF2B5EF4-FFF2-40B4-BE49-F238E27FC236}">
                  <a16:creationId xmlns:a16="http://schemas.microsoft.com/office/drawing/2014/main" id="{754BF8D4-E5B8-BF56-B062-A84161E20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26" y="3862388"/>
              <a:ext cx="208756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Textfield display;</a:t>
              </a:r>
            </a:p>
          </p:txBody>
        </p:sp>
        <p:sp>
          <p:nvSpPr>
            <p:cNvPr id="17" name="Line 44">
              <a:extLst>
                <a:ext uri="{FF2B5EF4-FFF2-40B4-BE49-F238E27FC236}">
                  <a16:creationId xmlns:a16="http://schemas.microsoft.com/office/drawing/2014/main" id="{EF235100-1DE5-2144-CF2B-B4C60F327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463" y="3573463"/>
              <a:ext cx="3816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18" name="Freeform 45">
            <a:extLst>
              <a:ext uri="{FF2B5EF4-FFF2-40B4-BE49-F238E27FC236}">
                <a16:creationId xmlns:a16="http://schemas.microsoft.com/office/drawing/2014/main" id="{9E34E317-C460-D531-38B3-5F093EE26754}"/>
              </a:ext>
            </a:extLst>
          </p:cNvPr>
          <p:cNvSpPr>
            <a:spLocks/>
          </p:cNvSpPr>
          <p:nvPr/>
        </p:nvSpPr>
        <p:spPr bwMode="auto">
          <a:xfrm>
            <a:off x="2700338" y="4222750"/>
            <a:ext cx="3600450" cy="1020763"/>
          </a:xfrm>
          <a:custGeom>
            <a:avLst/>
            <a:gdLst>
              <a:gd name="T0" fmla="*/ 0 w 2268"/>
              <a:gd name="T1" fmla="*/ 2147483646 h 643"/>
              <a:gd name="T2" fmla="*/ 2147483646 w 2268"/>
              <a:gd name="T3" fmla="*/ 2147483646 h 643"/>
              <a:gd name="T4" fmla="*/ 2147483646 w 2268"/>
              <a:gd name="T5" fmla="*/ 0 h 643"/>
              <a:gd name="T6" fmla="*/ 0 60000 65536"/>
              <a:gd name="T7" fmla="*/ 0 60000 65536"/>
              <a:gd name="T8" fmla="*/ 0 60000 65536"/>
              <a:gd name="T9" fmla="*/ 0 w 2268"/>
              <a:gd name="T10" fmla="*/ 0 h 643"/>
              <a:gd name="T11" fmla="*/ 2268 w 2268"/>
              <a:gd name="T12" fmla="*/ 643 h 6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" h="643">
                <a:moveTo>
                  <a:pt x="0" y="45"/>
                </a:moveTo>
                <a:cubicBezTo>
                  <a:pt x="174" y="344"/>
                  <a:pt x="348" y="643"/>
                  <a:pt x="726" y="635"/>
                </a:cubicBezTo>
                <a:cubicBezTo>
                  <a:pt x="1104" y="627"/>
                  <a:pt x="1686" y="313"/>
                  <a:pt x="2268" y="0"/>
                </a:cubicBezTo>
              </a:path>
            </a:pathLst>
          </a:cu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6471E512-FED2-7995-0621-EB65C4B22D26}"/>
              </a:ext>
            </a:extLst>
          </p:cNvPr>
          <p:cNvSpPr>
            <a:spLocks/>
          </p:cNvSpPr>
          <p:nvPr/>
        </p:nvSpPr>
        <p:spPr bwMode="auto">
          <a:xfrm>
            <a:off x="2700338" y="3646488"/>
            <a:ext cx="1944687" cy="503237"/>
          </a:xfrm>
          <a:custGeom>
            <a:avLst/>
            <a:gdLst>
              <a:gd name="T0" fmla="*/ 2147483646 w 1225"/>
              <a:gd name="T1" fmla="*/ 2147483646 h 317"/>
              <a:gd name="T2" fmla="*/ 2147483646 w 1225"/>
              <a:gd name="T3" fmla="*/ 2147483646 h 317"/>
              <a:gd name="T4" fmla="*/ 0 w 1225"/>
              <a:gd name="T5" fmla="*/ 2147483646 h 317"/>
              <a:gd name="T6" fmla="*/ 0 60000 65536"/>
              <a:gd name="T7" fmla="*/ 0 60000 65536"/>
              <a:gd name="T8" fmla="*/ 0 60000 65536"/>
              <a:gd name="T9" fmla="*/ 0 w 1225"/>
              <a:gd name="T10" fmla="*/ 0 h 317"/>
              <a:gd name="T11" fmla="*/ 1225 w 1225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5" h="317">
                <a:moveTo>
                  <a:pt x="1225" y="45"/>
                </a:moveTo>
                <a:cubicBezTo>
                  <a:pt x="1054" y="22"/>
                  <a:pt x="884" y="0"/>
                  <a:pt x="680" y="45"/>
                </a:cubicBezTo>
                <a:cubicBezTo>
                  <a:pt x="476" y="90"/>
                  <a:pt x="238" y="203"/>
                  <a:pt x="0" y="317"/>
                </a:cubicBezTo>
              </a:path>
            </a:pathLst>
          </a:custGeom>
          <a:noFill/>
          <a:ln w="2857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0" name="Text Box 47">
            <a:extLst>
              <a:ext uri="{FF2B5EF4-FFF2-40B4-BE49-F238E27FC236}">
                <a16:creationId xmlns:a16="http://schemas.microsoft.com/office/drawing/2014/main" id="{5378F2FB-B3D9-D103-8A07-0FA47D8F5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5457825"/>
            <a:ext cx="271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Calc.op</a:t>
            </a: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.addDigit();</a:t>
            </a:r>
          </a:p>
        </p:txBody>
      </p:sp>
      <p:sp>
        <p:nvSpPr>
          <p:cNvPr id="21" name="Text Box 48">
            <a:extLst>
              <a:ext uri="{FF2B5EF4-FFF2-40B4-BE49-F238E27FC236}">
                <a16:creationId xmlns:a16="http://schemas.microsoft.com/office/drawing/2014/main" id="{757A31E3-8C06-7B60-F92E-A80A7676D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662613"/>
            <a:ext cx="4398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CalculatorGui.display</a:t>
            </a: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.setText();</a:t>
            </a:r>
          </a:p>
        </p:txBody>
      </p:sp>
      <p:grpSp>
        <p:nvGrpSpPr>
          <p:cNvPr id="22" name="Group 18">
            <a:extLst>
              <a:ext uri="{FF2B5EF4-FFF2-40B4-BE49-F238E27FC236}">
                <a16:creationId xmlns:a16="http://schemas.microsoft.com/office/drawing/2014/main" id="{ADE93798-63A8-11E8-B88D-45D0F3284B40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981075"/>
            <a:ext cx="3816350" cy="2016125"/>
            <a:chOff x="3491880" y="1124744"/>
            <a:chExt cx="3816350" cy="2016224"/>
          </a:xfrm>
        </p:grpSpPr>
        <p:sp>
          <p:nvSpPr>
            <p:cNvPr id="23" name="Rectangle 41">
              <a:extLst>
                <a:ext uri="{FF2B5EF4-FFF2-40B4-BE49-F238E27FC236}">
                  <a16:creationId xmlns:a16="http://schemas.microsoft.com/office/drawing/2014/main" id="{9709D7CE-E439-5277-4E9D-AF88F46C5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1880" y="1124744"/>
              <a:ext cx="3816350" cy="2016224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4" name="Line 44">
              <a:extLst>
                <a:ext uri="{FF2B5EF4-FFF2-40B4-BE49-F238E27FC236}">
                  <a16:creationId xmlns:a16="http://schemas.microsoft.com/office/drawing/2014/main" id="{14A43B54-9E97-C842-57A8-75C02AD27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880" y="1556792"/>
              <a:ext cx="3816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74E243F-9DF5-720B-8652-7BF54F849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8024" y="1124744"/>
              <a:ext cx="1343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Operand</a:t>
              </a: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6" name="TextBox 17">
              <a:extLst>
                <a:ext uri="{FF2B5EF4-FFF2-40B4-BE49-F238E27FC236}">
                  <a16:creationId xmlns:a16="http://schemas.microsoft.com/office/drawing/2014/main" id="{4526945F-DB08-BB5A-547A-829FE0A99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96" y="1556792"/>
              <a:ext cx="2538452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addDigit();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deleteLastDigit();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complete();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…</a:t>
              </a: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27" name="Θέση υποσέλιδου 4">
            <a:extLst>
              <a:ext uri="{FF2B5EF4-FFF2-40B4-BE49-F238E27FC236}">
                <a16:creationId xmlns:a16="http://schemas.microsoft.com/office/drawing/2014/main" id="{DFD546B2-C058-C7C6-1A78-E0C44FD39D1D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05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DBAAEF9-A5D6-16E8-D71C-968D0D3BC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8319"/>
            <a:ext cx="12021707" cy="1692376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Interface List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A2E525-AE4C-D092-6BD3-C770370CD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284" y="-1593"/>
            <a:ext cx="3871716" cy="9826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6814F4-2568-951A-190E-1A123B635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11" y="2866946"/>
            <a:ext cx="11932684" cy="16923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4E4EA4A-A83B-5196-202E-8F56B115DA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11" y="4617198"/>
            <a:ext cx="11932684" cy="1443354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B9103B-E9C0-D1E6-C7E7-34834A7FE7E1}"/>
              </a:ext>
            </a:extLst>
          </p:cNvPr>
          <p:cNvCxnSpPr/>
          <p:nvPr/>
        </p:nvCxnSpPr>
        <p:spPr>
          <a:xfrm>
            <a:off x="4716379" y="2310063"/>
            <a:ext cx="1219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661DC9-E27B-FF00-2445-9EA78EB95A0A}"/>
              </a:ext>
            </a:extLst>
          </p:cNvPr>
          <p:cNvCxnSpPr/>
          <p:nvPr/>
        </p:nvCxnSpPr>
        <p:spPr>
          <a:xfrm>
            <a:off x="10659979" y="2310063"/>
            <a:ext cx="1219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F103F6E6-E695-4FDC-07D4-65F995021152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21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Interface List – Selected Methods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964A7-AC25-3DC8-F44E-C4A9A862C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96015"/>
            <a:ext cx="11646475" cy="2039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6DD6B5-4A2D-55EF-E526-0015FCAF6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8" y="3022726"/>
            <a:ext cx="9413175" cy="9444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A8FAD0-8322-8F7E-4F58-7FC006AA8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3152" y="3968929"/>
            <a:ext cx="12164483" cy="10489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69A6D5-B80F-7A55-3F6A-79D2D1AEB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5283989"/>
            <a:ext cx="11197390" cy="850231"/>
          </a:xfrm>
          <a:prstGeom prst="rect">
            <a:avLst/>
          </a:prstGeom>
        </p:spPr>
      </p:pic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0896A1D5-719C-C7A1-B3BD-4BB5DFBEE1BC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20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Iterator – Iterator Interface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78B96-AC6D-A38E-114C-7F2FAF8B1589}"/>
              </a:ext>
            </a:extLst>
          </p:cNvPr>
          <p:cNvSpPr txBox="1"/>
          <p:nvPr/>
        </p:nvSpPr>
        <p:spPr>
          <a:xfrm>
            <a:off x="0" y="946484"/>
            <a:ext cx="12051331" cy="166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32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An Iterator is an object that can be used to loop through collections, like </a:t>
            </a:r>
            <a:r>
              <a:rPr kumimoji="0" lang="en-GB" altLang="el-GR" sz="3200" b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ArrayList</a:t>
            </a:r>
            <a:r>
              <a:rPr kumimoji="0" lang="en-GB" altLang="el-GR" sz="32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 </a:t>
            </a:r>
            <a:r>
              <a:rPr kumimoji="0" lang="en-GB" altLang="el-GR" sz="3200" b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LinkedLists</a:t>
            </a:r>
            <a:r>
              <a:rPr kumimoji="0" lang="en-GB" altLang="el-GR" sz="32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 …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32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iterator()</a:t>
            </a:r>
            <a:r>
              <a:rPr kumimoji="0" lang="en-GB" altLang="el-GR" sz="32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: method to get an Iterator for any collection</a:t>
            </a:r>
            <a:endParaRPr kumimoji="0" lang="en-US" altLang="el-GR" sz="32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0E347F-4728-FE2C-4098-EC202C900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279" y="21092"/>
            <a:ext cx="3800721" cy="9253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0453B4-93AE-DC4D-780A-36EDD5E22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6" y="2848285"/>
            <a:ext cx="11977038" cy="3747738"/>
          </a:xfrm>
          <a:prstGeom prst="rect">
            <a:avLst/>
          </a:prstGeom>
        </p:spPr>
      </p:pic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3387085D-3BD4-E279-6746-BFBD0EBDF464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18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 Collections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(Συλλογές)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78B96-AC6D-A38E-114C-7F2FAF8B1589}"/>
              </a:ext>
            </a:extLst>
          </p:cNvPr>
          <p:cNvSpPr txBox="1"/>
          <p:nvPr/>
        </p:nvSpPr>
        <p:spPr>
          <a:xfrm>
            <a:off x="0" y="1250124"/>
            <a:ext cx="12051331" cy="543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Ένα πλαίσιο εργασίας (</a:t>
            </a:r>
            <a:r>
              <a:rPr kumimoji="0" lang="en-GB" altLang="el-GR" sz="28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framework</a:t>
            </a:r>
            <a:r>
              <a:rPr kumimoji="0" lang="el-GR" altLang="el-GR" sz="28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) που ορίζει μια </a:t>
            </a:r>
            <a:r>
              <a:rPr kumimoji="0" lang="en-GB" altLang="el-GR" sz="28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l-GR" altLang="el-GR" sz="28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αρχιτεκτονική για αποθήκευση και διαχείριση μιας συλλογής αντικειμένων.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l-GR" sz="2800" dirty="0">
                <a:solidFill>
                  <a:srgbClr val="202122"/>
                </a:solidFill>
                <a:latin typeface="Arial" panose="020B0604020202020204" pitchFamily="34" charset="0"/>
              </a:rPr>
              <a:t>Αποτελείται από ένα σύνολο από </a:t>
            </a:r>
            <a:r>
              <a:rPr lang="en-GB" sz="2800" dirty="0">
                <a:solidFill>
                  <a:srgbClr val="3366CC"/>
                </a:solidFill>
                <a:latin typeface="Arial" panose="020B0604020202020204" pitchFamily="34" charset="0"/>
              </a:rPr>
              <a:t>interfaces </a:t>
            </a:r>
            <a:r>
              <a:rPr lang="en-GB" sz="2800" dirty="0">
                <a:latin typeface="Arial" panose="020B0604020202020204" pitchFamily="34" charset="0"/>
              </a:rPr>
              <a:t>(</a:t>
            </a:r>
            <a:r>
              <a:rPr lang="el-GR" sz="2800" dirty="0">
                <a:solidFill>
                  <a:srgbClr val="202122"/>
                </a:solidFill>
                <a:latin typeface="Arial" panose="020B0604020202020204" pitchFamily="34" charset="0"/>
              </a:rPr>
              <a:t>που ορίζουν διάφορες συλλογές</a:t>
            </a:r>
            <a:r>
              <a:rPr lang="en-GB" sz="2800" dirty="0">
                <a:solidFill>
                  <a:srgbClr val="202122"/>
                </a:solidFill>
                <a:latin typeface="Arial" panose="020B0604020202020204" pitchFamily="34" charset="0"/>
              </a:rPr>
              <a:t>) </a:t>
            </a:r>
            <a:r>
              <a:rPr lang="el-GR" sz="2800" dirty="0">
                <a:solidFill>
                  <a:srgbClr val="202122"/>
                </a:solidFill>
                <a:latin typeface="Arial" panose="020B0604020202020204" pitchFamily="34" charset="0"/>
              </a:rPr>
              <a:t>και ένα σύνολο από </a:t>
            </a:r>
            <a:r>
              <a:rPr lang="el-GR" sz="2800" dirty="0">
                <a:solidFill>
                  <a:srgbClr val="3366CC"/>
                </a:solidFill>
                <a:latin typeface="Arial" panose="020B0604020202020204" pitchFamily="34" charset="0"/>
              </a:rPr>
              <a:t>κλάσεις </a:t>
            </a:r>
            <a:r>
              <a:rPr lang="el-GR" sz="2800" dirty="0">
                <a:latin typeface="Arial" panose="020B0604020202020204" pitchFamily="34" charset="0"/>
              </a:rPr>
              <a:t>που υλοποιούν ευρέως επαναχρησιμοποιούμενες  </a:t>
            </a:r>
            <a:r>
              <a:rPr lang="el-GR" sz="2800" b="1" dirty="0">
                <a:latin typeface="Arial" panose="020B0604020202020204" pitchFamily="34" charset="0"/>
              </a:rPr>
              <a:t>δομές δεδομένων </a:t>
            </a:r>
            <a:r>
              <a:rPr lang="el-GR" sz="2800" dirty="0">
                <a:latin typeface="Arial" panose="020B0604020202020204" pitchFamily="34" charset="0"/>
              </a:rPr>
              <a:t>(</a:t>
            </a:r>
            <a:r>
              <a:rPr lang="en-GB" sz="2800" b="0" i="0" dirty="0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data structures</a:t>
            </a:r>
            <a:r>
              <a:rPr lang="el-GR" sz="2800" b="0" i="0" dirty="0">
                <a:effectLst/>
                <a:latin typeface="Arial" panose="020B0604020202020204" pitchFamily="34" charset="0"/>
              </a:rPr>
              <a:t>)</a:t>
            </a:r>
            <a:r>
              <a:rPr lang="en-GB" sz="2800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l-GR" altLang="el-GR" sz="2800" b="0" kern="0" dirty="0">
                <a:effectLst/>
                <a:latin typeface="Arial" panose="020B0604020202020204" pitchFamily="34" charset="0"/>
              </a:rPr>
              <a:t>Παρέ</a:t>
            </a:r>
            <a:r>
              <a:rPr lang="el-GR" altLang="el-GR" sz="2800" kern="0" dirty="0">
                <a:latin typeface="Arial" panose="020B0604020202020204" pitchFamily="34" charset="0"/>
              </a:rPr>
              <a:t>χεται με την μορφή μιας βιβλιοθήκης.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l-GR" altLang="el-GR" sz="2800" b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</a:rPr>
              <a:t>Τύποι συλλογών</a:t>
            </a: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GB" altLang="el-GR" sz="2400" b="1" kern="0" dirty="0">
                <a:latin typeface="Arial" panose="020B0604020202020204" pitchFamily="34" charset="0"/>
              </a:rPr>
              <a:t>Ordered lists </a:t>
            </a:r>
            <a:r>
              <a:rPr lang="en-GB" altLang="el-GR" sz="2400" kern="0" dirty="0">
                <a:latin typeface="Arial" panose="020B0604020202020204" pitchFamily="34" charset="0"/>
              </a:rPr>
              <a:t>(</a:t>
            </a:r>
            <a:r>
              <a:rPr lang="el-GR" altLang="el-GR" sz="2400" kern="0" dirty="0">
                <a:latin typeface="Arial" panose="020B0604020202020204" pitchFamily="34" charset="0"/>
              </a:rPr>
              <a:t>συλλογές ορισμένης σειράς αποθήκευσης και ανάκλησης)</a:t>
            </a:r>
            <a:endParaRPr lang="en-GB" altLang="el-GR" sz="2400" kern="0" dirty="0"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el-GR" sz="2400" b="1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</a:rPr>
              <a:t>Dictionaries/Maps</a:t>
            </a:r>
            <a:r>
              <a:rPr kumimoji="0" lang="el-GR" altLang="el-GR" sz="2400" b="1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</a:rPr>
              <a:t> </a:t>
            </a:r>
            <a:r>
              <a:rPr kumimoji="0" lang="el-GR" altLang="el-GR" sz="240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</a:rPr>
              <a:t>(χρησιμοποιούν ένα </a:t>
            </a:r>
            <a:r>
              <a:rPr kumimoji="0" lang="en-GB" altLang="el-GR" sz="240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</a:rPr>
              <a:t>lookup key </a:t>
            </a:r>
            <a:r>
              <a:rPr kumimoji="0" lang="el-GR" altLang="el-GR" sz="240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</a:rPr>
              <a:t>για πρόσβαση στα στοιχεία της συλλογής)</a:t>
            </a:r>
            <a:endParaRPr kumimoji="0" lang="en-GB" altLang="el-GR" sz="240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GB" altLang="el-GR" sz="2400" b="1" kern="0" dirty="0">
                <a:latin typeface="Arial" panose="020B0604020202020204" pitchFamily="34" charset="0"/>
              </a:rPr>
              <a:t>Sets</a:t>
            </a:r>
            <a:r>
              <a:rPr lang="en-GB" altLang="el-GR" sz="2400" kern="0" dirty="0">
                <a:latin typeface="Arial" panose="020B0604020202020204" pitchFamily="34" charset="0"/>
              </a:rPr>
              <a:t> (</a:t>
            </a:r>
            <a:r>
              <a:rPr lang="el-GR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αταξινόμητ</a:t>
            </a:r>
            <a:r>
              <a:rPr lang="el-GR" sz="2400" dirty="0">
                <a:solidFill>
                  <a:srgbClr val="202122"/>
                </a:solidFill>
                <a:latin typeface="Arial" panose="020B0604020202020204" pitchFamily="34" charset="0"/>
              </a:rPr>
              <a:t>ες συλλογές </a:t>
            </a:r>
            <a:r>
              <a:rPr lang="en-GB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collections that can be iterated, contain each element at most once</a:t>
            </a:r>
            <a:r>
              <a:rPr lang="en-GB" altLang="el-GR" sz="2400" kern="0" dirty="0">
                <a:latin typeface="Arial" panose="020B0604020202020204" pitchFamily="34" charset="0"/>
              </a:rPr>
              <a:t>)</a:t>
            </a:r>
            <a:endParaRPr kumimoji="0" lang="en-GB" altLang="el-GR" sz="2400" b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92353-8730-33E6-B30B-78D50816D20E}"/>
              </a:ext>
            </a:extLst>
          </p:cNvPr>
          <p:cNvSpPr txBox="1"/>
          <p:nvPr/>
        </p:nvSpPr>
        <p:spPr>
          <a:xfrm>
            <a:off x="-1" y="827705"/>
            <a:ext cx="12191999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l-GR" altLang="el-GR" sz="2000" kern="0" dirty="0">
                <a:solidFill>
                  <a:schemeClr val="bg1"/>
                </a:solidFill>
                <a:latin typeface="Tahoma"/>
              </a:rPr>
              <a:t>Συλλογή είναι μια ομάδα αντικειμένων, τα οποία αναφέρονται ως στοιχεία (</a:t>
            </a:r>
            <a:r>
              <a:rPr lang="en-GB" altLang="el-GR" sz="2000" kern="0" dirty="0">
                <a:solidFill>
                  <a:schemeClr val="bg1"/>
                </a:solidFill>
                <a:latin typeface="Tahoma"/>
              </a:rPr>
              <a:t>elements</a:t>
            </a:r>
            <a:r>
              <a:rPr lang="el-GR" altLang="el-GR" sz="2000" kern="0" dirty="0">
                <a:solidFill>
                  <a:schemeClr val="bg1"/>
                </a:solidFill>
                <a:latin typeface="Tahoma"/>
              </a:rPr>
              <a:t>) της συλλογής. 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7936C83-2C53-BD53-EA65-C9464970A096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59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Interface Collection &lt;E&gt;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79FDE5-9DA7-3BEA-C98A-CDAB8DC06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58816"/>
            <a:ext cx="11040533" cy="386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interface Collection&lt;E&gt; extends </a:t>
            </a:r>
            <a:r>
              <a:rPr kumimoji="0" lang="en-US" altLang="el-GR" sz="3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  <a:hlinkClick r:id="rId3" tooltip="interface in java.lang"/>
              </a:rPr>
              <a:t>Iterable</a:t>
            </a:r>
            <a:r>
              <a:rPr kumimoji="0" lang="en-US" altLang="el-GR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&lt;E&gt;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Είναι το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root interface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της ιεραρχίας συλλογών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Χρησιμοποιείται συνήθως για την διακίνηση και διαχείριση συλλογών όπου απαιτείται γενικότητα (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maximum generality is desired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Κάποιες συλλογές επιτρέπουν όμοια στοιχεία, άλλες όχι.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Κάποιες συλλογές έχουν τα στοιχεία τους σε σειρά (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ordered</a:t>
            </a:r>
            <a:r>
              <a:rPr kumimoji="0" lang="el-GR" altLang="el-GR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), άλλες όχι.</a:t>
            </a:r>
            <a:r>
              <a:rPr kumimoji="0" lang="en-US" altLang="el-GR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Το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JDK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δεν δίνει κάποια άμεση υλοποίηση του 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interface Collection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Δίνει όμως υλοποιήσεις εξειδικεύσεων του όπως των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και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List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811A4-3AAA-9C5C-91D3-8137F1FE5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59611"/>
            <a:ext cx="10905054" cy="7193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AC7A60-B8BC-C4CB-CD90-CABAE7774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26" y="5378941"/>
            <a:ext cx="11040533" cy="5887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02DA8D-E396-AD98-AE37-EDE617155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26" y="6098271"/>
            <a:ext cx="11326238" cy="461638"/>
          </a:xfrm>
          <a:prstGeom prst="rect">
            <a:avLst/>
          </a:prstGeom>
        </p:spPr>
      </p:pic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66F7C89-BC4E-4C98-BAA2-322B682EA785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34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Interface - default and static methods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7424A5-BDB0-02F9-F856-698A3AA71A00}"/>
              </a:ext>
            </a:extLst>
          </p:cNvPr>
          <p:cNvSpPr txBox="1"/>
          <p:nvPr/>
        </p:nvSpPr>
        <p:spPr>
          <a:xfrm>
            <a:off x="0" y="736777"/>
            <a:ext cx="12192000" cy="5644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Μέθοδοι</a:t>
            </a:r>
            <a:r>
              <a:rPr kumimoji="0" lang="el-GR" altLang="el-GR" sz="2800" b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που ορίζονται με τον προσδιοριστή </a:t>
            </a:r>
            <a:r>
              <a:rPr kumimoji="0" lang="en-GB" altLang="el-GR" sz="2800" b="1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default</a:t>
            </a:r>
            <a:r>
              <a:rPr kumimoji="0" lang="el-GR" altLang="el-GR" sz="2800" b="1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l-GR" altLang="el-GR" sz="280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(</a:t>
            </a:r>
            <a:r>
              <a:rPr kumimoji="0" lang="en-GB" altLang="el-GR" sz="280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java 8)</a:t>
            </a:r>
            <a:endParaRPr kumimoji="0" lang="el-GR" altLang="el-GR" sz="280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Χρησιμοποιούνται από τα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interfaces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για να δώσουν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default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υλοποιήσεις μεθόδων.</a:t>
            </a:r>
            <a:endParaRPr lang="en-GB" altLang="el-GR" sz="2800" kern="0" dirty="0">
              <a:solidFill>
                <a:srgbClr val="000000"/>
              </a:solidFill>
              <a:latin typeface="Tahoma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Μας επιτρέπουν να προσθέσουμε λειτουργικότητα στα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interface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της βιβλιοθήκης μας διασφαλίζοντας δυαδική συμβατότητα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GB" altLang="el-GR" sz="2800" b="1" i="1" kern="0" dirty="0">
                <a:solidFill>
                  <a:srgbClr val="000000"/>
                </a:solidFill>
                <a:latin typeface="Tahoma"/>
              </a:rPr>
              <a:t>binary compatibility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)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με προηγούμενες εκδόσεις των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interfaces.</a:t>
            </a:r>
            <a:endParaRPr lang="el-GR" altLang="el-GR" sz="2800" kern="0" dirty="0">
              <a:solidFill>
                <a:srgbClr val="000000"/>
              </a:solidFill>
              <a:latin typeface="Tahoma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Όταν κληρονομείς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 interface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με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default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 μέθοδο μπορείς:</a:t>
            </a: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Να μην αναφέρεις καθόλου την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default 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μέθοδο, οπότε την κληρονομείς</a:t>
            </a: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Να δηλώσεις την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default 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μέθοδο, οπότε την κάνεις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abstract</a:t>
            </a: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Να ορίσεις ξανά την μέθοδο, οπότε την υπερκαλύπτεις (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overrides)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interface </a:t>
            </a:r>
            <a:r>
              <a:rPr lang="en-GB" altLang="el-GR" sz="2800" b="1" kern="0" dirty="0">
                <a:solidFill>
                  <a:srgbClr val="000000"/>
                </a:solidFill>
                <a:latin typeface="Tahoma"/>
              </a:rPr>
              <a:t>static method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: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όπως οι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default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μέθοδοι με τη διαφορά ότι οι κλάσεις που υλοποιούν το </a:t>
            </a:r>
            <a:r>
              <a:rPr lang="en-GB" altLang="el-GR" sz="2800" kern="0" dirty="0">
                <a:solidFill>
                  <a:srgbClr val="000000"/>
                </a:solidFill>
                <a:latin typeface="Tahoma"/>
              </a:rPr>
              <a:t>interface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δεν μπορούν να τις υπερκαλύψουν. </a:t>
            </a: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FA2B9500-B4C5-125D-AF47-F2C2FC532C7F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08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Default Method Example 1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0D939-B509-497B-E67E-3300CAC310E8}"/>
              </a:ext>
            </a:extLst>
          </p:cNvPr>
          <p:cNvSpPr txBox="1"/>
          <p:nvPr/>
        </p:nvSpPr>
        <p:spPr>
          <a:xfrm>
            <a:off x="0" y="734675"/>
            <a:ext cx="874665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effectLst/>
                <a:latin typeface="Consolas" panose="020B0609020204030204" pitchFamily="49" charset="0"/>
              </a:rPr>
              <a:t>public </a:t>
            </a:r>
            <a:r>
              <a:rPr lang="en-GB" b="1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GB" b="0" dirty="0">
                <a:effectLst/>
                <a:latin typeface="Consolas" panose="020B0609020204030204" pitchFamily="49" charset="0"/>
              </a:rPr>
              <a:t> </a:t>
            </a:r>
            <a:r>
              <a:rPr lang="en-GB" b="1" dirty="0">
                <a:effectLst/>
                <a:latin typeface="Consolas" panose="020B0609020204030204" pitchFamily="49" charset="0"/>
              </a:rPr>
              <a:t>Vehicle</a:t>
            </a:r>
            <a:r>
              <a:rPr lang="en-GB" b="0" dirty="0"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void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setUp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GB" b="0" dirty="0">
                <a:effectLst/>
                <a:latin typeface="Consolas" panose="020B0609020204030204" pitchFamily="49" charset="0"/>
              </a:rPr>
            </a:br>
            <a:r>
              <a:rPr lang="en-GB" b="0" dirty="0">
                <a:effectLst/>
                <a:latin typeface="Consolas" panose="020B0609020204030204" pitchFamily="49" charset="0"/>
              </a:rPr>
              <a:t>    </a:t>
            </a:r>
            <a:r>
              <a:rPr lang="en-GB" b="1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GB" b="0" dirty="0">
                <a:effectLst/>
                <a:latin typeface="Consolas" panose="020B0609020204030204" pitchFamily="49" charset="0"/>
              </a:rPr>
              <a:t> void start() {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System.out.println</a:t>
            </a:r>
            <a:r>
              <a:rPr lang="en-GB" b="0" dirty="0">
                <a:effectLst/>
                <a:latin typeface="Consolas" panose="020B0609020204030204" pitchFamily="49" charset="0"/>
              </a:rPr>
              <a:t>(" start method executed ");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0ECD6E-0F1A-419E-EE01-221190C554E2}"/>
              </a:ext>
            </a:extLst>
          </p:cNvPr>
          <p:cNvSpPr txBox="1"/>
          <p:nvPr/>
        </p:nvSpPr>
        <p:spPr>
          <a:xfrm>
            <a:off x="5639180" y="4092000"/>
            <a:ext cx="65528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effectLst/>
                <a:latin typeface="Consolas" panose="020B0609020204030204" pitchFamily="49" charset="0"/>
              </a:rPr>
              <a:t>public class </a:t>
            </a:r>
            <a:r>
              <a:rPr lang="en-GB" b="1" dirty="0" err="1">
                <a:effectLst/>
                <a:latin typeface="Consolas" panose="020B0609020204030204" pitchFamily="49" charset="0"/>
              </a:rPr>
              <a:t>CarVerhicleTest</a:t>
            </a:r>
            <a:r>
              <a:rPr lang="en-GB" b="1" dirty="0"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GB" b="1" dirty="0">
                <a:effectLst/>
                <a:latin typeface="Consolas" panose="020B0609020204030204" pitchFamily="49" charset="0"/>
              </a:rPr>
              <a:t>    </a:t>
            </a:r>
            <a:r>
              <a:rPr lang="en-GB" dirty="0">
                <a:effectLst/>
                <a:latin typeface="Consolas" panose="020B0609020204030204" pitchFamily="49" charset="0"/>
              </a:rPr>
              <a:t>static Car </a:t>
            </a:r>
            <a:r>
              <a:rPr lang="en-GB" dirty="0" err="1">
                <a:effectLst/>
                <a:latin typeface="Consolas" panose="020B0609020204030204" pitchFamily="49" charset="0"/>
              </a:rPr>
              <a:t>car</a:t>
            </a:r>
            <a:r>
              <a:rPr lang="en-GB" dirty="0">
                <a:effectLst/>
                <a:latin typeface="Consolas" panose="020B0609020204030204" pitchFamily="49" charset="0"/>
              </a:rPr>
              <a:t>;</a:t>
            </a:r>
            <a:br>
              <a:rPr lang="en-GB" dirty="0">
                <a:effectLst/>
                <a:latin typeface="Consolas" panose="020B0609020204030204" pitchFamily="49" charset="0"/>
              </a:rPr>
            </a:br>
            <a:r>
              <a:rPr lang="en-GB" b="0" dirty="0">
                <a:effectLst/>
                <a:latin typeface="Consolas" panose="020B0609020204030204" pitchFamily="49" charset="0"/>
              </a:rPr>
              <a:t>    public static void main(String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args</a:t>
            </a:r>
            <a:r>
              <a:rPr lang="en-GB" b="0" dirty="0">
                <a:effectLst/>
                <a:latin typeface="Consolas" panose="020B0609020204030204" pitchFamily="49" charset="0"/>
              </a:rPr>
              <a:t>[]){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    car = new Car();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car.setUp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car.start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05A144-1455-25D5-3B5C-7AB1149D496B}"/>
              </a:ext>
            </a:extLst>
          </p:cNvPr>
          <p:cNvSpPr txBox="1"/>
          <p:nvPr/>
        </p:nvSpPr>
        <p:spPr>
          <a:xfrm>
            <a:off x="0" y="2805485"/>
            <a:ext cx="8438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effectLst/>
                <a:latin typeface="Consolas" panose="020B0609020204030204" pitchFamily="49" charset="0"/>
              </a:rPr>
              <a:t>public class </a:t>
            </a:r>
            <a:r>
              <a:rPr lang="en-GB" b="1" dirty="0">
                <a:effectLst/>
                <a:latin typeface="Consolas" panose="020B0609020204030204" pitchFamily="49" charset="0"/>
              </a:rPr>
              <a:t>Car</a:t>
            </a:r>
            <a:r>
              <a:rPr lang="en-GB" b="0" dirty="0">
                <a:effectLst/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GB" b="0" dirty="0">
                <a:effectLst/>
                <a:latin typeface="Consolas" panose="020B0609020204030204" pitchFamily="49" charset="0"/>
              </a:rPr>
              <a:t> </a:t>
            </a:r>
            <a:r>
              <a:rPr lang="en-GB" b="1" dirty="0">
                <a:effectLst/>
                <a:latin typeface="Consolas" panose="020B0609020204030204" pitchFamily="49" charset="0"/>
              </a:rPr>
              <a:t>Vehicle</a:t>
            </a:r>
            <a:r>
              <a:rPr lang="en-GB" b="0" dirty="0"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@Override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public void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setUp</a:t>
            </a:r>
            <a:r>
              <a:rPr lang="en-GB" b="0" dirty="0"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System.out.println</a:t>
            </a:r>
            <a:r>
              <a:rPr lang="en-GB" b="0" dirty="0">
                <a:effectLst/>
                <a:latin typeface="Consolas" panose="020B0609020204030204" pitchFamily="49" charset="0"/>
              </a:rPr>
              <a:t>("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setUp</a:t>
            </a:r>
            <a:r>
              <a:rPr lang="en-GB" b="0" dirty="0">
                <a:effectLst/>
                <a:latin typeface="Consolas" panose="020B0609020204030204" pitchFamily="49" charset="0"/>
              </a:rPr>
              <a:t> method executed ");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GB" dirty="0">
                <a:latin typeface="Consolas" panose="020B0609020204030204" pitchFamily="49" charset="0"/>
              </a:rPr>
              <a:t>}</a:t>
            </a:r>
            <a:endParaRPr lang="en-GB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FB5FF2A4-983F-8F1B-D111-30917547BAAE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79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Default Method Example 2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7C1CE-F0D0-D255-3C91-590F580E429C}"/>
              </a:ext>
            </a:extLst>
          </p:cNvPr>
          <p:cNvSpPr txBox="1"/>
          <p:nvPr/>
        </p:nvSpPr>
        <p:spPr>
          <a:xfrm>
            <a:off x="6348454" y="6329293"/>
            <a:ext cx="710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Tahoma" panose="020B0604030504040204" pitchFamily="34" charset="0"/>
              </a:rPr>
              <a:t>Source: </a:t>
            </a:r>
            <a:r>
              <a:rPr lang="en-US" sz="1400" dirty="0">
                <a:solidFill>
                  <a:srgbClr val="000000"/>
                </a:solidFill>
                <a:latin typeface="Tahoma" panose="020B0604030504040204" pitchFamily="34" charset="0"/>
                <a:hlinkClick r:id="rId3"/>
              </a:rPr>
              <a:t>https://www.geeksforgeeks.org/java-and-multiple-inheritance/</a:t>
            </a:r>
            <a:endParaRPr lang="en-US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5F27DD-E51C-36FF-80A7-E142F6813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8816"/>
            <a:ext cx="6032395" cy="4625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37E9CB-8B1D-55F2-1E6C-1ABE2262E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308" y="719331"/>
            <a:ext cx="5893023" cy="51651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FA37AC-E3D2-6210-16AE-B79A13697A39}"/>
              </a:ext>
            </a:extLst>
          </p:cNvPr>
          <p:cNvSpPr txBox="1"/>
          <p:nvPr/>
        </p:nvSpPr>
        <p:spPr>
          <a:xfrm>
            <a:off x="0" y="5776018"/>
            <a:ext cx="6158308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</a:rPr>
              <a:t>If we remove implementation of default method from “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</a:rPr>
              <a:t>TestClass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</a:rPr>
              <a:t>”, we get compiler error.</a:t>
            </a:r>
            <a:endParaRPr lang="el-GR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2F2E18DD-FC6C-4992-950F-91FBE3268168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65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Default Method for Interfaces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436579-7D19-07E4-0F22-06E119FA8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908050"/>
            <a:ext cx="849649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interface Formula </a:t>
            </a: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double calculate(int a);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</a:t>
            </a:r>
            <a:r>
              <a:rPr kumimoji="0" lang="en-US" altLang="el-G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default double sqrt(int a) </a:t>
            </a: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return Math.sqrt(a);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anonymous object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Formula formula = new Formula() {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@Override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public double calculate(int a) {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return sqrt(a * 100);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};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16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88DAD032-C62A-8DEA-7ED4-BE5BA26B7DEB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13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Functional Interfaces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079AA-A473-A342-BEFA-EBAA0355BFC7}"/>
              </a:ext>
            </a:extLst>
          </p:cNvPr>
          <p:cNvSpPr txBox="1"/>
          <p:nvPr/>
        </p:nvSpPr>
        <p:spPr>
          <a:xfrm>
            <a:off x="228299" y="834443"/>
            <a:ext cx="11823032" cy="5189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Είναι 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interfaces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που περιέχουν μόνο μια 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abstract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μέθοδο.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Η βασική βιβλιοθήκη ορίζει ένα σύνολο από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functional interfaces,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τα οποία βρίσκονται στο πακέτο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java.util.function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Παραδείγματα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interface Predicate&lt;T&gt; {</a:t>
            </a: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test(T t);</a:t>
            </a: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The interface Predicate&lt;T&gt; is an example of a generic interface.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Standard Functional Interfaces are used with Lambda Expression</a:t>
            </a:r>
            <a:endParaRPr kumimoji="0" lang="en-US" altLang="el-GR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B8FE77C1-C60E-F820-AF71-A7D44A77A8FE}"/>
              </a:ext>
            </a:extLst>
          </p:cNvPr>
          <p:cNvSpPr txBox="1">
            <a:spLocks/>
          </p:cNvSpPr>
          <p:nvPr/>
        </p:nvSpPr>
        <p:spPr>
          <a:xfrm>
            <a:off x="3324958" y="6623768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Interface</a:t>
            </a: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43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22224</TotalTime>
  <Words>1365</Words>
  <Application>Microsoft Office PowerPoint</Application>
  <PresentationFormat>Widescreen</PresentationFormat>
  <Paragraphs>246</Paragraphs>
  <Slides>19</Slides>
  <Notes>19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Arial</vt:lpstr>
      <vt:lpstr>Bahnschrift</vt:lpstr>
      <vt:lpstr>Bahnschrift Light</vt:lpstr>
      <vt:lpstr>Calibri</vt:lpstr>
      <vt:lpstr>Calibri Light</vt:lpstr>
      <vt:lpstr>Consolas</vt:lpstr>
      <vt:lpstr>Courier New</vt:lpstr>
      <vt:lpstr>Tahoma</vt:lpstr>
      <vt:lpstr>Times New Roman</vt:lpstr>
      <vt:lpstr>Times New Roman Greek</vt:lpstr>
      <vt:lpstr>Wingdings</vt:lpstr>
      <vt:lpstr>Προσαρμοσμένη σχεδίαση</vt:lpstr>
      <vt:lpstr>Θέμα του Office</vt:lpstr>
      <vt:lpstr>PowerPoint Presentation</vt:lpstr>
      <vt:lpstr>Οργάνωση Διάλεξης</vt:lpstr>
      <vt:lpstr>CalcGui - Operand interaction</vt:lpstr>
      <vt:lpstr>Interface</vt:lpstr>
      <vt:lpstr>CalcGui - Operand interaction</vt:lpstr>
      <vt:lpstr>Interface inheritance</vt:lpstr>
      <vt:lpstr>Πολλαπλή Κληρονομικότητα στην Java - Interfaces</vt:lpstr>
      <vt:lpstr>Abstract Classes vs. Interfaces</vt:lpstr>
      <vt:lpstr>Ιnterfaces in RPN ?</vt:lpstr>
      <vt:lpstr>Interface List</vt:lpstr>
      <vt:lpstr>Interface List – Selected Methods</vt:lpstr>
      <vt:lpstr>Iterator – Iterator Interface</vt:lpstr>
      <vt:lpstr>Java Collections (Συλλογές) </vt:lpstr>
      <vt:lpstr>Interface Collection &lt;E&gt;</vt:lpstr>
      <vt:lpstr>Interface - default and static methods</vt:lpstr>
      <vt:lpstr>Default Method Example 1</vt:lpstr>
      <vt:lpstr>Default Method Example 2</vt:lpstr>
      <vt:lpstr>Default Method for Interfaces</vt:lpstr>
      <vt:lpstr>Functional Interfaces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Ch7-PartB_Interfaces</dc:title>
  <dc:creator>Kleanthis Thramboulidis</dc:creator>
  <cp:lastModifiedBy>thrambo@ece.upatras.gr</cp:lastModifiedBy>
  <cp:revision>109</cp:revision>
  <cp:lastPrinted>2023-03-31T10:54:23Z</cp:lastPrinted>
  <dcterms:created xsi:type="dcterms:W3CDTF">2020-03-13T12:21:17Z</dcterms:created>
  <dcterms:modified xsi:type="dcterms:W3CDTF">2024-10-09T06:02:46Z</dcterms:modified>
</cp:coreProperties>
</file>